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7"/>
  </p:notesMasterIdLst>
  <p:handoutMasterIdLst>
    <p:handoutMasterId r:id="rId19"/>
  </p:handoutMasterIdLst>
  <p:sldIdLst>
    <p:sldId id="16672310" r:id="rId4"/>
    <p:sldId id="11088818" r:id="rId5"/>
    <p:sldId id="16672242" r:id="rId6"/>
    <p:sldId id="16672301" r:id="rId8"/>
    <p:sldId id="16672303" r:id="rId9"/>
    <p:sldId id="16672302" r:id="rId10"/>
    <p:sldId id="16672304" r:id="rId11"/>
    <p:sldId id="16672312" r:id="rId12"/>
    <p:sldId id="16672313" r:id="rId13"/>
    <p:sldId id="16672306" r:id="rId14"/>
    <p:sldId id="16672307" r:id="rId15"/>
    <p:sldId id="16672308" r:id="rId16"/>
    <p:sldId id="16672311" r:id="rId17"/>
    <p:sldId id="1667229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987"/>
    <a:srgbClr val="FAAD1C"/>
    <a:srgbClr val="00C4A7"/>
    <a:srgbClr val="DCFCE7"/>
    <a:srgbClr val="255285"/>
    <a:srgbClr val="78B4E2"/>
    <a:srgbClr val="00A7C3"/>
    <a:srgbClr val="415FFF"/>
    <a:srgbClr val="FBAD19"/>
    <a:srgbClr val="FB8F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06" autoAdjust="0"/>
    <p:restoredTop sz="90402"/>
  </p:normalViewPr>
  <p:slideViewPr>
    <p:cSldViewPr snapToGrid="0" snapToObjects="1" showGuides="1">
      <p:cViewPr varScale="1">
        <p:scale>
          <a:sx n="74" d="100"/>
          <a:sy n="74" d="100"/>
        </p:scale>
        <p:origin x="955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 snapToObjects="1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0B6A7B-1B4F-1140-92A6-C6824A8D2EC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23F247-190E-8442-A6E6-7354B66410C5}" type="datetimeFigureOut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F4C82-C2E4-B543-8475-BD56381FBFD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F5093F-09A4-C64B-A363-EE9B37DE08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F5093F-09A4-C64B-A363-EE9B37DE08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内容页_空白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el 1"/>
          <p:cNvSpPr>
            <a:spLocks noGrp="1"/>
          </p:cNvSpPr>
          <p:nvPr>
            <p:ph type="title" hasCustomPrompt="1"/>
          </p:nvPr>
        </p:nvSpPr>
        <p:spPr>
          <a:xfrm>
            <a:off x="1445698" y="267878"/>
            <a:ext cx="9300603" cy="611450"/>
          </a:xfrm>
        </p:spPr>
        <p:txBody>
          <a:bodyPr wrap="square" lIns="0" tIns="0" bIns="46800" anchor="t">
            <a:spAutoFit/>
          </a:bodyPr>
          <a:lstStyle>
            <a:lvl1pPr algn="l">
              <a:lnSpc>
                <a:spcPct val="125000"/>
              </a:lnSpc>
              <a:defRPr sz="3200" b="0" i="0">
                <a:solidFill>
                  <a:schemeClr val="tx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defRPr>
            </a:lvl1pPr>
          </a:lstStyle>
          <a:p>
            <a:r>
              <a:rPr lang="zh-CN" altLang="en-US" noProof="0" dirty="0"/>
              <a:t> </a:t>
            </a:r>
            <a:endParaRPr lang="en-GB" noProof="0" dirty="0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762753"/>
            <a:ext cx="12192000" cy="9524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49" y="270808"/>
            <a:ext cx="981676" cy="5671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20301" y="5676389"/>
            <a:ext cx="987667" cy="1078097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10733988" y="5580667"/>
            <a:ext cx="1458011" cy="1277332"/>
          </a:xfrm>
          <a:prstGeom prst="rect">
            <a:avLst/>
          </a:prstGeom>
          <a:solidFill>
            <a:schemeClr val="bg1">
              <a:alpha val="6288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dirty="0"/>
          </a:p>
        </p:txBody>
      </p:sp>
      <p:sp>
        <p:nvSpPr>
          <p:cNvPr id="3" name="Titel 1"/>
          <p:cNvSpPr>
            <a:spLocks noGrp="1"/>
          </p:cNvSpPr>
          <p:nvPr>
            <p:ph type="title" hasCustomPrompt="1"/>
          </p:nvPr>
        </p:nvSpPr>
        <p:spPr>
          <a:xfrm>
            <a:off x="1445698" y="267878"/>
            <a:ext cx="9300603" cy="611450"/>
          </a:xfrm>
        </p:spPr>
        <p:txBody>
          <a:bodyPr wrap="square" lIns="0" tIns="0" bIns="46800" anchor="t">
            <a:spAutoFit/>
          </a:bodyPr>
          <a:lstStyle>
            <a:lvl1pPr algn="l">
              <a:lnSpc>
                <a:spcPct val="125000"/>
              </a:lnSpc>
              <a:defRPr sz="3200" b="1" i="0">
                <a:solidFill>
                  <a:schemeClr val="tx1">
                    <a:lumMod val="75000"/>
                    <a:lumOff val="25000"/>
                  </a:schemeClr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defRPr>
            </a:lvl1pPr>
          </a:lstStyle>
          <a:p>
            <a:endParaRPr lang="en-GB" noProof="0" dirty="0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49" y="270808"/>
            <a:ext cx="981676" cy="5671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 userDrawn="1"/>
        </p:nvSpPr>
        <p:spPr>
          <a:xfrm>
            <a:off x="9328359" y="183498"/>
            <a:ext cx="274319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kumimoji="1" lang="zh-CN" altLang="en-US" sz="2400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20301" y="5676389"/>
            <a:ext cx="987667" cy="107809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10733988" y="5580667"/>
            <a:ext cx="1458011" cy="1277332"/>
          </a:xfrm>
          <a:prstGeom prst="rect">
            <a:avLst/>
          </a:prstGeom>
          <a:solidFill>
            <a:schemeClr val="bg1">
              <a:alpha val="6288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 userDrawn="1"/>
        </p:nvSpPr>
        <p:spPr>
          <a:xfrm>
            <a:off x="9328359" y="183498"/>
            <a:ext cx="274319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kumimoji="1" lang="zh-CN" altLang="en-US" sz="2400" dirty="0"/>
          </a:p>
        </p:txBody>
      </p:sp>
      <p:pic>
        <p:nvPicPr>
          <p:cNvPr id="34" name="图片 33"/>
          <p:cNvPicPr>
            <a:picLocks noChangeAspect="1"/>
          </p:cNvPicPr>
          <p:nvPr userDrawn="1"/>
        </p:nvPicPr>
        <p:blipFill rotWithShape="1">
          <a:blip r:embed="rId2"/>
          <a:srcRect b="34876"/>
          <a:stretch>
            <a:fillRect/>
          </a:stretch>
        </p:blipFill>
        <p:spPr>
          <a:xfrm>
            <a:off x="914400" y="5022954"/>
            <a:ext cx="10363200" cy="183504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 userDrawn="1"/>
        </p:nvSpPr>
        <p:spPr>
          <a:xfrm>
            <a:off x="9328359" y="183498"/>
            <a:ext cx="274319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kumimoji="1" lang="zh-CN" altLang="en-US" sz="2400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62581" y="1228647"/>
            <a:ext cx="6630313" cy="3830317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图片 10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el 1"/>
          <p:cNvSpPr>
            <a:spLocks noGrp="1"/>
          </p:cNvSpPr>
          <p:nvPr>
            <p:ph type="title" hasCustomPrompt="1"/>
          </p:nvPr>
        </p:nvSpPr>
        <p:spPr>
          <a:xfrm>
            <a:off x="289281" y="235741"/>
            <a:ext cx="11568287" cy="1365673"/>
          </a:xfrm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3735" b="0" i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zh-CN" altLang="en-US" noProof="0" dirty="0"/>
              <a:t>目录</a:t>
            </a:r>
            <a:br>
              <a:rPr lang="en-US" altLang="zh-CN" noProof="0" dirty="0"/>
            </a:br>
            <a:endParaRPr lang="en-GB" noProof="0" dirty="0"/>
          </a:p>
        </p:txBody>
      </p:sp>
      <p:sp>
        <p:nvSpPr>
          <p:cNvPr id="26" name="Inhaltsplatzhalter 2"/>
          <p:cNvSpPr>
            <a:spLocks noGrp="1"/>
          </p:cNvSpPr>
          <p:nvPr>
            <p:ph idx="16" hasCustomPrompt="1"/>
          </p:nvPr>
        </p:nvSpPr>
        <p:spPr>
          <a:xfrm>
            <a:off x="3263900" y="2592691"/>
            <a:ext cx="5664200" cy="3909711"/>
          </a:xfrm>
        </p:spPr>
        <p:txBody>
          <a:bodyPr vert="horz" lIns="0" tIns="0" rIns="0" bIns="0" rtlCol="0" anchor="t" anchorCtr="0">
            <a:noAutofit/>
          </a:bodyPr>
          <a:lstStyle>
            <a:lvl1pPr marL="304800" indent="-304800" algn="l" hangingPunct="0">
              <a:lnSpc>
                <a:spcPct val="150000"/>
              </a:lnSpc>
              <a:buFont typeface="+mj-lt"/>
              <a:buAutoNum type="arabicPeriod"/>
              <a:defRPr lang="de-DE" sz="2135" b="0" i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defRPr>
            </a:lvl1pPr>
            <a:lvl2pPr marL="0" marR="0" indent="0" algn="l" defTabSz="914400" rtl="0" eaLnBrk="1" fontAlgn="auto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系统字体常规体"/>
              <a:buChar char="-"/>
              <a:defRPr lang="de-DE" sz="2135" b="0" i="0" dirty="0" smtClean="0">
                <a:solidFill>
                  <a:schemeClr val="tx1"/>
                </a:solidFill>
                <a:latin typeface="+mn-ea"/>
                <a:ea typeface="+mn-ea"/>
              </a:defRPr>
            </a:lvl2pPr>
            <a:lvl3pPr>
              <a:lnSpc>
                <a:spcPct val="125000"/>
              </a:lnSpc>
              <a:defRPr lang="de-DE" sz="1335" dirty="0" smtClean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lang="de-DE" sz="1600" dirty="0" smtClean="0"/>
            </a:lvl4pPr>
            <a:lvl5pPr>
              <a:defRPr lang="de-DE" sz="1600" dirty="0"/>
            </a:lvl5pPr>
          </a:lstStyle>
          <a:p>
            <a:pPr lvl="0"/>
            <a:r>
              <a:rPr lang="zh-CN" altLang="en-US" dirty="0"/>
              <a:t>编辑题目</a:t>
            </a:r>
            <a:r>
              <a:rPr lang="en-US" altLang="zh-CN" dirty="0"/>
              <a:t> 16pt</a:t>
            </a:r>
            <a:endParaRPr lang="en-US" altLang="zh-CN" dirty="0"/>
          </a:p>
          <a:p>
            <a:pPr lvl="0"/>
            <a:r>
              <a:rPr lang="zh-CN" altLang="en-US" dirty="0"/>
              <a:t>编辑题目</a:t>
            </a:r>
            <a:endParaRPr lang="en-US" altLang="zh-CN" dirty="0"/>
          </a:p>
          <a:p>
            <a:pPr lvl="0"/>
            <a:r>
              <a:rPr lang="zh-CN" altLang="en-US" dirty="0"/>
              <a:t>编辑题目</a:t>
            </a:r>
            <a:endParaRPr lang="zh-CN" altLang="en-US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内容页_空白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445698" y="267878"/>
            <a:ext cx="9300603" cy="611450"/>
          </a:xfrm>
        </p:spPr>
        <p:txBody>
          <a:bodyPr wrap="square" lIns="0" tIns="0" bIns="46800" anchor="t">
            <a:spAutoFit/>
          </a:bodyPr>
          <a:lstStyle>
            <a:lvl1pPr algn="l">
              <a:lnSpc>
                <a:spcPct val="125000"/>
              </a:lnSpc>
              <a:defRPr sz="3200" b="1" i="0">
                <a:solidFill>
                  <a:schemeClr val="tx1">
                    <a:lumMod val="75000"/>
                    <a:lumOff val="25000"/>
                  </a:schemeClr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defRPr>
            </a:lvl1pPr>
          </a:lstStyle>
          <a:p>
            <a:endParaRPr lang="en-GB" noProof="0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49" y="270808"/>
            <a:ext cx="981676" cy="56711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F2403-3A2B-7341-859C-AF9A1DF858CC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vivo Sans" panose="02000500000000000000" pitchFamily="2" charset="-122"/>
          <a:ea typeface="vivo Sans" panose="02000500000000000000" pitchFamily="2" charset="-122"/>
          <a:cs typeface="vivo Sans" panose="02000500000000000000" pitchFamily="2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vivo Sans" panose="02000500000000000000" pitchFamily="2" charset="-122"/>
          <a:ea typeface="vivo Sans" panose="02000500000000000000" pitchFamily="2" charset="-122"/>
          <a:cs typeface="vivo Sans" panose="02000500000000000000" pitchFamily="2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vivo Sans" panose="02000500000000000000" pitchFamily="2" charset="-122"/>
          <a:ea typeface="vivo Sans" panose="02000500000000000000" pitchFamily="2" charset="-122"/>
          <a:cs typeface="vivo Sans" panose="02000500000000000000" pitchFamily="2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vivo Sans" panose="02000500000000000000" pitchFamily="2" charset="-122"/>
          <a:ea typeface="vivo Sans" panose="02000500000000000000" pitchFamily="2" charset="-122"/>
          <a:cs typeface="vivo Sans" panose="02000500000000000000" pitchFamily="2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vivo Sans" panose="02000500000000000000" pitchFamily="2" charset="-122"/>
          <a:ea typeface="vivo Sans" panose="02000500000000000000" pitchFamily="2" charset="-122"/>
          <a:cs typeface="vivo Sans" panose="02000500000000000000" pitchFamily="2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vivo Sans" panose="02000500000000000000" pitchFamily="2" charset="-122"/>
          <a:ea typeface="vivo Sans" panose="02000500000000000000" pitchFamily="2" charset="-122"/>
          <a:cs typeface="vivo Sans" panose="02000500000000000000" pitchFamily="2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3.xml"/><Relationship Id="rId3" Type="http://schemas.openxmlformats.org/officeDocument/2006/relationships/image" Target="../media/image6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9.xml"/><Relationship Id="rId4" Type="http://schemas.openxmlformats.org/officeDocument/2006/relationships/tags" Target="../tags/tag6.xml"/><Relationship Id="rId3" Type="http://schemas.openxmlformats.org/officeDocument/2006/relationships/image" Target="../media/image7.png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9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9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9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9.xml"/><Relationship Id="rId4" Type="http://schemas.openxmlformats.org/officeDocument/2006/relationships/tags" Target="../tags/tag18.xml"/><Relationship Id="rId3" Type="http://schemas.openxmlformats.org/officeDocument/2006/relationships/image" Target="../media/image8.png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9.xml"/><Relationship Id="rId4" Type="http://schemas.openxmlformats.org/officeDocument/2006/relationships/tags" Target="../tags/tag21.xml"/><Relationship Id="rId3" Type="http://schemas.openxmlformats.org/officeDocument/2006/relationships/image" Target="../media/image9.png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9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9.xml"/><Relationship Id="rId4" Type="http://schemas.openxmlformats.org/officeDocument/2006/relationships/tags" Target="../tags/tag26.xml"/><Relationship Id="rId3" Type="http://schemas.openxmlformats.org/officeDocument/2006/relationships/image" Target="../media/image2.png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60518" y="2273300"/>
            <a:ext cx="86709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 b="1" dirty="0"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2026</a:t>
            </a:r>
            <a:r>
              <a:rPr kumimoji="1" lang="zh-CN" altLang="en-US" sz="3600" b="1" dirty="0"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年中国高校计算机大赛</a:t>
            </a:r>
            <a:r>
              <a:rPr kumimoji="1" lang="en-US" altLang="zh-CN" sz="3600" b="1" dirty="0"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-AIGC</a:t>
            </a:r>
            <a:r>
              <a:rPr kumimoji="1" lang="zh-CN" altLang="en-US" sz="3600" b="1" dirty="0"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创新赛</a:t>
            </a:r>
            <a:endParaRPr kumimoji="1" lang="zh-CN" altLang="en-US" sz="3600" b="1" dirty="0">
              <a:latin typeface="vivo Sans Bold" panose="02000500000000000000" pitchFamily="2" charset="-122"/>
              <a:ea typeface="vivo Sans Bold" panose="02000500000000000000" pitchFamily="2" charset="-122"/>
              <a:cs typeface="vivo Sans Bold" panose="02000500000000000000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17076" y="3429000"/>
            <a:ext cx="6248471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2000" b="1" dirty="0"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作品名称：</a:t>
            </a:r>
            <a:r>
              <a:rPr kumimoji="1" lang="en-US" altLang="zh-CN" sz="2000" b="1" dirty="0"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《</a:t>
            </a:r>
            <a:r>
              <a:rPr kumimoji="1" lang="zh-CN" altLang="en-US" sz="2000" b="1" dirty="0"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智学导图</a:t>
            </a:r>
            <a:r>
              <a:rPr kumimoji="1" lang="en-US" altLang="zh-CN" sz="2000" b="1" dirty="0"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-</a:t>
            </a:r>
            <a:r>
              <a:rPr kumimoji="1" lang="zh-CN" altLang="en-US" sz="2000" b="1" dirty="0"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初中数学</a:t>
            </a:r>
            <a:r>
              <a:rPr kumimoji="1" lang="en-US" altLang="zh-CN" sz="2000" b="1" dirty="0"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AI</a:t>
            </a:r>
            <a:r>
              <a:rPr kumimoji="1" lang="zh-CN" altLang="en-US" sz="2000" b="1" dirty="0"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引导式学习助手</a:t>
            </a:r>
            <a:r>
              <a:rPr kumimoji="1" lang="en-US" altLang="zh-CN" sz="2000" b="1" dirty="0"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》</a:t>
            </a:r>
            <a:endParaRPr kumimoji="1" lang="en-US" altLang="zh-CN" sz="2000" b="1" dirty="0">
              <a:latin typeface="vivo Sans Bold" panose="02000500000000000000" pitchFamily="2" charset="-122"/>
              <a:ea typeface="vivo Sans Bold" panose="02000500000000000000" pitchFamily="2" charset="-122"/>
              <a:cs typeface="vivo Sans Bold" panose="02000500000000000000" pitchFamily="2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sz="2000" b="1" dirty="0"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团队名称：不上早八很队</a:t>
            </a:r>
            <a:endParaRPr kumimoji="1" lang="zh-CN" altLang="en-US" sz="2000" b="1" dirty="0">
              <a:latin typeface="vivo Sans Bold" panose="02000500000000000000" pitchFamily="2" charset="-122"/>
              <a:ea typeface="vivo Sans Bold" panose="02000500000000000000" pitchFamily="2" charset="-122"/>
              <a:cs typeface="vivo Sans Bold" panose="02000500000000000000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4632826" y="1590672"/>
            <a:ext cx="3001691" cy="3096366"/>
            <a:chOff x="3702795" y="1590672"/>
            <a:chExt cx="3001691" cy="3096366"/>
          </a:xfrm>
        </p:grpSpPr>
        <p:sp>
          <p:nvSpPr>
            <p:cNvPr id="2" name="文本框 1"/>
            <p:cNvSpPr txBox="1"/>
            <p:nvPr/>
          </p:nvSpPr>
          <p:spPr>
            <a:xfrm>
              <a:off x="3702799" y="1590672"/>
              <a:ext cx="59182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 dirty="0">
                  <a:solidFill>
                    <a:srgbClr val="446FFF"/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1.</a:t>
              </a:r>
              <a:endParaRPr kumimoji="1" lang="zh-CN" altLang="en-US" sz="4000" b="1" dirty="0">
                <a:solidFill>
                  <a:srgbClr val="446FFF"/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3702795" y="2766689"/>
              <a:ext cx="64953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 dirty="0">
                  <a:solidFill>
                    <a:srgbClr val="FF5292">
                      <a:alpha val="40000"/>
                    </a:srgbClr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2.</a:t>
              </a:r>
              <a:endParaRPr kumimoji="1" lang="zh-CN" altLang="en-US" sz="4000" b="1" dirty="0">
                <a:solidFill>
                  <a:srgbClr val="FF5292">
                    <a:alpha val="40000"/>
                  </a:srgbClr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702795" y="3979152"/>
              <a:ext cx="65915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 dirty="0">
                  <a:solidFill>
                    <a:srgbClr val="FFB000">
                      <a:alpha val="40000"/>
                    </a:srgbClr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3.</a:t>
              </a:r>
              <a:endParaRPr kumimoji="1" lang="zh-CN" altLang="en-US" sz="4000" b="1" dirty="0">
                <a:solidFill>
                  <a:srgbClr val="FFB000">
                    <a:alpha val="40000"/>
                  </a:srgbClr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527287" y="1611222"/>
              <a:ext cx="2101857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 dirty="0">
                  <a:solidFill>
                    <a:prstClr val="black"/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团队介绍</a:t>
              </a:r>
              <a:endParaRPr kumimoji="1" lang="zh-CN" altLang="en-US" sz="3735" dirty="0">
                <a:solidFill>
                  <a:prstClr val="black"/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4527287" y="2787239"/>
              <a:ext cx="2177199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 dirty="0">
                  <a:solidFill>
                    <a:srgbClr val="E7E6E6">
                      <a:lumMod val="90000"/>
                    </a:srgbClr>
                  </a:solidFill>
                  <a:latin typeface="vivo Sans Medium" panose="02000500000000000000" pitchFamily="2" charset="-122"/>
                  <a:ea typeface="vivo Sans Medium" panose="02000500000000000000" pitchFamily="2" charset="-122"/>
                  <a:cs typeface="vivo Sans Medium" panose="02000500000000000000" pitchFamily="2" charset="-122"/>
                </a:rPr>
                <a:t>作品简介</a:t>
              </a:r>
              <a:endParaRPr kumimoji="1" lang="zh-CN" altLang="en-US" sz="3735" dirty="0">
                <a:solidFill>
                  <a:srgbClr val="E7E6E6">
                    <a:lumMod val="90000"/>
                  </a:srgbClr>
                </a:solidFill>
                <a:latin typeface="vivo Sans Medium" panose="02000500000000000000" pitchFamily="2" charset="-122"/>
                <a:ea typeface="vivo Sans Medium" panose="02000500000000000000" pitchFamily="2" charset="-122"/>
                <a:cs typeface="vivo Sans Medium" panose="02000500000000000000" pitchFamily="2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527287" y="3999702"/>
              <a:ext cx="2101857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 dirty="0">
                  <a:solidFill>
                    <a:srgbClr val="E7E6E6">
                      <a:lumMod val="90000"/>
                    </a:srgbClr>
                  </a:solidFill>
                  <a:latin typeface="vivo Sans Medium" panose="02000500000000000000" pitchFamily="2" charset="-122"/>
                  <a:ea typeface="vivo Sans Medium" panose="02000500000000000000" pitchFamily="2" charset="-122"/>
                  <a:cs typeface="vivo Sans Medium" panose="02000500000000000000" pitchFamily="2" charset="-122"/>
                </a:rPr>
                <a:t>作品策划</a:t>
              </a:r>
              <a:endParaRPr kumimoji="1" lang="zh-CN" altLang="en-US" sz="3735" dirty="0">
                <a:solidFill>
                  <a:srgbClr val="E7E6E6">
                    <a:lumMod val="90000"/>
                  </a:srgbClr>
                </a:solidFill>
                <a:latin typeface="vivo Sans Medium" panose="02000500000000000000" pitchFamily="2" charset="-122"/>
                <a:ea typeface="vivo Sans Medium" panose="02000500000000000000" pitchFamily="2" charset="-122"/>
                <a:cs typeface="vivo Sans Medium" panose="02000500000000000000" pitchFamily="2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1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311503" y="269819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团队介绍</a:t>
            </a:r>
            <a:endParaRPr lang="zh-CN" altLang="en-US" sz="3200" spc="230" dirty="0">
              <a:solidFill>
                <a:schemeClr val="tx1"/>
              </a:solidFill>
              <a:uFillTx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29666" y="1745301"/>
            <a:ext cx="5619068" cy="3367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415FFF"/>
                </a:solidFill>
                <a:ea typeface="vivo Sans" panose="02000500000000000000" pitchFamily="2" charset="-122"/>
              </a:rPr>
              <a:t>团队名称</a:t>
            </a:r>
            <a:r>
              <a:rPr lang="zh-CN" altLang="en-US" dirty="0"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：不上早八很队</a:t>
            </a:r>
            <a:endParaRPr lang="en-US" altLang="zh-CN" dirty="0"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zh-CN" dirty="0"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415FFF"/>
                </a:solidFill>
                <a:ea typeface="vivo Sans" panose="02000500000000000000" pitchFamily="2" charset="-122"/>
              </a:rPr>
              <a:t>团队成员</a:t>
            </a:r>
            <a:r>
              <a:rPr kumimoji="1"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：</a:t>
            </a:r>
            <a:endParaRPr kumimoji="1" lang="en-US" altLang="zh-CN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lvl="1">
              <a:lnSpc>
                <a:spcPct val="150000"/>
              </a:lnSpc>
            </a:pPr>
            <a:r>
              <a:rPr kumimoji="1"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产品经理：韩轩，学校：华中科技大学</a:t>
            </a:r>
            <a:endParaRPr kumimoji="1" lang="en-US" altLang="zh-CN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lvl="1">
              <a:lnSpc>
                <a:spcPct val="150000"/>
              </a:lnSpc>
            </a:pPr>
            <a:r>
              <a:rPr kumimoji="1"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全栈开发：兰金鑫，学校：华中科技大学</a:t>
            </a:r>
            <a:endParaRPr kumimoji="1" lang="en-US" altLang="zh-CN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lvl="1">
              <a:lnSpc>
                <a:spcPct val="150000"/>
              </a:lnSpc>
            </a:pPr>
            <a:r>
              <a:rPr kumimoji="1" lang="en-US" altLang="zh-CN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UI</a:t>
            </a:r>
            <a:r>
              <a:rPr kumimoji="1"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与交互设计：秦文义，学校：华中科技大学</a:t>
            </a:r>
            <a:endParaRPr kumimoji="1" lang="en-US" altLang="zh-CN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lvl="1">
              <a:lnSpc>
                <a:spcPct val="150000"/>
              </a:lnSpc>
            </a:pPr>
            <a:endParaRPr kumimoji="1" lang="en-US" altLang="zh-CN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lvl="1">
              <a:lnSpc>
                <a:spcPct val="150000"/>
              </a:lnSpc>
            </a:pPr>
            <a:r>
              <a:rPr kumimoji="1"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指导老师：无</a:t>
            </a:r>
            <a:endParaRPr kumimoji="1" lang="en-US" altLang="zh-CN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538" y="992920"/>
            <a:ext cx="6375952" cy="51667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4632826" y="1590672"/>
            <a:ext cx="2926349" cy="3096366"/>
            <a:chOff x="3702795" y="1590672"/>
            <a:chExt cx="2926349" cy="3096366"/>
          </a:xfrm>
        </p:grpSpPr>
        <p:sp>
          <p:nvSpPr>
            <p:cNvPr id="2" name="文本框 1"/>
            <p:cNvSpPr txBox="1"/>
            <p:nvPr/>
          </p:nvSpPr>
          <p:spPr>
            <a:xfrm>
              <a:off x="3702799" y="1590672"/>
              <a:ext cx="59182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 dirty="0">
                  <a:solidFill>
                    <a:srgbClr val="446FFF">
                      <a:alpha val="50000"/>
                    </a:srgbClr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1.</a:t>
              </a:r>
              <a:endParaRPr kumimoji="1" lang="zh-CN" altLang="en-US" sz="4000" b="1" dirty="0">
                <a:solidFill>
                  <a:srgbClr val="446FFF">
                    <a:alpha val="50000"/>
                  </a:srgbClr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3702795" y="2766689"/>
              <a:ext cx="64953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 dirty="0">
                  <a:solidFill>
                    <a:srgbClr val="FF5292"/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2.</a:t>
              </a:r>
              <a:endParaRPr kumimoji="1" lang="zh-CN" altLang="en-US" sz="4000" b="1" dirty="0">
                <a:solidFill>
                  <a:srgbClr val="FF5292"/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702795" y="3979152"/>
              <a:ext cx="65915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 dirty="0">
                  <a:solidFill>
                    <a:srgbClr val="FFB000">
                      <a:alpha val="40000"/>
                    </a:srgbClr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3.</a:t>
              </a:r>
              <a:endParaRPr kumimoji="1" lang="zh-CN" altLang="en-US" sz="4000" b="1" dirty="0">
                <a:solidFill>
                  <a:srgbClr val="FFB000">
                    <a:alpha val="40000"/>
                  </a:srgbClr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527287" y="1611222"/>
              <a:ext cx="2101857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 dirty="0">
                  <a:solidFill>
                    <a:srgbClr val="E7E6E6">
                      <a:lumMod val="90000"/>
                    </a:srgbClr>
                  </a:solidFill>
                  <a:latin typeface="vivo Sans Medium" panose="02000500000000000000" pitchFamily="2" charset="-122"/>
                  <a:ea typeface="vivo Sans Medium" panose="02000500000000000000" pitchFamily="2" charset="-122"/>
                  <a:cs typeface="vivo Sans Medium" panose="02000500000000000000" pitchFamily="2" charset="-122"/>
                </a:rPr>
                <a:t>团队介绍</a:t>
              </a:r>
              <a:endParaRPr kumimoji="1" lang="zh-CN" altLang="en-US" sz="3735" dirty="0">
                <a:solidFill>
                  <a:srgbClr val="E7E6E6">
                    <a:lumMod val="90000"/>
                  </a:srgbClr>
                </a:solidFill>
                <a:latin typeface="vivo Sans Medium" panose="02000500000000000000" pitchFamily="2" charset="-122"/>
                <a:ea typeface="vivo Sans Medium" panose="02000500000000000000" pitchFamily="2" charset="-122"/>
                <a:cs typeface="vivo Sans Medium" panose="02000500000000000000" pitchFamily="2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4527287" y="2787239"/>
              <a:ext cx="2101857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 dirty="0">
                  <a:solidFill>
                    <a:prstClr val="black"/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作品简介</a:t>
              </a:r>
              <a:endParaRPr kumimoji="1" lang="zh-CN" altLang="en-US" sz="3735" dirty="0">
                <a:solidFill>
                  <a:prstClr val="black"/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527287" y="3999702"/>
              <a:ext cx="2101857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 dirty="0">
                  <a:solidFill>
                    <a:srgbClr val="E7E6E6">
                      <a:lumMod val="90000"/>
                    </a:srgbClr>
                  </a:solidFill>
                  <a:latin typeface="vivo Sans Medium" panose="02000500000000000000" pitchFamily="2" charset="-122"/>
                  <a:ea typeface="vivo Sans Medium" panose="02000500000000000000" pitchFamily="2" charset="-122"/>
                  <a:cs typeface="vivo Sans Medium" panose="02000500000000000000" pitchFamily="2" charset="-122"/>
                </a:rPr>
                <a:t>作品策划</a:t>
              </a:r>
              <a:endParaRPr kumimoji="1" lang="zh-CN" altLang="en-US" sz="3735" dirty="0">
                <a:solidFill>
                  <a:srgbClr val="E7E6E6">
                    <a:lumMod val="90000"/>
                  </a:srgbClr>
                </a:solidFill>
                <a:latin typeface="vivo Sans Medium" panose="02000500000000000000" pitchFamily="2" charset="-122"/>
                <a:ea typeface="vivo Sans Medium" panose="02000500000000000000" pitchFamily="2" charset="-122"/>
                <a:cs typeface="vivo Sans Medium" panose="02000500000000000000" pitchFamily="2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1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311503" y="269819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作品简介</a:t>
            </a:r>
            <a:endParaRPr lang="zh-CN" altLang="en-US" sz="3200" spc="230" dirty="0">
              <a:solidFill>
                <a:schemeClr val="tx1"/>
              </a:solidFill>
              <a:uFillTx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9765" y="1329803"/>
            <a:ext cx="4596579" cy="4198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作品名称：</a:t>
            </a:r>
            <a:r>
              <a:rPr lang="zh-CN" altLang="en-US" dirty="0">
                <a:ea typeface="vivo Sans" panose="02000500000000000000" pitchFamily="2" charset="-122"/>
              </a:rPr>
              <a:t>智学导图</a:t>
            </a:r>
            <a:endParaRPr lang="en-US" altLang="zh-CN" dirty="0">
              <a:ea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zh-CN" dirty="0">
              <a:ea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作品概述</a:t>
            </a:r>
            <a:r>
              <a:rPr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：智学导图是一款面向初中生的</a:t>
            </a:r>
            <a:r>
              <a:rPr lang="en-US" altLang="zh-CN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AI</a:t>
            </a:r>
            <a:r>
              <a:rPr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引导式数学学习助手，以“引导而非告知，修复而非跳过”为核心理念。它通过知识图谱与</a:t>
            </a:r>
            <a:r>
              <a:rPr lang="en-US" altLang="zh-CN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AI</a:t>
            </a:r>
            <a:r>
              <a:rPr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大模型结合，帮助学生在遇到数学难题时，精准定位知识断层，并像经验丰富的家教一样，带领学生一步步自主推导出答案，真正修复知识体系，提升学习能力。</a:t>
            </a:r>
            <a:endParaRPr lang="en-US" altLang="zh-CN" dirty="0"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666" y="0"/>
            <a:ext cx="6267334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4632826" y="1590672"/>
            <a:ext cx="3001691" cy="3096366"/>
            <a:chOff x="3702795" y="1590672"/>
            <a:chExt cx="3001691" cy="3096366"/>
          </a:xfrm>
        </p:grpSpPr>
        <p:sp>
          <p:nvSpPr>
            <p:cNvPr id="2" name="文本框 1"/>
            <p:cNvSpPr txBox="1"/>
            <p:nvPr/>
          </p:nvSpPr>
          <p:spPr>
            <a:xfrm>
              <a:off x="3702799" y="1590672"/>
              <a:ext cx="59182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 dirty="0">
                  <a:solidFill>
                    <a:srgbClr val="446FFF">
                      <a:alpha val="50000"/>
                    </a:srgbClr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1.</a:t>
              </a:r>
              <a:endParaRPr kumimoji="1" lang="zh-CN" altLang="en-US" sz="4000" b="1" dirty="0">
                <a:solidFill>
                  <a:srgbClr val="446FFF">
                    <a:alpha val="50000"/>
                  </a:srgbClr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3702795" y="2766689"/>
              <a:ext cx="64953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 dirty="0">
                  <a:solidFill>
                    <a:srgbClr val="FF5292">
                      <a:alpha val="50000"/>
                    </a:srgbClr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2.</a:t>
              </a:r>
              <a:endParaRPr kumimoji="1" lang="zh-CN" altLang="en-US" sz="4000" b="1" dirty="0">
                <a:solidFill>
                  <a:srgbClr val="FF5292">
                    <a:alpha val="50000"/>
                  </a:srgbClr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702795" y="3979152"/>
              <a:ext cx="65915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 dirty="0">
                  <a:solidFill>
                    <a:srgbClr val="FFB000"/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3.</a:t>
              </a:r>
              <a:endParaRPr kumimoji="1" lang="zh-CN" altLang="en-US" sz="4000" b="1" dirty="0">
                <a:solidFill>
                  <a:srgbClr val="FFB000"/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527287" y="1611222"/>
              <a:ext cx="2177199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 dirty="0">
                  <a:solidFill>
                    <a:srgbClr val="E7E6E6">
                      <a:lumMod val="90000"/>
                    </a:srgbClr>
                  </a:solidFill>
                  <a:latin typeface="vivo Sans Medium" panose="02000500000000000000" pitchFamily="2" charset="-122"/>
                  <a:ea typeface="vivo Sans Medium" panose="02000500000000000000" pitchFamily="2" charset="-122"/>
                  <a:cs typeface="vivo Sans Medium" panose="02000500000000000000" pitchFamily="2" charset="-122"/>
                </a:rPr>
                <a:t>团队简介</a:t>
              </a:r>
              <a:endParaRPr kumimoji="1" lang="zh-CN" altLang="en-US" sz="3735" dirty="0">
                <a:solidFill>
                  <a:srgbClr val="E7E6E6">
                    <a:lumMod val="90000"/>
                  </a:srgbClr>
                </a:solidFill>
                <a:latin typeface="vivo Sans Medium" panose="02000500000000000000" pitchFamily="2" charset="-122"/>
                <a:ea typeface="vivo Sans Medium" panose="02000500000000000000" pitchFamily="2" charset="-122"/>
                <a:cs typeface="vivo Sans Medium" panose="02000500000000000000" pitchFamily="2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4527287" y="2787239"/>
              <a:ext cx="2177199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 dirty="0">
                  <a:solidFill>
                    <a:srgbClr val="E7E6E6">
                      <a:lumMod val="90000"/>
                    </a:srgbClr>
                  </a:solidFill>
                  <a:latin typeface="vivo Sans Medium" panose="02000500000000000000" pitchFamily="2" charset="-122"/>
                  <a:ea typeface="vivo Sans Medium" panose="02000500000000000000" pitchFamily="2" charset="-122"/>
                  <a:cs typeface="vivo Sans Medium" panose="02000500000000000000" pitchFamily="2" charset="-122"/>
                </a:rPr>
                <a:t>作品简介</a:t>
              </a:r>
              <a:endParaRPr kumimoji="1" lang="zh-CN" altLang="en-US" sz="3735" dirty="0">
                <a:solidFill>
                  <a:srgbClr val="E7E6E6">
                    <a:lumMod val="90000"/>
                  </a:srgbClr>
                </a:solidFill>
                <a:latin typeface="vivo Sans Medium" panose="02000500000000000000" pitchFamily="2" charset="-122"/>
                <a:ea typeface="vivo Sans Medium" panose="02000500000000000000" pitchFamily="2" charset="-122"/>
                <a:cs typeface="vivo Sans Medium" panose="02000500000000000000" pitchFamily="2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527287" y="3999702"/>
              <a:ext cx="2092239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 dirty="0">
                  <a:solidFill>
                    <a:prstClr val="black"/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作品策划</a:t>
              </a:r>
              <a:endParaRPr kumimoji="1" lang="zh-CN" altLang="en-US" sz="3735" dirty="0">
                <a:solidFill>
                  <a:prstClr val="black"/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1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334265" y="300934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solidFill>
                  <a:schemeClr val="tx1"/>
                </a:solidFill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作品设计理念</a:t>
            </a:r>
            <a:endParaRPr lang="zh-CN" altLang="en-US" sz="3200" spc="230" dirty="0">
              <a:solidFill>
                <a:schemeClr val="tx1"/>
              </a:solidFill>
              <a:uFillTx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20450" y="1154584"/>
            <a:ext cx="10142850" cy="5029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核心创新点： </a:t>
            </a:r>
            <a:r>
              <a:rPr lang="zh-CN" altLang="en-US" dirty="0"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通过“知识图谱</a:t>
            </a:r>
            <a:r>
              <a:rPr lang="en-US" altLang="zh-CN" dirty="0"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+</a:t>
            </a:r>
            <a:r>
              <a:rPr lang="zh-CN" altLang="en-US" dirty="0"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大模型引导对话”，实现从“告知答案”到“溯源修复”的学习范式转变，帮助学生自主推导、系统掌握知识。</a:t>
            </a:r>
            <a:endParaRPr lang="en-US" altLang="zh-CN" dirty="0">
              <a:effectLst/>
              <a:latin typeface="vivo Sans Bold" panose="02000500000000000000" pitchFamily="2" charset="-122"/>
              <a:ea typeface="vivo Sans Bold" panose="02000500000000000000" pitchFamily="2" charset="-122"/>
              <a:cs typeface="vivo Sans Bold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zh-CN" dirty="0">
              <a:effectLst/>
              <a:latin typeface="vivo Sans Bold" panose="02000500000000000000" pitchFamily="2" charset="-122"/>
              <a:ea typeface="vivo Sans Bold" panose="02000500000000000000" pitchFamily="2" charset="-122"/>
              <a:cs typeface="vivo Sans Bold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设计背景与洞察： </a:t>
            </a:r>
            <a:r>
              <a:rPr lang="zh-CN" altLang="en-US" dirty="0"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团队中有成员长期从事家教辅导，观察到学生做题卡住往往不是题目本身太难，而是前置知识出现断层。一旦找到那个“断裂点”从那里开始补，学生不仅能做出这道题，连后面一串题都能迎刃而解。但现在的</a:t>
            </a:r>
            <a:r>
              <a:rPr lang="en-US" altLang="zh-CN" dirty="0"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AI</a:t>
            </a:r>
            <a:r>
              <a:rPr lang="zh-CN" altLang="en-US" dirty="0"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学习工具往往直接给答案，反而让学生产生依赖、损害学习效果。所以智学导图的想法是：让</a:t>
            </a:r>
            <a:r>
              <a:rPr lang="en-US" altLang="zh-CN" dirty="0"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AI</a:t>
            </a:r>
            <a:r>
              <a:rPr lang="zh-CN" altLang="en-US" dirty="0"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像有经验的家教一样，用“溯源引导法”帮学生真正修复知识断层。</a:t>
            </a:r>
            <a:endParaRPr lang="en-US" altLang="zh-CN" dirty="0">
              <a:effectLst/>
              <a:latin typeface="vivo Sans Bold" panose="02000500000000000000" pitchFamily="2" charset="-122"/>
              <a:ea typeface="vivo Sans Bold" panose="02000500000000000000" pitchFamily="2" charset="-122"/>
              <a:cs typeface="vivo Sans Bold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zh-CN" dirty="0">
              <a:effectLst/>
              <a:latin typeface="vivo Sans Bold" panose="02000500000000000000" pitchFamily="2" charset="-122"/>
              <a:ea typeface="vivo Sans Bold" panose="02000500000000000000" pitchFamily="2" charset="-122"/>
              <a:cs typeface="vivo Sans Bold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理念贯穿性：</a:t>
            </a:r>
            <a:r>
              <a:rPr lang="zh-CN" altLang="en-US" i="1" dirty="0">
                <a:solidFill>
                  <a:srgbClr val="FF0000"/>
                </a:solidFill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 </a:t>
            </a:r>
            <a:r>
              <a:rPr lang="zh-CN" altLang="en-US" dirty="0"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“引导而非告知”的理念贯穿产品始终：知识点雷达识别前置知识链；断层追溯定位断裂点；引导对话采用苏格拉底式提问；知识图谱可视化学习进展，形成“识别</a:t>
            </a:r>
            <a:r>
              <a:rPr lang="en-US" altLang="zh-CN" dirty="0"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-</a:t>
            </a:r>
            <a:r>
              <a:rPr lang="zh-CN" altLang="en-US" dirty="0"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修复</a:t>
            </a:r>
            <a:r>
              <a:rPr lang="en-US" altLang="zh-CN" dirty="0"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-</a:t>
            </a:r>
            <a:r>
              <a:rPr lang="zh-CN" altLang="en-US" dirty="0"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记录”的完整闭环。</a:t>
            </a:r>
            <a:endParaRPr lang="zh-CN" altLang="en-US" dirty="0">
              <a:solidFill>
                <a:srgbClr val="FF0000"/>
              </a:solidFill>
              <a:effectLst/>
              <a:latin typeface="vivo Sans Bold" panose="02000500000000000000" pitchFamily="2" charset="-122"/>
              <a:ea typeface="vivo Sans Bold" panose="02000500000000000000" pitchFamily="2" charset="-122"/>
              <a:cs typeface="vivo Sans Bold" panose="02000500000000000000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235700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作品设计理念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731662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产品原型设计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227624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创新点说明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1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334265" y="300934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solidFill>
                  <a:schemeClr val="tx1"/>
                </a:solidFill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产品原型设计</a:t>
            </a:r>
            <a:endParaRPr lang="zh-CN" altLang="en-US" sz="3200" spc="230" dirty="0">
              <a:solidFill>
                <a:schemeClr val="tx1"/>
              </a:solidFill>
              <a:uFillTx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235700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作品设计理念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731662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产品原型设计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227624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创新点说明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19765" y="1163877"/>
            <a:ext cx="10891518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核心功能解读： </a:t>
            </a:r>
            <a:r>
              <a:rPr lang="zh-CN" altLang="en-US" dirty="0"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三大核心功能：知识点雷达、断层追溯与修复、知识图谱可视化，共同实现“每一次提问都是一次系统性修复”。</a:t>
            </a:r>
            <a:endParaRPr lang="en-US" altLang="zh-CN" dirty="0">
              <a:effectLst/>
              <a:latin typeface="vivo Sans Bold" panose="02000500000000000000" pitchFamily="2" charset="-122"/>
              <a:ea typeface="vivo Sans Bold" panose="02000500000000000000" pitchFamily="2" charset="-122"/>
              <a:cs typeface="vivo Sans Bold" panose="02000500000000000000" pitchFamily="2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827863" y="1857413"/>
            <a:ext cx="8475322" cy="4613725"/>
            <a:chOff x="619765" y="804891"/>
            <a:chExt cx="9958802" cy="5174299"/>
          </a:xfrm>
        </p:grpSpPr>
        <p:sp>
          <p:nvSpPr>
            <p:cNvPr id="11" name="流程图: 可选过程 10"/>
            <p:cNvSpPr/>
            <p:nvPr/>
          </p:nvSpPr>
          <p:spPr>
            <a:xfrm>
              <a:off x="1073188" y="1330534"/>
              <a:ext cx="3400254" cy="2402809"/>
            </a:xfrm>
            <a:prstGeom prst="flowChartAlternateProcess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流程图: 可选过程 11"/>
            <p:cNvSpPr/>
            <p:nvPr/>
          </p:nvSpPr>
          <p:spPr>
            <a:xfrm>
              <a:off x="3400254" y="4703411"/>
              <a:ext cx="3810912" cy="1275779"/>
            </a:xfrm>
            <a:prstGeom prst="flowChartAlternateProcess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流程图: 可选过程 12"/>
            <p:cNvSpPr/>
            <p:nvPr/>
          </p:nvSpPr>
          <p:spPr>
            <a:xfrm>
              <a:off x="6044896" y="804891"/>
              <a:ext cx="4533671" cy="3460484"/>
            </a:xfrm>
            <a:prstGeom prst="flowChartAlternateProcess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AutoShape 3"/>
            <p:cNvSpPr>
              <a:spLocks noChangeAspect="1" noChangeArrowheads="1" noTextEdit="1"/>
            </p:cNvSpPr>
            <p:nvPr>
              <p:custDataLst>
                <p:tags r:id="rId3"/>
              </p:custDataLst>
            </p:nvPr>
          </p:nvSpPr>
          <p:spPr bwMode="auto">
            <a:xfrm>
              <a:off x="619765" y="1679280"/>
              <a:ext cx="801370" cy="739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流程图: 可选过程 14"/>
            <p:cNvSpPr/>
            <p:nvPr/>
          </p:nvSpPr>
          <p:spPr>
            <a:xfrm>
              <a:off x="6882640" y="1242926"/>
              <a:ext cx="1160795" cy="492791"/>
            </a:xfrm>
            <a:prstGeom prst="flowChartAlternateProcess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引导式模块</a:t>
              </a:r>
              <a:endParaRPr lang="zh-CN" altLang="en-US" sz="1400" dirty="0"/>
            </a:p>
          </p:txBody>
        </p:sp>
        <p:sp>
          <p:nvSpPr>
            <p:cNvPr id="16" name="流程图: 可选过程 15"/>
            <p:cNvSpPr/>
            <p:nvPr/>
          </p:nvSpPr>
          <p:spPr>
            <a:xfrm>
              <a:off x="8502460" y="1242925"/>
              <a:ext cx="1160795" cy="492791"/>
            </a:xfrm>
            <a:prstGeom prst="flowChartAlternateProcess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知识点掌握状态追踪</a:t>
              </a:r>
              <a:endParaRPr lang="zh-CN" altLang="en-US" sz="1400" dirty="0"/>
            </a:p>
          </p:txBody>
        </p:sp>
        <p:sp>
          <p:nvSpPr>
            <p:cNvPr id="17" name="流程图: 可选过程 16"/>
            <p:cNvSpPr/>
            <p:nvPr/>
          </p:nvSpPr>
          <p:spPr>
            <a:xfrm>
              <a:off x="7615437" y="2287824"/>
              <a:ext cx="1160795" cy="492791"/>
            </a:xfrm>
            <a:prstGeom prst="flowChartAlternateProcess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断层检测</a:t>
              </a:r>
              <a:endParaRPr lang="zh-CN" altLang="en-US" sz="1400" dirty="0"/>
            </a:p>
          </p:txBody>
        </p:sp>
        <p:sp>
          <p:nvSpPr>
            <p:cNvPr id="18" name="流程图: 可选过程 17"/>
            <p:cNvSpPr/>
            <p:nvPr/>
          </p:nvSpPr>
          <p:spPr>
            <a:xfrm>
              <a:off x="6882640" y="3299870"/>
              <a:ext cx="1160795" cy="492791"/>
            </a:xfrm>
            <a:prstGeom prst="flowChartAlternateProcess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意图识别</a:t>
              </a:r>
              <a:endParaRPr lang="zh-CN" altLang="en-US" sz="1400" dirty="0"/>
            </a:p>
          </p:txBody>
        </p:sp>
        <p:sp>
          <p:nvSpPr>
            <p:cNvPr id="19" name="流程图: 可选过程 18"/>
            <p:cNvSpPr/>
            <p:nvPr/>
          </p:nvSpPr>
          <p:spPr>
            <a:xfrm>
              <a:off x="8502460" y="3304432"/>
              <a:ext cx="1160795" cy="492791"/>
            </a:xfrm>
            <a:prstGeom prst="flowChartAlternateProcess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知识图谱引擎</a:t>
              </a:r>
              <a:endParaRPr lang="zh-CN" altLang="en-US" sz="1400" dirty="0"/>
            </a:p>
          </p:txBody>
        </p:sp>
        <p:sp>
          <p:nvSpPr>
            <p:cNvPr id="20" name="流程图: 可选过程 19"/>
            <p:cNvSpPr/>
            <p:nvPr/>
          </p:nvSpPr>
          <p:spPr>
            <a:xfrm>
              <a:off x="3947381" y="5094904"/>
              <a:ext cx="1160795" cy="492791"/>
            </a:xfrm>
            <a:prstGeom prst="flowChartAlternateProcess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蓝心大模型</a:t>
              </a:r>
              <a:endParaRPr lang="zh-CN" altLang="en-US" sz="1400" dirty="0"/>
            </a:p>
          </p:txBody>
        </p:sp>
        <p:sp>
          <p:nvSpPr>
            <p:cNvPr id="21" name="流程图: 可选过程 20"/>
            <p:cNvSpPr/>
            <p:nvPr/>
          </p:nvSpPr>
          <p:spPr>
            <a:xfrm>
              <a:off x="5655302" y="5108595"/>
              <a:ext cx="1160795" cy="492791"/>
            </a:xfrm>
            <a:prstGeom prst="flowChartAlternateProcess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初中知识图谱</a:t>
              </a:r>
              <a:endParaRPr lang="zh-CN" altLang="en-US" sz="1400" dirty="0"/>
            </a:p>
          </p:txBody>
        </p:sp>
        <p:sp>
          <p:nvSpPr>
            <p:cNvPr id="22" name="流程图: 可选过程 21"/>
            <p:cNvSpPr/>
            <p:nvPr/>
          </p:nvSpPr>
          <p:spPr>
            <a:xfrm>
              <a:off x="1379813" y="2287824"/>
              <a:ext cx="1160795" cy="492791"/>
            </a:xfrm>
            <a:prstGeom prst="flowChartAlternateProcess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AI</a:t>
              </a:r>
              <a:r>
                <a:rPr lang="zh-CN" altLang="en-US" sz="1400" dirty="0"/>
                <a:t>助手入口</a:t>
              </a:r>
              <a:endParaRPr lang="zh-CN" altLang="en-US" sz="1400" dirty="0"/>
            </a:p>
          </p:txBody>
        </p:sp>
        <p:sp>
          <p:nvSpPr>
            <p:cNvPr id="23" name="流程图: 可选过程 22"/>
            <p:cNvSpPr/>
            <p:nvPr/>
          </p:nvSpPr>
          <p:spPr>
            <a:xfrm>
              <a:off x="2929365" y="2287824"/>
              <a:ext cx="1160795" cy="492791"/>
            </a:xfrm>
            <a:prstGeom prst="flowChartAlternateProcess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快应用容器</a:t>
              </a:r>
              <a:endParaRPr lang="zh-CN" altLang="en-US" sz="1400" dirty="0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2269314" y="1416398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用户层</a:t>
              </a:r>
              <a:endParaRPr lang="zh-CN" altLang="en-US" sz="1400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7860325" y="837058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智能体层</a:t>
              </a:r>
              <a:endParaRPr lang="zh-CN" altLang="en-US" sz="1400" dirty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4944072" y="4745269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基础层</a:t>
              </a:r>
              <a:endParaRPr lang="zh-CN" altLang="en-US" sz="1400" dirty="0"/>
            </a:p>
          </p:txBody>
        </p:sp>
        <p:cxnSp>
          <p:nvCxnSpPr>
            <p:cNvPr id="27" name="直接箭头连接符 26"/>
            <p:cNvCxnSpPr>
              <a:stCxn id="22" idx="3"/>
              <a:endCxn id="23" idx="1"/>
            </p:cNvCxnSpPr>
            <p:nvPr/>
          </p:nvCxnSpPr>
          <p:spPr>
            <a:xfrm>
              <a:off x="2540608" y="2534220"/>
              <a:ext cx="38875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连接符: 曲线 27"/>
            <p:cNvCxnSpPr>
              <a:endCxn id="17" idx="0"/>
            </p:cNvCxnSpPr>
            <p:nvPr/>
          </p:nvCxnSpPr>
          <p:spPr>
            <a:xfrm>
              <a:off x="7463037" y="1735717"/>
              <a:ext cx="732798" cy="552107"/>
            </a:xfrm>
            <a:prstGeom prst="curved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连接符: 曲线 28"/>
            <p:cNvCxnSpPr>
              <a:stCxn id="16" idx="2"/>
              <a:endCxn id="17" idx="0"/>
            </p:cNvCxnSpPr>
            <p:nvPr/>
          </p:nvCxnSpPr>
          <p:spPr>
            <a:xfrm rot="5400000">
              <a:off x="8363293" y="1568259"/>
              <a:ext cx="552108" cy="887023"/>
            </a:xfrm>
            <a:prstGeom prst="curvedConnector3">
              <a:avLst>
                <a:gd name="adj1" fmla="val 1405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连接符: 曲线 29"/>
            <p:cNvCxnSpPr>
              <a:stCxn id="22" idx="2"/>
            </p:cNvCxnSpPr>
            <p:nvPr/>
          </p:nvCxnSpPr>
          <p:spPr>
            <a:xfrm rot="16200000" flipH="1">
              <a:off x="4026338" y="714488"/>
              <a:ext cx="765650" cy="4897904"/>
            </a:xfrm>
            <a:prstGeom prst="curved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连接符: 曲线 30"/>
            <p:cNvCxnSpPr>
              <a:stCxn id="23" idx="2"/>
            </p:cNvCxnSpPr>
            <p:nvPr/>
          </p:nvCxnSpPr>
          <p:spPr>
            <a:xfrm rot="16200000" flipH="1">
              <a:off x="4806504" y="1483874"/>
              <a:ext cx="758805" cy="3352286"/>
            </a:xfrm>
            <a:prstGeom prst="curved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连接符: 曲线 31"/>
            <p:cNvCxnSpPr>
              <a:stCxn id="18" idx="3"/>
              <a:endCxn id="19" idx="1"/>
            </p:cNvCxnSpPr>
            <p:nvPr/>
          </p:nvCxnSpPr>
          <p:spPr>
            <a:xfrm>
              <a:off x="8043435" y="3546266"/>
              <a:ext cx="459025" cy="4562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连接符: 曲线 32"/>
            <p:cNvCxnSpPr>
              <a:stCxn id="17" idx="2"/>
              <a:endCxn id="19" idx="0"/>
            </p:cNvCxnSpPr>
            <p:nvPr/>
          </p:nvCxnSpPr>
          <p:spPr>
            <a:xfrm rot="16200000" flipH="1">
              <a:off x="8377438" y="2599011"/>
              <a:ext cx="523817" cy="887023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连接符: 曲线 33"/>
            <p:cNvCxnSpPr>
              <a:stCxn id="18" idx="2"/>
              <a:endCxn id="20" idx="0"/>
            </p:cNvCxnSpPr>
            <p:nvPr/>
          </p:nvCxnSpPr>
          <p:spPr>
            <a:xfrm rot="5400000">
              <a:off x="5344288" y="2976153"/>
              <a:ext cx="1302243" cy="2935259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连接符: 曲线 34"/>
            <p:cNvCxnSpPr>
              <a:stCxn id="19" idx="2"/>
              <a:endCxn id="21" idx="0"/>
            </p:cNvCxnSpPr>
            <p:nvPr/>
          </p:nvCxnSpPr>
          <p:spPr>
            <a:xfrm rot="5400000">
              <a:off x="7003593" y="3029330"/>
              <a:ext cx="1311372" cy="2847158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334265" y="300934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solidFill>
                  <a:schemeClr val="tx1"/>
                </a:solidFill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产品原型设计</a:t>
            </a:r>
            <a:endParaRPr lang="zh-CN" altLang="en-US" sz="3200" spc="230" dirty="0">
              <a:solidFill>
                <a:schemeClr val="tx1"/>
              </a:solidFill>
              <a:uFillTx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235700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作品设计理念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731662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产品原型设计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227624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创新点说明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61409" y="1163877"/>
            <a:ext cx="10891518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核心交互流程：</a:t>
            </a:r>
            <a:endParaRPr lang="en-US" altLang="zh-CN" dirty="0">
              <a:solidFill>
                <a:srgbClr val="415FFF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61409" y="4924086"/>
            <a:ext cx="10007641" cy="2120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大模型的具体应用说明：</a:t>
            </a:r>
            <a:r>
              <a:rPr lang="zh-CN" altLang="en-US" i="1" dirty="0">
                <a:solidFill>
                  <a:srgbClr val="FF0000"/>
                </a:solidFill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 </a:t>
            </a:r>
            <a:r>
              <a:rPr lang="zh-CN" altLang="en-US" dirty="0"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使用</a:t>
            </a:r>
            <a:r>
              <a:rPr lang="en-US" altLang="zh-CN" dirty="0" err="1"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BlueLM</a:t>
            </a:r>
            <a:r>
              <a:rPr lang="zh-CN" altLang="en-US" dirty="0"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大模型进行用户意图识别、语义理解、引导对话生成。通过定制</a:t>
            </a:r>
            <a:r>
              <a:rPr lang="en-US" altLang="zh-CN" dirty="0"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Prompt</a:t>
            </a:r>
            <a:r>
              <a:rPr lang="zh-CN" altLang="en-US" dirty="0"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严格控制</a:t>
            </a:r>
            <a:r>
              <a:rPr lang="en-US" altLang="zh-CN" dirty="0"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AI</a:t>
            </a:r>
            <a:r>
              <a:rPr lang="zh-CN" altLang="en-US" dirty="0"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行为：不直接给答案、每次只提一个子问题、必须等待用户回答后再继续，确保引导式学习效果。</a:t>
            </a:r>
            <a:endParaRPr lang="zh-CN" altLang="en-US" dirty="0">
              <a:effectLst/>
              <a:latin typeface="vivo Sans Bold" panose="02000500000000000000" pitchFamily="2" charset="-122"/>
              <a:ea typeface="vivo Sans Bold" panose="02000500000000000000" pitchFamily="2" charset="-122"/>
              <a:cs typeface="vivo Sans Bold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zh-CN" altLang="en-US" i="1" dirty="0">
              <a:effectLst/>
              <a:latin typeface="vivo Sans Bold" panose="02000500000000000000" pitchFamily="2" charset="-122"/>
              <a:ea typeface="vivo Sans Bold" panose="02000500000000000000" pitchFamily="2" charset="-122"/>
              <a:cs typeface="vivo Sans Bold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zh-CN" altLang="en-US" i="1" dirty="0">
              <a:solidFill>
                <a:srgbClr val="FF0000"/>
              </a:solidFill>
              <a:effectLst/>
              <a:latin typeface="vivo Sans Bold" panose="02000500000000000000" pitchFamily="2" charset="-122"/>
              <a:ea typeface="vivo Sans Bold" panose="02000500000000000000" pitchFamily="2" charset="-122"/>
              <a:cs typeface="vivo Sans Bold" panose="02000500000000000000" pitchFamily="2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1160670" y="1933913"/>
            <a:ext cx="2416544" cy="1046043"/>
          </a:xfrm>
          <a:prstGeom prst="roundRect">
            <a:avLst/>
          </a:prstGeom>
          <a:solidFill>
            <a:srgbClr val="00C4A7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  <a:latin typeface="quote-cjk-patch"/>
                <a:ea typeface="vivo Sans" panose="02000500000000000000"/>
              </a:rPr>
              <a:t>用户输入题目</a:t>
            </a:r>
            <a:endParaRPr lang="zh-CN" altLang="en-US" dirty="0">
              <a:solidFill>
                <a:sysClr val="windowText" lastClr="000000"/>
              </a:solidFill>
              <a:latin typeface="quote-cjk-patch"/>
              <a:ea typeface="vivo Sans" panose="02000500000000000000"/>
            </a:endParaRPr>
          </a:p>
        </p:txBody>
      </p:sp>
      <p:sp>
        <p:nvSpPr>
          <p:cNvPr id="12" name="箭头: 右 11"/>
          <p:cNvSpPr/>
          <p:nvPr/>
        </p:nvSpPr>
        <p:spPr>
          <a:xfrm>
            <a:off x="3761453" y="2253162"/>
            <a:ext cx="492369" cy="407544"/>
          </a:xfrm>
          <a:prstGeom prst="rightArrow">
            <a:avLst/>
          </a:prstGeom>
          <a:solidFill>
            <a:srgbClr val="00A7C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1" name="矩形: 圆角 30"/>
          <p:cNvSpPr/>
          <p:nvPr/>
        </p:nvSpPr>
        <p:spPr>
          <a:xfrm>
            <a:off x="4438061" y="1929001"/>
            <a:ext cx="2416544" cy="1046043"/>
          </a:xfrm>
          <a:prstGeom prst="roundRect">
            <a:avLst/>
          </a:prstGeom>
          <a:solidFill>
            <a:srgbClr val="FAAD1C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  <a:latin typeface="quote-cjk-patch"/>
                <a:ea typeface="vivo Sans" panose="02000500000000000000"/>
              </a:rPr>
              <a:t>AI</a:t>
            </a:r>
            <a:r>
              <a:rPr lang="zh-CN" altLang="en-US" dirty="0">
                <a:solidFill>
                  <a:sysClr val="windowText" lastClr="000000"/>
                </a:solidFill>
                <a:latin typeface="quote-cjk-patch"/>
                <a:ea typeface="vivo Sans" panose="02000500000000000000"/>
              </a:rPr>
              <a:t>识别知识点与</a:t>
            </a:r>
            <a:endParaRPr lang="en-US" altLang="zh-CN" dirty="0">
              <a:solidFill>
                <a:sysClr val="windowText" lastClr="000000"/>
              </a:solidFill>
              <a:latin typeface="quote-cjk-patch"/>
              <a:ea typeface="vivo Sans" panose="02000500000000000000"/>
            </a:endParaRPr>
          </a:p>
          <a:p>
            <a:pPr algn="ctr"/>
            <a:r>
              <a:rPr lang="zh-CN" altLang="en-US" dirty="0">
                <a:solidFill>
                  <a:sysClr val="windowText" lastClr="000000"/>
                </a:solidFill>
                <a:latin typeface="quote-cjk-patch"/>
                <a:ea typeface="vivo Sans" panose="02000500000000000000"/>
              </a:rPr>
              <a:t>前置链</a:t>
            </a:r>
            <a:endParaRPr lang="zh-CN" altLang="en-US" dirty="0">
              <a:solidFill>
                <a:sysClr val="windowText" lastClr="000000"/>
              </a:solidFill>
              <a:latin typeface="quote-cjk-patch"/>
              <a:ea typeface="vivo Sans" panose="02000500000000000000"/>
            </a:endParaRPr>
          </a:p>
        </p:txBody>
      </p:sp>
      <p:sp>
        <p:nvSpPr>
          <p:cNvPr id="32" name="箭头: 右 31"/>
          <p:cNvSpPr/>
          <p:nvPr/>
        </p:nvSpPr>
        <p:spPr>
          <a:xfrm>
            <a:off x="7058022" y="2248250"/>
            <a:ext cx="492369" cy="407544"/>
          </a:xfrm>
          <a:prstGeom prst="rightArrow">
            <a:avLst/>
          </a:prstGeom>
          <a:solidFill>
            <a:srgbClr val="00A7C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: 圆角 32"/>
          <p:cNvSpPr/>
          <p:nvPr/>
        </p:nvSpPr>
        <p:spPr>
          <a:xfrm>
            <a:off x="7715452" y="1933913"/>
            <a:ext cx="2416544" cy="1046043"/>
          </a:xfrm>
          <a:prstGeom prst="roundRect">
            <a:avLst/>
          </a:prstGeom>
          <a:solidFill>
            <a:srgbClr val="FF4987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  <a:latin typeface="quote-cjk-patch"/>
                <a:ea typeface="vivo Sans" panose="02000500000000000000"/>
              </a:rPr>
              <a:t>追问前置知识</a:t>
            </a:r>
            <a:endParaRPr lang="zh-CN" altLang="en-US" dirty="0">
              <a:solidFill>
                <a:sysClr val="windowText" lastClr="000000"/>
              </a:solidFill>
              <a:latin typeface="quote-cjk-patch"/>
              <a:ea typeface="vivo Sans" panose="02000500000000000000"/>
            </a:endParaRPr>
          </a:p>
        </p:txBody>
      </p:sp>
      <p:sp>
        <p:nvSpPr>
          <p:cNvPr id="34" name="箭头: 右 33"/>
          <p:cNvSpPr/>
          <p:nvPr/>
        </p:nvSpPr>
        <p:spPr>
          <a:xfrm>
            <a:off x="10316235" y="2253162"/>
            <a:ext cx="492369" cy="407544"/>
          </a:xfrm>
          <a:prstGeom prst="rightArrow">
            <a:avLst/>
          </a:prstGeom>
          <a:solidFill>
            <a:srgbClr val="00A7C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: 圆角 34"/>
          <p:cNvSpPr/>
          <p:nvPr/>
        </p:nvSpPr>
        <p:spPr>
          <a:xfrm>
            <a:off x="1856456" y="3429000"/>
            <a:ext cx="2416544" cy="1046043"/>
          </a:xfrm>
          <a:prstGeom prst="roundRect">
            <a:avLst/>
          </a:prstGeom>
          <a:solidFill>
            <a:srgbClr val="00C4A7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  <a:latin typeface="quote-cjk-patch"/>
                <a:ea typeface="vivo Sans" panose="02000500000000000000"/>
              </a:rPr>
              <a:t>用户回答</a:t>
            </a:r>
            <a:endParaRPr lang="zh-CN" altLang="en-US" dirty="0">
              <a:solidFill>
                <a:sysClr val="windowText" lastClr="000000"/>
              </a:solidFill>
              <a:latin typeface="quote-cjk-patch"/>
              <a:ea typeface="vivo Sans" panose="02000500000000000000"/>
            </a:endParaRPr>
          </a:p>
        </p:txBody>
      </p:sp>
      <p:sp>
        <p:nvSpPr>
          <p:cNvPr id="36" name="箭头: 右 35"/>
          <p:cNvSpPr/>
          <p:nvPr/>
        </p:nvSpPr>
        <p:spPr>
          <a:xfrm>
            <a:off x="4457239" y="3748249"/>
            <a:ext cx="492369" cy="407544"/>
          </a:xfrm>
          <a:prstGeom prst="rightArrow">
            <a:avLst/>
          </a:prstGeom>
          <a:solidFill>
            <a:srgbClr val="00A7C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: 圆角 36"/>
          <p:cNvSpPr/>
          <p:nvPr/>
        </p:nvSpPr>
        <p:spPr>
          <a:xfrm>
            <a:off x="5133847" y="3429000"/>
            <a:ext cx="2416544" cy="1046043"/>
          </a:xfrm>
          <a:prstGeom prst="roundRect">
            <a:avLst/>
          </a:prstGeom>
          <a:solidFill>
            <a:srgbClr val="FAAD1C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  <a:latin typeface="quote-cjk-patch"/>
                <a:ea typeface="vivo Sans" panose="02000500000000000000"/>
              </a:rPr>
              <a:t>正确则进入下一级，错误则定位断裂点</a:t>
            </a:r>
            <a:endParaRPr lang="zh-CN" altLang="en-US" dirty="0">
              <a:solidFill>
                <a:sysClr val="windowText" lastClr="000000"/>
              </a:solidFill>
              <a:latin typeface="quote-cjk-patch"/>
              <a:ea typeface="vivo Sans" panose="02000500000000000000"/>
            </a:endParaRPr>
          </a:p>
        </p:txBody>
      </p:sp>
      <p:sp>
        <p:nvSpPr>
          <p:cNvPr id="38" name="箭头: 右 37"/>
          <p:cNvSpPr/>
          <p:nvPr/>
        </p:nvSpPr>
        <p:spPr>
          <a:xfrm>
            <a:off x="7734630" y="3748249"/>
            <a:ext cx="492369" cy="407544"/>
          </a:xfrm>
          <a:prstGeom prst="rightArrow">
            <a:avLst/>
          </a:prstGeom>
          <a:solidFill>
            <a:srgbClr val="00A7C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: 圆角 38"/>
          <p:cNvSpPr/>
          <p:nvPr/>
        </p:nvSpPr>
        <p:spPr>
          <a:xfrm>
            <a:off x="8411238" y="3429000"/>
            <a:ext cx="2416544" cy="1046043"/>
          </a:xfrm>
          <a:prstGeom prst="roundRect">
            <a:avLst/>
          </a:prstGeom>
          <a:solidFill>
            <a:srgbClr val="FF4987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  <a:latin typeface="quote-cjk-patch"/>
                <a:ea typeface="vivo Sans" panose="02000500000000000000"/>
              </a:rPr>
              <a:t>从断裂点逐级引导至原题解答</a:t>
            </a:r>
            <a:endParaRPr lang="zh-CN" altLang="en-US" dirty="0">
              <a:solidFill>
                <a:sysClr val="windowText" lastClr="000000"/>
              </a:solidFill>
              <a:latin typeface="quote-cjk-patch"/>
              <a:ea typeface="vivo Sans" panose="0200050000000000000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1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334265" y="300934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solidFill>
                  <a:schemeClr val="tx1"/>
                </a:solidFill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产品原型设计</a:t>
            </a:r>
            <a:endParaRPr lang="zh-CN" altLang="en-US" sz="3200" spc="230" dirty="0">
              <a:solidFill>
                <a:schemeClr val="tx1"/>
              </a:solidFill>
              <a:uFillTx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235700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作品设计理念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731662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产品原型设计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227624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创新点说明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56"/>
          <a:stretch>
            <a:fillRect/>
          </a:stretch>
        </p:blipFill>
        <p:spPr>
          <a:xfrm>
            <a:off x="3023235" y="1048385"/>
            <a:ext cx="5998845" cy="378841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54205" y="1448685"/>
            <a:ext cx="25095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415FFF"/>
                </a:solidFill>
                <a:ea typeface="vivo Sans" panose="02000500000000000000" pitchFamily="2" charset="-122"/>
              </a:rPr>
              <a:t>左侧导航区</a:t>
            </a:r>
            <a:r>
              <a:rPr lang="zh-CN" altLang="en-US" dirty="0">
                <a:ea typeface="vivo Sans" panose="02000500000000000000"/>
              </a:rPr>
              <a:t>：按年级 </a:t>
            </a:r>
            <a:r>
              <a:rPr lang="en-US" altLang="zh-CN" dirty="0">
                <a:ea typeface="vivo Sans" panose="02000500000000000000"/>
              </a:rPr>
              <a:t>/ </a:t>
            </a:r>
            <a:r>
              <a:rPr lang="zh-CN" altLang="en-US" dirty="0">
                <a:ea typeface="vivo Sans" panose="02000500000000000000"/>
              </a:rPr>
              <a:t>章节梳理初中数学知识点，支持掌握度标记与快速筛选</a:t>
            </a:r>
            <a:endParaRPr lang="zh-CN" altLang="en-US" dirty="0">
              <a:ea typeface="vivo Sans" panose="0200050000000000000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54205" y="3047549"/>
            <a:ext cx="25095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415FFF"/>
                </a:solidFill>
                <a:ea typeface="vivo Sans" panose="02000500000000000000" pitchFamily="2" charset="-122"/>
              </a:rPr>
              <a:t>中间思维导图区</a:t>
            </a:r>
            <a:r>
              <a:rPr lang="zh-CN" altLang="en-US" dirty="0">
                <a:ea typeface="vivo Sans" panose="02000500000000000000"/>
              </a:rPr>
              <a:t>：以知识脉络为核心，可视化呈现知识点关联，帮助构建完整知识体系</a:t>
            </a:r>
            <a:endParaRPr lang="zh-CN" altLang="en-US" dirty="0">
              <a:ea typeface="vivo Sans" panose="02000500000000000000"/>
            </a:endParaRPr>
          </a:p>
        </p:txBody>
      </p:sp>
      <p:cxnSp>
        <p:nvCxnSpPr>
          <p:cNvPr id="24" name="连接符: 肘形 23"/>
          <p:cNvCxnSpPr>
            <a:stCxn id="12" idx="2"/>
          </p:cNvCxnSpPr>
          <p:nvPr/>
        </p:nvCxnSpPr>
        <p:spPr>
          <a:xfrm rot="16200000" flipH="1">
            <a:off x="2591228" y="1666779"/>
            <a:ext cx="174572" cy="2139042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连接符: 肘形 27"/>
          <p:cNvCxnSpPr/>
          <p:nvPr/>
        </p:nvCxnSpPr>
        <p:spPr>
          <a:xfrm rot="16200000" flipH="1">
            <a:off x="3500605" y="2445429"/>
            <a:ext cx="174573" cy="395779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9468798" y="2336087"/>
            <a:ext cx="25095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415FFF"/>
                </a:solidFill>
                <a:ea typeface="vivo Sans" panose="02000500000000000000" pitchFamily="2" charset="-122"/>
              </a:rPr>
              <a:t>右侧 </a:t>
            </a:r>
            <a:r>
              <a:rPr lang="en-US" altLang="zh-CN" dirty="0">
                <a:solidFill>
                  <a:srgbClr val="415FFF"/>
                </a:solidFill>
                <a:ea typeface="vivo Sans" panose="02000500000000000000" pitchFamily="2" charset="-122"/>
              </a:rPr>
              <a:t>AI </a:t>
            </a:r>
            <a:r>
              <a:rPr lang="zh-CN" altLang="en-US" dirty="0">
                <a:solidFill>
                  <a:srgbClr val="415FFF"/>
                </a:solidFill>
                <a:ea typeface="vivo Sans" panose="02000500000000000000" pitchFamily="2" charset="-122"/>
              </a:rPr>
              <a:t>对话区</a:t>
            </a:r>
            <a:r>
              <a:rPr lang="zh-CN" altLang="en-US" dirty="0">
                <a:ea typeface="vivo Sans" panose="02000500000000000000"/>
              </a:rPr>
              <a:t>：引导式解题 </a:t>
            </a:r>
            <a:r>
              <a:rPr lang="en-US" altLang="zh-CN" dirty="0">
                <a:ea typeface="vivo Sans" panose="02000500000000000000"/>
              </a:rPr>
              <a:t>+ </a:t>
            </a:r>
            <a:r>
              <a:rPr lang="zh-CN" altLang="en-US" dirty="0">
                <a:ea typeface="vivo Sans" panose="02000500000000000000"/>
              </a:rPr>
              <a:t>知识修复反馈，兼顾解题辅助与学习能力培养</a:t>
            </a:r>
            <a:endParaRPr lang="zh-CN" altLang="en-US" dirty="0">
              <a:ea typeface="vivo Sans" panose="02000500000000000000"/>
            </a:endParaRPr>
          </a:p>
        </p:txBody>
      </p:sp>
      <p:cxnSp>
        <p:nvCxnSpPr>
          <p:cNvPr id="32" name="连接符: 肘形 31"/>
          <p:cNvCxnSpPr/>
          <p:nvPr/>
        </p:nvCxnSpPr>
        <p:spPr>
          <a:xfrm rot="5400000">
            <a:off x="9422123" y="2662917"/>
            <a:ext cx="274808" cy="2273021"/>
          </a:xfrm>
          <a:prstGeom prst="bentConnector2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14"/>
          <p:cNvSpPr>
            <a:spLocks noChangeArrowheads="1"/>
          </p:cNvSpPr>
          <p:nvPr/>
        </p:nvSpPr>
        <p:spPr bwMode="auto">
          <a:xfrm>
            <a:off x="926531" y="5412360"/>
            <a:ext cx="11166518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主色用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255285"/>
                </a:solidFill>
                <a:effectLst/>
                <a:latin typeface="Arial" panose="020B0604020202020204" pitchFamily="34" charset="0"/>
                <a:ea typeface="ui-sans-serif"/>
              </a:rPr>
              <a:t>低饱和蓝色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，传递理性、专业的学习工具气质；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语义化状态色（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  <a:ea typeface="ui-sans-serif"/>
              </a:rPr>
              <a:t>绿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 /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  <a:ea typeface="ui-sans-serif"/>
              </a:rPr>
              <a:t>黄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 /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ui-sans-serif"/>
              </a:rPr>
              <a:t>灰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）标记知识点掌握度，一眼识别进度，降低认知成本；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浅白 + 浅灰背景保证可读性，模块分区清晰，无视觉负担。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1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334265" y="300934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solidFill>
                  <a:schemeClr val="tx1"/>
                </a:solidFill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创新点说明</a:t>
            </a:r>
            <a:endParaRPr lang="zh-CN" altLang="en-US" sz="3200" spc="230" dirty="0">
              <a:solidFill>
                <a:schemeClr val="tx1"/>
              </a:solidFill>
              <a:uFillTx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235700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作品设计理念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731662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产品原型设计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227624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创新点说明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59568" y="1522325"/>
            <a:ext cx="4972750" cy="4613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解决方案创新：</a:t>
            </a:r>
            <a:r>
              <a:rPr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提出“知识图谱</a:t>
            </a:r>
            <a:r>
              <a:rPr lang="en-US" altLang="zh-CN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+</a:t>
            </a:r>
            <a:r>
              <a:rPr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大模型引导对话”的融合范式，解决传统</a:t>
            </a:r>
            <a:r>
              <a:rPr lang="en-US" altLang="zh-CN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AI</a:t>
            </a:r>
            <a:r>
              <a:rPr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工具“答案导向”导致的学习浅层化问题。</a:t>
            </a:r>
            <a:endParaRPr lang="zh-CN" altLang="en-US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zh-CN" altLang="en-US" dirty="0">
              <a:solidFill>
                <a:srgbClr val="415FFF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交互创新：</a:t>
            </a:r>
            <a:r>
              <a:rPr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采用苏格拉底式引导对话，让学生自主推导答案，真正实现“学会”而非“知道答案”。</a:t>
            </a:r>
            <a:endParaRPr lang="zh-CN" altLang="en-US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zh-CN" altLang="en-US" dirty="0">
              <a:solidFill>
                <a:srgbClr val="415FFF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功能性能创新：</a:t>
            </a:r>
            <a:r>
              <a:rPr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知识点雷达与断层追溯机制，能精准定位学生前置知识断裂点，实现个性化修复路径。</a:t>
            </a:r>
            <a:endParaRPr lang="zh-CN" altLang="en-US" dirty="0"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570" y="402676"/>
            <a:ext cx="980882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334265" y="300934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solidFill>
                  <a:schemeClr val="tx1"/>
                </a:solidFill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前景评估</a:t>
            </a:r>
            <a:endParaRPr lang="zh-CN" altLang="en-US" sz="3200" spc="230" dirty="0">
              <a:solidFill>
                <a:schemeClr val="tx1"/>
              </a:solidFill>
              <a:uFillTx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235700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作品设计理念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731662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产品原型设计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227624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创新点说明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14431" y="6132128"/>
            <a:ext cx="5955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415FFF"/>
                </a:solidFill>
                <a:ea typeface="vivo Sans" panose="02000500000000000000"/>
              </a:rPr>
              <a:t>结论</a:t>
            </a:r>
            <a:r>
              <a:rPr lang="zh-CN" altLang="en-US" dirty="0">
                <a:ea typeface="vivo Sans" panose="02000500000000000000"/>
              </a:rPr>
              <a:t>：多数工具旨在帮助学生绕开问题，而非解决问题。</a:t>
            </a:r>
            <a:endParaRPr lang="en-US" altLang="zh-CN" dirty="0">
              <a:ea typeface="vivo Sans" panose="02000500000000000000"/>
            </a:endParaRPr>
          </a:p>
        </p:txBody>
      </p:sp>
      <p:graphicFrame>
        <p:nvGraphicFramePr>
          <p:cNvPr id="15" name="表格 15"/>
          <p:cNvGraphicFramePr>
            <a:graphicFrameLocks noGrp="1"/>
          </p:cNvGraphicFramePr>
          <p:nvPr/>
        </p:nvGraphicFramePr>
        <p:xfrm>
          <a:off x="1021523" y="1202060"/>
          <a:ext cx="10485006" cy="4453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5002"/>
                <a:gridCol w="3495002"/>
                <a:gridCol w="3495002"/>
              </a:tblGrid>
              <a:tr h="4509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dirty="0">
                          <a:ea typeface="vivo Sans" panose="02000500000000000000"/>
                        </a:rPr>
                        <a:t>传统工具痛点</a:t>
                      </a:r>
                      <a:endParaRPr lang="zh-CN" altLang="en-US" dirty="0">
                        <a:ea typeface="vivo Sans" panose="0200050000000000000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dirty="0">
                          <a:ea typeface="vivo Sans" panose="02000500000000000000"/>
                        </a:rPr>
                        <a:t>具体表现</a:t>
                      </a:r>
                      <a:endParaRPr lang="zh-CN" altLang="en-US" dirty="0">
                        <a:ea typeface="vivo Sans" panose="0200050000000000000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ea typeface="vivo Sans" panose="02000500000000000000"/>
                        </a:rPr>
                        <a:t>数据佐证</a:t>
                      </a:r>
                      <a:endParaRPr lang="zh-CN" altLang="en-US">
                        <a:ea typeface="vivo Sans" panose="02000500000000000000"/>
                      </a:endParaRPr>
                    </a:p>
                  </a:txBody>
                  <a:tcPr anchor="ctr"/>
                </a:tc>
              </a:tr>
              <a:tr h="11119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b="1" dirty="0">
                          <a:ea typeface="vivo Sans" panose="02000500000000000000"/>
                        </a:rPr>
                        <a:t>01 </a:t>
                      </a:r>
                      <a:r>
                        <a:rPr lang="zh-CN" altLang="en-US" b="1" dirty="0">
                          <a:ea typeface="vivo Sans" panose="02000500000000000000"/>
                        </a:rPr>
                        <a:t>答案导向</a:t>
                      </a:r>
                      <a:endParaRPr lang="zh-CN" altLang="en-US" dirty="0">
                        <a:ea typeface="vivo Sans" panose="0200050000000000000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dirty="0">
                          <a:ea typeface="vivo Sans" panose="02000500000000000000"/>
                        </a:rPr>
                        <a:t>AI</a:t>
                      </a:r>
                      <a:r>
                        <a:rPr lang="zh-CN" altLang="en-US" dirty="0">
                          <a:ea typeface="vivo Sans" panose="02000500000000000000"/>
                        </a:rPr>
                        <a:t>直接输出解题步骤，学生复制粘贴了事</a:t>
                      </a:r>
                      <a:endParaRPr lang="zh-CN" altLang="en-US" dirty="0">
                        <a:ea typeface="vivo Sans" panose="0200050000000000000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ea typeface="vivo Sans" panose="02000500000000000000"/>
                        </a:rPr>
                        <a:t>英国高等教育政策研究所（</a:t>
                      </a:r>
                      <a:r>
                        <a:rPr lang="en-US" altLang="zh-CN">
                          <a:ea typeface="vivo Sans" panose="02000500000000000000"/>
                        </a:rPr>
                        <a:t>2025</a:t>
                      </a:r>
                      <a:r>
                        <a:rPr lang="zh-CN" altLang="en-US">
                          <a:ea typeface="vivo Sans" panose="02000500000000000000"/>
                        </a:rPr>
                        <a:t>）：</a:t>
                      </a:r>
                      <a:r>
                        <a:rPr lang="en-US" altLang="zh-CN">
                          <a:ea typeface="vivo Sans" panose="02000500000000000000"/>
                        </a:rPr>
                        <a:t>92%</a:t>
                      </a:r>
                      <a:r>
                        <a:rPr lang="zh-CN" altLang="en-US">
                          <a:ea typeface="vivo Sans" panose="02000500000000000000"/>
                        </a:rPr>
                        <a:t>本科生用</a:t>
                      </a:r>
                      <a:r>
                        <a:rPr lang="en-US" altLang="zh-CN">
                          <a:ea typeface="vivo Sans" panose="02000500000000000000"/>
                        </a:rPr>
                        <a:t>AI</a:t>
                      </a:r>
                      <a:r>
                        <a:rPr lang="zh-CN" altLang="en-US">
                          <a:ea typeface="vivo Sans" panose="02000500000000000000"/>
                        </a:rPr>
                        <a:t>做作业，</a:t>
                      </a:r>
                      <a:r>
                        <a:rPr lang="en-US" altLang="zh-CN">
                          <a:ea typeface="vivo Sans" panose="02000500000000000000"/>
                        </a:rPr>
                        <a:t>18%</a:t>
                      </a:r>
                      <a:r>
                        <a:rPr lang="zh-CN" altLang="en-US">
                          <a:ea typeface="vivo Sans" panose="02000500000000000000"/>
                        </a:rPr>
                        <a:t>承认直接复制答案</a:t>
                      </a:r>
                      <a:endParaRPr lang="zh-CN" altLang="en-US">
                        <a:ea typeface="vivo Sans" panose="02000500000000000000"/>
                      </a:endParaRPr>
                    </a:p>
                  </a:txBody>
                  <a:tcPr anchor="ctr"/>
                </a:tc>
              </a:tr>
              <a:tr h="17790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b="1" dirty="0">
                          <a:ea typeface="vivo Sans" panose="02000500000000000000"/>
                        </a:rPr>
                        <a:t>02 </a:t>
                      </a:r>
                      <a:r>
                        <a:rPr lang="zh-CN" altLang="en-US" b="1" dirty="0">
                          <a:ea typeface="vivo Sans" panose="02000500000000000000"/>
                        </a:rPr>
                        <a:t>断层隐蔽</a:t>
                      </a:r>
                      <a:endParaRPr lang="zh-CN" altLang="en-US" dirty="0">
                        <a:ea typeface="vivo Sans" panose="0200050000000000000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dirty="0">
                          <a:ea typeface="vivo Sans" panose="02000500000000000000"/>
                        </a:rPr>
                        <a:t>前置知识未掌握导致后续必然卡住，但工具无法识别</a:t>
                      </a:r>
                      <a:r>
                        <a:rPr lang="en-US" altLang="zh-CN" dirty="0">
                          <a:ea typeface="vivo Sans" panose="02000500000000000000"/>
                        </a:rPr>
                        <a:t>"</a:t>
                      </a:r>
                      <a:r>
                        <a:rPr lang="zh-CN" altLang="en-US" dirty="0">
                          <a:ea typeface="vivo Sans" panose="02000500000000000000"/>
                        </a:rPr>
                        <a:t>从哪里开始不会</a:t>
                      </a:r>
                      <a:r>
                        <a:rPr lang="en-US" altLang="zh-CN" dirty="0">
                          <a:ea typeface="vivo Sans" panose="02000500000000000000"/>
                        </a:rPr>
                        <a:t>"</a:t>
                      </a:r>
                      <a:endParaRPr lang="en-US" altLang="zh-CN" dirty="0">
                        <a:ea typeface="vivo Sans" panose="0200050000000000000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a typeface="vivo Sans" panose="02000500000000000000"/>
                        </a:rPr>
                        <a:t>《British Journal of Educational Technology》（2024）：</a:t>
                      </a:r>
                      <a:r>
                        <a:rPr lang="zh-CN" altLang="en-US" dirty="0">
                          <a:ea typeface="vivo Sans" panose="02000500000000000000"/>
                        </a:rPr>
                        <a:t>基于</a:t>
                      </a:r>
                      <a:r>
                        <a:rPr lang="en-US" altLang="zh-CN" dirty="0">
                          <a:ea typeface="vivo Sans" panose="02000500000000000000"/>
                        </a:rPr>
                        <a:t>2798</a:t>
                      </a:r>
                      <a:r>
                        <a:rPr lang="zh-CN" altLang="en-US" dirty="0">
                          <a:ea typeface="vivo Sans" panose="02000500000000000000"/>
                        </a:rPr>
                        <a:t>名学生的研究表明，分数理解显著预测百分比理解</a:t>
                      </a:r>
                      <a:r>
                        <a:rPr lang="en-US" altLang="zh-CN" dirty="0">
                          <a:ea typeface="vivo Sans" panose="02000500000000000000"/>
                        </a:rPr>
                        <a:t>——</a:t>
                      </a:r>
                      <a:r>
                        <a:rPr lang="zh-CN" altLang="en-US" dirty="0">
                          <a:ea typeface="vivo Sans" panose="02000500000000000000"/>
                        </a:rPr>
                        <a:t>前置知识断裂具有传导效应</a:t>
                      </a:r>
                      <a:endParaRPr lang="zh-CN" altLang="en-US" dirty="0">
                        <a:ea typeface="vivo Sans" panose="02000500000000000000"/>
                      </a:endParaRPr>
                    </a:p>
                  </a:txBody>
                  <a:tcPr anchor="ctr"/>
                </a:tc>
              </a:tr>
              <a:tr h="11119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b="1" dirty="0">
                          <a:ea typeface="vivo Sans" panose="02000500000000000000"/>
                        </a:rPr>
                        <a:t>03 </a:t>
                      </a:r>
                      <a:r>
                        <a:rPr lang="zh-CN" altLang="en-US" b="1" dirty="0">
                          <a:ea typeface="vivo Sans" panose="02000500000000000000"/>
                        </a:rPr>
                        <a:t>缺乏引导</a:t>
                      </a:r>
                      <a:endParaRPr lang="zh-CN" altLang="en-US" dirty="0">
                        <a:ea typeface="vivo Sans" panose="0200050000000000000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dirty="0">
                          <a:ea typeface="vivo Sans" panose="02000500000000000000"/>
                        </a:rPr>
                        <a:t>没有从易到难的教学路径，学生遇难则退</a:t>
                      </a:r>
                      <a:endParaRPr lang="zh-CN" altLang="en-US" dirty="0">
                        <a:ea typeface="vivo Sans" panose="0200050000000000000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dirty="0">
                          <a:ea typeface="vivo Sans" panose="02000500000000000000"/>
                        </a:rPr>
                        <a:t>中国青少年研究中心（</a:t>
                      </a:r>
                      <a:r>
                        <a:rPr lang="en-US" altLang="zh-CN" dirty="0">
                          <a:ea typeface="vivo Sans" panose="02000500000000000000"/>
                        </a:rPr>
                        <a:t>2025</a:t>
                      </a:r>
                      <a:r>
                        <a:rPr lang="zh-CN" altLang="en-US" dirty="0">
                          <a:ea typeface="vivo Sans" panose="02000500000000000000"/>
                        </a:rPr>
                        <a:t>）：</a:t>
                      </a:r>
                      <a:r>
                        <a:rPr lang="en-US" altLang="zh-CN" dirty="0">
                          <a:ea typeface="vivo Sans" panose="02000500000000000000"/>
                        </a:rPr>
                        <a:t>20.5%</a:t>
                      </a:r>
                      <a:r>
                        <a:rPr lang="zh-CN" altLang="en-US" dirty="0">
                          <a:ea typeface="vivo Sans" panose="02000500000000000000"/>
                        </a:rPr>
                        <a:t>的中小学生</a:t>
                      </a:r>
                      <a:r>
                        <a:rPr lang="en-US" altLang="zh-CN" dirty="0">
                          <a:ea typeface="vivo Sans" panose="02000500000000000000"/>
                        </a:rPr>
                        <a:t>"</a:t>
                      </a:r>
                      <a:r>
                        <a:rPr lang="zh-CN" altLang="en-US" dirty="0">
                          <a:ea typeface="vivo Sans" panose="02000500000000000000"/>
                        </a:rPr>
                        <a:t>想依赖</a:t>
                      </a:r>
                      <a:r>
                        <a:rPr lang="en-US" altLang="zh-CN" dirty="0">
                          <a:ea typeface="vivo Sans" panose="02000500000000000000"/>
                        </a:rPr>
                        <a:t>AI</a:t>
                      </a:r>
                      <a:r>
                        <a:rPr lang="zh-CN" altLang="en-US" dirty="0">
                          <a:ea typeface="vivo Sans" panose="02000500000000000000"/>
                        </a:rPr>
                        <a:t>思考，不想自己思考</a:t>
                      </a:r>
                      <a:r>
                        <a:rPr lang="en-US" altLang="zh-CN" dirty="0">
                          <a:ea typeface="vivo Sans" panose="02000500000000000000"/>
                        </a:rPr>
                        <a:t>"</a:t>
                      </a:r>
                      <a:endParaRPr lang="en-US" altLang="zh-CN" dirty="0">
                        <a:ea typeface="vivo Sans" panose="0200050000000000000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1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334265" y="300934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solidFill>
                  <a:schemeClr val="tx1"/>
                </a:solidFill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前景评估</a:t>
            </a:r>
            <a:endParaRPr lang="zh-CN" altLang="en-US" sz="3200" spc="230" dirty="0">
              <a:solidFill>
                <a:schemeClr val="tx1"/>
              </a:solidFill>
              <a:uFillTx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235700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作品设计理念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731662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产品原型设计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227624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创新点说明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93947" y="1811323"/>
            <a:ext cx="10142850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415FFF"/>
                </a:solidFill>
                <a:ea typeface="vivo Sans" panose="02000500000000000000" pitchFamily="2" charset="-122"/>
              </a:rPr>
              <a:t>社会价值</a:t>
            </a:r>
            <a:endParaRPr lang="en-US" altLang="zh-CN" dirty="0">
              <a:solidFill>
                <a:srgbClr val="415FFF"/>
              </a:solidFill>
              <a:ea typeface="vivo Sans" panose="02000500000000000000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	</a:t>
            </a:r>
            <a:r>
              <a:rPr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推动</a:t>
            </a:r>
            <a:r>
              <a:rPr lang="en-US" altLang="zh-CN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AI</a:t>
            </a:r>
            <a:r>
              <a:rPr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教育工具从“告知式”向“引导式”转型，将优质教学方法数字化、规模化，惠及更多学生。</a:t>
            </a:r>
            <a:r>
              <a:rPr lang="en-US" altLang="zh-CN" dirty="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	</a:t>
            </a:r>
            <a:endParaRPr lang="en-US" altLang="zh-CN" dirty="0">
              <a:solidFill>
                <a:srgbClr val="415FFF"/>
              </a:solidFill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5869" y="4468014"/>
            <a:ext cx="3108334" cy="1795678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93947" y="3244951"/>
            <a:ext cx="7252526" cy="2120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市场欢迎程度</a:t>
            </a:r>
            <a:endParaRPr lang="en-US" altLang="zh-CN" dirty="0">
              <a:solidFill>
                <a:srgbClr val="FF0000"/>
              </a:solidFill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	</a:t>
            </a:r>
            <a:r>
              <a:rPr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对比现有</a:t>
            </a:r>
            <a:r>
              <a:rPr lang="en-US" altLang="zh-CN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AI</a:t>
            </a:r>
            <a:r>
              <a:rPr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学习工具（如直接给答案的</a:t>
            </a:r>
            <a:r>
              <a:rPr lang="en-US" altLang="zh-CN" dirty="0" err="1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ChatGPT</a:t>
            </a:r>
            <a:r>
              <a:rPr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类产品），智学导图在功能上强调“引导推导”，在教育理念上更科学，能真正提升学习效果。其“快应用</a:t>
            </a:r>
            <a:r>
              <a:rPr lang="en-US" altLang="zh-CN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+AI</a:t>
            </a:r>
            <a:r>
              <a:rPr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智能体”形态降低了使用门槛，符合中学生使用习惯，具有显著的用户体验和商业模式优势。</a:t>
            </a:r>
            <a:endParaRPr lang="zh-CN" altLang="en-US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975869" y="2828836"/>
            <a:ext cx="3877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7200" dirty="0">
                <a:solidFill>
                  <a:schemeClr val="bg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感谢观看</a:t>
            </a:r>
            <a:endParaRPr kumimoji="1" lang="zh-CN" altLang="en-US" sz="7200" dirty="0">
              <a:solidFill>
                <a:schemeClr val="bg1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3.xml><?xml version="1.0" encoding="utf-8"?>
<p:tagLst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6.xml><?xml version="1.0" encoding="utf-8"?>
<p:tagLst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9.xml><?xml version="1.0" encoding="utf-8"?>
<p:tagLst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1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13.xml><?xml version="1.0" encoding="utf-8"?>
<p:tagLst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1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15.xml><?xml version="1.0" encoding="utf-8"?>
<p:tagLst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1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18.xml><?xml version="1.0" encoding="utf-8"?>
<p:tagLst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2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21.xml><?xml version="1.0" encoding="utf-8"?>
<p:tagLst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2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23.xml><?xml version="1.0" encoding="utf-8"?>
<p:tagLst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26.xml><?xml version="1.0" encoding="utf-8"?>
<p:tagLst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heme/theme1.xml><?xml version="1.0" encoding="utf-8"?>
<a:theme xmlns:a="http://schemas.openxmlformats.org/drawingml/2006/main" name="Office 主题">
  <a:themeElements>
    <a:clrScheme name="自定义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84FF8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ill Sans MT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1974</Words>
  <Application>WPS 演示</Application>
  <PresentationFormat>宽屏</PresentationFormat>
  <Paragraphs>229</Paragraphs>
  <Slides>14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47" baseType="lpstr">
      <vt:lpstr>Arial</vt:lpstr>
      <vt:lpstr>宋体</vt:lpstr>
      <vt:lpstr>Wingdings</vt:lpstr>
      <vt:lpstr>vivo Sans</vt:lpstr>
      <vt:lpstr>vivo Sans Bold</vt:lpstr>
      <vt:lpstr>系统字体常规体</vt:lpstr>
      <vt:lpstr>Segoe Print</vt:lpstr>
      <vt:lpstr>微软雅黑</vt:lpstr>
      <vt:lpstr>vivo Sans Extrabold</vt:lpstr>
      <vt:lpstr>vivo Sans Medium</vt:lpstr>
      <vt:lpstr>等线</vt:lpstr>
      <vt:lpstr>quote-cjk-patch</vt:lpstr>
      <vt:lpstr>vivo Sans</vt:lpstr>
      <vt:lpstr>ui-sans-serif</vt:lpstr>
      <vt:lpstr>Gill Sans MT</vt:lpstr>
      <vt:lpstr>Arial Unicode MS</vt:lpstr>
      <vt:lpstr>华文中宋</vt:lpstr>
      <vt:lpstr>Calibri Light</vt:lpstr>
      <vt:lpstr>等线 Light</vt:lpstr>
      <vt:lpstr>Calibri</vt:lpstr>
      <vt:lpstr>Segoe UI Symbol</vt:lpstr>
      <vt:lpstr>Wingdings</vt:lpstr>
      <vt:lpstr>quote-cjk-patch</vt:lpstr>
      <vt:lpstr>ui-sans-serif</vt:lpstr>
      <vt:lpstr>vivo Sans</vt:lpstr>
      <vt:lpstr>vivo Sans Bold</vt:lpstr>
      <vt:lpstr>vivo Sans Extrabold</vt:lpstr>
      <vt:lpstr>vivo Sans Medium</vt:lpstr>
      <vt:lpstr>Saturday Sans Regular</vt:lpstr>
      <vt:lpstr>Wonder Sans Bold</vt:lpstr>
      <vt:lpstr>Crunch ExtraBold</vt:lpstr>
      <vt:lpstr>Office 主题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mac 004</dc:creator>
  <cp:lastModifiedBy>WPS_1724393614</cp:lastModifiedBy>
  <cp:revision>1176</cp:revision>
  <dcterms:created xsi:type="dcterms:W3CDTF">2018-12-24T08:48:00Z</dcterms:created>
  <dcterms:modified xsi:type="dcterms:W3CDTF">2026-05-10T15:16:54Z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850B45B165A64D10A97DE22AC3489012_12</vt:lpwstr>
  </property>
  <property fmtid="{D5CDD505-2E9C-101B-9397-08002B2CF9AE}" pid="3" name="KSOProductBuildVer">
    <vt:lpwstr>2052-12.1.0.25865</vt:lpwstr>
  </property>
</Properties>
</file>