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67" r:id="rId5"/>
    <p:sldId id="269" r:id="rId6"/>
    <p:sldId id="262" r:id="rId7"/>
    <p:sldId id="271" r:id="rId8"/>
    <p:sldId id="263" r:id="rId9"/>
    <p:sldId id="275" r:id="rId10"/>
    <p:sldId id="270" r:id="rId11"/>
    <p:sldId id="264" r:id="rId12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5FD"/>
    <a:srgbClr val="D9EBFF"/>
    <a:srgbClr val="4FA1E8"/>
    <a:srgbClr val="575053"/>
    <a:srgbClr val="25557A"/>
    <a:srgbClr val="F5F7F9"/>
    <a:srgbClr val="FFFFFF"/>
    <a:srgbClr val="848EAC"/>
    <a:srgbClr val="A12B10"/>
    <a:srgbClr val="2483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16" y="96"/>
      </p:cViewPr>
      <p:guideLst>
        <p:guide orient="horz" pos="221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2025/12/29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tags" Target="../tags/tag77.xml"/><Relationship Id="rId18" Type="http://schemas.openxmlformats.org/officeDocument/2006/relationships/image" Target="../media/image4.jpeg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17" Type="http://schemas.openxmlformats.org/officeDocument/2006/relationships/image" Target="../media/image2.png"/><Relationship Id="rId2" Type="http://schemas.openxmlformats.org/officeDocument/2006/relationships/tags" Target="../tags/tag66.xml"/><Relationship Id="rId16" Type="http://schemas.openxmlformats.org/officeDocument/2006/relationships/image" Target="../media/image3.png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74.xml"/><Relationship Id="rId19" Type="http://schemas.openxmlformats.org/officeDocument/2006/relationships/image" Target="../media/image5.png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7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4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9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 descr="1037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9106535" y="5777865"/>
            <a:ext cx="3085714" cy="1080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2151380" y="2035175"/>
            <a:ext cx="7889240" cy="2787650"/>
            <a:chOff x="4143" y="4637"/>
            <a:chExt cx="12424" cy="4390"/>
          </a:xfrm>
        </p:grpSpPr>
        <p:sp>
          <p:nvSpPr>
            <p:cNvPr id="27" name="文本框 1"/>
            <p:cNvSpPr txBox="1"/>
            <p:nvPr/>
          </p:nvSpPr>
          <p:spPr>
            <a:xfrm>
              <a:off x="4143" y="4637"/>
              <a:ext cx="12424" cy="1598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ctr" rtl="0" eaLnBrk="1" fontAlgn="auto" latinLnBrk="0" hangingPunct="1"/>
              <a:r>
                <a:rPr lang="zh-CN" sz="6000" b="1" kern="10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数据缩减技术</a:t>
              </a:r>
            </a:p>
          </p:txBody>
        </p:sp>
        <p:sp>
          <p:nvSpPr>
            <p:cNvPr id="28" name="文本框 1"/>
            <p:cNvSpPr txBox="1"/>
            <p:nvPr/>
          </p:nvSpPr>
          <p:spPr>
            <a:xfrm>
              <a:off x="8996" y="8530"/>
              <a:ext cx="2719" cy="497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l" rtl="0" eaLnBrk="1" fontAlgn="auto" latinLnBrk="0" hangingPunct="1">
                <a:lnSpc>
                  <a:spcPts val="1800"/>
                </a:lnSpc>
              </a:pPr>
              <a:r>
                <a:rPr lang="zh-CN" altLang="en-US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汇报人丨韩轩</a:t>
              </a:r>
              <a:r>
                <a:rPr lang="en-US" altLang="zh-CN" sz="1600" kern="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 </a:t>
              </a:r>
              <a:endParaRPr lang="zh-CN" altLang="en-US" sz="1600" kern="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29" name="文本框 32"/>
            <p:cNvSpPr txBox="1"/>
            <p:nvPr/>
          </p:nvSpPr>
          <p:spPr>
            <a:xfrm>
              <a:off x="5781" y="6564"/>
              <a:ext cx="9129" cy="564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rtl="0" eaLnBrk="1" fontAlgn="auto" latinLnBrk="0" hangingPunct="1">
                <a:lnSpc>
                  <a:spcPts val="2000"/>
                </a:lnSpc>
              </a:pPr>
              <a:r>
                <a:rPr lang="zh-CN" altLang="en-US" sz="2000" b="1" kern="100">
                  <a:solidFill>
                    <a:srgbClr val="59595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科研轮转内容汇报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454900" y="-1959610"/>
            <a:ext cx="4737100" cy="5091430"/>
            <a:chOff x="11740" y="-3086"/>
            <a:chExt cx="7460" cy="8018"/>
          </a:xfrm>
        </p:grpSpPr>
        <p:grpSp>
          <p:nvGrpSpPr>
            <p:cNvPr id="3" name="组合 2"/>
            <p:cNvGrpSpPr/>
            <p:nvPr/>
          </p:nvGrpSpPr>
          <p:grpSpPr>
            <a:xfrm>
              <a:off x="11740" y="-3086"/>
              <a:ext cx="7460" cy="8018"/>
              <a:chOff x="8135783" y="-1669981"/>
              <a:chExt cx="4056217" cy="4359393"/>
            </a:xfrm>
          </p:grpSpPr>
          <p:sp>
            <p:nvSpPr>
              <p:cNvPr id="7" name="任意多边形: 形状 12"/>
              <p:cNvSpPr/>
              <p:nvPr/>
            </p:nvSpPr>
            <p:spPr>
              <a:xfrm rot="18900000">
                <a:off x="8135783" y="-1669981"/>
                <a:ext cx="3339963" cy="3339962"/>
              </a:xfrm>
              <a:custGeom>
                <a:avLst/>
                <a:gdLst>
                  <a:gd name="connsiteX0" fmla="*/ 0 w 3339963"/>
                  <a:gd name="connsiteY0" fmla="*/ 0 h 3339962"/>
                  <a:gd name="connsiteX1" fmla="*/ 3339963 w 3339963"/>
                  <a:gd name="connsiteY1" fmla="*/ 3339962 h 3339962"/>
                  <a:gd name="connsiteX2" fmla="*/ 1099563 w 3339963"/>
                  <a:gd name="connsiteY2" fmla="*/ 3339962 h 333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9963" h="3339962">
                    <a:moveTo>
                      <a:pt x="0" y="0"/>
                    </a:moveTo>
                    <a:lnTo>
                      <a:pt x="3339963" y="3339962"/>
                    </a:lnTo>
                    <a:lnTo>
                      <a:pt x="1099563" y="3339962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rot="10800000">
                <a:off x="9502588" y="0"/>
                <a:ext cx="2689412" cy="2689412"/>
              </a:xfrm>
              <a:prstGeom prst="rtTriangle">
                <a:avLst/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8" name="图片 17" descr="校徽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4679950" cy="3831590"/>
          </a:xfrm>
          <a:prstGeom prst="rect">
            <a:avLst/>
          </a:prstGeom>
          <a:gradFill>
            <a:gsLst>
              <a:gs pos="52000">
                <a:srgbClr val="25557A"/>
              </a:gs>
              <a:gs pos="100000">
                <a:srgbClr val="2D84BE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10870" y="535305"/>
            <a:ext cx="3458210" cy="1877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lnSpc>
                <a:spcPct val="150000"/>
              </a:lnSpc>
            </a:pPr>
            <a:r>
              <a:rPr lang="zh-CN" altLang="en-US" sz="8000" b="1"/>
              <a:t>目录</a:t>
            </a:r>
            <a:endParaRPr lang="zh-CN" altLang="en-US" sz="8000"/>
          </a:p>
          <a:p>
            <a:pPr algn="ctr" fontAlgn="auto">
              <a:lnSpc>
                <a:spcPct val="150000"/>
              </a:lnSpc>
            </a:pPr>
            <a:r>
              <a:rPr lang="en-US" altLang="zh-CN" sz="3200"/>
              <a:t>CONTENTS</a:t>
            </a:r>
          </a:p>
        </p:txBody>
      </p:sp>
      <p:grpSp>
        <p:nvGrpSpPr>
          <p:cNvPr id="16" name="组合 15"/>
          <p:cNvGrpSpPr/>
          <p:nvPr>
            <p:custDataLst>
              <p:tags r:id="rId2"/>
            </p:custDataLst>
          </p:nvPr>
        </p:nvGrpSpPr>
        <p:grpSpPr>
          <a:xfrm>
            <a:off x="5421457" y="1591310"/>
            <a:ext cx="4855210" cy="3145790"/>
            <a:chOff x="8183" y="1320"/>
            <a:chExt cx="7646" cy="4954"/>
          </a:xfrm>
        </p:grpSpPr>
        <p:sp>
          <p:nvSpPr>
            <p:cNvPr id="34" name="椭圆 33"/>
            <p:cNvSpPr/>
            <p:nvPr>
              <p:custDataLst>
                <p:tags r:id="rId6"/>
              </p:custDataLst>
            </p:nvPr>
          </p:nvSpPr>
          <p:spPr>
            <a:xfrm>
              <a:off x="8183" y="1320"/>
              <a:ext cx="1244" cy="12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</a:p>
          </p:txBody>
        </p:sp>
        <p:sp>
          <p:nvSpPr>
            <p:cNvPr id="35" name="矩形 34"/>
            <p:cNvSpPr/>
            <p:nvPr>
              <p:custDataLst>
                <p:tags r:id="rId7"/>
              </p:custDataLst>
            </p:nvPr>
          </p:nvSpPr>
          <p:spPr>
            <a:xfrm>
              <a:off x="10046" y="1521"/>
              <a:ext cx="3775" cy="8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spc="300" dirty="0">
                  <a:latin typeface="+mn-ea"/>
                </a:rPr>
                <a:t>前期准备</a:t>
              </a:r>
            </a:p>
          </p:txBody>
        </p:sp>
        <p:cxnSp>
          <p:nvCxnSpPr>
            <p:cNvPr id="36" name="直接连接符 35"/>
            <p:cNvCxnSpPr/>
            <p:nvPr>
              <p:custDataLst>
                <p:tags r:id="rId8"/>
              </p:custDataLst>
            </p:nvPr>
          </p:nvCxnSpPr>
          <p:spPr>
            <a:xfrm>
              <a:off x="9782" y="1651"/>
              <a:ext cx="0" cy="606"/>
            </a:xfrm>
            <a:prstGeom prst="line">
              <a:avLst/>
            </a:prstGeom>
            <a:ln w="31750">
              <a:solidFill>
                <a:srgbClr val="25557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8183" y="3175"/>
              <a:ext cx="5636" cy="1244"/>
              <a:chOff x="8183" y="3571"/>
              <a:chExt cx="5636" cy="1244"/>
            </a:xfrm>
          </p:grpSpPr>
          <p:sp>
            <p:nvSpPr>
              <p:cNvPr id="39" name="椭圆 38"/>
              <p:cNvSpPr/>
              <p:nvPr>
                <p:custDataLst>
                  <p:tags r:id="rId12"/>
                </p:custDataLst>
              </p:nvPr>
            </p:nvSpPr>
            <p:spPr>
              <a:xfrm>
                <a:off x="8183" y="3571"/>
                <a:ext cx="1244" cy="12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</a:p>
            </p:txBody>
          </p:sp>
          <p:sp>
            <p:nvSpPr>
              <p:cNvPr id="40" name="矩形 39"/>
              <p:cNvSpPr/>
              <p:nvPr>
                <p:custDataLst>
                  <p:tags r:id="rId13"/>
                </p:custDataLst>
              </p:nvPr>
            </p:nvSpPr>
            <p:spPr>
              <a:xfrm>
                <a:off x="10044" y="3785"/>
                <a:ext cx="3775" cy="8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spc="300" dirty="0">
                    <a:latin typeface="+mn-ea"/>
                  </a:rPr>
                  <a:t>实验过程</a:t>
                </a:r>
              </a:p>
            </p:txBody>
          </p:sp>
          <p:cxnSp>
            <p:nvCxnSpPr>
              <p:cNvPr id="41" name="直接连接符 40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9782" y="3902"/>
                <a:ext cx="0" cy="606"/>
              </a:xfrm>
              <a:prstGeom prst="line">
                <a:avLst/>
              </a:prstGeom>
              <a:ln w="31750">
                <a:solidFill>
                  <a:srgbClr val="2555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/>
            <p:cNvGrpSpPr/>
            <p:nvPr/>
          </p:nvGrpSpPr>
          <p:grpSpPr>
            <a:xfrm>
              <a:off x="8183" y="5030"/>
              <a:ext cx="7646" cy="1244"/>
              <a:chOff x="8183" y="5822"/>
              <a:chExt cx="7646" cy="1244"/>
            </a:xfrm>
          </p:grpSpPr>
          <p:sp>
            <p:nvSpPr>
              <p:cNvPr id="43" name="椭圆 42"/>
              <p:cNvSpPr/>
              <p:nvPr>
                <p:custDataLst>
                  <p:tags r:id="rId9"/>
                </p:custDataLst>
              </p:nvPr>
            </p:nvSpPr>
            <p:spPr>
              <a:xfrm>
                <a:off x="8183" y="5822"/>
                <a:ext cx="1244" cy="124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3</a:t>
                </a:r>
              </a:p>
            </p:txBody>
          </p:sp>
          <p:sp>
            <p:nvSpPr>
              <p:cNvPr id="44" name="矩形 43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044" y="6022"/>
                <a:ext cx="5785" cy="8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spc="300" dirty="0">
                    <a:latin typeface="+mn-ea"/>
                  </a:rPr>
                  <a:t>问题与拟解决方案</a:t>
                </a:r>
              </a:p>
            </p:txBody>
          </p:sp>
          <p:cxnSp>
            <p:nvCxnSpPr>
              <p:cNvPr id="45" name="直接连接符 44"/>
              <p:cNvCxnSpPr/>
              <p:nvPr>
                <p:custDataLst>
                  <p:tags r:id="rId11"/>
                </p:custDataLst>
              </p:nvPr>
            </p:nvCxnSpPr>
            <p:spPr>
              <a:xfrm>
                <a:off x="9782" y="6153"/>
                <a:ext cx="0" cy="606"/>
              </a:xfrm>
              <a:prstGeom prst="line">
                <a:avLst/>
              </a:prstGeom>
              <a:ln w="31750">
                <a:solidFill>
                  <a:srgbClr val="2555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6" name="图片 25" descr="校史馆"/>
          <p:cNvPicPr>
            <a:picLocks noChangeAspect="1"/>
          </p:cNvPicPr>
          <p:nvPr/>
        </p:nvPicPr>
        <p:blipFill>
          <a:blip r:embed="rId16">
            <a:alphaModFix amt="25000"/>
          </a:blip>
          <a:stretch>
            <a:fillRect/>
          </a:stretch>
        </p:blipFill>
        <p:spPr>
          <a:xfrm>
            <a:off x="9255760" y="5777865"/>
            <a:ext cx="2905830" cy="10800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7454900" y="-1959610"/>
            <a:ext cx="4737100" cy="5091430"/>
            <a:chOff x="11740" y="-3086"/>
            <a:chExt cx="7460" cy="8018"/>
          </a:xfrm>
        </p:grpSpPr>
        <p:grpSp>
          <p:nvGrpSpPr>
            <p:cNvPr id="3" name="组合 2"/>
            <p:cNvGrpSpPr/>
            <p:nvPr/>
          </p:nvGrpSpPr>
          <p:grpSpPr>
            <a:xfrm>
              <a:off x="11740" y="-3086"/>
              <a:ext cx="7460" cy="8018"/>
              <a:chOff x="8135783" y="-1669981"/>
              <a:chExt cx="4056217" cy="4359393"/>
            </a:xfrm>
          </p:grpSpPr>
          <p:sp>
            <p:nvSpPr>
              <p:cNvPr id="7" name="任意多边形: 形状 12"/>
              <p:cNvSpPr/>
              <p:nvPr/>
            </p:nvSpPr>
            <p:spPr>
              <a:xfrm rot="18900000">
                <a:off x="8135783" y="-1669981"/>
                <a:ext cx="3339963" cy="3339962"/>
              </a:xfrm>
              <a:custGeom>
                <a:avLst/>
                <a:gdLst>
                  <a:gd name="connsiteX0" fmla="*/ 0 w 3339963"/>
                  <a:gd name="connsiteY0" fmla="*/ 0 h 3339962"/>
                  <a:gd name="connsiteX1" fmla="*/ 3339963 w 3339963"/>
                  <a:gd name="connsiteY1" fmla="*/ 3339962 h 3339962"/>
                  <a:gd name="connsiteX2" fmla="*/ 1099563 w 3339963"/>
                  <a:gd name="connsiteY2" fmla="*/ 3339962 h 333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9963" h="3339962">
                    <a:moveTo>
                      <a:pt x="0" y="0"/>
                    </a:moveTo>
                    <a:lnTo>
                      <a:pt x="3339963" y="3339962"/>
                    </a:lnTo>
                    <a:lnTo>
                      <a:pt x="1099563" y="3339962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直角三角形 16"/>
              <p:cNvSpPr/>
              <p:nvPr/>
            </p:nvSpPr>
            <p:spPr>
              <a:xfrm rot="10800000">
                <a:off x="9502588" y="0"/>
                <a:ext cx="2689412" cy="2689412"/>
              </a:xfrm>
              <a:prstGeom prst="rtTriangle">
                <a:avLst/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8" name="图片 17" descr="校徽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0" y="3738245"/>
            <a:ext cx="4679950" cy="3119755"/>
            <a:chOff x="0" y="5887"/>
            <a:chExt cx="7370" cy="4913"/>
          </a:xfrm>
        </p:grpSpPr>
        <p:pic>
          <p:nvPicPr>
            <p:cNvPr id="13" name="图片 12" descr="IMG_2578(20220922-170619)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0" y="5887"/>
              <a:ext cx="7370" cy="4913"/>
            </a:xfrm>
            <a:prstGeom prst="rect">
              <a:avLst/>
            </a:prstGeom>
          </p:spPr>
        </p:pic>
        <p:pic>
          <p:nvPicPr>
            <p:cNvPr id="19" name="图片 18" descr="小招logo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834" y="9474"/>
              <a:ext cx="1701" cy="952"/>
            </a:xfrm>
            <a:prstGeom prst="rect">
              <a:avLst/>
            </a:prstGeom>
          </p:spPr>
        </p:pic>
      </p:grpSp>
      <p:sp>
        <p:nvSpPr>
          <p:cNvPr id="4" name="椭圆 3">
            <a:extLst>
              <a:ext uri="{FF2B5EF4-FFF2-40B4-BE49-F238E27FC236}">
                <a16:creationId xmlns:a16="http://schemas.microsoft.com/office/drawing/2014/main" id="{315E3ECD-8401-607E-4E08-0182F253653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421457" y="5077729"/>
            <a:ext cx="789940" cy="7899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25557A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B8BA26-FF76-C076-EE9A-98F8B73DA03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603192" y="5204729"/>
            <a:ext cx="3673475" cy="523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spc="300" dirty="0">
                <a:latin typeface="+mn-ea"/>
              </a:rPr>
              <a:t>总结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7BCCE12-E666-28B7-8219-9A462D32996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436822" y="5287914"/>
            <a:ext cx="0" cy="384810"/>
          </a:xfrm>
          <a:prstGeom prst="line">
            <a:avLst/>
          </a:prstGeom>
          <a:ln w="31750">
            <a:solidFill>
              <a:srgbClr val="255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flipH="1">
            <a:off x="4337050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15000">
                <a:srgbClr val="25557A"/>
              </a:gs>
              <a:gs pos="32000">
                <a:srgbClr val="2483D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4896485" y="635"/>
            <a:ext cx="7295515" cy="6858000"/>
            <a:chOff x="7711" y="1"/>
            <a:chExt cx="11489" cy="10800"/>
          </a:xfrm>
        </p:grpSpPr>
        <p:pic>
          <p:nvPicPr>
            <p:cNvPr id="17" name="图片 16" descr="IMG_2580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006DBF">
                    <a:alpha val="100000"/>
                  </a:srgbClr>
                </a:clrFrom>
                <a:clrTo>
                  <a:srgbClr val="006DB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840" y="2371"/>
              <a:ext cx="7360" cy="8429"/>
            </a:xfrm>
            <a:prstGeom prst="rect">
              <a:avLst/>
            </a:prstGeom>
          </p:spPr>
        </p:pic>
        <p:sp>
          <p:nvSpPr>
            <p:cNvPr id="21" name="任意多边形: 形状 52"/>
            <p:cNvSpPr/>
            <p:nvPr/>
          </p:nvSpPr>
          <p:spPr>
            <a:xfrm flipV="1">
              <a:off x="7711" y="1"/>
              <a:ext cx="6416" cy="10800"/>
            </a:xfrm>
            <a:custGeom>
              <a:avLst/>
              <a:gdLst>
                <a:gd name="connsiteX0" fmla="*/ 12191999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12191999 w 12192000"/>
                <a:gd name="connsiteY3" fmla="*/ 6858000 h 6858000"/>
                <a:gd name="connsiteX4" fmla="*/ 0 w 12192000"/>
                <a:gd name="connsiteY4" fmla="*/ 0 h 6858000"/>
                <a:gd name="connsiteX5" fmla="*/ 11295445 w 12192000"/>
                <a:gd name="connsiteY5" fmla="*/ 0 h 6858000"/>
                <a:gd name="connsiteX6" fmla="*/ 4437446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12191999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12191999" y="6858000"/>
                  </a:lnTo>
                  <a:close/>
                  <a:moveTo>
                    <a:pt x="0" y="0"/>
                  </a:moveTo>
                  <a:lnTo>
                    <a:pt x="11295445" y="0"/>
                  </a:lnTo>
                  <a:lnTo>
                    <a:pt x="443744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5" name="图片 24" descr="校徽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>
            <a:off x="1981200" y="1901190"/>
            <a:ext cx="6263640" cy="2862580"/>
            <a:chOff x="1932" y="2994"/>
            <a:chExt cx="9864" cy="4508"/>
          </a:xfrm>
        </p:grpSpPr>
        <p:grpSp>
          <p:nvGrpSpPr>
            <p:cNvPr id="30" name="组合 29"/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2" name="矩形: 圆角 1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66" name="矩形: 圆角 6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</a:p>
            </p:txBody>
          </p:sp>
        </p:grpSp>
        <p:sp>
          <p:nvSpPr>
            <p:cNvPr id="68" name="矩形 67"/>
            <p:cNvSpPr/>
            <p:nvPr/>
          </p:nvSpPr>
          <p:spPr>
            <a:xfrm>
              <a:off x="4066" y="2994"/>
              <a:ext cx="2262" cy="2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</a:p>
          </p:txBody>
        </p:sp>
        <p:sp>
          <p:nvSpPr>
            <p:cNvPr id="69" name="矩形 68"/>
            <p:cNvSpPr/>
            <p:nvPr/>
          </p:nvSpPr>
          <p:spPr>
            <a:xfrm>
              <a:off x="2118" y="5546"/>
              <a:ext cx="5865" cy="17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前期准备</a:t>
              </a: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2168" y="7138"/>
              <a:ext cx="9628" cy="3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PREPARATION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118" cy="9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前期准备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PREPARATION</a:t>
              </a:r>
            </a:p>
          </p:txBody>
        </p:sp>
      </p:grpSp>
      <p:sp>
        <p:nvSpPr>
          <p:cNvPr id="19" name="矩形: 圆角 18"/>
          <p:cNvSpPr/>
          <p:nvPr/>
        </p:nvSpPr>
        <p:spPr>
          <a:xfrm>
            <a:off x="977900" y="1648460"/>
            <a:ext cx="10236200" cy="4583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13" name="任意多边形: 形状 21"/>
          <p:cNvSpPr/>
          <p:nvPr/>
        </p:nvSpPr>
        <p:spPr>
          <a:xfrm>
            <a:off x="977900" y="2575560"/>
            <a:ext cx="1675765" cy="2781300"/>
          </a:xfrm>
          <a:custGeom>
            <a:avLst/>
            <a:gdLst>
              <a:gd name="connsiteX0" fmla="*/ 284837 w 1675487"/>
              <a:gd name="connsiteY0" fmla="*/ 0 h 2781300"/>
              <a:gd name="connsiteX1" fmla="*/ 1675487 w 1675487"/>
              <a:gd name="connsiteY1" fmla="*/ 1390650 h 2781300"/>
              <a:gd name="connsiteX2" fmla="*/ 284837 w 1675487"/>
              <a:gd name="connsiteY2" fmla="*/ 2781300 h 2781300"/>
              <a:gd name="connsiteX3" fmla="*/ 4573 w 1675487"/>
              <a:gd name="connsiteY3" fmla="*/ 2753047 h 2781300"/>
              <a:gd name="connsiteX4" fmla="*/ 0 w 1675487"/>
              <a:gd name="connsiteY4" fmla="*/ 2751872 h 2781300"/>
              <a:gd name="connsiteX5" fmla="*/ 0 w 1675487"/>
              <a:gd name="connsiteY5" fmla="*/ 29429 h 2781300"/>
              <a:gd name="connsiteX6" fmla="*/ 4573 w 1675487"/>
              <a:gd name="connsiteY6" fmla="*/ 28253 h 2781300"/>
              <a:gd name="connsiteX7" fmla="*/ 284837 w 1675487"/>
              <a:gd name="connsiteY7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487" h="2781300">
                <a:moveTo>
                  <a:pt x="284837" y="0"/>
                </a:moveTo>
                <a:cubicBezTo>
                  <a:pt x="1052872" y="0"/>
                  <a:pt x="1675487" y="622615"/>
                  <a:pt x="1675487" y="1390650"/>
                </a:cubicBezTo>
                <a:cubicBezTo>
                  <a:pt x="1675487" y="2158685"/>
                  <a:pt x="1052872" y="2781300"/>
                  <a:pt x="284837" y="2781300"/>
                </a:cubicBezTo>
                <a:cubicBezTo>
                  <a:pt x="188833" y="2781300"/>
                  <a:pt x="95101" y="2771572"/>
                  <a:pt x="4573" y="2753047"/>
                </a:cubicBezTo>
                <a:lnTo>
                  <a:pt x="0" y="2751872"/>
                </a:lnTo>
                <a:lnTo>
                  <a:pt x="0" y="29429"/>
                </a:lnTo>
                <a:lnTo>
                  <a:pt x="4573" y="28253"/>
                </a:lnTo>
                <a:cubicBezTo>
                  <a:pt x="95101" y="9729"/>
                  <a:pt x="188833" y="0"/>
                  <a:pt x="284837" y="0"/>
                </a:cubicBezTo>
                <a:close/>
              </a:path>
            </a:pathLst>
          </a:cu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3200" dirty="0">
                <a:solidFill>
                  <a:srgbClr val="E8F5F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前期</a:t>
            </a:r>
            <a:endParaRPr lang="en-US" altLang="zh-CN" sz="3200" dirty="0">
              <a:solidFill>
                <a:srgbClr val="E8F5FD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algn="ctr"/>
            <a:r>
              <a:rPr lang="zh-CN" altLang="en-US" sz="3200" dirty="0">
                <a:solidFill>
                  <a:srgbClr val="E8F5FD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准备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2890520" y="2061844"/>
            <a:ext cx="7985125" cy="723136"/>
            <a:chOff x="3134969" y="2228849"/>
            <a:chExt cx="7984866" cy="723242"/>
          </a:xfrm>
        </p:grpSpPr>
        <p:sp>
          <p:nvSpPr>
            <p:cNvPr id="18" name="椭圆 17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1</a:t>
              </a: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3765265" y="2243632"/>
              <a:ext cx="7354570" cy="708459"/>
              <a:chOff x="7893455" y="4126834"/>
              <a:chExt cx="7354570" cy="708459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论文阅读</a:t>
                </a: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7893455" y="4377024"/>
                <a:ext cx="7354570" cy="4582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了解了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ss-</a:t>
                </a:r>
                <a:r>
                  <a:rPr lang="en-US" altLang="zh-CN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cdc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的相关内容。</a:t>
                </a: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3521075" y="3430904"/>
            <a:ext cx="7355205" cy="723136"/>
            <a:chOff x="3134969" y="2228849"/>
            <a:chExt cx="7354946" cy="723242"/>
          </a:xfrm>
        </p:grpSpPr>
        <p:sp>
          <p:nvSpPr>
            <p:cNvPr id="36" name="椭圆 35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2</a:t>
              </a: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765265" y="2243632"/>
              <a:ext cx="6724650" cy="708459"/>
              <a:chOff x="7893455" y="4126834"/>
              <a:chExt cx="6724650" cy="708459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7893455" y="4126834"/>
                <a:ext cx="2240242" cy="3683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知识学习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7893455" y="4377024"/>
                <a:ext cx="6724650" cy="4582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学习了相关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SIMD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的优化方法。</a:t>
                </a: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2890520" y="4800599"/>
            <a:ext cx="7985125" cy="723136"/>
            <a:chOff x="3134969" y="2228849"/>
            <a:chExt cx="7984866" cy="723242"/>
          </a:xfrm>
        </p:grpSpPr>
        <p:sp>
          <p:nvSpPr>
            <p:cNvPr id="28" name="椭圆 27"/>
            <p:cNvSpPr/>
            <p:nvPr/>
          </p:nvSpPr>
          <p:spPr>
            <a:xfrm>
              <a:off x="3134969" y="2228849"/>
              <a:ext cx="435661" cy="435661"/>
            </a:xfrm>
            <a:prstGeom prst="ellips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600" dirty="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3</a:t>
              </a: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3765265" y="2243632"/>
              <a:ext cx="7354570" cy="708459"/>
              <a:chOff x="7893455" y="4126834"/>
              <a:chExt cx="7354570" cy="708459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7893455" y="4126834"/>
                <a:ext cx="2240242" cy="3693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25557A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环境配置</a:t>
                </a:r>
                <a:endParaRPr lang="zh-CN" altLang="en-US" dirty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9465708" y="4220231"/>
                <a:ext cx="2665723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7893455" y="4377024"/>
                <a:ext cx="7354570" cy="4582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在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Windows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上使用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WSL ubuntu</a:t>
                </a:r>
                <a:r>
                  <a:rPr lang="zh-CN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进行开发实践。</a:t>
                </a:r>
              </a:p>
            </p:txBody>
          </p:sp>
        </p:grpSp>
      </p:grpSp>
      <p:pic>
        <p:nvPicPr>
          <p:cNvPr id="12" name="图片 11" descr="图书馆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直角三角形 19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flipH="1">
            <a:off x="4335145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0">
                <a:schemeClr val="accent1">
                  <a:lumMod val="20000"/>
                  <a:lumOff val="80000"/>
                </a:schemeClr>
              </a:gs>
              <a:gs pos="26000">
                <a:srgbClr val="D9E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1.5"/>
          <p:cNvPicPr/>
          <p:nvPr>
            <p:custDataLst>
              <p:tags r:id="rId2"/>
            </p:custDataLst>
          </p:nvPr>
        </p:nvPicPr>
        <p:blipFill>
          <a:blip r:embed="rId4"/>
          <a:srcRect l="22403" t="1475" r="22481" b="58056"/>
          <a:stretch>
            <a:fillRect/>
          </a:stretch>
        </p:blipFill>
        <p:spPr>
          <a:xfrm flipH="1">
            <a:off x="7152005" y="2223135"/>
            <a:ext cx="5039995" cy="4634865"/>
          </a:xfrm>
          <a:prstGeom prst="rect">
            <a:avLst/>
          </a:prstGeom>
        </p:spPr>
      </p:pic>
      <p:pic>
        <p:nvPicPr>
          <p:cNvPr id="5" name="图片 4" descr="校徽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3365" y="186055"/>
            <a:ext cx="1422400" cy="1080135"/>
          </a:xfrm>
          <a:prstGeom prst="rect">
            <a:avLst/>
          </a:prstGeom>
        </p:spPr>
      </p:pic>
      <p:sp>
        <p:nvSpPr>
          <p:cNvPr id="21" name="任意多边形: 形状 52"/>
          <p:cNvSpPr/>
          <p:nvPr/>
        </p:nvSpPr>
        <p:spPr>
          <a:xfrm flipV="1">
            <a:off x="4925060" y="0"/>
            <a:ext cx="407416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981200" y="1901190"/>
            <a:ext cx="6291580" cy="2897505"/>
            <a:chOff x="1932" y="2994"/>
            <a:chExt cx="9908" cy="4563"/>
          </a:xfrm>
        </p:grpSpPr>
        <p:grpSp>
          <p:nvGrpSpPr>
            <p:cNvPr id="7" name="组合 6"/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8" name="矩形: 圆角 1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9" name="矩形: 圆角 6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4066" y="2994"/>
              <a:ext cx="2262" cy="2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2118" y="5546"/>
              <a:ext cx="5865" cy="17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实验过程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212" y="6975"/>
              <a:ext cx="9628" cy="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EXPERIMENT PROCESS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7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直角三角形 4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3118" cy="9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实验过程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EXPERIMENT PROCESS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2564149" y="1636395"/>
            <a:ext cx="2299929" cy="3559277"/>
          </a:xfrm>
          <a:prstGeom prst="rect">
            <a:avLst/>
          </a:prstGeom>
          <a:solidFill>
            <a:srgbClr val="255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06226" y="193569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基础算法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735802" y="2696666"/>
            <a:ext cx="1956619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初步实现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ss-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cdc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算法。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938579" y="2547014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chemeClr val="bg1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779285" y="1636395"/>
            <a:ext cx="2299929" cy="3559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221362" y="193569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指令优化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6950938" y="2696666"/>
            <a:ext cx="1956619" cy="1197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对前述算法相关关键路径做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SIMD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向量化</a:t>
            </a:r>
            <a:r>
              <a:rPr lang="zh-CN" altLang="en-US" dirty="0"/>
              <a:t>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7153715" y="2547014"/>
            <a:ext cx="1551069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32416B">
                    <a:alpha val="0"/>
                  </a:srgbClr>
                </a:gs>
                <a:gs pos="50000">
                  <a:srgbClr val="32416B"/>
                </a:gs>
                <a:gs pos="100000">
                  <a:srgbClr val="32416B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 descr="图书馆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/>
          <p:cNvSpPr/>
          <p:nvPr/>
        </p:nvSpPr>
        <p:spPr>
          <a:xfrm flipH="1">
            <a:off x="4337050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18000">
                <a:srgbClr val="25557A"/>
              </a:gs>
              <a:gs pos="35000">
                <a:srgbClr val="4FA1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IMG_2579(20220922-170622)"/>
          <p:cNvPicPr/>
          <p:nvPr/>
        </p:nvPicPr>
        <p:blipFill>
          <a:blip r:embed="rId3"/>
          <a:srcRect l="-110" t="24800" r="27205"/>
          <a:stretch>
            <a:fillRect/>
          </a:stretch>
        </p:blipFill>
        <p:spPr>
          <a:xfrm>
            <a:off x="7152005" y="2797810"/>
            <a:ext cx="5039995" cy="4060825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896485" y="635"/>
            <a:ext cx="6939280" cy="6858000"/>
            <a:chOff x="7711" y="1"/>
            <a:chExt cx="10928" cy="10800"/>
          </a:xfrm>
        </p:grpSpPr>
        <p:sp>
          <p:nvSpPr>
            <p:cNvPr id="21" name="任意多边形: 形状 52"/>
            <p:cNvSpPr/>
            <p:nvPr/>
          </p:nvSpPr>
          <p:spPr>
            <a:xfrm flipV="1">
              <a:off x="7711" y="1"/>
              <a:ext cx="6416" cy="10800"/>
            </a:xfrm>
            <a:custGeom>
              <a:avLst/>
              <a:gdLst>
                <a:gd name="connsiteX0" fmla="*/ 12191999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12191999 w 12192000"/>
                <a:gd name="connsiteY3" fmla="*/ 6858000 h 6858000"/>
                <a:gd name="connsiteX4" fmla="*/ 0 w 12192000"/>
                <a:gd name="connsiteY4" fmla="*/ 0 h 6858000"/>
                <a:gd name="connsiteX5" fmla="*/ 11295445 w 12192000"/>
                <a:gd name="connsiteY5" fmla="*/ 0 h 6858000"/>
                <a:gd name="connsiteX6" fmla="*/ 4437446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12191999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12191999" y="6858000"/>
                  </a:lnTo>
                  <a:close/>
                  <a:moveTo>
                    <a:pt x="0" y="0"/>
                  </a:moveTo>
                  <a:lnTo>
                    <a:pt x="11295445" y="0"/>
                  </a:lnTo>
                  <a:lnTo>
                    <a:pt x="4437446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5" name="图片 24" descr="校徽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63" name="组合 62"/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直角三角形 63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056984" y="1931987"/>
            <a:ext cx="7381875" cy="2896235"/>
            <a:chOff x="1932" y="2994"/>
            <a:chExt cx="11625" cy="4561"/>
          </a:xfrm>
        </p:grpSpPr>
        <p:grpSp>
          <p:nvGrpSpPr>
            <p:cNvPr id="6" name="组合 5"/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7" name="矩形: 圆角 1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8" name="矩形: 圆角 6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4066" y="2994"/>
              <a:ext cx="2262" cy="20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2118" y="5546"/>
              <a:ext cx="11439" cy="17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问题与拟解决方案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212" y="6975"/>
              <a:ext cx="9628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PROBLEMS AND PROPOSED SOLUTIONS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1651000" y="4245610"/>
            <a:ext cx="2160000" cy="1595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问题出现：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SIMD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优化后文件吞吐量反而降低</a:t>
            </a:r>
          </a:p>
        </p:txBody>
      </p:sp>
      <p:sp>
        <p:nvSpPr>
          <p:cNvPr id="56" name="矩形 55"/>
          <p:cNvSpPr/>
          <p:nvPr/>
        </p:nvSpPr>
        <p:spPr>
          <a:xfrm>
            <a:off x="3125470" y="1593215"/>
            <a:ext cx="2160000" cy="1595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原因分析：测试文件随机性不够，文件过小</a:t>
            </a:r>
          </a:p>
        </p:txBody>
      </p:sp>
      <p:sp>
        <p:nvSpPr>
          <p:cNvPr id="57" name="矩形 56"/>
          <p:cNvSpPr/>
          <p:nvPr/>
        </p:nvSpPr>
        <p:spPr>
          <a:xfrm>
            <a:off x="7581265" y="1520190"/>
            <a:ext cx="2160000" cy="1595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拟解决方案：使用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python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脚本生成随机大文件并重新测试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51155" y="325120"/>
            <a:ext cx="5859145" cy="1015365"/>
            <a:chOff x="1572" y="494"/>
            <a:chExt cx="9227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5946" cy="9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问题与拟解决方案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7692" cy="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PROBLEMS AND PROPOSED SOLUTIONS</a:t>
              </a:r>
            </a:p>
          </p:txBody>
        </p:sp>
      </p:grpSp>
      <p:cxnSp>
        <p:nvCxnSpPr>
          <p:cNvPr id="46" name="直接连接符 45"/>
          <p:cNvCxnSpPr/>
          <p:nvPr/>
        </p:nvCxnSpPr>
        <p:spPr>
          <a:xfrm>
            <a:off x="1627525" y="3678797"/>
            <a:ext cx="0" cy="2160000"/>
          </a:xfrm>
          <a:prstGeom prst="line">
            <a:avLst/>
          </a:prstGeom>
          <a:ln w="63500">
            <a:solidFill>
              <a:srgbClr val="32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095999" y="3678797"/>
            <a:ext cx="0" cy="2160000"/>
          </a:xfrm>
          <a:prstGeom prst="line">
            <a:avLst/>
          </a:prstGeom>
          <a:ln w="63500">
            <a:solidFill>
              <a:srgbClr val="32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3125483" y="1595949"/>
            <a:ext cx="0" cy="2160000"/>
          </a:xfrm>
          <a:prstGeom prst="line">
            <a:avLst/>
          </a:prstGeom>
          <a:ln w="63500">
            <a:solidFill>
              <a:srgbClr val="32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581250" y="1518479"/>
            <a:ext cx="0" cy="2160000"/>
          </a:xfrm>
          <a:prstGeom prst="line">
            <a:avLst/>
          </a:prstGeom>
          <a:ln w="63500">
            <a:solidFill>
              <a:srgbClr val="32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92200" y="3680619"/>
            <a:ext cx="10007600" cy="0"/>
          </a:xfrm>
          <a:prstGeom prst="line">
            <a:avLst/>
          </a:prstGeom>
          <a:ln w="63500">
            <a:solidFill>
              <a:srgbClr val="3241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 flipH="1">
            <a:off x="5981599" y="3566219"/>
            <a:ext cx="228801" cy="228801"/>
          </a:xfrm>
          <a:prstGeom prst="ellipse">
            <a:avLst/>
          </a:prstGeom>
          <a:solidFill>
            <a:srgbClr val="25557A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 flipH="1">
            <a:off x="1525825" y="3566219"/>
            <a:ext cx="228801" cy="228801"/>
          </a:xfrm>
          <a:prstGeom prst="ellipse">
            <a:avLst/>
          </a:prstGeom>
          <a:solidFill>
            <a:srgbClr val="25557A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 flipH="1">
            <a:off x="7466857" y="3566219"/>
            <a:ext cx="228801" cy="228801"/>
          </a:xfrm>
          <a:prstGeom prst="ellipse">
            <a:avLst/>
          </a:prstGeom>
          <a:solidFill>
            <a:srgbClr val="25557A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 flipH="1">
            <a:off x="3011083" y="3566219"/>
            <a:ext cx="228801" cy="228801"/>
          </a:xfrm>
          <a:prstGeom prst="ellipse">
            <a:avLst/>
          </a:prstGeom>
          <a:solidFill>
            <a:srgbClr val="25557A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 flipH="1">
            <a:off x="8952115" y="3566219"/>
            <a:ext cx="228801" cy="228801"/>
          </a:xfrm>
          <a:prstGeom prst="ellipse">
            <a:avLst/>
          </a:prstGeom>
          <a:solidFill>
            <a:srgbClr val="25557A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4496341" y="3566219"/>
            <a:ext cx="228801" cy="228801"/>
          </a:xfrm>
          <a:prstGeom prst="ellipse">
            <a:avLst/>
          </a:prstGeom>
          <a:solidFill>
            <a:srgbClr val="25557A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10437374" y="3566218"/>
            <a:ext cx="228801" cy="228801"/>
          </a:xfrm>
          <a:prstGeom prst="ellipse">
            <a:avLst/>
          </a:prstGeom>
          <a:solidFill>
            <a:srgbClr val="25557A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思源黑体 CN Regular" panose="020B0500000000000000" pitchFamily="34" charset="-122"/>
            </a:endParaRPr>
          </a:p>
        </p:txBody>
      </p:sp>
      <p:sp>
        <p:nvSpPr>
          <p:cNvPr id="34" name="任意多边形: 形状 63"/>
          <p:cNvSpPr/>
          <p:nvPr/>
        </p:nvSpPr>
        <p:spPr>
          <a:xfrm>
            <a:off x="10194001" y="4332541"/>
            <a:ext cx="717479" cy="717419"/>
          </a:xfrm>
          <a:custGeom>
            <a:avLst/>
            <a:gdLst>
              <a:gd name="connsiteX0" fmla="*/ 502066 w 717479"/>
              <a:gd name="connsiteY0" fmla="*/ 229432 h 717419"/>
              <a:gd name="connsiteX1" fmla="*/ 544122 w 717479"/>
              <a:gd name="connsiteY1" fmla="*/ 272696 h 717419"/>
              <a:gd name="connsiteX2" fmla="*/ 298315 w 717479"/>
              <a:gd name="connsiteY2" fmla="*/ 510526 h 717419"/>
              <a:gd name="connsiteX3" fmla="*/ 171182 w 717479"/>
              <a:gd name="connsiteY3" fmla="*/ 357290 h 717419"/>
              <a:gd name="connsiteX4" fmla="*/ 217588 w 717479"/>
              <a:gd name="connsiteY4" fmla="*/ 318860 h 717419"/>
              <a:gd name="connsiteX5" fmla="*/ 303149 w 717479"/>
              <a:gd name="connsiteY5" fmla="*/ 421823 h 717419"/>
              <a:gd name="connsiteX6" fmla="*/ 358739 w 717479"/>
              <a:gd name="connsiteY6" fmla="*/ 60242 h 717419"/>
              <a:gd name="connsiteX7" fmla="*/ 147738 w 717479"/>
              <a:gd name="connsiteY7" fmla="*/ 147495 h 717419"/>
              <a:gd name="connsiteX8" fmla="*/ 147738 w 717479"/>
              <a:gd name="connsiteY8" fmla="*/ 569741 h 717419"/>
              <a:gd name="connsiteX9" fmla="*/ 358739 w 717479"/>
              <a:gd name="connsiteY9" fmla="*/ 656993 h 717419"/>
              <a:gd name="connsiteX10" fmla="*/ 569741 w 717479"/>
              <a:gd name="connsiteY10" fmla="*/ 569741 h 717419"/>
              <a:gd name="connsiteX11" fmla="*/ 569741 w 717479"/>
              <a:gd name="connsiteY11" fmla="*/ 147495 h 717419"/>
              <a:gd name="connsiteX12" fmla="*/ 358739 w 717479"/>
              <a:gd name="connsiteY12" fmla="*/ 60242 h 717419"/>
              <a:gd name="connsiteX13" fmla="*/ 358740 w 717479"/>
              <a:gd name="connsiteY13" fmla="*/ 0 h 717419"/>
              <a:gd name="connsiteX14" fmla="*/ 612522 w 717479"/>
              <a:gd name="connsiteY14" fmla="*/ 104957 h 717419"/>
              <a:gd name="connsiteX15" fmla="*/ 612522 w 717479"/>
              <a:gd name="connsiteY15" fmla="*/ 612521 h 717419"/>
              <a:gd name="connsiteX16" fmla="*/ 358739 w 717479"/>
              <a:gd name="connsiteY16" fmla="*/ 717419 h 717419"/>
              <a:gd name="connsiteX17" fmla="*/ 104957 w 717479"/>
              <a:gd name="connsiteY17" fmla="*/ 612521 h 717419"/>
              <a:gd name="connsiteX18" fmla="*/ 104957 w 717479"/>
              <a:gd name="connsiteY18" fmla="*/ 104957 h 717419"/>
              <a:gd name="connsiteX19" fmla="*/ 358740 w 717479"/>
              <a:gd name="connsiteY19" fmla="*/ 0 h 717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17479" h="717419">
                <a:moveTo>
                  <a:pt x="502066" y="229432"/>
                </a:moveTo>
                <a:lnTo>
                  <a:pt x="544122" y="272696"/>
                </a:lnTo>
                <a:lnTo>
                  <a:pt x="298315" y="510526"/>
                </a:lnTo>
                <a:lnTo>
                  <a:pt x="171182" y="357290"/>
                </a:lnTo>
                <a:lnTo>
                  <a:pt x="217588" y="318860"/>
                </a:lnTo>
                <a:lnTo>
                  <a:pt x="303149" y="421823"/>
                </a:lnTo>
                <a:close/>
                <a:moveTo>
                  <a:pt x="358739" y="60242"/>
                </a:moveTo>
                <a:cubicBezTo>
                  <a:pt x="282363" y="60242"/>
                  <a:pt x="205986" y="89247"/>
                  <a:pt x="147738" y="147495"/>
                </a:cubicBezTo>
                <a:cubicBezTo>
                  <a:pt x="31239" y="263993"/>
                  <a:pt x="31239" y="453243"/>
                  <a:pt x="147738" y="569741"/>
                </a:cubicBezTo>
                <a:cubicBezTo>
                  <a:pt x="205745" y="627990"/>
                  <a:pt x="282363" y="656993"/>
                  <a:pt x="358739" y="656993"/>
                </a:cubicBezTo>
                <a:cubicBezTo>
                  <a:pt x="435115" y="656993"/>
                  <a:pt x="511492" y="627990"/>
                  <a:pt x="569741" y="569741"/>
                </a:cubicBezTo>
                <a:cubicBezTo>
                  <a:pt x="686239" y="453243"/>
                  <a:pt x="686239" y="263993"/>
                  <a:pt x="569741" y="147495"/>
                </a:cubicBezTo>
                <a:cubicBezTo>
                  <a:pt x="511733" y="89247"/>
                  <a:pt x="435115" y="60242"/>
                  <a:pt x="358739" y="60242"/>
                </a:cubicBezTo>
                <a:close/>
                <a:moveTo>
                  <a:pt x="358740" y="0"/>
                </a:moveTo>
                <a:cubicBezTo>
                  <a:pt x="450645" y="0"/>
                  <a:pt x="542550" y="34986"/>
                  <a:pt x="612522" y="104957"/>
                </a:cubicBezTo>
                <a:cubicBezTo>
                  <a:pt x="752465" y="244900"/>
                  <a:pt x="752465" y="472578"/>
                  <a:pt x="612522" y="612521"/>
                </a:cubicBezTo>
                <a:cubicBezTo>
                  <a:pt x="542671" y="682372"/>
                  <a:pt x="450584" y="717419"/>
                  <a:pt x="358739" y="717419"/>
                </a:cubicBezTo>
                <a:cubicBezTo>
                  <a:pt x="266894" y="717419"/>
                  <a:pt x="175049" y="682372"/>
                  <a:pt x="104957" y="612521"/>
                </a:cubicBezTo>
                <a:cubicBezTo>
                  <a:pt x="-34986" y="472578"/>
                  <a:pt x="-34986" y="244900"/>
                  <a:pt x="104957" y="104957"/>
                </a:cubicBezTo>
                <a:cubicBezTo>
                  <a:pt x="174929" y="34986"/>
                  <a:pt x="266834" y="0"/>
                  <a:pt x="358740" y="0"/>
                </a:cubicBezTo>
                <a:close/>
              </a:path>
            </a:pathLst>
          </a:custGeom>
          <a:solidFill>
            <a:srgbClr val="32416B"/>
          </a:solidFill>
          <a:ln w="9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思源黑体 CN Regular" panose="020B0500000000000000" pitchFamily="34" charset="-122"/>
            </a:endParaRPr>
          </a:p>
        </p:txBody>
      </p:sp>
      <p:sp>
        <p:nvSpPr>
          <p:cNvPr id="68" name="任意多边形: 形状 67"/>
          <p:cNvSpPr/>
          <p:nvPr/>
        </p:nvSpPr>
        <p:spPr>
          <a:xfrm>
            <a:off x="1268816" y="2316992"/>
            <a:ext cx="717418" cy="717418"/>
          </a:xfrm>
          <a:custGeom>
            <a:avLst/>
            <a:gdLst>
              <a:gd name="connsiteX0" fmla="*/ 380286 w 887324"/>
              <a:gd name="connsiteY0" fmla="*/ 221826 h 887324"/>
              <a:gd name="connsiteX1" fmla="*/ 402692 w 887324"/>
              <a:gd name="connsiteY1" fmla="*/ 231110 h 887324"/>
              <a:gd name="connsiteX2" fmla="*/ 581632 w 887324"/>
              <a:gd name="connsiteY2" fmla="*/ 410050 h 887324"/>
              <a:gd name="connsiteX3" fmla="*/ 581632 w 887324"/>
              <a:gd name="connsiteY3" fmla="*/ 477273 h 887324"/>
              <a:gd name="connsiteX4" fmla="*/ 402682 w 887324"/>
              <a:gd name="connsiteY4" fmla="*/ 656204 h 887324"/>
              <a:gd name="connsiteX5" fmla="*/ 380281 w 887324"/>
              <a:gd name="connsiteY5" fmla="*/ 665493 h 887324"/>
              <a:gd name="connsiteX6" fmla="*/ 357880 w 887324"/>
              <a:gd name="connsiteY6" fmla="*/ 656204 h 887324"/>
              <a:gd name="connsiteX7" fmla="*/ 357880 w 887324"/>
              <a:gd name="connsiteY7" fmla="*/ 611392 h 887324"/>
              <a:gd name="connsiteX8" fmla="*/ 525610 w 887324"/>
              <a:gd name="connsiteY8" fmla="*/ 443662 h 887324"/>
              <a:gd name="connsiteX9" fmla="*/ 357880 w 887324"/>
              <a:gd name="connsiteY9" fmla="*/ 275922 h 887324"/>
              <a:gd name="connsiteX10" fmla="*/ 357880 w 887324"/>
              <a:gd name="connsiteY10" fmla="*/ 231110 h 887324"/>
              <a:gd name="connsiteX11" fmla="*/ 380286 w 887324"/>
              <a:gd name="connsiteY11" fmla="*/ 221826 h 887324"/>
              <a:gd name="connsiteX12" fmla="*/ 443662 w 887324"/>
              <a:gd name="connsiteY12" fmla="*/ 63380 h 887324"/>
              <a:gd name="connsiteX13" fmla="*/ 63380 w 887324"/>
              <a:gd name="connsiteY13" fmla="*/ 443662 h 887324"/>
              <a:gd name="connsiteX14" fmla="*/ 443662 w 887324"/>
              <a:gd name="connsiteY14" fmla="*/ 823943 h 887324"/>
              <a:gd name="connsiteX15" fmla="*/ 823943 w 887324"/>
              <a:gd name="connsiteY15" fmla="*/ 443662 h 887324"/>
              <a:gd name="connsiteX16" fmla="*/ 443662 w 887324"/>
              <a:gd name="connsiteY16" fmla="*/ 63380 h 887324"/>
              <a:gd name="connsiteX17" fmla="*/ 443662 w 887324"/>
              <a:gd name="connsiteY17" fmla="*/ 0 h 887324"/>
              <a:gd name="connsiteX18" fmla="*/ 887324 w 887324"/>
              <a:gd name="connsiteY18" fmla="*/ 443662 h 887324"/>
              <a:gd name="connsiteX19" fmla="*/ 443662 w 887324"/>
              <a:gd name="connsiteY19" fmla="*/ 887324 h 887324"/>
              <a:gd name="connsiteX20" fmla="*/ 0 w 887324"/>
              <a:gd name="connsiteY20" fmla="*/ 443662 h 887324"/>
              <a:gd name="connsiteX21" fmla="*/ 443662 w 887324"/>
              <a:gd name="connsiteY21" fmla="*/ 0 h 887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887324" h="887324">
                <a:moveTo>
                  <a:pt x="380286" y="221826"/>
                </a:moveTo>
                <a:cubicBezTo>
                  <a:pt x="388394" y="221826"/>
                  <a:pt x="396503" y="224921"/>
                  <a:pt x="402692" y="231110"/>
                </a:cubicBezTo>
                <a:lnTo>
                  <a:pt x="581632" y="410050"/>
                </a:lnTo>
                <a:cubicBezTo>
                  <a:pt x="600171" y="428589"/>
                  <a:pt x="600171" y="458734"/>
                  <a:pt x="581632" y="477273"/>
                </a:cubicBezTo>
                <a:lnTo>
                  <a:pt x="402682" y="656204"/>
                </a:lnTo>
                <a:cubicBezTo>
                  <a:pt x="396503" y="662403"/>
                  <a:pt x="388392" y="665493"/>
                  <a:pt x="380281" y="665493"/>
                </a:cubicBezTo>
                <a:cubicBezTo>
                  <a:pt x="372170" y="665493"/>
                  <a:pt x="364060" y="662403"/>
                  <a:pt x="357880" y="656204"/>
                </a:cubicBezTo>
                <a:cubicBezTo>
                  <a:pt x="345501" y="643825"/>
                  <a:pt x="345501" y="623771"/>
                  <a:pt x="357880" y="611392"/>
                </a:cubicBezTo>
                <a:lnTo>
                  <a:pt x="525610" y="443662"/>
                </a:lnTo>
                <a:lnTo>
                  <a:pt x="357880" y="275922"/>
                </a:lnTo>
                <a:cubicBezTo>
                  <a:pt x="345501" y="263543"/>
                  <a:pt x="345501" y="243489"/>
                  <a:pt x="357880" y="231110"/>
                </a:cubicBezTo>
                <a:cubicBezTo>
                  <a:pt x="364070" y="224921"/>
                  <a:pt x="372178" y="221826"/>
                  <a:pt x="380286" y="221826"/>
                </a:cubicBezTo>
                <a:close/>
                <a:moveTo>
                  <a:pt x="443662" y="63380"/>
                </a:moveTo>
                <a:cubicBezTo>
                  <a:pt x="233972" y="63380"/>
                  <a:pt x="63380" y="233972"/>
                  <a:pt x="63380" y="443662"/>
                </a:cubicBezTo>
                <a:cubicBezTo>
                  <a:pt x="63380" y="653351"/>
                  <a:pt x="233972" y="823943"/>
                  <a:pt x="443662" y="823943"/>
                </a:cubicBezTo>
                <a:cubicBezTo>
                  <a:pt x="653351" y="823943"/>
                  <a:pt x="823943" y="653351"/>
                  <a:pt x="823943" y="443662"/>
                </a:cubicBezTo>
                <a:cubicBezTo>
                  <a:pt x="823943" y="233972"/>
                  <a:pt x="653351" y="63380"/>
                  <a:pt x="443662" y="63380"/>
                </a:cubicBezTo>
                <a:close/>
                <a:moveTo>
                  <a:pt x="443662" y="0"/>
                </a:moveTo>
                <a:cubicBezTo>
                  <a:pt x="688686" y="0"/>
                  <a:pt x="887324" y="198638"/>
                  <a:pt x="887324" y="443662"/>
                </a:cubicBezTo>
                <a:cubicBezTo>
                  <a:pt x="887324" y="688686"/>
                  <a:pt x="688686" y="887324"/>
                  <a:pt x="443662" y="887324"/>
                </a:cubicBezTo>
                <a:cubicBezTo>
                  <a:pt x="198638" y="887324"/>
                  <a:pt x="0" y="688686"/>
                  <a:pt x="0" y="443662"/>
                </a:cubicBezTo>
                <a:cubicBezTo>
                  <a:pt x="0" y="198638"/>
                  <a:pt x="198638" y="0"/>
                  <a:pt x="443662" y="0"/>
                </a:cubicBezTo>
                <a:close/>
              </a:path>
            </a:pathLst>
          </a:custGeom>
          <a:solidFill>
            <a:srgbClr val="32416B"/>
          </a:solidFill>
          <a:ln w="9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思源黑体 CN Regular" panose="020B0500000000000000" pitchFamily="34" charset="-122"/>
            </a:endParaRPr>
          </a:p>
        </p:txBody>
      </p:sp>
      <p:pic>
        <p:nvPicPr>
          <p:cNvPr id="51" name="图片 50" descr="图书馆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20" name="组合 19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21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直角三角形 21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DA0C2A3-D498-7531-6CEA-611569D9CB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526" y="5118279"/>
            <a:ext cx="4468474" cy="72051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9543-03F5-5998-1348-B6FA4570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BB9AEDC4-DE68-2D93-9DE4-2DA4E50D0734}"/>
              </a:ext>
            </a:extLst>
          </p:cNvPr>
          <p:cNvSpPr/>
          <p:nvPr/>
        </p:nvSpPr>
        <p:spPr>
          <a:xfrm flipH="1">
            <a:off x="4335145" y="0"/>
            <a:ext cx="785495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gradFill flip="none">
            <a:gsLst>
              <a:gs pos="0">
                <a:schemeClr val="accent1">
                  <a:lumMod val="20000"/>
                  <a:lumOff val="80000"/>
                </a:schemeClr>
              </a:gs>
              <a:gs pos="26000">
                <a:srgbClr val="D9EB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1.5">
            <a:extLst>
              <a:ext uri="{FF2B5EF4-FFF2-40B4-BE49-F238E27FC236}">
                <a16:creationId xmlns:a16="http://schemas.microsoft.com/office/drawing/2014/main" id="{5A6968B8-8361-18E0-23B7-38D6A1472350}"/>
              </a:ext>
            </a:extLst>
          </p:cNvPr>
          <p:cNvPicPr/>
          <p:nvPr>
            <p:custDataLst>
              <p:tags r:id="rId2"/>
            </p:custDataLst>
          </p:nvPr>
        </p:nvPicPr>
        <p:blipFill>
          <a:blip r:embed="rId4"/>
          <a:srcRect l="22403" t="1475" r="22481" b="58056"/>
          <a:stretch>
            <a:fillRect/>
          </a:stretch>
        </p:blipFill>
        <p:spPr>
          <a:xfrm flipH="1">
            <a:off x="7152005" y="2223135"/>
            <a:ext cx="5039995" cy="4634865"/>
          </a:xfrm>
          <a:prstGeom prst="rect">
            <a:avLst/>
          </a:prstGeom>
        </p:spPr>
      </p:pic>
      <p:pic>
        <p:nvPicPr>
          <p:cNvPr id="5" name="图片 4" descr="校徽">
            <a:extLst>
              <a:ext uri="{FF2B5EF4-FFF2-40B4-BE49-F238E27FC236}">
                <a16:creationId xmlns:a16="http://schemas.microsoft.com/office/drawing/2014/main" id="{478ADE6D-8599-02DF-F557-9B523CCDB4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3365" y="186055"/>
            <a:ext cx="1422400" cy="1080135"/>
          </a:xfrm>
          <a:prstGeom prst="rect">
            <a:avLst/>
          </a:prstGeom>
        </p:spPr>
      </p:pic>
      <p:sp>
        <p:nvSpPr>
          <p:cNvPr id="21" name="任意多边形: 形状 52">
            <a:extLst>
              <a:ext uri="{FF2B5EF4-FFF2-40B4-BE49-F238E27FC236}">
                <a16:creationId xmlns:a16="http://schemas.microsoft.com/office/drawing/2014/main" id="{F604C422-D931-C632-B75F-25520E92981D}"/>
              </a:ext>
            </a:extLst>
          </p:cNvPr>
          <p:cNvSpPr/>
          <p:nvPr/>
        </p:nvSpPr>
        <p:spPr>
          <a:xfrm flipV="1">
            <a:off x="4925060" y="0"/>
            <a:ext cx="407416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12191999 w 12192000"/>
              <a:gd name="connsiteY3" fmla="*/ 6858000 h 6858000"/>
              <a:gd name="connsiteX4" fmla="*/ 0 w 12192000"/>
              <a:gd name="connsiteY4" fmla="*/ 0 h 6858000"/>
              <a:gd name="connsiteX5" fmla="*/ 11295445 w 12192000"/>
              <a:gd name="connsiteY5" fmla="*/ 0 h 6858000"/>
              <a:gd name="connsiteX6" fmla="*/ 4437446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11295445" y="0"/>
                </a:lnTo>
                <a:lnTo>
                  <a:pt x="44374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D03E2242-9CD7-D439-A19F-375A3DE4C67C}"/>
              </a:ext>
            </a:extLst>
          </p:cNvPr>
          <p:cNvGrpSpPr/>
          <p:nvPr/>
        </p:nvGrpSpPr>
        <p:grpSpPr>
          <a:xfrm rot="10800000">
            <a:off x="-28575" y="3744463"/>
            <a:ext cx="4737100" cy="5091168"/>
            <a:chOff x="8135783" y="-1669981"/>
            <a:chExt cx="4056217" cy="4359393"/>
          </a:xfrm>
        </p:grpSpPr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DE4F7696-0411-8C11-C594-F534A1FB9561}"/>
                </a:ext>
              </a:extLst>
            </p:cNvPr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直角三角形 63">
              <a:extLst>
                <a:ext uri="{FF2B5EF4-FFF2-40B4-BE49-F238E27FC236}">
                  <a16:creationId xmlns:a16="http://schemas.microsoft.com/office/drawing/2014/main" id="{A4A1F64E-6983-E909-CABC-B3040B9854DE}"/>
                </a:ext>
              </a:extLst>
            </p:cNvPr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9" name="图片 18" descr="小招logo">
            <a:extLst>
              <a:ext uri="{FF2B5EF4-FFF2-40B4-BE49-F238E27FC236}">
                <a16:creationId xmlns:a16="http://schemas.microsoft.com/office/drawing/2014/main" id="{F1F3C6B4-EC6E-32FD-E3CB-21C4618B0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3745" y="6055995"/>
            <a:ext cx="1080000" cy="604432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1BA2057C-8600-5B69-52C9-8DC49F0B7936}"/>
              </a:ext>
            </a:extLst>
          </p:cNvPr>
          <p:cNvGrpSpPr/>
          <p:nvPr/>
        </p:nvGrpSpPr>
        <p:grpSpPr>
          <a:xfrm>
            <a:off x="1981200" y="1901190"/>
            <a:ext cx="6291580" cy="2897505"/>
            <a:chOff x="1932" y="2994"/>
            <a:chExt cx="9908" cy="4563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920D8BE-CCE7-DB8B-B336-D77A84B9E0AD}"/>
                </a:ext>
              </a:extLst>
            </p:cNvPr>
            <p:cNvGrpSpPr/>
            <p:nvPr/>
          </p:nvGrpSpPr>
          <p:grpSpPr>
            <a:xfrm>
              <a:off x="1932" y="2994"/>
              <a:ext cx="3242" cy="2179"/>
              <a:chOff x="2761095" y="2292169"/>
              <a:chExt cx="2058736" cy="1383665"/>
            </a:xfrm>
          </p:grpSpPr>
          <p:sp>
            <p:nvSpPr>
              <p:cNvPr id="8" name="矩形: 圆角 1">
                <a:extLst>
                  <a:ext uri="{FF2B5EF4-FFF2-40B4-BE49-F238E27FC236}">
                    <a16:creationId xmlns:a16="http://schemas.microsoft.com/office/drawing/2014/main" id="{2001FBAA-F2A5-7B5C-CF7A-5F2EC687A692}"/>
                  </a:ext>
                </a:extLst>
              </p:cNvPr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9" name="矩形: 圆角 65">
                <a:extLst>
                  <a:ext uri="{FF2B5EF4-FFF2-40B4-BE49-F238E27FC236}">
                    <a16:creationId xmlns:a16="http://schemas.microsoft.com/office/drawing/2014/main" id="{454241C1-002B-6F48-EC72-B58A428BEBC0}"/>
                  </a:ext>
                </a:extLst>
              </p:cNvPr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912336C-A393-7D21-24E7-1B2A9B5CC8E1}"/>
                  </a:ext>
                </a:extLst>
              </p:cNvPr>
              <p:cNvSpPr txBox="1"/>
              <p:nvPr/>
            </p:nvSpPr>
            <p:spPr>
              <a:xfrm>
                <a:off x="3020843" y="2292169"/>
                <a:ext cx="1798988" cy="1383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4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</a:p>
            </p:txBody>
          </p:sp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3DD82FA-19A8-DB29-9486-203490CFF7B2}"/>
                </a:ext>
              </a:extLst>
            </p:cNvPr>
            <p:cNvSpPr/>
            <p:nvPr/>
          </p:nvSpPr>
          <p:spPr>
            <a:xfrm>
              <a:off x="4066" y="2994"/>
              <a:ext cx="2285" cy="2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8000" b="1" dirty="0"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A0ABB3A-FFF9-535D-8443-CB162D578CC8}"/>
                </a:ext>
              </a:extLst>
            </p:cNvPr>
            <p:cNvSpPr/>
            <p:nvPr/>
          </p:nvSpPr>
          <p:spPr>
            <a:xfrm>
              <a:off x="2118" y="5546"/>
              <a:ext cx="3078" cy="17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6600" b="1" spc="300" dirty="0">
                  <a:latin typeface="微软雅黑" panose="020B0503020204020204" charset="-122"/>
                  <a:ea typeface="微软雅黑" panose="020B0503020204020204" charset="-122"/>
                </a:rPr>
                <a:t>总结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B08FE09-61FB-80AA-2711-CE70B1A9BA02}"/>
                </a:ext>
              </a:extLst>
            </p:cNvPr>
            <p:cNvSpPr txBox="1"/>
            <p:nvPr/>
          </p:nvSpPr>
          <p:spPr>
            <a:xfrm>
              <a:off x="2212" y="6975"/>
              <a:ext cx="9628" cy="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6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6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SUMMARIZE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7863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51155" y="325120"/>
            <a:ext cx="4559300" cy="1015365"/>
            <a:chOff x="1572" y="494"/>
            <a:chExt cx="7180" cy="1599"/>
          </a:xfrm>
        </p:grpSpPr>
        <p:grpSp>
          <p:nvGrpSpPr>
            <p:cNvPr id="8" name="组合 7"/>
            <p:cNvGrpSpPr/>
            <p:nvPr/>
          </p:nvGrpSpPr>
          <p:grpSpPr>
            <a:xfrm>
              <a:off x="1572" y="494"/>
              <a:ext cx="2047" cy="1599"/>
              <a:chOff x="2761095" y="2248418"/>
              <a:chExt cx="1948563" cy="1522661"/>
            </a:xfrm>
          </p:grpSpPr>
          <p:sp>
            <p:nvSpPr>
              <p:cNvPr id="9" name="矩形: 圆角 24"/>
              <p:cNvSpPr/>
              <p:nvPr/>
            </p:nvSpPr>
            <p:spPr>
              <a:xfrm rot="2244181">
                <a:off x="2903192" y="2466308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矩形: 圆角 25"/>
              <p:cNvSpPr/>
              <p:nvPr/>
            </p:nvSpPr>
            <p:spPr>
              <a:xfrm rot="2244181">
                <a:off x="2761095" y="2996622"/>
                <a:ext cx="1156758" cy="366949"/>
              </a:xfrm>
              <a:prstGeom prst="roundRect">
                <a:avLst>
                  <a:gd name="adj" fmla="val 33648"/>
                </a:avLst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100"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910670" y="2248418"/>
                <a:ext cx="1798988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</a:rPr>
                  <a:t>P</a:t>
                </a:r>
              </a:p>
            </p:txBody>
          </p:sp>
        </p:grpSp>
        <p:sp>
          <p:nvSpPr>
            <p:cNvPr id="11" name="矩形 10"/>
            <p:cNvSpPr/>
            <p:nvPr/>
          </p:nvSpPr>
          <p:spPr>
            <a:xfrm>
              <a:off x="3078" y="751"/>
              <a:ext cx="1704" cy="9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300" dirty="0">
                  <a:latin typeface="微软雅黑" panose="020B0503020204020204" charset="-122"/>
                  <a:ea typeface="微软雅黑" panose="020B0503020204020204" charset="-122"/>
                </a:rPr>
                <a:t>总结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107" y="1365"/>
              <a:ext cx="5645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altLang="zh-CN" sz="900" spc="3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en-US" altLang="zh-CN" sz="900" spc="3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SUMMARIZE</a:t>
              </a:r>
            </a:p>
          </p:txBody>
        </p:sp>
      </p:grpSp>
      <p:pic>
        <p:nvPicPr>
          <p:cNvPr id="51" name="图片 50" descr="图书馆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8452485" y="5777865"/>
            <a:ext cx="3739585" cy="108000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10289667" y="-801077"/>
            <a:ext cx="1902333" cy="2044520"/>
            <a:chOff x="8135783" y="-1669981"/>
            <a:chExt cx="4056217" cy="4359393"/>
          </a:xfrm>
        </p:grpSpPr>
        <p:sp>
          <p:nvSpPr>
            <p:cNvPr id="16" name="任意多边形: 形状 10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直角三角形 16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8BC8AD41-3FFB-D424-4FC0-7AF6F8FA5634}"/>
              </a:ext>
            </a:extLst>
          </p:cNvPr>
          <p:cNvSpPr/>
          <p:nvPr/>
        </p:nvSpPr>
        <p:spPr>
          <a:xfrm>
            <a:off x="6635840" y="1924460"/>
            <a:ext cx="2277110" cy="2703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掌握使用虚拟机的方法，学习了</a:t>
            </a:r>
            <a:r>
              <a:rPr lang="en-US" altLang="zh-CN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rust</a:t>
            </a:r>
            <a:r>
              <a:rPr lang="zh-CN" altLang="en-US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的相关语法</a:t>
            </a:r>
          </a:p>
        </p:txBody>
      </p:sp>
      <p:sp>
        <p:nvSpPr>
          <p:cNvPr id="12" name="矩形: 圆角 17">
            <a:extLst>
              <a:ext uri="{FF2B5EF4-FFF2-40B4-BE49-F238E27FC236}">
                <a16:creationId xmlns:a16="http://schemas.microsoft.com/office/drawing/2014/main" id="{05162387-0598-E783-55A1-B639E0B34DE7}"/>
              </a:ext>
            </a:extLst>
          </p:cNvPr>
          <p:cNvSpPr/>
          <p:nvPr/>
        </p:nvSpPr>
        <p:spPr>
          <a:xfrm>
            <a:off x="6513920" y="1608865"/>
            <a:ext cx="2520315" cy="499110"/>
          </a:xfrm>
          <a:prstGeom prst="roundRect">
            <a:avLst>
              <a:gd name="adj" fmla="val 50000"/>
            </a:avLst>
          </a:prstGeom>
          <a:solidFill>
            <a:srgbClr val="25557A"/>
          </a:solidFill>
          <a:ln w="19050" cap="flat" cmpd="sng" algn="ctr">
            <a:solidFill>
              <a:schemeClr val="bg1"/>
            </a:solidFill>
            <a:prstDash val="solid"/>
            <a:miter lim="800000"/>
          </a:ln>
          <a:effectLst>
            <a:outerShdw blurRad="152400" dist="152400" dir="5400000" sx="81000" sy="81000" algn="t" rotWithShape="0">
              <a:schemeClr val="tx2">
                <a:lumMod val="50000"/>
                <a:lumOff val="50000"/>
                <a:alpha val="30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en-US" altLang="zh-CN" sz="2000" b="1" kern="0" dirty="0" err="1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Ubuntu,rust</a:t>
            </a:r>
            <a:endParaRPr lang="zh-CN" altLang="en-US" sz="2000" b="1" kern="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22C52E-CD4A-2741-0787-678E9570C065}"/>
              </a:ext>
            </a:extLst>
          </p:cNvPr>
          <p:cNvSpPr/>
          <p:nvPr/>
        </p:nvSpPr>
        <p:spPr>
          <a:xfrm>
            <a:off x="2218963" y="1924460"/>
            <a:ext cx="2277110" cy="2703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zh-CN" altLang="en-US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初步了解相关知识</a:t>
            </a:r>
          </a:p>
        </p:txBody>
      </p:sp>
      <p:sp>
        <p:nvSpPr>
          <p:cNvPr id="14" name="矩形: 圆角 17">
            <a:extLst>
              <a:ext uri="{FF2B5EF4-FFF2-40B4-BE49-F238E27FC236}">
                <a16:creationId xmlns:a16="http://schemas.microsoft.com/office/drawing/2014/main" id="{9E82FBAE-653F-442D-0317-187FB5528F18}"/>
              </a:ext>
            </a:extLst>
          </p:cNvPr>
          <p:cNvSpPr/>
          <p:nvPr/>
        </p:nvSpPr>
        <p:spPr>
          <a:xfrm>
            <a:off x="2097043" y="1608865"/>
            <a:ext cx="2520315" cy="499110"/>
          </a:xfrm>
          <a:prstGeom prst="roundRect">
            <a:avLst>
              <a:gd name="adj" fmla="val 50000"/>
            </a:avLst>
          </a:prstGeom>
          <a:solidFill>
            <a:srgbClr val="25557A"/>
          </a:solidFill>
          <a:ln w="19050" cap="flat" cmpd="sng" algn="ctr">
            <a:solidFill>
              <a:schemeClr val="bg1"/>
            </a:solidFill>
            <a:prstDash val="solid"/>
            <a:miter lim="800000"/>
          </a:ln>
          <a:effectLst>
            <a:outerShdw blurRad="152400" dist="152400" dir="5400000" sx="81000" sy="81000" algn="t" rotWithShape="0">
              <a:schemeClr val="tx2">
                <a:lumMod val="50000"/>
                <a:lumOff val="50000"/>
                <a:alpha val="30000"/>
              </a:scheme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2000" b="1" kern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数据缩减</a:t>
            </a:r>
            <a:endParaRPr lang="zh-CN" altLang="en-US" sz="2000" b="1" kern="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1037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106535" y="5777865"/>
            <a:ext cx="3085714" cy="1080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2150745" y="2542540"/>
            <a:ext cx="7889240" cy="2322830"/>
            <a:chOff x="4142" y="5436"/>
            <a:chExt cx="12424" cy="3658"/>
          </a:xfrm>
        </p:grpSpPr>
        <p:sp>
          <p:nvSpPr>
            <p:cNvPr id="27" name="文本框 1"/>
            <p:cNvSpPr txBox="1"/>
            <p:nvPr/>
          </p:nvSpPr>
          <p:spPr>
            <a:xfrm>
              <a:off x="4142" y="5436"/>
              <a:ext cx="12424" cy="1598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ctr" rtl="0" eaLnBrk="1" fontAlgn="auto" latinLnBrk="0" hangingPunct="1"/>
              <a:r>
                <a:rPr lang="zh-CN" sz="6000" b="1" kern="100" dirty="0">
                  <a:solidFill>
                    <a:srgbClr val="25557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谢谢观看</a:t>
              </a:r>
            </a:p>
          </p:txBody>
        </p:sp>
        <p:sp>
          <p:nvSpPr>
            <p:cNvPr id="28" name="文本框 1"/>
            <p:cNvSpPr txBox="1"/>
            <p:nvPr/>
          </p:nvSpPr>
          <p:spPr>
            <a:xfrm>
              <a:off x="9230" y="8597"/>
              <a:ext cx="2248" cy="497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l" rtl="0" eaLnBrk="1" fontAlgn="auto" latinLnBrk="0" hangingPunct="1">
                <a:lnSpc>
                  <a:spcPts val="1800"/>
                </a:lnSpc>
              </a:pPr>
              <a:r>
                <a:rPr lang="zh-CN" altLang="en-US" sz="1600" kern="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汇报人丨韩轩</a:t>
              </a:r>
            </a:p>
          </p:txBody>
        </p:sp>
        <p:sp>
          <p:nvSpPr>
            <p:cNvPr id="29" name="文本框 32"/>
            <p:cNvSpPr txBox="1"/>
            <p:nvPr/>
          </p:nvSpPr>
          <p:spPr>
            <a:xfrm>
              <a:off x="5790" y="6550"/>
              <a:ext cx="9129" cy="564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 rtl="0" eaLnBrk="1" fontAlgn="auto" latinLnBrk="0" hangingPunct="1">
                <a:lnSpc>
                  <a:spcPts val="2000"/>
                </a:lnSpc>
              </a:pPr>
              <a:endParaRPr lang="en-US" altLang="zh-CN" sz="2000" b="1" kern="1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454900" y="-1959610"/>
            <a:ext cx="4737100" cy="5091430"/>
            <a:chOff x="11740" y="-3086"/>
            <a:chExt cx="7460" cy="8018"/>
          </a:xfrm>
        </p:grpSpPr>
        <p:grpSp>
          <p:nvGrpSpPr>
            <p:cNvPr id="3" name="组合 2"/>
            <p:cNvGrpSpPr/>
            <p:nvPr/>
          </p:nvGrpSpPr>
          <p:grpSpPr>
            <a:xfrm>
              <a:off x="11740" y="-3086"/>
              <a:ext cx="7460" cy="8018"/>
              <a:chOff x="8135783" y="-1669981"/>
              <a:chExt cx="4056217" cy="4359393"/>
            </a:xfrm>
          </p:grpSpPr>
          <p:sp>
            <p:nvSpPr>
              <p:cNvPr id="7" name="任意多边形: 形状 12"/>
              <p:cNvSpPr/>
              <p:nvPr/>
            </p:nvSpPr>
            <p:spPr>
              <a:xfrm rot="18900000">
                <a:off x="8135783" y="-1669981"/>
                <a:ext cx="3339963" cy="3339962"/>
              </a:xfrm>
              <a:custGeom>
                <a:avLst/>
                <a:gdLst>
                  <a:gd name="connsiteX0" fmla="*/ 0 w 3339963"/>
                  <a:gd name="connsiteY0" fmla="*/ 0 h 3339962"/>
                  <a:gd name="connsiteX1" fmla="*/ 3339963 w 3339963"/>
                  <a:gd name="connsiteY1" fmla="*/ 3339962 h 3339962"/>
                  <a:gd name="connsiteX2" fmla="*/ 1099563 w 3339963"/>
                  <a:gd name="connsiteY2" fmla="*/ 3339962 h 333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39963" h="3339962">
                    <a:moveTo>
                      <a:pt x="0" y="0"/>
                    </a:moveTo>
                    <a:lnTo>
                      <a:pt x="3339963" y="3339962"/>
                    </a:lnTo>
                    <a:lnTo>
                      <a:pt x="1099563" y="3339962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直角三角形 7"/>
              <p:cNvSpPr/>
              <p:nvPr/>
            </p:nvSpPr>
            <p:spPr>
              <a:xfrm rot="10800000">
                <a:off x="9502588" y="0"/>
                <a:ext cx="2689412" cy="2689412"/>
              </a:xfrm>
              <a:prstGeom prst="rtTriangle">
                <a:avLst/>
              </a:prstGeom>
              <a:solidFill>
                <a:srgbClr val="2555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12" name="图片 11" descr="校徽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99" y="293"/>
              <a:ext cx="2240" cy="1701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 rot="10800000">
            <a:off x="-28575" y="3766688"/>
            <a:ext cx="4737100" cy="5091168"/>
            <a:chOff x="8135783" y="-1669981"/>
            <a:chExt cx="4056217" cy="4359393"/>
          </a:xfrm>
        </p:grpSpPr>
        <p:sp>
          <p:nvSpPr>
            <p:cNvPr id="14" name="任意多边形: 形状 64"/>
            <p:cNvSpPr/>
            <p:nvPr/>
          </p:nvSpPr>
          <p:spPr>
            <a:xfrm rot="18900000">
              <a:off x="8135783" y="-1669981"/>
              <a:ext cx="3339963" cy="3339962"/>
            </a:xfrm>
            <a:custGeom>
              <a:avLst/>
              <a:gdLst>
                <a:gd name="connsiteX0" fmla="*/ 0 w 3339963"/>
                <a:gd name="connsiteY0" fmla="*/ 0 h 3339962"/>
                <a:gd name="connsiteX1" fmla="*/ 3339963 w 3339963"/>
                <a:gd name="connsiteY1" fmla="*/ 3339962 h 3339962"/>
                <a:gd name="connsiteX2" fmla="*/ 1099563 w 3339963"/>
                <a:gd name="connsiteY2" fmla="*/ 3339962 h 333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9963" h="3339962">
                  <a:moveTo>
                    <a:pt x="0" y="0"/>
                  </a:moveTo>
                  <a:lnTo>
                    <a:pt x="3339963" y="3339962"/>
                  </a:lnTo>
                  <a:lnTo>
                    <a:pt x="1099563" y="333996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直角三角形 15"/>
            <p:cNvSpPr/>
            <p:nvPr/>
          </p:nvSpPr>
          <p:spPr>
            <a:xfrm rot="10800000">
              <a:off x="9502588" y="0"/>
              <a:ext cx="2689412" cy="2689412"/>
            </a:xfrm>
            <a:prstGeom prst="rtTriangle">
              <a:avLst/>
            </a:prstGeom>
            <a:solidFill>
              <a:srgbClr val="2555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WFjYWIyZjUwMTdmODQ5MGQwMGU3YWZkZjQxMjAxY2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45,&quot;left&quot;:430.85,&quot;top&quot;:99.8,&quot;width&quot;:281.8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45,&quot;left&quot;:430.85,&quot;top&quot;:99.8,&quot;width&quot;:281.8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45,&quot;left&quot;:430.85,&quot;top&quot;:99.8,&quot;width&quot;:281.8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45,&quot;left&quot;:430.85,&quot;top&quot;:99.8,&quot;width&quot;:281.8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45,&quot;left&quot;:430.85,&quot;top&quot;:99.8,&quot;width&quot;:281.8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45,&quot;left&quot;:430.85,&quot;top&quot;:99.8,&quot;width&quot;:281.8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45,&quot;left&quot;:430.85,&quot;top&quot;:99.8,&quot;width&quot;:281.8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45,&quot;left&quot;:430.85,&quot;top&quot;:99.8,&quot;width&quot;:281.8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45,&quot;left&quot;:430.85,&quot;top&quot;:99.8,&quot;width&quot;:281.85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45,&quot;left&quot;:430.85,&quot;top&quot;:99.8,&quot;width&quot;:281.85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45,&quot;left&quot;:430.85,&quot;top&quot;:99.8,&quot;width&quot;:281.85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45,&quot;left&quot;:430.85,&quot;top&quot;:99.8,&quot;width&quot;:281.8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45,&quot;left&quot;:430.85,&quot;top&quot;:99.8,&quot;width&quot;:281.8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8100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8100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193</Words>
  <Application>Microsoft Office PowerPoint</Application>
  <PresentationFormat>宽屏</PresentationFormat>
  <Paragraphs>72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思源黑体 CN Regular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XUAN HAN</cp:lastModifiedBy>
  <cp:revision>160</cp:revision>
  <dcterms:created xsi:type="dcterms:W3CDTF">2019-06-19T02:08:00Z</dcterms:created>
  <dcterms:modified xsi:type="dcterms:W3CDTF">2025-12-29T15:59:44Z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0FA7266D02E942AAAA912ABFFAAB6B71</vt:lpwstr>
  </property>
</Properties>
</file>