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61" r:id="rId5"/>
    <p:sldId id="267" r:id="rId6"/>
    <p:sldId id="269" r:id="rId7"/>
    <p:sldId id="275" r:id="rId8"/>
    <p:sldId id="271" r:id="rId9"/>
    <p:sldId id="266" r:id="rId10"/>
    <p:sldId id="262" r:id="rId11"/>
    <p:sldId id="272" r:id="rId12"/>
    <p:sldId id="268" r:id="rId13"/>
    <p:sldId id="277" r:id="rId14"/>
    <p:sldId id="276" r:id="rId15"/>
    <p:sldId id="273" r:id="rId16"/>
    <p:sldId id="278" r:id="rId17"/>
    <p:sldId id="264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8F5FD"/>
    <a:srgbClr val="D9EBFF"/>
    <a:srgbClr val="4FA1E8"/>
    <a:srgbClr val="575053"/>
    <a:srgbClr val="25557A"/>
    <a:srgbClr val="F5F7F9"/>
    <a:srgbClr val="FFFFFF"/>
    <a:srgbClr val="848EAC"/>
    <a:srgbClr val="A12B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2" y="387"/>
      </p:cViewPr>
      <p:guideLst>
        <p:guide orient="horz" pos="221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80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4.xml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8.xml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0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3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5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6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7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8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9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 descr="1037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9106535" y="5777865"/>
            <a:ext cx="3085714" cy="1080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2635885" y="1331595"/>
            <a:ext cx="7077075" cy="3527425"/>
            <a:chOff x="4906" y="3529"/>
            <a:chExt cx="11145" cy="5555"/>
          </a:xfrm>
        </p:grpSpPr>
        <p:sp>
          <p:nvSpPr>
            <p:cNvPr id="27" name="文本框 1"/>
            <p:cNvSpPr txBox="1"/>
            <p:nvPr/>
          </p:nvSpPr>
          <p:spPr>
            <a:xfrm>
              <a:off x="4906" y="3529"/>
              <a:ext cx="11145" cy="3054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algn="ctr" rtl="0" eaLnBrk="1" fontAlgn="auto" latinLnBrk="0" hangingPunct="1"/>
              <a:r>
                <a:rPr lang="zh-CN" altLang="en-US" sz="6000" b="1" kern="100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手机</a:t>
              </a:r>
              <a:r>
                <a:rPr lang="en-US" altLang="zh-CN" sz="6000" b="1" kern="100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IMU</a:t>
              </a:r>
              <a:r>
                <a:rPr lang="zh-CN" altLang="en-US" sz="6000" b="1" kern="100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数据采集与朝向估计</a:t>
              </a:r>
              <a:endParaRPr lang="zh-CN" altLang="en-US" sz="6000" b="1" kern="100" dirty="0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28" name="文本框 1"/>
            <p:cNvSpPr txBox="1"/>
            <p:nvPr/>
          </p:nvSpPr>
          <p:spPr>
            <a:xfrm>
              <a:off x="9083" y="7139"/>
              <a:ext cx="4279" cy="1945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rtl="0" eaLnBrk="1" fontAlgn="auto" latinLnBrk="0" hangingPunct="1">
                <a:lnSpc>
                  <a:spcPct val="150000"/>
                </a:lnSpc>
              </a:pPr>
              <a:r>
                <a:rPr lang="zh-CN" altLang="en-US" sz="16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汇报人</a:t>
              </a:r>
              <a:r>
                <a:rPr lang="en-US" altLang="zh-CN" sz="16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	</a:t>
              </a:r>
              <a:r>
                <a:rPr lang="zh-CN" altLang="en-US" sz="16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韩轩</a:t>
              </a:r>
              <a:endPara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  <a:p>
              <a:pPr rtl="0" eaLnBrk="1" fontAlgn="auto" latinLnBrk="0" hangingPunct="1">
                <a:lnSpc>
                  <a:spcPct val="150000"/>
                </a:lnSpc>
              </a:pPr>
              <a:r>
                <a:rPr lang="zh-CN" altLang="en-US" sz="16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指导教师 </a:t>
              </a:r>
              <a:r>
                <a:rPr lang="en-US" altLang="zh-CN" sz="16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 </a:t>
              </a:r>
              <a:r>
                <a:rPr lang="zh-CN" altLang="en-US" sz="16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郭红星</a:t>
              </a:r>
              <a:r>
                <a:rPr lang="en-US" altLang="zh-CN" sz="16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	   </a:t>
              </a:r>
              <a:endPara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  <a:p>
              <a:pPr rtl="0" eaLnBrk="1" fontAlgn="auto" latinLnBrk="0" hangingPunct="1">
                <a:lnSpc>
                  <a:spcPct val="150000"/>
                </a:lnSpc>
              </a:pPr>
              <a:r>
                <a:rPr lang="zh-CN" altLang="en-US" sz="16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时间</a:t>
              </a:r>
              <a:r>
                <a:rPr lang="en-US" altLang="zh-CN" sz="16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	2025</a:t>
              </a:r>
              <a:r>
                <a:rPr lang="zh-CN" altLang="en-US" sz="16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年</a:t>
              </a:r>
              <a:r>
                <a:rPr lang="en-US" altLang="zh-CN" sz="16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11</a:t>
              </a:r>
              <a:r>
                <a:rPr lang="zh-CN" altLang="en-US" sz="16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月</a:t>
              </a:r>
              <a:endPara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29" name="文本框 32"/>
            <p:cNvSpPr txBox="1"/>
            <p:nvPr/>
          </p:nvSpPr>
          <p:spPr>
            <a:xfrm>
              <a:off x="5781" y="6564"/>
              <a:ext cx="9129" cy="564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rtl="0" eaLnBrk="1" fontAlgn="auto" latinLnBrk="0" hangingPunct="1">
                <a:lnSpc>
                  <a:spcPts val="2000"/>
                </a:lnSpc>
              </a:pPr>
              <a:r>
                <a:rPr lang="zh-CN" altLang="en-US" sz="2000" b="1" kern="100" dirty="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科研轮转总结报告</a:t>
              </a:r>
              <a:endParaRPr lang="en-US" altLang="zh-CN" sz="2000" b="1" kern="1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454900" y="-1959610"/>
            <a:ext cx="4737100" cy="5091430"/>
            <a:chOff x="11740" y="-3086"/>
            <a:chExt cx="7460" cy="8018"/>
          </a:xfrm>
        </p:grpSpPr>
        <p:grpSp>
          <p:nvGrpSpPr>
            <p:cNvPr id="3" name="组合 2"/>
            <p:cNvGrpSpPr/>
            <p:nvPr/>
          </p:nvGrpSpPr>
          <p:grpSpPr>
            <a:xfrm>
              <a:off x="11740" y="-3086"/>
              <a:ext cx="7460" cy="8018"/>
              <a:chOff x="8135783" y="-1669981"/>
              <a:chExt cx="4056217" cy="4359393"/>
            </a:xfrm>
          </p:grpSpPr>
          <p:sp>
            <p:nvSpPr>
              <p:cNvPr id="7" name="任意多边形: 形状 12"/>
              <p:cNvSpPr/>
              <p:nvPr/>
            </p:nvSpPr>
            <p:spPr>
              <a:xfrm rot="18900000">
                <a:off x="8135783" y="-1669981"/>
                <a:ext cx="3339963" cy="3339962"/>
              </a:xfrm>
              <a:custGeom>
                <a:avLst/>
                <a:gdLst>
                  <a:gd name="connsiteX0" fmla="*/ 0 w 3339963"/>
                  <a:gd name="connsiteY0" fmla="*/ 0 h 3339962"/>
                  <a:gd name="connsiteX1" fmla="*/ 3339963 w 3339963"/>
                  <a:gd name="connsiteY1" fmla="*/ 3339962 h 3339962"/>
                  <a:gd name="connsiteX2" fmla="*/ 1099563 w 3339963"/>
                  <a:gd name="connsiteY2" fmla="*/ 3339962 h 333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9963" h="3339962">
                    <a:moveTo>
                      <a:pt x="0" y="0"/>
                    </a:moveTo>
                    <a:lnTo>
                      <a:pt x="3339963" y="3339962"/>
                    </a:lnTo>
                    <a:lnTo>
                      <a:pt x="1099563" y="3339962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rot="10800000">
                <a:off x="9502588" y="0"/>
                <a:ext cx="2689412" cy="2689412"/>
              </a:xfrm>
              <a:prstGeom prst="rtTriangle">
                <a:avLst/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8" name="图片 17" descr="校徽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4679950" cy="3831590"/>
          </a:xfrm>
          <a:prstGeom prst="rect">
            <a:avLst/>
          </a:prstGeom>
          <a:gradFill>
            <a:gsLst>
              <a:gs pos="52000">
                <a:srgbClr val="25557A"/>
              </a:gs>
              <a:gs pos="100000">
                <a:srgbClr val="2D84B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10870" y="535305"/>
            <a:ext cx="3458210" cy="1877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lnSpc>
                <a:spcPct val="150000"/>
              </a:lnSpc>
            </a:pPr>
            <a:r>
              <a:rPr lang="zh-CN" altLang="en-US" sz="8000" b="1"/>
              <a:t>目录</a:t>
            </a:r>
            <a:endParaRPr lang="zh-CN" altLang="en-US" sz="8000"/>
          </a:p>
          <a:p>
            <a:pPr algn="ctr" fontAlgn="auto">
              <a:lnSpc>
                <a:spcPct val="150000"/>
              </a:lnSpc>
            </a:pPr>
            <a:r>
              <a:rPr lang="en-US" altLang="zh-CN" sz="3200"/>
              <a:t>CONTENTS</a:t>
            </a:r>
            <a:endParaRPr lang="en-US" altLang="zh-CN" sz="3200"/>
          </a:p>
        </p:txBody>
      </p:sp>
      <p:grpSp>
        <p:nvGrpSpPr>
          <p:cNvPr id="16" name="组合 15"/>
          <p:cNvGrpSpPr/>
          <p:nvPr/>
        </p:nvGrpSpPr>
        <p:grpSpPr>
          <a:xfrm>
            <a:off x="5341616" y="941411"/>
            <a:ext cx="3586480" cy="3970655"/>
            <a:chOff x="8171" y="407"/>
            <a:chExt cx="5648" cy="6253"/>
          </a:xfrm>
        </p:grpSpPr>
        <p:sp>
          <p:nvSpPr>
            <p:cNvPr id="34" name="椭圆 33"/>
            <p:cNvSpPr/>
            <p:nvPr/>
          </p:nvSpPr>
          <p:spPr>
            <a:xfrm>
              <a:off x="8171" y="407"/>
              <a:ext cx="1244" cy="12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altLang="zh-CN" sz="3200" b="1" dirty="0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0034" y="608"/>
              <a:ext cx="3775" cy="8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latin typeface="+mn-ea"/>
                </a:rPr>
                <a:t>项目介绍</a:t>
              </a:r>
              <a:endParaRPr lang="zh-CN" altLang="en-US" sz="2800" spc="300" dirty="0">
                <a:latin typeface="+mn-ea"/>
              </a:endParaRPr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9770" y="738"/>
              <a:ext cx="0" cy="606"/>
            </a:xfrm>
            <a:prstGeom prst="line">
              <a:avLst/>
            </a:prstGeom>
            <a:ln w="31750">
              <a:solidFill>
                <a:srgbClr val="25557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8183" y="2037"/>
              <a:ext cx="5636" cy="1244"/>
              <a:chOff x="8183" y="2433"/>
              <a:chExt cx="5636" cy="1244"/>
            </a:xfrm>
          </p:grpSpPr>
          <p:sp>
            <p:nvSpPr>
              <p:cNvPr id="39" name="椭圆 38"/>
              <p:cNvSpPr/>
              <p:nvPr/>
            </p:nvSpPr>
            <p:spPr>
              <a:xfrm>
                <a:off x="8183" y="2433"/>
                <a:ext cx="1244" cy="12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  <a:endParaRPr lang="en-US" altLang="zh-CN" sz="3200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10044" y="2647"/>
                <a:ext cx="3775" cy="8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spc="300" dirty="0">
                    <a:latin typeface="+mn-ea"/>
                  </a:rPr>
                  <a:t>项目用途</a:t>
                </a:r>
                <a:endParaRPr lang="zh-CN" altLang="en-US" sz="2800" spc="300" dirty="0">
                  <a:latin typeface="+mn-ea"/>
                </a:endParaRPr>
              </a:p>
            </p:txBody>
          </p:sp>
          <p:cxnSp>
            <p:nvCxnSpPr>
              <p:cNvPr id="41" name="直接连接符 40"/>
              <p:cNvCxnSpPr/>
              <p:nvPr/>
            </p:nvCxnSpPr>
            <p:spPr>
              <a:xfrm>
                <a:off x="9782" y="2764"/>
                <a:ext cx="0" cy="606"/>
              </a:xfrm>
              <a:prstGeom prst="line">
                <a:avLst/>
              </a:prstGeom>
              <a:ln w="31750">
                <a:solidFill>
                  <a:srgbClr val="2555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/>
            <p:cNvGrpSpPr/>
            <p:nvPr/>
          </p:nvGrpSpPr>
          <p:grpSpPr>
            <a:xfrm>
              <a:off x="8171" y="3731"/>
              <a:ext cx="5636" cy="1244"/>
              <a:chOff x="8171" y="4523"/>
              <a:chExt cx="5636" cy="1244"/>
            </a:xfrm>
          </p:grpSpPr>
          <p:sp>
            <p:nvSpPr>
              <p:cNvPr id="43" name="椭圆 42"/>
              <p:cNvSpPr/>
              <p:nvPr/>
            </p:nvSpPr>
            <p:spPr>
              <a:xfrm>
                <a:off x="8171" y="4523"/>
                <a:ext cx="1244" cy="12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3</a:t>
                </a:r>
                <a:endParaRPr lang="en-US" altLang="zh-CN" sz="3200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10032" y="4723"/>
                <a:ext cx="3775" cy="8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spc="300" dirty="0">
                    <a:latin typeface="+mn-ea"/>
                  </a:rPr>
                  <a:t>项目实现</a:t>
                </a:r>
                <a:endParaRPr lang="zh-CN" altLang="en-US" sz="2800" spc="300" dirty="0">
                  <a:latin typeface="+mn-ea"/>
                </a:endParaRPr>
              </a:p>
            </p:txBody>
          </p:sp>
          <p:cxnSp>
            <p:nvCxnSpPr>
              <p:cNvPr id="45" name="直接连接符 44"/>
              <p:cNvCxnSpPr/>
              <p:nvPr/>
            </p:nvCxnSpPr>
            <p:spPr>
              <a:xfrm>
                <a:off x="9770" y="4854"/>
                <a:ext cx="0" cy="606"/>
              </a:xfrm>
              <a:prstGeom prst="line">
                <a:avLst/>
              </a:prstGeom>
              <a:ln w="31750">
                <a:solidFill>
                  <a:srgbClr val="2555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/>
            <p:cNvGrpSpPr/>
            <p:nvPr/>
          </p:nvGrpSpPr>
          <p:grpSpPr>
            <a:xfrm>
              <a:off x="8171" y="5416"/>
              <a:ext cx="5635" cy="1244"/>
              <a:chOff x="8172" y="6767"/>
              <a:chExt cx="5635" cy="1244"/>
            </a:xfrm>
          </p:grpSpPr>
          <p:sp>
            <p:nvSpPr>
              <p:cNvPr id="47" name="椭圆 46"/>
              <p:cNvSpPr/>
              <p:nvPr/>
            </p:nvSpPr>
            <p:spPr>
              <a:xfrm>
                <a:off x="8172" y="6767"/>
                <a:ext cx="1244" cy="12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4</a:t>
                </a:r>
                <a:endParaRPr lang="en-US" altLang="zh-CN" sz="3200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10032" y="6978"/>
                <a:ext cx="3775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spc="300" dirty="0">
                    <a:latin typeface="+mn-ea"/>
                  </a:rPr>
                  <a:t>项目结果</a:t>
                </a:r>
                <a:endParaRPr lang="zh-CN" altLang="en-US" sz="2800" spc="300" dirty="0">
                  <a:latin typeface="+mn-ea"/>
                </a:endParaRPr>
              </a:p>
            </p:txBody>
          </p:sp>
          <p:cxnSp>
            <p:nvCxnSpPr>
              <p:cNvPr id="49" name="直接连接符 48"/>
              <p:cNvCxnSpPr/>
              <p:nvPr/>
            </p:nvCxnSpPr>
            <p:spPr>
              <a:xfrm>
                <a:off x="9771" y="7098"/>
                <a:ext cx="0" cy="606"/>
              </a:xfrm>
              <a:prstGeom prst="line">
                <a:avLst/>
              </a:prstGeom>
              <a:ln w="31750">
                <a:solidFill>
                  <a:srgbClr val="2555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6" name="图片 25" descr="校史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9255760" y="5777865"/>
            <a:ext cx="2905830" cy="10800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7454900" y="-1959610"/>
            <a:ext cx="4737100" cy="5091430"/>
            <a:chOff x="11740" y="-3086"/>
            <a:chExt cx="7460" cy="8018"/>
          </a:xfrm>
        </p:grpSpPr>
        <p:grpSp>
          <p:nvGrpSpPr>
            <p:cNvPr id="3" name="组合 2"/>
            <p:cNvGrpSpPr/>
            <p:nvPr/>
          </p:nvGrpSpPr>
          <p:grpSpPr>
            <a:xfrm>
              <a:off x="11740" y="-3086"/>
              <a:ext cx="7460" cy="8018"/>
              <a:chOff x="8135783" y="-1669981"/>
              <a:chExt cx="4056217" cy="4359393"/>
            </a:xfrm>
          </p:grpSpPr>
          <p:sp>
            <p:nvSpPr>
              <p:cNvPr id="7" name="任意多边形: 形状 12"/>
              <p:cNvSpPr/>
              <p:nvPr/>
            </p:nvSpPr>
            <p:spPr>
              <a:xfrm rot="18900000">
                <a:off x="8135783" y="-1669981"/>
                <a:ext cx="3339963" cy="3339962"/>
              </a:xfrm>
              <a:custGeom>
                <a:avLst/>
                <a:gdLst>
                  <a:gd name="connsiteX0" fmla="*/ 0 w 3339963"/>
                  <a:gd name="connsiteY0" fmla="*/ 0 h 3339962"/>
                  <a:gd name="connsiteX1" fmla="*/ 3339963 w 3339963"/>
                  <a:gd name="connsiteY1" fmla="*/ 3339962 h 3339962"/>
                  <a:gd name="connsiteX2" fmla="*/ 1099563 w 3339963"/>
                  <a:gd name="connsiteY2" fmla="*/ 3339962 h 333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9963" h="3339962">
                    <a:moveTo>
                      <a:pt x="0" y="0"/>
                    </a:moveTo>
                    <a:lnTo>
                      <a:pt x="3339963" y="3339962"/>
                    </a:lnTo>
                    <a:lnTo>
                      <a:pt x="1099563" y="3339962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rot="10800000">
                <a:off x="9502588" y="0"/>
                <a:ext cx="2689412" cy="2689412"/>
              </a:xfrm>
              <a:prstGeom prst="rtTriangle">
                <a:avLst/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8" name="图片 17" descr="校徽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0" y="3738245"/>
            <a:ext cx="4679950" cy="3119755"/>
            <a:chOff x="0" y="5887"/>
            <a:chExt cx="7370" cy="4913"/>
          </a:xfrm>
        </p:grpSpPr>
        <p:pic>
          <p:nvPicPr>
            <p:cNvPr id="13" name="图片 12" descr="IMG_2578(20220922-170619)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887"/>
              <a:ext cx="7370" cy="4913"/>
            </a:xfrm>
            <a:prstGeom prst="rect">
              <a:avLst/>
            </a:prstGeom>
          </p:spPr>
        </p:pic>
        <p:pic>
          <p:nvPicPr>
            <p:cNvPr id="19" name="图片 18" descr="小招logo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34" y="9474"/>
              <a:ext cx="1701" cy="952"/>
            </a:xfrm>
            <a:prstGeom prst="rect">
              <a:avLst/>
            </a:prstGeom>
          </p:spPr>
        </p:pic>
      </p:grpSp>
      <p:sp>
        <p:nvSpPr>
          <p:cNvPr id="4" name="椭圆 3"/>
          <p:cNvSpPr/>
          <p:nvPr/>
        </p:nvSpPr>
        <p:spPr>
          <a:xfrm>
            <a:off x="5341616" y="5165431"/>
            <a:ext cx="789940" cy="7899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3200" b="1" dirty="0">
              <a:solidFill>
                <a:srgbClr val="2555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522716" y="5299416"/>
            <a:ext cx="23971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latin typeface="+mn-ea"/>
              </a:rPr>
              <a:t>项目总结</a:t>
            </a:r>
            <a:endParaRPr lang="zh-CN" altLang="en-US" sz="2800" spc="300" dirty="0">
              <a:latin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356981" y="5375616"/>
            <a:ext cx="0" cy="384810"/>
          </a:xfrm>
          <a:prstGeom prst="line">
            <a:avLst/>
          </a:prstGeom>
          <a:ln w="31750">
            <a:solidFill>
              <a:srgbClr val="255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/>
        </p:nvSpPr>
        <p:spPr>
          <a:xfrm flipH="1">
            <a:off x="4337050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 flip="none">
            <a:gsLst>
              <a:gs pos="15000">
                <a:srgbClr val="25557A"/>
              </a:gs>
              <a:gs pos="32000">
                <a:srgbClr val="2483D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4896485" y="635"/>
            <a:ext cx="7295515" cy="6858000"/>
            <a:chOff x="7711" y="1"/>
            <a:chExt cx="11489" cy="10800"/>
          </a:xfrm>
        </p:grpSpPr>
        <p:pic>
          <p:nvPicPr>
            <p:cNvPr id="17" name="图片 16" descr="IMG_2580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006DBF">
                    <a:alpha val="100000"/>
                  </a:srgbClr>
                </a:clrFrom>
                <a:clrTo>
                  <a:srgbClr val="006DB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840" y="2371"/>
              <a:ext cx="7360" cy="8429"/>
            </a:xfrm>
            <a:prstGeom prst="rect">
              <a:avLst/>
            </a:prstGeom>
          </p:spPr>
        </p:pic>
        <p:sp>
          <p:nvSpPr>
            <p:cNvPr id="21" name="任意多边形: 形状 52"/>
            <p:cNvSpPr/>
            <p:nvPr/>
          </p:nvSpPr>
          <p:spPr>
            <a:xfrm flipV="1">
              <a:off x="7711" y="1"/>
              <a:ext cx="6416" cy="10800"/>
            </a:xfrm>
            <a:custGeom>
              <a:avLst/>
              <a:gdLst>
                <a:gd name="connsiteX0" fmla="*/ 12191999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12191999 w 12192000"/>
                <a:gd name="connsiteY3" fmla="*/ 6858000 h 6858000"/>
                <a:gd name="connsiteX4" fmla="*/ 0 w 12192000"/>
                <a:gd name="connsiteY4" fmla="*/ 0 h 6858000"/>
                <a:gd name="connsiteX5" fmla="*/ 11295445 w 12192000"/>
                <a:gd name="connsiteY5" fmla="*/ 0 h 6858000"/>
                <a:gd name="connsiteX6" fmla="*/ 4437446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12191999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12191999" y="6858000"/>
                  </a:lnTo>
                  <a:close/>
                  <a:moveTo>
                    <a:pt x="0" y="0"/>
                  </a:moveTo>
                  <a:lnTo>
                    <a:pt x="11295445" y="0"/>
                  </a:lnTo>
                  <a:lnTo>
                    <a:pt x="443744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5" name="图片 24" descr="校徽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/>
        </p:nvGrpSpPr>
        <p:grpSpPr>
          <a:xfrm>
            <a:off x="1981200" y="1901190"/>
            <a:ext cx="3842385" cy="2896235"/>
            <a:chOff x="1932" y="2994"/>
            <a:chExt cx="6051" cy="4561"/>
          </a:xfrm>
        </p:grpSpPr>
        <p:grpSp>
          <p:nvGrpSpPr>
            <p:cNvPr id="30" name="组合 29"/>
            <p:cNvGrpSpPr/>
            <p:nvPr/>
          </p:nvGrpSpPr>
          <p:grpSpPr>
            <a:xfrm>
              <a:off x="1932" y="2994"/>
              <a:ext cx="3242" cy="2179"/>
              <a:chOff x="2761095" y="2292169"/>
              <a:chExt cx="2058736" cy="1383665"/>
            </a:xfrm>
          </p:grpSpPr>
          <p:sp>
            <p:nvSpPr>
              <p:cNvPr id="2" name="矩形: 圆角 1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66" name="矩形: 圆角 6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3020843" y="2292169"/>
                <a:ext cx="1798988" cy="1383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8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68" name="矩形 67"/>
            <p:cNvSpPr/>
            <p:nvPr/>
          </p:nvSpPr>
          <p:spPr>
            <a:xfrm>
              <a:off x="4066" y="2994"/>
              <a:ext cx="2262" cy="2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8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2118" y="5546"/>
              <a:ext cx="5865" cy="17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6600" b="1" spc="300" dirty="0">
                  <a:latin typeface="微软雅黑" panose="020B0503020204020204" charset="-122"/>
                  <a:ea typeface="微软雅黑" panose="020B0503020204020204" charset="-122"/>
                </a:rPr>
                <a:t>项目介绍</a:t>
              </a:r>
              <a:endParaRPr lang="zh-CN" altLang="en-US" sz="66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2212" y="6975"/>
              <a:ext cx="5287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PROJECT INTRODUCTION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9" name="图片 18" descr="小招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118" cy="9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项目介绍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PROJECT INTRODUCTION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" name="矩形: 圆角 18"/>
          <p:cNvSpPr/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lt"/>
              </a:rPr>
              <a:t>本项目是亚米级室内定位与导航技术研究的重要组成部分，专注于**手机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lt"/>
              </a:rPr>
              <a:t>IMU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lt"/>
              </a:rPr>
              <a:t>（惯性测量单元）数据采集与手机朝向估计**。通过融合多传感器数据，实现高精度的手机姿态估计，为室内定位系统提供可靠的朝向信息。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13" name="任意多边形: 形状 21"/>
          <p:cNvSpPr/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69035" y="3429000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直角三角形 19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902086" y="3087698"/>
            <a:ext cx="6468437" cy="1704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本项目是亚米级室内定位与导航技术研究的组成部分，专注于手机</a:t>
            </a:r>
            <a:r>
              <a:rPr lang="en-US" altLang="zh-CN" dirty="0"/>
              <a:t>IMU</a:t>
            </a:r>
            <a:r>
              <a:rPr lang="zh-CN" altLang="en-US" dirty="0"/>
              <a:t>（惯性测量单元）数据采集与手机朝向估计。通过融合多传感器数据，实现手机姿态估计，为室内定位系统提供可靠的朝向信息。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/>
        </p:nvSpPr>
        <p:spPr>
          <a:xfrm flipH="1">
            <a:off x="4335145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 flip="none">
            <a:gsLst>
              <a:gs pos="0">
                <a:schemeClr val="accent1">
                  <a:lumMod val="20000"/>
                  <a:lumOff val="80000"/>
                </a:schemeClr>
              </a:gs>
              <a:gs pos="26000">
                <a:srgbClr val="D9E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1.5"/>
          <p:cNvPicPr/>
          <p:nvPr>
            <p:custDataLst>
              <p:tags r:id="rId1"/>
            </p:custDataLst>
          </p:nvPr>
        </p:nvPicPr>
        <p:blipFill>
          <a:blip r:embed="rId2"/>
          <a:srcRect l="22403" t="1475" r="22481" b="58056"/>
          <a:stretch>
            <a:fillRect/>
          </a:stretch>
        </p:blipFill>
        <p:spPr>
          <a:xfrm flipH="1">
            <a:off x="7152005" y="2223135"/>
            <a:ext cx="5039995" cy="4634865"/>
          </a:xfrm>
          <a:prstGeom prst="rect">
            <a:avLst/>
          </a:prstGeom>
        </p:spPr>
      </p:pic>
      <p:pic>
        <p:nvPicPr>
          <p:cNvPr id="5" name="图片 4" descr="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365" y="186055"/>
            <a:ext cx="1422400" cy="1080135"/>
          </a:xfrm>
          <a:prstGeom prst="rect">
            <a:avLst/>
          </a:prstGeom>
        </p:spPr>
      </p:pic>
      <p:sp>
        <p:nvSpPr>
          <p:cNvPr id="21" name="任意多边形: 形状 52"/>
          <p:cNvSpPr/>
          <p:nvPr/>
        </p:nvSpPr>
        <p:spPr>
          <a:xfrm flipV="1">
            <a:off x="4925060" y="0"/>
            <a:ext cx="407416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9" name="图片 18" descr="小招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981200" y="1901190"/>
            <a:ext cx="6291580" cy="2830195"/>
            <a:chOff x="1932" y="2994"/>
            <a:chExt cx="9908" cy="4457"/>
          </a:xfrm>
        </p:grpSpPr>
        <p:grpSp>
          <p:nvGrpSpPr>
            <p:cNvPr id="7" name="组合 6"/>
            <p:cNvGrpSpPr/>
            <p:nvPr/>
          </p:nvGrpSpPr>
          <p:grpSpPr>
            <a:xfrm>
              <a:off x="1932" y="2994"/>
              <a:ext cx="3242" cy="2179"/>
              <a:chOff x="2761095" y="2292169"/>
              <a:chExt cx="2058736" cy="1383665"/>
            </a:xfrm>
          </p:grpSpPr>
          <p:sp>
            <p:nvSpPr>
              <p:cNvPr id="8" name="矩形: 圆角 1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9" name="矩形: 圆角 6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3020843" y="2292169"/>
                <a:ext cx="1798988" cy="1383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8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4066" y="2994"/>
              <a:ext cx="2262" cy="2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en-US" altLang="zh-CN" sz="8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118" y="5546"/>
              <a:ext cx="5865" cy="17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6600" b="1" spc="300" dirty="0">
                  <a:latin typeface="微软雅黑" panose="020B0503020204020204" charset="-122"/>
                  <a:ea typeface="微软雅黑" panose="020B0503020204020204" charset="-122"/>
                </a:rPr>
                <a:t>项目用途</a:t>
              </a:r>
              <a:endParaRPr lang="zh-CN" altLang="en-US" sz="66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212" y="7087"/>
              <a:ext cx="9628" cy="3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PROJECT PURPOSE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直角三角形 4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118" cy="9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项目用途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PROJECT PURPOSE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693522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标题一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图片 26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559238" y="1973004"/>
            <a:ext cx="5481114" cy="111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能够为行人航向推算（</a:t>
            </a:r>
            <a:r>
              <a:rPr lang="en-US" altLang="zh-CN" dirty="0"/>
              <a:t>PDR</a:t>
            </a:r>
            <a:r>
              <a:rPr lang="zh-CN" altLang="en-US" dirty="0"/>
              <a:t>）提供较为准确的手机朝向，为后续功能实现提供基础。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/>
        </p:nvSpPr>
        <p:spPr>
          <a:xfrm flipH="1">
            <a:off x="4337050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 flip="none">
            <a:gsLst>
              <a:gs pos="18000">
                <a:srgbClr val="25557A"/>
              </a:gs>
              <a:gs pos="35000">
                <a:srgbClr val="4FA1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IMG_2579(20220922-170622)"/>
          <p:cNvPicPr/>
          <p:nvPr/>
        </p:nvPicPr>
        <p:blipFill>
          <a:blip r:embed="rId1"/>
          <a:srcRect l="-110" t="24800" r="27205"/>
          <a:stretch>
            <a:fillRect/>
          </a:stretch>
        </p:blipFill>
        <p:spPr>
          <a:xfrm>
            <a:off x="7152005" y="2797810"/>
            <a:ext cx="5039995" cy="4060825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4896485" y="635"/>
            <a:ext cx="6939280" cy="6858000"/>
            <a:chOff x="7711" y="1"/>
            <a:chExt cx="10928" cy="10800"/>
          </a:xfrm>
        </p:grpSpPr>
        <p:sp>
          <p:nvSpPr>
            <p:cNvPr id="21" name="任意多边形: 形状 52"/>
            <p:cNvSpPr/>
            <p:nvPr/>
          </p:nvSpPr>
          <p:spPr>
            <a:xfrm flipV="1">
              <a:off x="7711" y="1"/>
              <a:ext cx="6416" cy="10800"/>
            </a:xfrm>
            <a:custGeom>
              <a:avLst/>
              <a:gdLst>
                <a:gd name="connsiteX0" fmla="*/ 12191999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12191999 w 12192000"/>
                <a:gd name="connsiteY3" fmla="*/ 6858000 h 6858000"/>
                <a:gd name="connsiteX4" fmla="*/ 0 w 12192000"/>
                <a:gd name="connsiteY4" fmla="*/ 0 h 6858000"/>
                <a:gd name="connsiteX5" fmla="*/ 11295445 w 12192000"/>
                <a:gd name="connsiteY5" fmla="*/ 0 h 6858000"/>
                <a:gd name="connsiteX6" fmla="*/ 4437446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12191999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12191999" y="6858000"/>
                  </a:lnTo>
                  <a:close/>
                  <a:moveTo>
                    <a:pt x="0" y="0"/>
                  </a:moveTo>
                  <a:lnTo>
                    <a:pt x="11295445" y="0"/>
                  </a:lnTo>
                  <a:lnTo>
                    <a:pt x="443744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5" name="图片 24" descr="校徽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9" name="图片 18" descr="小招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81200" y="1901190"/>
            <a:ext cx="6291580" cy="2896235"/>
            <a:chOff x="1932" y="2994"/>
            <a:chExt cx="9908" cy="4561"/>
          </a:xfrm>
        </p:grpSpPr>
        <p:grpSp>
          <p:nvGrpSpPr>
            <p:cNvPr id="6" name="组合 5"/>
            <p:cNvGrpSpPr/>
            <p:nvPr/>
          </p:nvGrpSpPr>
          <p:grpSpPr>
            <a:xfrm>
              <a:off x="1932" y="2994"/>
              <a:ext cx="3242" cy="2179"/>
              <a:chOff x="2761095" y="2292169"/>
              <a:chExt cx="2058736" cy="1383665"/>
            </a:xfrm>
          </p:grpSpPr>
          <p:sp>
            <p:nvSpPr>
              <p:cNvPr id="7" name="矩形: 圆角 1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8" name="矩形: 圆角 6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3020843" y="2292169"/>
                <a:ext cx="1798988" cy="1383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8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4066" y="2994"/>
              <a:ext cx="2262" cy="2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 sz="8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2118" y="5546"/>
              <a:ext cx="5865" cy="17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6600" b="1" spc="300" dirty="0">
                  <a:latin typeface="微软雅黑" panose="020B0503020204020204" charset="-122"/>
                  <a:ea typeface="微软雅黑" panose="020B0503020204020204" charset="-122"/>
                </a:rPr>
                <a:t>项目实现</a:t>
              </a:r>
              <a:endParaRPr lang="zh-CN" altLang="en-US" sz="66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212" y="6975"/>
              <a:ext cx="9628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PROJECT IMPLEMENTATION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118" cy="9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项目实现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PROJECT IMPLEMENTATION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弧形 1"/>
          <p:cNvSpPr/>
          <p:nvPr/>
        </p:nvSpPr>
        <p:spPr>
          <a:xfrm>
            <a:off x="8899068" y="2226178"/>
            <a:ext cx="1116368" cy="1116366"/>
          </a:xfrm>
          <a:prstGeom prst="arc">
            <a:avLst>
              <a:gd name="adj1" fmla="val 16200000"/>
              <a:gd name="adj2" fmla="val 141805"/>
            </a:avLst>
          </a:prstGeom>
          <a:ln w="63500">
            <a:solidFill>
              <a:srgbClr val="32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  <p:sp>
        <p:nvSpPr>
          <p:cNvPr id="3" name="弧形 2"/>
          <p:cNvSpPr/>
          <p:nvPr/>
        </p:nvSpPr>
        <p:spPr>
          <a:xfrm flipV="1">
            <a:off x="8899068" y="2226178"/>
            <a:ext cx="1116368" cy="1116366"/>
          </a:xfrm>
          <a:prstGeom prst="arc">
            <a:avLst>
              <a:gd name="adj1" fmla="val 16200000"/>
              <a:gd name="adj2" fmla="val 255579"/>
            </a:avLst>
          </a:prstGeom>
          <a:ln w="63500">
            <a:solidFill>
              <a:srgbClr val="32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2226177"/>
            <a:ext cx="9467084" cy="0"/>
          </a:xfrm>
          <a:prstGeom prst="line">
            <a:avLst/>
          </a:prstGeom>
          <a:ln w="63500">
            <a:solidFill>
              <a:srgbClr val="32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2724917" y="3342544"/>
            <a:ext cx="6763212" cy="0"/>
          </a:xfrm>
          <a:prstGeom prst="line">
            <a:avLst/>
          </a:prstGeom>
          <a:solidFill>
            <a:srgbClr val="25557A"/>
          </a:solidFill>
          <a:ln w="63500">
            <a:solidFill>
              <a:srgbClr val="32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弧形 66"/>
          <p:cNvSpPr/>
          <p:nvPr/>
        </p:nvSpPr>
        <p:spPr>
          <a:xfrm flipH="1" flipV="1">
            <a:off x="2176564" y="3342809"/>
            <a:ext cx="1116368" cy="1116366"/>
          </a:xfrm>
          <a:prstGeom prst="arc">
            <a:avLst>
              <a:gd name="adj1" fmla="val 16200000"/>
              <a:gd name="adj2" fmla="val 141805"/>
            </a:avLst>
          </a:prstGeom>
          <a:noFill/>
          <a:ln w="63500">
            <a:solidFill>
              <a:srgbClr val="32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  <p:sp>
        <p:nvSpPr>
          <p:cNvPr id="68" name="弧形 67"/>
          <p:cNvSpPr/>
          <p:nvPr/>
        </p:nvSpPr>
        <p:spPr>
          <a:xfrm flipH="1">
            <a:off x="2176564" y="3342809"/>
            <a:ext cx="1116368" cy="1116366"/>
          </a:xfrm>
          <a:prstGeom prst="arc">
            <a:avLst>
              <a:gd name="adj1" fmla="val 16200000"/>
              <a:gd name="adj2" fmla="val 255579"/>
            </a:avLst>
          </a:prstGeom>
          <a:noFill/>
          <a:ln w="63500">
            <a:solidFill>
              <a:srgbClr val="32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  <p:cxnSp>
        <p:nvCxnSpPr>
          <p:cNvPr id="69" name="直接连接符 68"/>
          <p:cNvCxnSpPr/>
          <p:nvPr/>
        </p:nvCxnSpPr>
        <p:spPr>
          <a:xfrm flipH="1" flipV="1">
            <a:off x="2724916" y="4459176"/>
            <a:ext cx="9467084" cy="0"/>
          </a:xfrm>
          <a:prstGeom prst="line">
            <a:avLst/>
          </a:prstGeom>
          <a:ln w="63500">
            <a:solidFill>
              <a:srgbClr val="32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椭圆 79"/>
          <p:cNvSpPr/>
          <p:nvPr/>
        </p:nvSpPr>
        <p:spPr>
          <a:xfrm flipH="1">
            <a:off x="3214280" y="2083856"/>
            <a:ext cx="228801" cy="228801"/>
          </a:xfrm>
          <a:prstGeom prst="ellipse">
            <a:avLst/>
          </a:prstGeom>
          <a:solidFill>
            <a:srgbClr val="25557A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1081911" y="2427323"/>
            <a:ext cx="44935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阅读相关文献，了解对应的背景知识与实现方法</a:t>
            </a:r>
            <a:endParaRPr lang="zh-CN" altLang="en-US" sz="1600" dirty="0">
              <a:ea typeface="思源黑体 CN Regular" panose="020B0500000000000000" pitchFamily="34" charset="-122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2906040" y="2771863"/>
            <a:ext cx="840571" cy="240996"/>
          </a:xfrm>
          <a:prstGeom prst="roundRect">
            <a:avLst>
              <a:gd name="adj" fmla="val 50000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前期准备</a:t>
            </a:r>
            <a:endParaRPr lang="zh-CN" altLang="en-US" sz="1000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27" name="图片 26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8" name="组合 17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9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直角三角形 27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椭圆 3"/>
          <p:cNvSpPr/>
          <p:nvPr/>
        </p:nvSpPr>
        <p:spPr>
          <a:xfrm flipH="1">
            <a:off x="5691670" y="3205850"/>
            <a:ext cx="228801" cy="228801"/>
          </a:xfrm>
          <a:prstGeom prst="ellipse">
            <a:avLst/>
          </a:prstGeom>
          <a:solidFill>
            <a:srgbClr val="25557A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95594" y="3549317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思源黑体 CN Regular" panose="020B0500000000000000" pitchFamily="34" charset="-122"/>
              </a:rPr>
              <a:t>学习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ea typeface="思源黑体 CN Regular" panose="020B0500000000000000" pitchFamily="34" charset="-122"/>
              </a:rPr>
              <a:t>Matlab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思源黑体 CN Regular" panose="020B0500000000000000" pitchFamily="34" charset="-122"/>
              </a:rPr>
              <a:t>使用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ea typeface="思源黑体 CN Regular" panose="020B0500000000000000" pitchFamily="34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5383430" y="3893857"/>
            <a:ext cx="840571" cy="240996"/>
          </a:xfrm>
          <a:prstGeom prst="roundRect">
            <a:avLst>
              <a:gd name="adj" fmla="val 50000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知识补充</a:t>
            </a:r>
            <a:endParaRPr lang="zh-CN" altLang="en-US" sz="1000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 flipH="1">
            <a:off x="7832969" y="4361047"/>
            <a:ext cx="228801" cy="228801"/>
          </a:xfrm>
          <a:prstGeom prst="ellipse">
            <a:avLst/>
          </a:prstGeom>
          <a:solidFill>
            <a:srgbClr val="25557A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39484" y="470451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思源黑体 CN Regular" panose="020B0500000000000000" pitchFamily="34" charset="-122"/>
              </a:rPr>
              <a:t>具体代码实现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ea typeface="思源黑体 CN Regular" panose="020B0500000000000000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7524729" y="5049054"/>
            <a:ext cx="840571" cy="240996"/>
          </a:xfrm>
          <a:prstGeom prst="roundRect">
            <a:avLst>
              <a:gd name="adj" fmla="val 50000"/>
            </a:avLst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代码实现</a:t>
            </a:r>
            <a:endParaRPr lang="zh-CN" altLang="en-US" sz="1000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直角三角形 4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118" cy="9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项目实现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PROJECT IMPLEMENTATION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706343" y="181040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48422" y="21097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手机连接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77996" y="2870671"/>
            <a:ext cx="1956619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创建手机设备对象，检查连接状态，启用对应传感器。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080773" y="272101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483899" y="181040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64311" y="210970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数据采集与保存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655552" y="2870671"/>
            <a:ext cx="1956619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读取传感器获取的数据并保存至相应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.mat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文件。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858329" y="272101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6261452" y="181040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703532" y="21097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数据处理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433105" y="2870671"/>
            <a:ext cx="1956619" cy="1895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时间格式转换，时间对齐与重采样，数据提取，角度校正，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AHRS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滤波得到数据。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6635882" y="272101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9019420" y="181040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307609" y="210970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结果可视化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91073" y="2870671"/>
            <a:ext cx="1956619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绘制图表得到结果。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9393850" y="272101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/>
        </p:nvSpPr>
        <p:spPr>
          <a:xfrm flipH="1">
            <a:off x="4337050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 flip="none">
            <a:gsLst>
              <a:gs pos="3000">
                <a:schemeClr val="accent1">
                  <a:lumMod val="20000"/>
                  <a:lumOff val="80000"/>
                </a:schemeClr>
              </a:gs>
              <a:gs pos="32000">
                <a:srgbClr val="E8F5F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8ef560575b6fda9a338d8e32ac984ce"/>
          <p:cNvPicPr>
            <a:picLocks noChangeAspect="1"/>
          </p:cNvPicPr>
          <p:nvPr/>
        </p:nvPicPr>
        <p:blipFill>
          <a:blip r:embed="rId1"/>
          <a:srcRect l="22944" t="31121" r="23046"/>
          <a:stretch>
            <a:fillRect/>
          </a:stretch>
        </p:blipFill>
        <p:spPr>
          <a:xfrm>
            <a:off x="7357745" y="2891155"/>
            <a:ext cx="4834255" cy="396748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4896485" y="635"/>
            <a:ext cx="6939280" cy="6858000"/>
            <a:chOff x="7711" y="1"/>
            <a:chExt cx="10928" cy="10800"/>
          </a:xfrm>
        </p:grpSpPr>
        <p:sp>
          <p:nvSpPr>
            <p:cNvPr id="21" name="任意多边形: 形状 52"/>
            <p:cNvSpPr/>
            <p:nvPr/>
          </p:nvSpPr>
          <p:spPr>
            <a:xfrm flipV="1">
              <a:off x="7711" y="1"/>
              <a:ext cx="6416" cy="10800"/>
            </a:xfrm>
            <a:custGeom>
              <a:avLst/>
              <a:gdLst>
                <a:gd name="connsiteX0" fmla="*/ 12191999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12191999 w 12192000"/>
                <a:gd name="connsiteY3" fmla="*/ 6858000 h 6858000"/>
                <a:gd name="connsiteX4" fmla="*/ 0 w 12192000"/>
                <a:gd name="connsiteY4" fmla="*/ 0 h 6858000"/>
                <a:gd name="connsiteX5" fmla="*/ 11295445 w 12192000"/>
                <a:gd name="connsiteY5" fmla="*/ 0 h 6858000"/>
                <a:gd name="connsiteX6" fmla="*/ 4437446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12191999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12191999" y="6858000"/>
                  </a:lnTo>
                  <a:close/>
                  <a:moveTo>
                    <a:pt x="0" y="0"/>
                  </a:moveTo>
                  <a:lnTo>
                    <a:pt x="11295445" y="0"/>
                  </a:lnTo>
                  <a:lnTo>
                    <a:pt x="443744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5" name="图片 24" descr="校徽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9" name="图片 18" descr="小招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81200" y="1901190"/>
            <a:ext cx="6291580" cy="2896235"/>
            <a:chOff x="1932" y="2994"/>
            <a:chExt cx="9908" cy="4561"/>
          </a:xfrm>
        </p:grpSpPr>
        <p:grpSp>
          <p:nvGrpSpPr>
            <p:cNvPr id="6" name="组合 5"/>
            <p:cNvGrpSpPr/>
            <p:nvPr/>
          </p:nvGrpSpPr>
          <p:grpSpPr>
            <a:xfrm>
              <a:off x="1932" y="2994"/>
              <a:ext cx="3242" cy="2179"/>
              <a:chOff x="2761095" y="2292169"/>
              <a:chExt cx="2058736" cy="1383665"/>
            </a:xfrm>
          </p:grpSpPr>
          <p:sp>
            <p:nvSpPr>
              <p:cNvPr id="7" name="矩形: 圆角 1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8" name="矩形: 圆角 6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3020843" y="2292169"/>
                <a:ext cx="1798988" cy="1383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8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4066" y="2994"/>
              <a:ext cx="2262" cy="2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lang="en-US" altLang="zh-CN" sz="8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2118" y="5546"/>
              <a:ext cx="5865" cy="17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6600" b="1" spc="300" dirty="0">
                  <a:latin typeface="微软雅黑" panose="020B0503020204020204" charset="-122"/>
                  <a:ea typeface="微软雅黑" panose="020B0503020204020204" charset="-122"/>
                </a:rPr>
                <a:t>项目结果</a:t>
              </a:r>
              <a:endParaRPr lang="zh-CN" altLang="en-US" sz="66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212" y="6975"/>
              <a:ext cx="9628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PROJECT OUTCOME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118" cy="9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项目结果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PROJECT OUTCOME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7" name="图片 26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20" name="组合 19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21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直角三角形 21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3D_Animation_20251103_20033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69507" y="2529645"/>
            <a:ext cx="2217888" cy="1660994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069507" y="4370916"/>
            <a:ext cx="2217888" cy="11352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模拟的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3D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动画效果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532" y="860000"/>
            <a:ext cx="3303392" cy="113520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733" y="2763885"/>
            <a:ext cx="5178017" cy="611387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5733" y="3525971"/>
            <a:ext cx="5178017" cy="636356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5733" y="2136118"/>
            <a:ext cx="5178017" cy="419593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4783532" y="4370916"/>
            <a:ext cx="2217888" cy="11352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存储的相关数据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118" cy="9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项目结果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PROJECT OUTCOME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7" name="图片 26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20" name="组合 19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21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直角三角形 21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465" y="1463040"/>
            <a:ext cx="3529715" cy="25179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518" y="1463040"/>
            <a:ext cx="3279252" cy="2519598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009223" y="4591173"/>
            <a:ext cx="2217888" cy="11352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数据结果呈现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404200" y="4591172"/>
            <a:ext cx="2217888" cy="11352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数据误差分析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/>
        </p:nvSpPr>
        <p:spPr>
          <a:xfrm flipH="1">
            <a:off x="4337050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 flip="none">
            <a:gsLst>
              <a:gs pos="3000">
                <a:schemeClr val="accent1">
                  <a:lumMod val="20000"/>
                  <a:lumOff val="80000"/>
                </a:schemeClr>
              </a:gs>
              <a:gs pos="32000">
                <a:srgbClr val="E8F5F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8ef560575b6fda9a338d8e32ac984ce"/>
          <p:cNvPicPr>
            <a:picLocks noChangeAspect="1"/>
          </p:cNvPicPr>
          <p:nvPr/>
        </p:nvPicPr>
        <p:blipFill>
          <a:blip r:embed="rId1"/>
          <a:srcRect l="22944" t="31121" r="23046"/>
          <a:stretch>
            <a:fillRect/>
          </a:stretch>
        </p:blipFill>
        <p:spPr>
          <a:xfrm>
            <a:off x="7357745" y="2891155"/>
            <a:ext cx="4834255" cy="396748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4896485" y="635"/>
            <a:ext cx="6939280" cy="6858000"/>
            <a:chOff x="7711" y="1"/>
            <a:chExt cx="10928" cy="10800"/>
          </a:xfrm>
        </p:grpSpPr>
        <p:sp>
          <p:nvSpPr>
            <p:cNvPr id="21" name="任意多边形: 形状 52"/>
            <p:cNvSpPr/>
            <p:nvPr/>
          </p:nvSpPr>
          <p:spPr>
            <a:xfrm flipV="1">
              <a:off x="7711" y="1"/>
              <a:ext cx="6416" cy="10800"/>
            </a:xfrm>
            <a:custGeom>
              <a:avLst/>
              <a:gdLst>
                <a:gd name="connsiteX0" fmla="*/ 12191999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12191999 w 12192000"/>
                <a:gd name="connsiteY3" fmla="*/ 6858000 h 6858000"/>
                <a:gd name="connsiteX4" fmla="*/ 0 w 12192000"/>
                <a:gd name="connsiteY4" fmla="*/ 0 h 6858000"/>
                <a:gd name="connsiteX5" fmla="*/ 11295445 w 12192000"/>
                <a:gd name="connsiteY5" fmla="*/ 0 h 6858000"/>
                <a:gd name="connsiteX6" fmla="*/ 4437446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12191999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12191999" y="6858000"/>
                  </a:lnTo>
                  <a:close/>
                  <a:moveTo>
                    <a:pt x="0" y="0"/>
                  </a:moveTo>
                  <a:lnTo>
                    <a:pt x="11295445" y="0"/>
                  </a:lnTo>
                  <a:lnTo>
                    <a:pt x="443744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5" name="图片 24" descr="校徽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9" name="图片 18" descr="小招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81200" y="1901190"/>
            <a:ext cx="6291580" cy="2896235"/>
            <a:chOff x="1932" y="2994"/>
            <a:chExt cx="9908" cy="4561"/>
          </a:xfrm>
        </p:grpSpPr>
        <p:grpSp>
          <p:nvGrpSpPr>
            <p:cNvPr id="6" name="组合 5"/>
            <p:cNvGrpSpPr/>
            <p:nvPr/>
          </p:nvGrpSpPr>
          <p:grpSpPr>
            <a:xfrm>
              <a:off x="1932" y="2994"/>
              <a:ext cx="3242" cy="2179"/>
              <a:chOff x="2761095" y="2292169"/>
              <a:chExt cx="2058736" cy="1383665"/>
            </a:xfrm>
          </p:grpSpPr>
          <p:sp>
            <p:nvSpPr>
              <p:cNvPr id="7" name="矩形: 圆角 1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8" name="矩形: 圆角 6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3020843" y="2292169"/>
                <a:ext cx="1798988" cy="1383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8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4066" y="2994"/>
              <a:ext cx="2285" cy="2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latin typeface="微软雅黑" panose="020B0503020204020204" charset="-122"/>
                  <a:ea typeface="微软雅黑" panose="020B0503020204020204" charset="-122"/>
                </a:rPr>
                <a:t>05</a:t>
              </a:r>
              <a:endParaRPr lang="en-US" altLang="zh-CN" sz="8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2118" y="5546"/>
              <a:ext cx="5865" cy="17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6600" b="1" spc="300" dirty="0">
                  <a:latin typeface="微软雅黑" panose="020B0503020204020204" charset="-122"/>
                  <a:ea typeface="微软雅黑" panose="020B0503020204020204" charset="-122"/>
                </a:rPr>
                <a:t>项目总结</a:t>
              </a:r>
              <a:endParaRPr lang="zh-CN" altLang="en-US" sz="66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212" y="6975"/>
              <a:ext cx="9628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PROJECT SUMMARY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118" cy="9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项目总结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PROJECT SUMMARY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1" name="图片 50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21" name="组合 20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22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直角三角形 22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749935" y="1419860"/>
            <a:ext cx="10112375" cy="4528185"/>
            <a:chOff x="1181" y="2236"/>
            <a:chExt cx="15925" cy="7131"/>
          </a:xfrm>
        </p:grpSpPr>
        <p:sp>
          <p:nvSpPr>
            <p:cNvPr id="34" name="矩形 33"/>
            <p:cNvSpPr/>
            <p:nvPr/>
          </p:nvSpPr>
          <p:spPr>
            <a:xfrm>
              <a:off x="7435" y="2733"/>
              <a:ext cx="3586" cy="42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kern="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误差分析与</a:t>
              </a:r>
              <a:r>
                <a:rPr lang="zh-CN" altLang="en-US" kern="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处理。</a:t>
              </a:r>
              <a:endParaRPr lang="zh-CN" altLang="en-US" kern="0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3311" y="2733"/>
              <a:ext cx="3586" cy="42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dirty="0"/>
                <a:t>此次为手机</a:t>
              </a:r>
              <a:r>
                <a:rPr lang="en-US" altLang="zh-CN" dirty="0"/>
                <a:t>IMU</a:t>
              </a:r>
              <a:r>
                <a:rPr lang="zh-CN" altLang="en-US" dirty="0"/>
                <a:t>姿态估计提供了一个完整、可靠的解决方案，具备良好的实用性和扩展性。</a:t>
              </a:r>
              <a:endParaRPr lang="zh-CN" altLang="en-US" kern="0" dirty="0">
                <a:solidFill>
                  <a:srgbClr val="779B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373" y="2733"/>
              <a:ext cx="3586" cy="4257"/>
              <a:chOff x="871675" y="1735596"/>
              <a:chExt cx="2276930" cy="2703053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25" name="矩形 24"/>
              <p:cNvSpPr/>
              <p:nvPr/>
            </p:nvSpPr>
            <p:spPr>
              <a:xfrm>
                <a:off x="871675" y="1735596"/>
                <a:ext cx="2276930" cy="2703053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kern="0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初步接触</a:t>
                </a:r>
                <a:r>
                  <a:rPr lang="en-US" altLang="zh-CN" kern="0" dirty="0" err="1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Matlab</a:t>
                </a:r>
                <a:r>
                  <a:rPr lang="zh-CN" altLang="en-US" kern="0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工具，掌握了相关的误差消除方法。</a:t>
                </a:r>
                <a:endParaRPr lang="zh-CN" altLang="en-US" kern="0" dirty="0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956268" y="2060663"/>
                <a:ext cx="2107745" cy="396575"/>
              </a:xfrm>
              <a:prstGeom prst="rect">
                <a:avLst/>
              </a:prstGeom>
              <a:grp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endParaRPr lang="zh-CN" altLang="en-US" b="1" kern="0" dirty="0">
                  <a:solidFill>
                    <a:srgbClr val="2E703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31" name="矩形: 圆角 17"/>
            <p:cNvSpPr/>
            <p:nvPr/>
          </p:nvSpPr>
          <p:spPr>
            <a:xfrm>
              <a:off x="1181" y="2236"/>
              <a:ext cx="3969" cy="786"/>
            </a:xfrm>
            <a:prstGeom prst="roundRect">
              <a:avLst>
                <a:gd name="adj" fmla="val 50000"/>
              </a:avLst>
            </a:prstGeom>
            <a:solidFill>
              <a:srgbClr val="25557A"/>
            </a:solidFill>
            <a:ln w="1905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152400" dist="152400" dir="5400000" sx="81000" sy="81000" algn="t" rotWithShape="0">
                <a:schemeClr val="tx2">
                  <a:lumMod val="50000"/>
                  <a:lumOff val="50000"/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r>
                <a:rPr lang="zh-CN" altLang="en-US" sz="20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学到了什么</a:t>
              </a:r>
              <a:endParaRPr lang="zh-CN" altLang="en-US" sz="2000" b="1" kern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矩形: 圆角 18"/>
            <p:cNvSpPr/>
            <p:nvPr/>
          </p:nvSpPr>
          <p:spPr>
            <a:xfrm>
              <a:off x="7244" y="2236"/>
              <a:ext cx="3969" cy="786"/>
            </a:xfrm>
            <a:prstGeom prst="roundRect">
              <a:avLst>
                <a:gd name="adj" fmla="val 50000"/>
              </a:avLst>
            </a:prstGeom>
            <a:solidFill>
              <a:srgbClr val="25557A"/>
            </a:solidFill>
            <a:ln w="1905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152400" dist="152400" dir="5400000" sx="81000" sy="81000" algn="t" rotWithShape="0">
                <a:schemeClr val="tx2">
                  <a:lumMod val="50000"/>
                  <a:lumOff val="50000"/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r>
                <a:rPr lang="zh-CN" altLang="en-US" sz="2000" b="1" kern="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遇到的困难</a:t>
              </a:r>
              <a:endParaRPr lang="zh-CN" altLang="en-US" sz="2000" b="1" kern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3" name="矩形: 圆角 19"/>
            <p:cNvSpPr/>
            <p:nvPr/>
          </p:nvSpPr>
          <p:spPr>
            <a:xfrm>
              <a:off x="13119" y="2236"/>
              <a:ext cx="3969" cy="786"/>
            </a:xfrm>
            <a:prstGeom prst="roundRect">
              <a:avLst>
                <a:gd name="adj" fmla="val 50000"/>
              </a:avLst>
            </a:prstGeom>
            <a:solidFill>
              <a:srgbClr val="25557A"/>
            </a:solidFill>
            <a:ln w="1905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152400" dist="152400" dir="5400000" sx="81000" sy="81000" algn="t" rotWithShape="0">
                <a:schemeClr val="tx2">
                  <a:lumMod val="50000"/>
                  <a:lumOff val="50000"/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r>
                <a:rPr lang="zh-CN" altLang="en-US" sz="2000" b="1" kern="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总结</a:t>
              </a:r>
              <a:endParaRPr lang="zh-CN" altLang="en-US" sz="2000" b="1" kern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32" name="图片 31" descr="小招logo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16" y="8415"/>
              <a:ext cx="1701" cy="952"/>
            </a:xfrm>
            <a:prstGeom prst="rect">
              <a:avLst/>
            </a:prstGeom>
          </p:spPr>
        </p:pic>
        <p:pic>
          <p:nvPicPr>
            <p:cNvPr id="35" name="图片 34" descr="小招logo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05" y="8415"/>
              <a:ext cx="1701" cy="952"/>
            </a:xfrm>
            <a:prstGeom prst="rect">
              <a:avLst/>
            </a:prstGeom>
          </p:spPr>
        </p:pic>
        <p:pic>
          <p:nvPicPr>
            <p:cNvPr id="37" name="图片 36" descr="小招logo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94" y="8415"/>
              <a:ext cx="1701" cy="952"/>
            </a:xfrm>
            <a:prstGeom prst="rect">
              <a:avLst/>
            </a:prstGeom>
          </p:spPr>
        </p:pic>
        <p:pic>
          <p:nvPicPr>
            <p:cNvPr id="38" name="图片 37" descr="小招logo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05" y="8415"/>
              <a:ext cx="1701" cy="952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118" cy="9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项目总结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PROJECT SUMMARY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1" name="图片 50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21" name="组合 20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22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直角三角形 22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212578" y="1576147"/>
            <a:ext cx="5211683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 dirty="0">
                <a:latin typeface="黑体" panose="02010609060101010101" charset="-122"/>
                <a:ea typeface="黑体" panose="02010609060101010101" charset="-122"/>
              </a:rPr>
              <a:t>参考文献：</a:t>
            </a:r>
            <a:endParaRPr lang="en-US" altLang="zh-CN" sz="3200" b="1" dirty="0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/>
              <a:t>Sensor Data Collection with MATLAB Mobile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Estimate Phone Orientation Using Sensor Fusion</a:t>
            </a:r>
            <a:endParaRPr lang="en-US" altLang="zh-CN" dirty="0"/>
          </a:p>
          <a:p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1037"/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9106535" y="5777865"/>
            <a:ext cx="3085714" cy="1080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3808319" y="2793171"/>
            <a:ext cx="4575362" cy="1080000"/>
            <a:chOff x="4143" y="4637"/>
            <a:chExt cx="12424" cy="2988"/>
          </a:xfrm>
        </p:grpSpPr>
        <p:sp>
          <p:nvSpPr>
            <p:cNvPr id="27" name="文本框 1"/>
            <p:cNvSpPr txBox="1"/>
            <p:nvPr/>
          </p:nvSpPr>
          <p:spPr>
            <a:xfrm>
              <a:off x="4143" y="4637"/>
              <a:ext cx="12424" cy="2810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algn="ctr" rtl="0" eaLnBrk="1" fontAlgn="auto" latinLnBrk="0" hangingPunct="1"/>
              <a:r>
                <a:rPr lang="zh-CN" sz="6000" b="1" kern="100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谢谢观看</a:t>
              </a:r>
              <a:r>
                <a:rPr lang="zh-CN" altLang="en-US" sz="6000" b="1" kern="100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！</a:t>
              </a:r>
              <a:endParaRPr lang="zh-CN" sz="6000" b="1" kern="100" dirty="0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28" name="文本框 1"/>
            <p:cNvSpPr txBox="1"/>
            <p:nvPr/>
          </p:nvSpPr>
          <p:spPr>
            <a:xfrm>
              <a:off x="7736" y="7128"/>
              <a:ext cx="5913" cy="497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l" rtl="0" eaLnBrk="1" fontAlgn="auto" latinLnBrk="0" hangingPunct="1">
                <a:lnSpc>
                  <a:spcPts val="1800"/>
                </a:lnSpc>
              </a:pPr>
              <a:endPara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29" name="文本框 32"/>
            <p:cNvSpPr txBox="1"/>
            <p:nvPr/>
          </p:nvSpPr>
          <p:spPr>
            <a:xfrm>
              <a:off x="5781" y="6564"/>
              <a:ext cx="9129" cy="564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rtl="0" eaLnBrk="1" fontAlgn="auto" latinLnBrk="0" hangingPunct="1">
                <a:lnSpc>
                  <a:spcPts val="2000"/>
                </a:lnSpc>
              </a:pPr>
              <a:endParaRPr lang="en-US" altLang="zh-CN" sz="2000" b="1" kern="1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454900" y="-1959610"/>
            <a:ext cx="4737100" cy="5091430"/>
            <a:chOff x="11740" y="-3086"/>
            <a:chExt cx="7460" cy="8018"/>
          </a:xfrm>
        </p:grpSpPr>
        <p:grpSp>
          <p:nvGrpSpPr>
            <p:cNvPr id="3" name="组合 2"/>
            <p:cNvGrpSpPr/>
            <p:nvPr/>
          </p:nvGrpSpPr>
          <p:grpSpPr>
            <a:xfrm>
              <a:off x="11740" y="-3086"/>
              <a:ext cx="7460" cy="8018"/>
              <a:chOff x="8135783" y="-1669981"/>
              <a:chExt cx="4056217" cy="4359393"/>
            </a:xfrm>
          </p:grpSpPr>
          <p:sp>
            <p:nvSpPr>
              <p:cNvPr id="7" name="任意多边形: 形状 12"/>
              <p:cNvSpPr/>
              <p:nvPr/>
            </p:nvSpPr>
            <p:spPr>
              <a:xfrm rot="18900000">
                <a:off x="8135783" y="-1669981"/>
                <a:ext cx="3339963" cy="3339962"/>
              </a:xfrm>
              <a:custGeom>
                <a:avLst/>
                <a:gdLst>
                  <a:gd name="connsiteX0" fmla="*/ 0 w 3339963"/>
                  <a:gd name="connsiteY0" fmla="*/ 0 h 3339962"/>
                  <a:gd name="connsiteX1" fmla="*/ 3339963 w 3339963"/>
                  <a:gd name="connsiteY1" fmla="*/ 3339962 h 3339962"/>
                  <a:gd name="connsiteX2" fmla="*/ 1099563 w 3339963"/>
                  <a:gd name="connsiteY2" fmla="*/ 3339962 h 333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9963" h="3339962">
                    <a:moveTo>
                      <a:pt x="0" y="0"/>
                    </a:moveTo>
                    <a:lnTo>
                      <a:pt x="3339963" y="3339962"/>
                    </a:lnTo>
                    <a:lnTo>
                      <a:pt x="1099563" y="3339962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直角三角形 7"/>
              <p:cNvSpPr/>
              <p:nvPr/>
            </p:nvSpPr>
            <p:spPr>
              <a:xfrm rot="10800000">
                <a:off x="9502588" y="0"/>
                <a:ext cx="2689412" cy="2689412"/>
              </a:xfrm>
              <a:prstGeom prst="rtTriangle">
                <a:avLst/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2" name="图片 11" descr="校徽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 rot="10800000">
            <a:off x="-28575" y="3766688"/>
            <a:ext cx="4737100" cy="5091168"/>
            <a:chOff x="8135783" y="-1669981"/>
            <a:chExt cx="4056217" cy="4359393"/>
          </a:xfrm>
        </p:grpSpPr>
        <p:sp>
          <p:nvSpPr>
            <p:cNvPr id="14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直角三角形 15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UNIT_PLACING_PICTURE_USER_VIEWPORT" val="{&quot;height&quot;:10800,&quot;width&quot;:8100}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COMMONDATA" val="eyJoZGlkIjoiOWFjYWIyZjUwMTdmODQ5MGQwMGU3YWZkZjQxMjAxY2M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1003</Words>
  <Application>WPS 演示</Application>
  <PresentationFormat>宽屏</PresentationFormat>
  <Paragraphs>182</Paragraphs>
  <Slides>16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微软雅黑</vt:lpstr>
      <vt:lpstr>Times New Roman</vt:lpstr>
      <vt:lpstr>思源黑体 CN Regular</vt:lpstr>
      <vt:lpstr>黑体</vt:lpstr>
      <vt:lpstr>思源黑体 CN Bold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WPS_1724393614</cp:lastModifiedBy>
  <cp:revision>163</cp:revision>
  <dcterms:created xsi:type="dcterms:W3CDTF">2019-06-19T02:08:00Z</dcterms:created>
  <dcterms:modified xsi:type="dcterms:W3CDTF">2025-11-04T00:04:40Z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0FA7266D02E942AAAA912ABFFAAB6B71</vt:lpwstr>
  </property>
</Properties>
</file>