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410" r:id="rId2"/>
    <p:sldId id="411" r:id="rId3"/>
    <p:sldId id="286" r:id="rId4"/>
    <p:sldId id="287" r:id="rId5"/>
    <p:sldId id="257" r:id="rId6"/>
    <p:sldId id="267" r:id="rId7"/>
    <p:sldId id="256" r:id="rId8"/>
    <p:sldId id="266" r:id="rId9"/>
    <p:sldId id="258" r:id="rId10"/>
    <p:sldId id="263" r:id="rId11"/>
    <p:sldId id="264" r:id="rId12"/>
    <p:sldId id="260" r:id="rId13"/>
    <p:sldId id="280" r:id="rId14"/>
    <p:sldId id="265" r:id="rId15"/>
    <p:sldId id="268" r:id="rId16"/>
    <p:sldId id="269" r:id="rId17"/>
    <p:sldId id="270" r:id="rId18"/>
    <p:sldId id="281" r:id="rId19"/>
    <p:sldId id="271" r:id="rId20"/>
    <p:sldId id="272" r:id="rId21"/>
    <p:sldId id="274" r:id="rId22"/>
    <p:sldId id="275" r:id="rId23"/>
    <p:sldId id="276" r:id="rId24"/>
    <p:sldId id="282" r:id="rId25"/>
    <p:sldId id="285" r:id="rId26"/>
    <p:sldId id="284" r:id="rId27"/>
    <p:sldId id="288" r:id="rId28"/>
  </p:sldIdLst>
  <p:sldSz cx="9144000" cy="6858000" type="screen4x3"/>
  <p:notesSz cx="10018713" cy="688816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A4A3A4"/>
          </p15:clr>
        </p15:guide>
        <p15:guide id="2" pos="3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42006E"/>
    <a:srgbClr val="00FF00"/>
    <a:srgbClr val="9900FF"/>
    <a:srgbClr val="9D902F"/>
    <a:srgbClr val="CC3399"/>
    <a:srgbClr val="CC0099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3" autoAdjust="0"/>
    <p:restoredTop sz="94700" autoAdjust="0"/>
  </p:normalViewPr>
  <p:slideViewPr>
    <p:cSldViewPr>
      <p:cViewPr varScale="1">
        <p:scale>
          <a:sx n="85" d="100"/>
          <a:sy n="85" d="100"/>
        </p:scale>
        <p:origin x="99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2562" y="-96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0.emf"/><Relationship Id="rId7" Type="http://schemas.openxmlformats.org/officeDocument/2006/relationships/image" Target="../media/image14.wmf"/><Relationship Id="rId2" Type="http://schemas.openxmlformats.org/officeDocument/2006/relationships/image" Target="../media/image9.e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emf"/><Relationship Id="rId9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png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38.wmf"/><Relationship Id="rId1" Type="http://schemas.openxmlformats.org/officeDocument/2006/relationships/image" Target="../media/image5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3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wmf"/><Relationship Id="rId7" Type="http://schemas.openxmlformats.org/officeDocument/2006/relationships/image" Target="../media/image71.png"/><Relationship Id="rId12" Type="http://schemas.openxmlformats.org/officeDocument/2006/relationships/image" Target="../media/image76.e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6" Type="http://schemas.openxmlformats.org/officeDocument/2006/relationships/image" Target="../media/image70.wmf"/><Relationship Id="rId11" Type="http://schemas.openxmlformats.org/officeDocument/2006/relationships/image" Target="../media/image75.emf"/><Relationship Id="rId5" Type="http://schemas.openxmlformats.org/officeDocument/2006/relationships/image" Target="../media/image69.wmf"/><Relationship Id="rId10" Type="http://schemas.openxmlformats.org/officeDocument/2006/relationships/image" Target="../media/image74.wmf"/><Relationship Id="rId4" Type="http://schemas.openxmlformats.org/officeDocument/2006/relationships/image" Target="../media/image68.wmf"/><Relationship Id="rId9" Type="http://schemas.openxmlformats.org/officeDocument/2006/relationships/image" Target="../media/image73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image" Target="../media/image89.wmf"/><Relationship Id="rId18" Type="http://schemas.openxmlformats.org/officeDocument/2006/relationships/image" Target="../media/image94.wmf"/><Relationship Id="rId3" Type="http://schemas.openxmlformats.org/officeDocument/2006/relationships/image" Target="../media/image79.wmf"/><Relationship Id="rId21" Type="http://schemas.openxmlformats.org/officeDocument/2006/relationships/image" Target="../media/image97.wmf"/><Relationship Id="rId7" Type="http://schemas.openxmlformats.org/officeDocument/2006/relationships/image" Target="../media/image83.wmf"/><Relationship Id="rId12" Type="http://schemas.openxmlformats.org/officeDocument/2006/relationships/image" Target="../media/image88.wmf"/><Relationship Id="rId17" Type="http://schemas.openxmlformats.org/officeDocument/2006/relationships/image" Target="../media/image93.wmf"/><Relationship Id="rId2" Type="http://schemas.openxmlformats.org/officeDocument/2006/relationships/image" Target="../media/image78.wmf"/><Relationship Id="rId16" Type="http://schemas.openxmlformats.org/officeDocument/2006/relationships/image" Target="../media/image92.wmf"/><Relationship Id="rId20" Type="http://schemas.openxmlformats.org/officeDocument/2006/relationships/image" Target="../media/image96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11" Type="http://schemas.openxmlformats.org/officeDocument/2006/relationships/image" Target="../media/image87.wmf"/><Relationship Id="rId5" Type="http://schemas.openxmlformats.org/officeDocument/2006/relationships/image" Target="../media/image81.wmf"/><Relationship Id="rId15" Type="http://schemas.openxmlformats.org/officeDocument/2006/relationships/image" Target="../media/image91.wmf"/><Relationship Id="rId10" Type="http://schemas.openxmlformats.org/officeDocument/2006/relationships/image" Target="../media/image86.wmf"/><Relationship Id="rId19" Type="http://schemas.openxmlformats.org/officeDocument/2006/relationships/image" Target="../media/image95.wmf"/><Relationship Id="rId4" Type="http://schemas.openxmlformats.org/officeDocument/2006/relationships/image" Target="../media/image80.wmf"/><Relationship Id="rId9" Type="http://schemas.openxmlformats.org/officeDocument/2006/relationships/image" Target="../media/image85.emf"/><Relationship Id="rId14" Type="http://schemas.openxmlformats.org/officeDocument/2006/relationships/image" Target="../media/image90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99.emf"/><Relationship Id="rId1" Type="http://schemas.openxmlformats.org/officeDocument/2006/relationships/image" Target="../media/image98.emf"/><Relationship Id="rId4" Type="http://schemas.openxmlformats.org/officeDocument/2006/relationships/image" Target="../media/image101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emf"/><Relationship Id="rId2" Type="http://schemas.openxmlformats.org/officeDocument/2006/relationships/image" Target="../media/image103.emf"/><Relationship Id="rId1" Type="http://schemas.openxmlformats.org/officeDocument/2006/relationships/image" Target="../media/image102.emf"/><Relationship Id="rId5" Type="http://schemas.openxmlformats.org/officeDocument/2006/relationships/image" Target="../media/image106.emf"/><Relationship Id="rId4" Type="http://schemas.openxmlformats.org/officeDocument/2006/relationships/image" Target="../media/image105.e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emf"/><Relationship Id="rId3" Type="http://schemas.openxmlformats.org/officeDocument/2006/relationships/image" Target="../media/image111.wmf"/><Relationship Id="rId7" Type="http://schemas.openxmlformats.org/officeDocument/2006/relationships/image" Target="../media/image115.e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6" Type="http://schemas.openxmlformats.org/officeDocument/2006/relationships/image" Target="../media/image114.e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Relationship Id="rId9" Type="http://schemas.openxmlformats.org/officeDocument/2006/relationships/image" Target="../media/image117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3" Type="http://schemas.openxmlformats.org/officeDocument/2006/relationships/image" Target="../media/image120.wmf"/><Relationship Id="rId7" Type="http://schemas.openxmlformats.org/officeDocument/2006/relationships/image" Target="../media/image124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10" Type="http://schemas.openxmlformats.org/officeDocument/2006/relationships/image" Target="../media/image127.wmf"/><Relationship Id="rId4" Type="http://schemas.openxmlformats.org/officeDocument/2006/relationships/image" Target="../media/image121.wmf"/><Relationship Id="rId9" Type="http://schemas.openxmlformats.org/officeDocument/2006/relationships/image" Target="../media/image126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wmf"/><Relationship Id="rId7" Type="http://schemas.openxmlformats.org/officeDocument/2006/relationships/image" Target="../media/image134.png"/><Relationship Id="rId2" Type="http://schemas.openxmlformats.org/officeDocument/2006/relationships/image" Target="../media/image129.wmf"/><Relationship Id="rId1" Type="http://schemas.openxmlformats.org/officeDocument/2006/relationships/image" Target="../media/image128.wmf"/><Relationship Id="rId6" Type="http://schemas.openxmlformats.org/officeDocument/2006/relationships/image" Target="../media/image133.png"/><Relationship Id="rId5" Type="http://schemas.openxmlformats.org/officeDocument/2006/relationships/image" Target="../media/image132.wmf"/><Relationship Id="rId4" Type="http://schemas.openxmlformats.org/officeDocument/2006/relationships/image" Target="../media/image13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813" cy="346075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75313" y="0"/>
            <a:ext cx="4341812" cy="346075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pPr>
              <a:defRPr/>
            </a:pPr>
            <a:fld id="{2E2F4488-A258-49AB-A6E9-F69F2FEDBB90}" type="datetimeFigureOut">
              <a:rPr lang="zh-CN" altLang="en-US"/>
              <a:pPr>
                <a:defRPr/>
              </a:pPr>
              <a:t>2025/11/24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42088"/>
            <a:ext cx="4341813" cy="346075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75313" y="6542088"/>
            <a:ext cx="4341812" cy="346075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pPr>
              <a:defRPr/>
            </a:pPr>
            <a:fld id="{D1EAAAB9-ED8F-4C80-9D9E-8F342132993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901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813" cy="344488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75313" y="0"/>
            <a:ext cx="4341812" cy="344488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9A4AD3EC-9558-427A-837E-37AC56C4EB89}" type="datetimeFigureOut">
              <a:rPr lang="zh-CN" altLang="en-US"/>
              <a:pPr>
                <a:defRPr/>
              </a:pPr>
              <a:t>2025/11/24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86125" y="515938"/>
            <a:ext cx="3446463" cy="2584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01713" y="3271838"/>
            <a:ext cx="8015287" cy="3100387"/>
          </a:xfrm>
          <a:prstGeom prst="rect">
            <a:avLst/>
          </a:prstGeom>
        </p:spPr>
        <p:txBody>
          <a:bodyPr vert="horz" lIns="96606" tIns="48303" rIns="96606" bIns="48303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42088"/>
            <a:ext cx="4341813" cy="344487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75313" y="6542088"/>
            <a:ext cx="4341812" cy="344487"/>
          </a:xfrm>
          <a:prstGeom prst="rect">
            <a:avLst/>
          </a:prstGeom>
        </p:spPr>
        <p:txBody>
          <a:bodyPr vert="horz" wrap="square" lIns="96606" tIns="48303" rIns="96606" bIns="4830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B23354D5-6626-443D-B9C6-D47FE654AE5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1487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ea typeface="宋体" panose="02010600030101010101" pitchFamily="2" charset="-122"/>
            </a:endParaRPr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85764B9-D21E-4EF6-B704-017BCC03FCCD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231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84225" indent="-3016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06500" indent="-241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89100" indent="-241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3288" indent="-241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4779334-CB25-4C24-8661-599CBF71B286}" type="slidenum">
              <a:rPr lang="zh-CN" altLang="en-US" smtClean="0">
                <a:latin typeface="Calibri" panose="020F0502020204030204" pitchFamily="34" charset="0"/>
              </a:rPr>
              <a:pPr/>
              <a:t>5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188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84225" indent="-3016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06500" indent="-241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89100" indent="-241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3288" indent="-241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B9BAB5-B90D-4CCE-9C3D-2382EA0EC01E}" type="slidenum">
              <a:rPr lang="zh-CN" altLang="en-US" smtClean="0">
                <a:latin typeface="Calibri" panose="020F0502020204030204" pitchFamily="34" charset="0"/>
              </a:rPr>
              <a:pPr/>
              <a:t>7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915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84225" indent="-3016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06500" indent="-241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89100" indent="-241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3288" indent="-241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029047D-D974-4D83-B11E-4ACA4167DA27}" type="slidenum">
              <a:rPr lang="zh-CN" altLang="en-US" smtClean="0">
                <a:latin typeface="Calibri" panose="020F0502020204030204" pitchFamily="34" charset="0"/>
              </a:rPr>
              <a:pPr/>
              <a:t>10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741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84225" indent="-3016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06500" indent="-241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89100" indent="-241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3288" indent="-241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86D51E7-341E-46A8-B427-EA1B26DA00DB}" type="slidenum">
              <a:rPr lang="en-US" altLang="zh-CN" smtClean="0">
                <a:latin typeface="Calibri" panose="020F0502020204030204" pitchFamily="34" charset="0"/>
              </a:rPr>
              <a:pPr/>
              <a:t>24</a:t>
            </a:fld>
            <a:endParaRPr lang="en-US" altLang="zh-CN">
              <a:latin typeface="Calibri" panose="020F0502020204030204" pitchFamily="34" charset="0"/>
            </a:endParaRPr>
          </a:p>
        </p:txBody>
      </p:sp>
      <p:sp>
        <p:nvSpPr>
          <p:cNvPr id="2765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2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  <a:p>
            <a:endParaRPr lang="en-US" altLang="zh-CN"/>
          </a:p>
        </p:txBody>
      </p:sp>
      <p:sp>
        <p:nvSpPr>
          <p:cNvPr id="27653" name="灯片编号占位符 3"/>
          <p:cNvSpPr txBox="1">
            <a:spLocks noGrp="1"/>
          </p:cNvSpPr>
          <p:nvPr/>
        </p:nvSpPr>
        <p:spPr bwMode="auto">
          <a:xfrm>
            <a:off x="5675313" y="6542088"/>
            <a:ext cx="4341812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06" tIns="48303" rIns="96606" bIns="48303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721E66F3-93A3-4DF5-9B06-CBD779013646}" type="slidenum">
              <a:rPr lang="en-US" altLang="zh-CN" sz="1300">
                <a:latin typeface="Calibri" panose="020F0502020204030204" pitchFamily="34" charset="0"/>
              </a:rPr>
              <a:pPr algn="r"/>
              <a:t>24</a:t>
            </a:fld>
            <a:endParaRPr lang="en-US" altLang="zh-CN" sz="13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932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BA147F-460F-4C10-997D-948704BF9575}" type="datetimeFigureOut">
              <a:rPr lang="zh-CN" altLang="en-US"/>
              <a:pPr>
                <a:defRPr/>
              </a:pPr>
              <a:t>2025/11/24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3AA1A-C310-4474-8B28-4A01BA32DFB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745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92AC2-C69C-461A-8239-2BB4CB414B2F}" type="datetimeFigureOut">
              <a:rPr lang="zh-CN" altLang="en-US"/>
              <a:pPr>
                <a:defRPr/>
              </a:pPr>
              <a:t>2025/11/24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362772-C9D2-446D-80C2-7B1DF77101D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193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F0190-07E1-470A-90AF-AB59FFBCA1EA}" type="datetimeFigureOut">
              <a:rPr lang="zh-CN" altLang="en-US"/>
              <a:pPr>
                <a:defRPr/>
              </a:pPr>
              <a:t>2025/11/24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D9386-6969-4F5E-AAC2-2CF69A02840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884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A95E6-8A43-4EBF-ADC5-DFE027FD4B8F}" type="datetimeFigureOut">
              <a:rPr lang="zh-CN" altLang="en-US"/>
              <a:pPr>
                <a:defRPr/>
              </a:pPr>
              <a:t>2025/11/24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841BE1-6416-4863-B06E-81A3A497D25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038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F62A11-DFBB-4743-B3ED-4D6A9BA54BEA}" type="datetimeFigureOut">
              <a:rPr lang="zh-CN" altLang="en-US"/>
              <a:pPr>
                <a:defRPr/>
              </a:pPr>
              <a:t>2025/11/24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52DCA5-2F22-40BB-ACDC-A33903D2647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57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8B491-0956-4D0B-BE6E-7A14F1B1E626}" type="datetimeFigureOut">
              <a:rPr lang="zh-CN" altLang="en-US"/>
              <a:pPr>
                <a:defRPr/>
              </a:pPr>
              <a:t>2025/11/24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525EB-C9EF-4A9A-A490-3260A3D2BA0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869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B7DA9E-40A9-4E3B-9D62-6DF923899996}" type="datetimeFigureOut">
              <a:rPr lang="zh-CN" altLang="en-US"/>
              <a:pPr>
                <a:defRPr/>
              </a:pPr>
              <a:t>2025/11/24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39280-EA8C-484F-8C06-84F4E9C68A6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67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2FAEAA-C3F3-4CEE-882B-92022418D2DA}" type="datetimeFigureOut">
              <a:rPr lang="zh-CN" altLang="en-US"/>
              <a:pPr>
                <a:defRPr/>
              </a:pPr>
              <a:t>2025/11/24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284E0E-C381-4C37-A49C-265ABF05509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002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84D0B-6D71-44D0-9359-12CE04E86CD2}" type="datetimeFigureOut">
              <a:rPr lang="zh-CN" altLang="en-US"/>
              <a:pPr>
                <a:defRPr/>
              </a:pPr>
              <a:t>2025/11/24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05A5F5-3A8F-481D-BAAF-CB01C75B34E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736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D2EE8F-DB79-4109-9535-BF99919F658F}" type="datetimeFigureOut">
              <a:rPr lang="zh-CN" altLang="en-US"/>
              <a:pPr>
                <a:defRPr/>
              </a:pPr>
              <a:t>2025/11/24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BF87B1-B6EE-47E8-AB04-F56180FD69D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82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22681-8EB9-4DEA-96A3-86F3F4B6EBB6}" type="datetimeFigureOut">
              <a:rPr lang="zh-CN" altLang="en-US"/>
              <a:pPr>
                <a:defRPr/>
              </a:pPr>
              <a:t>2025/11/24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DD8BD4-51C6-43CF-B12A-1EF82859101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986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294D23A-6D1B-4CFD-9951-67F0FFD6A770}" type="datetimeFigureOut">
              <a:rPr lang="zh-CN" altLang="en-US"/>
              <a:pPr>
                <a:defRPr/>
              </a:pPr>
              <a:t>2025/11/24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E66E0C4-CF29-4A8C-BE8B-4018F90DCF4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4.e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.png"/><Relationship Id="rId12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emf"/><Relationship Id="rId11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5" Type="http://schemas.openxmlformats.org/officeDocument/2006/relationships/image" Target="../media/image5.emf"/><Relationship Id="rId10" Type="http://schemas.openxmlformats.org/officeDocument/2006/relationships/oleObject" Target="../embeddings/oleObject3.bin"/><Relationship Id="rId4" Type="http://schemas.openxmlformats.org/officeDocument/2006/relationships/image" Target="../media/image6.png"/><Relationship Id="rId9" Type="http://schemas.openxmlformats.org/officeDocument/2006/relationships/image" Target="../media/image2.emf"/><Relationship Id="rId14" Type="http://schemas.openxmlformats.org/officeDocument/2006/relationships/oleObject" Target="../embeddings/oleObject5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2.wmf"/><Relationship Id="rId18" Type="http://schemas.openxmlformats.org/officeDocument/2006/relationships/oleObject" Target="../embeddings/oleObject13.bin"/><Relationship Id="rId3" Type="http://schemas.openxmlformats.org/officeDocument/2006/relationships/image" Target="../media/image17.png"/><Relationship Id="rId21" Type="http://schemas.openxmlformats.org/officeDocument/2006/relationships/oleObject" Target="../embeddings/oleObject14.bin"/><Relationship Id="rId7" Type="http://schemas.openxmlformats.org/officeDocument/2006/relationships/image" Target="../media/image9.emf"/><Relationship Id="rId12" Type="http://schemas.openxmlformats.org/officeDocument/2006/relationships/oleObject" Target="../embeddings/oleObject10.bin"/><Relationship Id="rId17" Type="http://schemas.openxmlformats.org/officeDocument/2006/relationships/image" Target="../media/image1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.bin"/><Relationship Id="rId20" Type="http://schemas.openxmlformats.org/officeDocument/2006/relationships/image" Target="../media/image18.png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1.emf"/><Relationship Id="rId5" Type="http://schemas.openxmlformats.org/officeDocument/2006/relationships/image" Target="../media/image8.wmf"/><Relationship Id="rId15" Type="http://schemas.openxmlformats.org/officeDocument/2006/relationships/image" Target="../media/image13.wmf"/><Relationship Id="rId23" Type="http://schemas.openxmlformats.org/officeDocument/2006/relationships/image" Target="../media/image19.png"/><Relationship Id="rId10" Type="http://schemas.openxmlformats.org/officeDocument/2006/relationships/oleObject" Target="../embeddings/oleObject9.bin"/><Relationship Id="rId19" Type="http://schemas.openxmlformats.org/officeDocument/2006/relationships/image" Target="../media/image15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0.emf"/><Relationship Id="rId14" Type="http://schemas.openxmlformats.org/officeDocument/2006/relationships/oleObject" Target="../embeddings/oleObject11.bin"/><Relationship Id="rId22" Type="http://schemas.openxmlformats.org/officeDocument/2006/relationships/image" Target="../media/image16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oleObject" Target="../embeddings/oleObject15.bin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2.png"/><Relationship Id="rId4" Type="http://schemas.openxmlformats.org/officeDocument/2006/relationships/image" Target="../media/image2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4.png"/><Relationship Id="rId11" Type="http://schemas.openxmlformats.org/officeDocument/2006/relationships/image" Target="../media/image26.wmf"/><Relationship Id="rId5" Type="http://schemas.openxmlformats.org/officeDocument/2006/relationships/oleObject" Target="../embeddings/oleObject17.bin"/><Relationship Id="rId10" Type="http://schemas.openxmlformats.org/officeDocument/2006/relationships/oleObject" Target="../embeddings/oleObject19.bin"/><Relationship Id="rId4" Type="http://schemas.openxmlformats.org/officeDocument/2006/relationships/image" Target="../media/image28.png"/><Relationship Id="rId9" Type="http://schemas.openxmlformats.org/officeDocument/2006/relationships/image" Target="../media/image2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7" Type="http://schemas.openxmlformats.org/officeDocument/2006/relationships/image" Target="../media/image3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gif"/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e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43.jpeg"/><Relationship Id="rId4" Type="http://schemas.openxmlformats.org/officeDocument/2006/relationships/image" Target="../media/image38.wmf"/><Relationship Id="rId9" Type="http://schemas.openxmlformats.org/officeDocument/2006/relationships/image" Target="../media/image42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13" Type="http://schemas.openxmlformats.org/officeDocument/2006/relationships/oleObject" Target="../embeddings/oleObject26.bin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4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9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46.wmf"/><Relationship Id="rId4" Type="http://schemas.openxmlformats.org/officeDocument/2006/relationships/image" Target="../media/image50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48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54.gif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53.wmf"/><Relationship Id="rId4" Type="http://schemas.openxmlformats.org/officeDocument/2006/relationships/image" Target="../media/image51.jpeg"/><Relationship Id="rId9" Type="http://schemas.openxmlformats.org/officeDocument/2006/relationships/oleObject" Target="../embeddings/oleObject30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57.wmf"/><Relationship Id="rId3" Type="http://schemas.openxmlformats.org/officeDocument/2006/relationships/image" Target="../media/image35.jpeg"/><Relationship Id="rId7" Type="http://schemas.openxmlformats.org/officeDocument/2006/relationships/image" Target="../media/image53.w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59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6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56.wmf"/><Relationship Id="rId5" Type="http://schemas.openxmlformats.org/officeDocument/2006/relationships/image" Target="../media/image34.jpeg"/><Relationship Id="rId15" Type="http://schemas.openxmlformats.org/officeDocument/2006/relationships/image" Target="../media/image58.wmf"/><Relationship Id="rId10" Type="http://schemas.openxmlformats.org/officeDocument/2006/relationships/oleObject" Target="../embeddings/oleObject33.bin"/><Relationship Id="rId4" Type="http://schemas.openxmlformats.org/officeDocument/2006/relationships/image" Target="../media/image33.jpeg"/><Relationship Id="rId9" Type="http://schemas.openxmlformats.org/officeDocument/2006/relationships/image" Target="../media/image55.wmf"/><Relationship Id="rId14" Type="http://schemas.openxmlformats.org/officeDocument/2006/relationships/oleObject" Target="../embeddings/oleObject35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6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4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oleObject" Target="../embeddings/oleObject47.bin"/><Relationship Id="rId18" Type="http://schemas.openxmlformats.org/officeDocument/2006/relationships/image" Target="../media/image72.png"/><Relationship Id="rId26" Type="http://schemas.openxmlformats.org/officeDocument/2006/relationships/image" Target="../media/image76.emf"/><Relationship Id="rId3" Type="http://schemas.openxmlformats.org/officeDocument/2006/relationships/oleObject" Target="../embeddings/oleObject42.bin"/><Relationship Id="rId21" Type="http://schemas.openxmlformats.org/officeDocument/2006/relationships/oleObject" Target="../embeddings/oleObject51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69.wmf"/><Relationship Id="rId17" Type="http://schemas.openxmlformats.org/officeDocument/2006/relationships/oleObject" Target="../embeddings/oleObject49.bin"/><Relationship Id="rId25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1.png"/><Relationship Id="rId20" Type="http://schemas.openxmlformats.org/officeDocument/2006/relationships/image" Target="../media/image73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46.bin"/><Relationship Id="rId24" Type="http://schemas.openxmlformats.org/officeDocument/2006/relationships/image" Target="../media/image75.emf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23" Type="http://schemas.openxmlformats.org/officeDocument/2006/relationships/oleObject" Target="../embeddings/oleObject52.bin"/><Relationship Id="rId10" Type="http://schemas.openxmlformats.org/officeDocument/2006/relationships/image" Target="../media/image68.wmf"/><Relationship Id="rId19" Type="http://schemas.openxmlformats.org/officeDocument/2006/relationships/oleObject" Target="../embeddings/oleObject50.bin"/><Relationship Id="rId4" Type="http://schemas.openxmlformats.org/officeDocument/2006/relationships/image" Target="../media/image65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70.wmf"/><Relationship Id="rId22" Type="http://schemas.openxmlformats.org/officeDocument/2006/relationships/image" Target="../media/image74.wmf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9.bin"/><Relationship Id="rId18" Type="http://schemas.openxmlformats.org/officeDocument/2006/relationships/image" Target="../media/image84.wmf"/><Relationship Id="rId26" Type="http://schemas.openxmlformats.org/officeDocument/2006/relationships/image" Target="../media/image88.wmf"/><Relationship Id="rId39" Type="http://schemas.openxmlformats.org/officeDocument/2006/relationships/oleObject" Target="../embeddings/oleObject72.bin"/><Relationship Id="rId21" Type="http://schemas.openxmlformats.org/officeDocument/2006/relationships/oleObject" Target="../embeddings/oleObject63.bin"/><Relationship Id="rId34" Type="http://schemas.openxmlformats.org/officeDocument/2006/relationships/image" Target="../media/image92.wmf"/><Relationship Id="rId42" Type="http://schemas.openxmlformats.org/officeDocument/2006/relationships/image" Target="../media/image96.wmf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3.wmf"/><Relationship Id="rId20" Type="http://schemas.openxmlformats.org/officeDocument/2006/relationships/image" Target="../media/image85.emf"/><Relationship Id="rId29" Type="http://schemas.openxmlformats.org/officeDocument/2006/relationships/oleObject" Target="../embeddings/oleObject67.bin"/><Relationship Id="rId41" Type="http://schemas.openxmlformats.org/officeDocument/2006/relationships/oleObject" Target="../embeddings/oleObject73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58.bin"/><Relationship Id="rId24" Type="http://schemas.openxmlformats.org/officeDocument/2006/relationships/image" Target="../media/image87.wmf"/><Relationship Id="rId32" Type="http://schemas.openxmlformats.org/officeDocument/2006/relationships/image" Target="../media/image91.wmf"/><Relationship Id="rId37" Type="http://schemas.openxmlformats.org/officeDocument/2006/relationships/oleObject" Target="../embeddings/oleObject71.bin"/><Relationship Id="rId40" Type="http://schemas.openxmlformats.org/officeDocument/2006/relationships/image" Target="../media/image95.wmf"/><Relationship Id="rId5" Type="http://schemas.openxmlformats.org/officeDocument/2006/relationships/oleObject" Target="../embeddings/oleObject55.bin"/><Relationship Id="rId15" Type="http://schemas.openxmlformats.org/officeDocument/2006/relationships/oleObject" Target="../embeddings/oleObject60.bin"/><Relationship Id="rId23" Type="http://schemas.openxmlformats.org/officeDocument/2006/relationships/oleObject" Target="../embeddings/oleObject64.bin"/><Relationship Id="rId28" Type="http://schemas.openxmlformats.org/officeDocument/2006/relationships/image" Target="../media/image89.wmf"/><Relationship Id="rId36" Type="http://schemas.openxmlformats.org/officeDocument/2006/relationships/image" Target="../media/image93.wmf"/><Relationship Id="rId10" Type="http://schemas.openxmlformats.org/officeDocument/2006/relationships/image" Target="../media/image80.wmf"/><Relationship Id="rId19" Type="http://schemas.openxmlformats.org/officeDocument/2006/relationships/oleObject" Target="../embeddings/oleObject62.bin"/><Relationship Id="rId31" Type="http://schemas.openxmlformats.org/officeDocument/2006/relationships/oleObject" Target="../embeddings/oleObject68.bin"/><Relationship Id="rId44" Type="http://schemas.openxmlformats.org/officeDocument/2006/relationships/image" Target="../media/image97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82.wmf"/><Relationship Id="rId22" Type="http://schemas.openxmlformats.org/officeDocument/2006/relationships/image" Target="../media/image86.wmf"/><Relationship Id="rId27" Type="http://schemas.openxmlformats.org/officeDocument/2006/relationships/oleObject" Target="../embeddings/oleObject66.bin"/><Relationship Id="rId30" Type="http://schemas.openxmlformats.org/officeDocument/2006/relationships/image" Target="../media/image90.wmf"/><Relationship Id="rId35" Type="http://schemas.openxmlformats.org/officeDocument/2006/relationships/oleObject" Target="../embeddings/oleObject70.bin"/><Relationship Id="rId43" Type="http://schemas.openxmlformats.org/officeDocument/2006/relationships/oleObject" Target="../embeddings/oleObject74.bin"/><Relationship Id="rId8" Type="http://schemas.openxmlformats.org/officeDocument/2006/relationships/image" Target="../media/image79.wmf"/><Relationship Id="rId3" Type="http://schemas.openxmlformats.org/officeDocument/2006/relationships/oleObject" Target="../embeddings/oleObject54.bin"/><Relationship Id="rId12" Type="http://schemas.openxmlformats.org/officeDocument/2006/relationships/image" Target="../media/image81.wmf"/><Relationship Id="rId17" Type="http://schemas.openxmlformats.org/officeDocument/2006/relationships/oleObject" Target="../embeddings/oleObject61.bin"/><Relationship Id="rId25" Type="http://schemas.openxmlformats.org/officeDocument/2006/relationships/oleObject" Target="../embeddings/oleObject65.bin"/><Relationship Id="rId33" Type="http://schemas.openxmlformats.org/officeDocument/2006/relationships/oleObject" Target="../embeddings/oleObject69.bin"/><Relationship Id="rId38" Type="http://schemas.openxmlformats.org/officeDocument/2006/relationships/image" Target="../media/image94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9.emf"/><Relationship Id="rId5" Type="http://schemas.openxmlformats.org/officeDocument/2006/relationships/oleObject" Target="../embeddings/oleObject76.bin"/><Relationship Id="rId10" Type="http://schemas.openxmlformats.org/officeDocument/2006/relationships/image" Target="../media/image101.emf"/><Relationship Id="rId4" Type="http://schemas.openxmlformats.org/officeDocument/2006/relationships/image" Target="../media/image98.emf"/><Relationship Id="rId9" Type="http://schemas.openxmlformats.org/officeDocument/2006/relationships/oleObject" Target="../embeddings/oleObject7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emf"/><Relationship Id="rId13" Type="http://schemas.openxmlformats.org/officeDocument/2006/relationships/image" Target="../media/image106.emf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12" Type="http://schemas.openxmlformats.org/officeDocument/2006/relationships/oleObject" Target="../embeddings/oleObject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03.emf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80.bin"/><Relationship Id="rId10" Type="http://schemas.openxmlformats.org/officeDocument/2006/relationships/image" Target="../media/image105.emf"/><Relationship Id="rId4" Type="http://schemas.openxmlformats.org/officeDocument/2006/relationships/image" Target="../media/image102.emf"/><Relationship Id="rId9" Type="http://schemas.openxmlformats.org/officeDocument/2006/relationships/oleObject" Target="../embeddings/oleObject82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oleObject" Target="../embeddings/oleObject90.bin"/><Relationship Id="rId18" Type="http://schemas.openxmlformats.org/officeDocument/2006/relationships/image" Target="../media/image116.emf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113.wmf"/><Relationship Id="rId17" Type="http://schemas.openxmlformats.org/officeDocument/2006/relationships/oleObject" Target="../embeddings/oleObject9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5.emf"/><Relationship Id="rId20" Type="http://schemas.openxmlformats.org/officeDocument/2006/relationships/image" Target="../media/image117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10.w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5" Type="http://schemas.openxmlformats.org/officeDocument/2006/relationships/oleObject" Target="../embeddings/oleObject91.bin"/><Relationship Id="rId10" Type="http://schemas.openxmlformats.org/officeDocument/2006/relationships/image" Target="../media/image112.wmf"/><Relationship Id="rId19" Type="http://schemas.openxmlformats.org/officeDocument/2006/relationships/oleObject" Target="../embeddings/oleObject93.bin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114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oleObject" Target="../embeddings/oleObject99.bin"/><Relationship Id="rId18" Type="http://schemas.openxmlformats.org/officeDocument/2006/relationships/image" Target="../media/image124.wmf"/><Relationship Id="rId3" Type="http://schemas.openxmlformats.org/officeDocument/2006/relationships/oleObject" Target="../embeddings/oleObject94.bin"/><Relationship Id="rId21" Type="http://schemas.openxmlformats.org/officeDocument/2006/relationships/oleObject" Target="../embeddings/oleObject104.bin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122.wmf"/><Relationship Id="rId17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1.bin"/><Relationship Id="rId20" Type="http://schemas.openxmlformats.org/officeDocument/2006/relationships/image" Target="../media/image125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98.bin"/><Relationship Id="rId24" Type="http://schemas.openxmlformats.org/officeDocument/2006/relationships/image" Target="../media/image127.wmf"/><Relationship Id="rId5" Type="http://schemas.openxmlformats.org/officeDocument/2006/relationships/oleObject" Target="../embeddings/oleObject95.bin"/><Relationship Id="rId15" Type="http://schemas.openxmlformats.org/officeDocument/2006/relationships/oleObject" Target="../embeddings/oleObject100.bin"/><Relationship Id="rId23" Type="http://schemas.openxmlformats.org/officeDocument/2006/relationships/oleObject" Target="../embeddings/oleObject105.bin"/><Relationship Id="rId10" Type="http://schemas.openxmlformats.org/officeDocument/2006/relationships/image" Target="../media/image121.wmf"/><Relationship Id="rId19" Type="http://schemas.openxmlformats.org/officeDocument/2006/relationships/oleObject" Target="../embeddings/oleObject103.bin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97.bin"/><Relationship Id="rId14" Type="http://schemas.openxmlformats.org/officeDocument/2006/relationships/image" Target="../media/image123.wmf"/><Relationship Id="rId22" Type="http://schemas.openxmlformats.org/officeDocument/2006/relationships/image" Target="../media/image126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13" Type="http://schemas.openxmlformats.org/officeDocument/2006/relationships/oleObject" Target="../embeddings/oleObject111.bin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13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4.png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29.wmf"/><Relationship Id="rId11" Type="http://schemas.openxmlformats.org/officeDocument/2006/relationships/oleObject" Target="../embeddings/oleObject110.bin"/><Relationship Id="rId5" Type="http://schemas.openxmlformats.org/officeDocument/2006/relationships/oleObject" Target="../embeddings/oleObject107.bin"/><Relationship Id="rId15" Type="http://schemas.openxmlformats.org/officeDocument/2006/relationships/oleObject" Target="../embeddings/oleObject112.bin"/><Relationship Id="rId10" Type="http://schemas.openxmlformats.org/officeDocument/2006/relationships/image" Target="../media/image131.wmf"/><Relationship Id="rId4" Type="http://schemas.openxmlformats.org/officeDocument/2006/relationships/image" Target="../media/image128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1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.hk/url?sa=i&amp;rct=j&amp;q=polarized+light&amp;source=images&amp;cd=&amp;cad=rja&amp;uact=8&amp;docid=LpvmqiJ4zyokYM&amp;tbnid=mVtLZztPl7p_yM:&amp;ved=&amp;url=http://www.district196.org/avhs/dept/science/physics/physicsweb04/AVHSPhysics/light-notes.html&amp;ei=YTgsU-7yH-aWiQel_4DwDw&amp;psig=AFQjCNHeIEIfMSa9cEapncVSA8ZZyNIMvQ&amp;ust=1395493346150195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6.jpeg"/><Relationship Id="rId4" Type="http://schemas.openxmlformats.org/officeDocument/2006/relationships/image" Target="../media/image135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2669" y="3443782"/>
            <a:ext cx="2400831" cy="1750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694118"/>
              </p:ext>
            </p:extLst>
          </p:nvPr>
        </p:nvGraphicFramePr>
        <p:xfrm>
          <a:off x="3638550" y="4869160"/>
          <a:ext cx="40386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3" name="Equation" r:id="rId5" imgW="4038487" imgH="952560" progId="Equation.DSMT4">
                  <p:embed/>
                </p:oleObj>
              </mc:Choice>
              <mc:Fallback>
                <p:oleObj name="Equation" r:id="rId5" imgW="4038487" imgH="95256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38550" y="4869160"/>
                        <a:ext cx="403860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66" name="图片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938" y="344488"/>
            <a:ext cx="2638425" cy="287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Rectangle 2"/>
          <p:cNvSpPr>
            <a:spLocks noChangeArrowheads="1"/>
          </p:cNvSpPr>
          <p:nvPr/>
        </p:nvSpPr>
        <p:spPr bwMode="auto">
          <a:xfrm>
            <a:off x="3565525" y="31750"/>
            <a:ext cx="25606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内容回顾</a:t>
            </a:r>
          </a:p>
        </p:txBody>
      </p:sp>
      <p:sp>
        <p:nvSpPr>
          <p:cNvPr id="6" name="Text Box 54"/>
          <p:cNvSpPr txBox="1">
            <a:spLocks noChangeArrowheads="1"/>
          </p:cNvSpPr>
          <p:nvPr/>
        </p:nvSpPr>
        <p:spPr bwMode="auto">
          <a:xfrm>
            <a:off x="52388" y="1374775"/>
            <a:ext cx="6175796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水平入射</a:t>
            </a:r>
            <a:r>
              <a:rPr lang="zh-CN" altLang="en-US" sz="2800" b="1" dirty="0">
                <a:solidFill>
                  <a:schemeClr val="tx1"/>
                </a:solidFill>
              </a:rPr>
              <a:t>平行光经多缝衍射，每缝在屏上产生的</a:t>
            </a:r>
            <a:r>
              <a:rPr lang="zh-CN" altLang="en-US" sz="2800" b="1" dirty="0">
                <a:solidFill>
                  <a:srgbClr val="FF0000"/>
                </a:solidFill>
              </a:rPr>
              <a:t>振幅</a:t>
            </a:r>
            <a:r>
              <a:rPr lang="zh-CN" altLang="en-US" sz="2800" b="1" dirty="0">
                <a:solidFill>
                  <a:schemeClr val="tx1"/>
                </a:solidFill>
              </a:rPr>
              <a:t>为  </a:t>
            </a: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52388" y="2368550"/>
            <a:ext cx="16271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单缝衍射</a:t>
            </a:r>
          </a:p>
        </p:txBody>
      </p:sp>
      <p:sp>
        <p:nvSpPr>
          <p:cNvPr id="11" name="Text Box 57"/>
          <p:cNvSpPr txBox="1">
            <a:spLocks noChangeArrowheads="1"/>
          </p:cNvSpPr>
          <p:nvPr/>
        </p:nvSpPr>
        <p:spPr bwMode="auto">
          <a:xfrm>
            <a:off x="52388" y="2963863"/>
            <a:ext cx="45497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相邻缝在</a:t>
            </a:r>
            <a:r>
              <a:rPr lang="en-US" altLang="zh-CN" sz="2800" b="1" dirty="0">
                <a:solidFill>
                  <a:schemeClr val="tx1"/>
                </a:solidFill>
              </a:rPr>
              <a:t>P</a:t>
            </a:r>
            <a:r>
              <a:rPr lang="zh-CN" altLang="en-US" sz="2800" b="1" dirty="0">
                <a:solidFill>
                  <a:schemeClr val="tx1"/>
                </a:solidFill>
              </a:rPr>
              <a:t>点振动</a:t>
            </a:r>
            <a:r>
              <a:rPr lang="zh-CN" altLang="en-US" sz="2800" b="1" dirty="0">
                <a:solidFill>
                  <a:srgbClr val="FF0000"/>
                </a:solidFill>
              </a:rPr>
              <a:t>位相差</a:t>
            </a:r>
            <a:r>
              <a:rPr lang="zh-CN" altLang="en-US" sz="2800" b="1" dirty="0">
                <a:solidFill>
                  <a:schemeClr val="tx1"/>
                </a:solidFill>
              </a:rPr>
              <a:t>为</a:t>
            </a:r>
          </a:p>
        </p:txBody>
      </p:sp>
      <p:sp>
        <p:nvSpPr>
          <p:cNvPr id="14" name="Text Box 57"/>
          <p:cNvSpPr txBox="1">
            <a:spLocks noChangeArrowheads="1"/>
          </p:cNvSpPr>
          <p:nvPr/>
        </p:nvSpPr>
        <p:spPr bwMode="auto">
          <a:xfrm>
            <a:off x="106363" y="3501008"/>
            <a:ext cx="6640512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P</a:t>
            </a:r>
            <a:r>
              <a:rPr lang="zh-CN" altLang="en-US" sz="2800" b="1" dirty="0">
                <a:solidFill>
                  <a:schemeClr val="tx1"/>
                </a:solidFill>
              </a:rPr>
              <a:t>点光振动即为</a:t>
            </a:r>
            <a:r>
              <a:rPr lang="en-US" altLang="zh-CN" sz="2800" b="1" dirty="0">
                <a:solidFill>
                  <a:schemeClr val="tx1"/>
                </a:solidFill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</a:rPr>
              <a:t>个</a:t>
            </a:r>
            <a:r>
              <a:rPr lang="zh-CN" altLang="en-US" sz="2800" b="1" dirty="0">
                <a:solidFill>
                  <a:srgbClr val="FF0000"/>
                </a:solidFill>
              </a:rPr>
              <a:t>同频率、同方向、依次相差一恒位相差</a:t>
            </a:r>
            <a:r>
              <a:rPr lang="zh-CN" altLang="en-US" sz="2800" b="1" dirty="0">
                <a:solidFill>
                  <a:schemeClr val="tx1"/>
                </a:solidFill>
              </a:rPr>
              <a:t>的简谐振动的合成</a:t>
            </a: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52388" y="4365104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合振幅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20" name="Rectangle 306"/>
          <p:cNvSpPr>
            <a:spLocks noChangeArrowheads="1"/>
          </p:cNvSpPr>
          <p:nvPr/>
        </p:nvSpPr>
        <p:spPr bwMode="auto">
          <a:xfrm>
            <a:off x="4403799" y="5832251"/>
            <a:ext cx="21145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</a:rPr>
              <a:t>单缝衍射因子</a:t>
            </a:r>
          </a:p>
        </p:txBody>
      </p:sp>
      <p:sp>
        <p:nvSpPr>
          <p:cNvPr id="21" name="Rectangle 308"/>
          <p:cNvSpPr>
            <a:spLocks noChangeArrowheads="1"/>
          </p:cNvSpPr>
          <p:nvPr/>
        </p:nvSpPr>
        <p:spPr bwMode="auto">
          <a:xfrm>
            <a:off x="6300192" y="5805264"/>
            <a:ext cx="20415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多缝干涉因子</a:t>
            </a:r>
          </a:p>
        </p:txBody>
      </p:sp>
      <p:sp>
        <p:nvSpPr>
          <p:cNvPr id="22" name="Line 309"/>
          <p:cNvSpPr>
            <a:spLocks noChangeShapeType="1"/>
          </p:cNvSpPr>
          <p:nvPr/>
        </p:nvSpPr>
        <p:spPr bwMode="auto">
          <a:xfrm>
            <a:off x="4774941" y="5805264"/>
            <a:ext cx="13017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310"/>
          <p:cNvSpPr>
            <a:spLocks noChangeShapeType="1"/>
          </p:cNvSpPr>
          <p:nvPr/>
        </p:nvSpPr>
        <p:spPr bwMode="auto">
          <a:xfrm>
            <a:off x="6325928" y="5805264"/>
            <a:ext cx="11541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3443288" y="4489301"/>
            <a:ext cx="12652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合光强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1283" name="矩形 25"/>
          <p:cNvSpPr>
            <a:spLocks noChangeArrowheads="1"/>
          </p:cNvSpPr>
          <p:nvPr/>
        </p:nvSpPr>
        <p:spPr bwMode="auto">
          <a:xfrm>
            <a:off x="52388" y="898525"/>
            <a:ext cx="2809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光栅光强公式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663059" y="2277763"/>
          <a:ext cx="235267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4" name="Equation" r:id="rId8" imgW="2352588" imgH="723870" progId="Equation.DSMT4">
                  <p:embed/>
                </p:oleObj>
              </mc:Choice>
              <mc:Fallback>
                <p:oleObj name="Equation" r:id="rId8" imgW="2352588" imgH="72387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63059" y="2277763"/>
                        <a:ext cx="2352675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257363" y="2891630"/>
          <a:ext cx="3031805" cy="748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5" name="Equation" r:id="rId10" imgW="3009821" imgH="743040" progId="Equation.DSMT4">
                  <p:embed/>
                </p:oleObj>
              </mc:Choice>
              <mc:Fallback>
                <p:oleObj name="Equation" r:id="rId10" imgW="3009821" imgH="7430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257363" y="2891630"/>
                        <a:ext cx="3031805" cy="7483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3070997"/>
              </p:ext>
            </p:extLst>
          </p:nvPr>
        </p:nvGraphicFramePr>
        <p:xfrm>
          <a:off x="341508" y="4515679"/>
          <a:ext cx="262890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6" name="Equation" r:id="rId12" imgW="2628934" imgH="1381050" progId="Equation.DSMT4">
                  <p:embed/>
                </p:oleObj>
              </mc:Choice>
              <mc:Fallback>
                <p:oleObj name="Equation" r:id="rId12" imgW="2628934" imgH="138105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41508" y="4515679"/>
                        <a:ext cx="2628900" cy="1381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4980785"/>
              </p:ext>
            </p:extLst>
          </p:nvPr>
        </p:nvGraphicFramePr>
        <p:xfrm>
          <a:off x="267607" y="5922741"/>
          <a:ext cx="2854241" cy="624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7" name="Equation" r:id="rId14" imgW="3133812" imgH="685800" progId="Equation.DSMT4">
                  <p:embed/>
                </p:oleObj>
              </mc:Choice>
              <mc:Fallback>
                <p:oleObj name="Equation" r:id="rId14" imgW="3133812" imgH="68580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7607" y="5922741"/>
                        <a:ext cx="2854241" cy="6246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B66C0C19-5EAD-4AE5-8599-08EA25404F40}"/>
              </a:ext>
            </a:extLst>
          </p:cNvPr>
          <p:cNvSpPr txBox="1"/>
          <p:nvPr/>
        </p:nvSpPr>
        <p:spPr>
          <a:xfrm>
            <a:off x="5605749" y="6309320"/>
            <a:ext cx="3430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注意掌握方法！！！</a:t>
            </a: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05D896A5-0255-41A5-9158-A93FBBEDC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8" y="441325"/>
            <a:ext cx="4651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多缝衍射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-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光栅</a:t>
            </a:r>
          </a:p>
        </p:txBody>
      </p:sp>
    </p:spTree>
    <p:extLst>
      <p:ext uri="{BB962C8B-B14F-4D97-AF65-F5344CB8AC3E}">
        <p14:creationId xmlns:p14="http://schemas.microsoft.com/office/powerpoint/2010/main" val="124016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1" grpId="0"/>
      <p:bldP spid="14" grpId="0"/>
      <p:bldP spid="17" grpId="0"/>
      <p:bldP spid="20" grpId="0"/>
      <p:bldP spid="21" grpId="0"/>
      <p:bldP spid="22" grpId="0" animBg="1"/>
      <p:bldP spid="23" grpId="0" animBg="1"/>
      <p:bldP spid="25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52388" y="441325"/>
            <a:ext cx="4651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多缝衍射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-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光栅</a:t>
            </a:r>
          </a:p>
        </p:txBody>
      </p:sp>
      <p:sp>
        <p:nvSpPr>
          <p:cNvPr id="41987" name="Rectangle 2"/>
          <p:cNvSpPr>
            <a:spLocks noChangeArrowheads="1"/>
          </p:cNvSpPr>
          <p:nvPr/>
        </p:nvSpPr>
        <p:spPr bwMode="auto">
          <a:xfrm>
            <a:off x="3565525" y="96838"/>
            <a:ext cx="25606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内容回顾</a:t>
            </a:r>
          </a:p>
        </p:txBody>
      </p:sp>
      <p:sp>
        <p:nvSpPr>
          <p:cNvPr id="4101" name="Rectangle 41"/>
          <p:cNvSpPr>
            <a:spLocks noChangeArrowheads="1"/>
          </p:cNvSpPr>
          <p:nvPr/>
        </p:nvSpPr>
        <p:spPr bwMode="auto">
          <a:xfrm>
            <a:off x="112713" y="939800"/>
            <a:ext cx="2725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光强分布</a:t>
            </a:r>
          </a:p>
        </p:txBody>
      </p:sp>
      <p:grpSp>
        <p:nvGrpSpPr>
          <p:cNvPr id="4102" name="组合 1"/>
          <p:cNvGrpSpPr>
            <a:grpSpLocks/>
          </p:cNvGrpSpPr>
          <p:nvPr/>
        </p:nvGrpSpPr>
        <p:grpSpPr bwMode="auto">
          <a:xfrm>
            <a:off x="6012495" y="186461"/>
            <a:ext cx="2741613" cy="1844675"/>
            <a:chOff x="778284" y="1407076"/>
            <a:chExt cx="5738405" cy="3494088"/>
          </a:xfrm>
        </p:grpSpPr>
        <p:sp>
          <p:nvSpPr>
            <p:cNvPr id="39" name="矩形 38"/>
            <p:cNvSpPr/>
            <p:nvPr/>
          </p:nvSpPr>
          <p:spPr>
            <a:xfrm>
              <a:off x="793338" y="1498732"/>
              <a:ext cx="5723351" cy="33711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pic>
          <p:nvPicPr>
            <p:cNvPr id="42024" name="Picture 7" descr="n8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8284" y="1407076"/>
              <a:ext cx="5724527" cy="3494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103" name="Rectangle 41"/>
          <p:cNvSpPr>
            <a:spLocks noChangeArrowheads="1"/>
          </p:cNvSpPr>
          <p:nvPr/>
        </p:nvSpPr>
        <p:spPr bwMode="auto">
          <a:xfrm>
            <a:off x="112713" y="2178050"/>
            <a:ext cx="2725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明暗条件</a:t>
            </a:r>
          </a:p>
        </p:txBody>
      </p:sp>
      <p:sp>
        <p:nvSpPr>
          <p:cNvPr id="4104" name="Text Box 25"/>
          <p:cNvSpPr txBox="1">
            <a:spLocks noChangeArrowheads="1"/>
          </p:cNvSpPr>
          <p:nvPr/>
        </p:nvSpPr>
        <p:spPr bwMode="auto">
          <a:xfrm>
            <a:off x="144463" y="2747963"/>
            <a:ext cx="17557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</a:rPr>
              <a:t>主极大：</a:t>
            </a:r>
          </a:p>
        </p:txBody>
      </p:sp>
      <p:sp>
        <p:nvSpPr>
          <p:cNvPr id="4106" name="AutoShape 52"/>
          <p:cNvSpPr>
            <a:spLocks noChangeArrowheads="1"/>
          </p:cNvSpPr>
          <p:nvPr/>
        </p:nvSpPr>
        <p:spPr bwMode="auto">
          <a:xfrm>
            <a:off x="2836863" y="2835275"/>
            <a:ext cx="457200" cy="381000"/>
          </a:xfrm>
          <a:prstGeom prst="rightArrow">
            <a:avLst>
              <a:gd name="adj1" fmla="val 35833"/>
              <a:gd name="adj2" fmla="val 30000"/>
            </a:avLst>
          </a:prstGeom>
          <a:solidFill>
            <a:srgbClr val="FF0000"/>
          </a:solidFill>
          <a:ln w="9525">
            <a:solidFill>
              <a:srgbClr val="CC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108" name="矩形 2"/>
          <p:cNvSpPr>
            <a:spLocks noChangeArrowheads="1"/>
          </p:cNvSpPr>
          <p:nvPr/>
        </p:nvSpPr>
        <p:spPr bwMode="auto">
          <a:xfrm>
            <a:off x="3798888" y="2292350"/>
            <a:ext cx="1479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ea typeface="黑体" panose="02010609060101010101" pitchFamily="49" charset="-122"/>
              </a:rPr>
              <a:t>光栅方程</a:t>
            </a:r>
          </a:p>
        </p:txBody>
      </p:sp>
      <p:sp>
        <p:nvSpPr>
          <p:cNvPr id="4" name="矩形 3"/>
          <p:cNvSpPr/>
          <p:nvPr/>
        </p:nvSpPr>
        <p:spPr>
          <a:xfrm>
            <a:off x="3451225" y="2754313"/>
            <a:ext cx="2174875" cy="5810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10" name="矩形 6"/>
          <p:cNvSpPr>
            <a:spLocks noChangeArrowheads="1"/>
          </p:cNvSpPr>
          <p:nvPr/>
        </p:nvSpPr>
        <p:spPr bwMode="auto">
          <a:xfrm>
            <a:off x="144463" y="3481388"/>
            <a:ext cx="17319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</a:rPr>
              <a:t>干涉极小：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4113" name="Text Box 45"/>
          <p:cNvSpPr txBox="1">
            <a:spLocks noChangeArrowheads="1"/>
          </p:cNvSpPr>
          <p:nvPr/>
        </p:nvSpPr>
        <p:spPr bwMode="auto">
          <a:xfrm>
            <a:off x="4633273" y="4069359"/>
            <a:ext cx="2971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</a:rPr>
              <a:t>k </a:t>
            </a:r>
            <a:r>
              <a:rPr lang="en-US" altLang="zh-CN" sz="2400" b="1" dirty="0">
                <a:solidFill>
                  <a:schemeClr val="tx1"/>
                </a:solidFill>
              </a:rPr>
              <a:t>= 0, 1, 2, 3…</a:t>
            </a:r>
          </a:p>
        </p:txBody>
      </p:sp>
      <p:sp>
        <p:nvSpPr>
          <p:cNvPr id="4114" name="Text Box 46"/>
          <p:cNvSpPr txBox="1">
            <a:spLocks noChangeArrowheads="1"/>
          </p:cNvSpPr>
          <p:nvPr/>
        </p:nvSpPr>
        <p:spPr bwMode="auto">
          <a:xfrm>
            <a:off x="4596760" y="4521797"/>
            <a:ext cx="341471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</a:rPr>
              <a:t>m </a:t>
            </a:r>
            <a:r>
              <a:rPr lang="en-US" altLang="zh-CN" sz="2400" b="1" dirty="0">
                <a:solidFill>
                  <a:schemeClr val="tx1"/>
                </a:solidFill>
              </a:rPr>
              <a:t>= 1, 2, 3… </a:t>
            </a:r>
            <a:r>
              <a:rPr lang="en-US" altLang="zh-CN" sz="2400" b="1" i="1" dirty="0">
                <a:solidFill>
                  <a:schemeClr val="tx1"/>
                </a:solidFill>
              </a:rPr>
              <a:t>N</a:t>
            </a:r>
            <a:r>
              <a:rPr lang="en-US" altLang="zh-CN" sz="2400" b="1" dirty="0">
                <a:solidFill>
                  <a:schemeClr val="tx1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115" name="AutoShape 60"/>
          <p:cNvSpPr>
            <a:spLocks/>
          </p:cNvSpPr>
          <p:nvPr/>
        </p:nvSpPr>
        <p:spPr bwMode="auto">
          <a:xfrm>
            <a:off x="4379273" y="4286847"/>
            <a:ext cx="288925" cy="511175"/>
          </a:xfrm>
          <a:prstGeom prst="leftBrace">
            <a:avLst>
              <a:gd name="adj1" fmla="val 20788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116" name="AutoShape 52"/>
          <p:cNvSpPr>
            <a:spLocks noChangeArrowheads="1"/>
          </p:cNvSpPr>
          <p:nvPr/>
        </p:nvSpPr>
        <p:spPr bwMode="auto">
          <a:xfrm>
            <a:off x="399451" y="4293595"/>
            <a:ext cx="457200" cy="381000"/>
          </a:xfrm>
          <a:prstGeom prst="rightArrow">
            <a:avLst>
              <a:gd name="adj1" fmla="val 35833"/>
              <a:gd name="adj2" fmla="val 30000"/>
            </a:avLst>
          </a:prstGeom>
          <a:solidFill>
            <a:srgbClr val="FF0000"/>
          </a:solidFill>
          <a:ln w="9525">
            <a:solidFill>
              <a:srgbClr val="CC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117" name="Text Box 47"/>
          <p:cNvSpPr txBox="1">
            <a:spLocks noChangeArrowheads="1"/>
          </p:cNvSpPr>
          <p:nvPr/>
        </p:nvSpPr>
        <p:spPr bwMode="auto">
          <a:xfrm>
            <a:off x="227013" y="5125690"/>
            <a:ext cx="868203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相邻主极大间有 </a:t>
            </a:r>
            <a:r>
              <a:rPr lang="en-US" altLang="zh-CN" sz="2400" b="1" i="1" dirty="0">
                <a:solidFill>
                  <a:srgbClr val="0000FF"/>
                </a:solidFill>
                <a:ea typeface="黑体" panose="02010609060101010101" pitchFamily="49" charset="-122"/>
              </a:rPr>
              <a:t>N</a:t>
            </a:r>
            <a:r>
              <a:rPr lang="zh-CN" altLang="en-US" sz="1600" b="1" dirty="0">
                <a:solidFill>
                  <a:srgbClr val="0000FF"/>
                </a:solidFill>
              </a:rPr>
              <a:t>－</a:t>
            </a:r>
            <a:r>
              <a:rPr lang="en-US" altLang="zh-CN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1 </a:t>
            </a:r>
            <a:r>
              <a:rPr lang="zh-CN" altLang="en-US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个极小，</a:t>
            </a:r>
            <a:r>
              <a:rPr lang="zh-CN" altLang="en-US" sz="2400" b="1" dirty="0">
                <a:solidFill>
                  <a:schemeClr val="tx1"/>
                </a:solidFill>
              </a:rPr>
              <a:t>相邻两个极小之间有一个次极大</a:t>
            </a:r>
            <a:endParaRPr lang="zh-CN" altLang="en-US" sz="2400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4118" name="Text Box 256"/>
          <p:cNvSpPr txBox="1">
            <a:spLocks noChangeArrowheads="1"/>
          </p:cNvSpPr>
          <p:nvPr/>
        </p:nvSpPr>
        <p:spPr bwMode="auto">
          <a:xfrm>
            <a:off x="88900" y="5817429"/>
            <a:ext cx="2354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缺级</a:t>
            </a:r>
          </a:p>
        </p:txBody>
      </p:sp>
      <p:sp>
        <p:nvSpPr>
          <p:cNvPr id="4119" name="AutoShape 274"/>
          <p:cNvSpPr>
            <a:spLocks noChangeArrowheads="1"/>
          </p:cNvSpPr>
          <p:nvPr/>
        </p:nvSpPr>
        <p:spPr bwMode="auto">
          <a:xfrm>
            <a:off x="4094163" y="5993641"/>
            <a:ext cx="360362" cy="287338"/>
          </a:xfrm>
          <a:prstGeom prst="rightArrow">
            <a:avLst>
              <a:gd name="adj1" fmla="val 50000"/>
              <a:gd name="adj2" fmla="val 31353"/>
            </a:avLst>
          </a:prstGeom>
          <a:solidFill>
            <a:srgbClr val="FF0000"/>
          </a:solidFill>
          <a:ln w="9525">
            <a:solidFill>
              <a:srgbClr val="CC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4120" name="Group 275"/>
          <p:cNvGrpSpPr>
            <a:grpSpLocks/>
          </p:cNvGrpSpPr>
          <p:nvPr/>
        </p:nvGrpSpPr>
        <p:grpSpPr bwMode="auto">
          <a:xfrm>
            <a:off x="4498975" y="5665029"/>
            <a:ext cx="1120775" cy="892175"/>
            <a:chOff x="2954" y="3623"/>
            <a:chExt cx="706" cy="562"/>
          </a:xfrm>
        </p:grpSpPr>
        <p:sp>
          <p:nvSpPr>
            <p:cNvPr id="42017" name="Line 276"/>
            <p:cNvSpPr>
              <a:spLocks noChangeShapeType="1"/>
            </p:cNvSpPr>
            <p:nvPr/>
          </p:nvSpPr>
          <p:spPr bwMode="auto">
            <a:xfrm>
              <a:off x="3509" y="3908"/>
              <a:ext cx="151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18" name="Rectangle 277"/>
            <p:cNvSpPr>
              <a:spLocks noChangeArrowheads="1"/>
            </p:cNvSpPr>
            <p:nvPr/>
          </p:nvSpPr>
          <p:spPr bwMode="auto">
            <a:xfrm>
              <a:off x="3525" y="3914"/>
              <a:ext cx="12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a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42019" name="Rectangle 278"/>
            <p:cNvSpPr>
              <a:spLocks noChangeArrowheads="1"/>
            </p:cNvSpPr>
            <p:nvPr/>
          </p:nvSpPr>
          <p:spPr bwMode="auto">
            <a:xfrm>
              <a:off x="3518" y="3623"/>
              <a:ext cx="13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d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42020" name="Rectangle 279"/>
            <p:cNvSpPr>
              <a:spLocks noChangeArrowheads="1"/>
            </p:cNvSpPr>
            <p:nvPr/>
          </p:nvSpPr>
          <p:spPr bwMode="auto">
            <a:xfrm>
              <a:off x="3302" y="3768"/>
              <a:ext cx="18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k’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42021" name="Rectangle 280"/>
            <p:cNvSpPr>
              <a:spLocks noChangeArrowheads="1"/>
            </p:cNvSpPr>
            <p:nvPr/>
          </p:nvSpPr>
          <p:spPr bwMode="auto">
            <a:xfrm>
              <a:off x="2954" y="3768"/>
              <a:ext cx="12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k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42022" name="Rectangle 281"/>
            <p:cNvSpPr>
              <a:spLocks noChangeArrowheads="1"/>
            </p:cNvSpPr>
            <p:nvPr/>
          </p:nvSpPr>
          <p:spPr bwMode="auto">
            <a:xfrm>
              <a:off x="3115" y="3742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dirty="0">
                  <a:solidFill>
                    <a:schemeClr val="tx1"/>
                  </a:solidFill>
                  <a:latin typeface="Symbol" panose="05050102010706020507" pitchFamily="18" charset="2"/>
                </a:rPr>
                <a:t>=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</p:grpSp>
      <p:sp>
        <p:nvSpPr>
          <p:cNvPr id="4121" name="Text Box 283"/>
          <p:cNvSpPr txBox="1">
            <a:spLocks noChangeArrowheads="1"/>
          </p:cNvSpPr>
          <p:nvPr/>
        </p:nvSpPr>
        <p:spPr bwMode="auto">
          <a:xfrm>
            <a:off x="5638800" y="5849179"/>
            <a:ext cx="29479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=</a:t>
            </a:r>
            <a:r>
              <a:rPr lang="zh-CN" altLang="en-US" sz="2800" b="1" dirty="0">
                <a:solidFill>
                  <a:schemeClr val="tx1"/>
                </a:solidFill>
              </a:rPr>
              <a:t>整数，</a:t>
            </a:r>
            <a:r>
              <a:rPr lang="en-US" altLang="zh-CN" sz="2800" b="1" i="1" dirty="0">
                <a:solidFill>
                  <a:schemeClr val="tx1"/>
                </a:solidFill>
              </a:rPr>
              <a:t>k</a:t>
            </a:r>
            <a:r>
              <a:rPr lang="en-US" altLang="zh-CN" sz="28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sym typeface="Symbol" panose="05050102010706020507" pitchFamily="18" charset="2"/>
              </a:rPr>
              <a:t>为缺级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4123" name="AutoShape 293"/>
          <p:cNvSpPr>
            <a:spLocks/>
          </p:cNvSpPr>
          <p:nvPr/>
        </p:nvSpPr>
        <p:spPr bwMode="auto">
          <a:xfrm>
            <a:off x="1604963" y="5788854"/>
            <a:ext cx="215900" cy="647700"/>
          </a:xfrm>
          <a:prstGeom prst="leftBrace">
            <a:avLst>
              <a:gd name="adj1" fmla="val 25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126" name="Text Box 38"/>
          <p:cNvSpPr txBox="1">
            <a:spLocks noChangeArrowheads="1"/>
          </p:cNvSpPr>
          <p:nvPr/>
        </p:nvSpPr>
        <p:spPr bwMode="auto">
          <a:xfrm>
            <a:off x="5783262" y="2798833"/>
            <a:ext cx="9699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方正书宋简体"/>
              </a:rPr>
              <a:t>光强</a:t>
            </a:r>
            <a:endParaRPr lang="zh-CN" altLang="en-US" sz="2000" b="1" dirty="0">
              <a:solidFill>
                <a:schemeClr val="tx1"/>
              </a:solidFill>
              <a:latin typeface="方正书宋简体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47029" y="1372332"/>
          <a:ext cx="3412514" cy="809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9" name="Equation" r:id="rId4" imgW="2997000" imgH="711000" progId="Equation.DSMT4">
                  <p:embed/>
                </p:oleObj>
              </mc:Choice>
              <mc:Fallback>
                <p:oleObj name="Equation" r:id="rId4" imgW="2997000" imgH="71100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7029" y="1372332"/>
                        <a:ext cx="3412514" cy="8097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477070" y="2863030"/>
          <a:ext cx="2181922" cy="367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0" name="Equation" r:id="rId6" imgW="2428765" imgH="409590" progId="Equation.DSMT4">
                  <p:embed/>
                </p:oleObj>
              </mc:Choice>
              <mc:Fallback>
                <p:oleObj name="Equation" r:id="rId6" imgW="2428765" imgH="40959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77070" y="2863030"/>
                        <a:ext cx="2181922" cy="3679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6626286" y="2773835"/>
          <a:ext cx="2539937" cy="726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1" name="Equation" r:id="rId8" imgW="2828832" imgH="809730" progId="Equation.DSMT4">
                  <p:embed/>
                </p:oleObj>
              </mc:Choice>
              <mc:Fallback>
                <p:oleObj name="Equation" r:id="rId8" imgW="2828832" imgH="80973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26286" y="2773835"/>
                        <a:ext cx="2539937" cy="7269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715294" y="3545139"/>
          <a:ext cx="34861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2" name="Equation" r:id="rId10" imgW="3486066" imgH="457110" progId="Equation.DSMT4">
                  <p:embed/>
                </p:oleObj>
              </mc:Choice>
              <mc:Fallback>
                <p:oleObj name="Equation" r:id="rId10" imgW="3486066" imgH="45711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15294" y="3545139"/>
                        <a:ext cx="348615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/>
        </p:nvGraphicFramePr>
        <p:xfrm>
          <a:off x="1834578" y="5632407"/>
          <a:ext cx="2297685" cy="391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3" name="Equation" r:id="rId12" imgW="1638000" imgH="279360" progId="Equation.DSMT4">
                  <p:embed/>
                </p:oleObj>
              </mc:Choice>
              <mc:Fallback>
                <p:oleObj name="Equation" r:id="rId12" imgW="1638000" imgH="279360" progId="Equation.DSMT4">
                  <p:embed/>
                  <p:pic>
                    <p:nvPicPr>
                      <p:cNvPr id="46" name="对象 4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834578" y="5632407"/>
                        <a:ext cx="2297685" cy="3918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/>
        </p:nvGraphicFramePr>
        <p:xfrm>
          <a:off x="1795976" y="6100514"/>
          <a:ext cx="2345633" cy="483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4" name="Equation" r:id="rId14" imgW="1663560" imgH="342720" progId="Equation.DSMT4">
                  <p:embed/>
                </p:oleObj>
              </mc:Choice>
              <mc:Fallback>
                <p:oleObj name="Equation" r:id="rId14" imgW="1663560" imgH="342720" progId="Equation.DSMT4">
                  <p:embed/>
                  <p:pic>
                    <p:nvPicPr>
                      <p:cNvPr id="47" name="对象 4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795976" y="6100514"/>
                        <a:ext cx="2345633" cy="4834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1255480" y="2749802"/>
          <a:ext cx="1525587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5" name="Equation" r:id="rId16" imgW="1155600" imgH="393480" progId="Equation.DSMT4">
                  <p:embed/>
                </p:oleObj>
              </mc:Choice>
              <mc:Fallback>
                <p:oleObj name="Equation" r:id="rId16" imgW="1155600" imgH="393480" progId="Equation.DSMT4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255480" y="2749802"/>
                        <a:ext cx="1525587" cy="519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1147123" y="4139035"/>
          <a:ext cx="3099681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6" name="Equation" r:id="rId18" imgW="2412720" imgH="596880" progId="Equation.DSMT4">
                  <p:embed/>
                </p:oleObj>
              </mc:Choice>
              <mc:Fallback>
                <p:oleObj name="Equation" r:id="rId18" imgW="2412720" imgH="596880" progId="Equation.DSMT4">
                  <p:embed/>
                  <p:pic>
                    <p:nvPicPr>
                      <p:cNvPr id="21" name="对象 2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147123" y="4139035"/>
                        <a:ext cx="3099681" cy="766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66438" y="2102306"/>
            <a:ext cx="2116623" cy="703370"/>
          </a:xfrm>
          <a:prstGeom prst="rect">
            <a:avLst/>
          </a:prstGeom>
        </p:spPr>
      </p:pic>
      <p:sp>
        <p:nvSpPr>
          <p:cNvPr id="57" name="AutoShape 52"/>
          <p:cNvSpPr>
            <a:spLocks noChangeArrowheads="1"/>
          </p:cNvSpPr>
          <p:nvPr/>
        </p:nvSpPr>
        <p:spPr bwMode="auto">
          <a:xfrm>
            <a:off x="5430392" y="3593496"/>
            <a:ext cx="457200" cy="298309"/>
          </a:xfrm>
          <a:prstGeom prst="rightArrow">
            <a:avLst>
              <a:gd name="adj1" fmla="val 35833"/>
              <a:gd name="adj2" fmla="val 34660"/>
            </a:avLst>
          </a:prstGeom>
          <a:solidFill>
            <a:srgbClr val="FF0000"/>
          </a:solidFill>
          <a:ln w="9525">
            <a:solidFill>
              <a:srgbClr val="CC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019687" y="3581973"/>
          <a:ext cx="3022453" cy="360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7" name="Equation" r:id="rId21" imgW="2768400" imgH="330120" progId="Equation.DSMT4">
                  <p:embed/>
                </p:oleObj>
              </mc:Choice>
              <mc:Fallback>
                <p:oleObj name="Equation" r:id="rId21" imgW="2768400" imgH="33012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019687" y="3581973"/>
                        <a:ext cx="3022453" cy="3604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图片 2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72297" y="3877465"/>
            <a:ext cx="1586351" cy="129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77210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4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4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4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4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4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4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4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4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4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4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4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4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4101" grpId="0"/>
      <p:bldP spid="4103" grpId="0"/>
      <p:bldP spid="4104" grpId="0"/>
      <p:bldP spid="4106" grpId="0" animBg="1"/>
      <p:bldP spid="4108" grpId="0"/>
      <p:bldP spid="4" grpId="0" animBg="1"/>
      <p:bldP spid="4110" grpId="0"/>
      <p:bldP spid="4113" grpId="0"/>
      <p:bldP spid="4114" grpId="0"/>
      <p:bldP spid="4115" grpId="0" animBg="1"/>
      <p:bldP spid="4116" grpId="0" animBg="1"/>
      <p:bldP spid="4117" grpId="0"/>
      <p:bldP spid="4118" grpId="0"/>
      <p:bldP spid="4119" grpId="0" animBg="1"/>
      <p:bldP spid="4121" grpId="0"/>
      <p:bldP spid="4123" grpId="0" animBg="1"/>
      <p:bldP spid="4126" grpId="0"/>
      <p:bldP spid="5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Box 2"/>
          <p:cNvSpPr txBox="1">
            <a:spLocks noChangeArrowheads="1"/>
          </p:cNvSpPr>
          <p:nvPr/>
        </p:nvSpPr>
        <p:spPr bwMode="auto">
          <a:xfrm>
            <a:off x="107504" y="701675"/>
            <a:ext cx="5083175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一般情况下的光栅方程</a:t>
            </a:r>
          </a:p>
        </p:txBody>
      </p:sp>
      <p:sp>
        <p:nvSpPr>
          <p:cNvPr id="43023" name="Rectangle 2"/>
          <p:cNvSpPr>
            <a:spLocks noChangeArrowheads="1"/>
          </p:cNvSpPr>
          <p:nvPr/>
        </p:nvSpPr>
        <p:spPr bwMode="auto">
          <a:xfrm>
            <a:off x="3565525" y="179388"/>
            <a:ext cx="25606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内容回顾</a:t>
            </a:r>
          </a:p>
        </p:txBody>
      </p:sp>
      <p:sp>
        <p:nvSpPr>
          <p:cNvPr id="76" name="Text Box 2"/>
          <p:cNvSpPr txBox="1">
            <a:spLocks noChangeArrowheads="1"/>
          </p:cNvSpPr>
          <p:nvPr/>
        </p:nvSpPr>
        <p:spPr bwMode="auto">
          <a:xfrm>
            <a:off x="107504" y="2430343"/>
            <a:ext cx="3390900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ct val="50000"/>
              </a:spcBef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布喇格衍射公式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4405919"/>
              </p:ext>
            </p:extLst>
          </p:nvPr>
        </p:nvGraphicFramePr>
        <p:xfrm>
          <a:off x="566516" y="3173721"/>
          <a:ext cx="3390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4" name="Equation" r:id="rId3" imgW="3390840" imgH="393480" progId="Equation.DSMT4">
                  <p:embed/>
                </p:oleObj>
              </mc:Choice>
              <mc:Fallback>
                <p:oleObj name="Equation" r:id="rId3" imgW="339084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6516" y="3173721"/>
                        <a:ext cx="33909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1500" y="260648"/>
            <a:ext cx="3322500" cy="3109923"/>
          </a:xfrm>
          <a:prstGeom prst="rect">
            <a:avLst/>
          </a:prstGeom>
        </p:spPr>
      </p:pic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9635677"/>
              </p:ext>
            </p:extLst>
          </p:nvPr>
        </p:nvGraphicFramePr>
        <p:xfrm>
          <a:off x="557649" y="1200902"/>
          <a:ext cx="3942467" cy="1058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5" name="Equation" r:id="rId6" imgW="3073320" imgH="825480" progId="Equation.DSMT4">
                  <p:embed/>
                </p:oleObj>
              </mc:Choice>
              <mc:Fallback>
                <p:oleObj name="Equation" r:id="rId6" imgW="307332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7649" y="1200902"/>
                        <a:ext cx="3942467" cy="10589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9712" y="3787561"/>
            <a:ext cx="5376157" cy="254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7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551238" y="197311"/>
            <a:ext cx="2844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/>
              <a:t>内容回顾</a:t>
            </a: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153988" y="765175"/>
            <a:ext cx="26654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kumimoji="1" lang="en-US" altLang="zh-CN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kumimoji="1" lang="zh-CN" altLang="en-US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圆孔衍射</a:t>
            </a:r>
          </a:p>
        </p:txBody>
      </p:sp>
      <p:pic>
        <p:nvPicPr>
          <p:cNvPr id="30724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13" y="1558925"/>
            <a:ext cx="3452812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1495425"/>
            <a:ext cx="1824037" cy="2190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8" name="Object 10"/>
          <p:cNvGraphicFramePr>
            <a:graphicFrameLocks noChangeAspect="1"/>
          </p:cNvGraphicFramePr>
          <p:nvPr/>
        </p:nvGraphicFramePr>
        <p:xfrm>
          <a:off x="2255838" y="3657600"/>
          <a:ext cx="129540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7" name="BMP 图象" r:id="rId5" imgW="724001" imgH="457143" progId="PBrush">
                  <p:embed/>
                </p:oleObj>
              </mc:Choice>
              <mc:Fallback>
                <p:oleObj name="BMP 图象" r:id="rId5" imgW="724001" imgH="457143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5838" y="3657600"/>
                        <a:ext cx="1295400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" name="Text Box 12"/>
          <p:cNvSpPr txBox="1">
            <a:spLocks noChangeArrowheads="1"/>
          </p:cNvSpPr>
          <p:nvPr/>
        </p:nvSpPr>
        <p:spPr bwMode="auto">
          <a:xfrm>
            <a:off x="3732213" y="3865563"/>
            <a:ext cx="3386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刚好可以辨别！</a:t>
            </a:r>
            <a:endParaRPr kumimoji="1" lang="zh-CN" altLang="en-US" sz="24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10" name="Text Box 16"/>
          <p:cNvSpPr txBox="1">
            <a:spLocks noChangeArrowheads="1"/>
          </p:cNvSpPr>
          <p:nvPr/>
        </p:nvSpPr>
        <p:spPr bwMode="auto">
          <a:xfrm>
            <a:off x="669925" y="3827463"/>
            <a:ext cx="1644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瑞利判据</a:t>
            </a:r>
            <a:endParaRPr kumimoji="1" lang="zh-CN" altLang="en-US" sz="280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3" y="4595813"/>
            <a:ext cx="4978400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2" name="Object 4"/>
          <p:cNvGraphicFramePr>
            <a:graphicFrameLocks noChangeAspect="1"/>
          </p:cNvGraphicFramePr>
          <p:nvPr/>
        </p:nvGraphicFramePr>
        <p:xfrm>
          <a:off x="5937250" y="4938713"/>
          <a:ext cx="27781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8" name="MathType 6.0 Equation" r:id="rId8" imgW="2870200" imgH="673100" progId="Equation.DSMT4">
                  <p:embed/>
                </p:oleObj>
              </mc:Choice>
              <mc:Fallback>
                <p:oleObj name="MathType 6.0 Equation" r:id="rId8" imgW="28702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0" y="4938713"/>
                        <a:ext cx="27781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" name="Text Box 5"/>
          <p:cNvSpPr txBox="1">
            <a:spLocks noChangeArrowheads="1"/>
          </p:cNvSpPr>
          <p:nvPr/>
        </p:nvSpPr>
        <p:spPr bwMode="auto">
          <a:xfrm>
            <a:off x="5807075" y="4508500"/>
            <a:ext cx="181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第一极小：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118" name="Object 56"/>
          <p:cNvGraphicFramePr>
            <a:graphicFrameLocks noChangeAspect="1"/>
          </p:cNvGraphicFramePr>
          <p:nvPr/>
        </p:nvGraphicFramePr>
        <p:xfrm>
          <a:off x="5940425" y="6089650"/>
          <a:ext cx="144621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9" name="Equation" r:id="rId10" imgW="571252" imgH="228501" progId="Equation.DSMT4">
                  <p:embed/>
                </p:oleObj>
              </mc:Choice>
              <mc:Fallback>
                <p:oleObj name="Equation" r:id="rId10" imgW="571252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6089650"/>
                        <a:ext cx="1446213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" name="Rectangle 13"/>
          <p:cNvSpPr>
            <a:spLocks noChangeArrowheads="1"/>
          </p:cNvSpPr>
          <p:nvPr/>
        </p:nvSpPr>
        <p:spPr bwMode="auto">
          <a:xfrm>
            <a:off x="5834063" y="5589588"/>
            <a:ext cx="39608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最小分辨距离：</a:t>
            </a:r>
            <a:endParaRPr kumimoji="1" lang="zh-CN" altLang="en-US" sz="2400" b="1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8715375" y="5373688"/>
            <a:ext cx="0" cy="2508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/>
          <p:nvPr/>
        </p:nvCxnSpPr>
        <p:spPr>
          <a:xfrm>
            <a:off x="8715375" y="4938713"/>
            <a:ext cx="0" cy="2508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73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75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utoUpdateAnimBg="0"/>
      <p:bldP spid="110" grpId="0" autoUpdateAnimBg="0"/>
      <p:bldP spid="113" grpId="0" autoUpdateAnimBg="0"/>
      <p:bldP spid="11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Documents and Settings\Administrator\桌面\1345731863670515141.jpg"/>
          <p:cNvPicPr>
            <a:picLocks noChangeAspect="1" noChangeArrowheads="1"/>
          </p:cNvPicPr>
          <p:nvPr/>
        </p:nvPicPr>
        <p:blipFill>
          <a:blip r:embed="rId3" cstate="print">
            <a:lum bright="10000"/>
          </a:blip>
          <a:srcRect t="2469" r="4172" b="6173"/>
          <a:stretch>
            <a:fillRect/>
          </a:stretch>
        </p:blipFill>
        <p:spPr bwMode="auto">
          <a:xfrm>
            <a:off x="5214942" y="142852"/>
            <a:ext cx="3714776" cy="6572296"/>
          </a:xfrm>
          <a:prstGeom prst="rect">
            <a:avLst/>
          </a:prstGeom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112500"/>
          </a:effec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143000" y="617538"/>
            <a:ext cx="3417888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8000" b="1">
                <a:ea typeface="隶书" panose="02010509060101010101" pitchFamily="49" charset="-122"/>
              </a:rPr>
              <a:t>第五篇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28625" y="2168525"/>
            <a:ext cx="4457700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7200" b="1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 sz="7200" b="1">
                <a:latin typeface="隶书" panose="02010509060101010101" pitchFamily="49" charset="-122"/>
                <a:ea typeface="隶书" panose="02010509060101010101" pitchFamily="49" charset="-122"/>
              </a:rPr>
              <a:t>波动光学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914400" y="4071938"/>
            <a:ext cx="36210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光波的偏振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1143000" y="2124075"/>
            <a:ext cx="5595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节  偏振光与自然光</a:t>
            </a: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1143000" y="2762250"/>
            <a:ext cx="7596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节  通过选择吸收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产生偏振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马吕斯定律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1143000" y="4052888"/>
            <a:ext cx="495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节  双折射</a:t>
            </a: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1143000" y="3405188"/>
            <a:ext cx="5381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节  由反射产生偏振</a:t>
            </a: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1143000" y="4643438"/>
            <a:ext cx="7310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节  波晶片  偏振光的干涉</a:t>
            </a: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1366838" y="436563"/>
            <a:ext cx="64087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latin typeface="宋体" panose="02010600030101010101" pitchFamily="2" charset="-122"/>
              </a:rPr>
              <a:t>光</a:t>
            </a:r>
            <a:r>
              <a:rPr kumimoji="1" lang="zh-CN" altLang="en-US" b="1">
                <a:latin typeface="Arial" panose="020B0604020202020204" pitchFamily="34" charset="0"/>
              </a:rPr>
              <a:t>波</a:t>
            </a:r>
            <a:r>
              <a:rPr kumimoji="1" lang="zh-CN" altLang="en-US" b="1">
                <a:latin typeface="宋体" panose="02010600030101010101" pitchFamily="2" charset="-122"/>
              </a:rPr>
              <a:t>的偏振</a:t>
            </a: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2447925" y="1146175"/>
            <a:ext cx="4511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 of Light Waves</a:t>
            </a: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1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5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9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3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  <p:bldP spid="3075" grpId="0"/>
      <p:bldP spid="3076" grpId="0"/>
      <p:bldP spid="3077" grpId="0"/>
      <p:bldP spid="307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 41"/>
          <p:cNvSpPr>
            <a:spLocks/>
          </p:cNvSpPr>
          <p:nvPr/>
        </p:nvSpPr>
        <p:spPr bwMode="auto">
          <a:xfrm>
            <a:off x="6654800" y="2714625"/>
            <a:ext cx="1417638" cy="1714500"/>
          </a:xfrm>
          <a:custGeom>
            <a:avLst/>
            <a:gdLst>
              <a:gd name="T0" fmla="*/ 0 w 2755"/>
              <a:gd name="T1" fmla="*/ 2147483646 h 704"/>
              <a:gd name="T2" fmla="*/ 2147483646 w 2755"/>
              <a:gd name="T3" fmla="*/ 0 h 704"/>
              <a:gd name="T4" fmla="*/ 2147483646 w 2755"/>
              <a:gd name="T5" fmla="*/ 2147483646 h 704"/>
              <a:gd name="T6" fmla="*/ 2147483646 w 2755"/>
              <a:gd name="T7" fmla="*/ 2147483646 h 704"/>
              <a:gd name="T8" fmla="*/ 2147483646 w 2755"/>
              <a:gd name="T9" fmla="*/ 2147483646 h 7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5"/>
              <a:gd name="T16" fmla="*/ 0 h 704"/>
              <a:gd name="T17" fmla="*/ 2755 w 2755"/>
              <a:gd name="T18" fmla="*/ 704 h 7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5" h="704">
                <a:moveTo>
                  <a:pt x="0" y="335"/>
                </a:moveTo>
                <a:cubicBezTo>
                  <a:pt x="206" y="167"/>
                  <a:pt x="413" y="0"/>
                  <a:pt x="629" y="0"/>
                </a:cubicBezTo>
                <a:cubicBezTo>
                  <a:pt x="845" y="0"/>
                  <a:pt x="1067" y="218"/>
                  <a:pt x="1299" y="335"/>
                </a:cubicBezTo>
                <a:cubicBezTo>
                  <a:pt x="1531" y="452"/>
                  <a:pt x="1779" y="704"/>
                  <a:pt x="2022" y="702"/>
                </a:cubicBezTo>
                <a:cubicBezTo>
                  <a:pt x="2265" y="700"/>
                  <a:pt x="2510" y="512"/>
                  <a:pt x="2755" y="325"/>
                </a:cubicBezTo>
              </a:path>
            </a:pathLst>
          </a:custGeom>
          <a:noFill/>
          <a:ln w="57150">
            <a:solidFill>
              <a:srgbClr val="FF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图文框 44"/>
          <p:cNvSpPr/>
          <p:nvPr/>
        </p:nvSpPr>
        <p:spPr>
          <a:xfrm>
            <a:off x="5453194" y="3071810"/>
            <a:ext cx="2285984" cy="900000"/>
          </a:xfrm>
          <a:prstGeom prst="frame">
            <a:avLst>
              <a:gd name="adj1" fmla="val 39678"/>
            </a:avLst>
          </a:prstGeom>
          <a:ln w="34925"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isometricOffAxis1Left">
              <a:rot lat="791687" lon="4149143" rev="21592465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矩形 32"/>
          <p:cNvSpPr>
            <a:spLocks noChangeArrowheads="1"/>
          </p:cNvSpPr>
          <p:nvPr/>
        </p:nvSpPr>
        <p:spPr bwMode="auto">
          <a:xfrm>
            <a:off x="285750" y="1262063"/>
            <a:ext cx="4714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1.1 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光的偏振现象</a:t>
            </a:r>
            <a:endParaRPr lang="en-US" altLang="zh-CN" sz="2800" b="1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 rot="5400000">
            <a:off x="94456" y="3571082"/>
            <a:ext cx="1571625" cy="1588"/>
          </a:xfrm>
          <a:prstGeom prst="straightConnector1">
            <a:avLst/>
          </a:prstGeom>
          <a:ln w="762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图文框 5"/>
          <p:cNvSpPr/>
          <p:nvPr/>
        </p:nvSpPr>
        <p:spPr>
          <a:xfrm>
            <a:off x="6167574" y="2500306"/>
            <a:ext cx="785818" cy="2286016"/>
          </a:xfrm>
          <a:prstGeom prst="frame">
            <a:avLst>
              <a:gd name="adj1" fmla="val 18544"/>
            </a:avLst>
          </a:prstGeom>
          <a:ln w="34925"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isometricOffAxis1Left">
              <a:rot lat="1375750" lon="3524646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" name="组合 29"/>
          <p:cNvGrpSpPr>
            <a:grpSpLocks/>
          </p:cNvGrpSpPr>
          <p:nvPr/>
        </p:nvGrpSpPr>
        <p:grpSpPr bwMode="auto">
          <a:xfrm>
            <a:off x="3822700" y="2714625"/>
            <a:ext cx="2833688" cy="1714500"/>
            <a:chOff x="3726619" y="1785926"/>
            <a:chExt cx="2833770" cy="1714512"/>
          </a:xfrm>
        </p:grpSpPr>
        <p:sp>
          <p:nvSpPr>
            <p:cNvPr id="7197" name="Freeform 41"/>
            <p:cNvSpPr>
              <a:spLocks/>
            </p:cNvSpPr>
            <p:nvPr/>
          </p:nvSpPr>
          <p:spPr bwMode="auto">
            <a:xfrm>
              <a:off x="3726619" y="1785926"/>
              <a:ext cx="1416885" cy="1714512"/>
            </a:xfrm>
            <a:custGeom>
              <a:avLst/>
              <a:gdLst>
                <a:gd name="T0" fmla="*/ 0 w 2755"/>
                <a:gd name="T1" fmla="*/ 2147483646 h 704"/>
                <a:gd name="T2" fmla="*/ 2147483646 w 2755"/>
                <a:gd name="T3" fmla="*/ 0 h 704"/>
                <a:gd name="T4" fmla="*/ 2147483646 w 2755"/>
                <a:gd name="T5" fmla="*/ 2147483646 h 704"/>
                <a:gd name="T6" fmla="*/ 2147483646 w 2755"/>
                <a:gd name="T7" fmla="*/ 2147483646 h 704"/>
                <a:gd name="T8" fmla="*/ 2147483646 w 2755"/>
                <a:gd name="T9" fmla="*/ 2147483646 h 7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55"/>
                <a:gd name="T16" fmla="*/ 0 h 704"/>
                <a:gd name="T17" fmla="*/ 2755 w 2755"/>
                <a:gd name="T18" fmla="*/ 704 h 7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55" h="704">
                  <a:moveTo>
                    <a:pt x="0" y="335"/>
                  </a:moveTo>
                  <a:cubicBezTo>
                    <a:pt x="206" y="167"/>
                    <a:pt x="413" y="0"/>
                    <a:pt x="629" y="0"/>
                  </a:cubicBezTo>
                  <a:cubicBezTo>
                    <a:pt x="845" y="0"/>
                    <a:pt x="1067" y="218"/>
                    <a:pt x="1299" y="335"/>
                  </a:cubicBezTo>
                  <a:cubicBezTo>
                    <a:pt x="1531" y="452"/>
                    <a:pt x="1779" y="704"/>
                    <a:pt x="2022" y="702"/>
                  </a:cubicBezTo>
                  <a:cubicBezTo>
                    <a:pt x="2265" y="700"/>
                    <a:pt x="2510" y="512"/>
                    <a:pt x="2755" y="325"/>
                  </a:cubicBezTo>
                </a:path>
              </a:pathLst>
            </a:custGeom>
            <a:noFill/>
            <a:ln w="57150">
              <a:solidFill>
                <a:srgbClr val="FF66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8" name="Freeform 41"/>
            <p:cNvSpPr>
              <a:spLocks/>
            </p:cNvSpPr>
            <p:nvPr/>
          </p:nvSpPr>
          <p:spPr bwMode="auto">
            <a:xfrm>
              <a:off x="5143504" y="1785926"/>
              <a:ext cx="1416885" cy="1714512"/>
            </a:xfrm>
            <a:custGeom>
              <a:avLst/>
              <a:gdLst>
                <a:gd name="T0" fmla="*/ 0 w 2755"/>
                <a:gd name="T1" fmla="*/ 2147483646 h 704"/>
                <a:gd name="T2" fmla="*/ 2147483646 w 2755"/>
                <a:gd name="T3" fmla="*/ 0 h 704"/>
                <a:gd name="T4" fmla="*/ 2147483646 w 2755"/>
                <a:gd name="T5" fmla="*/ 2147483646 h 704"/>
                <a:gd name="T6" fmla="*/ 2147483646 w 2755"/>
                <a:gd name="T7" fmla="*/ 2147483646 h 704"/>
                <a:gd name="T8" fmla="*/ 2147483646 w 2755"/>
                <a:gd name="T9" fmla="*/ 2147483646 h 7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55"/>
                <a:gd name="T16" fmla="*/ 0 h 704"/>
                <a:gd name="T17" fmla="*/ 2755 w 2755"/>
                <a:gd name="T18" fmla="*/ 704 h 7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55" h="704">
                  <a:moveTo>
                    <a:pt x="0" y="335"/>
                  </a:moveTo>
                  <a:cubicBezTo>
                    <a:pt x="206" y="167"/>
                    <a:pt x="413" y="0"/>
                    <a:pt x="629" y="0"/>
                  </a:cubicBezTo>
                  <a:cubicBezTo>
                    <a:pt x="845" y="0"/>
                    <a:pt x="1067" y="218"/>
                    <a:pt x="1299" y="335"/>
                  </a:cubicBezTo>
                  <a:cubicBezTo>
                    <a:pt x="1531" y="452"/>
                    <a:pt x="1779" y="704"/>
                    <a:pt x="2022" y="702"/>
                  </a:cubicBezTo>
                  <a:cubicBezTo>
                    <a:pt x="2265" y="700"/>
                    <a:pt x="2510" y="512"/>
                    <a:pt x="2755" y="325"/>
                  </a:cubicBezTo>
                </a:path>
              </a:pathLst>
            </a:custGeom>
            <a:noFill/>
            <a:ln w="57150">
              <a:solidFill>
                <a:srgbClr val="FF66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026" name="Picture 2" descr="C:\Documents and Settings\Administrator\桌面\2531689_550x550_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78789" y="2643182"/>
            <a:ext cx="3013239" cy="2000264"/>
          </a:xfrm>
          <a:prstGeom prst="rect">
            <a:avLst/>
          </a:prstGeom>
          <a:noFill/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cxnSp>
        <p:nvCxnSpPr>
          <p:cNvPr id="36" name="直接箭头连接符 35"/>
          <p:cNvCxnSpPr/>
          <p:nvPr/>
        </p:nvCxnSpPr>
        <p:spPr>
          <a:xfrm>
            <a:off x="500063" y="3570288"/>
            <a:ext cx="8358187" cy="1587"/>
          </a:xfrm>
          <a:prstGeom prst="straightConnector1">
            <a:avLst/>
          </a:prstGeom>
          <a:ln w="28575">
            <a:solidFill>
              <a:srgbClr val="FF0000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rot="5400000">
            <a:off x="5608638" y="2249488"/>
            <a:ext cx="928687" cy="1587"/>
          </a:xfrm>
          <a:prstGeom prst="straightConnector1">
            <a:avLst/>
          </a:prstGeom>
          <a:ln w="571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上弧形箭头 36"/>
          <p:cNvSpPr/>
          <p:nvPr/>
        </p:nvSpPr>
        <p:spPr>
          <a:xfrm rot="10427947" flipH="1">
            <a:off x="7021513" y="4319588"/>
            <a:ext cx="642937" cy="428625"/>
          </a:xfrm>
          <a:prstGeom prst="curvedDownArrow">
            <a:avLst>
              <a:gd name="adj1" fmla="val 41363"/>
              <a:gd name="adj2" fmla="val 69549"/>
              <a:gd name="adj3" fmla="val 25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8" name="直接箭头连接符 37"/>
          <p:cNvCxnSpPr/>
          <p:nvPr/>
        </p:nvCxnSpPr>
        <p:spPr>
          <a:xfrm rot="2100000">
            <a:off x="6297613" y="2767013"/>
            <a:ext cx="928687" cy="1587"/>
          </a:xfrm>
          <a:prstGeom prst="straightConnector1">
            <a:avLst/>
          </a:prstGeom>
          <a:ln w="57150">
            <a:solidFill>
              <a:schemeClr val="bg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6643688" y="3563938"/>
            <a:ext cx="1714500" cy="1587"/>
          </a:xfrm>
          <a:prstGeom prst="line">
            <a:avLst/>
          </a:prstGeom>
          <a:ln w="57150">
            <a:solidFill>
              <a:srgbClr val="FF66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51"/>
          <p:cNvGrpSpPr>
            <a:grpSpLocks/>
          </p:cNvGrpSpPr>
          <p:nvPr/>
        </p:nvGrpSpPr>
        <p:grpSpPr bwMode="auto">
          <a:xfrm>
            <a:off x="3714750" y="1571625"/>
            <a:ext cx="2955925" cy="598488"/>
            <a:chOff x="3544572" y="972812"/>
            <a:chExt cx="2956254" cy="598800"/>
          </a:xfrm>
        </p:grpSpPr>
        <p:sp>
          <p:nvSpPr>
            <p:cNvPr id="49" name="圆角矩形 48"/>
            <p:cNvSpPr/>
            <p:nvPr/>
          </p:nvSpPr>
          <p:spPr>
            <a:xfrm>
              <a:off x="3544572" y="972812"/>
              <a:ext cx="1714691" cy="598800"/>
            </a:xfrm>
            <a:prstGeom prst="round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571563" y="1012521"/>
              <a:ext cx="2929263" cy="524148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b="1" dirty="0">
                  <a:solidFill>
                    <a:schemeClr val="tx1"/>
                  </a:solidFill>
                </a:rPr>
                <a:t>机械横波</a:t>
              </a:r>
            </a:p>
          </p:txBody>
        </p:sp>
      </p:grp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571500" y="5762625"/>
            <a:ext cx="7715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/>
              <a:t> 光波也是</a:t>
            </a:r>
            <a:r>
              <a:rPr lang="zh-CN" altLang="en-US" sz="2800" b="1">
                <a:solidFill>
                  <a:srgbClr val="0000CC"/>
                </a:solidFill>
              </a:rPr>
              <a:t>横波</a:t>
            </a:r>
            <a:r>
              <a:rPr lang="zh-CN" altLang="en-US" sz="2800" b="1"/>
              <a:t>，也会具有偏振现象</a:t>
            </a:r>
          </a:p>
        </p:txBody>
      </p:sp>
      <p:grpSp>
        <p:nvGrpSpPr>
          <p:cNvPr id="4" name="组合 53"/>
          <p:cNvGrpSpPr>
            <a:grpSpLocks/>
          </p:cNvGrpSpPr>
          <p:nvPr/>
        </p:nvGrpSpPr>
        <p:grpSpPr bwMode="auto">
          <a:xfrm>
            <a:off x="6858000" y="1543050"/>
            <a:ext cx="2428875" cy="528638"/>
            <a:chOff x="7187910" y="1007448"/>
            <a:chExt cx="2428892" cy="528576"/>
          </a:xfrm>
        </p:grpSpPr>
        <p:sp>
          <p:nvSpPr>
            <p:cNvPr id="44" name="TextBox 43"/>
            <p:cNvSpPr txBox="1"/>
            <p:nvPr/>
          </p:nvSpPr>
          <p:spPr>
            <a:xfrm>
              <a:off x="7215206" y="1012804"/>
              <a:ext cx="1643074" cy="523220"/>
            </a:xfrm>
            <a:prstGeom prst="rect">
              <a:avLst/>
            </a:prstGeom>
            <a:solidFill>
              <a:srgbClr val="FFC000"/>
            </a:solidFill>
            <a:ln w="38100"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7194" name="TextBox 52"/>
            <p:cNvSpPr txBox="1">
              <a:spLocks noChangeArrowheads="1"/>
            </p:cNvSpPr>
            <p:nvPr/>
          </p:nvSpPr>
          <p:spPr bwMode="auto">
            <a:xfrm>
              <a:off x="7187910" y="1007448"/>
              <a:ext cx="242889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偏振现象</a:t>
              </a:r>
            </a:p>
          </p:txBody>
        </p:sp>
      </p:grpSp>
      <p:sp>
        <p:nvSpPr>
          <p:cNvPr id="7185" name="TextBox 54"/>
          <p:cNvSpPr txBox="1">
            <a:spLocks noChangeArrowheads="1"/>
          </p:cNvSpPr>
          <p:nvPr/>
        </p:nvSpPr>
        <p:spPr bwMode="auto">
          <a:xfrm>
            <a:off x="8763000" y="6440488"/>
            <a:ext cx="3571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Picture 32" descr="F:\TDDOWNLOAD\7cd04275jw1dk0773eaxxg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313" y="5000625"/>
            <a:ext cx="1571625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10" descr="C:\Users\Administrator\Desktop\201011251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57686" y="2000240"/>
            <a:ext cx="3236853" cy="22140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reflection blurRad="12700" stA="38000" endPos="28000" dist="5000" dir="5400000" sy="-100000" algn="bl" rotWithShape="0"/>
          </a:effectLst>
        </p:spPr>
      </p:pic>
      <p:pic>
        <p:nvPicPr>
          <p:cNvPr id="35" name="Picture 9" descr="C:\Users\Administrator\Desktop\b0429jianx01s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357686" y="2000240"/>
            <a:ext cx="3244803" cy="22145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reflection blurRad="12700" stA="38000" endPos="28000" dist="5000" dir="5400000" sy="-100000" algn="bl" rotWithShape="0"/>
          </a:effectLst>
        </p:spPr>
      </p:pic>
      <p:pic>
        <p:nvPicPr>
          <p:cNvPr id="46" name="Picture 12" descr="C:\Users\Administrator\AppData\Roaming\Tencent\Users\188541213\QQ\WinTemp\RichOle\XQJ4OR46OV@4[NKG8HH7$GR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00364" y="4357694"/>
            <a:ext cx="2143140" cy="1131578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29" name="Text Box 10"/>
          <p:cNvSpPr txBox="1">
            <a:spLocks noChangeArrowheads="1"/>
          </p:cNvSpPr>
          <p:nvPr/>
        </p:nvSpPr>
        <p:spPr bwMode="auto">
          <a:xfrm>
            <a:off x="993775" y="252413"/>
            <a:ext cx="6900863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第</a:t>
            </a:r>
            <a:r>
              <a:rPr kumimoji="1" lang="en-US" altLang="zh-CN" sz="3200" b="1" dirty="0"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r>
              <a:rPr kumimoji="1"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节  偏振光与自然光</a:t>
            </a:r>
            <a:br>
              <a:rPr kumimoji="1"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</a:br>
            <a:r>
              <a:rPr kumimoji="1"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   </a:t>
            </a:r>
            <a:r>
              <a:rPr kumimoji="1"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Polarized Light and Natural Light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28" grpId="0"/>
      <p:bldP spid="37" grpId="0" animBg="1"/>
      <p:bldP spid="37" grpId="1" animBg="1"/>
      <p:bldP spid="51" grpId="0"/>
      <p:bldP spid="29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428596" y="1785926"/>
            <a:ext cx="8501122" cy="3571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4" name="右箭头 33"/>
          <p:cNvSpPr/>
          <p:nvPr/>
        </p:nvSpPr>
        <p:spPr>
          <a:xfrm>
            <a:off x="5224463" y="3214688"/>
            <a:ext cx="1368425" cy="357187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4558352" y="2745114"/>
            <a:ext cx="1285884" cy="128588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736269" lon="3201651" rev="2113364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1" name="右箭头 30"/>
          <p:cNvSpPr/>
          <p:nvPr/>
        </p:nvSpPr>
        <p:spPr>
          <a:xfrm>
            <a:off x="2825750" y="3200400"/>
            <a:ext cx="2376488" cy="357188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714375" y="3714750"/>
            <a:ext cx="1285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太阳光</a:t>
            </a:r>
          </a:p>
        </p:txBody>
      </p:sp>
      <p:pic>
        <p:nvPicPr>
          <p:cNvPr id="16" name="Picture 30" descr="C:\Documents and Settings\开开\桌面\2008060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438" y="2786063"/>
            <a:ext cx="100012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3214688" y="4252913"/>
            <a:ext cx="1785937" cy="46196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光强</a:t>
            </a:r>
            <a:r>
              <a:rPr lang="zh-CN" altLang="en-US" sz="2400" b="1">
                <a:solidFill>
                  <a:srgbClr val="FF0000"/>
                </a:solidFill>
              </a:rPr>
              <a:t>无</a:t>
            </a:r>
            <a:r>
              <a:rPr lang="zh-CN" altLang="en-US" sz="2400" b="1"/>
              <a:t>变化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5857875" y="2357438"/>
            <a:ext cx="1785938" cy="46196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光强</a:t>
            </a:r>
            <a:r>
              <a:rPr lang="zh-CN" altLang="en-US" sz="2400" b="1">
                <a:solidFill>
                  <a:srgbClr val="FF0000"/>
                </a:solidFill>
              </a:rPr>
              <a:t>有</a:t>
            </a:r>
            <a:r>
              <a:rPr lang="zh-CN" altLang="en-US" sz="2400" b="1"/>
              <a:t>变化</a:t>
            </a:r>
          </a:p>
        </p:txBody>
      </p:sp>
      <p:sp>
        <p:nvSpPr>
          <p:cNvPr id="9228" name="TextBox 20"/>
          <p:cNvSpPr txBox="1">
            <a:spLocks noChangeArrowheads="1"/>
          </p:cNvSpPr>
          <p:nvPr/>
        </p:nvSpPr>
        <p:spPr bwMode="auto">
          <a:xfrm>
            <a:off x="8763000" y="6440488"/>
            <a:ext cx="3571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2143108" y="2714620"/>
            <a:ext cx="1285884" cy="128588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736269" lon="3201651" rev="2113364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4" name="右箭头 13"/>
          <p:cNvSpPr/>
          <p:nvPr/>
        </p:nvSpPr>
        <p:spPr>
          <a:xfrm>
            <a:off x="1285875" y="3200400"/>
            <a:ext cx="1500188" cy="357188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2" name="组合 24"/>
          <p:cNvGrpSpPr>
            <a:grpSpLocks/>
          </p:cNvGrpSpPr>
          <p:nvPr/>
        </p:nvGrpSpPr>
        <p:grpSpPr bwMode="auto">
          <a:xfrm>
            <a:off x="1285875" y="2286000"/>
            <a:ext cx="1214438" cy="466725"/>
            <a:chOff x="2643174" y="3209280"/>
            <a:chExt cx="1214446" cy="467071"/>
          </a:xfrm>
        </p:grpSpPr>
        <p:sp>
          <p:nvSpPr>
            <p:cNvPr id="10" name="TextBox 9"/>
            <p:cNvSpPr txBox="1"/>
            <p:nvPr/>
          </p:nvSpPr>
          <p:spPr>
            <a:xfrm>
              <a:off x="2643174" y="3214686"/>
              <a:ext cx="1214446" cy="461665"/>
            </a:xfrm>
            <a:prstGeom prst="rect">
              <a:avLst/>
            </a:prstGeom>
            <a:solidFill>
              <a:srgbClr val="FFC000"/>
            </a:solidFill>
            <a:ln w="38100"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 b="1" dirty="0"/>
            </a:p>
          </p:txBody>
        </p:sp>
        <p:sp>
          <p:nvSpPr>
            <p:cNvPr id="9244" name="矩形 23"/>
            <p:cNvSpPr>
              <a:spLocks noChangeArrowheads="1"/>
            </p:cNvSpPr>
            <p:nvPr/>
          </p:nvSpPr>
          <p:spPr bwMode="auto">
            <a:xfrm>
              <a:off x="2673377" y="3209280"/>
              <a:ext cx="111280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</a:rPr>
                <a:t>偏振片</a:t>
              </a:r>
            </a:p>
          </p:txBody>
        </p:sp>
      </p:grpSp>
      <p:cxnSp>
        <p:nvCxnSpPr>
          <p:cNvPr id="26" name="直接连接符 25"/>
          <p:cNvCxnSpPr/>
          <p:nvPr/>
        </p:nvCxnSpPr>
        <p:spPr>
          <a:xfrm rot="5400000">
            <a:off x="1793081" y="3325019"/>
            <a:ext cx="2016125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9"/>
          <p:cNvGrpSpPr>
            <a:grpSpLocks/>
          </p:cNvGrpSpPr>
          <p:nvPr/>
        </p:nvGrpSpPr>
        <p:grpSpPr bwMode="auto">
          <a:xfrm>
            <a:off x="3143250" y="2214563"/>
            <a:ext cx="1571625" cy="571500"/>
            <a:chOff x="3500430" y="357166"/>
            <a:chExt cx="1571636" cy="571504"/>
          </a:xfrm>
        </p:grpSpPr>
        <p:sp>
          <p:nvSpPr>
            <p:cNvPr id="9239" name="矩形 27"/>
            <p:cNvSpPr>
              <a:spLocks noChangeArrowheads="1"/>
            </p:cNvSpPr>
            <p:nvPr/>
          </p:nvSpPr>
          <p:spPr bwMode="auto">
            <a:xfrm>
              <a:off x="3500430" y="428604"/>
              <a:ext cx="15716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</a:rPr>
                <a:t>透光轴</a:t>
              </a:r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3500430" y="357166"/>
              <a:ext cx="1143008" cy="571504"/>
            </a:xfrm>
            <a:prstGeom prst="round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32" name="弧形 31"/>
          <p:cNvSpPr/>
          <p:nvPr/>
        </p:nvSpPr>
        <p:spPr>
          <a:xfrm rot="6375412">
            <a:off x="2640807" y="3542506"/>
            <a:ext cx="576262" cy="574675"/>
          </a:xfrm>
          <a:prstGeom prst="arc">
            <a:avLst>
              <a:gd name="adj1" fmla="val 14948840"/>
              <a:gd name="adj2" fmla="val 0"/>
            </a:avLst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33" name="Picture 1" descr="J:\修改动态娃娃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6113" y="28575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6" name="直接连接符 35"/>
          <p:cNvCxnSpPr/>
          <p:nvPr/>
        </p:nvCxnSpPr>
        <p:spPr>
          <a:xfrm rot="5400000">
            <a:off x="4207669" y="3364707"/>
            <a:ext cx="2016125" cy="1587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弧形 36"/>
          <p:cNvSpPr/>
          <p:nvPr/>
        </p:nvSpPr>
        <p:spPr>
          <a:xfrm rot="6375412">
            <a:off x="5070475" y="3570288"/>
            <a:ext cx="574675" cy="574675"/>
          </a:xfrm>
          <a:prstGeom prst="arc">
            <a:avLst>
              <a:gd name="adj1" fmla="val 14948840"/>
              <a:gd name="adj2" fmla="val 0"/>
            </a:avLst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428625" y="714375"/>
            <a:ext cx="2857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演示实验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7200000">
                                      <p:cBhvr>
                                        <p:cTn id="5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94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1" grpId="0" animBg="1"/>
      <p:bldP spid="11" grpId="0"/>
      <p:bldP spid="17" grpId="0" animBg="1"/>
      <p:bldP spid="19" grpId="0" animBg="1"/>
      <p:bldP spid="14" grpId="0" animBg="1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圆角矩形 73"/>
          <p:cNvSpPr/>
          <p:nvPr/>
        </p:nvSpPr>
        <p:spPr>
          <a:xfrm>
            <a:off x="500034" y="1143008"/>
            <a:ext cx="7000924" cy="542926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130" name="直接箭头连接符 129"/>
          <p:cNvCxnSpPr/>
          <p:nvPr/>
        </p:nvCxnSpPr>
        <p:spPr>
          <a:xfrm flipV="1">
            <a:off x="3776657" y="5448579"/>
            <a:ext cx="1152000" cy="4498"/>
          </a:xfrm>
          <a:prstGeom prst="straightConnector1">
            <a:avLst/>
          </a:prstGeom>
          <a:ln w="28575">
            <a:solidFill>
              <a:srgbClr val="FFFF00"/>
            </a:solidFill>
            <a:headEnd type="none" w="med" len="med"/>
            <a:tailEnd type="triangle" w="med" len="med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/>
          <p:nvPr/>
        </p:nvCxnSpPr>
        <p:spPr>
          <a:xfrm flipV="1">
            <a:off x="3827463" y="5459413"/>
            <a:ext cx="1150937" cy="4762"/>
          </a:xfrm>
          <a:prstGeom prst="straightConnector1">
            <a:avLst/>
          </a:prstGeom>
          <a:ln w="76200">
            <a:solidFill>
              <a:srgbClr val="92D05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/>
          <p:nvPr/>
        </p:nvCxnSpPr>
        <p:spPr>
          <a:xfrm flipV="1">
            <a:off x="3786188" y="3729038"/>
            <a:ext cx="1152525" cy="3175"/>
          </a:xfrm>
          <a:prstGeom prst="straightConnector1">
            <a:avLst/>
          </a:prstGeom>
          <a:ln w="76200">
            <a:solidFill>
              <a:srgbClr val="92D05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V="1">
            <a:off x="3836988" y="2019300"/>
            <a:ext cx="1152525" cy="4763"/>
          </a:xfrm>
          <a:prstGeom prst="straightConnector1">
            <a:avLst/>
          </a:prstGeom>
          <a:ln w="76200">
            <a:solidFill>
              <a:srgbClr val="92D05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/>
        </p:nvSpPr>
        <p:spPr>
          <a:xfrm>
            <a:off x="3214678" y="1472878"/>
            <a:ext cx="1152000" cy="1152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736269" lon="3201651" rev="2113364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32" name="直接箭头连接符 31"/>
          <p:cNvCxnSpPr/>
          <p:nvPr/>
        </p:nvCxnSpPr>
        <p:spPr>
          <a:xfrm>
            <a:off x="2033588" y="2022475"/>
            <a:ext cx="1763712" cy="1588"/>
          </a:xfrm>
          <a:prstGeom prst="straightConnector1">
            <a:avLst/>
          </a:prstGeom>
          <a:ln w="76200">
            <a:solidFill>
              <a:srgbClr val="92D05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1552162" y="1433392"/>
            <a:ext cx="1152000" cy="1152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736269" lon="3201651" rev="2113364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 rot="5400000">
            <a:off x="1370013" y="2028825"/>
            <a:ext cx="1547812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728663" y="2019300"/>
            <a:ext cx="1403350" cy="4763"/>
          </a:xfrm>
          <a:prstGeom prst="straightConnector1">
            <a:avLst/>
          </a:prstGeom>
          <a:ln w="76200">
            <a:solidFill>
              <a:srgbClr val="92D05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rot="5400000">
            <a:off x="3032125" y="2065338"/>
            <a:ext cx="1547813" cy="1587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000628" y="2071678"/>
            <a:ext cx="2000264" cy="83099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+mn-lt"/>
                <a:ea typeface="+mn-ea"/>
              </a:rPr>
              <a:t>偏振片透明</a:t>
            </a:r>
            <a:endParaRPr lang="en-US" altLang="zh-CN" sz="2400" b="1" dirty="0">
              <a:latin typeface="+mn-lt"/>
              <a:ea typeface="+mn-ea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+mn-lt"/>
                <a:ea typeface="+mn-ea"/>
              </a:rPr>
              <a:t>光强最大</a:t>
            </a:r>
            <a:endParaRPr lang="en-US" altLang="zh-CN" sz="2400" b="1" dirty="0">
              <a:latin typeface="+mn-lt"/>
              <a:ea typeface="+mn-ea"/>
            </a:endParaRPr>
          </a:p>
        </p:txBody>
      </p:sp>
      <p:cxnSp>
        <p:nvCxnSpPr>
          <p:cNvPr id="75" name="直接连接符 74"/>
          <p:cNvCxnSpPr/>
          <p:nvPr/>
        </p:nvCxnSpPr>
        <p:spPr>
          <a:xfrm rot="1800000">
            <a:off x="2870200" y="5495925"/>
            <a:ext cx="1835150" cy="1588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 rot="5400000">
            <a:off x="2835275" y="5457825"/>
            <a:ext cx="1906588" cy="1588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072066" y="5181913"/>
            <a:ext cx="2786082" cy="461665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+mn-lt"/>
                <a:ea typeface="+mn-ea"/>
              </a:rPr>
              <a:t>光强连续变化</a:t>
            </a:r>
          </a:p>
        </p:txBody>
      </p:sp>
      <p:sp>
        <p:nvSpPr>
          <p:cNvPr id="10263" name="TextBox 71"/>
          <p:cNvSpPr txBox="1">
            <a:spLocks noChangeArrowheads="1"/>
          </p:cNvSpPr>
          <p:nvPr/>
        </p:nvSpPr>
        <p:spPr bwMode="auto">
          <a:xfrm>
            <a:off x="8763000" y="6440488"/>
            <a:ext cx="3571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428625" y="428625"/>
            <a:ext cx="2857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演示实验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grpSp>
        <p:nvGrpSpPr>
          <p:cNvPr id="3" name="组合 83"/>
          <p:cNvGrpSpPr>
            <a:grpSpLocks/>
          </p:cNvGrpSpPr>
          <p:nvPr/>
        </p:nvGrpSpPr>
        <p:grpSpPr bwMode="auto">
          <a:xfrm>
            <a:off x="1371600" y="2382838"/>
            <a:ext cx="1000125" cy="474662"/>
            <a:chOff x="1000100" y="1772278"/>
            <a:chExt cx="1000132" cy="475313"/>
          </a:xfrm>
        </p:grpSpPr>
        <p:sp>
          <p:nvSpPr>
            <p:cNvPr id="30" name="TextBox 29"/>
            <p:cNvSpPr txBox="1"/>
            <p:nvPr/>
          </p:nvSpPr>
          <p:spPr>
            <a:xfrm>
              <a:off x="1000100" y="1785926"/>
              <a:ext cx="428628" cy="4616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000100" y="1772278"/>
              <a:ext cx="1000132" cy="461665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latin typeface="Times New Roman" pitchFamily="18" charset="0"/>
                  <a:ea typeface="+mn-ea"/>
                  <a:cs typeface="Times New Roman" pitchFamily="18" charset="0"/>
                </a:rPr>
                <a:t>A</a:t>
              </a:r>
              <a:endPara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4" name="组合 84"/>
          <p:cNvGrpSpPr>
            <a:grpSpLocks/>
          </p:cNvGrpSpPr>
          <p:nvPr/>
        </p:nvGrpSpPr>
        <p:grpSpPr bwMode="auto">
          <a:xfrm>
            <a:off x="3057525" y="2357438"/>
            <a:ext cx="1000125" cy="474662"/>
            <a:chOff x="1000100" y="1772278"/>
            <a:chExt cx="1000132" cy="475313"/>
          </a:xfrm>
        </p:grpSpPr>
        <p:sp>
          <p:nvSpPr>
            <p:cNvPr id="86" name="TextBox 85"/>
            <p:cNvSpPr txBox="1"/>
            <p:nvPr/>
          </p:nvSpPr>
          <p:spPr>
            <a:xfrm>
              <a:off x="1000100" y="1785926"/>
              <a:ext cx="428628" cy="4616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1000100" y="1772278"/>
              <a:ext cx="1000132" cy="461665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latin typeface="Times New Roman" pitchFamily="18" charset="0"/>
                  <a:ea typeface="+mn-ea"/>
                  <a:cs typeface="Times New Roman" pitchFamily="18" charset="0"/>
                </a:rPr>
                <a:t>B</a:t>
              </a:r>
              <a:endPara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sp>
        <p:nvSpPr>
          <p:cNvPr id="91" name="弧形 90"/>
          <p:cNvSpPr/>
          <p:nvPr/>
        </p:nvSpPr>
        <p:spPr>
          <a:xfrm rot="6274054">
            <a:off x="3707606" y="3890170"/>
            <a:ext cx="574675" cy="576262"/>
          </a:xfrm>
          <a:prstGeom prst="arc">
            <a:avLst>
              <a:gd name="adj1" fmla="val 14948840"/>
              <a:gd name="adj2" fmla="val 0"/>
            </a:avLst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5" name="组合 105"/>
          <p:cNvGrpSpPr>
            <a:grpSpLocks/>
          </p:cNvGrpSpPr>
          <p:nvPr/>
        </p:nvGrpSpPr>
        <p:grpSpPr bwMode="auto">
          <a:xfrm>
            <a:off x="714375" y="2903538"/>
            <a:ext cx="3660775" cy="1643062"/>
            <a:chOff x="642910" y="2689867"/>
            <a:chExt cx="3660184" cy="1643074"/>
          </a:xfrm>
        </p:grpSpPr>
        <p:grpSp>
          <p:nvGrpSpPr>
            <p:cNvPr id="10309" name="组合 104"/>
            <p:cNvGrpSpPr>
              <a:grpSpLocks/>
            </p:cNvGrpSpPr>
            <p:nvPr/>
          </p:nvGrpSpPr>
          <p:grpSpPr bwMode="auto">
            <a:xfrm>
              <a:off x="642910" y="2908837"/>
              <a:ext cx="3660184" cy="1424104"/>
              <a:chOff x="642910" y="2908837"/>
              <a:chExt cx="3660184" cy="1424104"/>
            </a:xfrm>
          </p:grpSpPr>
          <p:sp>
            <p:nvSpPr>
              <p:cNvPr id="93" name="椭圆 92"/>
              <p:cNvSpPr/>
              <p:nvPr/>
            </p:nvSpPr>
            <p:spPr>
              <a:xfrm>
                <a:off x="3151094" y="2948323"/>
                <a:ext cx="1152000" cy="1152000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34925">
                <a:solidFill>
                  <a:srgbClr val="FFFFFF"/>
                </a:solidFill>
              </a:ln>
              <a:effectLst>
                <a:outerShdw blurRad="317500" dir="2700000" algn="ctr">
                  <a:srgbClr val="000000">
                    <a:alpha val="43000"/>
                  </a:srgbClr>
                </a:outerShdw>
              </a:effectLst>
              <a:scene3d>
                <a:camera prst="isometricOffAxis1Left">
                  <a:rot lat="736269" lon="3201651" rev="21133640"/>
                </a:camera>
                <a:lightRig rig="threePt" dir="t">
                  <a:rot lat="0" lon="0" rev="0"/>
                </a:lightRig>
              </a:scene3d>
              <a:sp3d extrusionH="38100" prstMaterial="clear">
                <a:bevelT w="260350" h="50800"/>
                <a:bevelB h="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cxnSp>
            <p:nvCxnSpPr>
              <p:cNvPr id="94" name="直接箭头连接符 93"/>
              <p:cNvCxnSpPr/>
              <p:nvPr/>
            </p:nvCxnSpPr>
            <p:spPr>
              <a:xfrm>
                <a:off x="1934926" y="3512198"/>
                <a:ext cx="1765015" cy="1587"/>
              </a:xfrm>
              <a:prstGeom prst="straightConnector1">
                <a:avLst/>
              </a:prstGeom>
              <a:ln w="76200">
                <a:solidFill>
                  <a:srgbClr val="92D050"/>
                </a:solidFill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椭圆 94"/>
              <p:cNvSpPr/>
              <p:nvPr/>
            </p:nvSpPr>
            <p:spPr>
              <a:xfrm>
                <a:off x="1480724" y="2908837"/>
                <a:ext cx="1152000" cy="1152000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34925">
                <a:solidFill>
                  <a:srgbClr val="FFFFFF"/>
                </a:solidFill>
              </a:ln>
              <a:effectLst>
                <a:outerShdw blurRad="317500" dir="2700000" algn="ctr">
                  <a:srgbClr val="000000">
                    <a:alpha val="43000"/>
                  </a:srgbClr>
                </a:outerShdw>
              </a:effectLst>
              <a:scene3d>
                <a:camera prst="isometricOffAxis1Left">
                  <a:rot lat="736269" lon="3201651" rev="21133640"/>
                </a:camera>
                <a:lightRig rig="threePt" dir="t">
                  <a:rot lat="0" lon="0" rev="0"/>
                </a:lightRig>
              </a:scene3d>
              <a:sp3d extrusionH="38100" prstMaterial="clear">
                <a:bevelT w="260350" h="50800"/>
                <a:bevelB h="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cxnSp>
            <p:nvCxnSpPr>
              <p:cNvPr id="97" name="直接箭头连接符 96"/>
              <p:cNvCxnSpPr/>
              <p:nvPr/>
            </p:nvCxnSpPr>
            <p:spPr>
              <a:xfrm>
                <a:off x="642910" y="3494735"/>
                <a:ext cx="1404711" cy="4763"/>
              </a:xfrm>
              <a:prstGeom prst="straightConnector1">
                <a:avLst/>
              </a:prstGeom>
              <a:ln w="76200">
                <a:solidFill>
                  <a:srgbClr val="92D050"/>
                </a:solidFill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315" name="组合 98"/>
              <p:cNvGrpSpPr>
                <a:grpSpLocks/>
              </p:cNvGrpSpPr>
              <p:nvPr/>
            </p:nvGrpSpPr>
            <p:grpSpPr bwMode="auto">
              <a:xfrm>
                <a:off x="1285852" y="3857628"/>
                <a:ext cx="1000132" cy="475313"/>
                <a:chOff x="1000100" y="1772278"/>
                <a:chExt cx="1000132" cy="475313"/>
              </a:xfrm>
            </p:grpSpPr>
            <p:sp>
              <p:nvSpPr>
                <p:cNvPr id="100" name="TextBox 99"/>
                <p:cNvSpPr txBox="1"/>
                <p:nvPr/>
              </p:nvSpPr>
              <p:spPr>
                <a:xfrm>
                  <a:off x="1000100" y="1785926"/>
                  <a:ext cx="428628" cy="461665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glow" dir="t">
                    <a:rot lat="0" lon="0" rev="14100000"/>
                  </a:lightRig>
                </a:scene3d>
                <a:sp3d prstMaterial="softEdge">
                  <a:bevelT w="127000" prst="artDeco"/>
                </a:sp3d>
              </p:spPr>
              <p:txBody>
                <a:bodyPr>
                  <a:spAutoFit/>
                </a:bodyPr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400" b="1" dirty="0">
                    <a:latin typeface="Times New Roman" pitchFamily="18" charset="0"/>
                    <a:ea typeface="+mn-ea"/>
                    <a:cs typeface="Times New Roman" pitchFamily="18" charset="0"/>
                  </a:endParaRPr>
                </a:p>
              </p:txBody>
            </p:sp>
            <p:sp>
              <p:nvSpPr>
                <p:cNvPr id="101" name="TextBox 100"/>
                <p:cNvSpPr txBox="1"/>
                <p:nvPr/>
              </p:nvSpPr>
              <p:spPr>
                <a:xfrm>
                  <a:off x="1000100" y="1772278"/>
                  <a:ext cx="1000132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glow" dir="t">
                    <a:rot lat="0" lon="0" rev="14100000"/>
                  </a:lightRig>
                </a:scene3d>
                <a:sp3d prstMaterial="softEdge">
                  <a:bevelT w="127000" prst="artDeco"/>
                </a:sp3d>
              </p:spPr>
              <p:txBody>
                <a:bodyPr>
                  <a:spAutoFit/>
                </a:bodyPr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2400" b="1" dirty="0">
                      <a:latin typeface="Times New Roman" pitchFamily="18" charset="0"/>
                      <a:ea typeface="+mn-ea"/>
                      <a:cs typeface="Times New Roman" pitchFamily="18" charset="0"/>
                    </a:rPr>
                    <a:t>A</a:t>
                  </a:r>
                  <a:endParaRPr lang="zh-CN" altLang="en-US" sz="2400" b="1" dirty="0">
                    <a:latin typeface="Times New Roman" pitchFamily="18" charset="0"/>
                    <a:ea typeface="+mn-ea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10316" name="组合 101"/>
              <p:cNvGrpSpPr>
                <a:grpSpLocks/>
              </p:cNvGrpSpPr>
              <p:nvPr/>
            </p:nvGrpSpPr>
            <p:grpSpPr bwMode="auto">
              <a:xfrm>
                <a:off x="2973068" y="3832875"/>
                <a:ext cx="1000132" cy="475313"/>
                <a:chOff x="1000100" y="1772278"/>
                <a:chExt cx="1000132" cy="475313"/>
              </a:xfrm>
            </p:grpSpPr>
            <p:sp>
              <p:nvSpPr>
                <p:cNvPr id="103" name="TextBox 102"/>
                <p:cNvSpPr txBox="1"/>
                <p:nvPr/>
              </p:nvSpPr>
              <p:spPr>
                <a:xfrm>
                  <a:off x="1000100" y="1785926"/>
                  <a:ext cx="428628" cy="461665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glow" dir="t">
                    <a:rot lat="0" lon="0" rev="14100000"/>
                  </a:lightRig>
                </a:scene3d>
                <a:sp3d prstMaterial="softEdge">
                  <a:bevelT w="127000" prst="artDeco"/>
                </a:sp3d>
              </p:spPr>
              <p:txBody>
                <a:bodyPr>
                  <a:spAutoFit/>
                </a:bodyPr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400" b="1" dirty="0">
                    <a:latin typeface="Times New Roman" pitchFamily="18" charset="0"/>
                    <a:ea typeface="+mn-ea"/>
                    <a:cs typeface="Times New Roman" pitchFamily="18" charset="0"/>
                  </a:endParaRPr>
                </a:p>
              </p:txBody>
            </p:sp>
            <p:sp>
              <p:nvSpPr>
                <p:cNvPr id="104" name="TextBox 103"/>
                <p:cNvSpPr txBox="1"/>
                <p:nvPr/>
              </p:nvSpPr>
              <p:spPr>
                <a:xfrm>
                  <a:off x="1000100" y="1772278"/>
                  <a:ext cx="1000132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glow" dir="t">
                    <a:rot lat="0" lon="0" rev="14100000"/>
                  </a:lightRig>
                </a:scene3d>
                <a:sp3d prstMaterial="softEdge">
                  <a:bevelT w="127000" prst="artDeco"/>
                </a:sp3d>
              </p:spPr>
              <p:txBody>
                <a:bodyPr>
                  <a:spAutoFit/>
                </a:bodyPr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2400" b="1" dirty="0">
                      <a:latin typeface="Times New Roman" pitchFamily="18" charset="0"/>
                      <a:ea typeface="+mn-ea"/>
                      <a:cs typeface="Times New Roman" pitchFamily="18" charset="0"/>
                    </a:rPr>
                    <a:t>B</a:t>
                  </a:r>
                  <a:endParaRPr lang="zh-CN" altLang="en-US" sz="2400" b="1" dirty="0">
                    <a:latin typeface="Times New Roman" pitchFamily="18" charset="0"/>
                    <a:ea typeface="+mn-ea"/>
                    <a:cs typeface="Times New Roman" pitchFamily="18" charset="0"/>
                  </a:endParaRPr>
                </a:p>
              </p:txBody>
            </p:sp>
          </p:grpSp>
        </p:grpSp>
        <p:cxnSp>
          <p:nvCxnSpPr>
            <p:cNvPr id="96" name="直接连接符 95"/>
            <p:cNvCxnSpPr/>
            <p:nvPr/>
          </p:nvCxnSpPr>
          <p:spPr>
            <a:xfrm rot="5400000">
              <a:off x="1249894" y="3498704"/>
              <a:ext cx="1619262" cy="1588"/>
            </a:xfrm>
            <a:prstGeom prst="line">
              <a:avLst/>
            </a:prstGeom>
            <a:ln w="38100">
              <a:solidFill>
                <a:srgbClr val="FF000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8" name="直接连接符 97"/>
          <p:cNvCxnSpPr/>
          <p:nvPr/>
        </p:nvCxnSpPr>
        <p:spPr>
          <a:xfrm rot="5400000">
            <a:off x="2990850" y="3765550"/>
            <a:ext cx="1620838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54"/>
          <p:cNvGrpSpPr>
            <a:grpSpLocks/>
          </p:cNvGrpSpPr>
          <p:nvPr/>
        </p:nvGrpSpPr>
        <p:grpSpPr bwMode="auto">
          <a:xfrm>
            <a:off x="4929188" y="3124200"/>
            <a:ext cx="2143125" cy="1590675"/>
            <a:chOff x="6715140" y="857232"/>
            <a:chExt cx="2143140" cy="1591402"/>
          </a:xfrm>
        </p:grpSpPr>
        <p:graphicFrame>
          <p:nvGraphicFramePr>
            <p:cNvPr id="10304" name="Object 2"/>
            <p:cNvGraphicFramePr>
              <a:graphicFrameLocks noChangeAspect="1"/>
            </p:cNvGraphicFramePr>
            <p:nvPr/>
          </p:nvGraphicFramePr>
          <p:xfrm>
            <a:off x="7147076" y="962773"/>
            <a:ext cx="10922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7" name="Equation" r:id="rId3" imgW="444114" imgH="164957" progId="Equation.DSMT4">
                    <p:embed/>
                  </p:oleObj>
                </mc:Choice>
                <mc:Fallback>
                  <p:oleObj name="Equation" r:id="rId3" imgW="444114" imgH="164957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47076" y="962773"/>
                          <a:ext cx="10922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" name="TextBox 56"/>
            <p:cNvSpPr txBox="1"/>
            <p:nvPr/>
          </p:nvSpPr>
          <p:spPr>
            <a:xfrm>
              <a:off x="6715140" y="1617637"/>
              <a:ext cx="2143140" cy="830997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latin typeface="+mn-lt"/>
                  <a:ea typeface="+mn-ea"/>
                </a:rPr>
                <a:t>偏振片全黑</a:t>
              </a:r>
              <a:endParaRPr lang="en-US" altLang="zh-CN" sz="2400" b="1" dirty="0">
                <a:latin typeface="+mn-lt"/>
                <a:ea typeface="+mn-ea"/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latin typeface="+mn-lt"/>
                  <a:ea typeface="+mn-ea"/>
                </a:rPr>
                <a:t>消光</a:t>
              </a:r>
            </a:p>
          </p:txBody>
        </p:sp>
        <p:sp>
          <p:nvSpPr>
            <p:cNvPr id="58" name="圆角矩形 57"/>
            <p:cNvSpPr/>
            <p:nvPr/>
          </p:nvSpPr>
          <p:spPr>
            <a:xfrm>
              <a:off x="7143768" y="857232"/>
              <a:ext cx="1143008" cy="643232"/>
            </a:xfrm>
            <a:prstGeom prst="roundRect">
              <a:avLst/>
            </a:prstGeom>
            <a:noFill/>
            <a:ln w="38100">
              <a:solidFill>
                <a:srgbClr val="FF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10" name="组合 107"/>
          <p:cNvGrpSpPr>
            <a:grpSpLocks/>
          </p:cNvGrpSpPr>
          <p:nvPr/>
        </p:nvGrpSpPr>
        <p:grpSpPr bwMode="auto">
          <a:xfrm>
            <a:off x="714375" y="4646613"/>
            <a:ext cx="3660775" cy="1643062"/>
            <a:chOff x="642910" y="2689867"/>
            <a:chExt cx="3660184" cy="1643074"/>
          </a:xfrm>
        </p:grpSpPr>
        <p:grpSp>
          <p:nvGrpSpPr>
            <p:cNvPr id="10284" name="组合 108"/>
            <p:cNvGrpSpPr>
              <a:grpSpLocks/>
            </p:cNvGrpSpPr>
            <p:nvPr/>
          </p:nvGrpSpPr>
          <p:grpSpPr bwMode="auto">
            <a:xfrm>
              <a:off x="642910" y="2908837"/>
              <a:ext cx="3660184" cy="1424104"/>
              <a:chOff x="642910" y="2908837"/>
              <a:chExt cx="3660184" cy="1424104"/>
            </a:xfrm>
          </p:grpSpPr>
          <p:sp>
            <p:nvSpPr>
              <p:cNvPr id="111" name="椭圆 110"/>
              <p:cNvSpPr/>
              <p:nvPr/>
            </p:nvSpPr>
            <p:spPr>
              <a:xfrm>
                <a:off x="3151094" y="2948323"/>
                <a:ext cx="1152000" cy="1152000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34925">
                <a:solidFill>
                  <a:srgbClr val="FFFFFF"/>
                </a:solidFill>
              </a:ln>
              <a:effectLst>
                <a:outerShdw blurRad="317500" dir="2700000" algn="ctr">
                  <a:srgbClr val="000000">
                    <a:alpha val="43000"/>
                  </a:srgbClr>
                </a:outerShdw>
              </a:effectLst>
              <a:scene3d>
                <a:camera prst="isometricOffAxis1Left">
                  <a:rot lat="736269" lon="3201651" rev="21133640"/>
                </a:camera>
                <a:lightRig rig="threePt" dir="t">
                  <a:rot lat="0" lon="0" rev="0"/>
                </a:lightRig>
              </a:scene3d>
              <a:sp3d extrusionH="38100" prstMaterial="clear">
                <a:bevelT w="260350" h="50800"/>
                <a:bevelB h="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cxnSp>
            <p:nvCxnSpPr>
              <p:cNvPr id="112" name="直接箭头连接符 111"/>
              <p:cNvCxnSpPr/>
              <p:nvPr/>
            </p:nvCxnSpPr>
            <p:spPr>
              <a:xfrm>
                <a:off x="1949212" y="3497910"/>
                <a:ext cx="1692002" cy="1588"/>
              </a:xfrm>
              <a:prstGeom prst="straightConnector1">
                <a:avLst/>
              </a:prstGeom>
              <a:ln w="76200">
                <a:solidFill>
                  <a:srgbClr val="92D050"/>
                </a:solidFill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椭圆 112"/>
              <p:cNvSpPr/>
              <p:nvPr/>
            </p:nvSpPr>
            <p:spPr>
              <a:xfrm>
                <a:off x="1480724" y="2908837"/>
                <a:ext cx="1152000" cy="1152000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34925">
                <a:solidFill>
                  <a:srgbClr val="FFFFFF"/>
                </a:solidFill>
              </a:ln>
              <a:effectLst>
                <a:outerShdw blurRad="317500" dir="2700000" algn="ctr">
                  <a:srgbClr val="000000">
                    <a:alpha val="43000"/>
                  </a:srgbClr>
                </a:outerShdw>
              </a:effectLst>
              <a:scene3d>
                <a:camera prst="isometricOffAxis1Left">
                  <a:rot lat="736269" lon="3201651" rev="21133640"/>
                </a:camera>
                <a:lightRig rig="threePt" dir="t">
                  <a:rot lat="0" lon="0" rev="0"/>
                </a:lightRig>
              </a:scene3d>
              <a:sp3d extrusionH="38100" prstMaterial="clear">
                <a:bevelT w="260350" h="50800"/>
                <a:bevelB h="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cxnSp>
            <p:nvCxnSpPr>
              <p:cNvPr id="114" name="直接箭头连接符 113"/>
              <p:cNvCxnSpPr/>
              <p:nvPr/>
            </p:nvCxnSpPr>
            <p:spPr>
              <a:xfrm>
                <a:off x="642910" y="3494735"/>
                <a:ext cx="1404711" cy="4763"/>
              </a:xfrm>
              <a:prstGeom prst="straightConnector1">
                <a:avLst/>
              </a:prstGeom>
              <a:ln w="76200">
                <a:solidFill>
                  <a:srgbClr val="92D050"/>
                </a:solidFill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290" name="组合 114"/>
              <p:cNvGrpSpPr>
                <a:grpSpLocks/>
              </p:cNvGrpSpPr>
              <p:nvPr/>
            </p:nvGrpSpPr>
            <p:grpSpPr bwMode="auto">
              <a:xfrm>
                <a:off x="1285852" y="3857628"/>
                <a:ext cx="1000132" cy="475313"/>
                <a:chOff x="1000100" y="1772278"/>
                <a:chExt cx="1000132" cy="475313"/>
              </a:xfrm>
            </p:grpSpPr>
            <p:sp>
              <p:nvSpPr>
                <p:cNvPr id="119" name="TextBox 118"/>
                <p:cNvSpPr txBox="1"/>
                <p:nvPr/>
              </p:nvSpPr>
              <p:spPr>
                <a:xfrm>
                  <a:off x="1000100" y="1785926"/>
                  <a:ext cx="428628" cy="461665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glow" dir="t">
                    <a:rot lat="0" lon="0" rev="14100000"/>
                  </a:lightRig>
                </a:scene3d>
                <a:sp3d prstMaterial="softEdge">
                  <a:bevelT w="127000" prst="artDeco"/>
                </a:sp3d>
              </p:spPr>
              <p:txBody>
                <a:bodyPr>
                  <a:spAutoFit/>
                </a:bodyPr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400" b="1" dirty="0">
                    <a:latin typeface="Times New Roman" pitchFamily="18" charset="0"/>
                    <a:ea typeface="+mn-ea"/>
                    <a:cs typeface="Times New Roman" pitchFamily="18" charset="0"/>
                  </a:endParaRPr>
                </a:p>
              </p:txBody>
            </p:sp>
            <p:sp>
              <p:nvSpPr>
                <p:cNvPr id="120" name="TextBox 119"/>
                <p:cNvSpPr txBox="1"/>
                <p:nvPr/>
              </p:nvSpPr>
              <p:spPr>
                <a:xfrm>
                  <a:off x="1000100" y="1772278"/>
                  <a:ext cx="1000132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glow" dir="t">
                    <a:rot lat="0" lon="0" rev="14100000"/>
                  </a:lightRig>
                </a:scene3d>
                <a:sp3d prstMaterial="softEdge">
                  <a:bevelT w="127000" prst="artDeco"/>
                </a:sp3d>
              </p:spPr>
              <p:txBody>
                <a:bodyPr>
                  <a:spAutoFit/>
                </a:bodyPr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2400" b="1" dirty="0">
                      <a:latin typeface="Times New Roman" pitchFamily="18" charset="0"/>
                      <a:ea typeface="+mn-ea"/>
                      <a:cs typeface="Times New Roman" pitchFamily="18" charset="0"/>
                    </a:rPr>
                    <a:t>A</a:t>
                  </a:r>
                  <a:endParaRPr lang="zh-CN" altLang="en-US" sz="2400" b="1" dirty="0">
                    <a:latin typeface="Times New Roman" pitchFamily="18" charset="0"/>
                    <a:ea typeface="+mn-ea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10291" name="组合 115"/>
              <p:cNvGrpSpPr>
                <a:grpSpLocks/>
              </p:cNvGrpSpPr>
              <p:nvPr/>
            </p:nvGrpSpPr>
            <p:grpSpPr bwMode="auto">
              <a:xfrm>
                <a:off x="2973068" y="3832875"/>
                <a:ext cx="1000132" cy="475313"/>
                <a:chOff x="1000100" y="1772278"/>
                <a:chExt cx="1000132" cy="475313"/>
              </a:xfrm>
            </p:grpSpPr>
            <p:sp>
              <p:nvSpPr>
                <p:cNvPr id="117" name="TextBox 116"/>
                <p:cNvSpPr txBox="1"/>
                <p:nvPr/>
              </p:nvSpPr>
              <p:spPr>
                <a:xfrm>
                  <a:off x="1000100" y="1785926"/>
                  <a:ext cx="428628" cy="461665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glow" dir="t">
                    <a:rot lat="0" lon="0" rev="14100000"/>
                  </a:lightRig>
                </a:scene3d>
                <a:sp3d prstMaterial="softEdge">
                  <a:bevelT w="127000" prst="artDeco"/>
                </a:sp3d>
              </p:spPr>
              <p:txBody>
                <a:bodyPr>
                  <a:spAutoFit/>
                </a:bodyPr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400" b="1" dirty="0">
                    <a:latin typeface="Times New Roman" pitchFamily="18" charset="0"/>
                    <a:ea typeface="+mn-ea"/>
                    <a:cs typeface="Times New Roman" pitchFamily="18" charset="0"/>
                  </a:endParaRPr>
                </a:p>
              </p:txBody>
            </p:sp>
            <p:sp>
              <p:nvSpPr>
                <p:cNvPr id="118" name="TextBox 117"/>
                <p:cNvSpPr txBox="1"/>
                <p:nvPr/>
              </p:nvSpPr>
              <p:spPr>
                <a:xfrm>
                  <a:off x="1000100" y="1772278"/>
                  <a:ext cx="1000132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glow" dir="t">
                    <a:rot lat="0" lon="0" rev="14100000"/>
                  </a:lightRig>
                </a:scene3d>
                <a:sp3d prstMaterial="softEdge">
                  <a:bevelT w="127000" prst="artDeco"/>
                </a:sp3d>
              </p:spPr>
              <p:txBody>
                <a:bodyPr>
                  <a:spAutoFit/>
                </a:bodyPr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2400" b="1" dirty="0">
                      <a:latin typeface="Times New Roman" pitchFamily="18" charset="0"/>
                      <a:ea typeface="+mn-ea"/>
                      <a:cs typeface="Times New Roman" pitchFamily="18" charset="0"/>
                    </a:rPr>
                    <a:t>B</a:t>
                  </a:r>
                  <a:endParaRPr lang="zh-CN" altLang="en-US" sz="2400" b="1" dirty="0">
                    <a:latin typeface="Times New Roman" pitchFamily="18" charset="0"/>
                    <a:ea typeface="+mn-ea"/>
                    <a:cs typeface="Times New Roman" pitchFamily="18" charset="0"/>
                  </a:endParaRPr>
                </a:p>
              </p:txBody>
            </p:sp>
          </p:grpSp>
        </p:grpSp>
        <p:cxnSp>
          <p:nvCxnSpPr>
            <p:cNvPr id="110" name="直接连接符 109"/>
            <p:cNvCxnSpPr/>
            <p:nvPr/>
          </p:nvCxnSpPr>
          <p:spPr>
            <a:xfrm rot="5400000">
              <a:off x="1249894" y="3498704"/>
              <a:ext cx="1619262" cy="1588"/>
            </a:xfrm>
            <a:prstGeom prst="line">
              <a:avLst/>
            </a:prstGeom>
            <a:ln w="38100">
              <a:solidFill>
                <a:srgbClr val="FF000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1" name="直接连接符 120"/>
          <p:cNvCxnSpPr/>
          <p:nvPr/>
        </p:nvCxnSpPr>
        <p:spPr>
          <a:xfrm rot="1800000">
            <a:off x="3027363" y="5494338"/>
            <a:ext cx="1547812" cy="1587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弧形 123"/>
          <p:cNvSpPr/>
          <p:nvPr/>
        </p:nvSpPr>
        <p:spPr>
          <a:xfrm rot="6274054">
            <a:off x="3635375" y="5635625"/>
            <a:ext cx="576263" cy="576263"/>
          </a:xfrm>
          <a:prstGeom prst="arc">
            <a:avLst>
              <a:gd name="adj1" fmla="val 14948840"/>
              <a:gd name="adj2" fmla="val 0"/>
            </a:avLst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125" name="直接连接符 124"/>
          <p:cNvCxnSpPr/>
          <p:nvPr/>
        </p:nvCxnSpPr>
        <p:spPr>
          <a:xfrm rot="5400000">
            <a:off x="2986882" y="5514181"/>
            <a:ext cx="1619250" cy="1587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 rot="7260000">
            <a:off x="2960688" y="5541963"/>
            <a:ext cx="1620837" cy="1587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弧形 127"/>
          <p:cNvSpPr/>
          <p:nvPr/>
        </p:nvSpPr>
        <p:spPr>
          <a:xfrm rot="-1080000">
            <a:off x="3714750" y="5116513"/>
            <a:ext cx="225425" cy="285750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1027" name="Object 6"/>
          <p:cNvGraphicFramePr>
            <a:graphicFrameLocks noChangeAspect="1"/>
          </p:cNvGraphicFramePr>
          <p:nvPr/>
        </p:nvGraphicFramePr>
        <p:xfrm>
          <a:off x="3786188" y="4786313"/>
          <a:ext cx="31115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8" name="Equation" r:id="rId5" imgW="152334" imgH="139639" progId="Equation.DSMT4">
                  <p:embed/>
                </p:oleObj>
              </mc:Choice>
              <mc:Fallback>
                <p:oleObj name="Equation" r:id="rId5" imgW="152334" imgH="13963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4786313"/>
                        <a:ext cx="31115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4"/>
          <p:cNvGrpSpPr>
            <a:grpSpLocks/>
          </p:cNvGrpSpPr>
          <p:nvPr/>
        </p:nvGrpSpPr>
        <p:grpSpPr bwMode="auto">
          <a:xfrm>
            <a:off x="5424488" y="1357313"/>
            <a:ext cx="1138237" cy="600075"/>
            <a:chOff x="5424493" y="1357298"/>
            <a:chExt cx="1138246" cy="600079"/>
          </a:xfrm>
        </p:grpSpPr>
        <p:sp>
          <p:nvSpPr>
            <p:cNvPr id="134" name="圆角矩形 133"/>
            <p:cNvSpPr/>
            <p:nvPr/>
          </p:nvSpPr>
          <p:spPr>
            <a:xfrm>
              <a:off x="5424493" y="1357298"/>
              <a:ext cx="1138246" cy="60007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pic>
          <p:nvPicPr>
            <p:cNvPr id="10283" name="Picture 9" descr="C:\Users\Administrator\AppData\Roaming\Tencent\Users\188541213\QQ\WinTemp\RichOle\P]71UFO7TH(QT$`B_HO`%2S.jp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0226" y="1428736"/>
              <a:ext cx="9429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056" name="Picture 8" descr="C:\Users\Administrator\Desktop\IMG_20131018_065812.jpg"/>
          <p:cNvPicPr>
            <a:picLocks noChangeAspect="1" noChangeArrowheads="1"/>
          </p:cNvPicPr>
          <p:nvPr/>
        </p:nvPicPr>
        <p:blipFill>
          <a:blip r:embed="rId8" cstate="print"/>
          <a:srcRect l="17187" r="20937" b="1763"/>
          <a:stretch>
            <a:fillRect/>
          </a:stretch>
        </p:blipFill>
        <p:spPr bwMode="auto">
          <a:xfrm>
            <a:off x="7000892" y="571480"/>
            <a:ext cx="1928826" cy="184504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" name="Picture 9" descr="C:\Users\Administrator\Desktop\IMG_20131018_065927.jpg"/>
          <p:cNvPicPr>
            <a:picLocks noChangeAspect="1" noChangeArrowheads="1"/>
          </p:cNvPicPr>
          <p:nvPr/>
        </p:nvPicPr>
        <p:blipFill>
          <a:blip r:embed="rId9" cstate="print">
            <a:lum bright="-30000"/>
          </a:blip>
          <a:srcRect l="16250" r="20937"/>
          <a:stretch>
            <a:fillRect/>
          </a:stretch>
        </p:blipFill>
        <p:spPr bwMode="auto">
          <a:xfrm>
            <a:off x="7000892" y="2643182"/>
            <a:ext cx="1928826" cy="18501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058" name="Picture 10" descr="C:\Users\Administrator\Desktop\IMG_20131018_065833.jpg"/>
          <p:cNvPicPr>
            <a:picLocks noChangeAspect="1" noChangeArrowheads="1"/>
          </p:cNvPicPr>
          <p:nvPr/>
        </p:nvPicPr>
        <p:blipFill>
          <a:blip r:embed="rId10" cstate="print"/>
          <a:srcRect l="19062" r="20937"/>
          <a:stretch>
            <a:fillRect/>
          </a:stretch>
        </p:blipFill>
        <p:spPr bwMode="auto">
          <a:xfrm>
            <a:off x="7072330" y="4714884"/>
            <a:ext cx="1857388" cy="18651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6960000">
                                      <p:cBhvr>
                                        <p:cTn id="87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2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119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7200000">
                                      <p:cBhvr>
                                        <p:cTn id="131" dur="2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3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6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Box 3"/>
          <p:cNvSpPr txBox="1">
            <a:spLocks noChangeArrowheads="1"/>
          </p:cNvSpPr>
          <p:nvPr/>
        </p:nvSpPr>
        <p:spPr bwMode="auto">
          <a:xfrm>
            <a:off x="8763000" y="6440488"/>
            <a:ext cx="3571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1042988" y="700088"/>
            <a:ext cx="2071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偏振光：</a:t>
            </a:r>
          </a:p>
        </p:txBody>
      </p:sp>
      <p:sp>
        <p:nvSpPr>
          <p:cNvPr id="6" name="AutoShape 4"/>
          <p:cNvSpPr>
            <a:spLocks/>
          </p:cNvSpPr>
          <p:nvPr/>
        </p:nvSpPr>
        <p:spPr bwMode="auto">
          <a:xfrm>
            <a:off x="2898775" y="419100"/>
            <a:ext cx="357188" cy="1138238"/>
          </a:xfrm>
          <a:prstGeom prst="leftBrace">
            <a:avLst>
              <a:gd name="adj1" fmla="val 38889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40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186113" y="244475"/>
            <a:ext cx="3349625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  <a:t>完全偏振（线偏振）</a:t>
            </a:r>
            <a:endParaRPr kumimoji="1" lang="en-US" altLang="zh-CN" sz="2800" b="1" dirty="0">
              <a:solidFill>
                <a:srgbClr val="0000CC"/>
              </a:solidFill>
              <a:latin typeface="+mn-ea"/>
              <a:ea typeface="+mn-ea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  <a:t>部分偏振 </a:t>
            </a:r>
            <a:br>
              <a:rPr kumimoji="1"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</a:br>
            <a:r>
              <a:rPr kumimoji="1"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  <a:t>椭圆（圆）偏振</a:t>
            </a:r>
          </a:p>
        </p:txBody>
      </p:sp>
      <p:sp>
        <p:nvSpPr>
          <p:cNvPr id="12" name="Line 19"/>
          <p:cNvSpPr>
            <a:spLocks noChangeShapeType="1"/>
          </p:cNvSpPr>
          <p:nvPr/>
        </p:nvSpPr>
        <p:spPr bwMode="auto">
          <a:xfrm>
            <a:off x="1196975" y="2960688"/>
            <a:ext cx="27003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组合 28"/>
          <p:cNvGrpSpPr>
            <a:grpSpLocks/>
          </p:cNvGrpSpPr>
          <p:nvPr/>
        </p:nvGrpSpPr>
        <p:grpSpPr bwMode="auto">
          <a:xfrm>
            <a:off x="1604963" y="2811463"/>
            <a:ext cx="1795462" cy="304800"/>
            <a:chOff x="1841588" y="2631307"/>
            <a:chExt cx="1795463" cy="304800"/>
          </a:xfrm>
        </p:grpSpPr>
        <p:sp>
          <p:nvSpPr>
            <p:cNvPr id="11346" name="Line 20"/>
            <p:cNvSpPr>
              <a:spLocks noChangeShapeType="1"/>
            </p:cNvSpPr>
            <p:nvPr/>
          </p:nvSpPr>
          <p:spPr bwMode="auto">
            <a:xfrm flipH="1" flipV="1">
              <a:off x="1841588" y="2631307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7" name="Line 21"/>
            <p:cNvSpPr>
              <a:spLocks noChangeShapeType="1"/>
            </p:cNvSpPr>
            <p:nvPr/>
          </p:nvSpPr>
          <p:spPr bwMode="auto">
            <a:xfrm flipH="1" flipV="1">
              <a:off x="2562313" y="2631307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8" name="Line 22"/>
            <p:cNvSpPr>
              <a:spLocks noChangeShapeType="1"/>
            </p:cNvSpPr>
            <p:nvPr/>
          </p:nvSpPr>
          <p:spPr bwMode="auto">
            <a:xfrm flipH="1" flipV="1">
              <a:off x="2201951" y="2631307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9" name="Line 23"/>
            <p:cNvSpPr>
              <a:spLocks noChangeShapeType="1"/>
            </p:cNvSpPr>
            <p:nvPr/>
          </p:nvSpPr>
          <p:spPr bwMode="auto">
            <a:xfrm flipH="1" flipV="1">
              <a:off x="2922676" y="2631307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0" name="Line 24"/>
            <p:cNvSpPr>
              <a:spLocks noChangeShapeType="1"/>
            </p:cNvSpPr>
            <p:nvPr/>
          </p:nvSpPr>
          <p:spPr bwMode="auto">
            <a:xfrm flipH="1" flipV="1">
              <a:off x="3281451" y="2631307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1" name="Line 25"/>
            <p:cNvSpPr>
              <a:spLocks noChangeShapeType="1"/>
            </p:cNvSpPr>
            <p:nvPr/>
          </p:nvSpPr>
          <p:spPr bwMode="auto">
            <a:xfrm flipH="1" flipV="1">
              <a:off x="3637051" y="2631307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 Box 26"/>
          <p:cNvSpPr txBox="1">
            <a:spLocks noChangeArrowheads="1"/>
          </p:cNvSpPr>
          <p:nvPr/>
        </p:nvSpPr>
        <p:spPr bwMode="auto">
          <a:xfrm>
            <a:off x="968375" y="3259138"/>
            <a:ext cx="3421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光振动方向与画面平行</a:t>
            </a:r>
          </a:p>
        </p:txBody>
      </p:sp>
      <p:sp>
        <p:nvSpPr>
          <p:cNvPr id="20" name="Text Box 34"/>
          <p:cNvSpPr txBox="1">
            <a:spLocks noChangeArrowheads="1"/>
          </p:cNvSpPr>
          <p:nvPr/>
        </p:nvSpPr>
        <p:spPr bwMode="auto">
          <a:xfrm>
            <a:off x="4665663" y="3259138"/>
            <a:ext cx="3303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光振动方向与画面垂直</a:t>
            </a:r>
          </a:p>
        </p:txBody>
      </p:sp>
      <p:sp>
        <p:nvSpPr>
          <p:cNvPr id="22" name="Line 65"/>
          <p:cNvSpPr>
            <a:spLocks noChangeShapeType="1"/>
          </p:cNvSpPr>
          <p:nvPr/>
        </p:nvSpPr>
        <p:spPr bwMode="auto">
          <a:xfrm>
            <a:off x="4775200" y="2944813"/>
            <a:ext cx="3060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组合 29"/>
          <p:cNvGrpSpPr>
            <a:grpSpLocks/>
          </p:cNvGrpSpPr>
          <p:nvPr/>
        </p:nvGrpSpPr>
        <p:grpSpPr bwMode="auto">
          <a:xfrm>
            <a:off x="5164138" y="2873375"/>
            <a:ext cx="2144712" cy="128588"/>
            <a:chOff x="5329262" y="2714620"/>
            <a:chExt cx="2144708" cy="128587"/>
          </a:xfrm>
        </p:grpSpPr>
        <p:sp>
          <p:nvSpPr>
            <p:cNvPr id="11340" name="Oval 28"/>
            <p:cNvSpPr>
              <a:spLocks noChangeArrowheads="1"/>
            </p:cNvSpPr>
            <p:nvPr/>
          </p:nvSpPr>
          <p:spPr bwMode="auto">
            <a:xfrm>
              <a:off x="5329262" y="2714620"/>
              <a:ext cx="115888" cy="1285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1341" name="Oval 66"/>
            <p:cNvSpPr>
              <a:spLocks noChangeArrowheads="1"/>
            </p:cNvSpPr>
            <p:nvPr/>
          </p:nvSpPr>
          <p:spPr bwMode="auto">
            <a:xfrm>
              <a:off x="5732487" y="2714620"/>
              <a:ext cx="115888" cy="1285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1342" name="Oval 67"/>
            <p:cNvSpPr>
              <a:spLocks noChangeArrowheads="1"/>
            </p:cNvSpPr>
            <p:nvPr/>
          </p:nvSpPr>
          <p:spPr bwMode="auto">
            <a:xfrm>
              <a:off x="6113487" y="2714620"/>
              <a:ext cx="115888" cy="1285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1343" name="Oval 68"/>
            <p:cNvSpPr>
              <a:spLocks noChangeArrowheads="1"/>
            </p:cNvSpPr>
            <p:nvPr/>
          </p:nvSpPr>
          <p:spPr bwMode="auto">
            <a:xfrm>
              <a:off x="6516712" y="2714620"/>
              <a:ext cx="115888" cy="1285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1344" name="Oval 69"/>
            <p:cNvSpPr>
              <a:spLocks noChangeArrowheads="1"/>
            </p:cNvSpPr>
            <p:nvPr/>
          </p:nvSpPr>
          <p:spPr bwMode="auto">
            <a:xfrm>
              <a:off x="6919937" y="2714620"/>
              <a:ext cx="115888" cy="1285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1345" name="Oval 70"/>
            <p:cNvSpPr>
              <a:spLocks noChangeArrowheads="1"/>
            </p:cNvSpPr>
            <p:nvPr/>
          </p:nvSpPr>
          <p:spPr bwMode="auto">
            <a:xfrm>
              <a:off x="7358082" y="2714620"/>
              <a:ext cx="115888" cy="1285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32" name="Text Box 6"/>
          <p:cNvSpPr txBox="1">
            <a:spLocks noChangeArrowheads="1"/>
          </p:cNvSpPr>
          <p:nvPr/>
        </p:nvSpPr>
        <p:spPr bwMode="auto">
          <a:xfrm>
            <a:off x="968375" y="4344988"/>
            <a:ext cx="6858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各个振动方向都有，但有一个方向占优势</a:t>
            </a:r>
            <a:endParaRPr kumimoji="1"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组合 34"/>
          <p:cNvGrpSpPr>
            <a:grpSpLocks/>
          </p:cNvGrpSpPr>
          <p:nvPr/>
        </p:nvGrpSpPr>
        <p:grpSpPr bwMode="auto">
          <a:xfrm>
            <a:off x="468313" y="1516063"/>
            <a:ext cx="2427287" cy="523875"/>
            <a:chOff x="714348" y="1643050"/>
            <a:chExt cx="2426869" cy="523220"/>
          </a:xfrm>
        </p:grpSpPr>
        <p:sp>
          <p:nvSpPr>
            <p:cNvPr id="11336" name="Text Box 6"/>
            <p:cNvSpPr txBox="1">
              <a:spLocks noChangeArrowheads="1"/>
            </p:cNvSpPr>
            <p:nvPr/>
          </p:nvSpPr>
          <p:spPr bwMode="auto">
            <a:xfrm>
              <a:off x="714348" y="1643050"/>
              <a:ext cx="18573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514350" indent="-51435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Calibri" panose="020F0502020204030204" pitchFamily="34" charset="0"/>
                <a:buAutoNum type="alphaLcParenR"/>
              </a:pPr>
              <a:r>
                <a:rPr kumimoji="1"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3" name="矩形 32"/>
            <p:cNvSpPr/>
            <p:nvPr/>
          </p:nvSpPr>
          <p:spPr>
            <a:xfrm>
              <a:off x="1285852" y="1643050"/>
              <a:ext cx="1855365" cy="52322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>
              <a:spAutoFit/>
            </a:bodyPr>
            <a:lstStyle/>
            <a:p>
              <a:pPr marL="514350" indent="-51435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800" b="1" dirty="0">
                  <a:latin typeface="Times New Roman" pitchFamily="18" charset="0"/>
                  <a:ea typeface="+mn-ea"/>
                  <a:cs typeface="Times New Roman" pitchFamily="18" charset="0"/>
                </a:rPr>
                <a:t>线偏振光：</a:t>
              </a:r>
              <a:endParaRPr kumimoji="1" lang="en-US" altLang="zh-CN" sz="2800" b="1" dirty="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sp>
        <p:nvSpPr>
          <p:cNvPr id="34" name="矩形 33"/>
          <p:cNvSpPr>
            <a:spLocks noChangeArrowheads="1"/>
          </p:cNvSpPr>
          <p:nvPr/>
        </p:nvSpPr>
        <p:spPr bwMode="auto">
          <a:xfrm>
            <a:off x="684213" y="2135188"/>
            <a:ext cx="54657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光矢量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的振动方向只有一个方向</a:t>
            </a:r>
          </a:p>
        </p:txBody>
      </p:sp>
      <p:grpSp>
        <p:nvGrpSpPr>
          <p:cNvPr id="11" name="组合 38"/>
          <p:cNvGrpSpPr>
            <a:grpSpLocks/>
          </p:cNvGrpSpPr>
          <p:nvPr/>
        </p:nvGrpSpPr>
        <p:grpSpPr bwMode="auto">
          <a:xfrm>
            <a:off x="468313" y="3841750"/>
            <a:ext cx="2857500" cy="523875"/>
            <a:chOff x="714348" y="4071942"/>
            <a:chExt cx="2857520" cy="523220"/>
          </a:xfrm>
        </p:grpSpPr>
        <p:sp>
          <p:nvSpPr>
            <p:cNvPr id="11332" name="Text Box 6"/>
            <p:cNvSpPr txBox="1">
              <a:spLocks noChangeArrowheads="1"/>
            </p:cNvSpPr>
            <p:nvPr/>
          </p:nvSpPr>
          <p:spPr bwMode="auto">
            <a:xfrm>
              <a:off x="714348" y="4071942"/>
              <a:ext cx="18573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514350" indent="-51435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Calibri" panose="020F0502020204030204" pitchFamily="34" charset="0"/>
                <a:buAutoNum type="alphaLcParenR" startAt="2"/>
              </a:pPr>
              <a:r>
                <a:rPr kumimoji="1"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8" name="矩形 37"/>
            <p:cNvSpPr/>
            <p:nvPr/>
          </p:nvSpPr>
          <p:spPr>
            <a:xfrm>
              <a:off x="1285852" y="4071942"/>
              <a:ext cx="2286016" cy="52322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>
              <a:spAutoFit/>
            </a:bodyPr>
            <a:lstStyle/>
            <a:p>
              <a:pPr marL="514350" indent="-51435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800" b="1" dirty="0">
                  <a:latin typeface="Times New Roman" pitchFamily="18" charset="0"/>
                  <a:ea typeface="+mn-ea"/>
                  <a:cs typeface="Times New Roman" pitchFamily="18" charset="0"/>
                </a:rPr>
                <a:t>部分偏振光：</a:t>
              </a:r>
              <a:endParaRPr kumimoji="1" lang="en-US" altLang="zh-CN" sz="2800" b="1" dirty="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21" name="组合 68"/>
          <p:cNvGrpSpPr>
            <a:grpSpLocks/>
          </p:cNvGrpSpPr>
          <p:nvPr/>
        </p:nvGrpSpPr>
        <p:grpSpPr bwMode="auto">
          <a:xfrm>
            <a:off x="179512" y="5002213"/>
            <a:ext cx="863600" cy="1524000"/>
            <a:chOff x="2023982" y="5214951"/>
            <a:chExt cx="864000" cy="1524000"/>
          </a:xfrm>
        </p:grpSpPr>
        <p:sp>
          <p:nvSpPr>
            <p:cNvPr id="11328" name="Line 10"/>
            <p:cNvSpPr>
              <a:spLocks noChangeShapeType="1"/>
            </p:cNvSpPr>
            <p:nvPr/>
          </p:nvSpPr>
          <p:spPr bwMode="auto">
            <a:xfrm>
              <a:off x="2023982" y="5976951"/>
              <a:ext cx="864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9" name="Line 11"/>
            <p:cNvSpPr>
              <a:spLocks noChangeShapeType="1"/>
            </p:cNvSpPr>
            <p:nvPr/>
          </p:nvSpPr>
          <p:spPr bwMode="auto">
            <a:xfrm rot="-5400000">
              <a:off x="1700194" y="5976951"/>
              <a:ext cx="1524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0" name="Line 12"/>
            <p:cNvSpPr>
              <a:spLocks noChangeShapeType="1"/>
            </p:cNvSpPr>
            <p:nvPr/>
          </p:nvSpPr>
          <p:spPr bwMode="auto">
            <a:xfrm rot="-3600000">
              <a:off x="1858671" y="5990864"/>
              <a:ext cx="1188000" cy="1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1" name="Line 13"/>
            <p:cNvSpPr>
              <a:spLocks noChangeShapeType="1"/>
            </p:cNvSpPr>
            <p:nvPr/>
          </p:nvSpPr>
          <p:spPr bwMode="auto">
            <a:xfrm rot="3600000">
              <a:off x="1858671" y="5978990"/>
              <a:ext cx="1188000" cy="1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" name="Line 36"/>
          <p:cNvSpPr>
            <a:spLocks noChangeShapeType="1"/>
          </p:cNvSpPr>
          <p:nvPr/>
        </p:nvSpPr>
        <p:spPr bwMode="auto">
          <a:xfrm>
            <a:off x="5057775" y="5395913"/>
            <a:ext cx="3095625" cy="9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" name="Line 41"/>
          <p:cNvSpPr>
            <a:spLocks noChangeShapeType="1"/>
          </p:cNvSpPr>
          <p:nvPr/>
        </p:nvSpPr>
        <p:spPr bwMode="auto">
          <a:xfrm>
            <a:off x="5037138" y="6091238"/>
            <a:ext cx="3116262" cy="7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9" name="组合 70"/>
          <p:cNvGrpSpPr>
            <a:grpSpLocks/>
          </p:cNvGrpSpPr>
          <p:nvPr/>
        </p:nvGrpSpPr>
        <p:grpSpPr bwMode="auto">
          <a:xfrm>
            <a:off x="5572125" y="5938838"/>
            <a:ext cx="2060575" cy="304800"/>
            <a:chOff x="4964815" y="6124596"/>
            <a:chExt cx="2059827" cy="304800"/>
          </a:xfrm>
        </p:grpSpPr>
        <p:sp>
          <p:nvSpPr>
            <p:cNvPr id="11321" name="Line 49"/>
            <p:cNvSpPr>
              <a:spLocks noChangeShapeType="1"/>
            </p:cNvSpPr>
            <p:nvPr/>
          </p:nvSpPr>
          <p:spPr bwMode="auto">
            <a:xfrm flipH="1" flipV="1">
              <a:off x="4964815" y="6124596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2" name="Line 50"/>
            <p:cNvSpPr>
              <a:spLocks noChangeShapeType="1"/>
            </p:cNvSpPr>
            <p:nvPr/>
          </p:nvSpPr>
          <p:spPr bwMode="auto">
            <a:xfrm flipH="1" flipV="1">
              <a:off x="5988052" y="6124596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3" name="Oval 57"/>
            <p:cNvSpPr>
              <a:spLocks noChangeArrowheads="1"/>
            </p:cNvSpPr>
            <p:nvPr/>
          </p:nvSpPr>
          <p:spPr bwMode="auto">
            <a:xfrm>
              <a:off x="5243390" y="6225371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1324" name="Oval 58"/>
            <p:cNvSpPr>
              <a:spLocks noChangeArrowheads="1"/>
            </p:cNvSpPr>
            <p:nvPr/>
          </p:nvSpPr>
          <p:spPr bwMode="auto">
            <a:xfrm>
              <a:off x="5580002" y="6225371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1325" name="Line 59"/>
            <p:cNvSpPr>
              <a:spLocks noChangeShapeType="1"/>
            </p:cNvSpPr>
            <p:nvPr/>
          </p:nvSpPr>
          <p:spPr bwMode="auto">
            <a:xfrm flipH="1" flipV="1">
              <a:off x="7024642" y="6124596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6" name="Oval 60"/>
            <p:cNvSpPr>
              <a:spLocks noChangeArrowheads="1"/>
            </p:cNvSpPr>
            <p:nvPr/>
          </p:nvSpPr>
          <p:spPr bwMode="auto">
            <a:xfrm>
              <a:off x="6288852" y="6225371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1327" name="Oval 61"/>
            <p:cNvSpPr>
              <a:spLocks noChangeArrowheads="1"/>
            </p:cNvSpPr>
            <p:nvPr/>
          </p:nvSpPr>
          <p:spPr bwMode="auto">
            <a:xfrm>
              <a:off x="6649215" y="6225371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30" name="组合 69"/>
          <p:cNvGrpSpPr>
            <a:grpSpLocks/>
          </p:cNvGrpSpPr>
          <p:nvPr/>
        </p:nvGrpSpPr>
        <p:grpSpPr bwMode="auto">
          <a:xfrm>
            <a:off x="5526088" y="5243513"/>
            <a:ext cx="2160587" cy="304800"/>
            <a:chOff x="4918074" y="5429264"/>
            <a:chExt cx="2160588" cy="304800"/>
          </a:xfrm>
        </p:grpSpPr>
        <p:sp>
          <p:nvSpPr>
            <p:cNvPr id="11314" name="Line 37"/>
            <p:cNvSpPr>
              <a:spLocks noChangeShapeType="1"/>
            </p:cNvSpPr>
            <p:nvPr/>
          </p:nvSpPr>
          <p:spPr bwMode="auto">
            <a:xfrm flipH="1" flipV="1">
              <a:off x="5629274" y="5429264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5" name="Line 38"/>
            <p:cNvSpPr>
              <a:spLocks noChangeShapeType="1"/>
            </p:cNvSpPr>
            <p:nvPr/>
          </p:nvSpPr>
          <p:spPr bwMode="auto">
            <a:xfrm flipH="1" flipV="1">
              <a:off x="5313362" y="5429264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6" name="Line 39"/>
            <p:cNvSpPr>
              <a:spLocks noChangeShapeType="1"/>
            </p:cNvSpPr>
            <p:nvPr/>
          </p:nvSpPr>
          <p:spPr bwMode="auto">
            <a:xfrm flipH="1" flipV="1">
              <a:off x="6357937" y="5429264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7" name="Line 40"/>
            <p:cNvSpPr>
              <a:spLocks noChangeShapeType="1"/>
            </p:cNvSpPr>
            <p:nvPr/>
          </p:nvSpPr>
          <p:spPr bwMode="auto">
            <a:xfrm flipH="1" flipV="1">
              <a:off x="6681787" y="5429264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8" name="Oval 46"/>
            <p:cNvSpPr>
              <a:spLocks noChangeArrowheads="1"/>
            </p:cNvSpPr>
            <p:nvPr/>
          </p:nvSpPr>
          <p:spPr bwMode="auto">
            <a:xfrm>
              <a:off x="4918074" y="5518164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1319" name="Oval 56"/>
            <p:cNvSpPr>
              <a:spLocks noChangeArrowheads="1"/>
            </p:cNvSpPr>
            <p:nvPr/>
          </p:nvSpPr>
          <p:spPr bwMode="auto">
            <a:xfrm>
              <a:off x="5926137" y="5518164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1320" name="Oval 62"/>
            <p:cNvSpPr>
              <a:spLocks noChangeArrowheads="1"/>
            </p:cNvSpPr>
            <p:nvPr/>
          </p:nvSpPr>
          <p:spPr bwMode="auto">
            <a:xfrm>
              <a:off x="6970712" y="5518164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67" name="Line 58"/>
          <p:cNvSpPr>
            <a:spLocks noChangeShapeType="1"/>
          </p:cNvSpPr>
          <p:nvPr/>
        </p:nvSpPr>
        <p:spPr bwMode="auto">
          <a:xfrm>
            <a:off x="1295400" y="5764213"/>
            <a:ext cx="97155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" name="Line 58"/>
          <p:cNvSpPr>
            <a:spLocks noChangeShapeType="1"/>
          </p:cNvSpPr>
          <p:nvPr/>
        </p:nvSpPr>
        <p:spPr bwMode="auto">
          <a:xfrm rot="-5400000">
            <a:off x="1109662" y="5768976"/>
            <a:ext cx="180022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7" name="矩形 32"/>
          <p:cNvSpPr>
            <a:spLocks noChangeArrowheads="1"/>
          </p:cNvSpPr>
          <p:nvPr/>
        </p:nvSpPr>
        <p:spPr bwMode="auto">
          <a:xfrm>
            <a:off x="60325" y="63500"/>
            <a:ext cx="2903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1.2 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光的偏振态</a:t>
            </a:r>
            <a:endParaRPr lang="en-US" altLang="zh-CN" sz="2800" b="1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6011863" y="1125538"/>
            <a:ext cx="3024187" cy="1511300"/>
            <a:chOff x="6145088" y="1124744"/>
            <a:chExt cx="3024336" cy="1512168"/>
          </a:xfrm>
        </p:grpSpPr>
        <p:sp>
          <p:nvSpPr>
            <p:cNvPr id="4" name="矩形 3"/>
            <p:cNvSpPr/>
            <p:nvPr/>
          </p:nvSpPr>
          <p:spPr>
            <a:xfrm>
              <a:off x="6175251" y="1124744"/>
              <a:ext cx="2860816" cy="151216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291" name="Line 27"/>
            <p:cNvSpPr>
              <a:spLocks noChangeShapeType="1"/>
            </p:cNvSpPr>
            <p:nvPr/>
          </p:nvSpPr>
          <p:spPr bwMode="auto">
            <a:xfrm flipV="1">
              <a:off x="9169424" y="1549650"/>
              <a:ext cx="0" cy="838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stealth" w="med" len="lg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292" name="Group 31"/>
            <p:cNvGrpSpPr>
              <a:grpSpLocks/>
            </p:cNvGrpSpPr>
            <p:nvPr/>
          </p:nvGrpSpPr>
          <p:grpSpPr bwMode="auto">
            <a:xfrm>
              <a:off x="6145088" y="1176200"/>
              <a:ext cx="2819400" cy="1447800"/>
              <a:chOff x="384" y="1872"/>
              <a:chExt cx="1776" cy="912"/>
            </a:xfrm>
          </p:grpSpPr>
          <p:grpSp>
            <p:nvGrpSpPr>
              <p:cNvPr id="11293" name="Group 32"/>
              <p:cNvGrpSpPr>
                <a:grpSpLocks/>
              </p:cNvGrpSpPr>
              <p:nvPr/>
            </p:nvGrpSpPr>
            <p:grpSpPr bwMode="auto">
              <a:xfrm>
                <a:off x="384" y="1872"/>
                <a:ext cx="1776" cy="912"/>
                <a:chOff x="240" y="2688"/>
                <a:chExt cx="2688" cy="1104"/>
              </a:xfrm>
            </p:grpSpPr>
            <p:pic>
              <p:nvPicPr>
                <p:cNvPr id="11296" name="Picture 33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2" y="2928"/>
                  <a:ext cx="2160" cy="8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11297" name="Line 34"/>
                <p:cNvSpPr>
                  <a:spLocks noChangeShapeType="1"/>
                </p:cNvSpPr>
                <p:nvPr/>
              </p:nvSpPr>
              <p:spPr bwMode="auto">
                <a:xfrm>
                  <a:off x="1728" y="3360"/>
                  <a:ext cx="0" cy="288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298" name="Line 35"/>
                <p:cNvSpPr>
                  <a:spLocks noChangeShapeType="1"/>
                </p:cNvSpPr>
                <p:nvPr/>
              </p:nvSpPr>
              <p:spPr bwMode="auto">
                <a:xfrm>
                  <a:off x="720" y="3360"/>
                  <a:ext cx="220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299" name="Line 36"/>
                <p:cNvSpPr>
                  <a:spLocks noChangeShapeType="1"/>
                </p:cNvSpPr>
                <p:nvPr/>
              </p:nvSpPr>
              <p:spPr bwMode="auto">
                <a:xfrm flipV="1">
                  <a:off x="720" y="2688"/>
                  <a:ext cx="0" cy="67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00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384" y="3360"/>
                  <a:ext cx="336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aphicFrame>
              <p:nvGraphicFramePr>
                <p:cNvPr id="11301" name="Object 38"/>
                <p:cNvGraphicFramePr>
                  <a:graphicFrameLocks noChangeAspect="1"/>
                </p:cNvGraphicFramePr>
                <p:nvPr/>
              </p:nvGraphicFramePr>
              <p:xfrm>
                <a:off x="528" y="2688"/>
                <a:ext cx="164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430" name="公式" r:id="rId5" imgW="139579" imgH="164957" progId="Equation.3">
                        <p:embed/>
                      </p:oleObj>
                    </mc:Choice>
                    <mc:Fallback>
                      <p:oleObj name="公式" r:id="rId5" imgW="139579" imgH="164957" progId="Equation.3">
                        <p:embed/>
                        <p:pic>
                          <p:nvPicPr>
                            <p:cNvPr id="0" name="Object 3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8" y="2688"/>
                              <a:ext cx="164" cy="1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1302" name="Object 39"/>
                <p:cNvGraphicFramePr>
                  <a:graphicFrameLocks noChangeAspect="1"/>
                </p:cNvGraphicFramePr>
                <p:nvPr/>
              </p:nvGraphicFramePr>
              <p:xfrm>
                <a:off x="2592" y="3408"/>
                <a:ext cx="240" cy="2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431" name="公式" r:id="rId7" imgW="139700" imgH="139700" progId="Equation.3">
                        <p:embed/>
                      </p:oleObj>
                    </mc:Choice>
                    <mc:Fallback>
                      <p:oleObj name="公式" r:id="rId7" imgW="139700" imgH="139700" progId="Equation.3">
                        <p:embed/>
                        <p:pic>
                          <p:nvPicPr>
                            <p:cNvPr id="0" name="Object 3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592" y="3408"/>
                              <a:ext cx="240" cy="24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1303" name="Object 40"/>
                <p:cNvGraphicFramePr>
                  <a:graphicFrameLocks noChangeAspect="1"/>
                </p:cNvGraphicFramePr>
                <p:nvPr/>
              </p:nvGraphicFramePr>
              <p:xfrm>
                <a:off x="240" y="3600"/>
                <a:ext cx="155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432" name="公式" r:id="rId9" imgW="114201" imgH="139579" progId="Equation.3">
                        <p:embed/>
                      </p:oleObj>
                    </mc:Choice>
                    <mc:Fallback>
                      <p:oleObj name="公式" r:id="rId9" imgW="114201" imgH="139579" progId="Equation.3">
                        <p:embed/>
                        <p:pic>
                          <p:nvPicPr>
                            <p:cNvPr id="0" name="Object 4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0" y="3600"/>
                              <a:ext cx="155" cy="1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1304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720" y="2928"/>
                  <a:ext cx="0" cy="43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05" name="Line 42"/>
                <p:cNvSpPr>
                  <a:spLocks noChangeShapeType="1"/>
                </p:cNvSpPr>
                <p:nvPr/>
              </p:nvSpPr>
              <p:spPr bwMode="auto">
                <a:xfrm>
                  <a:off x="1536" y="3360"/>
                  <a:ext cx="0" cy="384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06" name="Line 43"/>
                <p:cNvSpPr>
                  <a:spLocks noChangeShapeType="1"/>
                </p:cNvSpPr>
                <p:nvPr/>
              </p:nvSpPr>
              <p:spPr bwMode="auto">
                <a:xfrm flipV="1">
                  <a:off x="2352" y="2928"/>
                  <a:ext cx="0" cy="43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07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08" name="Line 45"/>
                <p:cNvSpPr>
                  <a:spLocks noChangeShapeType="1"/>
                </p:cNvSpPr>
                <p:nvPr/>
              </p:nvSpPr>
              <p:spPr bwMode="auto">
                <a:xfrm flipV="1">
                  <a:off x="2160" y="3072"/>
                  <a:ext cx="0" cy="288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09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2544" y="3072"/>
                  <a:ext cx="0" cy="288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10" name="Line 47"/>
                <p:cNvSpPr>
                  <a:spLocks noChangeShapeType="1"/>
                </p:cNvSpPr>
                <p:nvPr/>
              </p:nvSpPr>
              <p:spPr bwMode="auto">
                <a:xfrm>
                  <a:off x="1344" y="3360"/>
                  <a:ext cx="0" cy="288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11" name="Line 48"/>
                <p:cNvSpPr>
                  <a:spLocks noChangeShapeType="1"/>
                </p:cNvSpPr>
                <p:nvPr/>
              </p:nvSpPr>
              <p:spPr bwMode="auto">
                <a:xfrm flipH="1">
                  <a:off x="528" y="3360"/>
                  <a:ext cx="192" cy="192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aphicFrame>
              <p:nvGraphicFramePr>
                <p:cNvPr id="11312" name="Object 49"/>
                <p:cNvGraphicFramePr>
                  <a:graphicFrameLocks noChangeAspect="1"/>
                </p:cNvGraphicFramePr>
                <p:nvPr/>
              </p:nvGraphicFramePr>
              <p:xfrm>
                <a:off x="480" y="2928"/>
                <a:ext cx="195" cy="2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433" name="公式" r:id="rId11" imgW="164957" imgH="203024" progId="Equation.3">
                        <p:embed/>
                      </p:oleObj>
                    </mc:Choice>
                    <mc:Fallback>
                      <p:oleObj name="公式" r:id="rId11" imgW="164957" imgH="203024" progId="Equation.3">
                        <p:embed/>
                        <p:pic>
                          <p:nvPicPr>
                            <p:cNvPr id="0" name="Object 4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0" y="2928"/>
                              <a:ext cx="195" cy="24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1313" name="Object 50"/>
                <p:cNvGraphicFramePr>
                  <a:graphicFrameLocks noChangeAspect="1"/>
                </p:cNvGraphicFramePr>
                <p:nvPr/>
              </p:nvGraphicFramePr>
              <p:xfrm>
                <a:off x="576" y="3504"/>
                <a:ext cx="227" cy="2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434" name="公式" r:id="rId13" imgW="190417" imgH="203112" progId="Equation.3">
                        <p:embed/>
                      </p:oleObj>
                    </mc:Choice>
                    <mc:Fallback>
                      <p:oleObj name="公式" r:id="rId13" imgW="190417" imgH="203112" progId="Equation.3">
                        <p:embed/>
                        <p:pic>
                          <p:nvPicPr>
                            <p:cNvPr id="0" name="Object 5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76" y="3504"/>
                              <a:ext cx="227" cy="24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1294" name="Line 51"/>
              <p:cNvSpPr>
                <a:spLocks noChangeShapeType="1"/>
              </p:cNvSpPr>
              <p:nvPr/>
            </p:nvSpPr>
            <p:spPr bwMode="auto">
              <a:xfrm>
                <a:off x="1056" y="2160"/>
                <a:ext cx="336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11295" name="Object 52"/>
              <p:cNvGraphicFramePr>
                <a:graphicFrameLocks noChangeAspect="1"/>
              </p:cNvGraphicFramePr>
              <p:nvPr/>
            </p:nvGraphicFramePr>
            <p:xfrm>
              <a:off x="1104" y="1920"/>
              <a:ext cx="197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35" name="公式" r:id="rId15" imgW="139579" imgH="177646" progId="Equation.3">
                      <p:embed/>
                    </p:oleObj>
                  </mc:Choice>
                  <mc:Fallback>
                    <p:oleObj name="公式" r:id="rId15" imgW="139579" imgH="177646" progId="Equation.3">
                      <p:embed/>
                      <p:pic>
                        <p:nvPicPr>
                          <p:cNvPr id="0" name="Object 5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04" y="1920"/>
                            <a:ext cx="197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83" name="Text Box 6"/>
          <p:cNvSpPr txBox="1">
            <a:spLocks noChangeArrowheads="1"/>
          </p:cNvSpPr>
          <p:nvPr/>
        </p:nvSpPr>
        <p:spPr bwMode="auto">
          <a:xfrm>
            <a:off x="2292350" y="5002213"/>
            <a:ext cx="2535238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/>
              <a:t>各个振动方向的</a:t>
            </a:r>
            <a:r>
              <a:rPr kumimoji="1" lang="zh-CN" altLang="en-US" sz="2400" b="1">
                <a:solidFill>
                  <a:srgbClr val="FF0000"/>
                </a:solidFill>
              </a:rPr>
              <a:t>光矢量</a:t>
            </a:r>
            <a:r>
              <a:rPr kumimoji="1" lang="zh-CN" altLang="en-US" sz="2400" b="1"/>
              <a:t>可以分解为</a:t>
            </a:r>
            <a:r>
              <a:rPr kumimoji="1" lang="zh-CN" altLang="en-US" sz="2400" b="1">
                <a:solidFill>
                  <a:srgbClr val="FF0000"/>
                </a:solidFill>
              </a:rPr>
              <a:t>水平和垂直</a:t>
            </a:r>
            <a:r>
              <a:rPr kumimoji="1" lang="zh-CN" altLang="en-US" sz="2400" b="1"/>
              <a:t>方向的两个分量</a:t>
            </a:r>
            <a:endParaRPr kumimoji="1"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nimBg="1" autoUpdateAnimBg="0"/>
      <p:bldP spid="7" grpId="0" autoUpdateAnimBg="0"/>
      <p:bldP spid="12" grpId="0" animBg="1"/>
      <p:bldP spid="19" grpId="0"/>
      <p:bldP spid="20" grpId="0"/>
      <p:bldP spid="22" grpId="0" animBg="1"/>
      <p:bldP spid="32" grpId="0" autoUpdateAnimBg="0"/>
      <p:bldP spid="34" grpId="0"/>
      <p:bldP spid="50" grpId="0" animBg="1"/>
      <p:bldP spid="55" grpId="0" animBg="1"/>
      <p:bldP spid="67" grpId="0" animBg="1"/>
      <p:bldP spid="68" grpId="0" animBg="1"/>
      <p:bldP spid="8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3"/>
          <p:cNvSpPr txBox="1">
            <a:spLocks noChangeArrowheads="1"/>
          </p:cNvSpPr>
          <p:nvPr/>
        </p:nvSpPr>
        <p:spPr bwMode="auto">
          <a:xfrm>
            <a:off x="8675688" y="6394450"/>
            <a:ext cx="357187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315" name="组合 7"/>
          <p:cNvGrpSpPr>
            <a:grpSpLocks/>
          </p:cNvGrpSpPr>
          <p:nvPr/>
        </p:nvGrpSpPr>
        <p:grpSpPr bwMode="auto">
          <a:xfrm>
            <a:off x="611188" y="285750"/>
            <a:ext cx="4143375" cy="523875"/>
            <a:chOff x="857224" y="357166"/>
            <a:chExt cx="3452837" cy="523220"/>
          </a:xfrm>
        </p:grpSpPr>
        <p:sp>
          <p:nvSpPr>
            <p:cNvPr id="13408" name="Text Box 6"/>
            <p:cNvSpPr txBox="1">
              <a:spLocks noChangeArrowheads="1"/>
            </p:cNvSpPr>
            <p:nvPr/>
          </p:nvSpPr>
          <p:spPr bwMode="auto">
            <a:xfrm>
              <a:off x="857224" y="357166"/>
              <a:ext cx="18573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514350" indent="-51435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Calibri" panose="020F0502020204030204" pitchFamily="34" charset="0"/>
                <a:buAutoNum type="alphaLcParenR" startAt="3"/>
              </a:pPr>
              <a:r>
                <a:rPr kumimoji="1"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1428728" y="357166"/>
              <a:ext cx="2881333" cy="52322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>
              <a:spAutoFit/>
            </a:bodyPr>
            <a:lstStyle/>
            <a:p>
              <a:pPr marL="514350" indent="-51435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800" b="1" dirty="0">
                  <a:latin typeface="Times New Roman" pitchFamily="18" charset="0"/>
                  <a:ea typeface="+mn-ea"/>
                  <a:cs typeface="Times New Roman" pitchFamily="18" charset="0"/>
                </a:rPr>
                <a:t>椭圆（圆）偏振光：</a:t>
              </a:r>
              <a:endParaRPr kumimoji="1" lang="en-US" altLang="zh-CN" sz="2800" b="1" dirty="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sp>
        <p:nvSpPr>
          <p:cNvPr id="10" name="椭圆 9"/>
          <p:cNvSpPr/>
          <p:nvPr/>
        </p:nvSpPr>
        <p:spPr>
          <a:xfrm>
            <a:off x="6080125" y="1844675"/>
            <a:ext cx="2000250" cy="107156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rot="5400000" flipH="1" flipV="1">
            <a:off x="7000082" y="1972469"/>
            <a:ext cx="539750" cy="35718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rot="16200000" flipV="1">
            <a:off x="6723063" y="2058987"/>
            <a:ext cx="571500" cy="1428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endCxn id="10" idx="1"/>
          </p:cNvCxnSpPr>
          <p:nvPr/>
        </p:nvCxnSpPr>
        <p:spPr>
          <a:xfrm rot="10800000">
            <a:off x="6373813" y="2001838"/>
            <a:ext cx="706437" cy="41433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rot="10800000" flipV="1">
            <a:off x="6151563" y="2416175"/>
            <a:ext cx="928687" cy="1428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rot="5400000">
            <a:off x="6687344" y="2451894"/>
            <a:ext cx="428625" cy="35718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V="1">
            <a:off x="7080250" y="2130425"/>
            <a:ext cx="857250" cy="2857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rot="16200000" flipH="1">
            <a:off x="6973093" y="2523332"/>
            <a:ext cx="500063" cy="2857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7080250" y="2416175"/>
            <a:ext cx="928688" cy="1428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/>
          <p:cNvSpPr/>
          <p:nvPr/>
        </p:nvSpPr>
        <p:spPr>
          <a:xfrm>
            <a:off x="8043863" y="2344738"/>
            <a:ext cx="107950" cy="1079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6443663" y="4149725"/>
            <a:ext cx="1295400" cy="1295400"/>
          </a:xfrm>
          <a:prstGeom prst="ellipse">
            <a:avLst/>
          </a:prstGeom>
          <a:solidFill>
            <a:schemeClr val="bg1"/>
          </a:solidFill>
          <a:ln w="476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" name="组合 57"/>
          <p:cNvGrpSpPr>
            <a:grpSpLocks/>
          </p:cNvGrpSpPr>
          <p:nvPr/>
        </p:nvGrpSpPr>
        <p:grpSpPr bwMode="auto">
          <a:xfrm>
            <a:off x="6443663" y="4760913"/>
            <a:ext cx="1290637" cy="107950"/>
            <a:chOff x="5471467" y="2262213"/>
            <a:chExt cx="1290422" cy="95187"/>
          </a:xfrm>
        </p:grpSpPr>
        <p:cxnSp>
          <p:nvCxnSpPr>
            <p:cNvPr id="59" name="直接箭头连接符 58"/>
            <p:cNvCxnSpPr/>
            <p:nvPr/>
          </p:nvCxnSpPr>
          <p:spPr>
            <a:xfrm>
              <a:off x="5501624" y="2297208"/>
              <a:ext cx="1260265" cy="280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圆角矩形 59"/>
            <p:cNvSpPr/>
            <p:nvPr/>
          </p:nvSpPr>
          <p:spPr>
            <a:xfrm>
              <a:off x="5471467" y="2262213"/>
              <a:ext cx="647592" cy="9518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2" name="右箭头 61"/>
          <p:cNvSpPr/>
          <p:nvPr/>
        </p:nvSpPr>
        <p:spPr>
          <a:xfrm rot="5400000">
            <a:off x="6723063" y="3335338"/>
            <a:ext cx="785812" cy="50006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755650" y="2205038"/>
            <a:ext cx="4752975" cy="3240087"/>
            <a:chOff x="1478629" y="1381125"/>
            <a:chExt cx="4752528" cy="3240087"/>
          </a:xfrm>
        </p:grpSpPr>
        <p:sp>
          <p:nvSpPr>
            <p:cNvPr id="2" name="矩形 1"/>
            <p:cNvSpPr/>
            <p:nvPr/>
          </p:nvSpPr>
          <p:spPr>
            <a:xfrm>
              <a:off x="1478629" y="1438275"/>
              <a:ext cx="4752528" cy="31654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13358" name="Group 3"/>
            <p:cNvGrpSpPr>
              <a:grpSpLocks/>
            </p:cNvGrpSpPr>
            <p:nvPr/>
          </p:nvGrpSpPr>
          <p:grpSpPr bwMode="auto">
            <a:xfrm>
              <a:off x="1776061" y="1381125"/>
              <a:ext cx="4157663" cy="3240087"/>
              <a:chOff x="3107" y="1797"/>
              <a:chExt cx="2619" cy="2041"/>
            </a:xfrm>
          </p:grpSpPr>
          <p:sp>
            <p:nvSpPr>
              <p:cNvPr id="13359" name="Line 4"/>
              <p:cNvSpPr>
                <a:spLocks noChangeShapeType="1"/>
              </p:cNvSpPr>
              <p:nvPr/>
            </p:nvSpPr>
            <p:spPr bwMode="auto">
              <a:xfrm>
                <a:off x="3782" y="2146"/>
                <a:ext cx="413" cy="59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60" name="Oval 5"/>
              <p:cNvSpPr>
                <a:spLocks noChangeArrowheads="1"/>
              </p:cNvSpPr>
              <p:nvPr/>
            </p:nvSpPr>
            <p:spPr bwMode="auto">
              <a:xfrm>
                <a:off x="3250" y="2200"/>
                <a:ext cx="405" cy="697"/>
              </a:xfrm>
              <a:prstGeom prst="ellipse">
                <a:avLst/>
              </a:prstGeom>
              <a:noFill/>
              <a:ln w="31750">
                <a:solidFill>
                  <a:srgbClr val="800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61" name="Line 6"/>
              <p:cNvSpPr>
                <a:spLocks noChangeShapeType="1"/>
              </p:cNvSpPr>
              <p:nvPr/>
            </p:nvSpPr>
            <p:spPr bwMode="auto">
              <a:xfrm flipV="1">
                <a:off x="3107" y="2422"/>
                <a:ext cx="809" cy="229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62" name="Line 7"/>
              <p:cNvSpPr>
                <a:spLocks noChangeShapeType="1"/>
              </p:cNvSpPr>
              <p:nvPr/>
            </p:nvSpPr>
            <p:spPr bwMode="auto">
              <a:xfrm>
                <a:off x="3464" y="1979"/>
                <a:ext cx="0" cy="1096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 type="triangle" w="med" len="lg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63" name="Oval 8"/>
              <p:cNvSpPr>
                <a:spLocks noChangeArrowheads="1"/>
              </p:cNvSpPr>
              <p:nvPr/>
            </p:nvSpPr>
            <p:spPr bwMode="auto">
              <a:xfrm>
                <a:off x="4750" y="2454"/>
                <a:ext cx="406" cy="696"/>
              </a:xfrm>
              <a:prstGeom prst="ellipse">
                <a:avLst/>
              </a:prstGeom>
              <a:noFill/>
              <a:ln w="31750">
                <a:solidFill>
                  <a:srgbClr val="800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64" name="Line 9"/>
              <p:cNvSpPr>
                <a:spLocks noChangeShapeType="1"/>
              </p:cNvSpPr>
              <p:nvPr/>
            </p:nvSpPr>
            <p:spPr bwMode="auto">
              <a:xfrm flipV="1">
                <a:off x="4583" y="2699"/>
                <a:ext cx="786" cy="213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65" name="Line 10"/>
              <p:cNvSpPr>
                <a:spLocks noChangeShapeType="1"/>
              </p:cNvSpPr>
              <p:nvPr/>
            </p:nvSpPr>
            <p:spPr bwMode="auto">
              <a:xfrm>
                <a:off x="4964" y="2216"/>
                <a:ext cx="1" cy="1078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 type="triangle" w="med" len="lg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66" name="Line 11"/>
              <p:cNvSpPr>
                <a:spLocks noChangeShapeType="1"/>
              </p:cNvSpPr>
              <p:nvPr/>
            </p:nvSpPr>
            <p:spPr bwMode="auto">
              <a:xfrm>
                <a:off x="3456" y="2200"/>
                <a:ext cx="1493" cy="246"/>
              </a:xfrm>
              <a:prstGeom prst="line">
                <a:avLst/>
              </a:prstGeom>
              <a:noFill/>
              <a:ln w="31750">
                <a:solidFill>
                  <a:srgbClr val="800080"/>
                </a:solidFill>
                <a:prstDash val="sysDot"/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67" name="Line 12"/>
              <p:cNvSpPr>
                <a:spLocks noChangeShapeType="1"/>
              </p:cNvSpPr>
              <p:nvPr/>
            </p:nvSpPr>
            <p:spPr bwMode="auto">
              <a:xfrm>
                <a:off x="3472" y="2905"/>
                <a:ext cx="1493" cy="245"/>
              </a:xfrm>
              <a:prstGeom prst="line">
                <a:avLst/>
              </a:prstGeom>
              <a:noFill/>
              <a:ln w="31750">
                <a:solidFill>
                  <a:srgbClr val="800080"/>
                </a:solidFill>
                <a:prstDash val="sysDot"/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68" name="Line 13"/>
              <p:cNvSpPr>
                <a:spLocks noChangeShapeType="1"/>
              </p:cNvSpPr>
              <p:nvPr/>
            </p:nvSpPr>
            <p:spPr bwMode="auto">
              <a:xfrm>
                <a:off x="3464" y="2556"/>
                <a:ext cx="2104" cy="372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69" name="Arc 14"/>
              <p:cNvSpPr>
                <a:spLocks/>
              </p:cNvSpPr>
              <p:nvPr/>
            </p:nvSpPr>
            <p:spPr bwMode="auto">
              <a:xfrm flipH="1">
                <a:off x="4036" y="2319"/>
                <a:ext cx="175" cy="33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0">
                <a:solidFill>
                  <a:srgbClr val="800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70" name="Arc 15"/>
              <p:cNvSpPr>
                <a:spLocks/>
              </p:cNvSpPr>
              <p:nvPr/>
            </p:nvSpPr>
            <p:spPr bwMode="auto">
              <a:xfrm flipH="1" flipV="1">
                <a:off x="4028" y="2683"/>
                <a:ext cx="175" cy="33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0">
                <a:solidFill>
                  <a:srgbClr val="800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71" name="Arc 16"/>
              <p:cNvSpPr>
                <a:spLocks/>
              </p:cNvSpPr>
              <p:nvPr/>
            </p:nvSpPr>
            <p:spPr bwMode="auto">
              <a:xfrm flipH="1">
                <a:off x="3575" y="2248"/>
                <a:ext cx="176" cy="33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0">
                <a:solidFill>
                  <a:srgbClr val="800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72" name="Arc 17"/>
              <p:cNvSpPr>
                <a:spLocks/>
              </p:cNvSpPr>
              <p:nvPr/>
            </p:nvSpPr>
            <p:spPr bwMode="auto">
              <a:xfrm flipH="1" flipV="1">
                <a:off x="3567" y="2612"/>
                <a:ext cx="176" cy="33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0">
                <a:solidFill>
                  <a:srgbClr val="800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73" name="Arc 18"/>
              <p:cNvSpPr>
                <a:spLocks/>
              </p:cNvSpPr>
              <p:nvPr/>
            </p:nvSpPr>
            <p:spPr bwMode="auto">
              <a:xfrm flipH="1">
                <a:off x="3797" y="2303"/>
                <a:ext cx="176" cy="33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0">
                <a:solidFill>
                  <a:srgbClr val="800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74" name="Arc 19"/>
              <p:cNvSpPr>
                <a:spLocks/>
              </p:cNvSpPr>
              <p:nvPr/>
            </p:nvSpPr>
            <p:spPr bwMode="auto">
              <a:xfrm flipH="1" flipV="1">
                <a:off x="3790" y="2667"/>
                <a:ext cx="175" cy="33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0">
                <a:solidFill>
                  <a:srgbClr val="800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75" name="Arc 20"/>
              <p:cNvSpPr>
                <a:spLocks/>
              </p:cNvSpPr>
              <p:nvPr/>
            </p:nvSpPr>
            <p:spPr bwMode="auto">
              <a:xfrm flipH="1">
                <a:off x="4520" y="2406"/>
                <a:ext cx="175" cy="33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0">
                <a:solidFill>
                  <a:srgbClr val="800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76" name="Arc 21"/>
              <p:cNvSpPr>
                <a:spLocks/>
              </p:cNvSpPr>
              <p:nvPr/>
            </p:nvSpPr>
            <p:spPr bwMode="auto">
              <a:xfrm flipH="1" flipV="1">
                <a:off x="4512" y="2770"/>
                <a:ext cx="175" cy="33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0">
                <a:solidFill>
                  <a:srgbClr val="800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77" name="Arc 22"/>
              <p:cNvSpPr>
                <a:spLocks/>
              </p:cNvSpPr>
              <p:nvPr/>
            </p:nvSpPr>
            <p:spPr bwMode="auto">
              <a:xfrm flipH="1">
                <a:off x="4274" y="2359"/>
                <a:ext cx="175" cy="33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0">
                <a:solidFill>
                  <a:srgbClr val="800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78" name="Arc 23"/>
              <p:cNvSpPr>
                <a:spLocks/>
              </p:cNvSpPr>
              <p:nvPr/>
            </p:nvSpPr>
            <p:spPr bwMode="auto">
              <a:xfrm flipH="1" flipV="1">
                <a:off x="4266" y="2723"/>
                <a:ext cx="175" cy="33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0">
                <a:solidFill>
                  <a:srgbClr val="800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79" name="Line 24"/>
              <p:cNvSpPr>
                <a:spLocks noChangeShapeType="1"/>
              </p:cNvSpPr>
              <p:nvPr/>
            </p:nvSpPr>
            <p:spPr bwMode="auto">
              <a:xfrm>
                <a:off x="3470" y="2200"/>
                <a:ext cx="0" cy="364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 type="triangl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80" name="Line 25"/>
              <p:cNvSpPr>
                <a:spLocks noChangeShapeType="1"/>
              </p:cNvSpPr>
              <p:nvPr/>
            </p:nvSpPr>
            <p:spPr bwMode="auto">
              <a:xfrm flipH="1">
                <a:off x="4963" y="2819"/>
                <a:ext cx="5" cy="339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81" name="Line 26"/>
              <p:cNvSpPr>
                <a:spLocks noChangeShapeType="1"/>
              </p:cNvSpPr>
              <p:nvPr/>
            </p:nvSpPr>
            <p:spPr bwMode="auto">
              <a:xfrm flipH="1" flipV="1">
                <a:off x="3595" y="2367"/>
                <a:ext cx="108" cy="237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82" name="Line 27"/>
              <p:cNvSpPr>
                <a:spLocks noChangeShapeType="1"/>
              </p:cNvSpPr>
              <p:nvPr/>
            </p:nvSpPr>
            <p:spPr bwMode="auto">
              <a:xfrm flipH="1" flipV="1">
                <a:off x="3807" y="2576"/>
                <a:ext cx="116" cy="65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 type="none" w="med" len="sm"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83" name="Line 28"/>
              <p:cNvSpPr>
                <a:spLocks noChangeShapeType="1"/>
              </p:cNvSpPr>
              <p:nvPr/>
            </p:nvSpPr>
            <p:spPr bwMode="auto">
              <a:xfrm flipH="1">
                <a:off x="4030" y="2683"/>
                <a:ext cx="133" cy="105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84" name="Line 29"/>
              <p:cNvSpPr>
                <a:spLocks noChangeShapeType="1"/>
              </p:cNvSpPr>
              <p:nvPr/>
            </p:nvSpPr>
            <p:spPr bwMode="auto">
              <a:xfrm flipH="1">
                <a:off x="4325" y="2729"/>
                <a:ext cx="114" cy="221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85" name="Line 30"/>
              <p:cNvSpPr>
                <a:spLocks noChangeShapeType="1"/>
              </p:cNvSpPr>
              <p:nvPr/>
            </p:nvSpPr>
            <p:spPr bwMode="auto">
              <a:xfrm flipH="1">
                <a:off x="4605" y="2770"/>
                <a:ext cx="110" cy="291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86" name="Rectangle 31"/>
              <p:cNvSpPr>
                <a:spLocks noChangeArrowheads="1"/>
              </p:cNvSpPr>
              <p:nvPr/>
            </p:nvSpPr>
            <p:spPr bwMode="auto">
              <a:xfrm>
                <a:off x="3909" y="2730"/>
                <a:ext cx="96" cy="128"/>
              </a:xfrm>
              <a:prstGeom prst="rect">
                <a:avLst/>
              </a:prstGeom>
              <a:solidFill>
                <a:srgbClr val="FFFFFF"/>
              </a:solidFill>
              <a:ln w="3175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87" name="Line 32"/>
              <p:cNvSpPr>
                <a:spLocks noChangeShapeType="1"/>
              </p:cNvSpPr>
              <p:nvPr/>
            </p:nvSpPr>
            <p:spPr bwMode="auto">
              <a:xfrm>
                <a:off x="3948" y="2849"/>
                <a:ext cx="65" cy="49"/>
              </a:xfrm>
              <a:prstGeom prst="line">
                <a:avLst/>
              </a:prstGeom>
              <a:noFill/>
              <a:ln w="31750">
                <a:solidFill>
                  <a:srgbClr val="FFFF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88" name="Line 33"/>
              <p:cNvSpPr>
                <a:spLocks noChangeShapeType="1"/>
              </p:cNvSpPr>
              <p:nvPr/>
            </p:nvSpPr>
            <p:spPr bwMode="auto">
              <a:xfrm>
                <a:off x="4020" y="2881"/>
                <a:ext cx="64" cy="64"/>
              </a:xfrm>
              <a:prstGeom prst="line">
                <a:avLst/>
              </a:prstGeom>
              <a:noFill/>
              <a:ln w="31750">
                <a:solidFill>
                  <a:srgbClr val="FFFF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89" name="Line 34"/>
              <p:cNvSpPr>
                <a:spLocks noChangeShapeType="1"/>
              </p:cNvSpPr>
              <p:nvPr/>
            </p:nvSpPr>
            <p:spPr bwMode="auto">
              <a:xfrm flipH="1">
                <a:off x="4163" y="2889"/>
                <a:ext cx="8" cy="79"/>
              </a:xfrm>
              <a:prstGeom prst="line">
                <a:avLst/>
              </a:prstGeom>
              <a:noFill/>
              <a:ln w="31750">
                <a:solidFill>
                  <a:srgbClr val="FFFF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90" name="Rectangle 35"/>
              <p:cNvSpPr>
                <a:spLocks noChangeArrowheads="1"/>
              </p:cNvSpPr>
              <p:nvPr/>
            </p:nvSpPr>
            <p:spPr bwMode="auto">
              <a:xfrm>
                <a:off x="3450" y="1797"/>
                <a:ext cx="229" cy="2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 i="1">
                    <a:latin typeface="Arial" panose="020B0604020202020204" pitchFamily="34" charset="0"/>
                  </a:rPr>
                  <a:t> </a:t>
                </a:r>
                <a:r>
                  <a:rPr lang="en-US" altLang="zh-CN" sz="2400" i="1">
                    <a:latin typeface="Arial" panose="020B0604020202020204" pitchFamily="34" charset="0"/>
                  </a:rPr>
                  <a:t>z</a:t>
                </a:r>
                <a:endParaRPr lang="en-US" altLang="zh-CN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391" name="Rectangle 36"/>
              <p:cNvSpPr>
                <a:spLocks noChangeArrowheads="1"/>
              </p:cNvSpPr>
              <p:nvPr/>
            </p:nvSpPr>
            <p:spPr bwMode="auto">
              <a:xfrm>
                <a:off x="5019" y="2082"/>
                <a:ext cx="231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 </a:t>
                </a:r>
                <a:r>
                  <a:rPr lang="en-US" altLang="zh-CN" sz="2400" i="1">
                    <a:latin typeface="Arial" panose="020B0604020202020204" pitchFamily="34" charset="0"/>
                  </a:rPr>
                  <a:t>z</a:t>
                </a:r>
                <a:endParaRPr lang="en-US" altLang="zh-CN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392" name="Rectangle 37"/>
              <p:cNvSpPr>
                <a:spLocks noChangeArrowheads="1"/>
              </p:cNvSpPr>
              <p:nvPr/>
            </p:nvSpPr>
            <p:spPr bwMode="auto">
              <a:xfrm>
                <a:off x="5393" y="2552"/>
                <a:ext cx="133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400" i="1">
                    <a:latin typeface="Arial" panose="020B0604020202020204" pitchFamily="34" charset="0"/>
                  </a:rPr>
                  <a:t>y</a:t>
                </a:r>
              </a:p>
            </p:txBody>
          </p:sp>
          <p:sp>
            <p:nvSpPr>
              <p:cNvPr id="13393" name="Rectangle 38"/>
              <p:cNvSpPr>
                <a:spLocks noChangeArrowheads="1"/>
              </p:cNvSpPr>
              <p:nvPr/>
            </p:nvSpPr>
            <p:spPr bwMode="auto">
              <a:xfrm>
                <a:off x="5535" y="2849"/>
                <a:ext cx="191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 </a:t>
                </a:r>
                <a:r>
                  <a:rPr lang="en-US" altLang="zh-CN" sz="2400" i="1">
                    <a:latin typeface="Arial" panose="020B0604020202020204" pitchFamily="34" charset="0"/>
                  </a:rPr>
                  <a:t>x</a:t>
                </a:r>
                <a:endParaRPr lang="en-US" altLang="zh-CN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394" name="Rectangle 39"/>
              <p:cNvSpPr>
                <a:spLocks noChangeArrowheads="1"/>
              </p:cNvSpPr>
              <p:nvPr/>
            </p:nvSpPr>
            <p:spPr bwMode="auto">
              <a:xfrm>
                <a:off x="4241" y="2069"/>
                <a:ext cx="691" cy="1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Arial" panose="020B0604020202020204" pitchFamily="34" charset="0"/>
                  </a:rPr>
                  <a:t>传播方向</a:t>
                </a:r>
              </a:p>
            </p:txBody>
          </p:sp>
          <p:sp>
            <p:nvSpPr>
              <p:cNvPr id="13395" name="Rectangle 40"/>
              <p:cNvSpPr>
                <a:spLocks noChangeArrowheads="1"/>
              </p:cNvSpPr>
              <p:nvPr/>
            </p:nvSpPr>
            <p:spPr bwMode="auto">
              <a:xfrm>
                <a:off x="4059" y="3011"/>
                <a:ext cx="351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 </a:t>
                </a:r>
                <a:r>
                  <a:rPr lang="en-US" altLang="zh-CN" sz="2000" i="1">
                    <a:latin typeface="Arial" panose="020B0604020202020204" pitchFamily="34" charset="0"/>
                    <a:sym typeface="Symbol" panose="05050102010706020507" pitchFamily="18" charset="2"/>
                  </a:rPr>
                  <a:t></a:t>
                </a:r>
                <a:r>
                  <a:rPr lang="en-US" altLang="zh-CN" sz="2000">
                    <a:latin typeface="Arial" panose="020B0604020202020204" pitchFamily="34" charset="0"/>
                  </a:rPr>
                  <a:t> /2</a:t>
                </a:r>
              </a:p>
            </p:txBody>
          </p:sp>
          <p:sp>
            <p:nvSpPr>
              <p:cNvPr id="13396" name="Rectangle 41"/>
              <p:cNvSpPr>
                <a:spLocks noChangeArrowheads="1"/>
              </p:cNvSpPr>
              <p:nvPr/>
            </p:nvSpPr>
            <p:spPr bwMode="auto">
              <a:xfrm>
                <a:off x="3964" y="2319"/>
                <a:ext cx="184" cy="1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400" i="1">
                    <a:latin typeface="Arial" panose="020B0604020202020204" pitchFamily="34" charset="0"/>
                  </a:rPr>
                  <a:t>y</a:t>
                </a:r>
                <a:endParaRPr lang="en-US" altLang="zh-CN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397" name="Line 42"/>
              <p:cNvSpPr>
                <a:spLocks noChangeShapeType="1"/>
              </p:cNvSpPr>
              <p:nvPr/>
            </p:nvSpPr>
            <p:spPr bwMode="auto">
              <a:xfrm flipV="1">
                <a:off x="3305" y="2167"/>
                <a:ext cx="64" cy="7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98" name="Rectangle 43"/>
              <p:cNvSpPr>
                <a:spLocks noChangeArrowheads="1"/>
              </p:cNvSpPr>
              <p:nvPr/>
            </p:nvSpPr>
            <p:spPr bwMode="auto">
              <a:xfrm>
                <a:off x="3561" y="3316"/>
                <a:ext cx="1723" cy="5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800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Arial" panose="020B0604020202020204" pitchFamily="34" charset="0"/>
                  </a:rPr>
                  <a:t>某时刻左旋圆偏振光 </a:t>
                </a:r>
                <a:r>
                  <a:rPr lang="en-US" altLang="zh-CN" sz="2400" i="1">
                    <a:latin typeface="Arial" panose="020B0604020202020204" pitchFamily="34" charset="0"/>
                  </a:rPr>
                  <a:t>E </a:t>
                </a:r>
                <a:r>
                  <a:rPr lang="zh-CN" altLang="en-US" sz="2400">
                    <a:latin typeface="Arial" panose="020B0604020202020204" pitchFamily="34" charset="0"/>
                  </a:rPr>
                  <a:t>随 </a:t>
                </a:r>
                <a:r>
                  <a:rPr lang="en-US" altLang="zh-CN" sz="2400" i="1">
                    <a:latin typeface="Arial" panose="020B0604020202020204" pitchFamily="34" charset="0"/>
                  </a:rPr>
                  <a:t>x  </a:t>
                </a:r>
                <a:r>
                  <a:rPr lang="zh-CN" altLang="en-US" sz="2400">
                    <a:latin typeface="Arial" panose="020B0604020202020204" pitchFamily="34" charset="0"/>
                  </a:rPr>
                  <a:t>的变化</a:t>
                </a:r>
              </a:p>
            </p:txBody>
          </p:sp>
          <p:sp>
            <p:nvSpPr>
              <p:cNvPr id="13399" name="Rectangle 44"/>
              <p:cNvSpPr>
                <a:spLocks noChangeArrowheads="1"/>
              </p:cNvSpPr>
              <p:nvPr/>
            </p:nvSpPr>
            <p:spPr bwMode="auto">
              <a:xfrm>
                <a:off x="3317" y="2278"/>
                <a:ext cx="159" cy="1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800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 i="1">
                    <a:latin typeface="Arial" panose="020B0604020202020204" pitchFamily="34" charset="0"/>
                  </a:rPr>
                  <a:t>E</a:t>
                </a:r>
                <a:endParaRPr lang="en-US" altLang="zh-CN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3400" name="Line 45"/>
              <p:cNvSpPr>
                <a:spLocks noChangeShapeType="1"/>
              </p:cNvSpPr>
              <p:nvPr/>
            </p:nvSpPr>
            <p:spPr bwMode="auto">
              <a:xfrm flipV="1">
                <a:off x="3355" y="2287"/>
                <a:ext cx="103" cy="5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 type="none" w="med" len="sm"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401" name="Line 46"/>
              <p:cNvSpPr>
                <a:spLocks noChangeShapeType="1"/>
              </p:cNvSpPr>
              <p:nvPr/>
            </p:nvSpPr>
            <p:spPr bwMode="auto">
              <a:xfrm flipV="1">
                <a:off x="3969" y="3566"/>
                <a:ext cx="140" cy="1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 type="none" w="med" len="sm"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402" name="Freeform 47"/>
              <p:cNvSpPr>
                <a:spLocks/>
              </p:cNvSpPr>
              <p:nvPr/>
            </p:nvSpPr>
            <p:spPr bwMode="auto">
              <a:xfrm>
                <a:off x="3459" y="2206"/>
                <a:ext cx="1501" cy="944"/>
              </a:xfrm>
              <a:custGeom>
                <a:avLst/>
                <a:gdLst>
                  <a:gd name="T0" fmla="*/ 0 w 3780"/>
                  <a:gd name="T1" fmla="*/ 0 h 2385"/>
                  <a:gd name="T2" fmla="*/ 0 w 3780"/>
                  <a:gd name="T3" fmla="*/ 0 h 2385"/>
                  <a:gd name="T4" fmla="*/ 1 w 3780"/>
                  <a:gd name="T5" fmla="*/ 1 h 238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80" h="2385">
                    <a:moveTo>
                      <a:pt x="0" y="0"/>
                    </a:moveTo>
                    <a:cubicBezTo>
                      <a:pt x="547" y="626"/>
                      <a:pt x="1095" y="1253"/>
                      <a:pt x="1725" y="1650"/>
                    </a:cubicBezTo>
                    <a:cubicBezTo>
                      <a:pt x="2355" y="2047"/>
                      <a:pt x="3067" y="2216"/>
                      <a:pt x="3780" y="2385"/>
                    </a:cubicBezTo>
                  </a:path>
                </a:pathLst>
              </a:custGeom>
              <a:noFill/>
              <a:ln w="31750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403" name="Line 48"/>
              <p:cNvSpPr>
                <a:spLocks noChangeShapeType="1"/>
              </p:cNvSpPr>
              <p:nvPr/>
            </p:nvSpPr>
            <p:spPr bwMode="auto">
              <a:xfrm>
                <a:off x="4358" y="3126"/>
                <a:ext cx="608" cy="95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404" name="Line 49"/>
              <p:cNvSpPr>
                <a:spLocks noChangeShapeType="1"/>
              </p:cNvSpPr>
              <p:nvPr/>
            </p:nvSpPr>
            <p:spPr bwMode="auto">
              <a:xfrm flipH="1" flipV="1">
                <a:off x="3465" y="2978"/>
                <a:ext cx="673" cy="112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405" name="Text Box 50"/>
              <p:cNvSpPr txBox="1">
                <a:spLocks noChangeArrowheads="1"/>
              </p:cNvSpPr>
              <p:nvPr/>
            </p:nvSpPr>
            <p:spPr bwMode="auto">
              <a:xfrm>
                <a:off x="3268" y="2349"/>
                <a:ext cx="220" cy="3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 </a:t>
                </a: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 </a:t>
                </a:r>
                <a:r>
                  <a:rPr lang="en-US" altLang="zh-CN" sz="2000" i="1">
                    <a:latin typeface="Arial" panose="020B0604020202020204" pitchFamily="34" charset="0"/>
                  </a:rPr>
                  <a:t>O</a:t>
                </a:r>
              </a:p>
            </p:txBody>
          </p:sp>
        </p:grpSp>
      </p:grp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611188" y="1052513"/>
            <a:ext cx="7569200" cy="954087"/>
            <a:chOff x="892210" y="856689"/>
            <a:chExt cx="7568222" cy="954107"/>
          </a:xfrm>
        </p:grpSpPr>
        <p:sp>
          <p:nvSpPr>
            <p:cNvPr id="6" name="矩形 5"/>
            <p:cNvSpPr/>
            <p:nvPr/>
          </p:nvSpPr>
          <p:spPr>
            <a:xfrm>
              <a:off x="892210" y="856689"/>
              <a:ext cx="7568222" cy="95410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800" kern="1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ea"/>
                  <a:ea typeface="+mn-ea"/>
                </a:rPr>
                <a:t>光振动矢量</a:t>
              </a:r>
              <a:r>
                <a:rPr lang="en-US" altLang="zh-CN" sz="2800" i="1" kern="10" dirty="0">
                  <a:ln>
                    <a:solidFill>
                      <a:srgbClr val="FF0000"/>
                    </a:solidFill>
                  </a:ln>
                  <a:latin typeface="+mn-ea"/>
                  <a:ea typeface="+mn-ea"/>
                </a:rPr>
                <a:t>E</a:t>
              </a:r>
              <a:r>
                <a:rPr lang="zh-CN" altLang="en-US" sz="2800" kern="1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ea"/>
                  <a:ea typeface="+mn-ea"/>
                </a:rPr>
                <a:t>是一个旋转矢量，矢量端点的运动轨迹是一个椭圆</a:t>
              </a:r>
            </a:p>
          </p:txBody>
        </p:sp>
        <p:cxnSp>
          <p:nvCxnSpPr>
            <p:cNvPr id="12" name="直接箭头连接符 11"/>
            <p:cNvCxnSpPr/>
            <p:nvPr/>
          </p:nvCxnSpPr>
          <p:spPr>
            <a:xfrm>
              <a:off x="2749345" y="909077"/>
              <a:ext cx="361903" cy="0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组合 146"/>
          <p:cNvGrpSpPr>
            <a:grpSpLocks/>
          </p:cNvGrpSpPr>
          <p:nvPr/>
        </p:nvGrpSpPr>
        <p:grpSpPr bwMode="auto">
          <a:xfrm>
            <a:off x="617538" y="5729288"/>
            <a:ext cx="2438400" cy="1019175"/>
            <a:chOff x="1541593" y="897050"/>
            <a:chExt cx="2438400" cy="1018878"/>
          </a:xfrm>
        </p:grpSpPr>
        <p:sp>
          <p:nvSpPr>
            <p:cNvPr id="13345" name="Rectangle 78"/>
            <p:cNvSpPr>
              <a:spLocks noChangeArrowheads="1"/>
            </p:cNvSpPr>
            <p:nvPr/>
          </p:nvSpPr>
          <p:spPr bwMode="auto">
            <a:xfrm>
              <a:off x="2298689" y="897050"/>
              <a:ext cx="1250262" cy="676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80008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圆偏振光</a:t>
              </a:r>
            </a:p>
          </p:txBody>
        </p:sp>
        <p:sp>
          <p:nvSpPr>
            <p:cNvPr id="13346" name="Rectangle 81"/>
            <p:cNvSpPr>
              <a:spLocks noChangeArrowheads="1"/>
            </p:cNvSpPr>
            <p:nvPr/>
          </p:nvSpPr>
          <p:spPr bwMode="auto">
            <a:xfrm>
              <a:off x="1541593" y="1306328"/>
              <a:ext cx="2438400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33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3347" name="组合 149"/>
            <p:cNvGrpSpPr>
              <a:grpSpLocks/>
            </p:cNvGrpSpPr>
            <p:nvPr/>
          </p:nvGrpSpPr>
          <p:grpSpPr bwMode="auto">
            <a:xfrm>
              <a:off x="2057692" y="1382528"/>
              <a:ext cx="1722220" cy="473075"/>
              <a:chOff x="1828464" y="1382528"/>
              <a:chExt cx="1722220" cy="473075"/>
            </a:xfrm>
          </p:grpSpPr>
          <p:sp>
            <p:nvSpPr>
              <p:cNvPr id="13348" name="Line 82"/>
              <p:cNvSpPr>
                <a:spLocks noChangeShapeType="1"/>
              </p:cNvSpPr>
              <p:nvPr/>
            </p:nvSpPr>
            <p:spPr bwMode="auto">
              <a:xfrm>
                <a:off x="1828464" y="1641291"/>
                <a:ext cx="1722220" cy="1588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9" name="Line 83"/>
              <p:cNvSpPr>
                <a:spLocks noChangeShapeType="1"/>
              </p:cNvSpPr>
              <p:nvPr/>
            </p:nvSpPr>
            <p:spPr bwMode="auto">
              <a:xfrm flipH="1">
                <a:off x="2309569" y="1382528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0" name="Line 84"/>
              <p:cNvSpPr>
                <a:spLocks noChangeShapeType="1"/>
              </p:cNvSpPr>
              <p:nvPr/>
            </p:nvSpPr>
            <p:spPr bwMode="auto">
              <a:xfrm>
                <a:off x="2736887" y="1382528"/>
                <a:ext cx="996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1" name="Line 85"/>
              <p:cNvSpPr>
                <a:spLocks noChangeShapeType="1"/>
              </p:cNvSpPr>
              <p:nvPr/>
            </p:nvSpPr>
            <p:spPr bwMode="auto">
              <a:xfrm flipH="1">
                <a:off x="3146275" y="1382528"/>
                <a:ext cx="4980" cy="473075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椭圆 154"/>
              <p:cNvSpPr/>
              <p:nvPr/>
            </p:nvSpPr>
            <p:spPr>
              <a:xfrm>
                <a:off x="2071190" y="1588998"/>
                <a:ext cx="111125" cy="11109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6" name="椭圆 155"/>
              <p:cNvSpPr/>
              <p:nvPr/>
            </p:nvSpPr>
            <p:spPr>
              <a:xfrm>
                <a:off x="2474415" y="1587410"/>
                <a:ext cx="111125" cy="11109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7" name="椭圆 156"/>
              <p:cNvSpPr/>
              <p:nvPr/>
            </p:nvSpPr>
            <p:spPr>
              <a:xfrm>
                <a:off x="2874465" y="1587410"/>
                <a:ext cx="111125" cy="11109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58" name="组合 157"/>
          <p:cNvGrpSpPr>
            <a:grpSpLocks/>
          </p:cNvGrpSpPr>
          <p:nvPr/>
        </p:nvGrpSpPr>
        <p:grpSpPr bwMode="auto">
          <a:xfrm>
            <a:off x="3295650" y="5740400"/>
            <a:ext cx="2022475" cy="947738"/>
            <a:chOff x="4004525" y="908403"/>
            <a:chExt cx="2022018" cy="946639"/>
          </a:xfrm>
        </p:grpSpPr>
        <p:sp>
          <p:nvSpPr>
            <p:cNvPr id="13333" name="Rectangle 122"/>
            <p:cNvSpPr>
              <a:spLocks noChangeArrowheads="1"/>
            </p:cNvSpPr>
            <p:nvPr/>
          </p:nvSpPr>
          <p:spPr bwMode="auto">
            <a:xfrm>
              <a:off x="4004525" y="908403"/>
              <a:ext cx="2022018" cy="442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80008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椭圆偏振光</a:t>
              </a:r>
            </a:p>
          </p:txBody>
        </p:sp>
        <p:grpSp>
          <p:nvGrpSpPr>
            <p:cNvPr id="13334" name="组合 159"/>
            <p:cNvGrpSpPr>
              <a:grpSpLocks/>
            </p:cNvGrpSpPr>
            <p:nvPr/>
          </p:nvGrpSpPr>
          <p:grpSpPr bwMode="auto">
            <a:xfrm>
              <a:off x="4139952" y="1381967"/>
              <a:ext cx="1722220" cy="473075"/>
              <a:chOff x="4139952" y="1381967"/>
              <a:chExt cx="1722220" cy="473075"/>
            </a:xfrm>
          </p:grpSpPr>
          <p:sp>
            <p:nvSpPr>
              <p:cNvPr id="13335" name="Line 82"/>
              <p:cNvSpPr>
                <a:spLocks noChangeShapeType="1"/>
              </p:cNvSpPr>
              <p:nvPr/>
            </p:nvSpPr>
            <p:spPr bwMode="auto">
              <a:xfrm>
                <a:off x="4139952" y="1640730"/>
                <a:ext cx="1722220" cy="1588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36" name="Line 83"/>
              <p:cNvSpPr>
                <a:spLocks noChangeShapeType="1"/>
              </p:cNvSpPr>
              <p:nvPr/>
            </p:nvSpPr>
            <p:spPr bwMode="auto">
              <a:xfrm flipH="1">
                <a:off x="4590106" y="1381967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37" name="Line 84"/>
              <p:cNvSpPr>
                <a:spLocks noChangeShapeType="1"/>
              </p:cNvSpPr>
              <p:nvPr/>
            </p:nvSpPr>
            <p:spPr bwMode="auto">
              <a:xfrm>
                <a:off x="5004048" y="1381967"/>
                <a:ext cx="996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38" name="Line 85"/>
              <p:cNvSpPr>
                <a:spLocks noChangeShapeType="1"/>
              </p:cNvSpPr>
              <p:nvPr/>
            </p:nvSpPr>
            <p:spPr bwMode="auto">
              <a:xfrm flipH="1">
                <a:off x="5397862" y="1381967"/>
                <a:ext cx="4980" cy="473075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椭圆 164"/>
              <p:cNvSpPr/>
              <p:nvPr/>
            </p:nvSpPr>
            <p:spPr>
              <a:xfrm>
                <a:off x="4382264" y="1588651"/>
                <a:ext cx="111100" cy="11099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椭圆 165"/>
              <p:cNvSpPr/>
              <p:nvPr/>
            </p:nvSpPr>
            <p:spPr>
              <a:xfrm>
                <a:off x="4785398" y="1587065"/>
                <a:ext cx="111100" cy="11099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7" name="椭圆 166"/>
              <p:cNvSpPr/>
              <p:nvPr/>
            </p:nvSpPr>
            <p:spPr>
              <a:xfrm>
                <a:off x="5185358" y="1587065"/>
                <a:ext cx="111100" cy="11099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342" name="Line 83"/>
              <p:cNvSpPr>
                <a:spLocks noChangeShapeType="1"/>
              </p:cNvSpPr>
              <p:nvPr/>
            </p:nvSpPr>
            <p:spPr bwMode="auto">
              <a:xfrm flipH="1">
                <a:off x="4679751" y="1389633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3" name="Line 83"/>
              <p:cNvSpPr>
                <a:spLocks noChangeShapeType="1"/>
              </p:cNvSpPr>
              <p:nvPr/>
            </p:nvSpPr>
            <p:spPr bwMode="auto">
              <a:xfrm flipH="1">
                <a:off x="5093605" y="1381967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4" name="Line 83"/>
              <p:cNvSpPr>
                <a:spLocks noChangeShapeType="1"/>
              </p:cNvSpPr>
              <p:nvPr/>
            </p:nvSpPr>
            <p:spPr bwMode="auto">
              <a:xfrm flipH="1">
                <a:off x="5503124" y="1390327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0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7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4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1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75" presetID="3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path" presetSubtype="0" repeatCount="200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73 0.00069 C -0.0059 -0.04236 -0.05538 -0.07801 -0.11528 -0.07847 C -0.17604 -0.07778 -0.225 -0.04236 -0.22587 0.00046 C -0.22517 0.04467 -0.17552 0.0794 -0.11528 0.0794 C -0.05521 0.0794 -0.00642 0.04421 -0.00573 0.00069 Z " pathEditMode="relative" rAng="16200000" ptsTypes="AAAAA">
                                      <p:cBhvr>
                                        <p:cTn id="81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07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8" presetClass="emp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43200000">
                                      <p:cBhvr>
                                        <p:cTn id="9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2" grpId="0" animBg="1"/>
      <p:bldP spid="32" grpId="1" animBg="1"/>
      <p:bldP spid="56" grpId="0" animBg="1"/>
      <p:bldP spid="6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51"/>
          <p:cNvSpPr>
            <a:spLocks noChangeShapeType="1"/>
          </p:cNvSpPr>
          <p:nvPr/>
        </p:nvSpPr>
        <p:spPr bwMode="auto">
          <a:xfrm flipV="1">
            <a:off x="1331913" y="2401888"/>
            <a:ext cx="2519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52"/>
          <p:cNvSpPr>
            <a:spLocks noChangeShapeType="1"/>
          </p:cNvSpPr>
          <p:nvPr/>
        </p:nvSpPr>
        <p:spPr bwMode="auto">
          <a:xfrm rot="16200000" flipV="1">
            <a:off x="1642268" y="2301082"/>
            <a:ext cx="19288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58"/>
          <p:cNvSpPr>
            <a:spLocks noChangeShapeType="1"/>
          </p:cNvSpPr>
          <p:nvPr/>
        </p:nvSpPr>
        <p:spPr bwMode="auto">
          <a:xfrm>
            <a:off x="2051050" y="2405063"/>
            <a:ext cx="107315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8" name="Line 58"/>
          <p:cNvSpPr>
            <a:spLocks noChangeShapeType="1"/>
          </p:cNvSpPr>
          <p:nvPr/>
        </p:nvSpPr>
        <p:spPr bwMode="auto">
          <a:xfrm rot="16200000" flipV="1">
            <a:off x="2062163" y="2449512"/>
            <a:ext cx="1092200" cy="3175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9" name="圆角矩形 78"/>
          <p:cNvSpPr/>
          <p:nvPr/>
        </p:nvSpPr>
        <p:spPr>
          <a:xfrm>
            <a:off x="957488" y="3844906"/>
            <a:ext cx="5786478" cy="250033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110417" y="4257498"/>
            <a:ext cx="1571636" cy="171451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763509" lon="3227099" rev="0"/>
            </a:camera>
            <a:lightRig rig="threePt" dir="t">
              <a:rot lat="0" lon="0" rev="0"/>
            </a:lightRig>
          </a:scene3d>
          <a:sp3d prstMaterial="clear">
            <a:bevelT w="247650" h="31750" prst="softRound"/>
            <a:bevelB w="6350"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69" name="直接箭头连接符 68"/>
          <p:cNvCxnSpPr/>
          <p:nvPr/>
        </p:nvCxnSpPr>
        <p:spPr>
          <a:xfrm rot="5400000">
            <a:off x="5289550" y="5149850"/>
            <a:ext cx="1214438" cy="1588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 rot="15120000">
            <a:off x="5287169" y="5107781"/>
            <a:ext cx="1212850" cy="1588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3805238" y="5133975"/>
            <a:ext cx="2071687" cy="6350"/>
          </a:xfrm>
          <a:prstGeom prst="straightConnector1">
            <a:avLst/>
          </a:prstGeom>
          <a:ln w="76200">
            <a:solidFill>
              <a:srgbClr val="92D05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395288" y="404813"/>
            <a:ext cx="7643812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自然光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：实际的光源是大量原子发出自然光，包含着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无数多个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振动方向，且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机会均等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" name="Line 53"/>
          <p:cNvSpPr>
            <a:spLocks noChangeShapeType="1"/>
          </p:cNvSpPr>
          <p:nvPr/>
        </p:nvSpPr>
        <p:spPr bwMode="auto">
          <a:xfrm flipH="1">
            <a:off x="2089150" y="1924050"/>
            <a:ext cx="1035050" cy="93821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54"/>
          <p:cNvSpPr>
            <a:spLocks noChangeShapeType="1"/>
          </p:cNvSpPr>
          <p:nvPr/>
        </p:nvSpPr>
        <p:spPr bwMode="auto">
          <a:xfrm rot="16200000" flipH="1">
            <a:off x="2137568" y="1875632"/>
            <a:ext cx="938213" cy="10350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65"/>
          <p:cNvSpPr>
            <a:spLocks noChangeShapeType="1"/>
          </p:cNvSpPr>
          <p:nvPr/>
        </p:nvSpPr>
        <p:spPr bwMode="auto">
          <a:xfrm>
            <a:off x="4538663" y="2128838"/>
            <a:ext cx="3095625" cy="9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67"/>
          <p:cNvSpPr>
            <a:spLocks noChangeShapeType="1"/>
          </p:cNvSpPr>
          <p:nvPr/>
        </p:nvSpPr>
        <p:spPr bwMode="auto">
          <a:xfrm flipH="1" flipV="1">
            <a:off x="4922838" y="1976438"/>
            <a:ext cx="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70"/>
          <p:cNvSpPr>
            <a:spLocks noChangeShapeType="1"/>
          </p:cNvSpPr>
          <p:nvPr/>
        </p:nvSpPr>
        <p:spPr bwMode="auto">
          <a:xfrm>
            <a:off x="4527550" y="2614613"/>
            <a:ext cx="3116263" cy="7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71"/>
          <p:cNvSpPr>
            <a:spLocks noChangeArrowheads="1"/>
          </p:cNvSpPr>
          <p:nvPr/>
        </p:nvSpPr>
        <p:spPr bwMode="auto">
          <a:xfrm>
            <a:off x="5214938" y="2084388"/>
            <a:ext cx="107950" cy="10795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2" name="Text Box 74"/>
          <p:cNvSpPr txBox="1">
            <a:spLocks noChangeArrowheads="1"/>
          </p:cNvSpPr>
          <p:nvPr/>
        </p:nvSpPr>
        <p:spPr bwMode="auto">
          <a:xfrm>
            <a:off x="7396433" y="1447620"/>
            <a:ext cx="1143008" cy="457200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+mn-lt"/>
                <a:ea typeface="+mn-ea"/>
              </a:rPr>
              <a:t>自然光</a:t>
            </a:r>
          </a:p>
        </p:txBody>
      </p:sp>
      <p:sp>
        <p:nvSpPr>
          <p:cNvPr id="26" name="Line 82"/>
          <p:cNvSpPr>
            <a:spLocks noChangeShapeType="1"/>
          </p:cNvSpPr>
          <p:nvPr/>
        </p:nvSpPr>
        <p:spPr bwMode="auto">
          <a:xfrm flipH="1" flipV="1">
            <a:off x="4919663" y="2460625"/>
            <a:ext cx="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Oval 83"/>
          <p:cNvSpPr>
            <a:spLocks noChangeArrowheads="1"/>
          </p:cNvSpPr>
          <p:nvPr/>
        </p:nvSpPr>
        <p:spPr bwMode="auto">
          <a:xfrm>
            <a:off x="4867275" y="2551113"/>
            <a:ext cx="107950" cy="10795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9" name="椭圆 38"/>
          <p:cNvSpPr/>
          <p:nvPr/>
        </p:nvSpPr>
        <p:spPr>
          <a:xfrm>
            <a:off x="1930400" y="1725613"/>
            <a:ext cx="1350963" cy="1350962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3" name="直接连接符 42"/>
          <p:cNvCxnSpPr/>
          <p:nvPr/>
        </p:nvCxnSpPr>
        <p:spPr>
          <a:xfrm rot="5400000">
            <a:off x="2918619" y="2191544"/>
            <a:ext cx="358775" cy="1587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>
            <a:endCxn id="39" idx="7"/>
          </p:cNvCxnSpPr>
          <p:nvPr/>
        </p:nvCxnSpPr>
        <p:spPr>
          <a:xfrm flipV="1">
            <a:off x="2628900" y="1924050"/>
            <a:ext cx="454025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58"/>
          <p:cNvGrpSpPr>
            <a:grpSpLocks/>
          </p:cNvGrpSpPr>
          <p:nvPr/>
        </p:nvGrpSpPr>
        <p:grpSpPr bwMode="auto">
          <a:xfrm>
            <a:off x="5613400" y="1976438"/>
            <a:ext cx="1676400" cy="304800"/>
            <a:chOff x="5932393" y="2571744"/>
            <a:chExt cx="1675816" cy="304800"/>
          </a:xfrm>
        </p:grpSpPr>
        <p:sp>
          <p:nvSpPr>
            <p:cNvPr id="15420" name="Line 66"/>
            <p:cNvSpPr>
              <a:spLocks noChangeShapeType="1"/>
            </p:cNvSpPr>
            <p:nvPr/>
          </p:nvSpPr>
          <p:spPr bwMode="auto">
            <a:xfrm flipH="1" flipV="1">
              <a:off x="5932393" y="2571744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1" name="Line 68"/>
            <p:cNvSpPr>
              <a:spLocks noChangeShapeType="1"/>
            </p:cNvSpPr>
            <p:nvPr/>
          </p:nvSpPr>
          <p:spPr bwMode="auto">
            <a:xfrm flipH="1" flipV="1">
              <a:off x="6589756" y="2571744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2" name="Line 69"/>
            <p:cNvSpPr>
              <a:spLocks noChangeShapeType="1"/>
            </p:cNvSpPr>
            <p:nvPr/>
          </p:nvSpPr>
          <p:spPr bwMode="auto">
            <a:xfrm flipH="1" flipV="1">
              <a:off x="7226281" y="2571744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3" name="Oval 75"/>
            <p:cNvSpPr>
              <a:spLocks noChangeArrowheads="1"/>
            </p:cNvSpPr>
            <p:nvPr/>
          </p:nvSpPr>
          <p:spPr bwMode="auto">
            <a:xfrm>
              <a:off x="6194469" y="2679694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5424" name="Oval 81"/>
            <p:cNvSpPr>
              <a:spLocks noChangeArrowheads="1"/>
            </p:cNvSpPr>
            <p:nvPr/>
          </p:nvSpPr>
          <p:spPr bwMode="auto">
            <a:xfrm>
              <a:off x="6843056" y="2679694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5425" name="Oval 81"/>
            <p:cNvSpPr>
              <a:spLocks noChangeArrowheads="1"/>
            </p:cNvSpPr>
            <p:nvPr/>
          </p:nvSpPr>
          <p:spPr bwMode="auto">
            <a:xfrm>
              <a:off x="7500259" y="2678807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" name="组合 59"/>
          <p:cNvGrpSpPr>
            <a:grpSpLocks/>
          </p:cNvGrpSpPr>
          <p:nvPr/>
        </p:nvGrpSpPr>
        <p:grpSpPr bwMode="auto">
          <a:xfrm>
            <a:off x="5226050" y="2460625"/>
            <a:ext cx="2074863" cy="309563"/>
            <a:chOff x="5545181" y="3055932"/>
            <a:chExt cx="2074903" cy="308803"/>
          </a:xfrm>
        </p:grpSpPr>
        <p:sp>
          <p:nvSpPr>
            <p:cNvPr id="15406" name="Line 73"/>
            <p:cNvSpPr>
              <a:spLocks noChangeShapeType="1"/>
            </p:cNvSpPr>
            <p:nvPr/>
          </p:nvSpPr>
          <p:spPr bwMode="auto">
            <a:xfrm flipH="1" flipV="1">
              <a:off x="5923006" y="3055932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7" name="Oval 77"/>
            <p:cNvSpPr>
              <a:spLocks noChangeArrowheads="1"/>
            </p:cNvSpPr>
            <p:nvPr/>
          </p:nvSpPr>
          <p:spPr bwMode="auto">
            <a:xfrm>
              <a:off x="5870619" y="3146419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5408" name="Line 84"/>
            <p:cNvSpPr>
              <a:spLocks noChangeShapeType="1"/>
            </p:cNvSpPr>
            <p:nvPr/>
          </p:nvSpPr>
          <p:spPr bwMode="auto">
            <a:xfrm flipH="1" flipV="1">
              <a:off x="5597569" y="3055932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9" name="Oval 85"/>
            <p:cNvSpPr>
              <a:spLocks noChangeArrowheads="1"/>
            </p:cNvSpPr>
            <p:nvPr/>
          </p:nvSpPr>
          <p:spPr bwMode="auto">
            <a:xfrm>
              <a:off x="5545181" y="3146419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5410" name="Line 86"/>
            <p:cNvSpPr>
              <a:spLocks noChangeShapeType="1"/>
            </p:cNvSpPr>
            <p:nvPr/>
          </p:nvSpPr>
          <p:spPr bwMode="auto">
            <a:xfrm flipH="1" flipV="1">
              <a:off x="6246856" y="3055932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1" name="Oval 87"/>
            <p:cNvSpPr>
              <a:spLocks noChangeArrowheads="1"/>
            </p:cNvSpPr>
            <p:nvPr/>
          </p:nvSpPr>
          <p:spPr bwMode="auto">
            <a:xfrm>
              <a:off x="6194469" y="3146419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5412" name="Line 88"/>
            <p:cNvSpPr>
              <a:spLocks noChangeShapeType="1"/>
            </p:cNvSpPr>
            <p:nvPr/>
          </p:nvSpPr>
          <p:spPr bwMode="auto">
            <a:xfrm flipH="1" flipV="1">
              <a:off x="6589756" y="3055932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3" name="Oval 89"/>
            <p:cNvSpPr>
              <a:spLocks noChangeArrowheads="1"/>
            </p:cNvSpPr>
            <p:nvPr/>
          </p:nvSpPr>
          <p:spPr bwMode="auto">
            <a:xfrm>
              <a:off x="6537369" y="3146419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5414" name="Line 90"/>
            <p:cNvSpPr>
              <a:spLocks noChangeShapeType="1"/>
            </p:cNvSpPr>
            <p:nvPr/>
          </p:nvSpPr>
          <p:spPr bwMode="auto">
            <a:xfrm flipH="1" flipV="1">
              <a:off x="6894556" y="3055932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5" name="Oval 91"/>
            <p:cNvSpPr>
              <a:spLocks noChangeArrowheads="1"/>
            </p:cNvSpPr>
            <p:nvPr/>
          </p:nvSpPr>
          <p:spPr bwMode="auto">
            <a:xfrm>
              <a:off x="6842169" y="3146419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5416" name="Line 92"/>
            <p:cNvSpPr>
              <a:spLocks noChangeShapeType="1"/>
            </p:cNvSpPr>
            <p:nvPr/>
          </p:nvSpPr>
          <p:spPr bwMode="auto">
            <a:xfrm flipH="1" flipV="1">
              <a:off x="7218406" y="3055932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7" name="Oval 93"/>
            <p:cNvSpPr>
              <a:spLocks noChangeArrowheads="1"/>
            </p:cNvSpPr>
            <p:nvPr/>
          </p:nvSpPr>
          <p:spPr bwMode="auto">
            <a:xfrm>
              <a:off x="7166019" y="3146419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5418" name="Line 92"/>
            <p:cNvSpPr>
              <a:spLocks noChangeShapeType="1"/>
            </p:cNvSpPr>
            <p:nvPr/>
          </p:nvSpPr>
          <p:spPr bwMode="auto">
            <a:xfrm flipH="1" flipV="1">
              <a:off x="7564521" y="3059935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9" name="Oval 93"/>
            <p:cNvSpPr>
              <a:spLocks noChangeArrowheads="1"/>
            </p:cNvSpPr>
            <p:nvPr/>
          </p:nvSpPr>
          <p:spPr bwMode="auto">
            <a:xfrm>
              <a:off x="7512134" y="3150422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48" name="椭圆 47"/>
          <p:cNvSpPr/>
          <p:nvPr/>
        </p:nvSpPr>
        <p:spPr>
          <a:xfrm>
            <a:off x="3038715" y="4400374"/>
            <a:ext cx="1428760" cy="14287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736269" lon="3201651" rev="2113364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9" name="直接连接符 48"/>
          <p:cNvCxnSpPr/>
          <p:nvPr/>
        </p:nvCxnSpPr>
        <p:spPr>
          <a:xfrm rot="5400000">
            <a:off x="2769394" y="5122069"/>
            <a:ext cx="2016125" cy="1587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1752600" y="5113338"/>
            <a:ext cx="1979613" cy="6350"/>
          </a:xfrm>
          <a:prstGeom prst="straightConnector1">
            <a:avLst/>
          </a:prstGeom>
          <a:ln w="76200">
            <a:solidFill>
              <a:srgbClr val="92D05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434" name="Picture 2" descr="C:\Users\Administrator\Desktop\图片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699" y="4221697"/>
            <a:ext cx="1876542" cy="1776413"/>
          </a:xfrm>
          <a:prstGeom prst="rect">
            <a:avLst/>
          </a:prstGeom>
          <a:noFill/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isometricOffAxis1Left">
              <a:rot lat="1075751" lon="3524645" rev="0"/>
            </a:camera>
            <a:lightRig rig="soft" dir="t">
              <a:rot lat="0" lon="0" rev="0"/>
            </a:lightRig>
          </a:scene3d>
          <a:sp3d prstMaterial="translucentPowder">
            <a:bevelT w="203200" h="50800"/>
          </a:sp3d>
        </p:spPr>
      </p:pic>
      <p:cxnSp>
        <p:nvCxnSpPr>
          <p:cNvPr id="71" name="直接连接符 70"/>
          <p:cNvCxnSpPr/>
          <p:nvPr/>
        </p:nvCxnSpPr>
        <p:spPr>
          <a:xfrm rot="15120000" flipH="1">
            <a:off x="2770981" y="5144294"/>
            <a:ext cx="2016125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6824663" y="4659313"/>
            <a:ext cx="1785937" cy="46196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光强无变化</a:t>
            </a:r>
          </a:p>
        </p:txBody>
      </p:sp>
      <p:sp>
        <p:nvSpPr>
          <p:cNvPr id="15396" name="TextBox 76"/>
          <p:cNvSpPr txBox="1">
            <a:spLocks noChangeArrowheads="1"/>
          </p:cNvSpPr>
          <p:nvPr/>
        </p:nvSpPr>
        <p:spPr bwMode="auto">
          <a:xfrm>
            <a:off x="8763000" y="6429375"/>
            <a:ext cx="357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 Box 59"/>
          <p:cNvSpPr txBox="1">
            <a:spLocks noChangeArrowheads="1"/>
          </p:cNvSpPr>
          <p:nvPr/>
        </p:nvSpPr>
        <p:spPr bwMode="auto">
          <a:xfrm>
            <a:off x="395288" y="3271838"/>
            <a:ext cx="8501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自然光可分解为两个垂直的、振幅相等的独立光振动</a:t>
            </a:r>
          </a:p>
        </p:txBody>
      </p:sp>
      <p:sp>
        <p:nvSpPr>
          <p:cNvPr id="55" name="弧形 54"/>
          <p:cNvSpPr/>
          <p:nvPr/>
        </p:nvSpPr>
        <p:spPr>
          <a:xfrm rot="809256">
            <a:off x="3636963" y="4291013"/>
            <a:ext cx="576262" cy="576262"/>
          </a:xfrm>
          <a:prstGeom prst="arc">
            <a:avLst>
              <a:gd name="adj1" fmla="val 14948840"/>
              <a:gd name="adj2" fmla="val 0"/>
            </a:avLst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10" name="组合 55"/>
          <p:cNvGrpSpPr>
            <a:grpSpLocks/>
          </p:cNvGrpSpPr>
          <p:nvPr/>
        </p:nvGrpSpPr>
        <p:grpSpPr bwMode="auto">
          <a:xfrm>
            <a:off x="3109913" y="5718175"/>
            <a:ext cx="1000125" cy="474663"/>
            <a:chOff x="1000100" y="1772278"/>
            <a:chExt cx="1000132" cy="475313"/>
          </a:xfrm>
        </p:grpSpPr>
        <p:sp>
          <p:nvSpPr>
            <p:cNvPr id="57" name="TextBox 56"/>
            <p:cNvSpPr txBox="1"/>
            <p:nvPr/>
          </p:nvSpPr>
          <p:spPr>
            <a:xfrm>
              <a:off x="1000100" y="1785926"/>
              <a:ext cx="428628" cy="4616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000100" y="1772278"/>
              <a:ext cx="1000132" cy="461665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latin typeface="Times New Roman" pitchFamily="18" charset="0"/>
                  <a:ea typeface="+mn-ea"/>
                  <a:cs typeface="Times New Roman" pitchFamily="18" charset="0"/>
                </a:rPr>
                <a:t>A</a:t>
              </a:r>
              <a:endPara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9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6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3" grpId="0" autoUpdateAnimBg="0"/>
      <p:bldP spid="8" grpId="0" animBg="1"/>
      <p:bldP spid="8" grpId="1" animBg="1"/>
      <p:bldP spid="9" grpId="0" animBg="1"/>
      <p:bldP spid="9" grpId="1" animBg="1"/>
      <p:bldP spid="14" grpId="0" animBg="1"/>
      <p:bldP spid="16" grpId="0" animBg="1"/>
      <p:bldP spid="19" grpId="0" animBg="1"/>
      <p:bldP spid="20" grpId="0" animBg="1"/>
      <p:bldP spid="26" grpId="0" animBg="1"/>
      <p:bldP spid="27" grpId="0" animBg="1"/>
      <p:bldP spid="39" grpId="0" animBg="1"/>
      <p:bldP spid="76" grpId="0" animBg="1"/>
      <p:bldP spid="7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611560" y="2299102"/>
            <a:ext cx="7572428" cy="27860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5230813" y="3632200"/>
            <a:ext cx="1452562" cy="4763"/>
          </a:xfrm>
          <a:prstGeom prst="straightConnector1">
            <a:avLst/>
          </a:prstGeom>
          <a:ln w="76200">
            <a:solidFill>
              <a:srgbClr val="92D05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7" descr="F:\TDDOWNLOAD\131719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438" y="698500"/>
            <a:ext cx="1500187" cy="15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椭圆 6"/>
          <p:cNvSpPr/>
          <p:nvPr/>
        </p:nvSpPr>
        <p:spPr>
          <a:xfrm>
            <a:off x="4469212" y="2918106"/>
            <a:ext cx="1428760" cy="14287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475981" lon="3541708" rev="21206501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TextBox 72"/>
          <p:cNvSpPr txBox="1"/>
          <p:nvPr/>
        </p:nvSpPr>
        <p:spPr>
          <a:xfrm>
            <a:off x="4469212" y="4395150"/>
            <a:ext cx="428628" cy="5232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latin typeface="Times New Roman" pitchFamily="18" charset="0"/>
                <a:ea typeface="+mn-ea"/>
                <a:cs typeface="Times New Roman" pitchFamily="18" charset="0"/>
              </a:rPr>
              <a:t>B</a:t>
            </a:r>
            <a:endParaRPr lang="zh-CN" altLang="en-US" sz="28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4229894" y="3656807"/>
            <a:ext cx="1908175" cy="1587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79"/>
          <p:cNvGrpSpPr>
            <a:grpSpLocks/>
          </p:cNvGrpSpPr>
          <p:nvPr/>
        </p:nvGrpSpPr>
        <p:grpSpPr bwMode="auto">
          <a:xfrm>
            <a:off x="663575" y="2670175"/>
            <a:ext cx="4519613" cy="2200275"/>
            <a:chOff x="909508" y="4252918"/>
            <a:chExt cx="4519748" cy="2199632"/>
          </a:xfrm>
        </p:grpSpPr>
        <p:cxnSp>
          <p:nvCxnSpPr>
            <p:cNvPr id="11" name="直接箭头连接符 10"/>
            <p:cNvCxnSpPr/>
            <p:nvPr/>
          </p:nvCxnSpPr>
          <p:spPr>
            <a:xfrm>
              <a:off x="3286067" y="5213075"/>
              <a:ext cx="2143189" cy="1587"/>
            </a:xfrm>
            <a:prstGeom prst="straightConnector1">
              <a:avLst/>
            </a:prstGeom>
            <a:ln w="76200">
              <a:solidFill>
                <a:srgbClr val="92D050"/>
              </a:solidFill>
              <a:headEnd type="none" w="med" len="med"/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2500298" y="4500570"/>
              <a:ext cx="1428760" cy="142876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 w="34925">
              <a:solidFill>
                <a:srgbClr val="FFFFFF"/>
              </a:solidFill>
            </a:ln>
            <a:effectLst>
              <a:outerShdw blurRad="317500" dir="2700000" algn="ctr">
                <a:srgbClr val="000000">
                  <a:alpha val="43000"/>
                </a:srgbClr>
              </a:outerShdw>
            </a:effectLst>
            <a:scene3d>
              <a:camera prst="isometricOffAxis1Left">
                <a:rot lat="475981" lon="3541708" rev="21206501"/>
              </a:camera>
              <a:lightRig rig="threePt" dir="t">
                <a:rot lat="0" lon="0" rev="0"/>
              </a:lightRig>
            </a:scene3d>
            <a:sp3d extrusionH="38100" prstMaterial="clear">
              <a:bevelT w="260350" h="50800"/>
              <a:bevelB h="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3" name="直接箭头连接符 12"/>
            <p:cNvCxnSpPr/>
            <p:nvPr/>
          </p:nvCxnSpPr>
          <p:spPr>
            <a:xfrm>
              <a:off x="1881087" y="5209901"/>
              <a:ext cx="1331953" cy="4761"/>
            </a:xfrm>
            <a:prstGeom prst="straightConnector1">
              <a:avLst/>
            </a:prstGeom>
            <a:ln w="76200">
              <a:solidFill>
                <a:srgbClr val="92D050"/>
              </a:solidFill>
              <a:headEnd type="none" w="med" len="med"/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71"/>
            <p:cNvSpPr txBox="1"/>
            <p:nvPr/>
          </p:nvSpPr>
          <p:spPr>
            <a:xfrm>
              <a:off x="2571736" y="5929330"/>
              <a:ext cx="428628" cy="52322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latin typeface="Times New Roman" pitchFamily="18" charset="0"/>
                  <a:ea typeface="+mn-ea"/>
                  <a:cs typeface="Times New Roman" pitchFamily="18" charset="0"/>
                </a:rPr>
                <a:t>A</a:t>
              </a:r>
              <a:endParaRPr lang="zh-CN" altLang="en-US" sz="2800" b="1" dirty="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 rot="5400000">
              <a:off x="2226703" y="5259892"/>
              <a:ext cx="2015536" cy="1588"/>
            </a:xfrm>
            <a:prstGeom prst="line">
              <a:avLst/>
            </a:prstGeom>
            <a:ln w="38100">
              <a:solidFill>
                <a:srgbClr val="FF000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Picture 2" descr="C:\Users\Administrator\Desktop\图片1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909508" y="4310006"/>
              <a:ext cx="1876542" cy="1776413"/>
            </a:xfrm>
            <a:prstGeom prst="rect">
              <a:avLst/>
            </a:prstGeom>
            <a:noFill/>
            <a:ln>
              <a:noFill/>
            </a:ln>
            <a:effectLst>
              <a:outerShdw blurRad="127000" dist="38100" dir="2700000" algn="ctr">
                <a:srgbClr val="000000">
                  <a:alpha val="45000"/>
                </a:srgbClr>
              </a:outerShdw>
            </a:effectLst>
            <a:scene3d>
              <a:camera prst="isometricOffAxis1Left">
                <a:rot lat="1075751" lon="3524645" rev="0"/>
              </a:camera>
              <a:lightRig rig="soft" dir="t">
                <a:rot lat="0" lon="0" rev="0"/>
              </a:lightRig>
            </a:scene3d>
            <a:sp3d prstMaterial="translucentPowder">
              <a:bevelT w="203200" h="50800"/>
            </a:sp3d>
          </p:spPr>
        </p:pic>
      </p:grpSp>
      <p:sp>
        <p:nvSpPr>
          <p:cNvPr id="17" name="TextBox 78"/>
          <p:cNvSpPr txBox="1">
            <a:spLocks noChangeArrowheads="1"/>
          </p:cNvSpPr>
          <p:nvPr/>
        </p:nvSpPr>
        <p:spPr bwMode="auto">
          <a:xfrm>
            <a:off x="3254375" y="2489200"/>
            <a:ext cx="1785938" cy="46196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光强无变化</a:t>
            </a:r>
          </a:p>
        </p:txBody>
      </p:sp>
      <p:sp>
        <p:nvSpPr>
          <p:cNvPr id="18" name="TextBox 83"/>
          <p:cNvSpPr txBox="1">
            <a:spLocks noChangeArrowheads="1"/>
          </p:cNvSpPr>
          <p:nvPr/>
        </p:nvSpPr>
        <p:spPr bwMode="auto">
          <a:xfrm>
            <a:off x="5897563" y="2489200"/>
            <a:ext cx="1785937" cy="46196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光强有变化</a:t>
            </a:r>
          </a:p>
        </p:txBody>
      </p:sp>
      <p:sp>
        <p:nvSpPr>
          <p:cNvPr id="19" name="Line 7"/>
          <p:cNvSpPr>
            <a:spLocks noChangeShapeType="1"/>
          </p:cNvSpPr>
          <p:nvPr/>
        </p:nvSpPr>
        <p:spPr bwMode="auto">
          <a:xfrm>
            <a:off x="4251325" y="3141663"/>
            <a:ext cx="3175" cy="9842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" name="Object 2"/>
          <p:cNvGraphicFramePr>
            <a:graphicFrameLocks noChangeAspect="1"/>
          </p:cNvGraphicFramePr>
          <p:nvPr/>
        </p:nvGraphicFramePr>
        <p:xfrm>
          <a:off x="6889750" y="3132138"/>
          <a:ext cx="93662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3" name="Equation" r:id="rId5" imgW="380835" imgH="203112" progId="Equation.DSMT4">
                  <p:embed/>
                </p:oleObj>
              </mc:Choice>
              <mc:Fallback>
                <p:oleObj name="Equation" r:id="rId5" imgW="380835" imgH="20311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750" y="3132138"/>
                        <a:ext cx="936625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"/>
          <p:cNvGraphicFramePr>
            <a:graphicFrameLocks noChangeAspect="1"/>
          </p:cNvGraphicFramePr>
          <p:nvPr/>
        </p:nvGraphicFramePr>
        <p:xfrm>
          <a:off x="6826250" y="4060825"/>
          <a:ext cx="1092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4" name="Equation" r:id="rId7" imgW="444114" imgH="164957" progId="Equation.DSMT4">
                  <p:embed/>
                </p:oleObj>
              </mc:Choice>
              <mc:Fallback>
                <p:oleObj name="Equation" r:id="rId7" imgW="444114" imgH="164957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250" y="4060825"/>
                        <a:ext cx="1092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88"/>
          <p:cNvSpPr txBox="1">
            <a:spLocks noChangeArrowheads="1"/>
          </p:cNvSpPr>
          <p:nvPr/>
        </p:nvSpPr>
        <p:spPr bwMode="auto">
          <a:xfrm>
            <a:off x="6969125" y="3632200"/>
            <a:ext cx="1000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最强</a:t>
            </a:r>
          </a:p>
        </p:txBody>
      </p:sp>
      <p:cxnSp>
        <p:nvCxnSpPr>
          <p:cNvPr id="23" name="直接连接符 22"/>
          <p:cNvCxnSpPr/>
          <p:nvPr/>
        </p:nvCxnSpPr>
        <p:spPr>
          <a:xfrm rot="15600000" flipH="1">
            <a:off x="4606926" y="3257550"/>
            <a:ext cx="1249362" cy="928687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91"/>
          <p:cNvSpPr txBox="1">
            <a:spLocks noChangeArrowheads="1"/>
          </p:cNvSpPr>
          <p:nvPr/>
        </p:nvSpPr>
        <p:spPr bwMode="auto">
          <a:xfrm>
            <a:off x="6969125" y="4489450"/>
            <a:ext cx="1000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最弱</a:t>
            </a:r>
          </a:p>
        </p:txBody>
      </p:sp>
      <p:sp>
        <p:nvSpPr>
          <p:cNvPr id="25" name="Line 7"/>
          <p:cNvSpPr>
            <a:spLocks noChangeShapeType="1"/>
          </p:cNvSpPr>
          <p:nvPr/>
        </p:nvSpPr>
        <p:spPr bwMode="auto">
          <a:xfrm>
            <a:off x="4254500" y="3138488"/>
            <a:ext cx="3175" cy="9842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6" name="直接连接符 25"/>
          <p:cNvCxnSpPr/>
          <p:nvPr/>
        </p:nvCxnSpPr>
        <p:spPr>
          <a:xfrm rot="7440000">
            <a:off x="4221956" y="3675857"/>
            <a:ext cx="1908175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弧形 26"/>
          <p:cNvSpPr/>
          <p:nvPr/>
        </p:nvSpPr>
        <p:spPr>
          <a:xfrm>
            <a:off x="5040313" y="3346450"/>
            <a:ext cx="285750" cy="214313"/>
          </a:xfrm>
          <a:prstGeom prst="arc">
            <a:avLst/>
          </a:prstGeom>
          <a:ln w="38100">
            <a:solidFill>
              <a:srgbClr val="CC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28" name="Object 4"/>
          <p:cNvGraphicFramePr>
            <a:graphicFrameLocks noChangeAspect="1"/>
          </p:cNvGraphicFramePr>
          <p:nvPr/>
        </p:nvGraphicFramePr>
        <p:xfrm>
          <a:off x="5254625" y="2774950"/>
          <a:ext cx="3746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5" name="Equation" r:id="rId9" imgW="152334" imgH="139639" progId="Equation.DSMT4">
                  <p:embed/>
                </p:oleObj>
              </mc:Choice>
              <mc:Fallback>
                <p:oleObj name="Equation" r:id="rId9" imgW="152334" imgH="13963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625" y="2774950"/>
                        <a:ext cx="3746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Line 7"/>
          <p:cNvSpPr>
            <a:spLocks noChangeShapeType="1"/>
          </p:cNvSpPr>
          <p:nvPr/>
        </p:nvSpPr>
        <p:spPr bwMode="auto">
          <a:xfrm rot="2100000">
            <a:off x="5195888" y="3268663"/>
            <a:ext cx="3175" cy="792162"/>
          </a:xfrm>
          <a:prstGeom prst="line">
            <a:avLst/>
          </a:prstGeom>
          <a:noFill/>
          <a:ln w="57150">
            <a:solidFill>
              <a:srgbClr val="0000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0" name="直接连接符 29"/>
          <p:cNvCxnSpPr/>
          <p:nvPr/>
        </p:nvCxnSpPr>
        <p:spPr>
          <a:xfrm>
            <a:off x="5194300" y="3192463"/>
            <a:ext cx="241300" cy="134937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4967288" y="3989388"/>
            <a:ext cx="239712" cy="134937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弧形 31"/>
          <p:cNvSpPr/>
          <p:nvPr/>
        </p:nvSpPr>
        <p:spPr>
          <a:xfrm rot="6274054">
            <a:off x="5032375" y="3981450"/>
            <a:ext cx="576263" cy="576263"/>
          </a:xfrm>
          <a:prstGeom prst="arc">
            <a:avLst>
              <a:gd name="adj1" fmla="val 14948840"/>
              <a:gd name="adj2" fmla="val 0"/>
            </a:avLst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4365" name="TextBox 3"/>
          <p:cNvSpPr txBox="1">
            <a:spLocks noChangeArrowheads="1"/>
          </p:cNvSpPr>
          <p:nvPr/>
        </p:nvSpPr>
        <p:spPr bwMode="auto">
          <a:xfrm>
            <a:off x="8675688" y="6394450"/>
            <a:ext cx="357187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0.00046 L 0.25018 0.00046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7" presetID="3" presetClass="exit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1.85185E-6 L 0.10226 0.00324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04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 -0.00023 L 0.10295 0.00301 " pathEditMode="relative" rAng="0" ptsTypes="AA">
                                      <p:cBhvr>
                                        <p:cTn id="127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04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19" grpId="1" animBg="1"/>
      <p:bldP spid="19" grpId="2" animBg="1"/>
      <p:bldP spid="22" grpId="0"/>
      <p:bldP spid="24" grpId="0"/>
      <p:bldP spid="25" grpId="0" animBg="1"/>
      <p:bldP spid="25" grpId="1" animBg="1"/>
      <p:bldP spid="29" grpId="0" animBg="1"/>
      <p:bldP spid="29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64" name="Picture 12" descr="C:\Users\Administrator\AppData\Roaming\Tencent\Users\188541213\QQ\WinTemp\RichOle\XQJ4OR46OV@4[NKG8HH7$G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7554" y="5655008"/>
            <a:ext cx="2143140" cy="1131578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42" name="圆角矩形 41"/>
          <p:cNvSpPr/>
          <p:nvPr/>
        </p:nvSpPr>
        <p:spPr>
          <a:xfrm>
            <a:off x="3071802" y="3500438"/>
            <a:ext cx="2928958" cy="1500198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3562" name="Picture 10" descr="C:\Users\Administrator\Desktop\201011251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86050" y="3286124"/>
            <a:ext cx="3236853" cy="22140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3561" name="Picture 9" descr="C:\Users\Administrator\Desktop\b0429jianx01s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55957" y="3286124"/>
            <a:ext cx="3244803" cy="22145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6390" name="TextBox 3"/>
          <p:cNvSpPr txBox="1">
            <a:spLocks noChangeArrowheads="1"/>
          </p:cNvSpPr>
          <p:nvPr/>
        </p:nvSpPr>
        <p:spPr bwMode="auto">
          <a:xfrm>
            <a:off x="8763000" y="6440488"/>
            <a:ext cx="3571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91" name="矩形 32"/>
          <p:cNvSpPr>
            <a:spLocks noChangeArrowheads="1"/>
          </p:cNvSpPr>
          <p:nvPr/>
        </p:nvSpPr>
        <p:spPr bwMode="auto">
          <a:xfrm>
            <a:off x="357188" y="428625"/>
            <a:ext cx="3214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1.3 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马吕斯定律</a:t>
            </a:r>
            <a:endParaRPr lang="en-US" altLang="zh-CN" sz="2800" b="1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6353425" y="690781"/>
            <a:ext cx="1800000" cy="1800000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 rot="5400000">
            <a:off x="6322219" y="1594644"/>
            <a:ext cx="1857375" cy="1587"/>
          </a:xfrm>
          <a:prstGeom prst="line">
            <a:avLst/>
          </a:prstGeom>
          <a:ln w="3810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rot="8400000">
            <a:off x="6294438" y="1628775"/>
            <a:ext cx="1857375" cy="1588"/>
          </a:xfrm>
          <a:prstGeom prst="line">
            <a:avLst/>
          </a:prstGeom>
          <a:ln w="3810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弧形 10"/>
          <p:cNvSpPr/>
          <p:nvPr/>
        </p:nvSpPr>
        <p:spPr>
          <a:xfrm>
            <a:off x="7081838" y="1290638"/>
            <a:ext cx="357187" cy="285750"/>
          </a:xfrm>
          <a:prstGeom prst="arc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aphicFrame>
        <p:nvGraphicFramePr>
          <p:cNvPr id="23554" name="Object 2"/>
          <p:cNvGraphicFramePr>
            <a:graphicFrameLocks noChangeAspect="1"/>
          </p:cNvGraphicFramePr>
          <p:nvPr/>
        </p:nvGraphicFramePr>
        <p:xfrm>
          <a:off x="7429500" y="728663"/>
          <a:ext cx="3746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7" name="Equation" r:id="rId6" imgW="152334" imgH="139639" progId="Equation.DSMT4">
                  <p:embed/>
                </p:oleObj>
              </mc:Choice>
              <mc:Fallback>
                <p:oleObj name="Equation" r:id="rId6" imgW="152334" imgH="139639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0" y="728663"/>
                        <a:ext cx="3746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箭头连接符 15"/>
          <p:cNvCxnSpPr/>
          <p:nvPr/>
        </p:nvCxnSpPr>
        <p:spPr>
          <a:xfrm rot="5400000" flipH="1" flipV="1">
            <a:off x="6858000" y="1239838"/>
            <a:ext cx="785813" cy="1587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rot="120000">
            <a:off x="7286625" y="846138"/>
            <a:ext cx="393700" cy="368300"/>
          </a:xfrm>
          <a:prstGeom prst="line">
            <a:avLst/>
          </a:prstGeom>
          <a:ln w="3810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rot="-360000" flipV="1">
            <a:off x="7242175" y="1258888"/>
            <a:ext cx="468313" cy="325437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Object 4"/>
          <p:cNvGraphicFramePr>
            <a:graphicFrameLocks noChangeAspect="1"/>
          </p:cNvGraphicFramePr>
          <p:nvPr/>
        </p:nvGraphicFramePr>
        <p:xfrm>
          <a:off x="6715125" y="714375"/>
          <a:ext cx="4445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8" name="公式" r:id="rId8" imgW="203112" imgH="228501" progId="Equation.3">
                  <p:embed/>
                </p:oleObj>
              </mc:Choice>
              <mc:Fallback>
                <p:oleObj name="公式" r:id="rId8" imgW="203112" imgH="22850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25" y="714375"/>
                        <a:ext cx="44450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"/>
          <p:cNvGraphicFramePr>
            <a:graphicFrameLocks noChangeAspect="1"/>
          </p:cNvGraphicFramePr>
          <p:nvPr/>
        </p:nvGraphicFramePr>
        <p:xfrm>
          <a:off x="7643813" y="1285875"/>
          <a:ext cx="40163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9" name="公式" r:id="rId10" imgW="190500" imgH="228600" progId="Equation.3">
                  <p:embed/>
                </p:oleObj>
              </mc:Choice>
              <mc:Fallback>
                <p:oleObj name="公式" r:id="rId10" imgW="1905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3813" y="1285875"/>
                        <a:ext cx="40163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429520" y="2571744"/>
            <a:ext cx="428628" cy="4616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38" name="Text Box 28"/>
          <p:cNvSpPr txBox="1">
            <a:spLocks noChangeArrowheads="1"/>
          </p:cNvSpPr>
          <p:nvPr/>
        </p:nvSpPr>
        <p:spPr bwMode="auto">
          <a:xfrm>
            <a:off x="4357688" y="2643188"/>
            <a:ext cx="291623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latin typeface="+mn-ea"/>
                <a:ea typeface="+mn-ea"/>
              </a:rPr>
              <a:t>——</a:t>
            </a:r>
            <a:r>
              <a:rPr lang="zh-CN" altLang="en-US" sz="2800" b="1" dirty="0">
                <a:latin typeface="+mn-ea"/>
                <a:ea typeface="+mn-ea"/>
              </a:rPr>
              <a:t>马吕斯定律</a:t>
            </a:r>
          </a:p>
        </p:txBody>
      </p:sp>
      <p:sp>
        <p:nvSpPr>
          <p:cNvPr id="40" name="矩形 32"/>
          <p:cNvSpPr>
            <a:spLocks noChangeArrowheads="1"/>
          </p:cNvSpPr>
          <p:nvPr/>
        </p:nvSpPr>
        <p:spPr bwMode="auto">
          <a:xfrm>
            <a:off x="428625" y="3571875"/>
            <a:ext cx="171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立体电影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4" name="直接连接符 43"/>
          <p:cNvCxnSpPr/>
          <p:nvPr/>
        </p:nvCxnSpPr>
        <p:spPr>
          <a:xfrm>
            <a:off x="357188" y="3286125"/>
            <a:ext cx="8429625" cy="1588"/>
          </a:xfrm>
          <a:prstGeom prst="line">
            <a:avLst/>
          </a:prstGeom>
          <a:ln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63"/>
          <p:cNvGrpSpPr>
            <a:grpSpLocks/>
          </p:cNvGrpSpPr>
          <p:nvPr/>
        </p:nvGrpSpPr>
        <p:grpSpPr bwMode="auto">
          <a:xfrm>
            <a:off x="1785938" y="3500438"/>
            <a:ext cx="4071937" cy="2643187"/>
            <a:chOff x="1785918" y="3500438"/>
            <a:chExt cx="4071966" cy="2643206"/>
          </a:xfrm>
        </p:grpSpPr>
        <p:cxnSp>
          <p:nvCxnSpPr>
            <p:cNvPr id="47" name="直接连接符 46"/>
            <p:cNvCxnSpPr/>
            <p:nvPr/>
          </p:nvCxnSpPr>
          <p:spPr>
            <a:xfrm flipV="1">
              <a:off x="1857356" y="3500438"/>
              <a:ext cx="4000528" cy="257176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V="1">
              <a:off x="1785918" y="5000636"/>
              <a:ext cx="4071966" cy="11430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rot="5400000" flipH="1" flipV="1">
              <a:off x="1178695" y="4107661"/>
              <a:ext cx="2643206" cy="14287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V="1">
              <a:off x="1785918" y="4929198"/>
              <a:ext cx="1285884" cy="1214446"/>
            </a:xfrm>
            <a:prstGeom prst="line">
              <a:avLst/>
            </a:prstGeom>
            <a:ln w="28575"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椭圆 60"/>
          <p:cNvSpPr/>
          <p:nvPr/>
        </p:nvSpPr>
        <p:spPr>
          <a:xfrm>
            <a:off x="1643042" y="5857892"/>
            <a:ext cx="500066" cy="500066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63" name="直接连接符 62"/>
          <p:cNvCxnSpPr/>
          <p:nvPr/>
        </p:nvCxnSpPr>
        <p:spPr>
          <a:xfrm>
            <a:off x="1416050" y="6119813"/>
            <a:ext cx="928688" cy="1587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72"/>
          <p:cNvGrpSpPr>
            <a:grpSpLocks/>
          </p:cNvGrpSpPr>
          <p:nvPr/>
        </p:nvGrpSpPr>
        <p:grpSpPr bwMode="auto">
          <a:xfrm>
            <a:off x="3071813" y="3500438"/>
            <a:ext cx="3643312" cy="2643187"/>
            <a:chOff x="3071802" y="3500438"/>
            <a:chExt cx="3643338" cy="2643206"/>
          </a:xfrm>
        </p:grpSpPr>
        <p:cxnSp>
          <p:nvCxnSpPr>
            <p:cNvPr id="66" name="直接连接符 65"/>
            <p:cNvCxnSpPr/>
            <p:nvPr/>
          </p:nvCxnSpPr>
          <p:spPr>
            <a:xfrm rot="16200000" flipV="1">
              <a:off x="5715008" y="5143513"/>
              <a:ext cx="1214446" cy="785818"/>
            </a:xfrm>
            <a:prstGeom prst="line">
              <a:avLst/>
            </a:prstGeom>
            <a:ln w="28575"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rot="16200000" flipV="1">
              <a:off x="4964908" y="4393413"/>
              <a:ext cx="2643206" cy="8572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rot="10800000">
              <a:off x="3071802" y="4929198"/>
              <a:ext cx="3643338" cy="121444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rot="10800000">
              <a:off x="3214678" y="3571876"/>
              <a:ext cx="3500462" cy="257176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椭圆 73"/>
          <p:cNvSpPr/>
          <p:nvPr/>
        </p:nvSpPr>
        <p:spPr>
          <a:xfrm>
            <a:off x="6429388" y="5857892"/>
            <a:ext cx="500066" cy="500066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8" name="直接连接符 77"/>
          <p:cNvCxnSpPr/>
          <p:nvPr/>
        </p:nvCxnSpPr>
        <p:spPr>
          <a:xfrm rot="16200000" flipH="1">
            <a:off x="6215063" y="6096000"/>
            <a:ext cx="928688" cy="1587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>
            <a:off x="3994150" y="5857875"/>
            <a:ext cx="720725" cy="1588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rot="5400000">
            <a:off x="4712494" y="5931694"/>
            <a:ext cx="720725" cy="1587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Object 9"/>
          <p:cNvGraphicFramePr>
            <a:graphicFrameLocks noChangeAspect="1"/>
          </p:cNvGraphicFramePr>
          <p:nvPr/>
        </p:nvGraphicFramePr>
        <p:xfrm>
          <a:off x="1117600" y="1071563"/>
          <a:ext cx="2122488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0" name="Equation" r:id="rId12" imgW="863225" imgH="228501" progId="Equation.DSMT4">
                  <p:embed/>
                </p:oleObj>
              </mc:Choice>
              <mc:Fallback>
                <p:oleObj name="Equation" r:id="rId12" imgW="863225" imgH="228501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600" y="1071563"/>
                        <a:ext cx="2122488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50"/>
          <p:cNvGrpSpPr>
            <a:grpSpLocks/>
          </p:cNvGrpSpPr>
          <p:nvPr/>
        </p:nvGrpSpPr>
        <p:grpSpPr bwMode="auto">
          <a:xfrm>
            <a:off x="3754438" y="1047750"/>
            <a:ext cx="1889125" cy="523875"/>
            <a:chOff x="3714744" y="1000108"/>
            <a:chExt cx="1889131" cy="523220"/>
          </a:xfrm>
        </p:grpSpPr>
        <p:sp>
          <p:nvSpPr>
            <p:cNvPr id="16429" name="TextBox 32"/>
            <p:cNvSpPr txBox="1">
              <a:spLocks noChangeArrowheads="1"/>
            </p:cNvSpPr>
            <p:nvPr/>
          </p:nvSpPr>
          <p:spPr bwMode="auto">
            <a:xfrm>
              <a:off x="3714744" y="1000108"/>
              <a:ext cx="64294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又</a:t>
              </a:r>
            </a:p>
          </p:txBody>
        </p:sp>
        <p:graphicFrame>
          <p:nvGraphicFramePr>
            <p:cNvPr id="16430" name="Object 9"/>
            <p:cNvGraphicFramePr>
              <a:graphicFrameLocks noChangeAspect="1"/>
            </p:cNvGraphicFramePr>
            <p:nvPr/>
          </p:nvGraphicFramePr>
          <p:xfrm>
            <a:off x="4448175" y="1000125"/>
            <a:ext cx="1155700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21" name="Equation" r:id="rId14" imgW="469696" imgH="190417" progId="Equation.DSMT4">
                    <p:embed/>
                  </p:oleObj>
                </mc:Choice>
                <mc:Fallback>
                  <p:oleObj name="Equation" r:id="rId14" imgW="469696" imgH="190417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8175" y="1000125"/>
                          <a:ext cx="1155700" cy="468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54"/>
          <p:cNvGrpSpPr>
            <a:grpSpLocks/>
          </p:cNvGrpSpPr>
          <p:nvPr/>
        </p:nvGrpSpPr>
        <p:grpSpPr bwMode="auto">
          <a:xfrm>
            <a:off x="1285875" y="1857375"/>
            <a:ext cx="3429000" cy="738188"/>
            <a:chOff x="1000100" y="1762176"/>
            <a:chExt cx="3429024" cy="738130"/>
          </a:xfrm>
        </p:grpSpPr>
        <p:sp>
          <p:nvSpPr>
            <p:cNvPr id="36" name="圆角矩形 35"/>
            <p:cNvSpPr/>
            <p:nvPr/>
          </p:nvSpPr>
          <p:spPr>
            <a:xfrm>
              <a:off x="2000232" y="1762176"/>
              <a:ext cx="2428892" cy="738130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右箭头 34"/>
            <p:cNvSpPr/>
            <p:nvPr/>
          </p:nvSpPr>
          <p:spPr>
            <a:xfrm>
              <a:off x="1000100" y="1905040"/>
              <a:ext cx="642943" cy="42859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graphicFrame>
          <p:nvGraphicFramePr>
            <p:cNvPr id="16428" name="Object 11"/>
            <p:cNvGraphicFramePr>
              <a:graphicFrameLocks noChangeAspect="1"/>
            </p:cNvGraphicFramePr>
            <p:nvPr/>
          </p:nvGraphicFramePr>
          <p:xfrm>
            <a:off x="2173286" y="1836800"/>
            <a:ext cx="2122487" cy="592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22" name="Equation" r:id="rId16" imgW="863225" imgH="241195" progId="Equation.DSMT4">
                    <p:embed/>
                  </p:oleObj>
                </mc:Choice>
                <mc:Fallback>
                  <p:oleObj name="Equation" r:id="rId16" imgW="863225" imgH="241195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3286" y="1836800"/>
                          <a:ext cx="2122487" cy="592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" name="矩形 32"/>
          <p:cNvSpPr>
            <a:spLocks noChangeArrowheads="1"/>
          </p:cNvSpPr>
          <p:nvPr/>
        </p:nvSpPr>
        <p:spPr bwMode="auto">
          <a:xfrm>
            <a:off x="7989888" y="674688"/>
            <a:ext cx="990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透光轴</a:t>
            </a:r>
            <a:endParaRPr lang="en-US" altLang="zh-CN" sz="20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3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3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utoUpdateAnimBg="0"/>
      <p:bldP spid="40" grpId="0" autoUpdateAnimBg="0"/>
      <p:bldP spid="4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263525" y="325438"/>
            <a:ext cx="855503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节 通过选择吸收</a:t>
            </a:r>
            <a:r>
              <a:rPr kumimoji="1"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产生偏振 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马吕斯定律 </a:t>
            </a:r>
            <a:br>
              <a:rPr lang="zh-CN" altLang="en-US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Polarization by Selected Absorbing Malus Law</a:t>
            </a:r>
          </a:p>
        </p:txBody>
      </p:sp>
      <p:sp>
        <p:nvSpPr>
          <p:cNvPr id="49182" name="Text Box 30"/>
          <p:cNvSpPr txBox="1">
            <a:spLocks noChangeArrowheads="1"/>
          </p:cNvSpPr>
          <p:nvPr/>
        </p:nvSpPr>
        <p:spPr bwMode="auto">
          <a:xfrm>
            <a:off x="46038" y="1558925"/>
            <a:ext cx="53292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通过选择吸收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产生偏振</a:t>
            </a:r>
          </a:p>
        </p:txBody>
      </p:sp>
      <p:sp>
        <p:nvSpPr>
          <p:cNvPr id="49183" name="Text Box 31"/>
          <p:cNvSpPr txBox="1">
            <a:spLocks noChangeArrowheads="1"/>
          </p:cNvSpPr>
          <p:nvPr/>
        </p:nvSpPr>
        <p:spPr bwMode="auto">
          <a:xfrm>
            <a:off x="665163" y="2224088"/>
            <a:ext cx="4727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利用选择吸收获得线偏振光</a:t>
            </a: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3851275" y="4491038"/>
            <a:ext cx="533400" cy="914400"/>
            <a:chOff x="1680" y="3408"/>
            <a:chExt cx="336" cy="576"/>
          </a:xfrm>
        </p:grpSpPr>
        <p:sp>
          <p:nvSpPr>
            <p:cNvPr id="17449" name="Oval 33"/>
            <p:cNvSpPr>
              <a:spLocks noChangeArrowheads="1"/>
            </p:cNvSpPr>
            <p:nvPr/>
          </p:nvSpPr>
          <p:spPr bwMode="auto">
            <a:xfrm>
              <a:off x="1728" y="3408"/>
              <a:ext cx="288" cy="576"/>
            </a:xfrm>
            <a:prstGeom prst="ellipse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50" name="Oval 34"/>
            <p:cNvSpPr>
              <a:spLocks noChangeArrowheads="1"/>
            </p:cNvSpPr>
            <p:nvPr/>
          </p:nvSpPr>
          <p:spPr bwMode="auto">
            <a:xfrm>
              <a:off x="1680" y="3408"/>
              <a:ext cx="288" cy="576"/>
            </a:xfrm>
            <a:prstGeom prst="ellipse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5375275" y="4491038"/>
            <a:ext cx="533400" cy="914400"/>
            <a:chOff x="1680" y="3408"/>
            <a:chExt cx="336" cy="576"/>
          </a:xfrm>
        </p:grpSpPr>
        <p:sp>
          <p:nvSpPr>
            <p:cNvPr id="17447" name="Oval 36"/>
            <p:cNvSpPr>
              <a:spLocks noChangeArrowheads="1"/>
            </p:cNvSpPr>
            <p:nvPr/>
          </p:nvSpPr>
          <p:spPr bwMode="auto">
            <a:xfrm>
              <a:off x="1728" y="3408"/>
              <a:ext cx="288" cy="576"/>
            </a:xfrm>
            <a:prstGeom prst="ellipse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48" name="Oval 37"/>
            <p:cNvSpPr>
              <a:spLocks noChangeArrowheads="1"/>
            </p:cNvSpPr>
            <p:nvPr/>
          </p:nvSpPr>
          <p:spPr bwMode="auto">
            <a:xfrm>
              <a:off x="1680" y="3408"/>
              <a:ext cx="288" cy="576"/>
            </a:xfrm>
            <a:prstGeom prst="ellipse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49190" name="Line 38"/>
          <p:cNvSpPr>
            <a:spLocks noChangeShapeType="1"/>
          </p:cNvSpPr>
          <p:nvPr/>
        </p:nvSpPr>
        <p:spPr bwMode="auto">
          <a:xfrm>
            <a:off x="4079875" y="4186238"/>
            <a:ext cx="0" cy="14478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91" name="Line 39"/>
          <p:cNvSpPr>
            <a:spLocks noChangeShapeType="1"/>
          </p:cNvSpPr>
          <p:nvPr/>
        </p:nvSpPr>
        <p:spPr bwMode="auto">
          <a:xfrm>
            <a:off x="5603875" y="4186238"/>
            <a:ext cx="0" cy="1447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92" name="Line 40"/>
          <p:cNvSpPr>
            <a:spLocks noChangeShapeType="1"/>
          </p:cNvSpPr>
          <p:nvPr/>
        </p:nvSpPr>
        <p:spPr bwMode="auto">
          <a:xfrm flipH="1">
            <a:off x="5222875" y="4414838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4384675" y="4751388"/>
            <a:ext cx="1219200" cy="392112"/>
            <a:chOff x="2400" y="1200"/>
            <a:chExt cx="768" cy="288"/>
          </a:xfrm>
        </p:grpSpPr>
        <p:sp>
          <p:nvSpPr>
            <p:cNvPr id="17444" name="Line 42"/>
            <p:cNvSpPr>
              <a:spLocks noChangeShapeType="1"/>
            </p:cNvSpPr>
            <p:nvPr/>
          </p:nvSpPr>
          <p:spPr bwMode="auto">
            <a:xfrm>
              <a:off x="2400" y="1344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5" name="Line 43"/>
            <p:cNvSpPr>
              <a:spLocks noChangeShapeType="1"/>
            </p:cNvSpPr>
            <p:nvPr/>
          </p:nvSpPr>
          <p:spPr bwMode="auto">
            <a:xfrm>
              <a:off x="2592" y="1200"/>
              <a:ext cx="0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6" name="Line 44"/>
            <p:cNvSpPr>
              <a:spLocks noChangeShapeType="1"/>
            </p:cNvSpPr>
            <p:nvPr/>
          </p:nvSpPr>
          <p:spPr bwMode="auto">
            <a:xfrm>
              <a:off x="2784" y="1200"/>
              <a:ext cx="0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5"/>
          <p:cNvGrpSpPr>
            <a:grpSpLocks/>
          </p:cNvGrpSpPr>
          <p:nvPr/>
        </p:nvGrpSpPr>
        <p:grpSpPr bwMode="auto">
          <a:xfrm>
            <a:off x="5908675" y="4795838"/>
            <a:ext cx="1524000" cy="304800"/>
            <a:chOff x="3360" y="1248"/>
            <a:chExt cx="960" cy="192"/>
          </a:xfrm>
        </p:grpSpPr>
        <p:sp>
          <p:nvSpPr>
            <p:cNvPr id="17441" name="Line 46"/>
            <p:cNvSpPr>
              <a:spLocks noChangeShapeType="1"/>
            </p:cNvSpPr>
            <p:nvPr/>
          </p:nvSpPr>
          <p:spPr bwMode="auto">
            <a:xfrm>
              <a:off x="3360" y="1344"/>
              <a:ext cx="9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2" name="Line 47"/>
            <p:cNvSpPr>
              <a:spLocks noChangeShapeType="1"/>
            </p:cNvSpPr>
            <p:nvPr/>
          </p:nvSpPr>
          <p:spPr bwMode="auto">
            <a:xfrm flipH="1">
              <a:off x="3552" y="1248"/>
              <a:ext cx="144" cy="1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3" name="Line 48"/>
            <p:cNvSpPr>
              <a:spLocks noChangeShapeType="1"/>
            </p:cNvSpPr>
            <p:nvPr/>
          </p:nvSpPr>
          <p:spPr bwMode="auto">
            <a:xfrm flipH="1">
              <a:off x="3744" y="1248"/>
              <a:ext cx="144" cy="1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49201" name="Object 49"/>
          <p:cNvGraphicFramePr>
            <a:graphicFrameLocks noChangeAspect="1"/>
          </p:cNvGraphicFramePr>
          <p:nvPr/>
        </p:nvGraphicFramePr>
        <p:xfrm>
          <a:off x="4267200" y="4067175"/>
          <a:ext cx="45085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6" name="Equation" r:id="rId3" imgW="279279" imgH="215806" progId="Equation.DSMT4">
                  <p:embed/>
                </p:oleObj>
              </mc:Choice>
              <mc:Fallback>
                <p:oleObj name="Equation" r:id="rId3" imgW="279279" imgH="215806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067175"/>
                        <a:ext cx="450850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02" name="Object 50"/>
          <p:cNvGraphicFramePr>
            <a:graphicFrameLocks noChangeAspect="1"/>
          </p:cNvGraphicFramePr>
          <p:nvPr/>
        </p:nvGraphicFramePr>
        <p:xfrm>
          <a:off x="4184650" y="5427663"/>
          <a:ext cx="395288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7" name="Equation" r:id="rId5" imgW="482181" imgH="317225" progId="Equation.DSMT4">
                  <p:embed/>
                </p:oleObj>
              </mc:Choice>
              <mc:Fallback>
                <p:oleObj name="Equation" r:id="rId5" imgW="482181" imgH="317225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4650" y="5427663"/>
                        <a:ext cx="395288" cy="26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03" name="Object 51"/>
          <p:cNvGraphicFramePr>
            <a:graphicFrameLocks noChangeAspect="1"/>
          </p:cNvGraphicFramePr>
          <p:nvPr/>
        </p:nvGraphicFramePr>
        <p:xfrm>
          <a:off x="6022975" y="4264025"/>
          <a:ext cx="44767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8" name="Equation" r:id="rId7" imgW="228600" imgH="228600" progId="Equation.DSMT4">
                  <p:embed/>
                </p:oleObj>
              </mc:Choice>
              <mc:Fallback>
                <p:oleObj name="Equation" r:id="rId7" imgW="228600" imgH="22860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2975" y="4264025"/>
                        <a:ext cx="447675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04" name="Object 52"/>
          <p:cNvGraphicFramePr>
            <a:graphicFrameLocks noChangeAspect="1"/>
          </p:cNvGraphicFramePr>
          <p:nvPr/>
        </p:nvGraphicFramePr>
        <p:xfrm>
          <a:off x="5194300" y="5419725"/>
          <a:ext cx="360363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9" name="Equation" r:id="rId9" imgW="431425" imgH="317225" progId="Equation.DSMT4">
                  <p:embed/>
                </p:oleObj>
              </mc:Choice>
              <mc:Fallback>
                <p:oleObj name="Equation" r:id="rId9" imgW="431425" imgH="317225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4300" y="5419725"/>
                        <a:ext cx="360363" cy="26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05" name="Arc 53"/>
          <p:cNvSpPr>
            <a:spLocks/>
          </p:cNvSpPr>
          <p:nvPr/>
        </p:nvSpPr>
        <p:spPr bwMode="auto">
          <a:xfrm>
            <a:off x="5603875" y="4418013"/>
            <a:ext cx="296863" cy="533400"/>
          </a:xfrm>
          <a:custGeom>
            <a:avLst/>
            <a:gdLst>
              <a:gd name="T0" fmla="*/ 2147483646 w 14044"/>
              <a:gd name="T1" fmla="*/ 0 h 21591"/>
              <a:gd name="T2" fmla="*/ 2147483646 w 14044"/>
              <a:gd name="T3" fmla="*/ 2147483646 h 21591"/>
              <a:gd name="T4" fmla="*/ 0 w 14044"/>
              <a:gd name="T5" fmla="*/ 2147483646 h 21591"/>
              <a:gd name="T6" fmla="*/ 0 60000 65536"/>
              <a:gd name="T7" fmla="*/ 0 60000 65536"/>
              <a:gd name="T8" fmla="*/ 0 60000 65536"/>
              <a:gd name="T9" fmla="*/ 0 w 14044"/>
              <a:gd name="T10" fmla="*/ 0 h 21591"/>
              <a:gd name="T11" fmla="*/ 14044 w 14044"/>
              <a:gd name="T12" fmla="*/ 21591 h 2159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44" h="21591" fill="none" extrusionOk="0">
                <a:moveTo>
                  <a:pt x="614" y="-1"/>
                </a:moveTo>
                <a:cubicBezTo>
                  <a:pt x="5551" y="140"/>
                  <a:pt x="10290" y="1968"/>
                  <a:pt x="14043" y="5179"/>
                </a:cubicBezTo>
              </a:path>
              <a:path w="14044" h="21591" stroke="0" extrusionOk="0">
                <a:moveTo>
                  <a:pt x="614" y="-1"/>
                </a:moveTo>
                <a:cubicBezTo>
                  <a:pt x="5551" y="140"/>
                  <a:pt x="10290" y="1968"/>
                  <a:pt x="14043" y="5179"/>
                </a:cubicBezTo>
                <a:lnTo>
                  <a:pt x="0" y="21591"/>
                </a:lnTo>
                <a:lnTo>
                  <a:pt x="614" y="-1"/>
                </a:lnTo>
                <a:close/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9206" name="Object 54"/>
          <p:cNvGraphicFramePr>
            <a:graphicFrameLocks noChangeAspect="1"/>
          </p:cNvGraphicFramePr>
          <p:nvPr/>
        </p:nvGraphicFramePr>
        <p:xfrm>
          <a:off x="5661025" y="4175125"/>
          <a:ext cx="288925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0" name="Equation" r:id="rId11" imgW="279279" imgH="241195" progId="Equation.DSMT4">
                  <p:embed/>
                </p:oleObj>
              </mc:Choice>
              <mc:Fallback>
                <p:oleObj name="Equation" r:id="rId11" imgW="279279" imgH="241195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1025" y="4175125"/>
                        <a:ext cx="288925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07" name="Text Box 55"/>
          <p:cNvSpPr txBox="1">
            <a:spLocks noChangeArrowheads="1"/>
          </p:cNvSpPr>
          <p:nvPr/>
        </p:nvSpPr>
        <p:spPr bwMode="auto">
          <a:xfrm>
            <a:off x="3429000" y="5688013"/>
            <a:ext cx="225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/>
              <a:t>起偏器</a:t>
            </a:r>
            <a:endParaRPr kumimoji="1" lang="zh-CN" altLang="en-US" sz="1800"/>
          </a:p>
        </p:txBody>
      </p:sp>
      <p:sp>
        <p:nvSpPr>
          <p:cNvPr id="49208" name="Rectangle 56"/>
          <p:cNvSpPr>
            <a:spLocks noChangeArrowheads="1"/>
          </p:cNvSpPr>
          <p:nvPr/>
        </p:nvSpPr>
        <p:spPr bwMode="auto">
          <a:xfrm>
            <a:off x="5222875" y="5710238"/>
            <a:ext cx="209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/>
              <a:t>检偏器</a:t>
            </a:r>
          </a:p>
        </p:txBody>
      </p:sp>
      <p:sp>
        <p:nvSpPr>
          <p:cNvPr id="49209" name="Text Box 57"/>
          <p:cNvSpPr txBox="1">
            <a:spLocks noChangeArrowheads="1"/>
          </p:cNvSpPr>
          <p:nvPr/>
        </p:nvSpPr>
        <p:spPr bwMode="auto">
          <a:xfrm>
            <a:off x="665163" y="2917825"/>
            <a:ext cx="4271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偏振片的起偏与检偏作用</a:t>
            </a:r>
          </a:p>
        </p:txBody>
      </p:sp>
      <p:grpSp>
        <p:nvGrpSpPr>
          <p:cNvPr id="6" name="Group 58"/>
          <p:cNvGrpSpPr>
            <a:grpSpLocks/>
          </p:cNvGrpSpPr>
          <p:nvPr/>
        </p:nvGrpSpPr>
        <p:grpSpPr bwMode="auto">
          <a:xfrm>
            <a:off x="993775" y="3802063"/>
            <a:ext cx="2701925" cy="612775"/>
            <a:chOff x="657" y="1774"/>
            <a:chExt cx="1702" cy="386"/>
          </a:xfrm>
        </p:grpSpPr>
        <p:sp>
          <p:nvSpPr>
            <p:cNvPr id="17439" name="AutoShape 59"/>
            <p:cNvSpPr>
              <a:spLocks noChangeArrowheads="1"/>
            </p:cNvSpPr>
            <p:nvPr/>
          </p:nvSpPr>
          <p:spPr bwMode="auto">
            <a:xfrm>
              <a:off x="657" y="1774"/>
              <a:ext cx="1370" cy="386"/>
            </a:xfrm>
            <a:prstGeom prst="wedgeRoundRectCallout">
              <a:avLst>
                <a:gd name="adj1" fmla="val 86806"/>
                <a:gd name="adj2" fmla="val 75389"/>
                <a:gd name="adj3" fmla="val 16667"/>
              </a:avLst>
            </a:prstGeom>
            <a:solidFill>
              <a:srgbClr val="FFFF99"/>
            </a:solidFill>
            <a:ln w="9525">
              <a:solidFill>
                <a:srgbClr val="0033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1800"/>
            </a:p>
          </p:txBody>
        </p:sp>
        <p:sp>
          <p:nvSpPr>
            <p:cNvPr id="17440" name="Text Box 60"/>
            <p:cNvSpPr txBox="1">
              <a:spLocks noChangeArrowheads="1"/>
            </p:cNvSpPr>
            <p:nvPr/>
          </p:nvSpPr>
          <p:spPr bwMode="auto">
            <a:xfrm>
              <a:off x="726" y="1797"/>
              <a:ext cx="16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ea typeface="楷体_GB2312"/>
                  <a:cs typeface="楷体_GB2312"/>
                </a:rPr>
                <a:t>偏振化方向</a:t>
              </a:r>
            </a:p>
          </p:txBody>
        </p:sp>
      </p:grpSp>
      <p:sp>
        <p:nvSpPr>
          <p:cNvPr id="49213" name="Line 61"/>
          <p:cNvSpPr>
            <a:spLocks noChangeShapeType="1"/>
          </p:cNvSpPr>
          <p:nvPr/>
        </p:nvSpPr>
        <p:spPr bwMode="auto">
          <a:xfrm>
            <a:off x="5222875" y="4643438"/>
            <a:ext cx="838200" cy="762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62"/>
          <p:cNvGrpSpPr>
            <a:grpSpLocks/>
          </p:cNvGrpSpPr>
          <p:nvPr/>
        </p:nvGrpSpPr>
        <p:grpSpPr bwMode="auto">
          <a:xfrm>
            <a:off x="2636838" y="4787900"/>
            <a:ext cx="1404937" cy="304800"/>
            <a:chOff x="1587" y="2251"/>
            <a:chExt cx="885" cy="192"/>
          </a:xfrm>
        </p:grpSpPr>
        <p:sp>
          <p:nvSpPr>
            <p:cNvPr id="17433" name="Line 63"/>
            <p:cNvSpPr>
              <a:spLocks noChangeShapeType="1"/>
            </p:cNvSpPr>
            <p:nvPr/>
          </p:nvSpPr>
          <p:spPr bwMode="auto">
            <a:xfrm>
              <a:off x="1587" y="2341"/>
              <a:ext cx="8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434" name="Group 64"/>
            <p:cNvGrpSpPr>
              <a:grpSpLocks/>
            </p:cNvGrpSpPr>
            <p:nvPr/>
          </p:nvGrpSpPr>
          <p:grpSpPr bwMode="auto">
            <a:xfrm>
              <a:off x="1791" y="2251"/>
              <a:ext cx="464" cy="192"/>
              <a:chOff x="1963" y="834"/>
              <a:chExt cx="464" cy="192"/>
            </a:xfrm>
          </p:grpSpPr>
          <p:sp>
            <p:nvSpPr>
              <p:cNvPr id="17435" name="Line 65"/>
              <p:cNvSpPr>
                <a:spLocks noChangeShapeType="1"/>
              </p:cNvSpPr>
              <p:nvPr/>
            </p:nvSpPr>
            <p:spPr bwMode="auto">
              <a:xfrm flipH="1" flipV="1">
                <a:off x="2245" y="834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6" name="Line 66"/>
              <p:cNvSpPr>
                <a:spLocks noChangeShapeType="1"/>
              </p:cNvSpPr>
              <p:nvPr/>
            </p:nvSpPr>
            <p:spPr bwMode="auto">
              <a:xfrm flipH="1" flipV="1">
                <a:off x="1963" y="834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7" name="Oval 67"/>
              <p:cNvSpPr>
                <a:spLocks noChangeArrowheads="1"/>
              </p:cNvSpPr>
              <p:nvPr/>
            </p:nvSpPr>
            <p:spPr bwMode="auto">
              <a:xfrm>
                <a:off x="2064" y="902"/>
                <a:ext cx="68" cy="6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438" name="Oval 68"/>
              <p:cNvSpPr>
                <a:spLocks noChangeArrowheads="1"/>
              </p:cNvSpPr>
              <p:nvPr/>
            </p:nvSpPr>
            <p:spPr bwMode="auto">
              <a:xfrm>
                <a:off x="2359" y="902"/>
                <a:ext cx="68" cy="6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</p:grpSp>
      <p:sp>
        <p:nvSpPr>
          <p:cNvPr id="17432" name="TextBox 42"/>
          <p:cNvSpPr txBox="1">
            <a:spLocks noChangeArrowheads="1"/>
          </p:cNvSpPr>
          <p:nvPr/>
        </p:nvSpPr>
        <p:spPr bwMode="auto">
          <a:xfrm>
            <a:off x="8763000" y="6440488"/>
            <a:ext cx="3571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4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9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9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9" dur="500"/>
                                        <p:tgtEl>
                                          <p:spTgt spid="49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3" dur="500"/>
                                        <p:tgtEl>
                                          <p:spTgt spid="49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8" dur="500"/>
                                        <p:tgtEl>
                                          <p:spTgt spid="49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9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9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9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9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9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 autoUpdateAnimBg="0"/>
      <p:bldP spid="49182" grpId="0"/>
      <p:bldP spid="49183" grpId="0" autoUpdateAnimBg="0"/>
      <p:bldP spid="49190" grpId="0" animBg="1"/>
      <p:bldP spid="49191" grpId="0" animBg="1"/>
      <p:bldP spid="49192" grpId="0" animBg="1"/>
      <p:bldP spid="49205" grpId="0" animBg="1"/>
      <p:bldP spid="49207" grpId="0" autoUpdateAnimBg="0"/>
      <p:bldP spid="49208" grpId="0" autoUpdateAnimBg="0"/>
      <p:bldP spid="49209" grpId="0" autoUpdateAnimBg="0"/>
      <p:bldP spid="492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圆角矩形 29"/>
          <p:cNvSpPr>
            <a:spLocks noChangeArrowheads="1"/>
          </p:cNvSpPr>
          <p:nvPr/>
        </p:nvSpPr>
        <p:spPr bwMode="auto">
          <a:xfrm>
            <a:off x="847725" y="1128713"/>
            <a:ext cx="7667625" cy="2117725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 algn="ctr">
            <a:noFill/>
            <a:round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80963" y="80963"/>
            <a:ext cx="26654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马吕斯定律</a:t>
            </a:r>
            <a:endParaRPr lang="zh-CN" altLang="en-US" sz="2800" b="1">
              <a:solidFill>
                <a:srgbClr val="0000CC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592138" y="581025"/>
            <a:ext cx="30591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楷体_GB2312"/>
                <a:cs typeface="楷体_GB2312"/>
              </a:rPr>
              <a:t>透射光的强度</a:t>
            </a:r>
          </a:p>
        </p:txBody>
      </p:sp>
      <p:graphicFrame>
        <p:nvGraphicFramePr>
          <p:cNvPr id="50182" name="Object 6"/>
          <p:cNvGraphicFramePr>
            <a:graphicFrameLocks noChangeAspect="1"/>
          </p:cNvGraphicFramePr>
          <p:nvPr/>
        </p:nvGraphicFramePr>
        <p:xfrm>
          <a:off x="1812925" y="3282950"/>
          <a:ext cx="10795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0" name="Equation" r:id="rId3" imgW="1129810" imgH="482391" progId="Equation.DSMT4">
                  <p:embed/>
                </p:oleObj>
              </mc:Choice>
              <mc:Fallback>
                <p:oleObj name="Equation" r:id="rId3" imgW="1129810" imgH="48239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925" y="3282950"/>
                        <a:ext cx="10795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3" name="Object 7"/>
          <p:cNvGraphicFramePr>
            <a:graphicFrameLocks noChangeAspect="1"/>
          </p:cNvGraphicFramePr>
          <p:nvPr/>
        </p:nvGraphicFramePr>
        <p:xfrm>
          <a:off x="1797050" y="3940175"/>
          <a:ext cx="113347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1" name="Equation" r:id="rId5" imgW="1028700" imgH="381000" progId="Equation.DSMT4">
                  <p:embed/>
                </p:oleObj>
              </mc:Choice>
              <mc:Fallback>
                <p:oleObj name="Equation" r:id="rId5" imgW="1028700" imgH="381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050" y="3940175"/>
                        <a:ext cx="1133475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4" name="AutoShape 8"/>
          <p:cNvSpPr>
            <a:spLocks/>
          </p:cNvSpPr>
          <p:nvPr/>
        </p:nvSpPr>
        <p:spPr bwMode="auto">
          <a:xfrm>
            <a:off x="1476375" y="3495675"/>
            <a:ext cx="304800" cy="762000"/>
          </a:xfrm>
          <a:prstGeom prst="leftBrace">
            <a:avLst>
              <a:gd name="adj1" fmla="val 2083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50185" name="Object 9"/>
          <p:cNvGraphicFramePr>
            <a:graphicFrameLocks noChangeAspect="1"/>
          </p:cNvGraphicFramePr>
          <p:nvPr/>
        </p:nvGraphicFramePr>
        <p:xfrm>
          <a:off x="3186113" y="3643313"/>
          <a:ext cx="473075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2" name="Equation" r:id="rId7" imgW="266469" imgH="190335" progId="Equation.DSMT4">
                  <p:embed/>
                </p:oleObj>
              </mc:Choice>
              <mc:Fallback>
                <p:oleObj name="Equation" r:id="rId7" imgW="266469" imgH="19033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6113" y="3643313"/>
                        <a:ext cx="473075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6" name="Object 10"/>
          <p:cNvGraphicFramePr>
            <a:graphicFrameLocks noChangeAspect="1"/>
          </p:cNvGraphicFramePr>
          <p:nvPr/>
        </p:nvGraphicFramePr>
        <p:xfrm>
          <a:off x="3779838" y="3295650"/>
          <a:ext cx="3165475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3" name="Equation" r:id="rId9" imgW="2882900" imgH="952500" progId="Equation.DSMT4">
                  <p:embed/>
                </p:oleObj>
              </mc:Choice>
              <mc:Fallback>
                <p:oleObj name="Equation" r:id="rId9" imgW="2882900" imgH="9525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3295650"/>
                        <a:ext cx="3165475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7" name="Rectangle 11"/>
          <p:cNvSpPr>
            <a:spLocks noChangeArrowheads="1"/>
          </p:cNvSpPr>
          <p:nvPr/>
        </p:nvSpPr>
        <p:spPr bwMode="auto">
          <a:xfrm>
            <a:off x="571500" y="5970588"/>
            <a:ext cx="4356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/>
              <a:t>  由马吕斯定律知</a:t>
            </a:r>
          </a:p>
        </p:txBody>
      </p:sp>
      <p:graphicFrame>
        <p:nvGraphicFramePr>
          <p:cNvPr id="50188" name="Object 12"/>
          <p:cNvGraphicFramePr>
            <a:graphicFrameLocks noChangeAspect="1"/>
          </p:cNvGraphicFramePr>
          <p:nvPr/>
        </p:nvGraphicFramePr>
        <p:xfrm>
          <a:off x="4097338" y="5718175"/>
          <a:ext cx="2189162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4" name="Equation" r:id="rId11" imgW="1993900" imgH="469900" progId="Equation.DSMT4">
                  <p:embed/>
                </p:oleObj>
              </mc:Choice>
              <mc:Fallback>
                <p:oleObj name="Equation" r:id="rId11" imgW="1993900" imgH="4699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7338" y="5718175"/>
                        <a:ext cx="2189162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9" name="Object 13"/>
          <p:cNvGraphicFramePr>
            <a:graphicFrameLocks noChangeAspect="1"/>
          </p:cNvGraphicFramePr>
          <p:nvPr/>
        </p:nvGraphicFramePr>
        <p:xfrm>
          <a:off x="4078288" y="6262688"/>
          <a:ext cx="215900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5" name="Equation" r:id="rId13" imgW="2311400" imgH="469900" progId="Equation.DSMT4">
                  <p:embed/>
                </p:oleObj>
              </mc:Choice>
              <mc:Fallback>
                <p:oleObj name="Equation" r:id="rId13" imgW="2311400" imgH="4699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8288" y="6262688"/>
                        <a:ext cx="215900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0" name="AutoShape 14"/>
          <p:cNvSpPr>
            <a:spLocks/>
          </p:cNvSpPr>
          <p:nvPr/>
        </p:nvSpPr>
        <p:spPr bwMode="auto">
          <a:xfrm>
            <a:off x="3879850" y="5875338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50191" name="Object 15"/>
          <p:cNvGraphicFramePr>
            <a:graphicFrameLocks noChangeAspect="1"/>
          </p:cNvGraphicFramePr>
          <p:nvPr/>
        </p:nvGraphicFramePr>
        <p:xfrm>
          <a:off x="1042988" y="1238250"/>
          <a:ext cx="4552950" cy="183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6" name="位图图像" r:id="rId15" imgW="4401164" imgH="1628571" progId="PBrush">
                  <p:embed/>
                </p:oleObj>
              </mc:Choice>
              <mc:Fallback>
                <p:oleObj name="位图图像" r:id="rId15" imgW="4401164" imgH="1628571" progId="PBrush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238250"/>
                        <a:ext cx="4552950" cy="183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2" name="Object 16"/>
          <p:cNvGraphicFramePr>
            <a:graphicFrameLocks noChangeAspect="1"/>
          </p:cNvGraphicFramePr>
          <p:nvPr/>
        </p:nvGraphicFramePr>
        <p:xfrm>
          <a:off x="6248400" y="1160463"/>
          <a:ext cx="1995488" cy="202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7" name="位图图像" r:id="rId17" imgW="2352381" imgH="2723810" progId="PBrush">
                  <p:embed/>
                </p:oleObj>
              </mc:Choice>
              <mc:Fallback>
                <p:oleObj name="位图图像" r:id="rId17" imgW="2352381" imgH="2723810" progId="PBrush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160463"/>
                        <a:ext cx="1995488" cy="202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3" name="Object 17"/>
          <p:cNvGraphicFramePr>
            <a:graphicFrameLocks noChangeAspect="1"/>
          </p:cNvGraphicFramePr>
          <p:nvPr/>
        </p:nvGraphicFramePr>
        <p:xfrm>
          <a:off x="6491288" y="5732463"/>
          <a:ext cx="17240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8" name="Equation" r:id="rId19" imgW="1600200" imgH="431800" progId="Equation.DSMT4">
                  <p:embed/>
                </p:oleObj>
              </mc:Choice>
              <mc:Fallback>
                <p:oleObj name="Equation" r:id="rId19" imgW="1600200" imgH="4318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1288" y="5732463"/>
                        <a:ext cx="172402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4" name="Object 18"/>
          <p:cNvGraphicFramePr>
            <a:graphicFrameLocks noChangeAspect="1"/>
          </p:cNvGraphicFramePr>
          <p:nvPr/>
        </p:nvGraphicFramePr>
        <p:xfrm>
          <a:off x="6572250" y="6281738"/>
          <a:ext cx="15462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9" name="Equation" r:id="rId21" imgW="1459866" imgH="431613" progId="Equation.DSMT4">
                  <p:embed/>
                </p:oleObj>
              </mc:Choice>
              <mc:Fallback>
                <p:oleObj name="Equation" r:id="rId21" imgW="1459866" imgH="431613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6281738"/>
                        <a:ext cx="154622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5" name="Line 19"/>
          <p:cNvSpPr>
            <a:spLocks noChangeShapeType="1"/>
          </p:cNvSpPr>
          <p:nvPr/>
        </p:nvSpPr>
        <p:spPr bwMode="auto">
          <a:xfrm flipV="1">
            <a:off x="3836988" y="1460500"/>
            <a:ext cx="0" cy="16764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6" name="Arc 20"/>
          <p:cNvSpPr>
            <a:spLocks/>
          </p:cNvSpPr>
          <p:nvPr/>
        </p:nvSpPr>
        <p:spPr bwMode="auto">
          <a:xfrm>
            <a:off x="3814763" y="1957388"/>
            <a:ext cx="373062" cy="434975"/>
          </a:xfrm>
          <a:custGeom>
            <a:avLst/>
            <a:gdLst>
              <a:gd name="T0" fmla="*/ 0 w 23700"/>
              <a:gd name="T1" fmla="*/ 2147483646 h 21600"/>
              <a:gd name="T2" fmla="*/ 2147483646 w 23700"/>
              <a:gd name="T3" fmla="*/ 2147483646 h 21600"/>
              <a:gd name="T4" fmla="*/ 2147483646 w 23700"/>
              <a:gd name="T5" fmla="*/ 2147483646 h 21600"/>
              <a:gd name="T6" fmla="*/ 0 60000 65536"/>
              <a:gd name="T7" fmla="*/ 0 60000 65536"/>
              <a:gd name="T8" fmla="*/ 0 60000 65536"/>
              <a:gd name="T9" fmla="*/ 0 w 23700"/>
              <a:gd name="T10" fmla="*/ 0 h 21600"/>
              <a:gd name="T11" fmla="*/ 23700 w 237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700" h="21600" fill="none" extrusionOk="0">
                <a:moveTo>
                  <a:pt x="-1" y="119"/>
                </a:moveTo>
                <a:cubicBezTo>
                  <a:pt x="754" y="39"/>
                  <a:pt x="1513" y="-1"/>
                  <a:pt x="2272" y="0"/>
                </a:cubicBezTo>
                <a:cubicBezTo>
                  <a:pt x="13149" y="0"/>
                  <a:pt x="22329" y="8088"/>
                  <a:pt x="23699" y="18879"/>
                </a:cubicBezTo>
              </a:path>
              <a:path w="23700" h="21600" stroke="0" extrusionOk="0">
                <a:moveTo>
                  <a:pt x="-1" y="119"/>
                </a:moveTo>
                <a:cubicBezTo>
                  <a:pt x="754" y="39"/>
                  <a:pt x="1513" y="-1"/>
                  <a:pt x="2272" y="0"/>
                </a:cubicBezTo>
                <a:cubicBezTo>
                  <a:pt x="13149" y="0"/>
                  <a:pt x="22329" y="8088"/>
                  <a:pt x="23699" y="18879"/>
                </a:cubicBezTo>
                <a:lnTo>
                  <a:pt x="2272" y="21600"/>
                </a:lnTo>
                <a:lnTo>
                  <a:pt x="-1" y="119"/>
                </a:lnTo>
                <a:close/>
              </a:path>
            </a:pathLst>
          </a:custGeom>
          <a:noFill/>
          <a:ln w="28575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197" name="Object 21"/>
          <p:cNvGraphicFramePr>
            <a:graphicFrameLocks noChangeAspect="1"/>
          </p:cNvGraphicFramePr>
          <p:nvPr/>
        </p:nvGraphicFramePr>
        <p:xfrm>
          <a:off x="4010025" y="1838325"/>
          <a:ext cx="279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0" name="Equation" r:id="rId23" imgW="180989" imgH="142830" progId="Equation.DSMT4">
                  <p:embed/>
                </p:oleObj>
              </mc:Choice>
              <mc:Fallback>
                <p:oleObj name="Equation" r:id="rId23" imgW="180989" imgH="14283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0025" y="1838325"/>
                        <a:ext cx="2794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8" name="AutoShape 22"/>
          <p:cNvSpPr>
            <a:spLocks noChangeArrowheads="1"/>
          </p:cNvSpPr>
          <p:nvPr/>
        </p:nvSpPr>
        <p:spPr bwMode="auto">
          <a:xfrm>
            <a:off x="227013" y="4268788"/>
            <a:ext cx="1981200" cy="830262"/>
          </a:xfrm>
          <a:prstGeom prst="irregularSeal1">
            <a:avLst/>
          </a:prstGeom>
          <a:solidFill>
            <a:srgbClr val="FFEE5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50199" name="Line 23"/>
          <p:cNvSpPr>
            <a:spLocks noChangeShapeType="1"/>
          </p:cNvSpPr>
          <p:nvPr/>
        </p:nvSpPr>
        <p:spPr bwMode="auto">
          <a:xfrm flipH="1">
            <a:off x="5508625" y="3295650"/>
            <a:ext cx="5334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00" name="Line 24"/>
          <p:cNvSpPr>
            <a:spLocks noChangeShapeType="1"/>
          </p:cNvSpPr>
          <p:nvPr/>
        </p:nvSpPr>
        <p:spPr bwMode="auto">
          <a:xfrm flipH="1">
            <a:off x="5976938" y="3860800"/>
            <a:ext cx="5334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50201" name="Object 25"/>
          <p:cNvGraphicFramePr>
            <a:graphicFrameLocks noChangeAspect="1"/>
          </p:cNvGraphicFramePr>
          <p:nvPr/>
        </p:nvGraphicFramePr>
        <p:xfrm>
          <a:off x="3282950" y="4397375"/>
          <a:ext cx="203835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1" name="Equation" r:id="rId25" imgW="1685900" imgH="419040" progId="Equation.DSMT4">
                  <p:embed/>
                </p:oleObj>
              </mc:Choice>
              <mc:Fallback>
                <p:oleObj name="Equation" r:id="rId25" imgW="1685900" imgH="41904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50" y="4397375"/>
                        <a:ext cx="2038350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02" name="Text Box 26"/>
          <p:cNvSpPr txBox="1">
            <a:spLocks noChangeArrowheads="1"/>
          </p:cNvSpPr>
          <p:nvPr/>
        </p:nvSpPr>
        <p:spPr bwMode="auto">
          <a:xfrm>
            <a:off x="642938" y="4306888"/>
            <a:ext cx="13890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>
                <a:latin typeface="Arial" panose="020B0604020202020204" pitchFamily="34" charset="0"/>
                <a:ea typeface="隶书" panose="02010509060101010101" pitchFamily="49" charset="-122"/>
              </a:rPr>
              <a:t>注意</a:t>
            </a:r>
          </a:p>
        </p:txBody>
      </p:sp>
      <p:sp>
        <p:nvSpPr>
          <p:cNvPr id="50203" name="Rectangle 27"/>
          <p:cNvSpPr>
            <a:spLocks noChangeArrowheads="1"/>
          </p:cNvSpPr>
          <p:nvPr/>
        </p:nvSpPr>
        <p:spPr bwMode="auto">
          <a:xfrm>
            <a:off x="3184525" y="4443413"/>
            <a:ext cx="2232025" cy="57626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50204" name="Text Box 28"/>
          <p:cNvSpPr txBox="1">
            <a:spLocks noChangeArrowheads="1"/>
          </p:cNvSpPr>
          <p:nvPr/>
        </p:nvSpPr>
        <p:spPr bwMode="auto">
          <a:xfrm>
            <a:off x="5472113" y="4457700"/>
            <a:ext cx="29162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马吕斯定律</a:t>
            </a:r>
          </a:p>
        </p:txBody>
      </p:sp>
      <p:sp>
        <p:nvSpPr>
          <p:cNvPr id="50205" name="Text Box 29"/>
          <p:cNvSpPr txBox="1">
            <a:spLocks noChangeArrowheads="1"/>
          </p:cNvSpPr>
          <p:nvPr/>
        </p:nvSpPr>
        <p:spPr bwMode="auto">
          <a:xfrm>
            <a:off x="576263" y="5038725"/>
            <a:ext cx="7975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若自然光入射前的强度是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则过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后的强度</a:t>
            </a:r>
            <a:b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是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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8463" name="TextBox 30"/>
          <p:cNvSpPr txBox="1">
            <a:spLocks noChangeArrowheads="1"/>
          </p:cNvSpPr>
          <p:nvPr/>
        </p:nvSpPr>
        <p:spPr bwMode="auto">
          <a:xfrm>
            <a:off x="8675688" y="6440488"/>
            <a:ext cx="444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5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5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0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0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0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0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0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0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0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50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75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5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0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5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 autoUpdateAnimBg="0"/>
      <p:bldP spid="50181" grpId="0" autoUpdateAnimBg="0"/>
      <p:bldP spid="50184" grpId="0" animBg="1"/>
      <p:bldP spid="50187" grpId="0" autoUpdateAnimBg="0"/>
      <p:bldP spid="50190" grpId="0" animBg="1"/>
      <p:bldP spid="50195" grpId="0" animBg="1"/>
      <p:bldP spid="50196" grpId="0" animBg="1"/>
      <p:bldP spid="50198" grpId="0" animBg="1" autoUpdateAnimBg="0"/>
      <p:bldP spid="50199" grpId="0" animBg="1"/>
      <p:bldP spid="50200" grpId="0" animBg="1"/>
      <p:bldP spid="50202" grpId="0"/>
      <p:bldP spid="50203" grpId="0" animBg="1"/>
      <p:bldP spid="50204" grpId="0"/>
      <p:bldP spid="5020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011863" y="4149725"/>
            <a:ext cx="3024187" cy="18256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067175" y="1146175"/>
            <a:ext cx="4968875" cy="206851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336550" y="179388"/>
            <a:ext cx="85217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r>
              <a:rPr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角速度</a:t>
            </a:r>
            <a:r>
              <a:rPr lang="zh-CN" altLang="en-US" sz="2800" b="1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转动，自然光入射强度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为</a:t>
            </a:r>
            <a:r>
              <a:rPr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，求：出射光的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?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圆频率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=?</a:t>
            </a:r>
          </a:p>
        </p:txBody>
      </p:sp>
      <p:sp>
        <p:nvSpPr>
          <p:cNvPr id="11281" name="Text Box 17"/>
          <p:cNvSpPr txBox="1">
            <a:spLocks noChangeArrowheads="1"/>
          </p:cNvSpPr>
          <p:nvPr/>
        </p:nvSpPr>
        <p:spPr bwMode="auto">
          <a:xfrm>
            <a:off x="482600" y="1470025"/>
            <a:ext cx="1582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解：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6418263" y="1214438"/>
            <a:ext cx="1147762" cy="396875"/>
            <a:chOff x="4018" y="461"/>
            <a:chExt cx="1420" cy="430"/>
          </a:xfrm>
        </p:grpSpPr>
        <p:sp>
          <p:nvSpPr>
            <p:cNvPr id="19727" name="AutoShape 19"/>
            <p:cNvSpPr>
              <a:spLocks noChangeArrowheads="1"/>
            </p:cNvSpPr>
            <p:nvPr/>
          </p:nvSpPr>
          <p:spPr bwMode="auto">
            <a:xfrm>
              <a:off x="4320" y="528"/>
              <a:ext cx="794" cy="288"/>
            </a:xfrm>
            <a:prstGeom prst="wedgeRoundRectCallout">
              <a:avLst>
                <a:gd name="adj1" fmla="val -43889"/>
                <a:gd name="adj2" fmla="val 156944"/>
                <a:gd name="adj3" fmla="val 16667"/>
              </a:avLst>
            </a:prstGeom>
            <a:solidFill>
              <a:srgbClr val="FFFF00"/>
            </a:solidFill>
            <a:ln w="9525">
              <a:solidFill>
                <a:srgbClr val="3333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zh-CN" sz="1800"/>
            </a:p>
          </p:txBody>
        </p:sp>
        <p:graphicFrame>
          <p:nvGraphicFramePr>
            <p:cNvPr id="19728" name="Object 20"/>
            <p:cNvGraphicFramePr>
              <a:graphicFrameLocks noChangeAspect="1"/>
            </p:cNvGraphicFramePr>
            <p:nvPr/>
          </p:nvGraphicFramePr>
          <p:xfrm>
            <a:off x="4018" y="461"/>
            <a:ext cx="1420" cy="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02" name="Equation" r:id="rId3" imgW="901309" imgH="355446" progId="Equation.DSMT4">
                    <p:embed/>
                  </p:oleObj>
                </mc:Choice>
                <mc:Fallback>
                  <p:oleObj name="Equation" r:id="rId3" imgW="901309" imgH="355446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8" y="461"/>
                          <a:ext cx="1420" cy="430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3333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285" name="Object 21"/>
          <p:cNvGraphicFramePr>
            <a:graphicFrameLocks noChangeAspect="1"/>
          </p:cNvGraphicFramePr>
          <p:nvPr/>
        </p:nvGraphicFramePr>
        <p:xfrm>
          <a:off x="1322388" y="1350963"/>
          <a:ext cx="11112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03" name="Equation" r:id="rId5" imgW="1040948" imgH="774364" progId="Equation.DSMT4">
                  <p:embed/>
                </p:oleObj>
              </mc:Choice>
              <mc:Fallback>
                <p:oleObj name="Equation" r:id="rId5" imgW="1040948" imgH="774364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388" y="1350963"/>
                        <a:ext cx="111125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6" name="Object 22"/>
          <p:cNvGraphicFramePr>
            <a:graphicFrameLocks noChangeAspect="1"/>
          </p:cNvGraphicFramePr>
          <p:nvPr/>
        </p:nvGraphicFramePr>
        <p:xfrm>
          <a:off x="1358900" y="2166938"/>
          <a:ext cx="188436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04" name="Equation" r:id="rId7" imgW="1828800" imgH="482600" progId="Equation.DSMT4">
                  <p:embed/>
                </p:oleObj>
              </mc:Choice>
              <mc:Fallback>
                <p:oleObj name="Equation" r:id="rId7" imgW="1828800" imgH="4826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900" y="2166938"/>
                        <a:ext cx="1884363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7" name="Object 23"/>
          <p:cNvGraphicFramePr>
            <a:graphicFrameLocks noChangeAspect="1"/>
          </p:cNvGraphicFramePr>
          <p:nvPr/>
        </p:nvGraphicFramePr>
        <p:xfrm>
          <a:off x="1468438" y="3435350"/>
          <a:ext cx="569595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05" name="Equation" r:id="rId9" imgW="5257800" imgH="774700" progId="Equation.DSMT4">
                  <p:embed/>
                </p:oleObj>
              </mc:Choice>
              <mc:Fallback>
                <p:oleObj name="Equation" r:id="rId9" imgW="5257800" imgH="7747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438" y="3435350"/>
                        <a:ext cx="5695950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8" name="Object 24"/>
          <p:cNvGraphicFramePr>
            <a:graphicFrameLocks noChangeAspect="1"/>
          </p:cNvGraphicFramePr>
          <p:nvPr/>
        </p:nvGraphicFramePr>
        <p:xfrm>
          <a:off x="5003800" y="5940425"/>
          <a:ext cx="1223963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06" name="Equation" r:id="rId11" imgW="1384300" imgH="774700" progId="Equation.DSMT4">
                  <p:embed/>
                </p:oleObj>
              </mc:Choice>
              <mc:Fallback>
                <p:oleObj name="Equation" r:id="rId11" imgW="1384300" imgH="7747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5940425"/>
                        <a:ext cx="1223963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0" name="Text Box 26"/>
          <p:cNvSpPr txBox="1">
            <a:spLocks noChangeArrowheads="1"/>
          </p:cNvSpPr>
          <p:nvPr/>
        </p:nvSpPr>
        <p:spPr bwMode="auto">
          <a:xfrm>
            <a:off x="1541463" y="6042025"/>
            <a:ext cx="3614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的变化圆频率为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</a:p>
        </p:txBody>
      </p: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6281738" y="4170363"/>
            <a:ext cx="2598737" cy="1814512"/>
            <a:chOff x="4131" y="2552"/>
            <a:chExt cx="1637" cy="1143"/>
          </a:xfrm>
        </p:grpSpPr>
        <p:sp>
          <p:nvSpPr>
            <p:cNvPr id="19513" name="Freeform 30"/>
            <p:cNvSpPr>
              <a:spLocks/>
            </p:cNvSpPr>
            <p:nvPr/>
          </p:nvSpPr>
          <p:spPr bwMode="auto">
            <a:xfrm>
              <a:off x="4401" y="3267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1 h 17"/>
                <a:gd name="T4" fmla="*/ 0 w 5"/>
                <a:gd name="T5" fmla="*/ 11 h 17"/>
                <a:gd name="T6" fmla="*/ 0 w 5"/>
                <a:gd name="T7" fmla="*/ 11 h 17"/>
                <a:gd name="T8" fmla="*/ 0 w 5"/>
                <a:gd name="T9" fmla="*/ 11 h 17"/>
                <a:gd name="T10" fmla="*/ 0 w 5"/>
                <a:gd name="T11" fmla="*/ 11 h 17"/>
                <a:gd name="T12" fmla="*/ 0 w 5"/>
                <a:gd name="T13" fmla="*/ 11 h 17"/>
                <a:gd name="T14" fmla="*/ 0 w 5"/>
                <a:gd name="T15" fmla="*/ 11 h 17"/>
                <a:gd name="T16" fmla="*/ 0 w 5"/>
                <a:gd name="T17" fmla="*/ 11 h 17"/>
                <a:gd name="T18" fmla="*/ 0 w 5"/>
                <a:gd name="T19" fmla="*/ 11 h 17"/>
                <a:gd name="T20" fmla="*/ 0 w 5"/>
                <a:gd name="T21" fmla="*/ 11 h 17"/>
                <a:gd name="T22" fmla="*/ 0 w 5"/>
                <a:gd name="T23" fmla="*/ 11 h 17"/>
                <a:gd name="T24" fmla="*/ 0 w 5"/>
                <a:gd name="T25" fmla="*/ 11 h 17"/>
                <a:gd name="T26" fmla="*/ 0 w 5"/>
                <a:gd name="T27" fmla="*/ 11 h 17"/>
                <a:gd name="T28" fmla="*/ 0 w 5"/>
                <a:gd name="T29" fmla="*/ 11 h 17"/>
                <a:gd name="T30" fmla="*/ 0 w 5"/>
                <a:gd name="T31" fmla="*/ 11 h 17"/>
                <a:gd name="T32" fmla="*/ 0 w 5"/>
                <a:gd name="T33" fmla="*/ 11 h 17"/>
                <a:gd name="T34" fmla="*/ 0 w 5"/>
                <a:gd name="T35" fmla="*/ 11 h 17"/>
                <a:gd name="T36" fmla="*/ 0 w 5"/>
                <a:gd name="T37" fmla="*/ 11 h 17"/>
                <a:gd name="T38" fmla="*/ 0 w 5"/>
                <a:gd name="T39" fmla="*/ 11 h 17"/>
                <a:gd name="T40" fmla="*/ 0 w 5"/>
                <a:gd name="T41" fmla="*/ 6 h 17"/>
                <a:gd name="T42" fmla="*/ 0 w 5"/>
                <a:gd name="T43" fmla="*/ 6 h 17"/>
                <a:gd name="T44" fmla="*/ 0 w 5"/>
                <a:gd name="T45" fmla="*/ 6 h 17"/>
                <a:gd name="T46" fmla="*/ 0 w 5"/>
                <a:gd name="T47" fmla="*/ 6 h 17"/>
                <a:gd name="T48" fmla="*/ 0 w 5"/>
                <a:gd name="T49" fmla="*/ 6 h 17"/>
                <a:gd name="T50" fmla="*/ 5 w 5"/>
                <a:gd name="T51" fmla="*/ 6 h 17"/>
                <a:gd name="T52" fmla="*/ 5 w 5"/>
                <a:gd name="T53" fmla="*/ 6 h 17"/>
                <a:gd name="T54" fmla="*/ 5 w 5"/>
                <a:gd name="T55" fmla="*/ 6 h 17"/>
                <a:gd name="T56" fmla="*/ 5 w 5"/>
                <a:gd name="T57" fmla="*/ 6 h 17"/>
                <a:gd name="T58" fmla="*/ 5 w 5"/>
                <a:gd name="T59" fmla="*/ 6 h 17"/>
                <a:gd name="T60" fmla="*/ 5 w 5"/>
                <a:gd name="T61" fmla="*/ 6 h 17"/>
                <a:gd name="T62" fmla="*/ 5 w 5"/>
                <a:gd name="T63" fmla="*/ 6 h 17"/>
                <a:gd name="T64" fmla="*/ 5 w 5"/>
                <a:gd name="T65" fmla="*/ 6 h 17"/>
                <a:gd name="T66" fmla="*/ 5 w 5"/>
                <a:gd name="T67" fmla="*/ 6 h 17"/>
                <a:gd name="T68" fmla="*/ 5 w 5"/>
                <a:gd name="T69" fmla="*/ 6 h 17"/>
                <a:gd name="T70" fmla="*/ 5 w 5"/>
                <a:gd name="T71" fmla="*/ 6 h 17"/>
                <a:gd name="T72" fmla="*/ 5 w 5"/>
                <a:gd name="T73" fmla="*/ 6 h 17"/>
                <a:gd name="T74" fmla="*/ 5 w 5"/>
                <a:gd name="T75" fmla="*/ 6 h 17"/>
                <a:gd name="T76" fmla="*/ 5 w 5"/>
                <a:gd name="T77" fmla="*/ 0 h 17"/>
                <a:gd name="T78" fmla="*/ 5 w 5"/>
                <a:gd name="T79" fmla="*/ 0 h 17"/>
                <a:gd name="T80" fmla="*/ 5 w 5"/>
                <a:gd name="T81" fmla="*/ 0 h 17"/>
                <a:gd name="T82" fmla="*/ 5 w 5"/>
                <a:gd name="T83" fmla="*/ 0 h 17"/>
                <a:gd name="T84" fmla="*/ 5 w 5"/>
                <a:gd name="T85" fmla="*/ 0 h 17"/>
                <a:gd name="T86" fmla="*/ 5 w 5"/>
                <a:gd name="T87" fmla="*/ 0 h 17"/>
                <a:gd name="T88" fmla="*/ 5 w 5"/>
                <a:gd name="T89" fmla="*/ 0 h 17"/>
                <a:gd name="T90" fmla="*/ 5 w 5"/>
                <a:gd name="T91" fmla="*/ 0 h 17"/>
                <a:gd name="T92" fmla="*/ 5 w 5"/>
                <a:gd name="T93" fmla="*/ 0 h 17"/>
                <a:gd name="T94" fmla="*/ 5 w 5"/>
                <a:gd name="T95" fmla="*/ 0 h 17"/>
                <a:gd name="T96" fmla="*/ 5 w 5"/>
                <a:gd name="T97" fmla="*/ 0 h 17"/>
                <a:gd name="T98" fmla="*/ 5 w 5"/>
                <a:gd name="T99" fmla="*/ 0 h 1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17"/>
                <a:gd name="T152" fmla="*/ 5 w 5"/>
                <a:gd name="T153" fmla="*/ 17 h 1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17">
                  <a:moveTo>
                    <a:pt x="0" y="17"/>
                  </a:moveTo>
                  <a:lnTo>
                    <a:pt x="0" y="11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4" name="Freeform 31"/>
            <p:cNvSpPr>
              <a:spLocks/>
            </p:cNvSpPr>
            <p:nvPr/>
          </p:nvSpPr>
          <p:spPr bwMode="auto">
            <a:xfrm>
              <a:off x="4406" y="3250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7 h 17"/>
                <a:gd name="T12" fmla="*/ 0 w 5"/>
                <a:gd name="T13" fmla="*/ 11 h 17"/>
                <a:gd name="T14" fmla="*/ 0 w 5"/>
                <a:gd name="T15" fmla="*/ 11 h 17"/>
                <a:gd name="T16" fmla="*/ 0 w 5"/>
                <a:gd name="T17" fmla="*/ 11 h 17"/>
                <a:gd name="T18" fmla="*/ 0 w 5"/>
                <a:gd name="T19" fmla="*/ 11 h 17"/>
                <a:gd name="T20" fmla="*/ 0 w 5"/>
                <a:gd name="T21" fmla="*/ 11 h 17"/>
                <a:gd name="T22" fmla="*/ 0 w 5"/>
                <a:gd name="T23" fmla="*/ 11 h 17"/>
                <a:gd name="T24" fmla="*/ 0 w 5"/>
                <a:gd name="T25" fmla="*/ 11 h 17"/>
                <a:gd name="T26" fmla="*/ 0 w 5"/>
                <a:gd name="T27" fmla="*/ 11 h 17"/>
                <a:gd name="T28" fmla="*/ 0 w 5"/>
                <a:gd name="T29" fmla="*/ 11 h 17"/>
                <a:gd name="T30" fmla="*/ 0 w 5"/>
                <a:gd name="T31" fmla="*/ 11 h 17"/>
                <a:gd name="T32" fmla="*/ 5 w 5"/>
                <a:gd name="T33" fmla="*/ 11 h 17"/>
                <a:gd name="T34" fmla="*/ 5 w 5"/>
                <a:gd name="T35" fmla="*/ 11 h 17"/>
                <a:gd name="T36" fmla="*/ 5 w 5"/>
                <a:gd name="T37" fmla="*/ 11 h 17"/>
                <a:gd name="T38" fmla="*/ 5 w 5"/>
                <a:gd name="T39" fmla="*/ 11 h 17"/>
                <a:gd name="T40" fmla="*/ 5 w 5"/>
                <a:gd name="T41" fmla="*/ 11 h 17"/>
                <a:gd name="T42" fmla="*/ 5 w 5"/>
                <a:gd name="T43" fmla="*/ 11 h 17"/>
                <a:gd name="T44" fmla="*/ 5 w 5"/>
                <a:gd name="T45" fmla="*/ 6 h 17"/>
                <a:gd name="T46" fmla="*/ 5 w 5"/>
                <a:gd name="T47" fmla="*/ 6 h 17"/>
                <a:gd name="T48" fmla="*/ 5 w 5"/>
                <a:gd name="T49" fmla="*/ 6 h 17"/>
                <a:gd name="T50" fmla="*/ 5 w 5"/>
                <a:gd name="T51" fmla="*/ 6 h 17"/>
                <a:gd name="T52" fmla="*/ 5 w 5"/>
                <a:gd name="T53" fmla="*/ 6 h 17"/>
                <a:gd name="T54" fmla="*/ 5 w 5"/>
                <a:gd name="T55" fmla="*/ 6 h 17"/>
                <a:gd name="T56" fmla="*/ 5 w 5"/>
                <a:gd name="T57" fmla="*/ 6 h 17"/>
                <a:gd name="T58" fmla="*/ 5 w 5"/>
                <a:gd name="T59" fmla="*/ 6 h 17"/>
                <a:gd name="T60" fmla="*/ 5 w 5"/>
                <a:gd name="T61" fmla="*/ 6 h 17"/>
                <a:gd name="T62" fmla="*/ 5 w 5"/>
                <a:gd name="T63" fmla="*/ 6 h 17"/>
                <a:gd name="T64" fmla="*/ 5 w 5"/>
                <a:gd name="T65" fmla="*/ 6 h 17"/>
                <a:gd name="T66" fmla="*/ 5 w 5"/>
                <a:gd name="T67" fmla="*/ 6 h 17"/>
                <a:gd name="T68" fmla="*/ 5 w 5"/>
                <a:gd name="T69" fmla="*/ 6 h 17"/>
                <a:gd name="T70" fmla="*/ 5 w 5"/>
                <a:gd name="T71" fmla="*/ 6 h 17"/>
                <a:gd name="T72" fmla="*/ 5 w 5"/>
                <a:gd name="T73" fmla="*/ 6 h 17"/>
                <a:gd name="T74" fmla="*/ 5 w 5"/>
                <a:gd name="T75" fmla="*/ 6 h 17"/>
                <a:gd name="T76" fmla="*/ 5 w 5"/>
                <a:gd name="T77" fmla="*/ 0 h 17"/>
                <a:gd name="T78" fmla="*/ 5 w 5"/>
                <a:gd name="T79" fmla="*/ 0 h 17"/>
                <a:gd name="T80" fmla="*/ 5 w 5"/>
                <a:gd name="T81" fmla="*/ 0 h 17"/>
                <a:gd name="T82" fmla="*/ 5 w 5"/>
                <a:gd name="T83" fmla="*/ 0 h 17"/>
                <a:gd name="T84" fmla="*/ 5 w 5"/>
                <a:gd name="T85" fmla="*/ 0 h 17"/>
                <a:gd name="T86" fmla="*/ 5 w 5"/>
                <a:gd name="T87" fmla="*/ 0 h 17"/>
                <a:gd name="T88" fmla="*/ 5 w 5"/>
                <a:gd name="T89" fmla="*/ 0 h 17"/>
                <a:gd name="T90" fmla="*/ 5 w 5"/>
                <a:gd name="T91" fmla="*/ 0 h 17"/>
                <a:gd name="T92" fmla="*/ 5 w 5"/>
                <a:gd name="T93" fmla="*/ 0 h 17"/>
                <a:gd name="T94" fmla="*/ 5 w 5"/>
                <a:gd name="T95" fmla="*/ 0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5" name="Freeform 32"/>
            <p:cNvSpPr>
              <a:spLocks/>
            </p:cNvSpPr>
            <p:nvPr/>
          </p:nvSpPr>
          <p:spPr bwMode="auto">
            <a:xfrm>
              <a:off x="4411" y="3227"/>
              <a:ext cx="9" cy="23"/>
            </a:xfrm>
            <a:custGeom>
              <a:avLst/>
              <a:gdLst>
                <a:gd name="T0" fmla="*/ 0 w 9"/>
                <a:gd name="T1" fmla="*/ 23 h 23"/>
                <a:gd name="T2" fmla="*/ 0 w 9"/>
                <a:gd name="T3" fmla="*/ 23 h 23"/>
                <a:gd name="T4" fmla="*/ 0 w 9"/>
                <a:gd name="T5" fmla="*/ 23 h 23"/>
                <a:gd name="T6" fmla="*/ 0 w 9"/>
                <a:gd name="T7" fmla="*/ 17 h 23"/>
                <a:gd name="T8" fmla="*/ 0 w 9"/>
                <a:gd name="T9" fmla="*/ 17 h 23"/>
                <a:gd name="T10" fmla="*/ 0 w 9"/>
                <a:gd name="T11" fmla="*/ 17 h 23"/>
                <a:gd name="T12" fmla="*/ 0 w 9"/>
                <a:gd name="T13" fmla="*/ 17 h 23"/>
                <a:gd name="T14" fmla="*/ 5 w 9"/>
                <a:gd name="T15" fmla="*/ 17 h 23"/>
                <a:gd name="T16" fmla="*/ 5 w 9"/>
                <a:gd name="T17" fmla="*/ 17 h 23"/>
                <a:gd name="T18" fmla="*/ 5 w 9"/>
                <a:gd name="T19" fmla="*/ 17 h 23"/>
                <a:gd name="T20" fmla="*/ 5 w 9"/>
                <a:gd name="T21" fmla="*/ 17 h 23"/>
                <a:gd name="T22" fmla="*/ 5 w 9"/>
                <a:gd name="T23" fmla="*/ 17 h 23"/>
                <a:gd name="T24" fmla="*/ 5 w 9"/>
                <a:gd name="T25" fmla="*/ 17 h 23"/>
                <a:gd name="T26" fmla="*/ 5 w 9"/>
                <a:gd name="T27" fmla="*/ 17 h 23"/>
                <a:gd name="T28" fmla="*/ 5 w 9"/>
                <a:gd name="T29" fmla="*/ 17 h 23"/>
                <a:gd name="T30" fmla="*/ 5 w 9"/>
                <a:gd name="T31" fmla="*/ 17 h 23"/>
                <a:gd name="T32" fmla="*/ 5 w 9"/>
                <a:gd name="T33" fmla="*/ 17 h 23"/>
                <a:gd name="T34" fmla="*/ 5 w 9"/>
                <a:gd name="T35" fmla="*/ 17 h 23"/>
                <a:gd name="T36" fmla="*/ 5 w 9"/>
                <a:gd name="T37" fmla="*/ 12 h 23"/>
                <a:gd name="T38" fmla="*/ 5 w 9"/>
                <a:gd name="T39" fmla="*/ 12 h 23"/>
                <a:gd name="T40" fmla="*/ 5 w 9"/>
                <a:gd name="T41" fmla="*/ 12 h 23"/>
                <a:gd name="T42" fmla="*/ 5 w 9"/>
                <a:gd name="T43" fmla="*/ 12 h 23"/>
                <a:gd name="T44" fmla="*/ 5 w 9"/>
                <a:gd name="T45" fmla="*/ 12 h 23"/>
                <a:gd name="T46" fmla="*/ 5 w 9"/>
                <a:gd name="T47" fmla="*/ 12 h 23"/>
                <a:gd name="T48" fmla="*/ 5 w 9"/>
                <a:gd name="T49" fmla="*/ 12 h 23"/>
                <a:gd name="T50" fmla="*/ 5 w 9"/>
                <a:gd name="T51" fmla="*/ 12 h 23"/>
                <a:gd name="T52" fmla="*/ 5 w 9"/>
                <a:gd name="T53" fmla="*/ 12 h 23"/>
                <a:gd name="T54" fmla="*/ 5 w 9"/>
                <a:gd name="T55" fmla="*/ 12 h 23"/>
                <a:gd name="T56" fmla="*/ 5 w 9"/>
                <a:gd name="T57" fmla="*/ 12 h 23"/>
                <a:gd name="T58" fmla="*/ 5 w 9"/>
                <a:gd name="T59" fmla="*/ 12 h 23"/>
                <a:gd name="T60" fmla="*/ 5 w 9"/>
                <a:gd name="T61" fmla="*/ 12 h 23"/>
                <a:gd name="T62" fmla="*/ 5 w 9"/>
                <a:gd name="T63" fmla="*/ 12 h 23"/>
                <a:gd name="T64" fmla="*/ 5 w 9"/>
                <a:gd name="T65" fmla="*/ 6 h 23"/>
                <a:gd name="T66" fmla="*/ 5 w 9"/>
                <a:gd name="T67" fmla="*/ 6 h 23"/>
                <a:gd name="T68" fmla="*/ 5 w 9"/>
                <a:gd name="T69" fmla="*/ 6 h 23"/>
                <a:gd name="T70" fmla="*/ 5 w 9"/>
                <a:gd name="T71" fmla="*/ 6 h 23"/>
                <a:gd name="T72" fmla="*/ 5 w 9"/>
                <a:gd name="T73" fmla="*/ 6 h 23"/>
                <a:gd name="T74" fmla="*/ 5 w 9"/>
                <a:gd name="T75" fmla="*/ 6 h 23"/>
                <a:gd name="T76" fmla="*/ 5 w 9"/>
                <a:gd name="T77" fmla="*/ 6 h 23"/>
                <a:gd name="T78" fmla="*/ 5 w 9"/>
                <a:gd name="T79" fmla="*/ 6 h 23"/>
                <a:gd name="T80" fmla="*/ 5 w 9"/>
                <a:gd name="T81" fmla="*/ 6 h 23"/>
                <a:gd name="T82" fmla="*/ 5 w 9"/>
                <a:gd name="T83" fmla="*/ 6 h 23"/>
                <a:gd name="T84" fmla="*/ 5 w 9"/>
                <a:gd name="T85" fmla="*/ 6 h 23"/>
                <a:gd name="T86" fmla="*/ 5 w 9"/>
                <a:gd name="T87" fmla="*/ 6 h 23"/>
                <a:gd name="T88" fmla="*/ 5 w 9"/>
                <a:gd name="T89" fmla="*/ 6 h 23"/>
                <a:gd name="T90" fmla="*/ 5 w 9"/>
                <a:gd name="T91" fmla="*/ 6 h 23"/>
                <a:gd name="T92" fmla="*/ 5 w 9"/>
                <a:gd name="T93" fmla="*/ 0 h 23"/>
                <a:gd name="T94" fmla="*/ 9 w 9"/>
                <a:gd name="T95" fmla="*/ 0 h 23"/>
                <a:gd name="T96" fmla="*/ 9 w 9"/>
                <a:gd name="T97" fmla="*/ 0 h 23"/>
                <a:gd name="T98" fmla="*/ 9 w 9"/>
                <a:gd name="T99" fmla="*/ 0 h 23"/>
                <a:gd name="T100" fmla="*/ 9 w 9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23"/>
                <a:gd name="T155" fmla="*/ 9 w 9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12"/>
                  </a:lnTo>
                  <a:lnTo>
                    <a:pt x="5" y="6"/>
                  </a:lnTo>
                  <a:lnTo>
                    <a:pt x="5" y="0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6" name="Freeform 33"/>
            <p:cNvSpPr>
              <a:spLocks/>
            </p:cNvSpPr>
            <p:nvPr/>
          </p:nvSpPr>
          <p:spPr bwMode="auto">
            <a:xfrm>
              <a:off x="4420" y="3204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23 h 23"/>
                <a:gd name="T10" fmla="*/ 0 w 5"/>
                <a:gd name="T11" fmla="*/ 23 h 23"/>
                <a:gd name="T12" fmla="*/ 0 w 5"/>
                <a:gd name="T13" fmla="*/ 23 h 23"/>
                <a:gd name="T14" fmla="*/ 0 w 5"/>
                <a:gd name="T15" fmla="*/ 23 h 23"/>
                <a:gd name="T16" fmla="*/ 0 w 5"/>
                <a:gd name="T17" fmla="*/ 23 h 23"/>
                <a:gd name="T18" fmla="*/ 0 w 5"/>
                <a:gd name="T19" fmla="*/ 23 h 23"/>
                <a:gd name="T20" fmla="*/ 0 w 5"/>
                <a:gd name="T21" fmla="*/ 18 h 23"/>
                <a:gd name="T22" fmla="*/ 0 w 5"/>
                <a:gd name="T23" fmla="*/ 18 h 23"/>
                <a:gd name="T24" fmla="*/ 0 w 5"/>
                <a:gd name="T25" fmla="*/ 18 h 23"/>
                <a:gd name="T26" fmla="*/ 0 w 5"/>
                <a:gd name="T27" fmla="*/ 18 h 23"/>
                <a:gd name="T28" fmla="*/ 0 w 5"/>
                <a:gd name="T29" fmla="*/ 18 h 23"/>
                <a:gd name="T30" fmla="*/ 0 w 5"/>
                <a:gd name="T31" fmla="*/ 18 h 23"/>
                <a:gd name="T32" fmla="*/ 0 w 5"/>
                <a:gd name="T33" fmla="*/ 18 h 23"/>
                <a:gd name="T34" fmla="*/ 0 w 5"/>
                <a:gd name="T35" fmla="*/ 18 h 23"/>
                <a:gd name="T36" fmla="*/ 0 w 5"/>
                <a:gd name="T37" fmla="*/ 18 h 23"/>
                <a:gd name="T38" fmla="*/ 0 w 5"/>
                <a:gd name="T39" fmla="*/ 18 h 23"/>
                <a:gd name="T40" fmla="*/ 0 w 5"/>
                <a:gd name="T41" fmla="*/ 18 h 23"/>
                <a:gd name="T42" fmla="*/ 0 w 5"/>
                <a:gd name="T43" fmla="*/ 18 h 23"/>
                <a:gd name="T44" fmla="*/ 0 w 5"/>
                <a:gd name="T45" fmla="*/ 18 h 23"/>
                <a:gd name="T46" fmla="*/ 0 w 5"/>
                <a:gd name="T47" fmla="*/ 12 h 23"/>
                <a:gd name="T48" fmla="*/ 0 w 5"/>
                <a:gd name="T49" fmla="*/ 12 h 23"/>
                <a:gd name="T50" fmla="*/ 0 w 5"/>
                <a:gd name="T51" fmla="*/ 12 h 23"/>
                <a:gd name="T52" fmla="*/ 0 w 5"/>
                <a:gd name="T53" fmla="*/ 12 h 23"/>
                <a:gd name="T54" fmla="*/ 0 w 5"/>
                <a:gd name="T55" fmla="*/ 12 h 23"/>
                <a:gd name="T56" fmla="*/ 0 w 5"/>
                <a:gd name="T57" fmla="*/ 12 h 23"/>
                <a:gd name="T58" fmla="*/ 0 w 5"/>
                <a:gd name="T59" fmla="*/ 12 h 23"/>
                <a:gd name="T60" fmla="*/ 0 w 5"/>
                <a:gd name="T61" fmla="*/ 12 h 23"/>
                <a:gd name="T62" fmla="*/ 0 w 5"/>
                <a:gd name="T63" fmla="*/ 12 h 23"/>
                <a:gd name="T64" fmla="*/ 0 w 5"/>
                <a:gd name="T65" fmla="*/ 12 h 23"/>
                <a:gd name="T66" fmla="*/ 0 w 5"/>
                <a:gd name="T67" fmla="*/ 12 h 23"/>
                <a:gd name="T68" fmla="*/ 0 w 5"/>
                <a:gd name="T69" fmla="*/ 12 h 23"/>
                <a:gd name="T70" fmla="*/ 0 w 5"/>
                <a:gd name="T71" fmla="*/ 12 h 23"/>
                <a:gd name="T72" fmla="*/ 0 w 5"/>
                <a:gd name="T73" fmla="*/ 12 h 23"/>
                <a:gd name="T74" fmla="*/ 0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6 h 23"/>
                <a:gd name="T86" fmla="*/ 5 w 5"/>
                <a:gd name="T87" fmla="*/ 6 h 23"/>
                <a:gd name="T88" fmla="*/ 5 w 5"/>
                <a:gd name="T89" fmla="*/ 6 h 23"/>
                <a:gd name="T90" fmla="*/ 5 w 5"/>
                <a:gd name="T91" fmla="*/ 6 h 23"/>
                <a:gd name="T92" fmla="*/ 5 w 5"/>
                <a:gd name="T93" fmla="*/ 6 h 23"/>
                <a:gd name="T94" fmla="*/ 5 w 5"/>
                <a:gd name="T95" fmla="*/ 6 h 23"/>
                <a:gd name="T96" fmla="*/ 5 w 5"/>
                <a:gd name="T97" fmla="*/ 6 h 23"/>
                <a:gd name="T98" fmla="*/ 5 w 5"/>
                <a:gd name="T99" fmla="*/ 6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8"/>
                  </a:lnTo>
                  <a:lnTo>
                    <a:pt x="0" y="12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7" name="Freeform 34"/>
            <p:cNvSpPr>
              <a:spLocks/>
            </p:cNvSpPr>
            <p:nvPr/>
          </p:nvSpPr>
          <p:spPr bwMode="auto">
            <a:xfrm>
              <a:off x="4425" y="3182"/>
              <a:ext cx="5" cy="22"/>
            </a:xfrm>
            <a:custGeom>
              <a:avLst/>
              <a:gdLst>
                <a:gd name="T0" fmla="*/ 0 w 5"/>
                <a:gd name="T1" fmla="*/ 22 h 22"/>
                <a:gd name="T2" fmla="*/ 0 w 5"/>
                <a:gd name="T3" fmla="*/ 22 h 22"/>
                <a:gd name="T4" fmla="*/ 0 w 5"/>
                <a:gd name="T5" fmla="*/ 22 h 22"/>
                <a:gd name="T6" fmla="*/ 0 w 5"/>
                <a:gd name="T7" fmla="*/ 22 h 22"/>
                <a:gd name="T8" fmla="*/ 0 w 5"/>
                <a:gd name="T9" fmla="*/ 22 h 22"/>
                <a:gd name="T10" fmla="*/ 0 w 5"/>
                <a:gd name="T11" fmla="*/ 22 h 22"/>
                <a:gd name="T12" fmla="*/ 0 w 5"/>
                <a:gd name="T13" fmla="*/ 22 h 22"/>
                <a:gd name="T14" fmla="*/ 0 w 5"/>
                <a:gd name="T15" fmla="*/ 22 h 22"/>
                <a:gd name="T16" fmla="*/ 0 w 5"/>
                <a:gd name="T17" fmla="*/ 22 h 22"/>
                <a:gd name="T18" fmla="*/ 0 w 5"/>
                <a:gd name="T19" fmla="*/ 22 h 22"/>
                <a:gd name="T20" fmla="*/ 0 w 5"/>
                <a:gd name="T21" fmla="*/ 22 h 22"/>
                <a:gd name="T22" fmla="*/ 0 w 5"/>
                <a:gd name="T23" fmla="*/ 22 h 22"/>
                <a:gd name="T24" fmla="*/ 0 w 5"/>
                <a:gd name="T25" fmla="*/ 17 h 22"/>
                <a:gd name="T26" fmla="*/ 0 w 5"/>
                <a:gd name="T27" fmla="*/ 17 h 22"/>
                <a:gd name="T28" fmla="*/ 0 w 5"/>
                <a:gd name="T29" fmla="*/ 17 h 22"/>
                <a:gd name="T30" fmla="*/ 0 w 5"/>
                <a:gd name="T31" fmla="*/ 17 h 22"/>
                <a:gd name="T32" fmla="*/ 0 w 5"/>
                <a:gd name="T33" fmla="*/ 17 h 22"/>
                <a:gd name="T34" fmla="*/ 0 w 5"/>
                <a:gd name="T35" fmla="*/ 17 h 22"/>
                <a:gd name="T36" fmla="*/ 0 w 5"/>
                <a:gd name="T37" fmla="*/ 17 h 22"/>
                <a:gd name="T38" fmla="*/ 0 w 5"/>
                <a:gd name="T39" fmla="*/ 17 h 22"/>
                <a:gd name="T40" fmla="*/ 0 w 5"/>
                <a:gd name="T41" fmla="*/ 17 h 22"/>
                <a:gd name="T42" fmla="*/ 0 w 5"/>
                <a:gd name="T43" fmla="*/ 17 h 22"/>
                <a:gd name="T44" fmla="*/ 0 w 5"/>
                <a:gd name="T45" fmla="*/ 17 h 22"/>
                <a:gd name="T46" fmla="*/ 0 w 5"/>
                <a:gd name="T47" fmla="*/ 17 h 22"/>
                <a:gd name="T48" fmla="*/ 0 w 5"/>
                <a:gd name="T49" fmla="*/ 17 h 22"/>
                <a:gd name="T50" fmla="*/ 0 w 5"/>
                <a:gd name="T51" fmla="*/ 11 h 22"/>
                <a:gd name="T52" fmla="*/ 0 w 5"/>
                <a:gd name="T53" fmla="*/ 11 h 22"/>
                <a:gd name="T54" fmla="*/ 0 w 5"/>
                <a:gd name="T55" fmla="*/ 11 h 22"/>
                <a:gd name="T56" fmla="*/ 5 w 5"/>
                <a:gd name="T57" fmla="*/ 11 h 22"/>
                <a:gd name="T58" fmla="*/ 5 w 5"/>
                <a:gd name="T59" fmla="*/ 11 h 22"/>
                <a:gd name="T60" fmla="*/ 5 w 5"/>
                <a:gd name="T61" fmla="*/ 11 h 22"/>
                <a:gd name="T62" fmla="*/ 5 w 5"/>
                <a:gd name="T63" fmla="*/ 11 h 22"/>
                <a:gd name="T64" fmla="*/ 5 w 5"/>
                <a:gd name="T65" fmla="*/ 11 h 22"/>
                <a:gd name="T66" fmla="*/ 5 w 5"/>
                <a:gd name="T67" fmla="*/ 11 h 22"/>
                <a:gd name="T68" fmla="*/ 5 w 5"/>
                <a:gd name="T69" fmla="*/ 11 h 22"/>
                <a:gd name="T70" fmla="*/ 5 w 5"/>
                <a:gd name="T71" fmla="*/ 11 h 22"/>
                <a:gd name="T72" fmla="*/ 5 w 5"/>
                <a:gd name="T73" fmla="*/ 11 h 22"/>
                <a:gd name="T74" fmla="*/ 5 w 5"/>
                <a:gd name="T75" fmla="*/ 5 h 22"/>
                <a:gd name="T76" fmla="*/ 5 w 5"/>
                <a:gd name="T77" fmla="*/ 5 h 22"/>
                <a:gd name="T78" fmla="*/ 5 w 5"/>
                <a:gd name="T79" fmla="*/ 5 h 22"/>
                <a:gd name="T80" fmla="*/ 5 w 5"/>
                <a:gd name="T81" fmla="*/ 5 h 22"/>
                <a:gd name="T82" fmla="*/ 5 w 5"/>
                <a:gd name="T83" fmla="*/ 5 h 22"/>
                <a:gd name="T84" fmla="*/ 5 w 5"/>
                <a:gd name="T85" fmla="*/ 5 h 22"/>
                <a:gd name="T86" fmla="*/ 5 w 5"/>
                <a:gd name="T87" fmla="*/ 5 h 22"/>
                <a:gd name="T88" fmla="*/ 5 w 5"/>
                <a:gd name="T89" fmla="*/ 5 h 22"/>
                <a:gd name="T90" fmla="*/ 5 w 5"/>
                <a:gd name="T91" fmla="*/ 5 h 22"/>
                <a:gd name="T92" fmla="*/ 5 w 5"/>
                <a:gd name="T93" fmla="*/ 5 h 22"/>
                <a:gd name="T94" fmla="*/ 5 w 5"/>
                <a:gd name="T95" fmla="*/ 5 h 22"/>
                <a:gd name="T96" fmla="*/ 5 w 5"/>
                <a:gd name="T97" fmla="*/ 5 h 22"/>
                <a:gd name="T98" fmla="*/ 5 w 5"/>
                <a:gd name="T99" fmla="*/ 5 h 22"/>
                <a:gd name="T100" fmla="*/ 5 w 5"/>
                <a:gd name="T101" fmla="*/ 0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2"/>
                <a:gd name="T155" fmla="*/ 5 w 5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2">
                  <a:moveTo>
                    <a:pt x="0" y="22"/>
                  </a:moveTo>
                  <a:lnTo>
                    <a:pt x="0" y="22"/>
                  </a:lnTo>
                  <a:lnTo>
                    <a:pt x="0" y="17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8" name="Freeform 35"/>
            <p:cNvSpPr>
              <a:spLocks/>
            </p:cNvSpPr>
            <p:nvPr/>
          </p:nvSpPr>
          <p:spPr bwMode="auto">
            <a:xfrm>
              <a:off x="4430" y="3159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23 h 23"/>
                <a:gd name="T10" fmla="*/ 0 w 5"/>
                <a:gd name="T11" fmla="*/ 23 h 23"/>
                <a:gd name="T12" fmla="*/ 0 w 5"/>
                <a:gd name="T13" fmla="*/ 23 h 23"/>
                <a:gd name="T14" fmla="*/ 0 w 5"/>
                <a:gd name="T15" fmla="*/ 23 h 23"/>
                <a:gd name="T16" fmla="*/ 0 w 5"/>
                <a:gd name="T17" fmla="*/ 23 h 23"/>
                <a:gd name="T18" fmla="*/ 0 w 5"/>
                <a:gd name="T19" fmla="*/ 23 h 23"/>
                <a:gd name="T20" fmla="*/ 0 w 5"/>
                <a:gd name="T21" fmla="*/ 23 h 23"/>
                <a:gd name="T22" fmla="*/ 0 w 5"/>
                <a:gd name="T23" fmla="*/ 23 h 23"/>
                <a:gd name="T24" fmla="*/ 0 w 5"/>
                <a:gd name="T25" fmla="*/ 17 h 23"/>
                <a:gd name="T26" fmla="*/ 0 w 5"/>
                <a:gd name="T27" fmla="*/ 17 h 23"/>
                <a:gd name="T28" fmla="*/ 0 w 5"/>
                <a:gd name="T29" fmla="*/ 17 h 23"/>
                <a:gd name="T30" fmla="*/ 0 w 5"/>
                <a:gd name="T31" fmla="*/ 17 h 23"/>
                <a:gd name="T32" fmla="*/ 0 w 5"/>
                <a:gd name="T33" fmla="*/ 17 h 23"/>
                <a:gd name="T34" fmla="*/ 0 w 5"/>
                <a:gd name="T35" fmla="*/ 17 h 23"/>
                <a:gd name="T36" fmla="*/ 0 w 5"/>
                <a:gd name="T37" fmla="*/ 17 h 23"/>
                <a:gd name="T38" fmla="*/ 5 w 5"/>
                <a:gd name="T39" fmla="*/ 17 h 23"/>
                <a:gd name="T40" fmla="*/ 5 w 5"/>
                <a:gd name="T41" fmla="*/ 17 h 23"/>
                <a:gd name="T42" fmla="*/ 5 w 5"/>
                <a:gd name="T43" fmla="*/ 17 h 23"/>
                <a:gd name="T44" fmla="*/ 5 w 5"/>
                <a:gd name="T45" fmla="*/ 17 h 23"/>
                <a:gd name="T46" fmla="*/ 5 w 5"/>
                <a:gd name="T47" fmla="*/ 17 h 23"/>
                <a:gd name="T48" fmla="*/ 5 w 5"/>
                <a:gd name="T49" fmla="*/ 11 h 23"/>
                <a:gd name="T50" fmla="*/ 5 w 5"/>
                <a:gd name="T51" fmla="*/ 11 h 23"/>
                <a:gd name="T52" fmla="*/ 5 w 5"/>
                <a:gd name="T53" fmla="*/ 11 h 23"/>
                <a:gd name="T54" fmla="*/ 5 w 5"/>
                <a:gd name="T55" fmla="*/ 11 h 23"/>
                <a:gd name="T56" fmla="*/ 5 w 5"/>
                <a:gd name="T57" fmla="*/ 11 h 23"/>
                <a:gd name="T58" fmla="*/ 5 w 5"/>
                <a:gd name="T59" fmla="*/ 11 h 23"/>
                <a:gd name="T60" fmla="*/ 5 w 5"/>
                <a:gd name="T61" fmla="*/ 11 h 23"/>
                <a:gd name="T62" fmla="*/ 5 w 5"/>
                <a:gd name="T63" fmla="*/ 11 h 23"/>
                <a:gd name="T64" fmla="*/ 5 w 5"/>
                <a:gd name="T65" fmla="*/ 11 h 23"/>
                <a:gd name="T66" fmla="*/ 5 w 5"/>
                <a:gd name="T67" fmla="*/ 11 h 23"/>
                <a:gd name="T68" fmla="*/ 5 w 5"/>
                <a:gd name="T69" fmla="*/ 11 h 23"/>
                <a:gd name="T70" fmla="*/ 5 w 5"/>
                <a:gd name="T71" fmla="*/ 11 h 23"/>
                <a:gd name="T72" fmla="*/ 5 w 5"/>
                <a:gd name="T73" fmla="*/ 6 h 23"/>
                <a:gd name="T74" fmla="*/ 5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6 h 23"/>
                <a:gd name="T86" fmla="*/ 5 w 5"/>
                <a:gd name="T87" fmla="*/ 6 h 23"/>
                <a:gd name="T88" fmla="*/ 5 w 5"/>
                <a:gd name="T89" fmla="*/ 6 h 23"/>
                <a:gd name="T90" fmla="*/ 5 w 5"/>
                <a:gd name="T91" fmla="*/ 6 h 23"/>
                <a:gd name="T92" fmla="*/ 5 w 5"/>
                <a:gd name="T93" fmla="*/ 6 h 23"/>
                <a:gd name="T94" fmla="*/ 5 w 5"/>
                <a:gd name="T95" fmla="*/ 6 h 23"/>
                <a:gd name="T96" fmla="*/ 5 w 5"/>
                <a:gd name="T97" fmla="*/ 0 h 23"/>
                <a:gd name="T98" fmla="*/ 5 w 5"/>
                <a:gd name="T99" fmla="*/ 0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9" name="Freeform 36"/>
            <p:cNvSpPr>
              <a:spLocks/>
            </p:cNvSpPr>
            <p:nvPr/>
          </p:nvSpPr>
          <p:spPr bwMode="auto">
            <a:xfrm>
              <a:off x="4435" y="3136"/>
              <a:ext cx="9" cy="23"/>
            </a:xfrm>
            <a:custGeom>
              <a:avLst/>
              <a:gdLst>
                <a:gd name="T0" fmla="*/ 0 w 9"/>
                <a:gd name="T1" fmla="*/ 23 h 23"/>
                <a:gd name="T2" fmla="*/ 0 w 9"/>
                <a:gd name="T3" fmla="*/ 23 h 23"/>
                <a:gd name="T4" fmla="*/ 0 w 9"/>
                <a:gd name="T5" fmla="*/ 23 h 23"/>
                <a:gd name="T6" fmla="*/ 0 w 9"/>
                <a:gd name="T7" fmla="*/ 23 h 23"/>
                <a:gd name="T8" fmla="*/ 0 w 9"/>
                <a:gd name="T9" fmla="*/ 23 h 23"/>
                <a:gd name="T10" fmla="*/ 0 w 9"/>
                <a:gd name="T11" fmla="*/ 23 h 23"/>
                <a:gd name="T12" fmla="*/ 0 w 9"/>
                <a:gd name="T13" fmla="*/ 23 h 23"/>
                <a:gd name="T14" fmla="*/ 0 w 9"/>
                <a:gd name="T15" fmla="*/ 23 h 23"/>
                <a:gd name="T16" fmla="*/ 0 w 9"/>
                <a:gd name="T17" fmla="*/ 23 h 23"/>
                <a:gd name="T18" fmla="*/ 4 w 9"/>
                <a:gd name="T19" fmla="*/ 17 h 23"/>
                <a:gd name="T20" fmla="*/ 4 w 9"/>
                <a:gd name="T21" fmla="*/ 17 h 23"/>
                <a:gd name="T22" fmla="*/ 4 w 9"/>
                <a:gd name="T23" fmla="*/ 17 h 23"/>
                <a:gd name="T24" fmla="*/ 4 w 9"/>
                <a:gd name="T25" fmla="*/ 17 h 23"/>
                <a:gd name="T26" fmla="*/ 4 w 9"/>
                <a:gd name="T27" fmla="*/ 17 h 23"/>
                <a:gd name="T28" fmla="*/ 4 w 9"/>
                <a:gd name="T29" fmla="*/ 17 h 23"/>
                <a:gd name="T30" fmla="*/ 4 w 9"/>
                <a:gd name="T31" fmla="*/ 17 h 23"/>
                <a:gd name="T32" fmla="*/ 4 w 9"/>
                <a:gd name="T33" fmla="*/ 17 h 23"/>
                <a:gd name="T34" fmla="*/ 4 w 9"/>
                <a:gd name="T35" fmla="*/ 17 h 23"/>
                <a:gd name="T36" fmla="*/ 4 w 9"/>
                <a:gd name="T37" fmla="*/ 17 h 23"/>
                <a:gd name="T38" fmla="*/ 4 w 9"/>
                <a:gd name="T39" fmla="*/ 17 h 23"/>
                <a:gd name="T40" fmla="*/ 4 w 9"/>
                <a:gd name="T41" fmla="*/ 17 h 23"/>
                <a:gd name="T42" fmla="*/ 4 w 9"/>
                <a:gd name="T43" fmla="*/ 12 h 23"/>
                <a:gd name="T44" fmla="*/ 4 w 9"/>
                <a:gd name="T45" fmla="*/ 12 h 23"/>
                <a:gd name="T46" fmla="*/ 4 w 9"/>
                <a:gd name="T47" fmla="*/ 12 h 23"/>
                <a:gd name="T48" fmla="*/ 4 w 9"/>
                <a:gd name="T49" fmla="*/ 12 h 23"/>
                <a:gd name="T50" fmla="*/ 4 w 9"/>
                <a:gd name="T51" fmla="*/ 12 h 23"/>
                <a:gd name="T52" fmla="*/ 4 w 9"/>
                <a:gd name="T53" fmla="*/ 12 h 23"/>
                <a:gd name="T54" fmla="*/ 4 w 9"/>
                <a:gd name="T55" fmla="*/ 12 h 23"/>
                <a:gd name="T56" fmla="*/ 4 w 9"/>
                <a:gd name="T57" fmla="*/ 12 h 23"/>
                <a:gd name="T58" fmla="*/ 4 w 9"/>
                <a:gd name="T59" fmla="*/ 12 h 23"/>
                <a:gd name="T60" fmla="*/ 4 w 9"/>
                <a:gd name="T61" fmla="*/ 12 h 23"/>
                <a:gd name="T62" fmla="*/ 4 w 9"/>
                <a:gd name="T63" fmla="*/ 12 h 23"/>
                <a:gd name="T64" fmla="*/ 4 w 9"/>
                <a:gd name="T65" fmla="*/ 12 h 23"/>
                <a:gd name="T66" fmla="*/ 4 w 9"/>
                <a:gd name="T67" fmla="*/ 6 h 23"/>
                <a:gd name="T68" fmla="*/ 4 w 9"/>
                <a:gd name="T69" fmla="*/ 6 h 23"/>
                <a:gd name="T70" fmla="*/ 4 w 9"/>
                <a:gd name="T71" fmla="*/ 6 h 23"/>
                <a:gd name="T72" fmla="*/ 4 w 9"/>
                <a:gd name="T73" fmla="*/ 6 h 23"/>
                <a:gd name="T74" fmla="*/ 4 w 9"/>
                <a:gd name="T75" fmla="*/ 6 h 23"/>
                <a:gd name="T76" fmla="*/ 4 w 9"/>
                <a:gd name="T77" fmla="*/ 6 h 23"/>
                <a:gd name="T78" fmla="*/ 4 w 9"/>
                <a:gd name="T79" fmla="*/ 6 h 23"/>
                <a:gd name="T80" fmla="*/ 4 w 9"/>
                <a:gd name="T81" fmla="*/ 6 h 23"/>
                <a:gd name="T82" fmla="*/ 4 w 9"/>
                <a:gd name="T83" fmla="*/ 6 h 23"/>
                <a:gd name="T84" fmla="*/ 4 w 9"/>
                <a:gd name="T85" fmla="*/ 6 h 23"/>
                <a:gd name="T86" fmla="*/ 4 w 9"/>
                <a:gd name="T87" fmla="*/ 6 h 23"/>
                <a:gd name="T88" fmla="*/ 4 w 9"/>
                <a:gd name="T89" fmla="*/ 6 h 23"/>
                <a:gd name="T90" fmla="*/ 4 w 9"/>
                <a:gd name="T91" fmla="*/ 0 h 23"/>
                <a:gd name="T92" fmla="*/ 4 w 9"/>
                <a:gd name="T93" fmla="*/ 0 h 23"/>
                <a:gd name="T94" fmla="*/ 4 w 9"/>
                <a:gd name="T95" fmla="*/ 0 h 23"/>
                <a:gd name="T96" fmla="*/ 4 w 9"/>
                <a:gd name="T97" fmla="*/ 0 h 23"/>
                <a:gd name="T98" fmla="*/ 4 w 9"/>
                <a:gd name="T99" fmla="*/ 0 h 23"/>
                <a:gd name="T100" fmla="*/ 9 w 9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23"/>
                <a:gd name="T155" fmla="*/ 9 w 9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23">
                  <a:moveTo>
                    <a:pt x="0" y="23"/>
                  </a:moveTo>
                  <a:lnTo>
                    <a:pt x="0" y="23"/>
                  </a:lnTo>
                  <a:lnTo>
                    <a:pt x="4" y="17"/>
                  </a:lnTo>
                  <a:lnTo>
                    <a:pt x="4" y="12"/>
                  </a:lnTo>
                  <a:lnTo>
                    <a:pt x="4" y="6"/>
                  </a:lnTo>
                  <a:lnTo>
                    <a:pt x="4" y="0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0" name="Freeform 37"/>
            <p:cNvSpPr>
              <a:spLocks/>
            </p:cNvSpPr>
            <p:nvPr/>
          </p:nvSpPr>
          <p:spPr bwMode="auto">
            <a:xfrm>
              <a:off x="4444" y="3113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23 h 23"/>
                <a:gd name="T10" fmla="*/ 0 w 5"/>
                <a:gd name="T11" fmla="*/ 23 h 23"/>
                <a:gd name="T12" fmla="*/ 0 w 5"/>
                <a:gd name="T13" fmla="*/ 17 h 23"/>
                <a:gd name="T14" fmla="*/ 0 w 5"/>
                <a:gd name="T15" fmla="*/ 17 h 23"/>
                <a:gd name="T16" fmla="*/ 0 w 5"/>
                <a:gd name="T17" fmla="*/ 17 h 23"/>
                <a:gd name="T18" fmla="*/ 0 w 5"/>
                <a:gd name="T19" fmla="*/ 17 h 23"/>
                <a:gd name="T20" fmla="*/ 0 w 5"/>
                <a:gd name="T21" fmla="*/ 17 h 23"/>
                <a:gd name="T22" fmla="*/ 0 w 5"/>
                <a:gd name="T23" fmla="*/ 17 h 23"/>
                <a:gd name="T24" fmla="*/ 0 w 5"/>
                <a:gd name="T25" fmla="*/ 17 h 23"/>
                <a:gd name="T26" fmla="*/ 0 w 5"/>
                <a:gd name="T27" fmla="*/ 17 h 23"/>
                <a:gd name="T28" fmla="*/ 0 w 5"/>
                <a:gd name="T29" fmla="*/ 17 h 23"/>
                <a:gd name="T30" fmla="*/ 0 w 5"/>
                <a:gd name="T31" fmla="*/ 17 h 23"/>
                <a:gd name="T32" fmla="*/ 0 w 5"/>
                <a:gd name="T33" fmla="*/ 17 h 23"/>
                <a:gd name="T34" fmla="*/ 0 w 5"/>
                <a:gd name="T35" fmla="*/ 17 h 23"/>
                <a:gd name="T36" fmla="*/ 0 w 5"/>
                <a:gd name="T37" fmla="*/ 12 h 23"/>
                <a:gd name="T38" fmla="*/ 0 w 5"/>
                <a:gd name="T39" fmla="*/ 12 h 23"/>
                <a:gd name="T40" fmla="*/ 0 w 5"/>
                <a:gd name="T41" fmla="*/ 12 h 23"/>
                <a:gd name="T42" fmla="*/ 0 w 5"/>
                <a:gd name="T43" fmla="*/ 12 h 23"/>
                <a:gd name="T44" fmla="*/ 0 w 5"/>
                <a:gd name="T45" fmla="*/ 12 h 23"/>
                <a:gd name="T46" fmla="*/ 0 w 5"/>
                <a:gd name="T47" fmla="*/ 12 h 23"/>
                <a:gd name="T48" fmla="*/ 0 w 5"/>
                <a:gd name="T49" fmla="*/ 12 h 23"/>
                <a:gd name="T50" fmla="*/ 0 w 5"/>
                <a:gd name="T51" fmla="*/ 12 h 23"/>
                <a:gd name="T52" fmla="*/ 0 w 5"/>
                <a:gd name="T53" fmla="*/ 12 h 23"/>
                <a:gd name="T54" fmla="*/ 0 w 5"/>
                <a:gd name="T55" fmla="*/ 12 h 23"/>
                <a:gd name="T56" fmla="*/ 0 w 5"/>
                <a:gd name="T57" fmla="*/ 12 h 23"/>
                <a:gd name="T58" fmla="*/ 0 w 5"/>
                <a:gd name="T59" fmla="*/ 6 h 23"/>
                <a:gd name="T60" fmla="*/ 0 w 5"/>
                <a:gd name="T61" fmla="*/ 6 h 23"/>
                <a:gd name="T62" fmla="*/ 0 w 5"/>
                <a:gd name="T63" fmla="*/ 6 h 23"/>
                <a:gd name="T64" fmla="*/ 0 w 5"/>
                <a:gd name="T65" fmla="*/ 6 h 23"/>
                <a:gd name="T66" fmla="*/ 0 w 5"/>
                <a:gd name="T67" fmla="*/ 6 h 23"/>
                <a:gd name="T68" fmla="*/ 0 w 5"/>
                <a:gd name="T69" fmla="*/ 6 h 23"/>
                <a:gd name="T70" fmla="*/ 0 w 5"/>
                <a:gd name="T71" fmla="*/ 6 h 23"/>
                <a:gd name="T72" fmla="*/ 0 w 5"/>
                <a:gd name="T73" fmla="*/ 6 h 23"/>
                <a:gd name="T74" fmla="*/ 0 w 5"/>
                <a:gd name="T75" fmla="*/ 6 h 23"/>
                <a:gd name="T76" fmla="*/ 0 w 5"/>
                <a:gd name="T77" fmla="*/ 6 h 23"/>
                <a:gd name="T78" fmla="*/ 0 w 5"/>
                <a:gd name="T79" fmla="*/ 6 h 23"/>
                <a:gd name="T80" fmla="*/ 5 w 5"/>
                <a:gd name="T81" fmla="*/ 6 h 23"/>
                <a:gd name="T82" fmla="*/ 5 w 5"/>
                <a:gd name="T83" fmla="*/ 0 h 23"/>
                <a:gd name="T84" fmla="*/ 5 w 5"/>
                <a:gd name="T85" fmla="*/ 0 h 23"/>
                <a:gd name="T86" fmla="*/ 5 w 5"/>
                <a:gd name="T87" fmla="*/ 0 h 23"/>
                <a:gd name="T88" fmla="*/ 5 w 5"/>
                <a:gd name="T89" fmla="*/ 0 h 23"/>
                <a:gd name="T90" fmla="*/ 5 w 5"/>
                <a:gd name="T91" fmla="*/ 0 h 23"/>
                <a:gd name="T92" fmla="*/ 5 w 5"/>
                <a:gd name="T93" fmla="*/ 0 h 23"/>
                <a:gd name="T94" fmla="*/ 5 w 5"/>
                <a:gd name="T95" fmla="*/ 0 h 23"/>
                <a:gd name="T96" fmla="*/ 5 w 5"/>
                <a:gd name="T97" fmla="*/ 0 h 23"/>
                <a:gd name="T98" fmla="*/ 5 w 5"/>
                <a:gd name="T99" fmla="*/ 0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0" y="12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1" name="Freeform 38"/>
            <p:cNvSpPr>
              <a:spLocks/>
            </p:cNvSpPr>
            <p:nvPr/>
          </p:nvSpPr>
          <p:spPr bwMode="auto">
            <a:xfrm>
              <a:off x="4449" y="3085"/>
              <a:ext cx="5" cy="28"/>
            </a:xfrm>
            <a:custGeom>
              <a:avLst/>
              <a:gdLst>
                <a:gd name="T0" fmla="*/ 0 w 5"/>
                <a:gd name="T1" fmla="*/ 28 h 28"/>
                <a:gd name="T2" fmla="*/ 0 w 5"/>
                <a:gd name="T3" fmla="*/ 28 h 28"/>
                <a:gd name="T4" fmla="*/ 0 w 5"/>
                <a:gd name="T5" fmla="*/ 23 h 28"/>
                <a:gd name="T6" fmla="*/ 0 w 5"/>
                <a:gd name="T7" fmla="*/ 23 h 28"/>
                <a:gd name="T8" fmla="*/ 0 w 5"/>
                <a:gd name="T9" fmla="*/ 23 h 28"/>
                <a:gd name="T10" fmla="*/ 0 w 5"/>
                <a:gd name="T11" fmla="*/ 23 h 28"/>
                <a:gd name="T12" fmla="*/ 0 w 5"/>
                <a:gd name="T13" fmla="*/ 23 h 28"/>
                <a:gd name="T14" fmla="*/ 0 w 5"/>
                <a:gd name="T15" fmla="*/ 23 h 28"/>
                <a:gd name="T16" fmla="*/ 0 w 5"/>
                <a:gd name="T17" fmla="*/ 23 h 28"/>
                <a:gd name="T18" fmla="*/ 0 w 5"/>
                <a:gd name="T19" fmla="*/ 23 h 28"/>
                <a:gd name="T20" fmla="*/ 0 w 5"/>
                <a:gd name="T21" fmla="*/ 23 h 28"/>
                <a:gd name="T22" fmla="*/ 0 w 5"/>
                <a:gd name="T23" fmla="*/ 23 h 28"/>
                <a:gd name="T24" fmla="*/ 0 w 5"/>
                <a:gd name="T25" fmla="*/ 23 h 28"/>
                <a:gd name="T26" fmla="*/ 0 w 5"/>
                <a:gd name="T27" fmla="*/ 23 h 28"/>
                <a:gd name="T28" fmla="*/ 0 w 5"/>
                <a:gd name="T29" fmla="*/ 17 h 28"/>
                <a:gd name="T30" fmla="*/ 0 w 5"/>
                <a:gd name="T31" fmla="*/ 17 h 28"/>
                <a:gd name="T32" fmla="*/ 0 w 5"/>
                <a:gd name="T33" fmla="*/ 17 h 28"/>
                <a:gd name="T34" fmla="*/ 0 w 5"/>
                <a:gd name="T35" fmla="*/ 17 h 28"/>
                <a:gd name="T36" fmla="*/ 0 w 5"/>
                <a:gd name="T37" fmla="*/ 17 h 28"/>
                <a:gd name="T38" fmla="*/ 0 w 5"/>
                <a:gd name="T39" fmla="*/ 17 h 28"/>
                <a:gd name="T40" fmla="*/ 0 w 5"/>
                <a:gd name="T41" fmla="*/ 17 h 28"/>
                <a:gd name="T42" fmla="*/ 0 w 5"/>
                <a:gd name="T43" fmla="*/ 17 h 28"/>
                <a:gd name="T44" fmla="*/ 0 w 5"/>
                <a:gd name="T45" fmla="*/ 17 h 28"/>
                <a:gd name="T46" fmla="*/ 0 w 5"/>
                <a:gd name="T47" fmla="*/ 17 h 28"/>
                <a:gd name="T48" fmla="*/ 0 w 5"/>
                <a:gd name="T49" fmla="*/ 17 h 28"/>
                <a:gd name="T50" fmla="*/ 0 w 5"/>
                <a:gd name="T51" fmla="*/ 17 h 28"/>
                <a:gd name="T52" fmla="*/ 0 w 5"/>
                <a:gd name="T53" fmla="*/ 11 h 28"/>
                <a:gd name="T54" fmla="*/ 0 w 5"/>
                <a:gd name="T55" fmla="*/ 11 h 28"/>
                <a:gd name="T56" fmla="*/ 0 w 5"/>
                <a:gd name="T57" fmla="*/ 11 h 28"/>
                <a:gd name="T58" fmla="*/ 0 w 5"/>
                <a:gd name="T59" fmla="*/ 11 h 28"/>
                <a:gd name="T60" fmla="*/ 0 w 5"/>
                <a:gd name="T61" fmla="*/ 11 h 28"/>
                <a:gd name="T62" fmla="*/ 5 w 5"/>
                <a:gd name="T63" fmla="*/ 11 h 28"/>
                <a:gd name="T64" fmla="*/ 5 w 5"/>
                <a:gd name="T65" fmla="*/ 11 h 28"/>
                <a:gd name="T66" fmla="*/ 5 w 5"/>
                <a:gd name="T67" fmla="*/ 11 h 28"/>
                <a:gd name="T68" fmla="*/ 5 w 5"/>
                <a:gd name="T69" fmla="*/ 11 h 28"/>
                <a:gd name="T70" fmla="*/ 5 w 5"/>
                <a:gd name="T71" fmla="*/ 11 h 28"/>
                <a:gd name="T72" fmla="*/ 5 w 5"/>
                <a:gd name="T73" fmla="*/ 11 h 28"/>
                <a:gd name="T74" fmla="*/ 5 w 5"/>
                <a:gd name="T75" fmla="*/ 6 h 28"/>
                <a:gd name="T76" fmla="*/ 5 w 5"/>
                <a:gd name="T77" fmla="*/ 6 h 28"/>
                <a:gd name="T78" fmla="*/ 5 w 5"/>
                <a:gd name="T79" fmla="*/ 6 h 28"/>
                <a:gd name="T80" fmla="*/ 5 w 5"/>
                <a:gd name="T81" fmla="*/ 6 h 28"/>
                <a:gd name="T82" fmla="*/ 5 w 5"/>
                <a:gd name="T83" fmla="*/ 6 h 28"/>
                <a:gd name="T84" fmla="*/ 5 w 5"/>
                <a:gd name="T85" fmla="*/ 6 h 28"/>
                <a:gd name="T86" fmla="*/ 5 w 5"/>
                <a:gd name="T87" fmla="*/ 6 h 28"/>
                <a:gd name="T88" fmla="*/ 5 w 5"/>
                <a:gd name="T89" fmla="*/ 6 h 28"/>
                <a:gd name="T90" fmla="*/ 5 w 5"/>
                <a:gd name="T91" fmla="*/ 6 h 28"/>
                <a:gd name="T92" fmla="*/ 5 w 5"/>
                <a:gd name="T93" fmla="*/ 6 h 28"/>
                <a:gd name="T94" fmla="*/ 5 w 5"/>
                <a:gd name="T95" fmla="*/ 6 h 28"/>
                <a:gd name="T96" fmla="*/ 5 w 5"/>
                <a:gd name="T97" fmla="*/ 6 h 28"/>
                <a:gd name="T98" fmla="*/ 5 w 5"/>
                <a:gd name="T99" fmla="*/ 0 h 28"/>
                <a:gd name="T100" fmla="*/ 5 w 5"/>
                <a:gd name="T101" fmla="*/ 0 h 2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8"/>
                <a:gd name="T155" fmla="*/ 5 w 5"/>
                <a:gd name="T156" fmla="*/ 28 h 2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8">
                  <a:moveTo>
                    <a:pt x="0" y="28"/>
                  </a:moveTo>
                  <a:lnTo>
                    <a:pt x="0" y="28"/>
                  </a:lnTo>
                  <a:lnTo>
                    <a:pt x="0" y="23"/>
                  </a:lnTo>
                  <a:lnTo>
                    <a:pt x="0" y="17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2" name="Freeform 39"/>
            <p:cNvSpPr>
              <a:spLocks/>
            </p:cNvSpPr>
            <p:nvPr/>
          </p:nvSpPr>
          <p:spPr bwMode="auto">
            <a:xfrm>
              <a:off x="4454" y="3062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23 h 23"/>
                <a:gd name="T10" fmla="*/ 0 w 5"/>
                <a:gd name="T11" fmla="*/ 23 h 23"/>
                <a:gd name="T12" fmla="*/ 0 w 5"/>
                <a:gd name="T13" fmla="*/ 23 h 23"/>
                <a:gd name="T14" fmla="*/ 0 w 5"/>
                <a:gd name="T15" fmla="*/ 23 h 23"/>
                <a:gd name="T16" fmla="*/ 0 w 5"/>
                <a:gd name="T17" fmla="*/ 23 h 23"/>
                <a:gd name="T18" fmla="*/ 0 w 5"/>
                <a:gd name="T19" fmla="*/ 23 h 23"/>
                <a:gd name="T20" fmla="*/ 0 w 5"/>
                <a:gd name="T21" fmla="*/ 17 h 23"/>
                <a:gd name="T22" fmla="*/ 0 w 5"/>
                <a:gd name="T23" fmla="*/ 17 h 23"/>
                <a:gd name="T24" fmla="*/ 0 w 5"/>
                <a:gd name="T25" fmla="*/ 17 h 23"/>
                <a:gd name="T26" fmla="*/ 0 w 5"/>
                <a:gd name="T27" fmla="*/ 17 h 23"/>
                <a:gd name="T28" fmla="*/ 0 w 5"/>
                <a:gd name="T29" fmla="*/ 17 h 23"/>
                <a:gd name="T30" fmla="*/ 0 w 5"/>
                <a:gd name="T31" fmla="*/ 17 h 23"/>
                <a:gd name="T32" fmla="*/ 0 w 5"/>
                <a:gd name="T33" fmla="*/ 17 h 23"/>
                <a:gd name="T34" fmla="*/ 0 w 5"/>
                <a:gd name="T35" fmla="*/ 17 h 23"/>
                <a:gd name="T36" fmla="*/ 0 w 5"/>
                <a:gd name="T37" fmla="*/ 17 h 23"/>
                <a:gd name="T38" fmla="*/ 0 w 5"/>
                <a:gd name="T39" fmla="*/ 17 h 23"/>
                <a:gd name="T40" fmla="*/ 0 w 5"/>
                <a:gd name="T41" fmla="*/ 17 h 23"/>
                <a:gd name="T42" fmla="*/ 5 w 5"/>
                <a:gd name="T43" fmla="*/ 17 h 23"/>
                <a:gd name="T44" fmla="*/ 5 w 5"/>
                <a:gd name="T45" fmla="*/ 12 h 23"/>
                <a:gd name="T46" fmla="*/ 5 w 5"/>
                <a:gd name="T47" fmla="*/ 12 h 23"/>
                <a:gd name="T48" fmla="*/ 5 w 5"/>
                <a:gd name="T49" fmla="*/ 12 h 23"/>
                <a:gd name="T50" fmla="*/ 5 w 5"/>
                <a:gd name="T51" fmla="*/ 12 h 23"/>
                <a:gd name="T52" fmla="*/ 5 w 5"/>
                <a:gd name="T53" fmla="*/ 12 h 23"/>
                <a:gd name="T54" fmla="*/ 5 w 5"/>
                <a:gd name="T55" fmla="*/ 12 h 23"/>
                <a:gd name="T56" fmla="*/ 5 w 5"/>
                <a:gd name="T57" fmla="*/ 12 h 23"/>
                <a:gd name="T58" fmla="*/ 5 w 5"/>
                <a:gd name="T59" fmla="*/ 12 h 23"/>
                <a:gd name="T60" fmla="*/ 5 w 5"/>
                <a:gd name="T61" fmla="*/ 12 h 23"/>
                <a:gd name="T62" fmla="*/ 5 w 5"/>
                <a:gd name="T63" fmla="*/ 12 h 23"/>
                <a:gd name="T64" fmla="*/ 5 w 5"/>
                <a:gd name="T65" fmla="*/ 12 h 23"/>
                <a:gd name="T66" fmla="*/ 5 w 5"/>
                <a:gd name="T67" fmla="*/ 12 h 23"/>
                <a:gd name="T68" fmla="*/ 5 w 5"/>
                <a:gd name="T69" fmla="*/ 6 h 23"/>
                <a:gd name="T70" fmla="*/ 5 w 5"/>
                <a:gd name="T71" fmla="*/ 6 h 23"/>
                <a:gd name="T72" fmla="*/ 5 w 5"/>
                <a:gd name="T73" fmla="*/ 6 h 23"/>
                <a:gd name="T74" fmla="*/ 5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6 h 23"/>
                <a:gd name="T86" fmla="*/ 5 w 5"/>
                <a:gd name="T87" fmla="*/ 6 h 23"/>
                <a:gd name="T88" fmla="*/ 5 w 5"/>
                <a:gd name="T89" fmla="*/ 6 h 23"/>
                <a:gd name="T90" fmla="*/ 5 w 5"/>
                <a:gd name="T91" fmla="*/ 6 h 23"/>
                <a:gd name="T92" fmla="*/ 5 w 5"/>
                <a:gd name="T93" fmla="*/ 0 h 23"/>
                <a:gd name="T94" fmla="*/ 5 w 5"/>
                <a:gd name="T95" fmla="*/ 0 h 23"/>
                <a:gd name="T96" fmla="*/ 5 w 5"/>
                <a:gd name="T97" fmla="*/ 0 h 23"/>
                <a:gd name="T98" fmla="*/ 5 w 5"/>
                <a:gd name="T99" fmla="*/ 0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12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3" name="Freeform 40"/>
            <p:cNvSpPr>
              <a:spLocks/>
            </p:cNvSpPr>
            <p:nvPr/>
          </p:nvSpPr>
          <p:spPr bwMode="auto">
            <a:xfrm>
              <a:off x="4459" y="3039"/>
              <a:ext cx="4" cy="23"/>
            </a:xfrm>
            <a:custGeom>
              <a:avLst/>
              <a:gdLst>
                <a:gd name="T0" fmla="*/ 0 w 4"/>
                <a:gd name="T1" fmla="*/ 23 h 23"/>
                <a:gd name="T2" fmla="*/ 0 w 4"/>
                <a:gd name="T3" fmla="*/ 23 h 23"/>
                <a:gd name="T4" fmla="*/ 0 w 4"/>
                <a:gd name="T5" fmla="*/ 23 h 23"/>
                <a:gd name="T6" fmla="*/ 0 w 4"/>
                <a:gd name="T7" fmla="*/ 23 h 23"/>
                <a:gd name="T8" fmla="*/ 0 w 4"/>
                <a:gd name="T9" fmla="*/ 23 h 23"/>
                <a:gd name="T10" fmla="*/ 0 w 4"/>
                <a:gd name="T11" fmla="*/ 23 h 23"/>
                <a:gd name="T12" fmla="*/ 0 w 4"/>
                <a:gd name="T13" fmla="*/ 23 h 23"/>
                <a:gd name="T14" fmla="*/ 0 w 4"/>
                <a:gd name="T15" fmla="*/ 23 h 23"/>
                <a:gd name="T16" fmla="*/ 0 w 4"/>
                <a:gd name="T17" fmla="*/ 17 h 23"/>
                <a:gd name="T18" fmla="*/ 0 w 4"/>
                <a:gd name="T19" fmla="*/ 17 h 23"/>
                <a:gd name="T20" fmla="*/ 0 w 4"/>
                <a:gd name="T21" fmla="*/ 17 h 23"/>
                <a:gd name="T22" fmla="*/ 0 w 4"/>
                <a:gd name="T23" fmla="*/ 17 h 23"/>
                <a:gd name="T24" fmla="*/ 4 w 4"/>
                <a:gd name="T25" fmla="*/ 17 h 23"/>
                <a:gd name="T26" fmla="*/ 4 w 4"/>
                <a:gd name="T27" fmla="*/ 17 h 23"/>
                <a:gd name="T28" fmla="*/ 4 w 4"/>
                <a:gd name="T29" fmla="*/ 17 h 23"/>
                <a:gd name="T30" fmla="*/ 4 w 4"/>
                <a:gd name="T31" fmla="*/ 17 h 23"/>
                <a:gd name="T32" fmla="*/ 4 w 4"/>
                <a:gd name="T33" fmla="*/ 17 h 23"/>
                <a:gd name="T34" fmla="*/ 4 w 4"/>
                <a:gd name="T35" fmla="*/ 17 h 23"/>
                <a:gd name="T36" fmla="*/ 4 w 4"/>
                <a:gd name="T37" fmla="*/ 17 h 23"/>
                <a:gd name="T38" fmla="*/ 4 w 4"/>
                <a:gd name="T39" fmla="*/ 17 h 23"/>
                <a:gd name="T40" fmla="*/ 4 w 4"/>
                <a:gd name="T41" fmla="*/ 12 h 23"/>
                <a:gd name="T42" fmla="*/ 4 w 4"/>
                <a:gd name="T43" fmla="*/ 12 h 23"/>
                <a:gd name="T44" fmla="*/ 4 w 4"/>
                <a:gd name="T45" fmla="*/ 12 h 23"/>
                <a:gd name="T46" fmla="*/ 4 w 4"/>
                <a:gd name="T47" fmla="*/ 12 h 23"/>
                <a:gd name="T48" fmla="*/ 4 w 4"/>
                <a:gd name="T49" fmla="*/ 12 h 23"/>
                <a:gd name="T50" fmla="*/ 4 w 4"/>
                <a:gd name="T51" fmla="*/ 12 h 23"/>
                <a:gd name="T52" fmla="*/ 4 w 4"/>
                <a:gd name="T53" fmla="*/ 12 h 23"/>
                <a:gd name="T54" fmla="*/ 4 w 4"/>
                <a:gd name="T55" fmla="*/ 12 h 23"/>
                <a:gd name="T56" fmla="*/ 4 w 4"/>
                <a:gd name="T57" fmla="*/ 12 h 23"/>
                <a:gd name="T58" fmla="*/ 4 w 4"/>
                <a:gd name="T59" fmla="*/ 12 h 23"/>
                <a:gd name="T60" fmla="*/ 4 w 4"/>
                <a:gd name="T61" fmla="*/ 12 h 23"/>
                <a:gd name="T62" fmla="*/ 4 w 4"/>
                <a:gd name="T63" fmla="*/ 12 h 23"/>
                <a:gd name="T64" fmla="*/ 4 w 4"/>
                <a:gd name="T65" fmla="*/ 6 h 23"/>
                <a:gd name="T66" fmla="*/ 4 w 4"/>
                <a:gd name="T67" fmla="*/ 6 h 23"/>
                <a:gd name="T68" fmla="*/ 4 w 4"/>
                <a:gd name="T69" fmla="*/ 6 h 23"/>
                <a:gd name="T70" fmla="*/ 4 w 4"/>
                <a:gd name="T71" fmla="*/ 6 h 23"/>
                <a:gd name="T72" fmla="*/ 4 w 4"/>
                <a:gd name="T73" fmla="*/ 6 h 23"/>
                <a:gd name="T74" fmla="*/ 4 w 4"/>
                <a:gd name="T75" fmla="*/ 6 h 23"/>
                <a:gd name="T76" fmla="*/ 4 w 4"/>
                <a:gd name="T77" fmla="*/ 6 h 23"/>
                <a:gd name="T78" fmla="*/ 4 w 4"/>
                <a:gd name="T79" fmla="*/ 6 h 23"/>
                <a:gd name="T80" fmla="*/ 4 w 4"/>
                <a:gd name="T81" fmla="*/ 6 h 23"/>
                <a:gd name="T82" fmla="*/ 4 w 4"/>
                <a:gd name="T83" fmla="*/ 6 h 23"/>
                <a:gd name="T84" fmla="*/ 4 w 4"/>
                <a:gd name="T85" fmla="*/ 6 h 23"/>
                <a:gd name="T86" fmla="*/ 4 w 4"/>
                <a:gd name="T87" fmla="*/ 6 h 23"/>
                <a:gd name="T88" fmla="*/ 4 w 4"/>
                <a:gd name="T89" fmla="*/ 6 h 23"/>
                <a:gd name="T90" fmla="*/ 4 w 4"/>
                <a:gd name="T91" fmla="*/ 0 h 23"/>
                <a:gd name="T92" fmla="*/ 4 w 4"/>
                <a:gd name="T93" fmla="*/ 0 h 23"/>
                <a:gd name="T94" fmla="*/ 4 w 4"/>
                <a:gd name="T95" fmla="*/ 0 h 23"/>
                <a:gd name="T96" fmla="*/ 4 w 4"/>
                <a:gd name="T97" fmla="*/ 0 h 23"/>
                <a:gd name="T98" fmla="*/ 4 w 4"/>
                <a:gd name="T99" fmla="*/ 0 h 23"/>
                <a:gd name="T100" fmla="*/ 4 w 4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4" y="12"/>
                  </a:lnTo>
                  <a:lnTo>
                    <a:pt x="4" y="6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4" name="Freeform 41"/>
            <p:cNvSpPr>
              <a:spLocks/>
            </p:cNvSpPr>
            <p:nvPr/>
          </p:nvSpPr>
          <p:spPr bwMode="auto">
            <a:xfrm>
              <a:off x="4463" y="3017"/>
              <a:ext cx="10" cy="22"/>
            </a:xfrm>
            <a:custGeom>
              <a:avLst/>
              <a:gdLst>
                <a:gd name="T0" fmla="*/ 0 w 10"/>
                <a:gd name="T1" fmla="*/ 22 h 22"/>
                <a:gd name="T2" fmla="*/ 0 w 10"/>
                <a:gd name="T3" fmla="*/ 22 h 22"/>
                <a:gd name="T4" fmla="*/ 5 w 10"/>
                <a:gd name="T5" fmla="*/ 22 h 22"/>
                <a:gd name="T6" fmla="*/ 5 w 10"/>
                <a:gd name="T7" fmla="*/ 22 h 22"/>
                <a:gd name="T8" fmla="*/ 5 w 10"/>
                <a:gd name="T9" fmla="*/ 22 h 22"/>
                <a:gd name="T10" fmla="*/ 5 w 10"/>
                <a:gd name="T11" fmla="*/ 22 h 22"/>
                <a:gd name="T12" fmla="*/ 5 w 10"/>
                <a:gd name="T13" fmla="*/ 22 h 22"/>
                <a:gd name="T14" fmla="*/ 5 w 10"/>
                <a:gd name="T15" fmla="*/ 17 h 22"/>
                <a:gd name="T16" fmla="*/ 5 w 10"/>
                <a:gd name="T17" fmla="*/ 17 h 22"/>
                <a:gd name="T18" fmla="*/ 5 w 10"/>
                <a:gd name="T19" fmla="*/ 17 h 22"/>
                <a:gd name="T20" fmla="*/ 5 w 10"/>
                <a:gd name="T21" fmla="*/ 17 h 22"/>
                <a:gd name="T22" fmla="*/ 5 w 10"/>
                <a:gd name="T23" fmla="*/ 17 h 22"/>
                <a:gd name="T24" fmla="*/ 5 w 10"/>
                <a:gd name="T25" fmla="*/ 17 h 22"/>
                <a:gd name="T26" fmla="*/ 5 w 10"/>
                <a:gd name="T27" fmla="*/ 17 h 22"/>
                <a:gd name="T28" fmla="*/ 5 w 10"/>
                <a:gd name="T29" fmla="*/ 17 h 22"/>
                <a:gd name="T30" fmla="*/ 5 w 10"/>
                <a:gd name="T31" fmla="*/ 17 h 22"/>
                <a:gd name="T32" fmla="*/ 5 w 10"/>
                <a:gd name="T33" fmla="*/ 17 h 22"/>
                <a:gd name="T34" fmla="*/ 5 w 10"/>
                <a:gd name="T35" fmla="*/ 17 h 22"/>
                <a:gd name="T36" fmla="*/ 5 w 10"/>
                <a:gd name="T37" fmla="*/ 17 h 22"/>
                <a:gd name="T38" fmla="*/ 5 w 10"/>
                <a:gd name="T39" fmla="*/ 17 h 22"/>
                <a:gd name="T40" fmla="*/ 5 w 10"/>
                <a:gd name="T41" fmla="*/ 11 h 22"/>
                <a:gd name="T42" fmla="*/ 5 w 10"/>
                <a:gd name="T43" fmla="*/ 11 h 22"/>
                <a:gd name="T44" fmla="*/ 5 w 10"/>
                <a:gd name="T45" fmla="*/ 11 h 22"/>
                <a:gd name="T46" fmla="*/ 5 w 10"/>
                <a:gd name="T47" fmla="*/ 11 h 22"/>
                <a:gd name="T48" fmla="*/ 5 w 10"/>
                <a:gd name="T49" fmla="*/ 11 h 22"/>
                <a:gd name="T50" fmla="*/ 5 w 10"/>
                <a:gd name="T51" fmla="*/ 11 h 22"/>
                <a:gd name="T52" fmla="*/ 5 w 10"/>
                <a:gd name="T53" fmla="*/ 11 h 22"/>
                <a:gd name="T54" fmla="*/ 5 w 10"/>
                <a:gd name="T55" fmla="*/ 11 h 22"/>
                <a:gd name="T56" fmla="*/ 5 w 10"/>
                <a:gd name="T57" fmla="*/ 11 h 22"/>
                <a:gd name="T58" fmla="*/ 5 w 10"/>
                <a:gd name="T59" fmla="*/ 11 h 22"/>
                <a:gd name="T60" fmla="*/ 5 w 10"/>
                <a:gd name="T61" fmla="*/ 11 h 22"/>
                <a:gd name="T62" fmla="*/ 5 w 10"/>
                <a:gd name="T63" fmla="*/ 11 h 22"/>
                <a:gd name="T64" fmla="*/ 5 w 10"/>
                <a:gd name="T65" fmla="*/ 11 h 22"/>
                <a:gd name="T66" fmla="*/ 5 w 10"/>
                <a:gd name="T67" fmla="*/ 5 h 22"/>
                <a:gd name="T68" fmla="*/ 5 w 10"/>
                <a:gd name="T69" fmla="*/ 5 h 22"/>
                <a:gd name="T70" fmla="*/ 5 w 10"/>
                <a:gd name="T71" fmla="*/ 5 h 22"/>
                <a:gd name="T72" fmla="*/ 5 w 10"/>
                <a:gd name="T73" fmla="*/ 5 h 22"/>
                <a:gd name="T74" fmla="*/ 5 w 10"/>
                <a:gd name="T75" fmla="*/ 5 h 22"/>
                <a:gd name="T76" fmla="*/ 5 w 10"/>
                <a:gd name="T77" fmla="*/ 5 h 22"/>
                <a:gd name="T78" fmla="*/ 5 w 10"/>
                <a:gd name="T79" fmla="*/ 5 h 22"/>
                <a:gd name="T80" fmla="*/ 5 w 10"/>
                <a:gd name="T81" fmla="*/ 5 h 22"/>
                <a:gd name="T82" fmla="*/ 5 w 10"/>
                <a:gd name="T83" fmla="*/ 5 h 22"/>
                <a:gd name="T84" fmla="*/ 5 w 10"/>
                <a:gd name="T85" fmla="*/ 5 h 22"/>
                <a:gd name="T86" fmla="*/ 10 w 10"/>
                <a:gd name="T87" fmla="*/ 5 h 22"/>
                <a:gd name="T88" fmla="*/ 10 w 10"/>
                <a:gd name="T89" fmla="*/ 5 h 22"/>
                <a:gd name="T90" fmla="*/ 10 w 10"/>
                <a:gd name="T91" fmla="*/ 5 h 22"/>
                <a:gd name="T92" fmla="*/ 10 w 10"/>
                <a:gd name="T93" fmla="*/ 0 h 22"/>
                <a:gd name="T94" fmla="*/ 10 w 10"/>
                <a:gd name="T95" fmla="*/ 0 h 22"/>
                <a:gd name="T96" fmla="*/ 10 w 10"/>
                <a:gd name="T97" fmla="*/ 0 h 22"/>
                <a:gd name="T98" fmla="*/ 10 w 10"/>
                <a:gd name="T99" fmla="*/ 0 h 22"/>
                <a:gd name="T100" fmla="*/ 10 w 10"/>
                <a:gd name="T101" fmla="*/ 0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2"/>
                <a:gd name="T155" fmla="*/ 10 w 10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2">
                  <a:moveTo>
                    <a:pt x="0" y="22"/>
                  </a:moveTo>
                  <a:lnTo>
                    <a:pt x="0" y="22"/>
                  </a:lnTo>
                  <a:lnTo>
                    <a:pt x="5" y="22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5"/>
                  </a:lnTo>
                  <a:lnTo>
                    <a:pt x="10" y="5"/>
                  </a:lnTo>
                  <a:lnTo>
                    <a:pt x="1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5" name="Freeform 42"/>
            <p:cNvSpPr>
              <a:spLocks/>
            </p:cNvSpPr>
            <p:nvPr/>
          </p:nvSpPr>
          <p:spPr bwMode="auto">
            <a:xfrm>
              <a:off x="4473" y="3000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7 h 17"/>
                <a:gd name="T12" fmla="*/ 0 w 5"/>
                <a:gd name="T13" fmla="*/ 17 h 17"/>
                <a:gd name="T14" fmla="*/ 0 w 5"/>
                <a:gd name="T15" fmla="*/ 17 h 17"/>
                <a:gd name="T16" fmla="*/ 0 w 5"/>
                <a:gd name="T17" fmla="*/ 17 h 17"/>
                <a:gd name="T18" fmla="*/ 0 w 5"/>
                <a:gd name="T19" fmla="*/ 17 h 17"/>
                <a:gd name="T20" fmla="*/ 0 w 5"/>
                <a:gd name="T21" fmla="*/ 11 h 17"/>
                <a:gd name="T22" fmla="*/ 0 w 5"/>
                <a:gd name="T23" fmla="*/ 11 h 17"/>
                <a:gd name="T24" fmla="*/ 0 w 5"/>
                <a:gd name="T25" fmla="*/ 11 h 17"/>
                <a:gd name="T26" fmla="*/ 0 w 5"/>
                <a:gd name="T27" fmla="*/ 11 h 17"/>
                <a:gd name="T28" fmla="*/ 0 w 5"/>
                <a:gd name="T29" fmla="*/ 11 h 17"/>
                <a:gd name="T30" fmla="*/ 0 w 5"/>
                <a:gd name="T31" fmla="*/ 11 h 17"/>
                <a:gd name="T32" fmla="*/ 0 w 5"/>
                <a:gd name="T33" fmla="*/ 11 h 17"/>
                <a:gd name="T34" fmla="*/ 0 w 5"/>
                <a:gd name="T35" fmla="*/ 11 h 17"/>
                <a:gd name="T36" fmla="*/ 0 w 5"/>
                <a:gd name="T37" fmla="*/ 11 h 17"/>
                <a:gd name="T38" fmla="*/ 0 w 5"/>
                <a:gd name="T39" fmla="*/ 11 h 17"/>
                <a:gd name="T40" fmla="*/ 0 w 5"/>
                <a:gd name="T41" fmla="*/ 11 h 17"/>
                <a:gd name="T42" fmla="*/ 0 w 5"/>
                <a:gd name="T43" fmla="*/ 11 h 17"/>
                <a:gd name="T44" fmla="*/ 0 w 5"/>
                <a:gd name="T45" fmla="*/ 11 h 17"/>
                <a:gd name="T46" fmla="*/ 0 w 5"/>
                <a:gd name="T47" fmla="*/ 5 h 17"/>
                <a:gd name="T48" fmla="*/ 0 w 5"/>
                <a:gd name="T49" fmla="*/ 5 h 17"/>
                <a:gd name="T50" fmla="*/ 0 w 5"/>
                <a:gd name="T51" fmla="*/ 5 h 17"/>
                <a:gd name="T52" fmla="*/ 0 w 5"/>
                <a:gd name="T53" fmla="*/ 5 h 17"/>
                <a:gd name="T54" fmla="*/ 0 w 5"/>
                <a:gd name="T55" fmla="*/ 5 h 17"/>
                <a:gd name="T56" fmla="*/ 0 w 5"/>
                <a:gd name="T57" fmla="*/ 5 h 17"/>
                <a:gd name="T58" fmla="*/ 0 w 5"/>
                <a:gd name="T59" fmla="*/ 5 h 17"/>
                <a:gd name="T60" fmla="*/ 0 w 5"/>
                <a:gd name="T61" fmla="*/ 5 h 17"/>
                <a:gd name="T62" fmla="*/ 0 w 5"/>
                <a:gd name="T63" fmla="*/ 5 h 17"/>
                <a:gd name="T64" fmla="*/ 0 w 5"/>
                <a:gd name="T65" fmla="*/ 5 h 17"/>
                <a:gd name="T66" fmla="*/ 5 w 5"/>
                <a:gd name="T67" fmla="*/ 5 h 17"/>
                <a:gd name="T68" fmla="*/ 5 w 5"/>
                <a:gd name="T69" fmla="*/ 5 h 17"/>
                <a:gd name="T70" fmla="*/ 5 w 5"/>
                <a:gd name="T71" fmla="*/ 5 h 17"/>
                <a:gd name="T72" fmla="*/ 5 w 5"/>
                <a:gd name="T73" fmla="*/ 5 h 17"/>
                <a:gd name="T74" fmla="*/ 5 w 5"/>
                <a:gd name="T75" fmla="*/ 0 h 17"/>
                <a:gd name="T76" fmla="*/ 5 w 5"/>
                <a:gd name="T77" fmla="*/ 0 h 17"/>
                <a:gd name="T78" fmla="*/ 5 w 5"/>
                <a:gd name="T79" fmla="*/ 0 h 17"/>
                <a:gd name="T80" fmla="*/ 5 w 5"/>
                <a:gd name="T81" fmla="*/ 0 h 17"/>
                <a:gd name="T82" fmla="*/ 5 w 5"/>
                <a:gd name="T83" fmla="*/ 0 h 17"/>
                <a:gd name="T84" fmla="*/ 5 w 5"/>
                <a:gd name="T85" fmla="*/ 0 h 17"/>
                <a:gd name="T86" fmla="*/ 5 w 5"/>
                <a:gd name="T87" fmla="*/ 0 h 17"/>
                <a:gd name="T88" fmla="*/ 5 w 5"/>
                <a:gd name="T89" fmla="*/ 0 h 17"/>
                <a:gd name="T90" fmla="*/ 5 w 5"/>
                <a:gd name="T91" fmla="*/ 0 h 17"/>
                <a:gd name="T92" fmla="*/ 5 w 5"/>
                <a:gd name="T93" fmla="*/ 0 h 17"/>
                <a:gd name="T94" fmla="*/ 5 w 5"/>
                <a:gd name="T95" fmla="*/ 0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6" name="Freeform 43"/>
            <p:cNvSpPr>
              <a:spLocks/>
            </p:cNvSpPr>
            <p:nvPr/>
          </p:nvSpPr>
          <p:spPr bwMode="auto">
            <a:xfrm>
              <a:off x="4478" y="2977"/>
              <a:ext cx="4" cy="23"/>
            </a:xfrm>
            <a:custGeom>
              <a:avLst/>
              <a:gdLst>
                <a:gd name="T0" fmla="*/ 0 w 4"/>
                <a:gd name="T1" fmla="*/ 23 h 23"/>
                <a:gd name="T2" fmla="*/ 0 w 4"/>
                <a:gd name="T3" fmla="*/ 23 h 23"/>
                <a:gd name="T4" fmla="*/ 0 w 4"/>
                <a:gd name="T5" fmla="*/ 17 h 23"/>
                <a:gd name="T6" fmla="*/ 0 w 4"/>
                <a:gd name="T7" fmla="*/ 17 h 23"/>
                <a:gd name="T8" fmla="*/ 0 w 4"/>
                <a:gd name="T9" fmla="*/ 17 h 23"/>
                <a:gd name="T10" fmla="*/ 0 w 4"/>
                <a:gd name="T11" fmla="*/ 17 h 23"/>
                <a:gd name="T12" fmla="*/ 0 w 4"/>
                <a:gd name="T13" fmla="*/ 17 h 23"/>
                <a:gd name="T14" fmla="*/ 0 w 4"/>
                <a:gd name="T15" fmla="*/ 17 h 23"/>
                <a:gd name="T16" fmla="*/ 0 w 4"/>
                <a:gd name="T17" fmla="*/ 17 h 23"/>
                <a:gd name="T18" fmla="*/ 0 w 4"/>
                <a:gd name="T19" fmla="*/ 17 h 23"/>
                <a:gd name="T20" fmla="*/ 0 w 4"/>
                <a:gd name="T21" fmla="*/ 17 h 23"/>
                <a:gd name="T22" fmla="*/ 0 w 4"/>
                <a:gd name="T23" fmla="*/ 17 h 23"/>
                <a:gd name="T24" fmla="*/ 0 w 4"/>
                <a:gd name="T25" fmla="*/ 17 h 23"/>
                <a:gd name="T26" fmla="*/ 0 w 4"/>
                <a:gd name="T27" fmla="*/ 17 h 23"/>
                <a:gd name="T28" fmla="*/ 0 w 4"/>
                <a:gd name="T29" fmla="*/ 17 h 23"/>
                <a:gd name="T30" fmla="*/ 0 w 4"/>
                <a:gd name="T31" fmla="*/ 17 h 23"/>
                <a:gd name="T32" fmla="*/ 0 w 4"/>
                <a:gd name="T33" fmla="*/ 11 h 23"/>
                <a:gd name="T34" fmla="*/ 0 w 4"/>
                <a:gd name="T35" fmla="*/ 11 h 23"/>
                <a:gd name="T36" fmla="*/ 0 w 4"/>
                <a:gd name="T37" fmla="*/ 11 h 23"/>
                <a:gd name="T38" fmla="*/ 0 w 4"/>
                <a:gd name="T39" fmla="*/ 11 h 23"/>
                <a:gd name="T40" fmla="*/ 0 w 4"/>
                <a:gd name="T41" fmla="*/ 11 h 23"/>
                <a:gd name="T42" fmla="*/ 0 w 4"/>
                <a:gd name="T43" fmla="*/ 11 h 23"/>
                <a:gd name="T44" fmla="*/ 0 w 4"/>
                <a:gd name="T45" fmla="*/ 11 h 23"/>
                <a:gd name="T46" fmla="*/ 0 w 4"/>
                <a:gd name="T47" fmla="*/ 11 h 23"/>
                <a:gd name="T48" fmla="*/ 4 w 4"/>
                <a:gd name="T49" fmla="*/ 11 h 23"/>
                <a:gd name="T50" fmla="*/ 4 w 4"/>
                <a:gd name="T51" fmla="*/ 11 h 23"/>
                <a:gd name="T52" fmla="*/ 4 w 4"/>
                <a:gd name="T53" fmla="*/ 11 h 23"/>
                <a:gd name="T54" fmla="*/ 4 w 4"/>
                <a:gd name="T55" fmla="*/ 11 h 23"/>
                <a:gd name="T56" fmla="*/ 4 w 4"/>
                <a:gd name="T57" fmla="*/ 11 h 23"/>
                <a:gd name="T58" fmla="*/ 4 w 4"/>
                <a:gd name="T59" fmla="*/ 11 h 23"/>
                <a:gd name="T60" fmla="*/ 4 w 4"/>
                <a:gd name="T61" fmla="*/ 11 h 23"/>
                <a:gd name="T62" fmla="*/ 4 w 4"/>
                <a:gd name="T63" fmla="*/ 11 h 23"/>
                <a:gd name="T64" fmla="*/ 4 w 4"/>
                <a:gd name="T65" fmla="*/ 5 h 23"/>
                <a:gd name="T66" fmla="*/ 4 w 4"/>
                <a:gd name="T67" fmla="*/ 5 h 23"/>
                <a:gd name="T68" fmla="*/ 4 w 4"/>
                <a:gd name="T69" fmla="*/ 5 h 23"/>
                <a:gd name="T70" fmla="*/ 4 w 4"/>
                <a:gd name="T71" fmla="*/ 5 h 23"/>
                <a:gd name="T72" fmla="*/ 4 w 4"/>
                <a:gd name="T73" fmla="*/ 5 h 23"/>
                <a:gd name="T74" fmla="*/ 4 w 4"/>
                <a:gd name="T75" fmla="*/ 5 h 23"/>
                <a:gd name="T76" fmla="*/ 4 w 4"/>
                <a:gd name="T77" fmla="*/ 5 h 23"/>
                <a:gd name="T78" fmla="*/ 4 w 4"/>
                <a:gd name="T79" fmla="*/ 5 h 23"/>
                <a:gd name="T80" fmla="*/ 4 w 4"/>
                <a:gd name="T81" fmla="*/ 5 h 23"/>
                <a:gd name="T82" fmla="*/ 4 w 4"/>
                <a:gd name="T83" fmla="*/ 5 h 23"/>
                <a:gd name="T84" fmla="*/ 4 w 4"/>
                <a:gd name="T85" fmla="*/ 5 h 23"/>
                <a:gd name="T86" fmla="*/ 4 w 4"/>
                <a:gd name="T87" fmla="*/ 5 h 23"/>
                <a:gd name="T88" fmla="*/ 4 w 4"/>
                <a:gd name="T89" fmla="*/ 5 h 23"/>
                <a:gd name="T90" fmla="*/ 4 w 4"/>
                <a:gd name="T91" fmla="*/ 5 h 23"/>
                <a:gd name="T92" fmla="*/ 4 w 4"/>
                <a:gd name="T93" fmla="*/ 5 h 23"/>
                <a:gd name="T94" fmla="*/ 4 w 4"/>
                <a:gd name="T95" fmla="*/ 0 h 23"/>
                <a:gd name="T96" fmla="*/ 4 w 4"/>
                <a:gd name="T97" fmla="*/ 0 h 23"/>
                <a:gd name="T98" fmla="*/ 4 w 4"/>
                <a:gd name="T99" fmla="*/ 0 h 23"/>
                <a:gd name="T100" fmla="*/ 4 w 4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5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7" name="Freeform 44"/>
            <p:cNvSpPr>
              <a:spLocks/>
            </p:cNvSpPr>
            <p:nvPr/>
          </p:nvSpPr>
          <p:spPr bwMode="auto">
            <a:xfrm>
              <a:off x="4482" y="2960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7 h 17"/>
                <a:gd name="T12" fmla="*/ 0 w 5"/>
                <a:gd name="T13" fmla="*/ 17 h 17"/>
                <a:gd name="T14" fmla="*/ 0 w 5"/>
                <a:gd name="T15" fmla="*/ 17 h 17"/>
                <a:gd name="T16" fmla="*/ 0 w 5"/>
                <a:gd name="T17" fmla="*/ 17 h 17"/>
                <a:gd name="T18" fmla="*/ 0 w 5"/>
                <a:gd name="T19" fmla="*/ 17 h 17"/>
                <a:gd name="T20" fmla="*/ 0 w 5"/>
                <a:gd name="T21" fmla="*/ 17 h 17"/>
                <a:gd name="T22" fmla="*/ 0 w 5"/>
                <a:gd name="T23" fmla="*/ 17 h 17"/>
                <a:gd name="T24" fmla="*/ 0 w 5"/>
                <a:gd name="T25" fmla="*/ 17 h 17"/>
                <a:gd name="T26" fmla="*/ 0 w 5"/>
                <a:gd name="T27" fmla="*/ 17 h 17"/>
                <a:gd name="T28" fmla="*/ 5 w 5"/>
                <a:gd name="T29" fmla="*/ 11 h 17"/>
                <a:gd name="T30" fmla="*/ 5 w 5"/>
                <a:gd name="T31" fmla="*/ 11 h 17"/>
                <a:gd name="T32" fmla="*/ 5 w 5"/>
                <a:gd name="T33" fmla="*/ 11 h 17"/>
                <a:gd name="T34" fmla="*/ 5 w 5"/>
                <a:gd name="T35" fmla="*/ 11 h 17"/>
                <a:gd name="T36" fmla="*/ 5 w 5"/>
                <a:gd name="T37" fmla="*/ 11 h 17"/>
                <a:gd name="T38" fmla="*/ 5 w 5"/>
                <a:gd name="T39" fmla="*/ 11 h 17"/>
                <a:gd name="T40" fmla="*/ 5 w 5"/>
                <a:gd name="T41" fmla="*/ 11 h 17"/>
                <a:gd name="T42" fmla="*/ 5 w 5"/>
                <a:gd name="T43" fmla="*/ 11 h 17"/>
                <a:gd name="T44" fmla="*/ 5 w 5"/>
                <a:gd name="T45" fmla="*/ 11 h 17"/>
                <a:gd name="T46" fmla="*/ 5 w 5"/>
                <a:gd name="T47" fmla="*/ 11 h 17"/>
                <a:gd name="T48" fmla="*/ 5 w 5"/>
                <a:gd name="T49" fmla="*/ 11 h 17"/>
                <a:gd name="T50" fmla="*/ 5 w 5"/>
                <a:gd name="T51" fmla="*/ 11 h 17"/>
                <a:gd name="T52" fmla="*/ 5 w 5"/>
                <a:gd name="T53" fmla="*/ 11 h 17"/>
                <a:gd name="T54" fmla="*/ 5 w 5"/>
                <a:gd name="T55" fmla="*/ 11 h 17"/>
                <a:gd name="T56" fmla="*/ 5 w 5"/>
                <a:gd name="T57" fmla="*/ 11 h 17"/>
                <a:gd name="T58" fmla="*/ 5 w 5"/>
                <a:gd name="T59" fmla="*/ 11 h 17"/>
                <a:gd name="T60" fmla="*/ 5 w 5"/>
                <a:gd name="T61" fmla="*/ 11 h 17"/>
                <a:gd name="T62" fmla="*/ 5 w 5"/>
                <a:gd name="T63" fmla="*/ 5 h 17"/>
                <a:gd name="T64" fmla="*/ 5 w 5"/>
                <a:gd name="T65" fmla="*/ 5 h 17"/>
                <a:gd name="T66" fmla="*/ 5 w 5"/>
                <a:gd name="T67" fmla="*/ 5 h 17"/>
                <a:gd name="T68" fmla="*/ 5 w 5"/>
                <a:gd name="T69" fmla="*/ 5 h 17"/>
                <a:gd name="T70" fmla="*/ 5 w 5"/>
                <a:gd name="T71" fmla="*/ 5 h 17"/>
                <a:gd name="T72" fmla="*/ 5 w 5"/>
                <a:gd name="T73" fmla="*/ 5 h 17"/>
                <a:gd name="T74" fmla="*/ 5 w 5"/>
                <a:gd name="T75" fmla="*/ 5 h 17"/>
                <a:gd name="T76" fmla="*/ 5 w 5"/>
                <a:gd name="T77" fmla="*/ 5 h 17"/>
                <a:gd name="T78" fmla="*/ 5 w 5"/>
                <a:gd name="T79" fmla="*/ 5 h 17"/>
                <a:gd name="T80" fmla="*/ 5 w 5"/>
                <a:gd name="T81" fmla="*/ 5 h 17"/>
                <a:gd name="T82" fmla="*/ 5 w 5"/>
                <a:gd name="T83" fmla="*/ 5 h 17"/>
                <a:gd name="T84" fmla="*/ 5 w 5"/>
                <a:gd name="T85" fmla="*/ 5 h 17"/>
                <a:gd name="T86" fmla="*/ 5 w 5"/>
                <a:gd name="T87" fmla="*/ 5 h 17"/>
                <a:gd name="T88" fmla="*/ 5 w 5"/>
                <a:gd name="T89" fmla="*/ 5 h 17"/>
                <a:gd name="T90" fmla="*/ 5 w 5"/>
                <a:gd name="T91" fmla="*/ 5 h 17"/>
                <a:gd name="T92" fmla="*/ 5 w 5"/>
                <a:gd name="T93" fmla="*/ 5 h 17"/>
                <a:gd name="T94" fmla="*/ 5 w 5"/>
                <a:gd name="T95" fmla="*/ 5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5" y="11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8" name="Freeform 45"/>
            <p:cNvSpPr>
              <a:spLocks/>
            </p:cNvSpPr>
            <p:nvPr/>
          </p:nvSpPr>
          <p:spPr bwMode="auto">
            <a:xfrm>
              <a:off x="4487" y="2948"/>
              <a:ext cx="10" cy="12"/>
            </a:xfrm>
            <a:custGeom>
              <a:avLst/>
              <a:gdLst>
                <a:gd name="T0" fmla="*/ 0 w 10"/>
                <a:gd name="T1" fmla="*/ 12 h 12"/>
                <a:gd name="T2" fmla="*/ 0 w 10"/>
                <a:gd name="T3" fmla="*/ 12 h 12"/>
                <a:gd name="T4" fmla="*/ 0 w 10"/>
                <a:gd name="T5" fmla="*/ 12 h 12"/>
                <a:gd name="T6" fmla="*/ 0 w 10"/>
                <a:gd name="T7" fmla="*/ 12 h 12"/>
                <a:gd name="T8" fmla="*/ 0 w 10"/>
                <a:gd name="T9" fmla="*/ 12 h 12"/>
                <a:gd name="T10" fmla="*/ 5 w 10"/>
                <a:gd name="T11" fmla="*/ 12 h 12"/>
                <a:gd name="T12" fmla="*/ 5 w 10"/>
                <a:gd name="T13" fmla="*/ 12 h 12"/>
                <a:gd name="T14" fmla="*/ 5 w 10"/>
                <a:gd name="T15" fmla="*/ 12 h 12"/>
                <a:gd name="T16" fmla="*/ 5 w 10"/>
                <a:gd name="T17" fmla="*/ 12 h 12"/>
                <a:gd name="T18" fmla="*/ 5 w 10"/>
                <a:gd name="T19" fmla="*/ 12 h 12"/>
                <a:gd name="T20" fmla="*/ 5 w 10"/>
                <a:gd name="T21" fmla="*/ 12 h 12"/>
                <a:gd name="T22" fmla="*/ 5 w 10"/>
                <a:gd name="T23" fmla="*/ 12 h 12"/>
                <a:gd name="T24" fmla="*/ 5 w 10"/>
                <a:gd name="T25" fmla="*/ 12 h 12"/>
                <a:gd name="T26" fmla="*/ 5 w 10"/>
                <a:gd name="T27" fmla="*/ 12 h 12"/>
                <a:gd name="T28" fmla="*/ 5 w 10"/>
                <a:gd name="T29" fmla="*/ 12 h 12"/>
                <a:gd name="T30" fmla="*/ 5 w 10"/>
                <a:gd name="T31" fmla="*/ 12 h 12"/>
                <a:gd name="T32" fmla="*/ 5 w 10"/>
                <a:gd name="T33" fmla="*/ 12 h 12"/>
                <a:gd name="T34" fmla="*/ 5 w 10"/>
                <a:gd name="T35" fmla="*/ 6 h 12"/>
                <a:gd name="T36" fmla="*/ 5 w 10"/>
                <a:gd name="T37" fmla="*/ 6 h 12"/>
                <a:gd name="T38" fmla="*/ 5 w 10"/>
                <a:gd name="T39" fmla="*/ 6 h 12"/>
                <a:gd name="T40" fmla="*/ 5 w 10"/>
                <a:gd name="T41" fmla="*/ 6 h 12"/>
                <a:gd name="T42" fmla="*/ 5 w 10"/>
                <a:gd name="T43" fmla="*/ 6 h 12"/>
                <a:gd name="T44" fmla="*/ 5 w 10"/>
                <a:gd name="T45" fmla="*/ 6 h 12"/>
                <a:gd name="T46" fmla="*/ 5 w 10"/>
                <a:gd name="T47" fmla="*/ 6 h 12"/>
                <a:gd name="T48" fmla="*/ 5 w 10"/>
                <a:gd name="T49" fmla="*/ 6 h 12"/>
                <a:gd name="T50" fmla="*/ 5 w 10"/>
                <a:gd name="T51" fmla="*/ 6 h 12"/>
                <a:gd name="T52" fmla="*/ 5 w 10"/>
                <a:gd name="T53" fmla="*/ 6 h 12"/>
                <a:gd name="T54" fmla="*/ 5 w 10"/>
                <a:gd name="T55" fmla="*/ 6 h 12"/>
                <a:gd name="T56" fmla="*/ 5 w 10"/>
                <a:gd name="T57" fmla="*/ 6 h 12"/>
                <a:gd name="T58" fmla="*/ 5 w 10"/>
                <a:gd name="T59" fmla="*/ 6 h 12"/>
                <a:gd name="T60" fmla="*/ 5 w 10"/>
                <a:gd name="T61" fmla="*/ 6 h 12"/>
                <a:gd name="T62" fmla="*/ 5 w 10"/>
                <a:gd name="T63" fmla="*/ 6 h 12"/>
                <a:gd name="T64" fmla="*/ 5 w 10"/>
                <a:gd name="T65" fmla="*/ 6 h 12"/>
                <a:gd name="T66" fmla="*/ 5 w 10"/>
                <a:gd name="T67" fmla="*/ 6 h 12"/>
                <a:gd name="T68" fmla="*/ 5 w 10"/>
                <a:gd name="T69" fmla="*/ 6 h 12"/>
                <a:gd name="T70" fmla="*/ 5 w 10"/>
                <a:gd name="T71" fmla="*/ 6 h 12"/>
                <a:gd name="T72" fmla="*/ 5 w 10"/>
                <a:gd name="T73" fmla="*/ 6 h 12"/>
                <a:gd name="T74" fmla="*/ 5 w 10"/>
                <a:gd name="T75" fmla="*/ 0 h 12"/>
                <a:gd name="T76" fmla="*/ 5 w 10"/>
                <a:gd name="T77" fmla="*/ 0 h 12"/>
                <a:gd name="T78" fmla="*/ 5 w 10"/>
                <a:gd name="T79" fmla="*/ 0 h 12"/>
                <a:gd name="T80" fmla="*/ 5 w 10"/>
                <a:gd name="T81" fmla="*/ 0 h 12"/>
                <a:gd name="T82" fmla="*/ 5 w 10"/>
                <a:gd name="T83" fmla="*/ 0 h 12"/>
                <a:gd name="T84" fmla="*/ 5 w 10"/>
                <a:gd name="T85" fmla="*/ 0 h 12"/>
                <a:gd name="T86" fmla="*/ 5 w 10"/>
                <a:gd name="T87" fmla="*/ 0 h 12"/>
                <a:gd name="T88" fmla="*/ 5 w 10"/>
                <a:gd name="T89" fmla="*/ 0 h 12"/>
                <a:gd name="T90" fmla="*/ 10 w 10"/>
                <a:gd name="T91" fmla="*/ 0 h 12"/>
                <a:gd name="T92" fmla="*/ 10 w 10"/>
                <a:gd name="T93" fmla="*/ 0 h 12"/>
                <a:gd name="T94" fmla="*/ 10 w 10"/>
                <a:gd name="T95" fmla="*/ 0 h 12"/>
                <a:gd name="T96" fmla="*/ 10 w 10"/>
                <a:gd name="T97" fmla="*/ 0 h 12"/>
                <a:gd name="T98" fmla="*/ 10 w 10"/>
                <a:gd name="T99" fmla="*/ 0 h 12"/>
                <a:gd name="T100" fmla="*/ 10 w 10"/>
                <a:gd name="T101" fmla="*/ 0 h 1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12"/>
                <a:gd name="T155" fmla="*/ 10 w 10"/>
                <a:gd name="T156" fmla="*/ 12 h 1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12">
                  <a:moveTo>
                    <a:pt x="0" y="12"/>
                  </a:moveTo>
                  <a:lnTo>
                    <a:pt x="0" y="12"/>
                  </a:lnTo>
                  <a:lnTo>
                    <a:pt x="5" y="12"/>
                  </a:lnTo>
                  <a:lnTo>
                    <a:pt x="5" y="6"/>
                  </a:lnTo>
                  <a:lnTo>
                    <a:pt x="5" y="0"/>
                  </a:lnTo>
                  <a:lnTo>
                    <a:pt x="1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9" name="Freeform 46"/>
            <p:cNvSpPr>
              <a:spLocks/>
            </p:cNvSpPr>
            <p:nvPr/>
          </p:nvSpPr>
          <p:spPr bwMode="auto">
            <a:xfrm>
              <a:off x="4497" y="2937"/>
              <a:ext cx="4" cy="11"/>
            </a:xfrm>
            <a:custGeom>
              <a:avLst/>
              <a:gdLst>
                <a:gd name="T0" fmla="*/ 0 w 4"/>
                <a:gd name="T1" fmla="*/ 11 h 11"/>
                <a:gd name="T2" fmla="*/ 0 w 4"/>
                <a:gd name="T3" fmla="*/ 11 h 11"/>
                <a:gd name="T4" fmla="*/ 0 w 4"/>
                <a:gd name="T5" fmla="*/ 11 h 11"/>
                <a:gd name="T6" fmla="*/ 0 w 4"/>
                <a:gd name="T7" fmla="*/ 11 h 11"/>
                <a:gd name="T8" fmla="*/ 0 w 4"/>
                <a:gd name="T9" fmla="*/ 11 h 11"/>
                <a:gd name="T10" fmla="*/ 0 w 4"/>
                <a:gd name="T11" fmla="*/ 11 h 11"/>
                <a:gd name="T12" fmla="*/ 0 w 4"/>
                <a:gd name="T13" fmla="*/ 11 h 11"/>
                <a:gd name="T14" fmla="*/ 0 w 4"/>
                <a:gd name="T15" fmla="*/ 11 h 11"/>
                <a:gd name="T16" fmla="*/ 0 w 4"/>
                <a:gd name="T17" fmla="*/ 11 h 11"/>
                <a:gd name="T18" fmla="*/ 0 w 4"/>
                <a:gd name="T19" fmla="*/ 6 h 11"/>
                <a:gd name="T20" fmla="*/ 0 w 4"/>
                <a:gd name="T21" fmla="*/ 6 h 11"/>
                <a:gd name="T22" fmla="*/ 0 w 4"/>
                <a:gd name="T23" fmla="*/ 6 h 11"/>
                <a:gd name="T24" fmla="*/ 0 w 4"/>
                <a:gd name="T25" fmla="*/ 6 h 11"/>
                <a:gd name="T26" fmla="*/ 0 w 4"/>
                <a:gd name="T27" fmla="*/ 6 h 11"/>
                <a:gd name="T28" fmla="*/ 0 w 4"/>
                <a:gd name="T29" fmla="*/ 6 h 11"/>
                <a:gd name="T30" fmla="*/ 0 w 4"/>
                <a:gd name="T31" fmla="*/ 6 h 11"/>
                <a:gd name="T32" fmla="*/ 0 w 4"/>
                <a:gd name="T33" fmla="*/ 6 h 11"/>
                <a:gd name="T34" fmla="*/ 0 w 4"/>
                <a:gd name="T35" fmla="*/ 6 h 11"/>
                <a:gd name="T36" fmla="*/ 0 w 4"/>
                <a:gd name="T37" fmla="*/ 6 h 11"/>
                <a:gd name="T38" fmla="*/ 0 w 4"/>
                <a:gd name="T39" fmla="*/ 6 h 11"/>
                <a:gd name="T40" fmla="*/ 0 w 4"/>
                <a:gd name="T41" fmla="*/ 6 h 11"/>
                <a:gd name="T42" fmla="*/ 0 w 4"/>
                <a:gd name="T43" fmla="*/ 6 h 11"/>
                <a:gd name="T44" fmla="*/ 0 w 4"/>
                <a:gd name="T45" fmla="*/ 6 h 11"/>
                <a:gd name="T46" fmla="*/ 0 w 4"/>
                <a:gd name="T47" fmla="*/ 6 h 11"/>
                <a:gd name="T48" fmla="*/ 0 w 4"/>
                <a:gd name="T49" fmla="*/ 6 h 11"/>
                <a:gd name="T50" fmla="*/ 0 w 4"/>
                <a:gd name="T51" fmla="*/ 6 h 11"/>
                <a:gd name="T52" fmla="*/ 0 w 4"/>
                <a:gd name="T53" fmla="*/ 6 h 11"/>
                <a:gd name="T54" fmla="*/ 0 w 4"/>
                <a:gd name="T55" fmla="*/ 6 h 11"/>
                <a:gd name="T56" fmla="*/ 0 w 4"/>
                <a:gd name="T57" fmla="*/ 6 h 11"/>
                <a:gd name="T58" fmla="*/ 0 w 4"/>
                <a:gd name="T59" fmla="*/ 6 h 11"/>
                <a:gd name="T60" fmla="*/ 0 w 4"/>
                <a:gd name="T61" fmla="*/ 6 h 11"/>
                <a:gd name="T62" fmla="*/ 0 w 4"/>
                <a:gd name="T63" fmla="*/ 6 h 11"/>
                <a:gd name="T64" fmla="*/ 0 w 4"/>
                <a:gd name="T65" fmla="*/ 6 h 11"/>
                <a:gd name="T66" fmla="*/ 0 w 4"/>
                <a:gd name="T67" fmla="*/ 0 h 11"/>
                <a:gd name="T68" fmla="*/ 0 w 4"/>
                <a:gd name="T69" fmla="*/ 0 h 11"/>
                <a:gd name="T70" fmla="*/ 0 w 4"/>
                <a:gd name="T71" fmla="*/ 0 h 11"/>
                <a:gd name="T72" fmla="*/ 4 w 4"/>
                <a:gd name="T73" fmla="*/ 0 h 11"/>
                <a:gd name="T74" fmla="*/ 4 w 4"/>
                <a:gd name="T75" fmla="*/ 0 h 11"/>
                <a:gd name="T76" fmla="*/ 4 w 4"/>
                <a:gd name="T77" fmla="*/ 0 h 11"/>
                <a:gd name="T78" fmla="*/ 4 w 4"/>
                <a:gd name="T79" fmla="*/ 0 h 11"/>
                <a:gd name="T80" fmla="*/ 4 w 4"/>
                <a:gd name="T81" fmla="*/ 0 h 11"/>
                <a:gd name="T82" fmla="*/ 4 w 4"/>
                <a:gd name="T83" fmla="*/ 0 h 11"/>
                <a:gd name="T84" fmla="*/ 4 w 4"/>
                <a:gd name="T85" fmla="*/ 0 h 11"/>
                <a:gd name="T86" fmla="*/ 4 w 4"/>
                <a:gd name="T87" fmla="*/ 0 h 11"/>
                <a:gd name="T88" fmla="*/ 4 w 4"/>
                <a:gd name="T89" fmla="*/ 0 h 11"/>
                <a:gd name="T90" fmla="*/ 4 w 4"/>
                <a:gd name="T91" fmla="*/ 0 h 11"/>
                <a:gd name="T92" fmla="*/ 4 w 4"/>
                <a:gd name="T93" fmla="*/ 0 h 11"/>
                <a:gd name="T94" fmla="*/ 4 w 4"/>
                <a:gd name="T95" fmla="*/ 0 h 11"/>
                <a:gd name="T96" fmla="*/ 4 w 4"/>
                <a:gd name="T97" fmla="*/ 0 h 11"/>
                <a:gd name="T98" fmla="*/ 4 w 4"/>
                <a:gd name="T99" fmla="*/ 0 h 11"/>
                <a:gd name="T100" fmla="*/ 4 w 4"/>
                <a:gd name="T101" fmla="*/ 0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11"/>
                <a:gd name="T155" fmla="*/ 4 w 4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11">
                  <a:moveTo>
                    <a:pt x="0" y="11"/>
                  </a:moveTo>
                  <a:lnTo>
                    <a:pt x="0" y="11"/>
                  </a:lnTo>
                  <a:lnTo>
                    <a:pt x="0" y="6"/>
                  </a:lnTo>
                  <a:lnTo>
                    <a:pt x="0" y="0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0" name="Freeform 47"/>
            <p:cNvSpPr>
              <a:spLocks/>
            </p:cNvSpPr>
            <p:nvPr/>
          </p:nvSpPr>
          <p:spPr bwMode="auto">
            <a:xfrm>
              <a:off x="4501" y="2926"/>
              <a:ext cx="5" cy="11"/>
            </a:xfrm>
            <a:custGeom>
              <a:avLst/>
              <a:gdLst>
                <a:gd name="T0" fmla="*/ 0 w 5"/>
                <a:gd name="T1" fmla="*/ 11 h 11"/>
                <a:gd name="T2" fmla="*/ 0 w 5"/>
                <a:gd name="T3" fmla="*/ 11 h 11"/>
                <a:gd name="T4" fmla="*/ 0 w 5"/>
                <a:gd name="T5" fmla="*/ 11 h 11"/>
                <a:gd name="T6" fmla="*/ 0 w 5"/>
                <a:gd name="T7" fmla="*/ 11 h 11"/>
                <a:gd name="T8" fmla="*/ 0 w 5"/>
                <a:gd name="T9" fmla="*/ 11 h 11"/>
                <a:gd name="T10" fmla="*/ 0 w 5"/>
                <a:gd name="T11" fmla="*/ 11 h 11"/>
                <a:gd name="T12" fmla="*/ 0 w 5"/>
                <a:gd name="T13" fmla="*/ 11 h 11"/>
                <a:gd name="T14" fmla="*/ 0 w 5"/>
                <a:gd name="T15" fmla="*/ 11 h 11"/>
                <a:gd name="T16" fmla="*/ 0 w 5"/>
                <a:gd name="T17" fmla="*/ 11 h 11"/>
                <a:gd name="T18" fmla="*/ 0 w 5"/>
                <a:gd name="T19" fmla="*/ 11 h 11"/>
                <a:gd name="T20" fmla="*/ 0 w 5"/>
                <a:gd name="T21" fmla="*/ 5 h 11"/>
                <a:gd name="T22" fmla="*/ 0 w 5"/>
                <a:gd name="T23" fmla="*/ 5 h 11"/>
                <a:gd name="T24" fmla="*/ 0 w 5"/>
                <a:gd name="T25" fmla="*/ 5 h 11"/>
                <a:gd name="T26" fmla="*/ 0 w 5"/>
                <a:gd name="T27" fmla="*/ 5 h 11"/>
                <a:gd name="T28" fmla="*/ 0 w 5"/>
                <a:gd name="T29" fmla="*/ 5 h 11"/>
                <a:gd name="T30" fmla="*/ 0 w 5"/>
                <a:gd name="T31" fmla="*/ 5 h 11"/>
                <a:gd name="T32" fmla="*/ 0 w 5"/>
                <a:gd name="T33" fmla="*/ 5 h 11"/>
                <a:gd name="T34" fmla="*/ 0 w 5"/>
                <a:gd name="T35" fmla="*/ 5 h 11"/>
                <a:gd name="T36" fmla="*/ 0 w 5"/>
                <a:gd name="T37" fmla="*/ 5 h 11"/>
                <a:gd name="T38" fmla="*/ 0 w 5"/>
                <a:gd name="T39" fmla="*/ 5 h 11"/>
                <a:gd name="T40" fmla="*/ 0 w 5"/>
                <a:gd name="T41" fmla="*/ 5 h 11"/>
                <a:gd name="T42" fmla="*/ 0 w 5"/>
                <a:gd name="T43" fmla="*/ 5 h 11"/>
                <a:gd name="T44" fmla="*/ 0 w 5"/>
                <a:gd name="T45" fmla="*/ 5 h 11"/>
                <a:gd name="T46" fmla="*/ 0 w 5"/>
                <a:gd name="T47" fmla="*/ 5 h 11"/>
                <a:gd name="T48" fmla="*/ 0 w 5"/>
                <a:gd name="T49" fmla="*/ 5 h 11"/>
                <a:gd name="T50" fmla="*/ 0 w 5"/>
                <a:gd name="T51" fmla="*/ 5 h 11"/>
                <a:gd name="T52" fmla="*/ 5 w 5"/>
                <a:gd name="T53" fmla="*/ 5 h 11"/>
                <a:gd name="T54" fmla="*/ 5 w 5"/>
                <a:gd name="T55" fmla="*/ 5 h 11"/>
                <a:gd name="T56" fmla="*/ 5 w 5"/>
                <a:gd name="T57" fmla="*/ 5 h 11"/>
                <a:gd name="T58" fmla="*/ 5 w 5"/>
                <a:gd name="T59" fmla="*/ 5 h 11"/>
                <a:gd name="T60" fmla="*/ 5 w 5"/>
                <a:gd name="T61" fmla="*/ 5 h 11"/>
                <a:gd name="T62" fmla="*/ 5 w 5"/>
                <a:gd name="T63" fmla="*/ 5 h 11"/>
                <a:gd name="T64" fmla="*/ 5 w 5"/>
                <a:gd name="T65" fmla="*/ 5 h 11"/>
                <a:gd name="T66" fmla="*/ 5 w 5"/>
                <a:gd name="T67" fmla="*/ 5 h 11"/>
                <a:gd name="T68" fmla="*/ 5 w 5"/>
                <a:gd name="T69" fmla="*/ 5 h 11"/>
                <a:gd name="T70" fmla="*/ 5 w 5"/>
                <a:gd name="T71" fmla="*/ 5 h 11"/>
                <a:gd name="T72" fmla="*/ 5 w 5"/>
                <a:gd name="T73" fmla="*/ 5 h 11"/>
                <a:gd name="T74" fmla="*/ 5 w 5"/>
                <a:gd name="T75" fmla="*/ 5 h 11"/>
                <a:gd name="T76" fmla="*/ 5 w 5"/>
                <a:gd name="T77" fmla="*/ 5 h 11"/>
                <a:gd name="T78" fmla="*/ 5 w 5"/>
                <a:gd name="T79" fmla="*/ 5 h 11"/>
                <a:gd name="T80" fmla="*/ 5 w 5"/>
                <a:gd name="T81" fmla="*/ 5 h 11"/>
                <a:gd name="T82" fmla="*/ 5 w 5"/>
                <a:gd name="T83" fmla="*/ 5 h 11"/>
                <a:gd name="T84" fmla="*/ 5 w 5"/>
                <a:gd name="T85" fmla="*/ 0 h 11"/>
                <a:gd name="T86" fmla="*/ 5 w 5"/>
                <a:gd name="T87" fmla="*/ 0 h 11"/>
                <a:gd name="T88" fmla="*/ 5 w 5"/>
                <a:gd name="T89" fmla="*/ 0 h 11"/>
                <a:gd name="T90" fmla="*/ 5 w 5"/>
                <a:gd name="T91" fmla="*/ 0 h 11"/>
                <a:gd name="T92" fmla="*/ 5 w 5"/>
                <a:gd name="T93" fmla="*/ 0 h 11"/>
                <a:gd name="T94" fmla="*/ 5 w 5"/>
                <a:gd name="T95" fmla="*/ 0 h 11"/>
                <a:gd name="T96" fmla="*/ 5 w 5"/>
                <a:gd name="T97" fmla="*/ 0 h 11"/>
                <a:gd name="T98" fmla="*/ 5 w 5"/>
                <a:gd name="T99" fmla="*/ 0 h 11"/>
                <a:gd name="T100" fmla="*/ 5 w 5"/>
                <a:gd name="T101" fmla="*/ 0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1"/>
                <a:gd name="T155" fmla="*/ 5 w 5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1">
                  <a:moveTo>
                    <a:pt x="0" y="11"/>
                  </a:moveTo>
                  <a:lnTo>
                    <a:pt x="0" y="11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1" name="Freeform 48"/>
            <p:cNvSpPr>
              <a:spLocks/>
            </p:cNvSpPr>
            <p:nvPr/>
          </p:nvSpPr>
          <p:spPr bwMode="auto">
            <a:xfrm>
              <a:off x="4506" y="2920"/>
              <a:ext cx="5" cy="6"/>
            </a:xfrm>
            <a:custGeom>
              <a:avLst/>
              <a:gdLst>
                <a:gd name="T0" fmla="*/ 0 w 5"/>
                <a:gd name="T1" fmla="*/ 6 h 6"/>
                <a:gd name="T2" fmla="*/ 0 w 5"/>
                <a:gd name="T3" fmla="*/ 6 h 6"/>
                <a:gd name="T4" fmla="*/ 0 w 5"/>
                <a:gd name="T5" fmla="*/ 6 h 6"/>
                <a:gd name="T6" fmla="*/ 0 w 5"/>
                <a:gd name="T7" fmla="*/ 6 h 6"/>
                <a:gd name="T8" fmla="*/ 0 w 5"/>
                <a:gd name="T9" fmla="*/ 6 h 6"/>
                <a:gd name="T10" fmla="*/ 0 w 5"/>
                <a:gd name="T11" fmla="*/ 6 h 6"/>
                <a:gd name="T12" fmla="*/ 0 w 5"/>
                <a:gd name="T13" fmla="*/ 6 h 6"/>
                <a:gd name="T14" fmla="*/ 0 w 5"/>
                <a:gd name="T15" fmla="*/ 6 h 6"/>
                <a:gd name="T16" fmla="*/ 0 w 5"/>
                <a:gd name="T17" fmla="*/ 6 h 6"/>
                <a:gd name="T18" fmla="*/ 0 w 5"/>
                <a:gd name="T19" fmla="*/ 6 h 6"/>
                <a:gd name="T20" fmla="*/ 0 w 5"/>
                <a:gd name="T21" fmla="*/ 6 h 6"/>
                <a:gd name="T22" fmla="*/ 0 w 5"/>
                <a:gd name="T23" fmla="*/ 6 h 6"/>
                <a:gd name="T24" fmla="*/ 0 w 5"/>
                <a:gd name="T25" fmla="*/ 6 h 6"/>
                <a:gd name="T26" fmla="*/ 0 w 5"/>
                <a:gd name="T27" fmla="*/ 6 h 6"/>
                <a:gd name="T28" fmla="*/ 0 w 5"/>
                <a:gd name="T29" fmla="*/ 6 h 6"/>
                <a:gd name="T30" fmla="*/ 0 w 5"/>
                <a:gd name="T31" fmla="*/ 6 h 6"/>
                <a:gd name="T32" fmla="*/ 0 w 5"/>
                <a:gd name="T33" fmla="*/ 6 h 6"/>
                <a:gd name="T34" fmla="*/ 5 w 5"/>
                <a:gd name="T35" fmla="*/ 6 h 6"/>
                <a:gd name="T36" fmla="*/ 5 w 5"/>
                <a:gd name="T37" fmla="*/ 6 h 6"/>
                <a:gd name="T38" fmla="*/ 5 w 5"/>
                <a:gd name="T39" fmla="*/ 6 h 6"/>
                <a:gd name="T40" fmla="*/ 5 w 5"/>
                <a:gd name="T41" fmla="*/ 6 h 6"/>
                <a:gd name="T42" fmla="*/ 5 w 5"/>
                <a:gd name="T43" fmla="*/ 6 h 6"/>
                <a:gd name="T44" fmla="*/ 5 w 5"/>
                <a:gd name="T45" fmla="*/ 6 h 6"/>
                <a:gd name="T46" fmla="*/ 5 w 5"/>
                <a:gd name="T47" fmla="*/ 6 h 6"/>
                <a:gd name="T48" fmla="*/ 5 w 5"/>
                <a:gd name="T49" fmla="*/ 6 h 6"/>
                <a:gd name="T50" fmla="*/ 5 w 5"/>
                <a:gd name="T51" fmla="*/ 6 h 6"/>
                <a:gd name="T52" fmla="*/ 5 w 5"/>
                <a:gd name="T53" fmla="*/ 6 h 6"/>
                <a:gd name="T54" fmla="*/ 5 w 5"/>
                <a:gd name="T55" fmla="*/ 6 h 6"/>
                <a:gd name="T56" fmla="*/ 5 w 5"/>
                <a:gd name="T57" fmla="*/ 6 h 6"/>
                <a:gd name="T58" fmla="*/ 5 w 5"/>
                <a:gd name="T59" fmla="*/ 6 h 6"/>
                <a:gd name="T60" fmla="*/ 5 w 5"/>
                <a:gd name="T61" fmla="*/ 6 h 6"/>
                <a:gd name="T62" fmla="*/ 5 w 5"/>
                <a:gd name="T63" fmla="*/ 6 h 6"/>
                <a:gd name="T64" fmla="*/ 5 w 5"/>
                <a:gd name="T65" fmla="*/ 6 h 6"/>
                <a:gd name="T66" fmla="*/ 5 w 5"/>
                <a:gd name="T67" fmla="*/ 0 h 6"/>
                <a:gd name="T68" fmla="*/ 5 w 5"/>
                <a:gd name="T69" fmla="*/ 0 h 6"/>
                <a:gd name="T70" fmla="*/ 5 w 5"/>
                <a:gd name="T71" fmla="*/ 0 h 6"/>
                <a:gd name="T72" fmla="*/ 5 w 5"/>
                <a:gd name="T73" fmla="*/ 0 h 6"/>
                <a:gd name="T74" fmla="*/ 5 w 5"/>
                <a:gd name="T75" fmla="*/ 0 h 6"/>
                <a:gd name="T76" fmla="*/ 5 w 5"/>
                <a:gd name="T77" fmla="*/ 0 h 6"/>
                <a:gd name="T78" fmla="*/ 5 w 5"/>
                <a:gd name="T79" fmla="*/ 0 h 6"/>
                <a:gd name="T80" fmla="*/ 5 w 5"/>
                <a:gd name="T81" fmla="*/ 0 h 6"/>
                <a:gd name="T82" fmla="*/ 5 w 5"/>
                <a:gd name="T83" fmla="*/ 0 h 6"/>
                <a:gd name="T84" fmla="*/ 5 w 5"/>
                <a:gd name="T85" fmla="*/ 0 h 6"/>
                <a:gd name="T86" fmla="*/ 5 w 5"/>
                <a:gd name="T87" fmla="*/ 0 h 6"/>
                <a:gd name="T88" fmla="*/ 5 w 5"/>
                <a:gd name="T89" fmla="*/ 0 h 6"/>
                <a:gd name="T90" fmla="*/ 5 w 5"/>
                <a:gd name="T91" fmla="*/ 0 h 6"/>
                <a:gd name="T92" fmla="*/ 5 w 5"/>
                <a:gd name="T93" fmla="*/ 0 h 6"/>
                <a:gd name="T94" fmla="*/ 5 w 5"/>
                <a:gd name="T95" fmla="*/ 0 h 6"/>
                <a:gd name="T96" fmla="*/ 5 w 5"/>
                <a:gd name="T97" fmla="*/ 0 h 6"/>
                <a:gd name="T98" fmla="*/ 5 w 5"/>
                <a:gd name="T99" fmla="*/ 0 h 6"/>
                <a:gd name="T100" fmla="*/ 5 w 5"/>
                <a:gd name="T101" fmla="*/ 0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6"/>
                <a:gd name="T155" fmla="*/ 5 w 5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6">
                  <a:moveTo>
                    <a:pt x="0" y="6"/>
                  </a:move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2" name="Freeform 49"/>
            <p:cNvSpPr>
              <a:spLocks/>
            </p:cNvSpPr>
            <p:nvPr/>
          </p:nvSpPr>
          <p:spPr bwMode="auto">
            <a:xfrm>
              <a:off x="4511" y="2920"/>
              <a:ext cx="9" cy="1"/>
            </a:xfrm>
            <a:custGeom>
              <a:avLst/>
              <a:gdLst>
                <a:gd name="T0" fmla="*/ 0 w 9"/>
                <a:gd name="T1" fmla="*/ 0 h 1"/>
                <a:gd name="T2" fmla="*/ 0 w 9"/>
                <a:gd name="T3" fmla="*/ 0 h 1"/>
                <a:gd name="T4" fmla="*/ 0 w 9"/>
                <a:gd name="T5" fmla="*/ 0 h 1"/>
                <a:gd name="T6" fmla="*/ 0 w 9"/>
                <a:gd name="T7" fmla="*/ 0 h 1"/>
                <a:gd name="T8" fmla="*/ 0 w 9"/>
                <a:gd name="T9" fmla="*/ 0 h 1"/>
                <a:gd name="T10" fmla="*/ 0 w 9"/>
                <a:gd name="T11" fmla="*/ 0 h 1"/>
                <a:gd name="T12" fmla="*/ 0 w 9"/>
                <a:gd name="T13" fmla="*/ 0 h 1"/>
                <a:gd name="T14" fmla="*/ 5 w 9"/>
                <a:gd name="T15" fmla="*/ 0 h 1"/>
                <a:gd name="T16" fmla="*/ 5 w 9"/>
                <a:gd name="T17" fmla="*/ 0 h 1"/>
                <a:gd name="T18" fmla="*/ 5 w 9"/>
                <a:gd name="T19" fmla="*/ 0 h 1"/>
                <a:gd name="T20" fmla="*/ 5 w 9"/>
                <a:gd name="T21" fmla="*/ 0 h 1"/>
                <a:gd name="T22" fmla="*/ 5 w 9"/>
                <a:gd name="T23" fmla="*/ 0 h 1"/>
                <a:gd name="T24" fmla="*/ 5 w 9"/>
                <a:gd name="T25" fmla="*/ 0 h 1"/>
                <a:gd name="T26" fmla="*/ 5 w 9"/>
                <a:gd name="T27" fmla="*/ 0 h 1"/>
                <a:gd name="T28" fmla="*/ 5 w 9"/>
                <a:gd name="T29" fmla="*/ 0 h 1"/>
                <a:gd name="T30" fmla="*/ 5 w 9"/>
                <a:gd name="T31" fmla="*/ 0 h 1"/>
                <a:gd name="T32" fmla="*/ 5 w 9"/>
                <a:gd name="T33" fmla="*/ 0 h 1"/>
                <a:gd name="T34" fmla="*/ 5 w 9"/>
                <a:gd name="T35" fmla="*/ 0 h 1"/>
                <a:gd name="T36" fmla="*/ 5 w 9"/>
                <a:gd name="T37" fmla="*/ 0 h 1"/>
                <a:gd name="T38" fmla="*/ 5 w 9"/>
                <a:gd name="T39" fmla="*/ 0 h 1"/>
                <a:gd name="T40" fmla="*/ 5 w 9"/>
                <a:gd name="T41" fmla="*/ 0 h 1"/>
                <a:gd name="T42" fmla="*/ 5 w 9"/>
                <a:gd name="T43" fmla="*/ 0 h 1"/>
                <a:gd name="T44" fmla="*/ 5 w 9"/>
                <a:gd name="T45" fmla="*/ 0 h 1"/>
                <a:gd name="T46" fmla="*/ 5 w 9"/>
                <a:gd name="T47" fmla="*/ 0 h 1"/>
                <a:gd name="T48" fmla="*/ 5 w 9"/>
                <a:gd name="T49" fmla="*/ 0 h 1"/>
                <a:gd name="T50" fmla="*/ 5 w 9"/>
                <a:gd name="T51" fmla="*/ 0 h 1"/>
                <a:gd name="T52" fmla="*/ 5 w 9"/>
                <a:gd name="T53" fmla="*/ 0 h 1"/>
                <a:gd name="T54" fmla="*/ 5 w 9"/>
                <a:gd name="T55" fmla="*/ 0 h 1"/>
                <a:gd name="T56" fmla="*/ 5 w 9"/>
                <a:gd name="T57" fmla="*/ 0 h 1"/>
                <a:gd name="T58" fmla="*/ 5 w 9"/>
                <a:gd name="T59" fmla="*/ 0 h 1"/>
                <a:gd name="T60" fmla="*/ 5 w 9"/>
                <a:gd name="T61" fmla="*/ 0 h 1"/>
                <a:gd name="T62" fmla="*/ 5 w 9"/>
                <a:gd name="T63" fmla="*/ 0 h 1"/>
                <a:gd name="T64" fmla="*/ 5 w 9"/>
                <a:gd name="T65" fmla="*/ 0 h 1"/>
                <a:gd name="T66" fmla="*/ 5 w 9"/>
                <a:gd name="T67" fmla="*/ 0 h 1"/>
                <a:gd name="T68" fmla="*/ 5 w 9"/>
                <a:gd name="T69" fmla="*/ 0 h 1"/>
                <a:gd name="T70" fmla="*/ 5 w 9"/>
                <a:gd name="T71" fmla="*/ 0 h 1"/>
                <a:gd name="T72" fmla="*/ 5 w 9"/>
                <a:gd name="T73" fmla="*/ 0 h 1"/>
                <a:gd name="T74" fmla="*/ 5 w 9"/>
                <a:gd name="T75" fmla="*/ 0 h 1"/>
                <a:gd name="T76" fmla="*/ 5 w 9"/>
                <a:gd name="T77" fmla="*/ 0 h 1"/>
                <a:gd name="T78" fmla="*/ 5 w 9"/>
                <a:gd name="T79" fmla="*/ 0 h 1"/>
                <a:gd name="T80" fmla="*/ 5 w 9"/>
                <a:gd name="T81" fmla="*/ 0 h 1"/>
                <a:gd name="T82" fmla="*/ 5 w 9"/>
                <a:gd name="T83" fmla="*/ 0 h 1"/>
                <a:gd name="T84" fmla="*/ 5 w 9"/>
                <a:gd name="T85" fmla="*/ 0 h 1"/>
                <a:gd name="T86" fmla="*/ 5 w 9"/>
                <a:gd name="T87" fmla="*/ 0 h 1"/>
                <a:gd name="T88" fmla="*/ 5 w 9"/>
                <a:gd name="T89" fmla="*/ 0 h 1"/>
                <a:gd name="T90" fmla="*/ 5 w 9"/>
                <a:gd name="T91" fmla="*/ 0 h 1"/>
                <a:gd name="T92" fmla="*/ 5 w 9"/>
                <a:gd name="T93" fmla="*/ 0 h 1"/>
                <a:gd name="T94" fmla="*/ 5 w 9"/>
                <a:gd name="T95" fmla="*/ 0 h 1"/>
                <a:gd name="T96" fmla="*/ 9 w 9"/>
                <a:gd name="T97" fmla="*/ 0 h 1"/>
                <a:gd name="T98" fmla="*/ 9 w 9"/>
                <a:gd name="T99" fmla="*/ 0 h 1"/>
                <a:gd name="T100" fmla="*/ 9 w 9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"/>
                <a:gd name="T155" fmla="*/ 9 w 9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3" name="Freeform 50"/>
            <p:cNvSpPr>
              <a:spLocks/>
            </p:cNvSpPr>
            <p:nvPr/>
          </p:nvSpPr>
          <p:spPr bwMode="auto">
            <a:xfrm>
              <a:off x="4520" y="2920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"/>
                <a:gd name="T148" fmla="*/ 0 h 1"/>
                <a:gd name="T149" fmla="*/ 1 w 1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4" name="Freeform 51"/>
            <p:cNvSpPr>
              <a:spLocks/>
            </p:cNvSpPr>
            <p:nvPr/>
          </p:nvSpPr>
          <p:spPr bwMode="auto">
            <a:xfrm>
              <a:off x="4520" y="2920"/>
              <a:ext cx="5" cy="1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0 w 5"/>
                <a:gd name="T5" fmla="*/ 0 h 1"/>
                <a:gd name="T6" fmla="*/ 0 w 5"/>
                <a:gd name="T7" fmla="*/ 0 h 1"/>
                <a:gd name="T8" fmla="*/ 0 w 5"/>
                <a:gd name="T9" fmla="*/ 0 h 1"/>
                <a:gd name="T10" fmla="*/ 0 w 5"/>
                <a:gd name="T11" fmla="*/ 0 h 1"/>
                <a:gd name="T12" fmla="*/ 0 w 5"/>
                <a:gd name="T13" fmla="*/ 0 h 1"/>
                <a:gd name="T14" fmla="*/ 0 w 5"/>
                <a:gd name="T15" fmla="*/ 0 h 1"/>
                <a:gd name="T16" fmla="*/ 0 w 5"/>
                <a:gd name="T17" fmla="*/ 0 h 1"/>
                <a:gd name="T18" fmla="*/ 0 w 5"/>
                <a:gd name="T19" fmla="*/ 0 h 1"/>
                <a:gd name="T20" fmla="*/ 0 w 5"/>
                <a:gd name="T21" fmla="*/ 0 h 1"/>
                <a:gd name="T22" fmla="*/ 0 w 5"/>
                <a:gd name="T23" fmla="*/ 0 h 1"/>
                <a:gd name="T24" fmla="*/ 5 w 5"/>
                <a:gd name="T25" fmla="*/ 0 h 1"/>
                <a:gd name="T26" fmla="*/ 5 w 5"/>
                <a:gd name="T27" fmla="*/ 0 h 1"/>
                <a:gd name="T28" fmla="*/ 5 w 5"/>
                <a:gd name="T29" fmla="*/ 0 h 1"/>
                <a:gd name="T30" fmla="*/ 5 w 5"/>
                <a:gd name="T31" fmla="*/ 0 h 1"/>
                <a:gd name="T32" fmla="*/ 5 w 5"/>
                <a:gd name="T33" fmla="*/ 0 h 1"/>
                <a:gd name="T34" fmla="*/ 5 w 5"/>
                <a:gd name="T35" fmla="*/ 0 h 1"/>
                <a:gd name="T36" fmla="*/ 5 w 5"/>
                <a:gd name="T37" fmla="*/ 0 h 1"/>
                <a:gd name="T38" fmla="*/ 5 w 5"/>
                <a:gd name="T39" fmla="*/ 0 h 1"/>
                <a:gd name="T40" fmla="*/ 5 w 5"/>
                <a:gd name="T41" fmla="*/ 0 h 1"/>
                <a:gd name="T42" fmla="*/ 5 w 5"/>
                <a:gd name="T43" fmla="*/ 0 h 1"/>
                <a:gd name="T44" fmla="*/ 5 w 5"/>
                <a:gd name="T45" fmla="*/ 0 h 1"/>
                <a:gd name="T46" fmla="*/ 5 w 5"/>
                <a:gd name="T47" fmla="*/ 0 h 1"/>
                <a:gd name="T48" fmla="*/ 5 w 5"/>
                <a:gd name="T49" fmla="*/ 0 h 1"/>
                <a:gd name="T50" fmla="*/ 5 w 5"/>
                <a:gd name="T51" fmla="*/ 0 h 1"/>
                <a:gd name="T52" fmla="*/ 5 w 5"/>
                <a:gd name="T53" fmla="*/ 0 h 1"/>
                <a:gd name="T54" fmla="*/ 5 w 5"/>
                <a:gd name="T55" fmla="*/ 0 h 1"/>
                <a:gd name="T56" fmla="*/ 5 w 5"/>
                <a:gd name="T57" fmla="*/ 0 h 1"/>
                <a:gd name="T58" fmla="*/ 5 w 5"/>
                <a:gd name="T59" fmla="*/ 0 h 1"/>
                <a:gd name="T60" fmla="*/ 5 w 5"/>
                <a:gd name="T61" fmla="*/ 0 h 1"/>
                <a:gd name="T62" fmla="*/ 5 w 5"/>
                <a:gd name="T63" fmla="*/ 0 h 1"/>
                <a:gd name="T64" fmla="*/ 5 w 5"/>
                <a:gd name="T65" fmla="*/ 0 h 1"/>
                <a:gd name="T66" fmla="*/ 5 w 5"/>
                <a:gd name="T67" fmla="*/ 0 h 1"/>
                <a:gd name="T68" fmla="*/ 5 w 5"/>
                <a:gd name="T69" fmla="*/ 0 h 1"/>
                <a:gd name="T70" fmla="*/ 5 w 5"/>
                <a:gd name="T71" fmla="*/ 0 h 1"/>
                <a:gd name="T72" fmla="*/ 5 w 5"/>
                <a:gd name="T73" fmla="*/ 0 h 1"/>
                <a:gd name="T74" fmla="*/ 5 w 5"/>
                <a:gd name="T75" fmla="*/ 0 h 1"/>
                <a:gd name="T76" fmla="*/ 5 w 5"/>
                <a:gd name="T77" fmla="*/ 0 h 1"/>
                <a:gd name="T78" fmla="*/ 5 w 5"/>
                <a:gd name="T79" fmla="*/ 0 h 1"/>
                <a:gd name="T80" fmla="*/ 5 w 5"/>
                <a:gd name="T81" fmla="*/ 0 h 1"/>
                <a:gd name="T82" fmla="*/ 5 w 5"/>
                <a:gd name="T83" fmla="*/ 0 h 1"/>
                <a:gd name="T84" fmla="*/ 5 w 5"/>
                <a:gd name="T85" fmla="*/ 0 h 1"/>
                <a:gd name="T86" fmla="*/ 5 w 5"/>
                <a:gd name="T87" fmla="*/ 0 h 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"/>
                <a:gd name="T133" fmla="*/ 0 h 1"/>
                <a:gd name="T134" fmla="*/ 5 w 5"/>
                <a:gd name="T135" fmla="*/ 1 h 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5" name="Freeform 52"/>
            <p:cNvSpPr>
              <a:spLocks/>
            </p:cNvSpPr>
            <p:nvPr/>
          </p:nvSpPr>
          <p:spPr bwMode="auto">
            <a:xfrm>
              <a:off x="4525" y="2920"/>
              <a:ext cx="10" cy="1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0 w 10"/>
                <a:gd name="T5" fmla="*/ 0 h 1"/>
                <a:gd name="T6" fmla="*/ 0 w 10"/>
                <a:gd name="T7" fmla="*/ 0 h 1"/>
                <a:gd name="T8" fmla="*/ 0 w 10"/>
                <a:gd name="T9" fmla="*/ 0 h 1"/>
                <a:gd name="T10" fmla="*/ 0 w 10"/>
                <a:gd name="T11" fmla="*/ 0 h 1"/>
                <a:gd name="T12" fmla="*/ 0 w 10"/>
                <a:gd name="T13" fmla="*/ 0 h 1"/>
                <a:gd name="T14" fmla="*/ 0 w 10"/>
                <a:gd name="T15" fmla="*/ 0 h 1"/>
                <a:gd name="T16" fmla="*/ 0 w 10"/>
                <a:gd name="T17" fmla="*/ 0 h 1"/>
                <a:gd name="T18" fmla="*/ 5 w 10"/>
                <a:gd name="T19" fmla="*/ 0 h 1"/>
                <a:gd name="T20" fmla="*/ 5 w 10"/>
                <a:gd name="T21" fmla="*/ 0 h 1"/>
                <a:gd name="T22" fmla="*/ 5 w 10"/>
                <a:gd name="T23" fmla="*/ 0 h 1"/>
                <a:gd name="T24" fmla="*/ 5 w 10"/>
                <a:gd name="T25" fmla="*/ 0 h 1"/>
                <a:gd name="T26" fmla="*/ 5 w 10"/>
                <a:gd name="T27" fmla="*/ 0 h 1"/>
                <a:gd name="T28" fmla="*/ 5 w 10"/>
                <a:gd name="T29" fmla="*/ 0 h 1"/>
                <a:gd name="T30" fmla="*/ 5 w 10"/>
                <a:gd name="T31" fmla="*/ 0 h 1"/>
                <a:gd name="T32" fmla="*/ 5 w 10"/>
                <a:gd name="T33" fmla="*/ 0 h 1"/>
                <a:gd name="T34" fmla="*/ 5 w 10"/>
                <a:gd name="T35" fmla="*/ 0 h 1"/>
                <a:gd name="T36" fmla="*/ 5 w 10"/>
                <a:gd name="T37" fmla="*/ 0 h 1"/>
                <a:gd name="T38" fmla="*/ 5 w 10"/>
                <a:gd name="T39" fmla="*/ 0 h 1"/>
                <a:gd name="T40" fmla="*/ 5 w 10"/>
                <a:gd name="T41" fmla="*/ 0 h 1"/>
                <a:gd name="T42" fmla="*/ 5 w 10"/>
                <a:gd name="T43" fmla="*/ 0 h 1"/>
                <a:gd name="T44" fmla="*/ 5 w 10"/>
                <a:gd name="T45" fmla="*/ 0 h 1"/>
                <a:gd name="T46" fmla="*/ 5 w 10"/>
                <a:gd name="T47" fmla="*/ 0 h 1"/>
                <a:gd name="T48" fmla="*/ 5 w 10"/>
                <a:gd name="T49" fmla="*/ 0 h 1"/>
                <a:gd name="T50" fmla="*/ 5 w 10"/>
                <a:gd name="T51" fmla="*/ 0 h 1"/>
                <a:gd name="T52" fmla="*/ 5 w 10"/>
                <a:gd name="T53" fmla="*/ 0 h 1"/>
                <a:gd name="T54" fmla="*/ 5 w 10"/>
                <a:gd name="T55" fmla="*/ 0 h 1"/>
                <a:gd name="T56" fmla="*/ 5 w 10"/>
                <a:gd name="T57" fmla="*/ 0 h 1"/>
                <a:gd name="T58" fmla="*/ 5 w 10"/>
                <a:gd name="T59" fmla="*/ 0 h 1"/>
                <a:gd name="T60" fmla="*/ 5 w 10"/>
                <a:gd name="T61" fmla="*/ 0 h 1"/>
                <a:gd name="T62" fmla="*/ 5 w 10"/>
                <a:gd name="T63" fmla="*/ 0 h 1"/>
                <a:gd name="T64" fmla="*/ 5 w 10"/>
                <a:gd name="T65" fmla="*/ 0 h 1"/>
                <a:gd name="T66" fmla="*/ 5 w 10"/>
                <a:gd name="T67" fmla="*/ 0 h 1"/>
                <a:gd name="T68" fmla="*/ 5 w 10"/>
                <a:gd name="T69" fmla="*/ 0 h 1"/>
                <a:gd name="T70" fmla="*/ 5 w 10"/>
                <a:gd name="T71" fmla="*/ 0 h 1"/>
                <a:gd name="T72" fmla="*/ 5 w 10"/>
                <a:gd name="T73" fmla="*/ 0 h 1"/>
                <a:gd name="T74" fmla="*/ 5 w 10"/>
                <a:gd name="T75" fmla="*/ 0 h 1"/>
                <a:gd name="T76" fmla="*/ 5 w 10"/>
                <a:gd name="T77" fmla="*/ 0 h 1"/>
                <a:gd name="T78" fmla="*/ 5 w 10"/>
                <a:gd name="T79" fmla="*/ 0 h 1"/>
                <a:gd name="T80" fmla="*/ 5 w 10"/>
                <a:gd name="T81" fmla="*/ 0 h 1"/>
                <a:gd name="T82" fmla="*/ 5 w 10"/>
                <a:gd name="T83" fmla="*/ 0 h 1"/>
                <a:gd name="T84" fmla="*/ 5 w 10"/>
                <a:gd name="T85" fmla="*/ 0 h 1"/>
                <a:gd name="T86" fmla="*/ 5 w 10"/>
                <a:gd name="T87" fmla="*/ 0 h 1"/>
                <a:gd name="T88" fmla="*/ 5 w 10"/>
                <a:gd name="T89" fmla="*/ 0 h 1"/>
                <a:gd name="T90" fmla="*/ 5 w 10"/>
                <a:gd name="T91" fmla="*/ 0 h 1"/>
                <a:gd name="T92" fmla="*/ 5 w 10"/>
                <a:gd name="T93" fmla="*/ 0 h 1"/>
                <a:gd name="T94" fmla="*/ 5 w 10"/>
                <a:gd name="T95" fmla="*/ 0 h 1"/>
                <a:gd name="T96" fmla="*/ 5 w 10"/>
                <a:gd name="T97" fmla="*/ 0 h 1"/>
                <a:gd name="T98" fmla="*/ 10 w 10"/>
                <a:gd name="T99" fmla="*/ 0 h 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0"/>
                <a:gd name="T151" fmla="*/ 0 h 1"/>
                <a:gd name="T152" fmla="*/ 10 w 10"/>
                <a:gd name="T153" fmla="*/ 1 h 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1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6" name="Freeform 53"/>
            <p:cNvSpPr>
              <a:spLocks/>
            </p:cNvSpPr>
            <p:nvPr/>
          </p:nvSpPr>
          <p:spPr bwMode="auto">
            <a:xfrm>
              <a:off x="4535" y="2920"/>
              <a:ext cx="4" cy="11"/>
            </a:xfrm>
            <a:custGeom>
              <a:avLst/>
              <a:gdLst>
                <a:gd name="T0" fmla="*/ 0 w 4"/>
                <a:gd name="T1" fmla="*/ 0 h 11"/>
                <a:gd name="T2" fmla="*/ 0 w 4"/>
                <a:gd name="T3" fmla="*/ 6 h 11"/>
                <a:gd name="T4" fmla="*/ 0 w 4"/>
                <a:gd name="T5" fmla="*/ 6 h 11"/>
                <a:gd name="T6" fmla="*/ 0 w 4"/>
                <a:gd name="T7" fmla="*/ 6 h 11"/>
                <a:gd name="T8" fmla="*/ 0 w 4"/>
                <a:gd name="T9" fmla="*/ 6 h 11"/>
                <a:gd name="T10" fmla="*/ 0 w 4"/>
                <a:gd name="T11" fmla="*/ 6 h 11"/>
                <a:gd name="T12" fmla="*/ 0 w 4"/>
                <a:gd name="T13" fmla="*/ 6 h 11"/>
                <a:gd name="T14" fmla="*/ 0 w 4"/>
                <a:gd name="T15" fmla="*/ 6 h 11"/>
                <a:gd name="T16" fmla="*/ 0 w 4"/>
                <a:gd name="T17" fmla="*/ 6 h 11"/>
                <a:gd name="T18" fmla="*/ 0 w 4"/>
                <a:gd name="T19" fmla="*/ 6 h 11"/>
                <a:gd name="T20" fmla="*/ 0 w 4"/>
                <a:gd name="T21" fmla="*/ 6 h 11"/>
                <a:gd name="T22" fmla="*/ 0 w 4"/>
                <a:gd name="T23" fmla="*/ 6 h 11"/>
                <a:gd name="T24" fmla="*/ 0 w 4"/>
                <a:gd name="T25" fmla="*/ 6 h 11"/>
                <a:gd name="T26" fmla="*/ 0 w 4"/>
                <a:gd name="T27" fmla="*/ 6 h 11"/>
                <a:gd name="T28" fmla="*/ 0 w 4"/>
                <a:gd name="T29" fmla="*/ 6 h 11"/>
                <a:gd name="T30" fmla="*/ 0 w 4"/>
                <a:gd name="T31" fmla="*/ 6 h 11"/>
                <a:gd name="T32" fmla="*/ 0 w 4"/>
                <a:gd name="T33" fmla="*/ 6 h 11"/>
                <a:gd name="T34" fmla="*/ 0 w 4"/>
                <a:gd name="T35" fmla="*/ 6 h 11"/>
                <a:gd name="T36" fmla="*/ 0 w 4"/>
                <a:gd name="T37" fmla="*/ 6 h 11"/>
                <a:gd name="T38" fmla="*/ 0 w 4"/>
                <a:gd name="T39" fmla="*/ 6 h 11"/>
                <a:gd name="T40" fmla="*/ 0 w 4"/>
                <a:gd name="T41" fmla="*/ 6 h 11"/>
                <a:gd name="T42" fmla="*/ 0 w 4"/>
                <a:gd name="T43" fmla="*/ 6 h 11"/>
                <a:gd name="T44" fmla="*/ 0 w 4"/>
                <a:gd name="T45" fmla="*/ 6 h 11"/>
                <a:gd name="T46" fmla="*/ 0 w 4"/>
                <a:gd name="T47" fmla="*/ 6 h 11"/>
                <a:gd name="T48" fmla="*/ 0 w 4"/>
                <a:gd name="T49" fmla="*/ 6 h 11"/>
                <a:gd name="T50" fmla="*/ 0 w 4"/>
                <a:gd name="T51" fmla="*/ 6 h 11"/>
                <a:gd name="T52" fmla="*/ 0 w 4"/>
                <a:gd name="T53" fmla="*/ 6 h 11"/>
                <a:gd name="T54" fmla="*/ 0 w 4"/>
                <a:gd name="T55" fmla="*/ 6 h 11"/>
                <a:gd name="T56" fmla="*/ 0 w 4"/>
                <a:gd name="T57" fmla="*/ 6 h 11"/>
                <a:gd name="T58" fmla="*/ 0 w 4"/>
                <a:gd name="T59" fmla="*/ 6 h 11"/>
                <a:gd name="T60" fmla="*/ 0 w 4"/>
                <a:gd name="T61" fmla="*/ 6 h 11"/>
                <a:gd name="T62" fmla="*/ 0 w 4"/>
                <a:gd name="T63" fmla="*/ 6 h 11"/>
                <a:gd name="T64" fmla="*/ 0 w 4"/>
                <a:gd name="T65" fmla="*/ 6 h 11"/>
                <a:gd name="T66" fmla="*/ 0 w 4"/>
                <a:gd name="T67" fmla="*/ 6 h 11"/>
                <a:gd name="T68" fmla="*/ 0 w 4"/>
                <a:gd name="T69" fmla="*/ 6 h 11"/>
                <a:gd name="T70" fmla="*/ 0 w 4"/>
                <a:gd name="T71" fmla="*/ 6 h 11"/>
                <a:gd name="T72" fmla="*/ 0 w 4"/>
                <a:gd name="T73" fmla="*/ 6 h 11"/>
                <a:gd name="T74" fmla="*/ 0 w 4"/>
                <a:gd name="T75" fmla="*/ 6 h 11"/>
                <a:gd name="T76" fmla="*/ 0 w 4"/>
                <a:gd name="T77" fmla="*/ 6 h 11"/>
                <a:gd name="T78" fmla="*/ 0 w 4"/>
                <a:gd name="T79" fmla="*/ 6 h 11"/>
                <a:gd name="T80" fmla="*/ 4 w 4"/>
                <a:gd name="T81" fmla="*/ 6 h 11"/>
                <a:gd name="T82" fmla="*/ 4 w 4"/>
                <a:gd name="T83" fmla="*/ 6 h 11"/>
                <a:gd name="T84" fmla="*/ 4 w 4"/>
                <a:gd name="T85" fmla="*/ 11 h 11"/>
                <a:gd name="T86" fmla="*/ 4 w 4"/>
                <a:gd name="T87" fmla="*/ 11 h 11"/>
                <a:gd name="T88" fmla="*/ 4 w 4"/>
                <a:gd name="T89" fmla="*/ 11 h 11"/>
                <a:gd name="T90" fmla="*/ 4 w 4"/>
                <a:gd name="T91" fmla="*/ 11 h 11"/>
                <a:gd name="T92" fmla="*/ 4 w 4"/>
                <a:gd name="T93" fmla="*/ 11 h 11"/>
                <a:gd name="T94" fmla="*/ 4 w 4"/>
                <a:gd name="T95" fmla="*/ 11 h 11"/>
                <a:gd name="T96" fmla="*/ 4 w 4"/>
                <a:gd name="T97" fmla="*/ 11 h 11"/>
                <a:gd name="T98" fmla="*/ 4 w 4"/>
                <a:gd name="T99" fmla="*/ 11 h 1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4"/>
                <a:gd name="T151" fmla="*/ 0 h 11"/>
                <a:gd name="T152" fmla="*/ 4 w 4"/>
                <a:gd name="T153" fmla="*/ 11 h 1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4" h="11">
                  <a:moveTo>
                    <a:pt x="0" y="0"/>
                  </a:moveTo>
                  <a:lnTo>
                    <a:pt x="0" y="6"/>
                  </a:lnTo>
                  <a:lnTo>
                    <a:pt x="4" y="6"/>
                  </a:lnTo>
                  <a:lnTo>
                    <a:pt x="4" y="1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7" name="Freeform 54"/>
            <p:cNvSpPr>
              <a:spLocks/>
            </p:cNvSpPr>
            <p:nvPr/>
          </p:nvSpPr>
          <p:spPr bwMode="auto">
            <a:xfrm>
              <a:off x="4539" y="2931"/>
              <a:ext cx="5" cy="6"/>
            </a:xfrm>
            <a:custGeom>
              <a:avLst/>
              <a:gdLst>
                <a:gd name="T0" fmla="*/ 0 w 5"/>
                <a:gd name="T1" fmla="*/ 0 h 6"/>
                <a:gd name="T2" fmla="*/ 0 w 5"/>
                <a:gd name="T3" fmla="*/ 0 h 6"/>
                <a:gd name="T4" fmla="*/ 0 w 5"/>
                <a:gd name="T5" fmla="*/ 0 h 6"/>
                <a:gd name="T6" fmla="*/ 0 w 5"/>
                <a:gd name="T7" fmla="*/ 0 h 6"/>
                <a:gd name="T8" fmla="*/ 0 w 5"/>
                <a:gd name="T9" fmla="*/ 0 h 6"/>
                <a:gd name="T10" fmla="*/ 0 w 5"/>
                <a:gd name="T11" fmla="*/ 0 h 6"/>
                <a:gd name="T12" fmla="*/ 0 w 5"/>
                <a:gd name="T13" fmla="*/ 0 h 6"/>
                <a:gd name="T14" fmla="*/ 0 w 5"/>
                <a:gd name="T15" fmla="*/ 0 h 6"/>
                <a:gd name="T16" fmla="*/ 0 w 5"/>
                <a:gd name="T17" fmla="*/ 0 h 6"/>
                <a:gd name="T18" fmla="*/ 0 w 5"/>
                <a:gd name="T19" fmla="*/ 0 h 6"/>
                <a:gd name="T20" fmla="*/ 0 w 5"/>
                <a:gd name="T21" fmla="*/ 0 h 6"/>
                <a:gd name="T22" fmla="*/ 0 w 5"/>
                <a:gd name="T23" fmla="*/ 0 h 6"/>
                <a:gd name="T24" fmla="*/ 0 w 5"/>
                <a:gd name="T25" fmla="*/ 0 h 6"/>
                <a:gd name="T26" fmla="*/ 0 w 5"/>
                <a:gd name="T27" fmla="*/ 0 h 6"/>
                <a:gd name="T28" fmla="*/ 0 w 5"/>
                <a:gd name="T29" fmla="*/ 0 h 6"/>
                <a:gd name="T30" fmla="*/ 0 w 5"/>
                <a:gd name="T31" fmla="*/ 0 h 6"/>
                <a:gd name="T32" fmla="*/ 0 w 5"/>
                <a:gd name="T33" fmla="*/ 0 h 6"/>
                <a:gd name="T34" fmla="*/ 0 w 5"/>
                <a:gd name="T35" fmla="*/ 0 h 6"/>
                <a:gd name="T36" fmla="*/ 0 w 5"/>
                <a:gd name="T37" fmla="*/ 0 h 6"/>
                <a:gd name="T38" fmla="*/ 0 w 5"/>
                <a:gd name="T39" fmla="*/ 0 h 6"/>
                <a:gd name="T40" fmla="*/ 0 w 5"/>
                <a:gd name="T41" fmla="*/ 0 h 6"/>
                <a:gd name="T42" fmla="*/ 0 w 5"/>
                <a:gd name="T43" fmla="*/ 0 h 6"/>
                <a:gd name="T44" fmla="*/ 0 w 5"/>
                <a:gd name="T45" fmla="*/ 0 h 6"/>
                <a:gd name="T46" fmla="*/ 0 w 5"/>
                <a:gd name="T47" fmla="*/ 0 h 6"/>
                <a:gd name="T48" fmla="*/ 0 w 5"/>
                <a:gd name="T49" fmla="*/ 0 h 6"/>
                <a:gd name="T50" fmla="*/ 0 w 5"/>
                <a:gd name="T51" fmla="*/ 6 h 6"/>
                <a:gd name="T52" fmla="*/ 0 w 5"/>
                <a:gd name="T53" fmla="*/ 6 h 6"/>
                <a:gd name="T54" fmla="*/ 0 w 5"/>
                <a:gd name="T55" fmla="*/ 6 h 6"/>
                <a:gd name="T56" fmla="*/ 0 w 5"/>
                <a:gd name="T57" fmla="*/ 6 h 6"/>
                <a:gd name="T58" fmla="*/ 0 w 5"/>
                <a:gd name="T59" fmla="*/ 6 h 6"/>
                <a:gd name="T60" fmla="*/ 0 w 5"/>
                <a:gd name="T61" fmla="*/ 6 h 6"/>
                <a:gd name="T62" fmla="*/ 5 w 5"/>
                <a:gd name="T63" fmla="*/ 6 h 6"/>
                <a:gd name="T64" fmla="*/ 5 w 5"/>
                <a:gd name="T65" fmla="*/ 6 h 6"/>
                <a:gd name="T66" fmla="*/ 5 w 5"/>
                <a:gd name="T67" fmla="*/ 6 h 6"/>
                <a:gd name="T68" fmla="*/ 5 w 5"/>
                <a:gd name="T69" fmla="*/ 6 h 6"/>
                <a:gd name="T70" fmla="*/ 5 w 5"/>
                <a:gd name="T71" fmla="*/ 6 h 6"/>
                <a:gd name="T72" fmla="*/ 5 w 5"/>
                <a:gd name="T73" fmla="*/ 6 h 6"/>
                <a:gd name="T74" fmla="*/ 5 w 5"/>
                <a:gd name="T75" fmla="*/ 6 h 6"/>
                <a:gd name="T76" fmla="*/ 5 w 5"/>
                <a:gd name="T77" fmla="*/ 6 h 6"/>
                <a:gd name="T78" fmla="*/ 5 w 5"/>
                <a:gd name="T79" fmla="*/ 6 h 6"/>
                <a:gd name="T80" fmla="*/ 5 w 5"/>
                <a:gd name="T81" fmla="*/ 6 h 6"/>
                <a:gd name="T82" fmla="*/ 5 w 5"/>
                <a:gd name="T83" fmla="*/ 6 h 6"/>
                <a:gd name="T84" fmla="*/ 5 w 5"/>
                <a:gd name="T85" fmla="*/ 6 h 6"/>
                <a:gd name="T86" fmla="*/ 5 w 5"/>
                <a:gd name="T87" fmla="*/ 6 h 6"/>
                <a:gd name="T88" fmla="*/ 5 w 5"/>
                <a:gd name="T89" fmla="*/ 6 h 6"/>
                <a:gd name="T90" fmla="*/ 5 w 5"/>
                <a:gd name="T91" fmla="*/ 6 h 6"/>
                <a:gd name="T92" fmla="*/ 5 w 5"/>
                <a:gd name="T93" fmla="*/ 6 h 6"/>
                <a:gd name="T94" fmla="*/ 5 w 5"/>
                <a:gd name="T95" fmla="*/ 6 h 6"/>
                <a:gd name="T96" fmla="*/ 5 w 5"/>
                <a:gd name="T97" fmla="*/ 6 h 6"/>
                <a:gd name="T98" fmla="*/ 5 w 5"/>
                <a:gd name="T99" fmla="*/ 6 h 6"/>
                <a:gd name="T100" fmla="*/ 5 w 5"/>
                <a:gd name="T101" fmla="*/ 6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6"/>
                <a:gd name="T155" fmla="*/ 5 w 5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6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8" name="Freeform 55"/>
            <p:cNvSpPr>
              <a:spLocks/>
            </p:cNvSpPr>
            <p:nvPr/>
          </p:nvSpPr>
          <p:spPr bwMode="auto">
            <a:xfrm>
              <a:off x="4544" y="2937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6 h 17"/>
                <a:gd name="T6" fmla="*/ 0 w 5"/>
                <a:gd name="T7" fmla="*/ 6 h 17"/>
                <a:gd name="T8" fmla="*/ 0 w 5"/>
                <a:gd name="T9" fmla="*/ 6 h 17"/>
                <a:gd name="T10" fmla="*/ 0 w 5"/>
                <a:gd name="T11" fmla="*/ 6 h 17"/>
                <a:gd name="T12" fmla="*/ 0 w 5"/>
                <a:gd name="T13" fmla="*/ 6 h 17"/>
                <a:gd name="T14" fmla="*/ 0 w 5"/>
                <a:gd name="T15" fmla="*/ 6 h 17"/>
                <a:gd name="T16" fmla="*/ 0 w 5"/>
                <a:gd name="T17" fmla="*/ 6 h 17"/>
                <a:gd name="T18" fmla="*/ 0 w 5"/>
                <a:gd name="T19" fmla="*/ 6 h 17"/>
                <a:gd name="T20" fmla="*/ 0 w 5"/>
                <a:gd name="T21" fmla="*/ 6 h 17"/>
                <a:gd name="T22" fmla="*/ 0 w 5"/>
                <a:gd name="T23" fmla="*/ 6 h 17"/>
                <a:gd name="T24" fmla="*/ 0 w 5"/>
                <a:gd name="T25" fmla="*/ 6 h 17"/>
                <a:gd name="T26" fmla="*/ 0 w 5"/>
                <a:gd name="T27" fmla="*/ 6 h 17"/>
                <a:gd name="T28" fmla="*/ 0 w 5"/>
                <a:gd name="T29" fmla="*/ 6 h 17"/>
                <a:gd name="T30" fmla="*/ 0 w 5"/>
                <a:gd name="T31" fmla="*/ 6 h 17"/>
                <a:gd name="T32" fmla="*/ 0 w 5"/>
                <a:gd name="T33" fmla="*/ 6 h 17"/>
                <a:gd name="T34" fmla="*/ 0 w 5"/>
                <a:gd name="T35" fmla="*/ 6 h 17"/>
                <a:gd name="T36" fmla="*/ 0 w 5"/>
                <a:gd name="T37" fmla="*/ 6 h 17"/>
                <a:gd name="T38" fmla="*/ 0 w 5"/>
                <a:gd name="T39" fmla="*/ 6 h 17"/>
                <a:gd name="T40" fmla="*/ 0 w 5"/>
                <a:gd name="T41" fmla="*/ 6 h 17"/>
                <a:gd name="T42" fmla="*/ 0 w 5"/>
                <a:gd name="T43" fmla="*/ 6 h 17"/>
                <a:gd name="T44" fmla="*/ 5 w 5"/>
                <a:gd name="T45" fmla="*/ 6 h 17"/>
                <a:gd name="T46" fmla="*/ 5 w 5"/>
                <a:gd name="T47" fmla="*/ 6 h 17"/>
                <a:gd name="T48" fmla="*/ 5 w 5"/>
                <a:gd name="T49" fmla="*/ 6 h 17"/>
                <a:gd name="T50" fmla="*/ 5 w 5"/>
                <a:gd name="T51" fmla="*/ 6 h 17"/>
                <a:gd name="T52" fmla="*/ 5 w 5"/>
                <a:gd name="T53" fmla="*/ 11 h 17"/>
                <a:gd name="T54" fmla="*/ 5 w 5"/>
                <a:gd name="T55" fmla="*/ 11 h 17"/>
                <a:gd name="T56" fmla="*/ 5 w 5"/>
                <a:gd name="T57" fmla="*/ 11 h 17"/>
                <a:gd name="T58" fmla="*/ 5 w 5"/>
                <a:gd name="T59" fmla="*/ 11 h 17"/>
                <a:gd name="T60" fmla="*/ 5 w 5"/>
                <a:gd name="T61" fmla="*/ 11 h 17"/>
                <a:gd name="T62" fmla="*/ 5 w 5"/>
                <a:gd name="T63" fmla="*/ 11 h 17"/>
                <a:gd name="T64" fmla="*/ 5 w 5"/>
                <a:gd name="T65" fmla="*/ 11 h 17"/>
                <a:gd name="T66" fmla="*/ 5 w 5"/>
                <a:gd name="T67" fmla="*/ 11 h 17"/>
                <a:gd name="T68" fmla="*/ 5 w 5"/>
                <a:gd name="T69" fmla="*/ 11 h 17"/>
                <a:gd name="T70" fmla="*/ 5 w 5"/>
                <a:gd name="T71" fmla="*/ 11 h 17"/>
                <a:gd name="T72" fmla="*/ 5 w 5"/>
                <a:gd name="T73" fmla="*/ 11 h 17"/>
                <a:gd name="T74" fmla="*/ 5 w 5"/>
                <a:gd name="T75" fmla="*/ 11 h 17"/>
                <a:gd name="T76" fmla="*/ 5 w 5"/>
                <a:gd name="T77" fmla="*/ 11 h 17"/>
                <a:gd name="T78" fmla="*/ 5 w 5"/>
                <a:gd name="T79" fmla="*/ 11 h 17"/>
                <a:gd name="T80" fmla="*/ 5 w 5"/>
                <a:gd name="T81" fmla="*/ 11 h 17"/>
                <a:gd name="T82" fmla="*/ 5 w 5"/>
                <a:gd name="T83" fmla="*/ 11 h 17"/>
                <a:gd name="T84" fmla="*/ 5 w 5"/>
                <a:gd name="T85" fmla="*/ 11 h 17"/>
                <a:gd name="T86" fmla="*/ 5 w 5"/>
                <a:gd name="T87" fmla="*/ 11 h 17"/>
                <a:gd name="T88" fmla="*/ 5 w 5"/>
                <a:gd name="T89" fmla="*/ 11 h 17"/>
                <a:gd name="T90" fmla="*/ 5 w 5"/>
                <a:gd name="T91" fmla="*/ 11 h 17"/>
                <a:gd name="T92" fmla="*/ 5 w 5"/>
                <a:gd name="T93" fmla="*/ 11 h 17"/>
                <a:gd name="T94" fmla="*/ 5 w 5"/>
                <a:gd name="T95" fmla="*/ 11 h 17"/>
                <a:gd name="T96" fmla="*/ 5 w 5"/>
                <a:gd name="T97" fmla="*/ 17 h 17"/>
                <a:gd name="T98" fmla="*/ 5 w 5"/>
                <a:gd name="T99" fmla="*/ 17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1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9" name="Freeform 56"/>
            <p:cNvSpPr>
              <a:spLocks/>
            </p:cNvSpPr>
            <p:nvPr/>
          </p:nvSpPr>
          <p:spPr bwMode="auto">
            <a:xfrm>
              <a:off x="4549" y="2954"/>
              <a:ext cx="5" cy="11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0 w 5"/>
                <a:gd name="T5" fmla="*/ 0 h 11"/>
                <a:gd name="T6" fmla="*/ 0 w 5"/>
                <a:gd name="T7" fmla="*/ 0 h 11"/>
                <a:gd name="T8" fmla="*/ 0 w 5"/>
                <a:gd name="T9" fmla="*/ 0 h 11"/>
                <a:gd name="T10" fmla="*/ 0 w 5"/>
                <a:gd name="T11" fmla="*/ 0 h 11"/>
                <a:gd name="T12" fmla="*/ 0 w 5"/>
                <a:gd name="T13" fmla="*/ 0 h 11"/>
                <a:gd name="T14" fmla="*/ 0 w 5"/>
                <a:gd name="T15" fmla="*/ 0 h 11"/>
                <a:gd name="T16" fmla="*/ 0 w 5"/>
                <a:gd name="T17" fmla="*/ 0 h 11"/>
                <a:gd name="T18" fmla="*/ 0 w 5"/>
                <a:gd name="T19" fmla="*/ 0 h 11"/>
                <a:gd name="T20" fmla="*/ 0 w 5"/>
                <a:gd name="T21" fmla="*/ 0 h 11"/>
                <a:gd name="T22" fmla="*/ 5 w 5"/>
                <a:gd name="T23" fmla="*/ 0 h 11"/>
                <a:gd name="T24" fmla="*/ 5 w 5"/>
                <a:gd name="T25" fmla="*/ 0 h 11"/>
                <a:gd name="T26" fmla="*/ 5 w 5"/>
                <a:gd name="T27" fmla="*/ 0 h 11"/>
                <a:gd name="T28" fmla="*/ 5 w 5"/>
                <a:gd name="T29" fmla="*/ 0 h 11"/>
                <a:gd name="T30" fmla="*/ 5 w 5"/>
                <a:gd name="T31" fmla="*/ 0 h 11"/>
                <a:gd name="T32" fmla="*/ 5 w 5"/>
                <a:gd name="T33" fmla="*/ 0 h 11"/>
                <a:gd name="T34" fmla="*/ 5 w 5"/>
                <a:gd name="T35" fmla="*/ 6 h 11"/>
                <a:gd name="T36" fmla="*/ 5 w 5"/>
                <a:gd name="T37" fmla="*/ 6 h 11"/>
                <a:gd name="T38" fmla="*/ 5 w 5"/>
                <a:gd name="T39" fmla="*/ 6 h 11"/>
                <a:gd name="T40" fmla="*/ 5 w 5"/>
                <a:gd name="T41" fmla="*/ 6 h 11"/>
                <a:gd name="T42" fmla="*/ 5 w 5"/>
                <a:gd name="T43" fmla="*/ 6 h 11"/>
                <a:gd name="T44" fmla="*/ 5 w 5"/>
                <a:gd name="T45" fmla="*/ 6 h 11"/>
                <a:gd name="T46" fmla="*/ 5 w 5"/>
                <a:gd name="T47" fmla="*/ 6 h 11"/>
                <a:gd name="T48" fmla="*/ 5 w 5"/>
                <a:gd name="T49" fmla="*/ 6 h 11"/>
                <a:gd name="T50" fmla="*/ 5 w 5"/>
                <a:gd name="T51" fmla="*/ 6 h 11"/>
                <a:gd name="T52" fmla="*/ 5 w 5"/>
                <a:gd name="T53" fmla="*/ 6 h 11"/>
                <a:gd name="T54" fmla="*/ 5 w 5"/>
                <a:gd name="T55" fmla="*/ 6 h 11"/>
                <a:gd name="T56" fmla="*/ 5 w 5"/>
                <a:gd name="T57" fmla="*/ 6 h 11"/>
                <a:gd name="T58" fmla="*/ 5 w 5"/>
                <a:gd name="T59" fmla="*/ 6 h 11"/>
                <a:gd name="T60" fmla="*/ 5 w 5"/>
                <a:gd name="T61" fmla="*/ 6 h 11"/>
                <a:gd name="T62" fmla="*/ 5 w 5"/>
                <a:gd name="T63" fmla="*/ 6 h 11"/>
                <a:gd name="T64" fmla="*/ 5 w 5"/>
                <a:gd name="T65" fmla="*/ 6 h 11"/>
                <a:gd name="T66" fmla="*/ 5 w 5"/>
                <a:gd name="T67" fmla="*/ 6 h 11"/>
                <a:gd name="T68" fmla="*/ 5 w 5"/>
                <a:gd name="T69" fmla="*/ 6 h 11"/>
                <a:gd name="T70" fmla="*/ 5 w 5"/>
                <a:gd name="T71" fmla="*/ 6 h 11"/>
                <a:gd name="T72" fmla="*/ 5 w 5"/>
                <a:gd name="T73" fmla="*/ 11 h 11"/>
                <a:gd name="T74" fmla="*/ 5 w 5"/>
                <a:gd name="T75" fmla="*/ 11 h 11"/>
                <a:gd name="T76" fmla="*/ 5 w 5"/>
                <a:gd name="T77" fmla="*/ 11 h 11"/>
                <a:gd name="T78" fmla="*/ 5 w 5"/>
                <a:gd name="T79" fmla="*/ 11 h 11"/>
                <a:gd name="T80" fmla="*/ 5 w 5"/>
                <a:gd name="T81" fmla="*/ 11 h 11"/>
                <a:gd name="T82" fmla="*/ 5 w 5"/>
                <a:gd name="T83" fmla="*/ 11 h 11"/>
                <a:gd name="T84" fmla="*/ 5 w 5"/>
                <a:gd name="T85" fmla="*/ 11 h 11"/>
                <a:gd name="T86" fmla="*/ 5 w 5"/>
                <a:gd name="T87" fmla="*/ 11 h 11"/>
                <a:gd name="T88" fmla="*/ 5 w 5"/>
                <a:gd name="T89" fmla="*/ 11 h 11"/>
                <a:gd name="T90" fmla="*/ 5 w 5"/>
                <a:gd name="T91" fmla="*/ 11 h 11"/>
                <a:gd name="T92" fmla="*/ 5 w 5"/>
                <a:gd name="T93" fmla="*/ 11 h 11"/>
                <a:gd name="T94" fmla="*/ 5 w 5"/>
                <a:gd name="T95" fmla="*/ 11 h 11"/>
                <a:gd name="T96" fmla="*/ 5 w 5"/>
                <a:gd name="T97" fmla="*/ 11 h 11"/>
                <a:gd name="T98" fmla="*/ 5 w 5"/>
                <a:gd name="T99" fmla="*/ 11 h 1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11"/>
                <a:gd name="T152" fmla="*/ 5 w 5"/>
                <a:gd name="T153" fmla="*/ 11 h 1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6"/>
                  </a:lnTo>
                  <a:lnTo>
                    <a:pt x="5" y="1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0" name="Freeform 57"/>
            <p:cNvSpPr>
              <a:spLocks/>
            </p:cNvSpPr>
            <p:nvPr/>
          </p:nvSpPr>
          <p:spPr bwMode="auto">
            <a:xfrm>
              <a:off x="4554" y="2965"/>
              <a:ext cx="9" cy="17"/>
            </a:xfrm>
            <a:custGeom>
              <a:avLst/>
              <a:gdLst>
                <a:gd name="T0" fmla="*/ 0 w 9"/>
                <a:gd name="T1" fmla="*/ 0 h 17"/>
                <a:gd name="T2" fmla="*/ 0 w 9"/>
                <a:gd name="T3" fmla="*/ 0 h 17"/>
                <a:gd name="T4" fmla="*/ 0 w 9"/>
                <a:gd name="T5" fmla="*/ 0 h 17"/>
                <a:gd name="T6" fmla="*/ 5 w 9"/>
                <a:gd name="T7" fmla="*/ 0 h 17"/>
                <a:gd name="T8" fmla="*/ 5 w 9"/>
                <a:gd name="T9" fmla="*/ 0 h 17"/>
                <a:gd name="T10" fmla="*/ 5 w 9"/>
                <a:gd name="T11" fmla="*/ 6 h 17"/>
                <a:gd name="T12" fmla="*/ 5 w 9"/>
                <a:gd name="T13" fmla="*/ 6 h 17"/>
                <a:gd name="T14" fmla="*/ 5 w 9"/>
                <a:gd name="T15" fmla="*/ 6 h 17"/>
                <a:gd name="T16" fmla="*/ 5 w 9"/>
                <a:gd name="T17" fmla="*/ 6 h 17"/>
                <a:gd name="T18" fmla="*/ 5 w 9"/>
                <a:gd name="T19" fmla="*/ 6 h 17"/>
                <a:gd name="T20" fmla="*/ 5 w 9"/>
                <a:gd name="T21" fmla="*/ 6 h 17"/>
                <a:gd name="T22" fmla="*/ 5 w 9"/>
                <a:gd name="T23" fmla="*/ 6 h 17"/>
                <a:gd name="T24" fmla="*/ 5 w 9"/>
                <a:gd name="T25" fmla="*/ 6 h 17"/>
                <a:gd name="T26" fmla="*/ 5 w 9"/>
                <a:gd name="T27" fmla="*/ 6 h 17"/>
                <a:gd name="T28" fmla="*/ 5 w 9"/>
                <a:gd name="T29" fmla="*/ 6 h 17"/>
                <a:gd name="T30" fmla="*/ 5 w 9"/>
                <a:gd name="T31" fmla="*/ 6 h 17"/>
                <a:gd name="T32" fmla="*/ 5 w 9"/>
                <a:gd name="T33" fmla="*/ 6 h 17"/>
                <a:gd name="T34" fmla="*/ 5 w 9"/>
                <a:gd name="T35" fmla="*/ 6 h 17"/>
                <a:gd name="T36" fmla="*/ 5 w 9"/>
                <a:gd name="T37" fmla="*/ 6 h 17"/>
                <a:gd name="T38" fmla="*/ 5 w 9"/>
                <a:gd name="T39" fmla="*/ 6 h 17"/>
                <a:gd name="T40" fmla="*/ 5 w 9"/>
                <a:gd name="T41" fmla="*/ 6 h 17"/>
                <a:gd name="T42" fmla="*/ 5 w 9"/>
                <a:gd name="T43" fmla="*/ 6 h 17"/>
                <a:gd name="T44" fmla="*/ 5 w 9"/>
                <a:gd name="T45" fmla="*/ 12 h 17"/>
                <a:gd name="T46" fmla="*/ 5 w 9"/>
                <a:gd name="T47" fmla="*/ 12 h 17"/>
                <a:gd name="T48" fmla="*/ 5 w 9"/>
                <a:gd name="T49" fmla="*/ 12 h 17"/>
                <a:gd name="T50" fmla="*/ 5 w 9"/>
                <a:gd name="T51" fmla="*/ 12 h 17"/>
                <a:gd name="T52" fmla="*/ 5 w 9"/>
                <a:gd name="T53" fmla="*/ 12 h 17"/>
                <a:gd name="T54" fmla="*/ 5 w 9"/>
                <a:gd name="T55" fmla="*/ 12 h 17"/>
                <a:gd name="T56" fmla="*/ 5 w 9"/>
                <a:gd name="T57" fmla="*/ 12 h 17"/>
                <a:gd name="T58" fmla="*/ 5 w 9"/>
                <a:gd name="T59" fmla="*/ 12 h 17"/>
                <a:gd name="T60" fmla="*/ 5 w 9"/>
                <a:gd name="T61" fmla="*/ 12 h 17"/>
                <a:gd name="T62" fmla="*/ 5 w 9"/>
                <a:gd name="T63" fmla="*/ 12 h 17"/>
                <a:gd name="T64" fmla="*/ 5 w 9"/>
                <a:gd name="T65" fmla="*/ 12 h 17"/>
                <a:gd name="T66" fmla="*/ 5 w 9"/>
                <a:gd name="T67" fmla="*/ 12 h 17"/>
                <a:gd name="T68" fmla="*/ 5 w 9"/>
                <a:gd name="T69" fmla="*/ 12 h 17"/>
                <a:gd name="T70" fmla="*/ 5 w 9"/>
                <a:gd name="T71" fmla="*/ 12 h 17"/>
                <a:gd name="T72" fmla="*/ 5 w 9"/>
                <a:gd name="T73" fmla="*/ 12 h 17"/>
                <a:gd name="T74" fmla="*/ 5 w 9"/>
                <a:gd name="T75" fmla="*/ 12 h 17"/>
                <a:gd name="T76" fmla="*/ 5 w 9"/>
                <a:gd name="T77" fmla="*/ 17 h 17"/>
                <a:gd name="T78" fmla="*/ 5 w 9"/>
                <a:gd name="T79" fmla="*/ 17 h 17"/>
                <a:gd name="T80" fmla="*/ 5 w 9"/>
                <a:gd name="T81" fmla="*/ 17 h 17"/>
                <a:gd name="T82" fmla="*/ 5 w 9"/>
                <a:gd name="T83" fmla="*/ 17 h 17"/>
                <a:gd name="T84" fmla="*/ 5 w 9"/>
                <a:gd name="T85" fmla="*/ 17 h 17"/>
                <a:gd name="T86" fmla="*/ 9 w 9"/>
                <a:gd name="T87" fmla="*/ 17 h 17"/>
                <a:gd name="T88" fmla="*/ 9 w 9"/>
                <a:gd name="T89" fmla="*/ 17 h 17"/>
                <a:gd name="T90" fmla="*/ 9 w 9"/>
                <a:gd name="T91" fmla="*/ 17 h 17"/>
                <a:gd name="T92" fmla="*/ 9 w 9"/>
                <a:gd name="T93" fmla="*/ 17 h 17"/>
                <a:gd name="T94" fmla="*/ 9 w 9"/>
                <a:gd name="T95" fmla="*/ 17 h 17"/>
                <a:gd name="T96" fmla="*/ 9 w 9"/>
                <a:gd name="T97" fmla="*/ 17 h 17"/>
                <a:gd name="T98" fmla="*/ 9 w 9"/>
                <a:gd name="T99" fmla="*/ 17 h 17"/>
                <a:gd name="T100" fmla="*/ 9 w 9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7"/>
                <a:gd name="T155" fmla="*/ 9 w 9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7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6"/>
                  </a:lnTo>
                  <a:lnTo>
                    <a:pt x="5" y="12"/>
                  </a:lnTo>
                  <a:lnTo>
                    <a:pt x="5" y="17"/>
                  </a:lnTo>
                  <a:lnTo>
                    <a:pt x="9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1" name="Freeform 58"/>
            <p:cNvSpPr>
              <a:spLocks/>
            </p:cNvSpPr>
            <p:nvPr/>
          </p:nvSpPr>
          <p:spPr bwMode="auto">
            <a:xfrm>
              <a:off x="4563" y="2982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6 h 23"/>
                <a:gd name="T10" fmla="*/ 0 w 5"/>
                <a:gd name="T11" fmla="*/ 6 h 23"/>
                <a:gd name="T12" fmla="*/ 0 w 5"/>
                <a:gd name="T13" fmla="*/ 6 h 23"/>
                <a:gd name="T14" fmla="*/ 0 w 5"/>
                <a:gd name="T15" fmla="*/ 6 h 23"/>
                <a:gd name="T16" fmla="*/ 0 w 5"/>
                <a:gd name="T17" fmla="*/ 6 h 23"/>
                <a:gd name="T18" fmla="*/ 0 w 5"/>
                <a:gd name="T19" fmla="*/ 6 h 23"/>
                <a:gd name="T20" fmla="*/ 0 w 5"/>
                <a:gd name="T21" fmla="*/ 6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0 w 5"/>
                <a:gd name="T31" fmla="*/ 6 h 23"/>
                <a:gd name="T32" fmla="*/ 0 w 5"/>
                <a:gd name="T33" fmla="*/ 6 h 23"/>
                <a:gd name="T34" fmla="*/ 0 w 5"/>
                <a:gd name="T35" fmla="*/ 6 h 23"/>
                <a:gd name="T36" fmla="*/ 0 w 5"/>
                <a:gd name="T37" fmla="*/ 6 h 23"/>
                <a:gd name="T38" fmla="*/ 0 w 5"/>
                <a:gd name="T39" fmla="*/ 12 h 23"/>
                <a:gd name="T40" fmla="*/ 0 w 5"/>
                <a:gd name="T41" fmla="*/ 12 h 23"/>
                <a:gd name="T42" fmla="*/ 0 w 5"/>
                <a:gd name="T43" fmla="*/ 12 h 23"/>
                <a:gd name="T44" fmla="*/ 0 w 5"/>
                <a:gd name="T45" fmla="*/ 12 h 23"/>
                <a:gd name="T46" fmla="*/ 0 w 5"/>
                <a:gd name="T47" fmla="*/ 12 h 23"/>
                <a:gd name="T48" fmla="*/ 0 w 5"/>
                <a:gd name="T49" fmla="*/ 12 h 23"/>
                <a:gd name="T50" fmla="*/ 0 w 5"/>
                <a:gd name="T51" fmla="*/ 12 h 23"/>
                <a:gd name="T52" fmla="*/ 0 w 5"/>
                <a:gd name="T53" fmla="*/ 12 h 23"/>
                <a:gd name="T54" fmla="*/ 0 w 5"/>
                <a:gd name="T55" fmla="*/ 12 h 23"/>
                <a:gd name="T56" fmla="*/ 0 w 5"/>
                <a:gd name="T57" fmla="*/ 12 h 23"/>
                <a:gd name="T58" fmla="*/ 0 w 5"/>
                <a:gd name="T59" fmla="*/ 12 h 23"/>
                <a:gd name="T60" fmla="*/ 0 w 5"/>
                <a:gd name="T61" fmla="*/ 12 h 23"/>
                <a:gd name="T62" fmla="*/ 0 w 5"/>
                <a:gd name="T63" fmla="*/ 12 h 23"/>
                <a:gd name="T64" fmla="*/ 0 w 5"/>
                <a:gd name="T65" fmla="*/ 12 h 23"/>
                <a:gd name="T66" fmla="*/ 0 w 5"/>
                <a:gd name="T67" fmla="*/ 18 h 23"/>
                <a:gd name="T68" fmla="*/ 5 w 5"/>
                <a:gd name="T69" fmla="*/ 18 h 23"/>
                <a:gd name="T70" fmla="*/ 5 w 5"/>
                <a:gd name="T71" fmla="*/ 18 h 23"/>
                <a:gd name="T72" fmla="*/ 5 w 5"/>
                <a:gd name="T73" fmla="*/ 18 h 23"/>
                <a:gd name="T74" fmla="*/ 5 w 5"/>
                <a:gd name="T75" fmla="*/ 18 h 23"/>
                <a:gd name="T76" fmla="*/ 5 w 5"/>
                <a:gd name="T77" fmla="*/ 18 h 23"/>
                <a:gd name="T78" fmla="*/ 5 w 5"/>
                <a:gd name="T79" fmla="*/ 18 h 23"/>
                <a:gd name="T80" fmla="*/ 5 w 5"/>
                <a:gd name="T81" fmla="*/ 18 h 23"/>
                <a:gd name="T82" fmla="*/ 5 w 5"/>
                <a:gd name="T83" fmla="*/ 18 h 23"/>
                <a:gd name="T84" fmla="*/ 5 w 5"/>
                <a:gd name="T85" fmla="*/ 18 h 23"/>
                <a:gd name="T86" fmla="*/ 5 w 5"/>
                <a:gd name="T87" fmla="*/ 18 h 23"/>
                <a:gd name="T88" fmla="*/ 5 w 5"/>
                <a:gd name="T89" fmla="*/ 18 h 23"/>
                <a:gd name="T90" fmla="*/ 5 w 5"/>
                <a:gd name="T91" fmla="*/ 18 h 23"/>
                <a:gd name="T92" fmla="*/ 5 w 5"/>
                <a:gd name="T93" fmla="*/ 18 h 23"/>
                <a:gd name="T94" fmla="*/ 5 w 5"/>
                <a:gd name="T95" fmla="*/ 18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5" y="18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2" name="Freeform 59"/>
            <p:cNvSpPr>
              <a:spLocks/>
            </p:cNvSpPr>
            <p:nvPr/>
          </p:nvSpPr>
          <p:spPr bwMode="auto">
            <a:xfrm>
              <a:off x="4568" y="3005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0 h 17"/>
                <a:gd name="T14" fmla="*/ 0 w 5"/>
                <a:gd name="T15" fmla="*/ 0 h 17"/>
                <a:gd name="T16" fmla="*/ 0 w 5"/>
                <a:gd name="T17" fmla="*/ 0 h 17"/>
                <a:gd name="T18" fmla="*/ 0 w 5"/>
                <a:gd name="T19" fmla="*/ 0 h 17"/>
                <a:gd name="T20" fmla="*/ 0 w 5"/>
                <a:gd name="T21" fmla="*/ 0 h 17"/>
                <a:gd name="T22" fmla="*/ 0 w 5"/>
                <a:gd name="T23" fmla="*/ 0 h 17"/>
                <a:gd name="T24" fmla="*/ 0 w 5"/>
                <a:gd name="T25" fmla="*/ 6 h 17"/>
                <a:gd name="T26" fmla="*/ 0 w 5"/>
                <a:gd name="T27" fmla="*/ 6 h 17"/>
                <a:gd name="T28" fmla="*/ 0 w 5"/>
                <a:gd name="T29" fmla="*/ 6 h 17"/>
                <a:gd name="T30" fmla="*/ 0 w 5"/>
                <a:gd name="T31" fmla="*/ 6 h 17"/>
                <a:gd name="T32" fmla="*/ 0 w 5"/>
                <a:gd name="T33" fmla="*/ 6 h 17"/>
                <a:gd name="T34" fmla="*/ 0 w 5"/>
                <a:gd name="T35" fmla="*/ 6 h 17"/>
                <a:gd name="T36" fmla="*/ 0 w 5"/>
                <a:gd name="T37" fmla="*/ 6 h 17"/>
                <a:gd name="T38" fmla="*/ 0 w 5"/>
                <a:gd name="T39" fmla="*/ 6 h 17"/>
                <a:gd name="T40" fmla="*/ 0 w 5"/>
                <a:gd name="T41" fmla="*/ 6 h 17"/>
                <a:gd name="T42" fmla="*/ 0 w 5"/>
                <a:gd name="T43" fmla="*/ 6 h 17"/>
                <a:gd name="T44" fmla="*/ 0 w 5"/>
                <a:gd name="T45" fmla="*/ 6 h 17"/>
                <a:gd name="T46" fmla="*/ 0 w 5"/>
                <a:gd name="T47" fmla="*/ 6 h 17"/>
                <a:gd name="T48" fmla="*/ 0 w 5"/>
                <a:gd name="T49" fmla="*/ 6 h 17"/>
                <a:gd name="T50" fmla="*/ 5 w 5"/>
                <a:gd name="T51" fmla="*/ 12 h 17"/>
                <a:gd name="T52" fmla="*/ 5 w 5"/>
                <a:gd name="T53" fmla="*/ 12 h 17"/>
                <a:gd name="T54" fmla="*/ 5 w 5"/>
                <a:gd name="T55" fmla="*/ 12 h 17"/>
                <a:gd name="T56" fmla="*/ 5 w 5"/>
                <a:gd name="T57" fmla="*/ 12 h 17"/>
                <a:gd name="T58" fmla="*/ 5 w 5"/>
                <a:gd name="T59" fmla="*/ 12 h 17"/>
                <a:gd name="T60" fmla="*/ 5 w 5"/>
                <a:gd name="T61" fmla="*/ 12 h 17"/>
                <a:gd name="T62" fmla="*/ 5 w 5"/>
                <a:gd name="T63" fmla="*/ 12 h 17"/>
                <a:gd name="T64" fmla="*/ 5 w 5"/>
                <a:gd name="T65" fmla="*/ 12 h 17"/>
                <a:gd name="T66" fmla="*/ 5 w 5"/>
                <a:gd name="T67" fmla="*/ 12 h 17"/>
                <a:gd name="T68" fmla="*/ 5 w 5"/>
                <a:gd name="T69" fmla="*/ 12 h 17"/>
                <a:gd name="T70" fmla="*/ 5 w 5"/>
                <a:gd name="T71" fmla="*/ 12 h 17"/>
                <a:gd name="T72" fmla="*/ 5 w 5"/>
                <a:gd name="T73" fmla="*/ 12 h 17"/>
                <a:gd name="T74" fmla="*/ 5 w 5"/>
                <a:gd name="T75" fmla="*/ 12 h 17"/>
                <a:gd name="T76" fmla="*/ 5 w 5"/>
                <a:gd name="T77" fmla="*/ 12 h 17"/>
                <a:gd name="T78" fmla="*/ 5 w 5"/>
                <a:gd name="T79" fmla="*/ 17 h 17"/>
                <a:gd name="T80" fmla="*/ 5 w 5"/>
                <a:gd name="T81" fmla="*/ 17 h 17"/>
                <a:gd name="T82" fmla="*/ 5 w 5"/>
                <a:gd name="T83" fmla="*/ 17 h 17"/>
                <a:gd name="T84" fmla="*/ 5 w 5"/>
                <a:gd name="T85" fmla="*/ 17 h 17"/>
                <a:gd name="T86" fmla="*/ 5 w 5"/>
                <a:gd name="T87" fmla="*/ 17 h 17"/>
                <a:gd name="T88" fmla="*/ 5 w 5"/>
                <a:gd name="T89" fmla="*/ 17 h 17"/>
                <a:gd name="T90" fmla="*/ 5 w 5"/>
                <a:gd name="T91" fmla="*/ 17 h 17"/>
                <a:gd name="T92" fmla="*/ 5 w 5"/>
                <a:gd name="T93" fmla="*/ 17 h 17"/>
                <a:gd name="T94" fmla="*/ 5 w 5"/>
                <a:gd name="T95" fmla="*/ 17 h 17"/>
                <a:gd name="T96" fmla="*/ 5 w 5"/>
                <a:gd name="T97" fmla="*/ 17 h 17"/>
                <a:gd name="T98" fmla="*/ 5 w 5"/>
                <a:gd name="T99" fmla="*/ 17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12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3" name="Freeform 60"/>
            <p:cNvSpPr>
              <a:spLocks/>
            </p:cNvSpPr>
            <p:nvPr/>
          </p:nvSpPr>
          <p:spPr bwMode="auto">
            <a:xfrm>
              <a:off x="4573" y="3022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6 h 23"/>
                <a:gd name="T6" fmla="*/ 0 w 5"/>
                <a:gd name="T7" fmla="*/ 6 h 23"/>
                <a:gd name="T8" fmla="*/ 0 w 5"/>
                <a:gd name="T9" fmla="*/ 6 h 23"/>
                <a:gd name="T10" fmla="*/ 0 w 5"/>
                <a:gd name="T11" fmla="*/ 6 h 23"/>
                <a:gd name="T12" fmla="*/ 0 w 5"/>
                <a:gd name="T13" fmla="*/ 6 h 23"/>
                <a:gd name="T14" fmla="*/ 0 w 5"/>
                <a:gd name="T15" fmla="*/ 6 h 23"/>
                <a:gd name="T16" fmla="*/ 0 w 5"/>
                <a:gd name="T17" fmla="*/ 6 h 23"/>
                <a:gd name="T18" fmla="*/ 0 w 5"/>
                <a:gd name="T19" fmla="*/ 6 h 23"/>
                <a:gd name="T20" fmla="*/ 0 w 5"/>
                <a:gd name="T21" fmla="*/ 6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5 w 5"/>
                <a:gd name="T31" fmla="*/ 12 h 23"/>
                <a:gd name="T32" fmla="*/ 5 w 5"/>
                <a:gd name="T33" fmla="*/ 12 h 23"/>
                <a:gd name="T34" fmla="*/ 5 w 5"/>
                <a:gd name="T35" fmla="*/ 12 h 23"/>
                <a:gd name="T36" fmla="*/ 5 w 5"/>
                <a:gd name="T37" fmla="*/ 12 h 23"/>
                <a:gd name="T38" fmla="*/ 5 w 5"/>
                <a:gd name="T39" fmla="*/ 12 h 23"/>
                <a:gd name="T40" fmla="*/ 5 w 5"/>
                <a:gd name="T41" fmla="*/ 12 h 23"/>
                <a:gd name="T42" fmla="*/ 5 w 5"/>
                <a:gd name="T43" fmla="*/ 12 h 23"/>
                <a:gd name="T44" fmla="*/ 5 w 5"/>
                <a:gd name="T45" fmla="*/ 12 h 23"/>
                <a:gd name="T46" fmla="*/ 5 w 5"/>
                <a:gd name="T47" fmla="*/ 12 h 23"/>
                <a:gd name="T48" fmla="*/ 5 w 5"/>
                <a:gd name="T49" fmla="*/ 12 h 23"/>
                <a:gd name="T50" fmla="*/ 5 w 5"/>
                <a:gd name="T51" fmla="*/ 12 h 23"/>
                <a:gd name="T52" fmla="*/ 5 w 5"/>
                <a:gd name="T53" fmla="*/ 12 h 23"/>
                <a:gd name="T54" fmla="*/ 5 w 5"/>
                <a:gd name="T55" fmla="*/ 12 h 23"/>
                <a:gd name="T56" fmla="*/ 5 w 5"/>
                <a:gd name="T57" fmla="*/ 17 h 23"/>
                <a:gd name="T58" fmla="*/ 5 w 5"/>
                <a:gd name="T59" fmla="*/ 17 h 23"/>
                <a:gd name="T60" fmla="*/ 5 w 5"/>
                <a:gd name="T61" fmla="*/ 17 h 23"/>
                <a:gd name="T62" fmla="*/ 5 w 5"/>
                <a:gd name="T63" fmla="*/ 17 h 23"/>
                <a:gd name="T64" fmla="*/ 5 w 5"/>
                <a:gd name="T65" fmla="*/ 17 h 23"/>
                <a:gd name="T66" fmla="*/ 5 w 5"/>
                <a:gd name="T67" fmla="*/ 17 h 23"/>
                <a:gd name="T68" fmla="*/ 5 w 5"/>
                <a:gd name="T69" fmla="*/ 17 h 23"/>
                <a:gd name="T70" fmla="*/ 5 w 5"/>
                <a:gd name="T71" fmla="*/ 17 h 23"/>
                <a:gd name="T72" fmla="*/ 5 w 5"/>
                <a:gd name="T73" fmla="*/ 17 h 23"/>
                <a:gd name="T74" fmla="*/ 5 w 5"/>
                <a:gd name="T75" fmla="*/ 17 h 23"/>
                <a:gd name="T76" fmla="*/ 5 w 5"/>
                <a:gd name="T77" fmla="*/ 17 h 23"/>
                <a:gd name="T78" fmla="*/ 5 w 5"/>
                <a:gd name="T79" fmla="*/ 17 h 23"/>
                <a:gd name="T80" fmla="*/ 5 w 5"/>
                <a:gd name="T81" fmla="*/ 23 h 23"/>
                <a:gd name="T82" fmla="*/ 5 w 5"/>
                <a:gd name="T83" fmla="*/ 23 h 23"/>
                <a:gd name="T84" fmla="*/ 5 w 5"/>
                <a:gd name="T85" fmla="*/ 23 h 23"/>
                <a:gd name="T86" fmla="*/ 5 w 5"/>
                <a:gd name="T87" fmla="*/ 23 h 23"/>
                <a:gd name="T88" fmla="*/ 5 w 5"/>
                <a:gd name="T89" fmla="*/ 23 h 23"/>
                <a:gd name="T90" fmla="*/ 5 w 5"/>
                <a:gd name="T91" fmla="*/ 23 h 23"/>
                <a:gd name="T92" fmla="*/ 5 w 5"/>
                <a:gd name="T93" fmla="*/ 23 h 23"/>
                <a:gd name="T94" fmla="*/ 5 w 5"/>
                <a:gd name="T95" fmla="*/ 23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12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4" name="Freeform 61"/>
            <p:cNvSpPr>
              <a:spLocks/>
            </p:cNvSpPr>
            <p:nvPr/>
          </p:nvSpPr>
          <p:spPr bwMode="auto">
            <a:xfrm>
              <a:off x="4578" y="3045"/>
              <a:ext cx="9" cy="23"/>
            </a:xfrm>
            <a:custGeom>
              <a:avLst/>
              <a:gdLst>
                <a:gd name="T0" fmla="*/ 0 w 9"/>
                <a:gd name="T1" fmla="*/ 0 h 23"/>
                <a:gd name="T2" fmla="*/ 0 w 9"/>
                <a:gd name="T3" fmla="*/ 0 h 23"/>
                <a:gd name="T4" fmla="*/ 0 w 9"/>
                <a:gd name="T5" fmla="*/ 0 h 23"/>
                <a:gd name="T6" fmla="*/ 0 w 9"/>
                <a:gd name="T7" fmla="*/ 6 h 23"/>
                <a:gd name="T8" fmla="*/ 0 w 9"/>
                <a:gd name="T9" fmla="*/ 6 h 23"/>
                <a:gd name="T10" fmla="*/ 0 w 9"/>
                <a:gd name="T11" fmla="*/ 6 h 23"/>
                <a:gd name="T12" fmla="*/ 4 w 9"/>
                <a:gd name="T13" fmla="*/ 6 h 23"/>
                <a:gd name="T14" fmla="*/ 4 w 9"/>
                <a:gd name="T15" fmla="*/ 6 h 23"/>
                <a:gd name="T16" fmla="*/ 4 w 9"/>
                <a:gd name="T17" fmla="*/ 6 h 23"/>
                <a:gd name="T18" fmla="*/ 4 w 9"/>
                <a:gd name="T19" fmla="*/ 6 h 23"/>
                <a:gd name="T20" fmla="*/ 4 w 9"/>
                <a:gd name="T21" fmla="*/ 6 h 23"/>
                <a:gd name="T22" fmla="*/ 4 w 9"/>
                <a:gd name="T23" fmla="*/ 6 h 23"/>
                <a:gd name="T24" fmla="*/ 4 w 9"/>
                <a:gd name="T25" fmla="*/ 6 h 23"/>
                <a:gd name="T26" fmla="*/ 4 w 9"/>
                <a:gd name="T27" fmla="*/ 6 h 23"/>
                <a:gd name="T28" fmla="*/ 4 w 9"/>
                <a:gd name="T29" fmla="*/ 6 h 23"/>
                <a:gd name="T30" fmla="*/ 4 w 9"/>
                <a:gd name="T31" fmla="*/ 11 h 23"/>
                <a:gd name="T32" fmla="*/ 4 w 9"/>
                <a:gd name="T33" fmla="*/ 11 h 23"/>
                <a:gd name="T34" fmla="*/ 4 w 9"/>
                <a:gd name="T35" fmla="*/ 11 h 23"/>
                <a:gd name="T36" fmla="*/ 4 w 9"/>
                <a:gd name="T37" fmla="*/ 11 h 23"/>
                <a:gd name="T38" fmla="*/ 4 w 9"/>
                <a:gd name="T39" fmla="*/ 11 h 23"/>
                <a:gd name="T40" fmla="*/ 4 w 9"/>
                <a:gd name="T41" fmla="*/ 11 h 23"/>
                <a:gd name="T42" fmla="*/ 4 w 9"/>
                <a:gd name="T43" fmla="*/ 11 h 23"/>
                <a:gd name="T44" fmla="*/ 4 w 9"/>
                <a:gd name="T45" fmla="*/ 11 h 23"/>
                <a:gd name="T46" fmla="*/ 4 w 9"/>
                <a:gd name="T47" fmla="*/ 11 h 23"/>
                <a:gd name="T48" fmla="*/ 4 w 9"/>
                <a:gd name="T49" fmla="*/ 11 h 23"/>
                <a:gd name="T50" fmla="*/ 4 w 9"/>
                <a:gd name="T51" fmla="*/ 11 h 23"/>
                <a:gd name="T52" fmla="*/ 4 w 9"/>
                <a:gd name="T53" fmla="*/ 11 h 23"/>
                <a:gd name="T54" fmla="*/ 4 w 9"/>
                <a:gd name="T55" fmla="*/ 17 h 23"/>
                <a:gd name="T56" fmla="*/ 4 w 9"/>
                <a:gd name="T57" fmla="*/ 17 h 23"/>
                <a:gd name="T58" fmla="*/ 4 w 9"/>
                <a:gd name="T59" fmla="*/ 17 h 23"/>
                <a:gd name="T60" fmla="*/ 4 w 9"/>
                <a:gd name="T61" fmla="*/ 17 h 23"/>
                <a:gd name="T62" fmla="*/ 4 w 9"/>
                <a:gd name="T63" fmla="*/ 17 h 23"/>
                <a:gd name="T64" fmla="*/ 4 w 9"/>
                <a:gd name="T65" fmla="*/ 17 h 23"/>
                <a:gd name="T66" fmla="*/ 4 w 9"/>
                <a:gd name="T67" fmla="*/ 17 h 23"/>
                <a:gd name="T68" fmla="*/ 4 w 9"/>
                <a:gd name="T69" fmla="*/ 17 h 23"/>
                <a:gd name="T70" fmla="*/ 4 w 9"/>
                <a:gd name="T71" fmla="*/ 17 h 23"/>
                <a:gd name="T72" fmla="*/ 4 w 9"/>
                <a:gd name="T73" fmla="*/ 17 h 23"/>
                <a:gd name="T74" fmla="*/ 4 w 9"/>
                <a:gd name="T75" fmla="*/ 17 h 23"/>
                <a:gd name="T76" fmla="*/ 4 w 9"/>
                <a:gd name="T77" fmla="*/ 17 h 23"/>
                <a:gd name="T78" fmla="*/ 4 w 9"/>
                <a:gd name="T79" fmla="*/ 23 h 23"/>
                <a:gd name="T80" fmla="*/ 4 w 9"/>
                <a:gd name="T81" fmla="*/ 23 h 23"/>
                <a:gd name="T82" fmla="*/ 4 w 9"/>
                <a:gd name="T83" fmla="*/ 23 h 23"/>
                <a:gd name="T84" fmla="*/ 4 w 9"/>
                <a:gd name="T85" fmla="*/ 23 h 23"/>
                <a:gd name="T86" fmla="*/ 4 w 9"/>
                <a:gd name="T87" fmla="*/ 23 h 23"/>
                <a:gd name="T88" fmla="*/ 4 w 9"/>
                <a:gd name="T89" fmla="*/ 23 h 23"/>
                <a:gd name="T90" fmla="*/ 4 w 9"/>
                <a:gd name="T91" fmla="*/ 23 h 23"/>
                <a:gd name="T92" fmla="*/ 9 w 9"/>
                <a:gd name="T93" fmla="*/ 23 h 23"/>
                <a:gd name="T94" fmla="*/ 9 w 9"/>
                <a:gd name="T95" fmla="*/ 23 h 23"/>
                <a:gd name="T96" fmla="*/ 9 w 9"/>
                <a:gd name="T97" fmla="*/ 23 h 23"/>
                <a:gd name="T98" fmla="*/ 9 w 9"/>
                <a:gd name="T99" fmla="*/ 23 h 23"/>
                <a:gd name="T100" fmla="*/ 9 w 9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23"/>
                <a:gd name="T155" fmla="*/ 9 w 9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4" y="6"/>
                  </a:lnTo>
                  <a:lnTo>
                    <a:pt x="4" y="11"/>
                  </a:lnTo>
                  <a:lnTo>
                    <a:pt x="4" y="17"/>
                  </a:lnTo>
                  <a:lnTo>
                    <a:pt x="4" y="23"/>
                  </a:lnTo>
                  <a:lnTo>
                    <a:pt x="9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5" name="Freeform 62"/>
            <p:cNvSpPr>
              <a:spLocks/>
            </p:cNvSpPr>
            <p:nvPr/>
          </p:nvSpPr>
          <p:spPr bwMode="auto">
            <a:xfrm>
              <a:off x="4587" y="3068"/>
              <a:ext cx="5" cy="28"/>
            </a:xfrm>
            <a:custGeom>
              <a:avLst/>
              <a:gdLst>
                <a:gd name="T0" fmla="*/ 0 w 5"/>
                <a:gd name="T1" fmla="*/ 0 h 28"/>
                <a:gd name="T2" fmla="*/ 0 w 5"/>
                <a:gd name="T3" fmla="*/ 6 h 28"/>
                <a:gd name="T4" fmla="*/ 0 w 5"/>
                <a:gd name="T5" fmla="*/ 6 h 28"/>
                <a:gd name="T6" fmla="*/ 0 w 5"/>
                <a:gd name="T7" fmla="*/ 6 h 28"/>
                <a:gd name="T8" fmla="*/ 0 w 5"/>
                <a:gd name="T9" fmla="*/ 6 h 28"/>
                <a:gd name="T10" fmla="*/ 0 w 5"/>
                <a:gd name="T11" fmla="*/ 6 h 28"/>
                <a:gd name="T12" fmla="*/ 0 w 5"/>
                <a:gd name="T13" fmla="*/ 6 h 28"/>
                <a:gd name="T14" fmla="*/ 0 w 5"/>
                <a:gd name="T15" fmla="*/ 6 h 28"/>
                <a:gd name="T16" fmla="*/ 0 w 5"/>
                <a:gd name="T17" fmla="*/ 6 h 28"/>
                <a:gd name="T18" fmla="*/ 0 w 5"/>
                <a:gd name="T19" fmla="*/ 6 h 28"/>
                <a:gd name="T20" fmla="*/ 0 w 5"/>
                <a:gd name="T21" fmla="*/ 6 h 28"/>
                <a:gd name="T22" fmla="*/ 0 w 5"/>
                <a:gd name="T23" fmla="*/ 6 h 28"/>
                <a:gd name="T24" fmla="*/ 0 w 5"/>
                <a:gd name="T25" fmla="*/ 6 h 28"/>
                <a:gd name="T26" fmla="*/ 0 w 5"/>
                <a:gd name="T27" fmla="*/ 11 h 28"/>
                <a:gd name="T28" fmla="*/ 0 w 5"/>
                <a:gd name="T29" fmla="*/ 11 h 28"/>
                <a:gd name="T30" fmla="*/ 0 w 5"/>
                <a:gd name="T31" fmla="*/ 11 h 28"/>
                <a:gd name="T32" fmla="*/ 0 w 5"/>
                <a:gd name="T33" fmla="*/ 11 h 28"/>
                <a:gd name="T34" fmla="*/ 0 w 5"/>
                <a:gd name="T35" fmla="*/ 11 h 28"/>
                <a:gd name="T36" fmla="*/ 0 w 5"/>
                <a:gd name="T37" fmla="*/ 11 h 28"/>
                <a:gd name="T38" fmla="*/ 0 w 5"/>
                <a:gd name="T39" fmla="*/ 11 h 28"/>
                <a:gd name="T40" fmla="*/ 0 w 5"/>
                <a:gd name="T41" fmla="*/ 11 h 28"/>
                <a:gd name="T42" fmla="*/ 0 w 5"/>
                <a:gd name="T43" fmla="*/ 11 h 28"/>
                <a:gd name="T44" fmla="*/ 0 w 5"/>
                <a:gd name="T45" fmla="*/ 11 h 28"/>
                <a:gd name="T46" fmla="*/ 0 w 5"/>
                <a:gd name="T47" fmla="*/ 11 h 28"/>
                <a:gd name="T48" fmla="*/ 0 w 5"/>
                <a:gd name="T49" fmla="*/ 11 h 28"/>
                <a:gd name="T50" fmla="*/ 0 w 5"/>
                <a:gd name="T51" fmla="*/ 17 h 28"/>
                <a:gd name="T52" fmla="*/ 0 w 5"/>
                <a:gd name="T53" fmla="*/ 17 h 28"/>
                <a:gd name="T54" fmla="*/ 0 w 5"/>
                <a:gd name="T55" fmla="*/ 17 h 28"/>
                <a:gd name="T56" fmla="*/ 0 w 5"/>
                <a:gd name="T57" fmla="*/ 17 h 28"/>
                <a:gd name="T58" fmla="*/ 0 w 5"/>
                <a:gd name="T59" fmla="*/ 17 h 28"/>
                <a:gd name="T60" fmla="*/ 0 w 5"/>
                <a:gd name="T61" fmla="*/ 17 h 28"/>
                <a:gd name="T62" fmla="*/ 0 w 5"/>
                <a:gd name="T63" fmla="*/ 17 h 28"/>
                <a:gd name="T64" fmla="*/ 0 w 5"/>
                <a:gd name="T65" fmla="*/ 17 h 28"/>
                <a:gd name="T66" fmla="*/ 0 w 5"/>
                <a:gd name="T67" fmla="*/ 17 h 28"/>
                <a:gd name="T68" fmla="*/ 0 w 5"/>
                <a:gd name="T69" fmla="*/ 17 h 28"/>
                <a:gd name="T70" fmla="*/ 0 w 5"/>
                <a:gd name="T71" fmla="*/ 17 h 28"/>
                <a:gd name="T72" fmla="*/ 0 w 5"/>
                <a:gd name="T73" fmla="*/ 23 h 28"/>
                <a:gd name="T74" fmla="*/ 5 w 5"/>
                <a:gd name="T75" fmla="*/ 23 h 28"/>
                <a:gd name="T76" fmla="*/ 5 w 5"/>
                <a:gd name="T77" fmla="*/ 23 h 28"/>
                <a:gd name="T78" fmla="*/ 5 w 5"/>
                <a:gd name="T79" fmla="*/ 23 h 28"/>
                <a:gd name="T80" fmla="*/ 5 w 5"/>
                <a:gd name="T81" fmla="*/ 23 h 28"/>
                <a:gd name="T82" fmla="*/ 5 w 5"/>
                <a:gd name="T83" fmla="*/ 23 h 28"/>
                <a:gd name="T84" fmla="*/ 5 w 5"/>
                <a:gd name="T85" fmla="*/ 23 h 28"/>
                <a:gd name="T86" fmla="*/ 5 w 5"/>
                <a:gd name="T87" fmla="*/ 23 h 28"/>
                <a:gd name="T88" fmla="*/ 5 w 5"/>
                <a:gd name="T89" fmla="*/ 23 h 28"/>
                <a:gd name="T90" fmla="*/ 5 w 5"/>
                <a:gd name="T91" fmla="*/ 23 h 28"/>
                <a:gd name="T92" fmla="*/ 5 w 5"/>
                <a:gd name="T93" fmla="*/ 23 h 28"/>
                <a:gd name="T94" fmla="*/ 5 w 5"/>
                <a:gd name="T95" fmla="*/ 23 h 28"/>
                <a:gd name="T96" fmla="*/ 5 w 5"/>
                <a:gd name="T97" fmla="*/ 28 h 28"/>
                <a:gd name="T98" fmla="*/ 5 w 5"/>
                <a:gd name="T99" fmla="*/ 28 h 28"/>
                <a:gd name="T100" fmla="*/ 5 w 5"/>
                <a:gd name="T101" fmla="*/ 28 h 2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8"/>
                <a:gd name="T155" fmla="*/ 5 w 5"/>
                <a:gd name="T156" fmla="*/ 28 h 2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8">
                  <a:moveTo>
                    <a:pt x="0" y="0"/>
                  </a:moveTo>
                  <a:lnTo>
                    <a:pt x="0" y="6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23"/>
                  </a:lnTo>
                  <a:lnTo>
                    <a:pt x="5" y="23"/>
                  </a:lnTo>
                  <a:lnTo>
                    <a:pt x="5" y="28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6" name="Freeform 63"/>
            <p:cNvSpPr>
              <a:spLocks/>
            </p:cNvSpPr>
            <p:nvPr/>
          </p:nvSpPr>
          <p:spPr bwMode="auto">
            <a:xfrm>
              <a:off x="4592" y="3096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0 h 23"/>
                <a:gd name="T10" fmla="*/ 0 w 5"/>
                <a:gd name="T11" fmla="*/ 0 h 23"/>
                <a:gd name="T12" fmla="*/ 0 w 5"/>
                <a:gd name="T13" fmla="*/ 0 h 23"/>
                <a:gd name="T14" fmla="*/ 0 w 5"/>
                <a:gd name="T15" fmla="*/ 0 h 23"/>
                <a:gd name="T16" fmla="*/ 0 w 5"/>
                <a:gd name="T17" fmla="*/ 0 h 23"/>
                <a:gd name="T18" fmla="*/ 0 w 5"/>
                <a:gd name="T19" fmla="*/ 0 h 23"/>
                <a:gd name="T20" fmla="*/ 0 w 5"/>
                <a:gd name="T21" fmla="*/ 6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0 w 5"/>
                <a:gd name="T31" fmla="*/ 6 h 23"/>
                <a:gd name="T32" fmla="*/ 0 w 5"/>
                <a:gd name="T33" fmla="*/ 6 h 23"/>
                <a:gd name="T34" fmla="*/ 0 w 5"/>
                <a:gd name="T35" fmla="*/ 6 h 23"/>
                <a:gd name="T36" fmla="*/ 0 w 5"/>
                <a:gd name="T37" fmla="*/ 6 h 23"/>
                <a:gd name="T38" fmla="*/ 0 w 5"/>
                <a:gd name="T39" fmla="*/ 6 h 23"/>
                <a:gd name="T40" fmla="*/ 0 w 5"/>
                <a:gd name="T41" fmla="*/ 6 h 23"/>
                <a:gd name="T42" fmla="*/ 0 w 5"/>
                <a:gd name="T43" fmla="*/ 12 h 23"/>
                <a:gd name="T44" fmla="*/ 0 w 5"/>
                <a:gd name="T45" fmla="*/ 12 h 23"/>
                <a:gd name="T46" fmla="*/ 0 w 5"/>
                <a:gd name="T47" fmla="*/ 12 h 23"/>
                <a:gd name="T48" fmla="*/ 0 w 5"/>
                <a:gd name="T49" fmla="*/ 12 h 23"/>
                <a:gd name="T50" fmla="*/ 0 w 5"/>
                <a:gd name="T51" fmla="*/ 12 h 23"/>
                <a:gd name="T52" fmla="*/ 0 w 5"/>
                <a:gd name="T53" fmla="*/ 12 h 23"/>
                <a:gd name="T54" fmla="*/ 5 w 5"/>
                <a:gd name="T55" fmla="*/ 12 h 23"/>
                <a:gd name="T56" fmla="*/ 5 w 5"/>
                <a:gd name="T57" fmla="*/ 12 h 23"/>
                <a:gd name="T58" fmla="*/ 5 w 5"/>
                <a:gd name="T59" fmla="*/ 12 h 23"/>
                <a:gd name="T60" fmla="*/ 5 w 5"/>
                <a:gd name="T61" fmla="*/ 12 h 23"/>
                <a:gd name="T62" fmla="*/ 5 w 5"/>
                <a:gd name="T63" fmla="*/ 12 h 23"/>
                <a:gd name="T64" fmla="*/ 5 w 5"/>
                <a:gd name="T65" fmla="*/ 12 h 23"/>
                <a:gd name="T66" fmla="*/ 5 w 5"/>
                <a:gd name="T67" fmla="*/ 17 h 23"/>
                <a:gd name="T68" fmla="*/ 5 w 5"/>
                <a:gd name="T69" fmla="*/ 17 h 23"/>
                <a:gd name="T70" fmla="*/ 5 w 5"/>
                <a:gd name="T71" fmla="*/ 17 h 23"/>
                <a:gd name="T72" fmla="*/ 5 w 5"/>
                <a:gd name="T73" fmla="*/ 17 h 23"/>
                <a:gd name="T74" fmla="*/ 5 w 5"/>
                <a:gd name="T75" fmla="*/ 17 h 23"/>
                <a:gd name="T76" fmla="*/ 5 w 5"/>
                <a:gd name="T77" fmla="*/ 17 h 23"/>
                <a:gd name="T78" fmla="*/ 5 w 5"/>
                <a:gd name="T79" fmla="*/ 17 h 23"/>
                <a:gd name="T80" fmla="*/ 5 w 5"/>
                <a:gd name="T81" fmla="*/ 17 h 23"/>
                <a:gd name="T82" fmla="*/ 5 w 5"/>
                <a:gd name="T83" fmla="*/ 17 h 23"/>
                <a:gd name="T84" fmla="*/ 5 w 5"/>
                <a:gd name="T85" fmla="*/ 17 h 23"/>
                <a:gd name="T86" fmla="*/ 5 w 5"/>
                <a:gd name="T87" fmla="*/ 17 h 23"/>
                <a:gd name="T88" fmla="*/ 5 w 5"/>
                <a:gd name="T89" fmla="*/ 23 h 23"/>
                <a:gd name="T90" fmla="*/ 5 w 5"/>
                <a:gd name="T91" fmla="*/ 23 h 23"/>
                <a:gd name="T92" fmla="*/ 5 w 5"/>
                <a:gd name="T93" fmla="*/ 23 h 23"/>
                <a:gd name="T94" fmla="*/ 5 w 5"/>
                <a:gd name="T95" fmla="*/ 23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7" name="Freeform 64"/>
            <p:cNvSpPr>
              <a:spLocks/>
            </p:cNvSpPr>
            <p:nvPr/>
          </p:nvSpPr>
          <p:spPr bwMode="auto">
            <a:xfrm>
              <a:off x="4597" y="3119"/>
              <a:ext cx="4" cy="23"/>
            </a:xfrm>
            <a:custGeom>
              <a:avLst/>
              <a:gdLst>
                <a:gd name="T0" fmla="*/ 0 w 4"/>
                <a:gd name="T1" fmla="*/ 0 h 23"/>
                <a:gd name="T2" fmla="*/ 0 w 4"/>
                <a:gd name="T3" fmla="*/ 0 h 23"/>
                <a:gd name="T4" fmla="*/ 0 w 4"/>
                <a:gd name="T5" fmla="*/ 0 h 23"/>
                <a:gd name="T6" fmla="*/ 0 w 4"/>
                <a:gd name="T7" fmla="*/ 0 h 23"/>
                <a:gd name="T8" fmla="*/ 0 w 4"/>
                <a:gd name="T9" fmla="*/ 0 h 23"/>
                <a:gd name="T10" fmla="*/ 0 w 4"/>
                <a:gd name="T11" fmla="*/ 0 h 23"/>
                <a:gd name="T12" fmla="*/ 0 w 4"/>
                <a:gd name="T13" fmla="*/ 6 h 23"/>
                <a:gd name="T14" fmla="*/ 0 w 4"/>
                <a:gd name="T15" fmla="*/ 6 h 23"/>
                <a:gd name="T16" fmla="*/ 0 w 4"/>
                <a:gd name="T17" fmla="*/ 6 h 23"/>
                <a:gd name="T18" fmla="*/ 0 w 4"/>
                <a:gd name="T19" fmla="*/ 6 h 23"/>
                <a:gd name="T20" fmla="*/ 0 w 4"/>
                <a:gd name="T21" fmla="*/ 6 h 23"/>
                <a:gd name="T22" fmla="*/ 0 w 4"/>
                <a:gd name="T23" fmla="*/ 6 h 23"/>
                <a:gd name="T24" fmla="*/ 0 w 4"/>
                <a:gd name="T25" fmla="*/ 6 h 23"/>
                <a:gd name="T26" fmla="*/ 0 w 4"/>
                <a:gd name="T27" fmla="*/ 6 h 23"/>
                <a:gd name="T28" fmla="*/ 0 w 4"/>
                <a:gd name="T29" fmla="*/ 6 h 23"/>
                <a:gd name="T30" fmla="*/ 0 w 4"/>
                <a:gd name="T31" fmla="*/ 6 h 23"/>
                <a:gd name="T32" fmla="*/ 0 w 4"/>
                <a:gd name="T33" fmla="*/ 6 h 23"/>
                <a:gd name="T34" fmla="*/ 0 w 4"/>
                <a:gd name="T35" fmla="*/ 11 h 23"/>
                <a:gd name="T36" fmla="*/ 4 w 4"/>
                <a:gd name="T37" fmla="*/ 11 h 23"/>
                <a:gd name="T38" fmla="*/ 4 w 4"/>
                <a:gd name="T39" fmla="*/ 11 h 23"/>
                <a:gd name="T40" fmla="*/ 4 w 4"/>
                <a:gd name="T41" fmla="*/ 11 h 23"/>
                <a:gd name="T42" fmla="*/ 4 w 4"/>
                <a:gd name="T43" fmla="*/ 11 h 23"/>
                <a:gd name="T44" fmla="*/ 4 w 4"/>
                <a:gd name="T45" fmla="*/ 11 h 23"/>
                <a:gd name="T46" fmla="*/ 4 w 4"/>
                <a:gd name="T47" fmla="*/ 11 h 23"/>
                <a:gd name="T48" fmla="*/ 4 w 4"/>
                <a:gd name="T49" fmla="*/ 11 h 23"/>
                <a:gd name="T50" fmla="*/ 4 w 4"/>
                <a:gd name="T51" fmla="*/ 11 h 23"/>
                <a:gd name="T52" fmla="*/ 4 w 4"/>
                <a:gd name="T53" fmla="*/ 11 h 23"/>
                <a:gd name="T54" fmla="*/ 4 w 4"/>
                <a:gd name="T55" fmla="*/ 11 h 23"/>
                <a:gd name="T56" fmla="*/ 4 w 4"/>
                <a:gd name="T57" fmla="*/ 11 h 23"/>
                <a:gd name="T58" fmla="*/ 4 w 4"/>
                <a:gd name="T59" fmla="*/ 17 h 23"/>
                <a:gd name="T60" fmla="*/ 4 w 4"/>
                <a:gd name="T61" fmla="*/ 17 h 23"/>
                <a:gd name="T62" fmla="*/ 4 w 4"/>
                <a:gd name="T63" fmla="*/ 17 h 23"/>
                <a:gd name="T64" fmla="*/ 4 w 4"/>
                <a:gd name="T65" fmla="*/ 17 h 23"/>
                <a:gd name="T66" fmla="*/ 4 w 4"/>
                <a:gd name="T67" fmla="*/ 17 h 23"/>
                <a:gd name="T68" fmla="*/ 4 w 4"/>
                <a:gd name="T69" fmla="*/ 17 h 23"/>
                <a:gd name="T70" fmla="*/ 4 w 4"/>
                <a:gd name="T71" fmla="*/ 17 h 23"/>
                <a:gd name="T72" fmla="*/ 4 w 4"/>
                <a:gd name="T73" fmla="*/ 17 h 23"/>
                <a:gd name="T74" fmla="*/ 4 w 4"/>
                <a:gd name="T75" fmla="*/ 17 h 23"/>
                <a:gd name="T76" fmla="*/ 4 w 4"/>
                <a:gd name="T77" fmla="*/ 17 h 23"/>
                <a:gd name="T78" fmla="*/ 4 w 4"/>
                <a:gd name="T79" fmla="*/ 17 h 23"/>
                <a:gd name="T80" fmla="*/ 4 w 4"/>
                <a:gd name="T81" fmla="*/ 17 h 23"/>
                <a:gd name="T82" fmla="*/ 4 w 4"/>
                <a:gd name="T83" fmla="*/ 23 h 23"/>
                <a:gd name="T84" fmla="*/ 4 w 4"/>
                <a:gd name="T85" fmla="*/ 23 h 23"/>
                <a:gd name="T86" fmla="*/ 4 w 4"/>
                <a:gd name="T87" fmla="*/ 23 h 23"/>
                <a:gd name="T88" fmla="*/ 4 w 4"/>
                <a:gd name="T89" fmla="*/ 23 h 23"/>
                <a:gd name="T90" fmla="*/ 4 w 4"/>
                <a:gd name="T91" fmla="*/ 23 h 23"/>
                <a:gd name="T92" fmla="*/ 4 w 4"/>
                <a:gd name="T93" fmla="*/ 23 h 23"/>
                <a:gd name="T94" fmla="*/ 4 w 4"/>
                <a:gd name="T95" fmla="*/ 23 h 23"/>
                <a:gd name="T96" fmla="*/ 4 w 4"/>
                <a:gd name="T97" fmla="*/ 23 h 23"/>
                <a:gd name="T98" fmla="*/ 4 w 4"/>
                <a:gd name="T99" fmla="*/ 23 h 23"/>
                <a:gd name="T100" fmla="*/ 4 w 4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17"/>
                  </a:lnTo>
                  <a:lnTo>
                    <a:pt x="4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8" name="Freeform 65"/>
            <p:cNvSpPr>
              <a:spLocks/>
            </p:cNvSpPr>
            <p:nvPr/>
          </p:nvSpPr>
          <p:spPr bwMode="auto">
            <a:xfrm>
              <a:off x="4601" y="3142"/>
              <a:ext cx="10" cy="28"/>
            </a:xfrm>
            <a:custGeom>
              <a:avLst/>
              <a:gdLst>
                <a:gd name="T0" fmla="*/ 0 w 10"/>
                <a:gd name="T1" fmla="*/ 0 h 28"/>
                <a:gd name="T2" fmla="*/ 0 w 10"/>
                <a:gd name="T3" fmla="*/ 0 h 28"/>
                <a:gd name="T4" fmla="*/ 0 w 10"/>
                <a:gd name="T5" fmla="*/ 6 h 28"/>
                <a:gd name="T6" fmla="*/ 0 w 10"/>
                <a:gd name="T7" fmla="*/ 6 h 28"/>
                <a:gd name="T8" fmla="*/ 0 w 10"/>
                <a:gd name="T9" fmla="*/ 6 h 28"/>
                <a:gd name="T10" fmla="*/ 0 w 10"/>
                <a:gd name="T11" fmla="*/ 6 h 28"/>
                <a:gd name="T12" fmla="*/ 0 w 10"/>
                <a:gd name="T13" fmla="*/ 6 h 28"/>
                <a:gd name="T14" fmla="*/ 0 w 10"/>
                <a:gd name="T15" fmla="*/ 6 h 28"/>
                <a:gd name="T16" fmla="*/ 5 w 10"/>
                <a:gd name="T17" fmla="*/ 6 h 28"/>
                <a:gd name="T18" fmla="*/ 5 w 10"/>
                <a:gd name="T19" fmla="*/ 6 h 28"/>
                <a:gd name="T20" fmla="*/ 5 w 10"/>
                <a:gd name="T21" fmla="*/ 6 h 28"/>
                <a:gd name="T22" fmla="*/ 5 w 10"/>
                <a:gd name="T23" fmla="*/ 6 h 28"/>
                <a:gd name="T24" fmla="*/ 5 w 10"/>
                <a:gd name="T25" fmla="*/ 6 h 28"/>
                <a:gd name="T26" fmla="*/ 5 w 10"/>
                <a:gd name="T27" fmla="*/ 6 h 28"/>
                <a:gd name="T28" fmla="*/ 5 w 10"/>
                <a:gd name="T29" fmla="*/ 11 h 28"/>
                <a:gd name="T30" fmla="*/ 5 w 10"/>
                <a:gd name="T31" fmla="*/ 11 h 28"/>
                <a:gd name="T32" fmla="*/ 5 w 10"/>
                <a:gd name="T33" fmla="*/ 11 h 28"/>
                <a:gd name="T34" fmla="*/ 5 w 10"/>
                <a:gd name="T35" fmla="*/ 11 h 28"/>
                <a:gd name="T36" fmla="*/ 5 w 10"/>
                <a:gd name="T37" fmla="*/ 11 h 28"/>
                <a:gd name="T38" fmla="*/ 5 w 10"/>
                <a:gd name="T39" fmla="*/ 11 h 28"/>
                <a:gd name="T40" fmla="*/ 5 w 10"/>
                <a:gd name="T41" fmla="*/ 11 h 28"/>
                <a:gd name="T42" fmla="*/ 5 w 10"/>
                <a:gd name="T43" fmla="*/ 11 h 28"/>
                <a:gd name="T44" fmla="*/ 5 w 10"/>
                <a:gd name="T45" fmla="*/ 11 h 28"/>
                <a:gd name="T46" fmla="*/ 5 w 10"/>
                <a:gd name="T47" fmla="*/ 11 h 28"/>
                <a:gd name="T48" fmla="*/ 5 w 10"/>
                <a:gd name="T49" fmla="*/ 11 h 28"/>
                <a:gd name="T50" fmla="*/ 5 w 10"/>
                <a:gd name="T51" fmla="*/ 11 h 28"/>
                <a:gd name="T52" fmla="*/ 5 w 10"/>
                <a:gd name="T53" fmla="*/ 17 h 28"/>
                <a:gd name="T54" fmla="*/ 5 w 10"/>
                <a:gd name="T55" fmla="*/ 17 h 28"/>
                <a:gd name="T56" fmla="*/ 5 w 10"/>
                <a:gd name="T57" fmla="*/ 17 h 28"/>
                <a:gd name="T58" fmla="*/ 5 w 10"/>
                <a:gd name="T59" fmla="*/ 17 h 28"/>
                <a:gd name="T60" fmla="*/ 5 w 10"/>
                <a:gd name="T61" fmla="*/ 17 h 28"/>
                <a:gd name="T62" fmla="*/ 5 w 10"/>
                <a:gd name="T63" fmla="*/ 17 h 28"/>
                <a:gd name="T64" fmla="*/ 5 w 10"/>
                <a:gd name="T65" fmla="*/ 17 h 28"/>
                <a:gd name="T66" fmla="*/ 5 w 10"/>
                <a:gd name="T67" fmla="*/ 17 h 28"/>
                <a:gd name="T68" fmla="*/ 5 w 10"/>
                <a:gd name="T69" fmla="*/ 17 h 28"/>
                <a:gd name="T70" fmla="*/ 5 w 10"/>
                <a:gd name="T71" fmla="*/ 17 h 28"/>
                <a:gd name="T72" fmla="*/ 5 w 10"/>
                <a:gd name="T73" fmla="*/ 17 h 28"/>
                <a:gd name="T74" fmla="*/ 5 w 10"/>
                <a:gd name="T75" fmla="*/ 23 h 28"/>
                <a:gd name="T76" fmla="*/ 5 w 10"/>
                <a:gd name="T77" fmla="*/ 23 h 28"/>
                <a:gd name="T78" fmla="*/ 5 w 10"/>
                <a:gd name="T79" fmla="*/ 23 h 28"/>
                <a:gd name="T80" fmla="*/ 5 w 10"/>
                <a:gd name="T81" fmla="*/ 23 h 28"/>
                <a:gd name="T82" fmla="*/ 5 w 10"/>
                <a:gd name="T83" fmla="*/ 23 h 28"/>
                <a:gd name="T84" fmla="*/ 5 w 10"/>
                <a:gd name="T85" fmla="*/ 23 h 28"/>
                <a:gd name="T86" fmla="*/ 5 w 10"/>
                <a:gd name="T87" fmla="*/ 23 h 28"/>
                <a:gd name="T88" fmla="*/ 5 w 10"/>
                <a:gd name="T89" fmla="*/ 23 h 28"/>
                <a:gd name="T90" fmla="*/ 5 w 10"/>
                <a:gd name="T91" fmla="*/ 23 h 28"/>
                <a:gd name="T92" fmla="*/ 5 w 10"/>
                <a:gd name="T93" fmla="*/ 23 h 28"/>
                <a:gd name="T94" fmla="*/ 5 w 10"/>
                <a:gd name="T95" fmla="*/ 23 h 28"/>
                <a:gd name="T96" fmla="*/ 5 w 10"/>
                <a:gd name="T97" fmla="*/ 23 h 28"/>
                <a:gd name="T98" fmla="*/ 10 w 10"/>
                <a:gd name="T99" fmla="*/ 28 h 28"/>
                <a:gd name="T100" fmla="*/ 10 w 10"/>
                <a:gd name="T101" fmla="*/ 28 h 2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8"/>
                <a:gd name="T155" fmla="*/ 10 w 10"/>
                <a:gd name="T156" fmla="*/ 28 h 2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8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5" y="23"/>
                  </a:lnTo>
                  <a:lnTo>
                    <a:pt x="10" y="28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9" name="Freeform 66"/>
            <p:cNvSpPr>
              <a:spLocks/>
            </p:cNvSpPr>
            <p:nvPr/>
          </p:nvSpPr>
          <p:spPr bwMode="auto">
            <a:xfrm>
              <a:off x="4611" y="3170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0 h 23"/>
                <a:gd name="T10" fmla="*/ 0 w 5"/>
                <a:gd name="T11" fmla="*/ 0 h 23"/>
                <a:gd name="T12" fmla="*/ 0 w 5"/>
                <a:gd name="T13" fmla="*/ 0 h 23"/>
                <a:gd name="T14" fmla="*/ 0 w 5"/>
                <a:gd name="T15" fmla="*/ 0 h 23"/>
                <a:gd name="T16" fmla="*/ 0 w 5"/>
                <a:gd name="T17" fmla="*/ 0 h 23"/>
                <a:gd name="T18" fmla="*/ 0 w 5"/>
                <a:gd name="T19" fmla="*/ 0 h 23"/>
                <a:gd name="T20" fmla="*/ 0 w 5"/>
                <a:gd name="T21" fmla="*/ 0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0 w 5"/>
                <a:gd name="T31" fmla="*/ 6 h 23"/>
                <a:gd name="T32" fmla="*/ 0 w 5"/>
                <a:gd name="T33" fmla="*/ 6 h 23"/>
                <a:gd name="T34" fmla="*/ 0 w 5"/>
                <a:gd name="T35" fmla="*/ 6 h 23"/>
                <a:gd name="T36" fmla="*/ 0 w 5"/>
                <a:gd name="T37" fmla="*/ 6 h 23"/>
                <a:gd name="T38" fmla="*/ 0 w 5"/>
                <a:gd name="T39" fmla="*/ 6 h 23"/>
                <a:gd name="T40" fmla="*/ 0 w 5"/>
                <a:gd name="T41" fmla="*/ 6 h 23"/>
                <a:gd name="T42" fmla="*/ 0 w 5"/>
                <a:gd name="T43" fmla="*/ 6 h 23"/>
                <a:gd name="T44" fmla="*/ 0 w 5"/>
                <a:gd name="T45" fmla="*/ 6 h 23"/>
                <a:gd name="T46" fmla="*/ 0 w 5"/>
                <a:gd name="T47" fmla="*/ 12 h 23"/>
                <a:gd name="T48" fmla="*/ 0 w 5"/>
                <a:gd name="T49" fmla="*/ 12 h 23"/>
                <a:gd name="T50" fmla="*/ 0 w 5"/>
                <a:gd name="T51" fmla="*/ 12 h 23"/>
                <a:gd name="T52" fmla="*/ 0 w 5"/>
                <a:gd name="T53" fmla="*/ 12 h 23"/>
                <a:gd name="T54" fmla="*/ 0 w 5"/>
                <a:gd name="T55" fmla="*/ 12 h 23"/>
                <a:gd name="T56" fmla="*/ 0 w 5"/>
                <a:gd name="T57" fmla="*/ 12 h 23"/>
                <a:gd name="T58" fmla="*/ 0 w 5"/>
                <a:gd name="T59" fmla="*/ 12 h 23"/>
                <a:gd name="T60" fmla="*/ 0 w 5"/>
                <a:gd name="T61" fmla="*/ 12 h 23"/>
                <a:gd name="T62" fmla="*/ 0 w 5"/>
                <a:gd name="T63" fmla="*/ 12 h 23"/>
                <a:gd name="T64" fmla="*/ 0 w 5"/>
                <a:gd name="T65" fmla="*/ 12 h 23"/>
                <a:gd name="T66" fmla="*/ 0 w 5"/>
                <a:gd name="T67" fmla="*/ 12 h 23"/>
                <a:gd name="T68" fmla="*/ 0 w 5"/>
                <a:gd name="T69" fmla="*/ 12 h 23"/>
                <a:gd name="T70" fmla="*/ 0 w 5"/>
                <a:gd name="T71" fmla="*/ 17 h 23"/>
                <a:gd name="T72" fmla="*/ 0 w 5"/>
                <a:gd name="T73" fmla="*/ 17 h 23"/>
                <a:gd name="T74" fmla="*/ 0 w 5"/>
                <a:gd name="T75" fmla="*/ 17 h 23"/>
                <a:gd name="T76" fmla="*/ 0 w 5"/>
                <a:gd name="T77" fmla="*/ 17 h 23"/>
                <a:gd name="T78" fmla="*/ 5 w 5"/>
                <a:gd name="T79" fmla="*/ 17 h 23"/>
                <a:gd name="T80" fmla="*/ 5 w 5"/>
                <a:gd name="T81" fmla="*/ 17 h 23"/>
                <a:gd name="T82" fmla="*/ 5 w 5"/>
                <a:gd name="T83" fmla="*/ 17 h 23"/>
                <a:gd name="T84" fmla="*/ 5 w 5"/>
                <a:gd name="T85" fmla="*/ 17 h 23"/>
                <a:gd name="T86" fmla="*/ 5 w 5"/>
                <a:gd name="T87" fmla="*/ 17 h 23"/>
                <a:gd name="T88" fmla="*/ 5 w 5"/>
                <a:gd name="T89" fmla="*/ 17 h 23"/>
                <a:gd name="T90" fmla="*/ 5 w 5"/>
                <a:gd name="T91" fmla="*/ 17 h 23"/>
                <a:gd name="T92" fmla="*/ 5 w 5"/>
                <a:gd name="T93" fmla="*/ 17 h 23"/>
                <a:gd name="T94" fmla="*/ 5 w 5"/>
                <a:gd name="T95" fmla="*/ 17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0" name="Freeform 67"/>
            <p:cNvSpPr>
              <a:spLocks/>
            </p:cNvSpPr>
            <p:nvPr/>
          </p:nvSpPr>
          <p:spPr bwMode="auto">
            <a:xfrm>
              <a:off x="4616" y="3193"/>
              <a:ext cx="4" cy="23"/>
            </a:xfrm>
            <a:custGeom>
              <a:avLst/>
              <a:gdLst>
                <a:gd name="T0" fmla="*/ 0 w 4"/>
                <a:gd name="T1" fmla="*/ 0 h 23"/>
                <a:gd name="T2" fmla="*/ 0 w 4"/>
                <a:gd name="T3" fmla="*/ 0 h 23"/>
                <a:gd name="T4" fmla="*/ 0 w 4"/>
                <a:gd name="T5" fmla="*/ 0 h 23"/>
                <a:gd name="T6" fmla="*/ 0 w 4"/>
                <a:gd name="T7" fmla="*/ 0 h 23"/>
                <a:gd name="T8" fmla="*/ 0 w 4"/>
                <a:gd name="T9" fmla="*/ 0 h 23"/>
                <a:gd name="T10" fmla="*/ 0 w 4"/>
                <a:gd name="T11" fmla="*/ 0 h 23"/>
                <a:gd name="T12" fmla="*/ 0 w 4"/>
                <a:gd name="T13" fmla="*/ 0 h 23"/>
                <a:gd name="T14" fmla="*/ 0 w 4"/>
                <a:gd name="T15" fmla="*/ 0 h 23"/>
                <a:gd name="T16" fmla="*/ 0 w 4"/>
                <a:gd name="T17" fmla="*/ 0 h 23"/>
                <a:gd name="T18" fmla="*/ 0 w 4"/>
                <a:gd name="T19" fmla="*/ 0 h 23"/>
                <a:gd name="T20" fmla="*/ 0 w 4"/>
                <a:gd name="T21" fmla="*/ 6 h 23"/>
                <a:gd name="T22" fmla="*/ 0 w 4"/>
                <a:gd name="T23" fmla="*/ 6 h 23"/>
                <a:gd name="T24" fmla="*/ 0 w 4"/>
                <a:gd name="T25" fmla="*/ 6 h 23"/>
                <a:gd name="T26" fmla="*/ 0 w 4"/>
                <a:gd name="T27" fmla="*/ 6 h 23"/>
                <a:gd name="T28" fmla="*/ 0 w 4"/>
                <a:gd name="T29" fmla="*/ 6 h 23"/>
                <a:gd name="T30" fmla="*/ 0 w 4"/>
                <a:gd name="T31" fmla="*/ 6 h 23"/>
                <a:gd name="T32" fmla="*/ 0 w 4"/>
                <a:gd name="T33" fmla="*/ 6 h 23"/>
                <a:gd name="T34" fmla="*/ 0 w 4"/>
                <a:gd name="T35" fmla="*/ 6 h 23"/>
                <a:gd name="T36" fmla="*/ 0 w 4"/>
                <a:gd name="T37" fmla="*/ 6 h 23"/>
                <a:gd name="T38" fmla="*/ 0 w 4"/>
                <a:gd name="T39" fmla="*/ 6 h 23"/>
                <a:gd name="T40" fmla="*/ 0 w 4"/>
                <a:gd name="T41" fmla="*/ 6 h 23"/>
                <a:gd name="T42" fmla="*/ 0 w 4"/>
                <a:gd name="T43" fmla="*/ 6 h 23"/>
                <a:gd name="T44" fmla="*/ 0 w 4"/>
                <a:gd name="T45" fmla="*/ 6 h 23"/>
                <a:gd name="T46" fmla="*/ 0 w 4"/>
                <a:gd name="T47" fmla="*/ 11 h 23"/>
                <a:gd name="T48" fmla="*/ 0 w 4"/>
                <a:gd name="T49" fmla="*/ 11 h 23"/>
                <a:gd name="T50" fmla="*/ 0 w 4"/>
                <a:gd name="T51" fmla="*/ 11 h 23"/>
                <a:gd name="T52" fmla="*/ 0 w 4"/>
                <a:gd name="T53" fmla="*/ 11 h 23"/>
                <a:gd name="T54" fmla="*/ 0 w 4"/>
                <a:gd name="T55" fmla="*/ 11 h 23"/>
                <a:gd name="T56" fmla="*/ 0 w 4"/>
                <a:gd name="T57" fmla="*/ 11 h 23"/>
                <a:gd name="T58" fmla="*/ 0 w 4"/>
                <a:gd name="T59" fmla="*/ 11 h 23"/>
                <a:gd name="T60" fmla="*/ 4 w 4"/>
                <a:gd name="T61" fmla="*/ 11 h 23"/>
                <a:gd name="T62" fmla="*/ 4 w 4"/>
                <a:gd name="T63" fmla="*/ 11 h 23"/>
                <a:gd name="T64" fmla="*/ 4 w 4"/>
                <a:gd name="T65" fmla="*/ 11 h 23"/>
                <a:gd name="T66" fmla="*/ 4 w 4"/>
                <a:gd name="T67" fmla="*/ 11 h 23"/>
                <a:gd name="T68" fmla="*/ 4 w 4"/>
                <a:gd name="T69" fmla="*/ 11 h 23"/>
                <a:gd name="T70" fmla="*/ 4 w 4"/>
                <a:gd name="T71" fmla="*/ 17 h 23"/>
                <a:gd name="T72" fmla="*/ 4 w 4"/>
                <a:gd name="T73" fmla="*/ 17 h 23"/>
                <a:gd name="T74" fmla="*/ 4 w 4"/>
                <a:gd name="T75" fmla="*/ 17 h 23"/>
                <a:gd name="T76" fmla="*/ 4 w 4"/>
                <a:gd name="T77" fmla="*/ 17 h 23"/>
                <a:gd name="T78" fmla="*/ 4 w 4"/>
                <a:gd name="T79" fmla="*/ 17 h 23"/>
                <a:gd name="T80" fmla="*/ 4 w 4"/>
                <a:gd name="T81" fmla="*/ 17 h 23"/>
                <a:gd name="T82" fmla="*/ 4 w 4"/>
                <a:gd name="T83" fmla="*/ 17 h 23"/>
                <a:gd name="T84" fmla="*/ 4 w 4"/>
                <a:gd name="T85" fmla="*/ 17 h 23"/>
                <a:gd name="T86" fmla="*/ 4 w 4"/>
                <a:gd name="T87" fmla="*/ 17 h 23"/>
                <a:gd name="T88" fmla="*/ 4 w 4"/>
                <a:gd name="T89" fmla="*/ 17 h 23"/>
                <a:gd name="T90" fmla="*/ 4 w 4"/>
                <a:gd name="T91" fmla="*/ 17 h 23"/>
                <a:gd name="T92" fmla="*/ 4 w 4"/>
                <a:gd name="T93" fmla="*/ 17 h 23"/>
                <a:gd name="T94" fmla="*/ 4 w 4"/>
                <a:gd name="T95" fmla="*/ 17 h 23"/>
                <a:gd name="T96" fmla="*/ 4 w 4"/>
                <a:gd name="T97" fmla="*/ 23 h 23"/>
                <a:gd name="T98" fmla="*/ 4 w 4"/>
                <a:gd name="T99" fmla="*/ 23 h 23"/>
                <a:gd name="T100" fmla="*/ 4 w 4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17"/>
                  </a:lnTo>
                  <a:lnTo>
                    <a:pt x="4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1" name="Freeform 68"/>
            <p:cNvSpPr>
              <a:spLocks/>
            </p:cNvSpPr>
            <p:nvPr/>
          </p:nvSpPr>
          <p:spPr bwMode="auto">
            <a:xfrm>
              <a:off x="4620" y="3216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0 h 17"/>
                <a:gd name="T14" fmla="*/ 0 w 5"/>
                <a:gd name="T15" fmla="*/ 0 h 17"/>
                <a:gd name="T16" fmla="*/ 0 w 5"/>
                <a:gd name="T17" fmla="*/ 0 h 17"/>
                <a:gd name="T18" fmla="*/ 0 w 5"/>
                <a:gd name="T19" fmla="*/ 0 h 17"/>
                <a:gd name="T20" fmla="*/ 0 w 5"/>
                <a:gd name="T21" fmla="*/ 0 h 17"/>
                <a:gd name="T22" fmla="*/ 0 w 5"/>
                <a:gd name="T23" fmla="*/ 0 h 17"/>
                <a:gd name="T24" fmla="*/ 0 w 5"/>
                <a:gd name="T25" fmla="*/ 6 h 17"/>
                <a:gd name="T26" fmla="*/ 0 w 5"/>
                <a:gd name="T27" fmla="*/ 6 h 17"/>
                <a:gd name="T28" fmla="*/ 0 w 5"/>
                <a:gd name="T29" fmla="*/ 6 h 17"/>
                <a:gd name="T30" fmla="*/ 0 w 5"/>
                <a:gd name="T31" fmla="*/ 6 h 17"/>
                <a:gd name="T32" fmla="*/ 0 w 5"/>
                <a:gd name="T33" fmla="*/ 6 h 17"/>
                <a:gd name="T34" fmla="*/ 0 w 5"/>
                <a:gd name="T35" fmla="*/ 6 h 17"/>
                <a:gd name="T36" fmla="*/ 0 w 5"/>
                <a:gd name="T37" fmla="*/ 6 h 17"/>
                <a:gd name="T38" fmla="*/ 0 w 5"/>
                <a:gd name="T39" fmla="*/ 6 h 17"/>
                <a:gd name="T40" fmla="*/ 5 w 5"/>
                <a:gd name="T41" fmla="*/ 6 h 17"/>
                <a:gd name="T42" fmla="*/ 5 w 5"/>
                <a:gd name="T43" fmla="*/ 6 h 17"/>
                <a:gd name="T44" fmla="*/ 5 w 5"/>
                <a:gd name="T45" fmla="*/ 6 h 17"/>
                <a:gd name="T46" fmla="*/ 5 w 5"/>
                <a:gd name="T47" fmla="*/ 6 h 17"/>
                <a:gd name="T48" fmla="*/ 5 w 5"/>
                <a:gd name="T49" fmla="*/ 6 h 17"/>
                <a:gd name="T50" fmla="*/ 5 w 5"/>
                <a:gd name="T51" fmla="*/ 11 h 17"/>
                <a:gd name="T52" fmla="*/ 5 w 5"/>
                <a:gd name="T53" fmla="*/ 11 h 17"/>
                <a:gd name="T54" fmla="*/ 5 w 5"/>
                <a:gd name="T55" fmla="*/ 11 h 17"/>
                <a:gd name="T56" fmla="*/ 5 w 5"/>
                <a:gd name="T57" fmla="*/ 11 h 17"/>
                <a:gd name="T58" fmla="*/ 5 w 5"/>
                <a:gd name="T59" fmla="*/ 11 h 17"/>
                <a:gd name="T60" fmla="*/ 5 w 5"/>
                <a:gd name="T61" fmla="*/ 11 h 17"/>
                <a:gd name="T62" fmla="*/ 5 w 5"/>
                <a:gd name="T63" fmla="*/ 11 h 17"/>
                <a:gd name="T64" fmla="*/ 5 w 5"/>
                <a:gd name="T65" fmla="*/ 11 h 17"/>
                <a:gd name="T66" fmla="*/ 5 w 5"/>
                <a:gd name="T67" fmla="*/ 11 h 17"/>
                <a:gd name="T68" fmla="*/ 5 w 5"/>
                <a:gd name="T69" fmla="*/ 11 h 17"/>
                <a:gd name="T70" fmla="*/ 5 w 5"/>
                <a:gd name="T71" fmla="*/ 11 h 17"/>
                <a:gd name="T72" fmla="*/ 5 w 5"/>
                <a:gd name="T73" fmla="*/ 11 h 17"/>
                <a:gd name="T74" fmla="*/ 5 w 5"/>
                <a:gd name="T75" fmla="*/ 11 h 17"/>
                <a:gd name="T76" fmla="*/ 5 w 5"/>
                <a:gd name="T77" fmla="*/ 11 h 17"/>
                <a:gd name="T78" fmla="*/ 5 w 5"/>
                <a:gd name="T79" fmla="*/ 17 h 17"/>
                <a:gd name="T80" fmla="*/ 5 w 5"/>
                <a:gd name="T81" fmla="*/ 17 h 17"/>
                <a:gd name="T82" fmla="*/ 5 w 5"/>
                <a:gd name="T83" fmla="*/ 17 h 17"/>
                <a:gd name="T84" fmla="*/ 5 w 5"/>
                <a:gd name="T85" fmla="*/ 17 h 17"/>
                <a:gd name="T86" fmla="*/ 5 w 5"/>
                <a:gd name="T87" fmla="*/ 17 h 17"/>
                <a:gd name="T88" fmla="*/ 5 w 5"/>
                <a:gd name="T89" fmla="*/ 17 h 17"/>
                <a:gd name="T90" fmla="*/ 5 w 5"/>
                <a:gd name="T91" fmla="*/ 17 h 17"/>
                <a:gd name="T92" fmla="*/ 5 w 5"/>
                <a:gd name="T93" fmla="*/ 17 h 17"/>
                <a:gd name="T94" fmla="*/ 5 w 5"/>
                <a:gd name="T95" fmla="*/ 17 h 17"/>
                <a:gd name="T96" fmla="*/ 5 w 5"/>
                <a:gd name="T97" fmla="*/ 17 h 17"/>
                <a:gd name="T98" fmla="*/ 5 w 5"/>
                <a:gd name="T99" fmla="*/ 17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1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2" name="Freeform 69"/>
            <p:cNvSpPr>
              <a:spLocks/>
            </p:cNvSpPr>
            <p:nvPr/>
          </p:nvSpPr>
          <p:spPr bwMode="auto">
            <a:xfrm>
              <a:off x="4625" y="3233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6 h 23"/>
                <a:gd name="T8" fmla="*/ 0 w 5"/>
                <a:gd name="T9" fmla="*/ 6 h 23"/>
                <a:gd name="T10" fmla="*/ 0 w 5"/>
                <a:gd name="T11" fmla="*/ 6 h 23"/>
                <a:gd name="T12" fmla="*/ 0 w 5"/>
                <a:gd name="T13" fmla="*/ 6 h 23"/>
                <a:gd name="T14" fmla="*/ 0 w 5"/>
                <a:gd name="T15" fmla="*/ 6 h 23"/>
                <a:gd name="T16" fmla="*/ 0 w 5"/>
                <a:gd name="T17" fmla="*/ 6 h 23"/>
                <a:gd name="T18" fmla="*/ 0 w 5"/>
                <a:gd name="T19" fmla="*/ 6 h 23"/>
                <a:gd name="T20" fmla="*/ 0 w 5"/>
                <a:gd name="T21" fmla="*/ 6 h 23"/>
                <a:gd name="T22" fmla="*/ 5 w 5"/>
                <a:gd name="T23" fmla="*/ 6 h 23"/>
                <a:gd name="T24" fmla="*/ 5 w 5"/>
                <a:gd name="T25" fmla="*/ 6 h 23"/>
                <a:gd name="T26" fmla="*/ 5 w 5"/>
                <a:gd name="T27" fmla="*/ 6 h 23"/>
                <a:gd name="T28" fmla="*/ 5 w 5"/>
                <a:gd name="T29" fmla="*/ 6 h 23"/>
                <a:gd name="T30" fmla="*/ 5 w 5"/>
                <a:gd name="T31" fmla="*/ 6 h 23"/>
                <a:gd name="T32" fmla="*/ 5 w 5"/>
                <a:gd name="T33" fmla="*/ 6 h 23"/>
                <a:gd name="T34" fmla="*/ 5 w 5"/>
                <a:gd name="T35" fmla="*/ 11 h 23"/>
                <a:gd name="T36" fmla="*/ 5 w 5"/>
                <a:gd name="T37" fmla="*/ 11 h 23"/>
                <a:gd name="T38" fmla="*/ 5 w 5"/>
                <a:gd name="T39" fmla="*/ 11 h 23"/>
                <a:gd name="T40" fmla="*/ 5 w 5"/>
                <a:gd name="T41" fmla="*/ 11 h 23"/>
                <a:gd name="T42" fmla="*/ 5 w 5"/>
                <a:gd name="T43" fmla="*/ 11 h 23"/>
                <a:gd name="T44" fmla="*/ 5 w 5"/>
                <a:gd name="T45" fmla="*/ 11 h 23"/>
                <a:gd name="T46" fmla="*/ 5 w 5"/>
                <a:gd name="T47" fmla="*/ 11 h 23"/>
                <a:gd name="T48" fmla="*/ 5 w 5"/>
                <a:gd name="T49" fmla="*/ 11 h 23"/>
                <a:gd name="T50" fmla="*/ 5 w 5"/>
                <a:gd name="T51" fmla="*/ 11 h 23"/>
                <a:gd name="T52" fmla="*/ 5 w 5"/>
                <a:gd name="T53" fmla="*/ 11 h 23"/>
                <a:gd name="T54" fmla="*/ 5 w 5"/>
                <a:gd name="T55" fmla="*/ 11 h 23"/>
                <a:gd name="T56" fmla="*/ 5 w 5"/>
                <a:gd name="T57" fmla="*/ 11 h 23"/>
                <a:gd name="T58" fmla="*/ 5 w 5"/>
                <a:gd name="T59" fmla="*/ 11 h 23"/>
                <a:gd name="T60" fmla="*/ 5 w 5"/>
                <a:gd name="T61" fmla="*/ 11 h 23"/>
                <a:gd name="T62" fmla="*/ 5 w 5"/>
                <a:gd name="T63" fmla="*/ 11 h 23"/>
                <a:gd name="T64" fmla="*/ 5 w 5"/>
                <a:gd name="T65" fmla="*/ 17 h 23"/>
                <a:gd name="T66" fmla="*/ 5 w 5"/>
                <a:gd name="T67" fmla="*/ 17 h 23"/>
                <a:gd name="T68" fmla="*/ 5 w 5"/>
                <a:gd name="T69" fmla="*/ 17 h 23"/>
                <a:gd name="T70" fmla="*/ 5 w 5"/>
                <a:gd name="T71" fmla="*/ 17 h 23"/>
                <a:gd name="T72" fmla="*/ 5 w 5"/>
                <a:gd name="T73" fmla="*/ 17 h 23"/>
                <a:gd name="T74" fmla="*/ 5 w 5"/>
                <a:gd name="T75" fmla="*/ 17 h 23"/>
                <a:gd name="T76" fmla="*/ 5 w 5"/>
                <a:gd name="T77" fmla="*/ 17 h 23"/>
                <a:gd name="T78" fmla="*/ 5 w 5"/>
                <a:gd name="T79" fmla="*/ 17 h 23"/>
                <a:gd name="T80" fmla="*/ 5 w 5"/>
                <a:gd name="T81" fmla="*/ 17 h 23"/>
                <a:gd name="T82" fmla="*/ 5 w 5"/>
                <a:gd name="T83" fmla="*/ 17 h 23"/>
                <a:gd name="T84" fmla="*/ 5 w 5"/>
                <a:gd name="T85" fmla="*/ 17 h 23"/>
                <a:gd name="T86" fmla="*/ 5 w 5"/>
                <a:gd name="T87" fmla="*/ 17 h 23"/>
                <a:gd name="T88" fmla="*/ 5 w 5"/>
                <a:gd name="T89" fmla="*/ 17 h 23"/>
                <a:gd name="T90" fmla="*/ 5 w 5"/>
                <a:gd name="T91" fmla="*/ 17 h 23"/>
                <a:gd name="T92" fmla="*/ 5 w 5"/>
                <a:gd name="T93" fmla="*/ 17 h 23"/>
                <a:gd name="T94" fmla="*/ 5 w 5"/>
                <a:gd name="T95" fmla="*/ 23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3" name="Freeform 70"/>
            <p:cNvSpPr>
              <a:spLocks/>
            </p:cNvSpPr>
            <p:nvPr/>
          </p:nvSpPr>
          <p:spPr bwMode="auto">
            <a:xfrm>
              <a:off x="4630" y="3256"/>
              <a:ext cx="10" cy="17"/>
            </a:xfrm>
            <a:custGeom>
              <a:avLst/>
              <a:gdLst>
                <a:gd name="T0" fmla="*/ 0 w 10"/>
                <a:gd name="T1" fmla="*/ 0 h 17"/>
                <a:gd name="T2" fmla="*/ 5 w 10"/>
                <a:gd name="T3" fmla="*/ 0 h 17"/>
                <a:gd name="T4" fmla="*/ 5 w 10"/>
                <a:gd name="T5" fmla="*/ 0 h 17"/>
                <a:gd name="T6" fmla="*/ 5 w 10"/>
                <a:gd name="T7" fmla="*/ 0 h 17"/>
                <a:gd name="T8" fmla="*/ 5 w 10"/>
                <a:gd name="T9" fmla="*/ 0 h 17"/>
                <a:gd name="T10" fmla="*/ 5 w 10"/>
                <a:gd name="T11" fmla="*/ 0 h 17"/>
                <a:gd name="T12" fmla="*/ 5 w 10"/>
                <a:gd name="T13" fmla="*/ 0 h 17"/>
                <a:gd name="T14" fmla="*/ 5 w 10"/>
                <a:gd name="T15" fmla="*/ 0 h 17"/>
                <a:gd name="T16" fmla="*/ 5 w 10"/>
                <a:gd name="T17" fmla="*/ 0 h 17"/>
                <a:gd name="T18" fmla="*/ 5 w 10"/>
                <a:gd name="T19" fmla="*/ 0 h 17"/>
                <a:gd name="T20" fmla="*/ 5 w 10"/>
                <a:gd name="T21" fmla="*/ 0 h 17"/>
                <a:gd name="T22" fmla="*/ 5 w 10"/>
                <a:gd name="T23" fmla="*/ 0 h 17"/>
                <a:gd name="T24" fmla="*/ 5 w 10"/>
                <a:gd name="T25" fmla="*/ 0 h 17"/>
                <a:gd name="T26" fmla="*/ 5 w 10"/>
                <a:gd name="T27" fmla="*/ 5 h 17"/>
                <a:gd name="T28" fmla="*/ 5 w 10"/>
                <a:gd name="T29" fmla="*/ 5 h 17"/>
                <a:gd name="T30" fmla="*/ 5 w 10"/>
                <a:gd name="T31" fmla="*/ 5 h 17"/>
                <a:gd name="T32" fmla="*/ 5 w 10"/>
                <a:gd name="T33" fmla="*/ 5 h 17"/>
                <a:gd name="T34" fmla="*/ 5 w 10"/>
                <a:gd name="T35" fmla="*/ 5 h 17"/>
                <a:gd name="T36" fmla="*/ 5 w 10"/>
                <a:gd name="T37" fmla="*/ 5 h 17"/>
                <a:gd name="T38" fmla="*/ 5 w 10"/>
                <a:gd name="T39" fmla="*/ 5 h 17"/>
                <a:gd name="T40" fmla="*/ 5 w 10"/>
                <a:gd name="T41" fmla="*/ 5 h 17"/>
                <a:gd name="T42" fmla="*/ 5 w 10"/>
                <a:gd name="T43" fmla="*/ 5 h 17"/>
                <a:gd name="T44" fmla="*/ 5 w 10"/>
                <a:gd name="T45" fmla="*/ 5 h 17"/>
                <a:gd name="T46" fmla="*/ 5 w 10"/>
                <a:gd name="T47" fmla="*/ 5 h 17"/>
                <a:gd name="T48" fmla="*/ 5 w 10"/>
                <a:gd name="T49" fmla="*/ 5 h 17"/>
                <a:gd name="T50" fmla="*/ 5 w 10"/>
                <a:gd name="T51" fmla="*/ 5 h 17"/>
                <a:gd name="T52" fmla="*/ 5 w 10"/>
                <a:gd name="T53" fmla="*/ 5 h 17"/>
                <a:gd name="T54" fmla="*/ 5 w 10"/>
                <a:gd name="T55" fmla="*/ 5 h 17"/>
                <a:gd name="T56" fmla="*/ 5 w 10"/>
                <a:gd name="T57" fmla="*/ 5 h 17"/>
                <a:gd name="T58" fmla="*/ 5 w 10"/>
                <a:gd name="T59" fmla="*/ 11 h 17"/>
                <a:gd name="T60" fmla="*/ 5 w 10"/>
                <a:gd name="T61" fmla="*/ 11 h 17"/>
                <a:gd name="T62" fmla="*/ 5 w 10"/>
                <a:gd name="T63" fmla="*/ 11 h 17"/>
                <a:gd name="T64" fmla="*/ 5 w 10"/>
                <a:gd name="T65" fmla="*/ 11 h 17"/>
                <a:gd name="T66" fmla="*/ 5 w 10"/>
                <a:gd name="T67" fmla="*/ 11 h 17"/>
                <a:gd name="T68" fmla="*/ 5 w 10"/>
                <a:gd name="T69" fmla="*/ 11 h 17"/>
                <a:gd name="T70" fmla="*/ 5 w 10"/>
                <a:gd name="T71" fmla="*/ 11 h 17"/>
                <a:gd name="T72" fmla="*/ 5 w 10"/>
                <a:gd name="T73" fmla="*/ 11 h 17"/>
                <a:gd name="T74" fmla="*/ 5 w 10"/>
                <a:gd name="T75" fmla="*/ 11 h 17"/>
                <a:gd name="T76" fmla="*/ 5 w 10"/>
                <a:gd name="T77" fmla="*/ 11 h 17"/>
                <a:gd name="T78" fmla="*/ 5 w 10"/>
                <a:gd name="T79" fmla="*/ 11 h 17"/>
                <a:gd name="T80" fmla="*/ 5 w 10"/>
                <a:gd name="T81" fmla="*/ 11 h 17"/>
                <a:gd name="T82" fmla="*/ 5 w 10"/>
                <a:gd name="T83" fmla="*/ 11 h 17"/>
                <a:gd name="T84" fmla="*/ 10 w 10"/>
                <a:gd name="T85" fmla="*/ 11 h 17"/>
                <a:gd name="T86" fmla="*/ 10 w 10"/>
                <a:gd name="T87" fmla="*/ 11 h 17"/>
                <a:gd name="T88" fmla="*/ 10 w 10"/>
                <a:gd name="T89" fmla="*/ 11 h 17"/>
                <a:gd name="T90" fmla="*/ 10 w 10"/>
                <a:gd name="T91" fmla="*/ 11 h 17"/>
                <a:gd name="T92" fmla="*/ 10 w 10"/>
                <a:gd name="T93" fmla="*/ 17 h 17"/>
                <a:gd name="T94" fmla="*/ 10 w 10"/>
                <a:gd name="T95" fmla="*/ 17 h 17"/>
                <a:gd name="T96" fmla="*/ 10 w 10"/>
                <a:gd name="T97" fmla="*/ 17 h 17"/>
                <a:gd name="T98" fmla="*/ 10 w 10"/>
                <a:gd name="T99" fmla="*/ 17 h 17"/>
                <a:gd name="T100" fmla="*/ 10 w 10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17"/>
                <a:gd name="T155" fmla="*/ 10 w 10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17">
                  <a:moveTo>
                    <a:pt x="0" y="0"/>
                  </a:moveTo>
                  <a:lnTo>
                    <a:pt x="5" y="0"/>
                  </a:lnTo>
                  <a:lnTo>
                    <a:pt x="5" y="5"/>
                  </a:lnTo>
                  <a:lnTo>
                    <a:pt x="5" y="11"/>
                  </a:lnTo>
                  <a:lnTo>
                    <a:pt x="10" y="11"/>
                  </a:lnTo>
                  <a:lnTo>
                    <a:pt x="10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4" name="Freeform 71"/>
            <p:cNvSpPr>
              <a:spLocks/>
            </p:cNvSpPr>
            <p:nvPr/>
          </p:nvSpPr>
          <p:spPr bwMode="auto">
            <a:xfrm>
              <a:off x="4640" y="3273"/>
              <a:ext cx="4" cy="11"/>
            </a:xfrm>
            <a:custGeom>
              <a:avLst/>
              <a:gdLst>
                <a:gd name="T0" fmla="*/ 0 w 4"/>
                <a:gd name="T1" fmla="*/ 0 h 11"/>
                <a:gd name="T2" fmla="*/ 0 w 4"/>
                <a:gd name="T3" fmla="*/ 0 h 11"/>
                <a:gd name="T4" fmla="*/ 0 w 4"/>
                <a:gd name="T5" fmla="*/ 0 h 11"/>
                <a:gd name="T6" fmla="*/ 0 w 4"/>
                <a:gd name="T7" fmla="*/ 0 h 11"/>
                <a:gd name="T8" fmla="*/ 0 w 4"/>
                <a:gd name="T9" fmla="*/ 0 h 11"/>
                <a:gd name="T10" fmla="*/ 0 w 4"/>
                <a:gd name="T11" fmla="*/ 0 h 11"/>
                <a:gd name="T12" fmla="*/ 0 w 4"/>
                <a:gd name="T13" fmla="*/ 0 h 11"/>
                <a:gd name="T14" fmla="*/ 0 w 4"/>
                <a:gd name="T15" fmla="*/ 0 h 11"/>
                <a:gd name="T16" fmla="*/ 0 w 4"/>
                <a:gd name="T17" fmla="*/ 0 h 11"/>
                <a:gd name="T18" fmla="*/ 0 w 4"/>
                <a:gd name="T19" fmla="*/ 0 h 11"/>
                <a:gd name="T20" fmla="*/ 0 w 4"/>
                <a:gd name="T21" fmla="*/ 0 h 11"/>
                <a:gd name="T22" fmla="*/ 0 w 4"/>
                <a:gd name="T23" fmla="*/ 0 h 11"/>
                <a:gd name="T24" fmla="*/ 0 w 4"/>
                <a:gd name="T25" fmla="*/ 0 h 11"/>
                <a:gd name="T26" fmla="*/ 0 w 4"/>
                <a:gd name="T27" fmla="*/ 0 h 11"/>
                <a:gd name="T28" fmla="*/ 0 w 4"/>
                <a:gd name="T29" fmla="*/ 5 h 11"/>
                <a:gd name="T30" fmla="*/ 0 w 4"/>
                <a:gd name="T31" fmla="*/ 5 h 11"/>
                <a:gd name="T32" fmla="*/ 0 w 4"/>
                <a:gd name="T33" fmla="*/ 5 h 11"/>
                <a:gd name="T34" fmla="*/ 0 w 4"/>
                <a:gd name="T35" fmla="*/ 5 h 11"/>
                <a:gd name="T36" fmla="*/ 0 w 4"/>
                <a:gd name="T37" fmla="*/ 5 h 11"/>
                <a:gd name="T38" fmla="*/ 0 w 4"/>
                <a:gd name="T39" fmla="*/ 5 h 11"/>
                <a:gd name="T40" fmla="*/ 0 w 4"/>
                <a:gd name="T41" fmla="*/ 5 h 11"/>
                <a:gd name="T42" fmla="*/ 0 w 4"/>
                <a:gd name="T43" fmla="*/ 5 h 11"/>
                <a:gd name="T44" fmla="*/ 0 w 4"/>
                <a:gd name="T45" fmla="*/ 5 h 11"/>
                <a:gd name="T46" fmla="*/ 0 w 4"/>
                <a:gd name="T47" fmla="*/ 5 h 11"/>
                <a:gd name="T48" fmla="*/ 0 w 4"/>
                <a:gd name="T49" fmla="*/ 5 h 11"/>
                <a:gd name="T50" fmla="*/ 0 w 4"/>
                <a:gd name="T51" fmla="*/ 5 h 11"/>
                <a:gd name="T52" fmla="*/ 0 w 4"/>
                <a:gd name="T53" fmla="*/ 5 h 11"/>
                <a:gd name="T54" fmla="*/ 0 w 4"/>
                <a:gd name="T55" fmla="*/ 5 h 11"/>
                <a:gd name="T56" fmla="*/ 0 w 4"/>
                <a:gd name="T57" fmla="*/ 5 h 11"/>
                <a:gd name="T58" fmla="*/ 0 w 4"/>
                <a:gd name="T59" fmla="*/ 5 h 11"/>
                <a:gd name="T60" fmla="*/ 0 w 4"/>
                <a:gd name="T61" fmla="*/ 5 h 11"/>
                <a:gd name="T62" fmla="*/ 0 w 4"/>
                <a:gd name="T63" fmla="*/ 5 h 11"/>
                <a:gd name="T64" fmla="*/ 4 w 4"/>
                <a:gd name="T65" fmla="*/ 5 h 11"/>
                <a:gd name="T66" fmla="*/ 4 w 4"/>
                <a:gd name="T67" fmla="*/ 5 h 11"/>
                <a:gd name="T68" fmla="*/ 4 w 4"/>
                <a:gd name="T69" fmla="*/ 11 h 11"/>
                <a:gd name="T70" fmla="*/ 4 w 4"/>
                <a:gd name="T71" fmla="*/ 11 h 11"/>
                <a:gd name="T72" fmla="*/ 4 w 4"/>
                <a:gd name="T73" fmla="*/ 11 h 11"/>
                <a:gd name="T74" fmla="*/ 4 w 4"/>
                <a:gd name="T75" fmla="*/ 11 h 11"/>
                <a:gd name="T76" fmla="*/ 4 w 4"/>
                <a:gd name="T77" fmla="*/ 11 h 11"/>
                <a:gd name="T78" fmla="*/ 4 w 4"/>
                <a:gd name="T79" fmla="*/ 11 h 11"/>
                <a:gd name="T80" fmla="*/ 4 w 4"/>
                <a:gd name="T81" fmla="*/ 11 h 11"/>
                <a:gd name="T82" fmla="*/ 4 w 4"/>
                <a:gd name="T83" fmla="*/ 11 h 11"/>
                <a:gd name="T84" fmla="*/ 4 w 4"/>
                <a:gd name="T85" fmla="*/ 11 h 11"/>
                <a:gd name="T86" fmla="*/ 4 w 4"/>
                <a:gd name="T87" fmla="*/ 11 h 11"/>
                <a:gd name="T88" fmla="*/ 4 w 4"/>
                <a:gd name="T89" fmla="*/ 11 h 11"/>
                <a:gd name="T90" fmla="*/ 4 w 4"/>
                <a:gd name="T91" fmla="*/ 11 h 11"/>
                <a:gd name="T92" fmla="*/ 4 w 4"/>
                <a:gd name="T93" fmla="*/ 11 h 11"/>
                <a:gd name="T94" fmla="*/ 4 w 4"/>
                <a:gd name="T95" fmla="*/ 11 h 11"/>
                <a:gd name="T96" fmla="*/ 4 w 4"/>
                <a:gd name="T97" fmla="*/ 11 h 11"/>
                <a:gd name="T98" fmla="*/ 4 w 4"/>
                <a:gd name="T99" fmla="*/ 11 h 11"/>
                <a:gd name="T100" fmla="*/ 4 w 4"/>
                <a:gd name="T101" fmla="*/ 11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11"/>
                <a:gd name="T155" fmla="*/ 4 w 4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11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4" y="5"/>
                  </a:lnTo>
                  <a:lnTo>
                    <a:pt x="4" y="1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5" name="Freeform 72"/>
            <p:cNvSpPr>
              <a:spLocks/>
            </p:cNvSpPr>
            <p:nvPr/>
          </p:nvSpPr>
          <p:spPr bwMode="auto">
            <a:xfrm>
              <a:off x="4644" y="3284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6 h 17"/>
                <a:gd name="T10" fmla="*/ 0 w 5"/>
                <a:gd name="T11" fmla="*/ 6 h 17"/>
                <a:gd name="T12" fmla="*/ 0 w 5"/>
                <a:gd name="T13" fmla="*/ 6 h 17"/>
                <a:gd name="T14" fmla="*/ 0 w 5"/>
                <a:gd name="T15" fmla="*/ 6 h 17"/>
                <a:gd name="T16" fmla="*/ 0 w 5"/>
                <a:gd name="T17" fmla="*/ 6 h 17"/>
                <a:gd name="T18" fmla="*/ 0 w 5"/>
                <a:gd name="T19" fmla="*/ 6 h 17"/>
                <a:gd name="T20" fmla="*/ 0 w 5"/>
                <a:gd name="T21" fmla="*/ 6 h 17"/>
                <a:gd name="T22" fmla="*/ 0 w 5"/>
                <a:gd name="T23" fmla="*/ 6 h 17"/>
                <a:gd name="T24" fmla="*/ 0 w 5"/>
                <a:gd name="T25" fmla="*/ 6 h 17"/>
                <a:gd name="T26" fmla="*/ 0 w 5"/>
                <a:gd name="T27" fmla="*/ 6 h 17"/>
                <a:gd name="T28" fmla="*/ 0 w 5"/>
                <a:gd name="T29" fmla="*/ 6 h 17"/>
                <a:gd name="T30" fmla="*/ 0 w 5"/>
                <a:gd name="T31" fmla="*/ 6 h 17"/>
                <a:gd name="T32" fmla="*/ 0 w 5"/>
                <a:gd name="T33" fmla="*/ 6 h 17"/>
                <a:gd name="T34" fmla="*/ 0 w 5"/>
                <a:gd name="T35" fmla="*/ 6 h 17"/>
                <a:gd name="T36" fmla="*/ 0 w 5"/>
                <a:gd name="T37" fmla="*/ 6 h 17"/>
                <a:gd name="T38" fmla="*/ 0 w 5"/>
                <a:gd name="T39" fmla="*/ 6 h 17"/>
                <a:gd name="T40" fmla="*/ 0 w 5"/>
                <a:gd name="T41" fmla="*/ 6 h 17"/>
                <a:gd name="T42" fmla="*/ 0 w 5"/>
                <a:gd name="T43" fmla="*/ 6 h 17"/>
                <a:gd name="T44" fmla="*/ 0 w 5"/>
                <a:gd name="T45" fmla="*/ 6 h 17"/>
                <a:gd name="T46" fmla="*/ 5 w 5"/>
                <a:gd name="T47" fmla="*/ 6 h 17"/>
                <a:gd name="T48" fmla="*/ 5 w 5"/>
                <a:gd name="T49" fmla="*/ 6 h 17"/>
                <a:gd name="T50" fmla="*/ 5 w 5"/>
                <a:gd name="T51" fmla="*/ 6 h 17"/>
                <a:gd name="T52" fmla="*/ 5 w 5"/>
                <a:gd name="T53" fmla="*/ 12 h 17"/>
                <a:gd name="T54" fmla="*/ 5 w 5"/>
                <a:gd name="T55" fmla="*/ 12 h 17"/>
                <a:gd name="T56" fmla="*/ 5 w 5"/>
                <a:gd name="T57" fmla="*/ 12 h 17"/>
                <a:gd name="T58" fmla="*/ 5 w 5"/>
                <a:gd name="T59" fmla="*/ 12 h 17"/>
                <a:gd name="T60" fmla="*/ 5 w 5"/>
                <a:gd name="T61" fmla="*/ 12 h 17"/>
                <a:gd name="T62" fmla="*/ 5 w 5"/>
                <a:gd name="T63" fmla="*/ 12 h 17"/>
                <a:gd name="T64" fmla="*/ 5 w 5"/>
                <a:gd name="T65" fmla="*/ 12 h 17"/>
                <a:gd name="T66" fmla="*/ 5 w 5"/>
                <a:gd name="T67" fmla="*/ 12 h 17"/>
                <a:gd name="T68" fmla="*/ 5 w 5"/>
                <a:gd name="T69" fmla="*/ 12 h 17"/>
                <a:gd name="T70" fmla="*/ 5 w 5"/>
                <a:gd name="T71" fmla="*/ 12 h 17"/>
                <a:gd name="T72" fmla="*/ 5 w 5"/>
                <a:gd name="T73" fmla="*/ 12 h 17"/>
                <a:gd name="T74" fmla="*/ 5 w 5"/>
                <a:gd name="T75" fmla="*/ 12 h 17"/>
                <a:gd name="T76" fmla="*/ 5 w 5"/>
                <a:gd name="T77" fmla="*/ 12 h 17"/>
                <a:gd name="T78" fmla="*/ 5 w 5"/>
                <a:gd name="T79" fmla="*/ 12 h 17"/>
                <a:gd name="T80" fmla="*/ 5 w 5"/>
                <a:gd name="T81" fmla="*/ 12 h 17"/>
                <a:gd name="T82" fmla="*/ 5 w 5"/>
                <a:gd name="T83" fmla="*/ 12 h 17"/>
                <a:gd name="T84" fmla="*/ 5 w 5"/>
                <a:gd name="T85" fmla="*/ 12 h 17"/>
                <a:gd name="T86" fmla="*/ 5 w 5"/>
                <a:gd name="T87" fmla="*/ 12 h 17"/>
                <a:gd name="T88" fmla="*/ 5 w 5"/>
                <a:gd name="T89" fmla="*/ 12 h 17"/>
                <a:gd name="T90" fmla="*/ 5 w 5"/>
                <a:gd name="T91" fmla="*/ 12 h 17"/>
                <a:gd name="T92" fmla="*/ 5 w 5"/>
                <a:gd name="T93" fmla="*/ 12 h 17"/>
                <a:gd name="T94" fmla="*/ 5 w 5"/>
                <a:gd name="T95" fmla="*/ 12 h 17"/>
                <a:gd name="T96" fmla="*/ 5 w 5"/>
                <a:gd name="T97" fmla="*/ 12 h 17"/>
                <a:gd name="T98" fmla="*/ 5 w 5"/>
                <a:gd name="T99" fmla="*/ 12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2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6" name="Freeform 73"/>
            <p:cNvSpPr>
              <a:spLocks/>
            </p:cNvSpPr>
            <p:nvPr/>
          </p:nvSpPr>
          <p:spPr bwMode="auto">
            <a:xfrm>
              <a:off x="4649" y="3301"/>
              <a:ext cx="5" cy="6"/>
            </a:xfrm>
            <a:custGeom>
              <a:avLst/>
              <a:gdLst>
                <a:gd name="T0" fmla="*/ 0 w 5"/>
                <a:gd name="T1" fmla="*/ 0 h 6"/>
                <a:gd name="T2" fmla="*/ 0 w 5"/>
                <a:gd name="T3" fmla="*/ 0 h 6"/>
                <a:gd name="T4" fmla="*/ 0 w 5"/>
                <a:gd name="T5" fmla="*/ 0 h 6"/>
                <a:gd name="T6" fmla="*/ 0 w 5"/>
                <a:gd name="T7" fmla="*/ 0 h 6"/>
                <a:gd name="T8" fmla="*/ 0 w 5"/>
                <a:gd name="T9" fmla="*/ 0 h 6"/>
                <a:gd name="T10" fmla="*/ 0 w 5"/>
                <a:gd name="T11" fmla="*/ 0 h 6"/>
                <a:gd name="T12" fmla="*/ 0 w 5"/>
                <a:gd name="T13" fmla="*/ 0 h 6"/>
                <a:gd name="T14" fmla="*/ 0 w 5"/>
                <a:gd name="T15" fmla="*/ 0 h 6"/>
                <a:gd name="T16" fmla="*/ 0 w 5"/>
                <a:gd name="T17" fmla="*/ 0 h 6"/>
                <a:gd name="T18" fmla="*/ 0 w 5"/>
                <a:gd name="T19" fmla="*/ 0 h 6"/>
                <a:gd name="T20" fmla="*/ 0 w 5"/>
                <a:gd name="T21" fmla="*/ 0 h 6"/>
                <a:gd name="T22" fmla="*/ 0 w 5"/>
                <a:gd name="T23" fmla="*/ 0 h 6"/>
                <a:gd name="T24" fmla="*/ 0 w 5"/>
                <a:gd name="T25" fmla="*/ 0 h 6"/>
                <a:gd name="T26" fmla="*/ 5 w 5"/>
                <a:gd name="T27" fmla="*/ 0 h 6"/>
                <a:gd name="T28" fmla="*/ 5 w 5"/>
                <a:gd name="T29" fmla="*/ 0 h 6"/>
                <a:gd name="T30" fmla="*/ 5 w 5"/>
                <a:gd name="T31" fmla="*/ 0 h 6"/>
                <a:gd name="T32" fmla="*/ 5 w 5"/>
                <a:gd name="T33" fmla="*/ 0 h 6"/>
                <a:gd name="T34" fmla="*/ 5 w 5"/>
                <a:gd name="T35" fmla="*/ 0 h 6"/>
                <a:gd name="T36" fmla="*/ 5 w 5"/>
                <a:gd name="T37" fmla="*/ 0 h 6"/>
                <a:gd name="T38" fmla="*/ 5 w 5"/>
                <a:gd name="T39" fmla="*/ 0 h 6"/>
                <a:gd name="T40" fmla="*/ 5 w 5"/>
                <a:gd name="T41" fmla="*/ 0 h 6"/>
                <a:gd name="T42" fmla="*/ 5 w 5"/>
                <a:gd name="T43" fmla="*/ 0 h 6"/>
                <a:gd name="T44" fmla="*/ 5 w 5"/>
                <a:gd name="T45" fmla="*/ 0 h 6"/>
                <a:gd name="T46" fmla="*/ 5 w 5"/>
                <a:gd name="T47" fmla="*/ 0 h 6"/>
                <a:gd name="T48" fmla="*/ 5 w 5"/>
                <a:gd name="T49" fmla="*/ 0 h 6"/>
                <a:gd name="T50" fmla="*/ 5 w 5"/>
                <a:gd name="T51" fmla="*/ 0 h 6"/>
                <a:gd name="T52" fmla="*/ 5 w 5"/>
                <a:gd name="T53" fmla="*/ 0 h 6"/>
                <a:gd name="T54" fmla="*/ 5 w 5"/>
                <a:gd name="T55" fmla="*/ 0 h 6"/>
                <a:gd name="T56" fmla="*/ 5 w 5"/>
                <a:gd name="T57" fmla="*/ 6 h 6"/>
                <a:gd name="T58" fmla="*/ 5 w 5"/>
                <a:gd name="T59" fmla="*/ 6 h 6"/>
                <a:gd name="T60" fmla="*/ 5 w 5"/>
                <a:gd name="T61" fmla="*/ 6 h 6"/>
                <a:gd name="T62" fmla="*/ 5 w 5"/>
                <a:gd name="T63" fmla="*/ 6 h 6"/>
                <a:gd name="T64" fmla="*/ 5 w 5"/>
                <a:gd name="T65" fmla="*/ 6 h 6"/>
                <a:gd name="T66" fmla="*/ 5 w 5"/>
                <a:gd name="T67" fmla="*/ 6 h 6"/>
                <a:gd name="T68" fmla="*/ 5 w 5"/>
                <a:gd name="T69" fmla="*/ 6 h 6"/>
                <a:gd name="T70" fmla="*/ 5 w 5"/>
                <a:gd name="T71" fmla="*/ 6 h 6"/>
                <a:gd name="T72" fmla="*/ 5 w 5"/>
                <a:gd name="T73" fmla="*/ 6 h 6"/>
                <a:gd name="T74" fmla="*/ 5 w 5"/>
                <a:gd name="T75" fmla="*/ 6 h 6"/>
                <a:gd name="T76" fmla="*/ 5 w 5"/>
                <a:gd name="T77" fmla="*/ 6 h 6"/>
                <a:gd name="T78" fmla="*/ 5 w 5"/>
                <a:gd name="T79" fmla="*/ 6 h 6"/>
                <a:gd name="T80" fmla="*/ 5 w 5"/>
                <a:gd name="T81" fmla="*/ 6 h 6"/>
                <a:gd name="T82" fmla="*/ 5 w 5"/>
                <a:gd name="T83" fmla="*/ 6 h 6"/>
                <a:gd name="T84" fmla="*/ 5 w 5"/>
                <a:gd name="T85" fmla="*/ 6 h 6"/>
                <a:gd name="T86" fmla="*/ 5 w 5"/>
                <a:gd name="T87" fmla="*/ 6 h 6"/>
                <a:gd name="T88" fmla="*/ 5 w 5"/>
                <a:gd name="T89" fmla="*/ 6 h 6"/>
                <a:gd name="T90" fmla="*/ 5 w 5"/>
                <a:gd name="T91" fmla="*/ 6 h 6"/>
                <a:gd name="T92" fmla="*/ 5 w 5"/>
                <a:gd name="T93" fmla="*/ 6 h 6"/>
                <a:gd name="T94" fmla="*/ 5 w 5"/>
                <a:gd name="T95" fmla="*/ 6 h 6"/>
                <a:gd name="T96" fmla="*/ 5 w 5"/>
                <a:gd name="T97" fmla="*/ 6 h 6"/>
                <a:gd name="T98" fmla="*/ 5 w 5"/>
                <a:gd name="T99" fmla="*/ 6 h 6"/>
                <a:gd name="T100" fmla="*/ 5 w 5"/>
                <a:gd name="T101" fmla="*/ 6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6"/>
                <a:gd name="T155" fmla="*/ 5 w 5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6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7" name="Freeform 74"/>
            <p:cNvSpPr>
              <a:spLocks/>
            </p:cNvSpPr>
            <p:nvPr/>
          </p:nvSpPr>
          <p:spPr bwMode="auto">
            <a:xfrm>
              <a:off x="4654" y="3307"/>
              <a:ext cx="9" cy="6"/>
            </a:xfrm>
            <a:custGeom>
              <a:avLst/>
              <a:gdLst>
                <a:gd name="T0" fmla="*/ 0 w 9"/>
                <a:gd name="T1" fmla="*/ 0 h 6"/>
                <a:gd name="T2" fmla="*/ 0 w 9"/>
                <a:gd name="T3" fmla="*/ 0 h 6"/>
                <a:gd name="T4" fmla="*/ 0 w 9"/>
                <a:gd name="T5" fmla="*/ 0 h 6"/>
                <a:gd name="T6" fmla="*/ 0 w 9"/>
                <a:gd name="T7" fmla="*/ 0 h 6"/>
                <a:gd name="T8" fmla="*/ 5 w 9"/>
                <a:gd name="T9" fmla="*/ 0 h 6"/>
                <a:gd name="T10" fmla="*/ 5 w 9"/>
                <a:gd name="T11" fmla="*/ 0 h 6"/>
                <a:gd name="T12" fmla="*/ 5 w 9"/>
                <a:gd name="T13" fmla="*/ 0 h 6"/>
                <a:gd name="T14" fmla="*/ 5 w 9"/>
                <a:gd name="T15" fmla="*/ 0 h 6"/>
                <a:gd name="T16" fmla="*/ 5 w 9"/>
                <a:gd name="T17" fmla="*/ 0 h 6"/>
                <a:gd name="T18" fmla="*/ 5 w 9"/>
                <a:gd name="T19" fmla="*/ 0 h 6"/>
                <a:gd name="T20" fmla="*/ 5 w 9"/>
                <a:gd name="T21" fmla="*/ 0 h 6"/>
                <a:gd name="T22" fmla="*/ 5 w 9"/>
                <a:gd name="T23" fmla="*/ 6 h 6"/>
                <a:gd name="T24" fmla="*/ 5 w 9"/>
                <a:gd name="T25" fmla="*/ 6 h 6"/>
                <a:gd name="T26" fmla="*/ 5 w 9"/>
                <a:gd name="T27" fmla="*/ 6 h 6"/>
                <a:gd name="T28" fmla="*/ 5 w 9"/>
                <a:gd name="T29" fmla="*/ 6 h 6"/>
                <a:gd name="T30" fmla="*/ 5 w 9"/>
                <a:gd name="T31" fmla="*/ 6 h 6"/>
                <a:gd name="T32" fmla="*/ 5 w 9"/>
                <a:gd name="T33" fmla="*/ 6 h 6"/>
                <a:gd name="T34" fmla="*/ 5 w 9"/>
                <a:gd name="T35" fmla="*/ 6 h 6"/>
                <a:gd name="T36" fmla="*/ 5 w 9"/>
                <a:gd name="T37" fmla="*/ 6 h 6"/>
                <a:gd name="T38" fmla="*/ 5 w 9"/>
                <a:gd name="T39" fmla="*/ 6 h 6"/>
                <a:gd name="T40" fmla="*/ 5 w 9"/>
                <a:gd name="T41" fmla="*/ 6 h 6"/>
                <a:gd name="T42" fmla="*/ 5 w 9"/>
                <a:gd name="T43" fmla="*/ 6 h 6"/>
                <a:gd name="T44" fmla="*/ 5 w 9"/>
                <a:gd name="T45" fmla="*/ 6 h 6"/>
                <a:gd name="T46" fmla="*/ 5 w 9"/>
                <a:gd name="T47" fmla="*/ 6 h 6"/>
                <a:gd name="T48" fmla="*/ 5 w 9"/>
                <a:gd name="T49" fmla="*/ 6 h 6"/>
                <a:gd name="T50" fmla="*/ 5 w 9"/>
                <a:gd name="T51" fmla="*/ 6 h 6"/>
                <a:gd name="T52" fmla="*/ 5 w 9"/>
                <a:gd name="T53" fmla="*/ 6 h 6"/>
                <a:gd name="T54" fmla="*/ 5 w 9"/>
                <a:gd name="T55" fmla="*/ 6 h 6"/>
                <a:gd name="T56" fmla="*/ 5 w 9"/>
                <a:gd name="T57" fmla="*/ 6 h 6"/>
                <a:gd name="T58" fmla="*/ 5 w 9"/>
                <a:gd name="T59" fmla="*/ 6 h 6"/>
                <a:gd name="T60" fmla="*/ 5 w 9"/>
                <a:gd name="T61" fmla="*/ 6 h 6"/>
                <a:gd name="T62" fmla="*/ 5 w 9"/>
                <a:gd name="T63" fmla="*/ 6 h 6"/>
                <a:gd name="T64" fmla="*/ 5 w 9"/>
                <a:gd name="T65" fmla="*/ 6 h 6"/>
                <a:gd name="T66" fmla="*/ 5 w 9"/>
                <a:gd name="T67" fmla="*/ 6 h 6"/>
                <a:gd name="T68" fmla="*/ 5 w 9"/>
                <a:gd name="T69" fmla="*/ 6 h 6"/>
                <a:gd name="T70" fmla="*/ 5 w 9"/>
                <a:gd name="T71" fmla="*/ 6 h 6"/>
                <a:gd name="T72" fmla="*/ 5 w 9"/>
                <a:gd name="T73" fmla="*/ 6 h 6"/>
                <a:gd name="T74" fmla="*/ 5 w 9"/>
                <a:gd name="T75" fmla="*/ 6 h 6"/>
                <a:gd name="T76" fmla="*/ 5 w 9"/>
                <a:gd name="T77" fmla="*/ 6 h 6"/>
                <a:gd name="T78" fmla="*/ 5 w 9"/>
                <a:gd name="T79" fmla="*/ 6 h 6"/>
                <a:gd name="T80" fmla="*/ 5 w 9"/>
                <a:gd name="T81" fmla="*/ 6 h 6"/>
                <a:gd name="T82" fmla="*/ 5 w 9"/>
                <a:gd name="T83" fmla="*/ 6 h 6"/>
                <a:gd name="T84" fmla="*/ 5 w 9"/>
                <a:gd name="T85" fmla="*/ 6 h 6"/>
                <a:gd name="T86" fmla="*/ 5 w 9"/>
                <a:gd name="T87" fmla="*/ 6 h 6"/>
                <a:gd name="T88" fmla="*/ 9 w 9"/>
                <a:gd name="T89" fmla="*/ 6 h 6"/>
                <a:gd name="T90" fmla="*/ 9 w 9"/>
                <a:gd name="T91" fmla="*/ 6 h 6"/>
                <a:gd name="T92" fmla="*/ 9 w 9"/>
                <a:gd name="T93" fmla="*/ 6 h 6"/>
                <a:gd name="T94" fmla="*/ 9 w 9"/>
                <a:gd name="T95" fmla="*/ 6 h 6"/>
                <a:gd name="T96" fmla="*/ 9 w 9"/>
                <a:gd name="T97" fmla="*/ 6 h 6"/>
                <a:gd name="T98" fmla="*/ 9 w 9"/>
                <a:gd name="T99" fmla="*/ 6 h 6"/>
                <a:gd name="T100" fmla="*/ 9 w 9"/>
                <a:gd name="T101" fmla="*/ 6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6"/>
                <a:gd name="T155" fmla="*/ 9 w 9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6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6"/>
                  </a:lnTo>
                  <a:lnTo>
                    <a:pt x="9" y="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8" name="Freeform 75"/>
            <p:cNvSpPr>
              <a:spLocks/>
            </p:cNvSpPr>
            <p:nvPr/>
          </p:nvSpPr>
          <p:spPr bwMode="auto">
            <a:xfrm>
              <a:off x="4663" y="3313"/>
              <a:ext cx="5" cy="5"/>
            </a:xfrm>
            <a:custGeom>
              <a:avLst/>
              <a:gdLst>
                <a:gd name="T0" fmla="*/ 0 w 5"/>
                <a:gd name="T1" fmla="*/ 0 h 5"/>
                <a:gd name="T2" fmla="*/ 0 w 5"/>
                <a:gd name="T3" fmla="*/ 0 h 5"/>
                <a:gd name="T4" fmla="*/ 0 w 5"/>
                <a:gd name="T5" fmla="*/ 0 h 5"/>
                <a:gd name="T6" fmla="*/ 0 w 5"/>
                <a:gd name="T7" fmla="*/ 0 h 5"/>
                <a:gd name="T8" fmla="*/ 0 w 5"/>
                <a:gd name="T9" fmla="*/ 0 h 5"/>
                <a:gd name="T10" fmla="*/ 0 w 5"/>
                <a:gd name="T11" fmla="*/ 5 h 5"/>
                <a:gd name="T12" fmla="*/ 0 w 5"/>
                <a:gd name="T13" fmla="*/ 5 h 5"/>
                <a:gd name="T14" fmla="*/ 0 w 5"/>
                <a:gd name="T15" fmla="*/ 5 h 5"/>
                <a:gd name="T16" fmla="*/ 0 w 5"/>
                <a:gd name="T17" fmla="*/ 5 h 5"/>
                <a:gd name="T18" fmla="*/ 0 w 5"/>
                <a:gd name="T19" fmla="*/ 5 h 5"/>
                <a:gd name="T20" fmla="*/ 0 w 5"/>
                <a:gd name="T21" fmla="*/ 5 h 5"/>
                <a:gd name="T22" fmla="*/ 0 w 5"/>
                <a:gd name="T23" fmla="*/ 5 h 5"/>
                <a:gd name="T24" fmla="*/ 0 w 5"/>
                <a:gd name="T25" fmla="*/ 5 h 5"/>
                <a:gd name="T26" fmla="*/ 0 w 5"/>
                <a:gd name="T27" fmla="*/ 5 h 5"/>
                <a:gd name="T28" fmla="*/ 0 w 5"/>
                <a:gd name="T29" fmla="*/ 5 h 5"/>
                <a:gd name="T30" fmla="*/ 0 w 5"/>
                <a:gd name="T31" fmla="*/ 5 h 5"/>
                <a:gd name="T32" fmla="*/ 0 w 5"/>
                <a:gd name="T33" fmla="*/ 5 h 5"/>
                <a:gd name="T34" fmla="*/ 0 w 5"/>
                <a:gd name="T35" fmla="*/ 5 h 5"/>
                <a:gd name="T36" fmla="*/ 0 w 5"/>
                <a:gd name="T37" fmla="*/ 5 h 5"/>
                <a:gd name="T38" fmla="*/ 0 w 5"/>
                <a:gd name="T39" fmla="*/ 5 h 5"/>
                <a:gd name="T40" fmla="*/ 0 w 5"/>
                <a:gd name="T41" fmla="*/ 5 h 5"/>
                <a:gd name="T42" fmla="*/ 0 w 5"/>
                <a:gd name="T43" fmla="*/ 5 h 5"/>
                <a:gd name="T44" fmla="*/ 0 w 5"/>
                <a:gd name="T45" fmla="*/ 5 h 5"/>
                <a:gd name="T46" fmla="*/ 0 w 5"/>
                <a:gd name="T47" fmla="*/ 5 h 5"/>
                <a:gd name="T48" fmla="*/ 0 w 5"/>
                <a:gd name="T49" fmla="*/ 5 h 5"/>
                <a:gd name="T50" fmla="*/ 0 w 5"/>
                <a:gd name="T51" fmla="*/ 5 h 5"/>
                <a:gd name="T52" fmla="*/ 0 w 5"/>
                <a:gd name="T53" fmla="*/ 5 h 5"/>
                <a:gd name="T54" fmla="*/ 0 w 5"/>
                <a:gd name="T55" fmla="*/ 5 h 5"/>
                <a:gd name="T56" fmla="*/ 0 w 5"/>
                <a:gd name="T57" fmla="*/ 5 h 5"/>
                <a:gd name="T58" fmla="*/ 0 w 5"/>
                <a:gd name="T59" fmla="*/ 5 h 5"/>
                <a:gd name="T60" fmla="*/ 0 w 5"/>
                <a:gd name="T61" fmla="*/ 5 h 5"/>
                <a:gd name="T62" fmla="*/ 0 w 5"/>
                <a:gd name="T63" fmla="*/ 5 h 5"/>
                <a:gd name="T64" fmla="*/ 0 w 5"/>
                <a:gd name="T65" fmla="*/ 5 h 5"/>
                <a:gd name="T66" fmla="*/ 0 w 5"/>
                <a:gd name="T67" fmla="*/ 5 h 5"/>
                <a:gd name="T68" fmla="*/ 5 w 5"/>
                <a:gd name="T69" fmla="*/ 5 h 5"/>
                <a:gd name="T70" fmla="*/ 5 w 5"/>
                <a:gd name="T71" fmla="*/ 5 h 5"/>
                <a:gd name="T72" fmla="*/ 5 w 5"/>
                <a:gd name="T73" fmla="*/ 5 h 5"/>
                <a:gd name="T74" fmla="*/ 5 w 5"/>
                <a:gd name="T75" fmla="*/ 5 h 5"/>
                <a:gd name="T76" fmla="*/ 5 w 5"/>
                <a:gd name="T77" fmla="*/ 5 h 5"/>
                <a:gd name="T78" fmla="*/ 5 w 5"/>
                <a:gd name="T79" fmla="*/ 5 h 5"/>
                <a:gd name="T80" fmla="*/ 5 w 5"/>
                <a:gd name="T81" fmla="*/ 5 h 5"/>
                <a:gd name="T82" fmla="*/ 5 w 5"/>
                <a:gd name="T83" fmla="*/ 5 h 5"/>
                <a:gd name="T84" fmla="*/ 5 w 5"/>
                <a:gd name="T85" fmla="*/ 5 h 5"/>
                <a:gd name="T86" fmla="*/ 5 w 5"/>
                <a:gd name="T87" fmla="*/ 5 h 5"/>
                <a:gd name="T88" fmla="*/ 5 w 5"/>
                <a:gd name="T89" fmla="*/ 5 h 5"/>
                <a:gd name="T90" fmla="*/ 5 w 5"/>
                <a:gd name="T91" fmla="*/ 5 h 5"/>
                <a:gd name="T92" fmla="*/ 5 w 5"/>
                <a:gd name="T93" fmla="*/ 5 h 5"/>
                <a:gd name="T94" fmla="*/ 5 w 5"/>
                <a:gd name="T95" fmla="*/ 5 h 5"/>
                <a:gd name="T96" fmla="*/ 5 w 5"/>
                <a:gd name="T97" fmla="*/ 5 h 5"/>
                <a:gd name="T98" fmla="*/ 5 w 5"/>
                <a:gd name="T99" fmla="*/ 5 h 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5"/>
                <a:gd name="T152" fmla="*/ 5 w 5"/>
                <a:gd name="T153" fmla="*/ 5 h 5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5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5" y="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9" name="Freeform 76"/>
            <p:cNvSpPr>
              <a:spLocks/>
            </p:cNvSpPr>
            <p:nvPr/>
          </p:nvSpPr>
          <p:spPr bwMode="auto">
            <a:xfrm>
              <a:off x="4668" y="3318"/>
              <a:ext cx="5" cy="1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0 w 5"/>
                <a:gd name="T5" fmla="*/ 0 h 1"/>
                <a:gd name="T6" fmla="*/ 0 w 5"/>
                <a:gd name="T7" fmla="*/ 0 h 1"/>
                <a:gd name="T8" fmla="*/ 0 w 5"/>
                <a:gd name="T9" fmla="*/ 0 h 1"/>
                <a:gd name="T10" fmla="*/ 0 w 5"/>
                <a:gd name="T11" fmla="*/ 0 h 1"/>
                <a:gd name="T12" fmla="*/ 0 w 5"/>
                <a:gd name="T13" fmla="*/ 0 h 1"/>
                <a:gd name="T14" fmla="*/ 0 w 5"/>
                <a:gd name="T15" fmla="*/ 0 h 1"/>
                <a:gd name="T16" fmla="*/ 0 w 5"/>
                <a:gd name="T17" fmla="*/ 0 h 1"/>
                <a:gd name="T18" fmla="*/ 0 w 5"/>
                <a:gd name="T19" fmla="*/ 0 h 1"/>
                <a:gd name="T20" fmla="*/ 0 w 5"/>
                <a:gd name="T21" fmla="*/ 0 h 1"/>
                <a:gd name="T22" fmla="*/ 0 w 5"/>
                <a:gd name="T23" fmla="*/ 0 h 1"/>
                <a:gd name="T24" fmla="*/ 0 w 5"/>
                <a:gd name="T25" fmla="*/ 0 h 1"/>
                <a:gd name="T26" fmla="*/ 0 w 5"/>
                <a:gd name="T27" fmla="*/ 0 h 1"/>
                <a:gd name="T28" fmla="*/ 0 w 5"/>
                <a:gd name="T29" fmla="*/ 0 h 1"/>
                <a:gd name="T30" fmla="*/ 0 w 5"/>
                <a:gd name="T31" fmla="*/ 0 h 1"/>
                <a:gd name="T32" fmla="*/ 0 w 5"/>
                <a:gd name="T33" fmla="*/ 0 h 1"/>
                <a:gd name="T34" fmla="*/ 0 w 5"/>
                <a:gd name="T35" fmla="*/ 0 h 1"/>
                <a:gd name="T36" fmla="*/ 0 w 5"/>
                <a:gd name="T37" fmla="*/ 0 h 1"/>
                <a:gd name="T38" fmla="*/ 0 w 5"/>
                <a:gd name="T39" fmla="*/ 0 h 1"/>
                <a:gd name="T40" fmla="*/ 0 w 5"/>
                <a:gd name="T41" fmla="*/ 0 h 1"/>
                <a:gd name="T42" fmla="*/ 0 w 5"/>
                <a:gd name="T43" fmla="*/ 0 h 1"/>
                <a:gd name="T44" fmla="*/ 0 w 5"/>
                <a:gd name="T45" fmla="*/ 0 h 1"/>
                <a:gd name="T46" fmla="*/ 5 w 5"/>
                <a:gd name="T47" fmla="*/ 0 h 1"/>
                <a:gd name="T48" fmla="*/ 5 w 5"/>
                <a:gd name="T49" fmla="*/ 0 h 1"/>
                <a:gd name="T50" fmla="*/ 5 w 5"/>
                <a:gd name="T51" fmla="*/ 0 h 1"/>
                <a:gd name="T52" fmla="*/ 5 w 5"/>
                <a:gd name="T53" fmla="*/ 0 h 1"/>
                <a:gd name="T54" fmla="*/ 5 w 5"/>
                <a:gd name="T55" fmla="*/ 0 h 1"/>
                <a:gd name="T56" fmla="*/ 5 w 5"/>
                <a:gd name="T57" fmla="*/ 0 h 1"/>
                <a:gd name="T58" fmla="*/ 5 w 5"/>
                <a:gd name="T59" fmla="*/ 0 h 1"/>
                <a:gd name="T60" fmla="*/ 5 w 5"/>
                <a:gd name="T61" fmla="*/ 0 h 1"/>
                <a:gd name="T62" fmla="*/ 5 w 5"/>
                <a:gd name="T63" fmla="*/ 0 h 1"/>
                <a:gd name="T64" fmla="*/ 5 w 5"/>
                <a:gd name="T65" fmla="*/ 0 h 1"/>
                <a:gd name="T66" fmla="*/ 5 w 5"/>
                <a:gd name="T67" fmla="*/ 0 h 1"/>
                <a:gd name="T68" fmla="*/ 5 w 5"/>
                <a:gd name="T69" fmla="*/ 0 h 1"/>
                <a:gd name="T70" fmla="*/ 5 w 5"/>
                <a:gd name="T71" fmla="*/ 0 h 1"/>
                <a:gd name="T72" fmla="*/ 5 w 5"/>
                <a:gd name="T73" fmla="*/ 0 h 1"/>
                <a:gd name="T74" fmla="*/ 5 w 5"/>
                <a:gd name="T75" fmla="*/ 0 h 1"/>
                <a:gd name="T76" fmla="*/ 5 w 5"/>
                <a:gd name="T77" fmla="*/ 0 h 1"/>
                <a:gd name="T78" fmla="*/ 5 w 5"/>
                <a:gd name="T79" fmla="*/ 0 h 1"/>
                <a:gd name="T80" fmla="*/ 5 w 5"/>
                <a:gd name="T81" fmla="*/ 0 h 1"/>
                <a:gd name="T82" fmla="*/ 5 w 5"/>
                <a:gd name="T83" fmla="*/ 0 h 1"/>
                <a:gd name="T84" fmla="*/ 5 w 5"/>
                <a:gd name="T85" fmla="*/ 0 h 1"/>
                <a:gd name="T86" fmla="*/ 5 w 5"/>
                <a:gd name="T87" fmla="*/ 0 h 1"/>
                <a:gd name="T88" fmla="*/ 5 w 5"/>
                <a:gd name="T89" fmla="*/ 0 h 1"/>
                <a:gd name="T90" fmla="*/ 5 w 5"/>
                <a:gd name="T91" fmla="*/ 0 h 1"/>
                <a:gd name="T92" fmla="*/ 5 w 5"/>
                <a:gd name="T93" fmla="*/ 0 h 1"/>
                <a:gd name="T94" fmla="*/ 5 w 5"/>
                <a:gd name="T95" fmla="*/ 0 h 1"/>
                <a:gd name="T96" fmla="*/ 5 w 5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5"/>
                <a:gd name="T148" fmla="*/ 0 h 1"/>
                <a:gd name="T149" fmla="*/ 5 w 5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0" name="Freeform 77"/>
            <p:cNvSpPr>
              <a:spLocks/>
            </p:cNvSpPr>
            <p:nvPr/>
          </p:nvSpPr>
          <p:spPr bwMode="auto">
            <a:xfrm>
              <a:off x="4673" y="3318"/>
              <a:ext cx="5" cy="1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0 w 5"/>
                <a:gd name="T5" fmla="*/ 0 h 1"/>
                <a:gd name="T6" fmla="*/ 0 w 5"/>
                <a:gd name="T7" fmla="*/ 0 h 1"/>
                <a:gd name="T8" fmla="*/ 0 w 5"/>
                <a:gd name="T9" fmla="*/ 0 h 1"/>
                <a:gd name="T10" fmla="*/ 0 w 5"/>
                <a:gd name="T11" fmla="*/ 0 h 1"/>
                <a:gd name="T12" fmla="*/ 0 w 5"/>
                <a:gd name="T13" fmla="*/ 0 h 1"/>
                <a:gd name="T14" fmla="*/ 0 w 5"/>
                <a:gd name="T15" fmla="*/ 0 h 1"/>
                <a:gd name="T16" fmla="*/ 0 w 5"/>
                <a:gd name="T17" fmla="*/ 0 h 1"/>
                <a:gd name="T18" fmla="*/ 0 w 5"/>
                <a:gd name="T19" fmla="*/ 0 h 1"/>
                <a:gd name="T20" fmla="*/ 0 w 5"/>
                <a:gd name="T21" fmla="*/ 0 h 1"/>
                <a:gd name="T22" fmla="*/ 0 w 5"/>
                <a:gd name="T23" fmla="*/ 0 h 1"/>
                <a:gd name="T24" fmla="*/ 0 w 5"/>
                <a:gd name="T25" fmla="*/ 0 h 1"/>
                <a:gd name="T26" fmla="*/ 0 w 5"/>
                <a:gd name="T27" fmla="*/ 0 h 1"/>
                <a:gd name="T28" fmla="*/ 0 w 5"/>
                <a:gd name="T29" fmla="*/ 0 h 1"/>
                <a:gd name="T30" fmla="*/ 0 w 5"/>
                <a:gd name="T31" fmla="*/ 0 h 1"/>
                <a:gd name="T32" fmla="*/ 0 w 5"/>
                <a:gd name="T33" fmla="*/ 0 h 1"/>
                <a:gd name="T34" fmla="*/ 0 w 5"/>
                <a:gd name="T35" fmla="*/ 0 h 1"/>
                <a:gd name="T36" fmla="*/ 0 w 5"/>
                <a:gd name="T37" fmla="*/ 0 h 1"/>
                <a:gd name="T38" fmla="*/ 0 w 5"/>
                <a:gd name="T39" fmla="*/ 0 h 1"/>
                <a:gd name="T40" fmla="*/ 0 w 5"/>
                <a:gd name="T41" fmla="*/ 0 h 1"/>
                <a:gd name="T42" fmla="*/ 0 w 5"/>
                <a:gd name="T43" fmla="*/ 0 h 1"/>
                <a:gd name="T44" fmla="*/ 0 w 5"/>
                <a:gd name="T45" fmla="*/ 0 h 1"/>
                <a:gd name="T46" fmla="*/ 0 w 5"/>
                <a:gd name="T47" fmla="*/ 0 h 1"/>
                <a:gd name="T48" fmla="*/ 0 w 5"/>
                <a:gd name="T49" fmla="*/ 0 h 1"/>
                <a:gd name="T50" fmla="*/ 0 w 5"/>
                <a:gd name="T51" fmla="*/ 0 h 1"/>
                <a:gd name="T52" fmla="*/ 0 w 5"/>
                <a:gd name="T53" fmla="*/ 0 h 1"/>
                <a:gd name="T54" fmla="*/ 0 w 5"/>
                <a:gd name="T55" fmla="*/ 0 h 1"/>
                <a:gd name="T56" fmla="*/ 0 w 5"/>
                <a:gd name="T57" fmla="*/ 0 h 1"/>
                <a:gd name="T58" fmla="*/ 0 w 5"/>
                <a:gd name="T59" fmla="*/ 0 h 1"/>
                <a:gd name="T60" fmla="*/ 0 w 5"/>
                <a:gd name="T61" fmla="*/ 0 h 1"/>
                <a:gd name="T62" fmla="*/ 0 w 5"/>
                <a:gd name="T63" fmla="*/ 0 h 1"/>
                <a:gd name="T64" fmla="*/ 5 w 5"/>
                <a:gd name="T65" fmla="*/ 0 h 1"/>
                <a:gd name="T66" fmla="*/ 5 w 5"/>
                <a:gd name="T67" fmla="*/ 0 h 1"/>
                <a:gd name="T68" fmla="*/ 5 w 5"/>
                <a:gd name="T69" fmla="*/ 0 h 1"/>
                <a:gd name="T70" fmla="*/ 5 w 5"/>
                <a:gd name="T71" fmla="*/ 0 h 1"/>
                <a:gd name="T72" fmla="*/ 5 w 5"/>
                <a:gd name="T73" fmla="*/ 0 h 1"/>
                <a:gd name="T74" fmla="*/ 5 w 5"/>
                <a:gd name="T75" fmla="*/ 0 h 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5"/>
                <a:gd name="T115" fmla="*/ 0 h 1"/>
                <a:gd name="T116" fmla="*/ 5 w 5"/>
                <a:gd name="T117" fmla="*/ 1 h 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1" name="Freeform 78"/>
            <p:cNvSpPr>
              <a:spLocks/>
            </p:cNvSpPr>
            <p:nvPr/>
          </p:nvSpPr>
          <p:spPr bwMode="auto">
            <a:xfrm>
              <a:off x="4678" y="3318"/>
              <a:ext cx="4" cy="1"/>
            </a:xfrm>
            <a:custGeom>
              <a:avLst/>
              <a:gdLst>
                <a:gd name="T0" fmla="*/ 0 w 4"/>
                <a:gd name="T1" fmla="*/ 0 h 1"/>
                <a:gd name="T2" fmla="*/ 0 w 4"/>
                <a:gd name="T3" fmla="*/ 0 h 1"/>
                <a:gd name="T4" fmla="*/ 0 w 4"/>
                <a:gd name="T5" fmla="*/ 0 h 1"/>
                <a:gd name="T6" fmla="*/ 0 w 4"/>
                <a:gd name="T7" fmla="*/ 0 h 1"/>
                <a:gd name="T8" fmla="*/ 0 w 4"/>
                <a:gd name="T9" fmla="*/ 0 h 1"/>
                <a:gd name="T10" fmla="*/ 0 w 4"/>
                <a:gd name="T11" fmla="*/ 0 h 1"/>
                <a:gd name="T12" fmla="*/ 0 w 4"/>
                <a:gd name="T13" fmla="*/ 0 h 1"/>
                <a:gd name="T14" fmla="*/ 0 w 4"/>
                <a:gd name="T15" fmla="*/ 0 h 1"/>
                <a:gd name="T16" fmla="*/ 0 w 4"/>
                <a:gd name="T17" fmla="*/ 0 h 1"/>
                <a:gd name="T18" fmla="*/ 0 w 4"/>
                <a:gd name="T19" fmla="*/ 0 h 1"/>
                <a:gd name="T20" fmla="*/ 0 w 4"/>
                <a:gd name="T21" fmla="*/ 0 h 1"/>
                <a:gd name="T22" fmla="*/ 0 w 4"/>
                <a:gd name="T23" fmla="*/ 0 h 1"/>
                <a:gd name="T24" fmla="*/ 0 w 4"/>
                <a:gd name="T25" fmla="*/ 0 h 1"/>
                <a:gd name="T26" fmla="*/ 0 w 4"/>
                <a:gd name="T27" fmla="*/ 0 h 1"/>
                <a:gd name="T28" fmla="*/ 0 w 4"/>
                <a:gd name="T29" fmla="*/ 0 h 1"/>
                <a:gd name="T30" fmla="*/ 0 w 4"/>
                <a:gd name="T31" fmla="*/ 0 h 1"/>
                <a:gd name="T32" fmla="*/ 0 w 4"/>
                <a:gd name="T33" fmla="*/ 0 h 1"/>
                <a:gd name="T34" fmla="*/ 0 w 4"/>
                <a:gd name="T35" fmla="*/ 0 h 1"/>
                <a:gd name="T36" fmla="*/ 0 w 4"/>
                <a:gd name="T37" fmla="*/ 0 h 1"/>
                <a:gd name="T38" fmla="*/ 0 w 4"/>
                <a:gd name="T39" fmla="*/ 0 h 1"/>
                <a:gd name="T40" fmla="*/ 0 w 4"/>
                <a:gd name="T41" fmla="*/ 0 h 1"/>
                <a:gd name="T42" fmla="*/ 0 w 4"/>
                <a:gd name="T43" fmla="*/ 0 h 1"/>
                <a:gd name="T44" fmla="*/ 0 w 4"/>
                <a:gd name="T45" fmla="*/ 0 h 1"/>
                <a:gd name="T46" fmla="*/ 0 w 4"/>
                <a:gd name="T47" fmla="*/ 0 h 1"/>
                <a:gd name="T48" fmla="*/ 0 w 4"/>
                <a:gd name="T49" fmla="*/ 0 h 1"/>
                <a:gd name="T50" fmla="*/ 0 w 4"/>
                <a:gd name="T51" fmla="*/ 0 h 1"/>
                <a:gd name="T52" fmla="*/ 0 w 4"/>
                <a:gd name="T53" fmla="*/ 0 h 1"/>
                <a:gd name="T54" fmla="*/ 0 w 4"/>
                <a:gd name="T55" fmla="*/ 0 h 1"/>
                <a:gd name="T56" fmla="*/ 0 w 4"/>
                <a:gd name="T57" fmla="*/ 0 h 1"/>
                <a:gd name="T58" fmla="*/ 0 w 4"/>
                <a:gd name="T59" fmla="*/ 0 h 1"/>
                <a:gd name="T60" fmla="*/ 0 w 4"/>
                <a:gd name="T61" fmla="*/ 0 h 1"/>
                <a:gd name="T62" fmla="*/ 0 w 4"/>
                <a:gd name="T63" fmla="*/ 0 h 1"/>
                <a:gd name="T64" fmla="*/ 0 w 4"/>
                <a:gd name="T65" fmla="*/ 0 h 1"/>
                <a:gd name="T66" fmla="*/ 0 w 4"/>
                <a:gd name="T67" fmla="*/ 0 h 1"/>
                <a:gd name="T68" fmla="*/ 4 w 4"/>
                <a:gd name="T69" fmla="*/ 0 h 1"/>
                <a:gd name="T70" fmla="*/ 4 w 4"/>
                <a:gd name="T71" fmla="*/ 0 h 1"/>
                <a:gd name="T72" fmla="*/ 4 w 4"/>
                <a:gd name="T73" fmla="*/ 0 h 1"/>
                <a:gd name="T74" fmla="*/ 4 w 4"/>
                <a:gd name="T75" fmla="*/ 0 h 1"/>
                <a:gd name="T76" fmla="*/ 4 w 4"/>
                <a:gd name="T77" fmla="*/ 0 h 1"/>
                <a:gd name="T78" fmla="*/ 4 w 4"/>
                <a:gd name="T79" fmla="*/ 0 h 1"/>
                <a:gd name="T80" fmla="*/ 4 w 4"/>
                <a:gd name="T81" fmla="*/ 0 h 1"/>
                <a:gd name="T82" fmla="*/ 4 w 4"/>
                <a:gd name="T83" fmla="*/ 0 h 1"/>
                <a:gd name="T84" fmla="*/ 4 w 4"/>
                <a:gd name="T85" fmla="*/ 0 h 1"/>
                <a:gd name="T86" fmla="*/ 4 w 4"/>
                <a:gd name="T87" fmla="*/ 0 h 1"/>
                <a:gd name="T88" fmla="*/ 4 w 4"/>
                <a:gd name="T89" fmla="*/ 0 h 1"/>
                <a:gd name="T90" fmla="*/ 4 w 4"/>
                <a:gd name="T91" fmla="*/ 0 h 1"/>
                <a:gd name="T92" fmla="*/ 4 w 4"/>
                <a:gd name="T93" fmla="*/ 0 h 1"/>
                <a:gd name="T94" fmla="*/ 4 w 4"/>
                <a:gd name="T95" fmla="*/ 0 h 1"/>
                <a:gd name="T96" fmla="*/ 4 w 4"/>
                <a:gd name="T97" fmla="*/ 0 h 1"/>
                <a:gd name="T98" fmla="*/ 4 w 4"/>
                <a:gd name="T99" fmla="*/ 0 h 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4"/>
                <a:gd name="T151" fmla="*/ 0 h 1"/>
                <a:gd name="T152" fmla="*/ 4 w 4"/>
                <a:gd name="T153" fmla="*/ 1 h 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4" h="1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2" name="Freeform 79"/>
            <p:cNvSpPr>
              <a:spLocks/>
            </p:cNvSpPr>
            <p:nvPr/>
          </p:nvSpPr>
          <p:spPr bwMode="auto">
            <a:xfrm>
              <a:off x="4682" y="3307"/>
              <a:ext cx="5" cy="11"/>
            </a:xfrm>
            <a:custGeom>
              <a:avLst/>
              <a:gdLst>
                <a:gd name="T0" fmla="*/ 0 w 5"/>
                <a:gd name="T1" fmla="*/ 11 h 11"/>
                <a:gd name="T2" fmla="*/ 0 w 5"/>
                <a:gd name="T3" fmla="*/ 11 h 11"/>
                <a:gd name="T4" fmla="*/ 0 w 5"/>
                <a:gd name="T5" fmla="*/ 11 h 11"/>
                <a:gd name="T6" fmla="*/ 0 w 5"/>
                <a:gd name="T7" fmla="*/ 6 h 11"/>
                <a:gd name="T8" fmla="*/ 0 w 5"/>
                <a:gd name="T9" fmla="*/ 6 h 11"/>
                <a:gd name="T10" fmla="*/ 0 w 5"/>
                <a:gd name="T11" fmla="*/ 6 h 11"/>
                <a:gd name="T12" fmla="*/ 0 w 5"/>
                <a:gd name="T13" fmla="*/ 6 h 11"/>
                <a:gd name="T14" fmla="*/ 0 w 5"/>
                <a:gd name="T15" fmla="*/ 6 h 11"/>
                <a:gd name="T16" fmla="*/ 0 w 5"/>
                <a:gd name="T17" fmla="*/ 6 h 11"/>
                <a:gd name="T18" fmla="*/ 0 w 5"/>
                <a:gd name="T19" fmla="*/ 6 h 11"/>
                <a:gd name="T20" fmla="*/ 0 w 5"/>
                <a:gd name="T21" fmla="*/ 6 h 11"/>
                <a:gd name="T22" fmla="*/ 0 w 5"/>
                <a:gd name="T23" fmla="*/ 6 h 11"/>
                <a:gd name="T24" fmla="*/ 0 w 5"/>
                <a:gd name="T25" fmla="*/ 6 h 11"/>
                <a:gd name="T26" fmla="*/ 0 w 5"/>
                <a:gd name="T27" fmla="*/ 6 h 11"/>
                <a:gd name="T28" fmla="*/ 0 w 5"/>
                <a:gd name="T29" fmla="*/ 6 h 11"/>
                <a:gd name="T30" fmla="*/ 0 w 5"/>
                <a:gd name="T31" fmla="*/ 6 h 11"/>
                <a:gd name="T32" fmla="*/ 0 w 5"/>
                <a:gd name="T33" fmla="*/ 6 h 11"/>
                <a:gd name="T34" fmla="*/ 0 w 5"/>
                <a:gd name="T35" fmla="*/ 6 h 11"/>
                <a:gd name="T36" fmla="*/ 0 w 5"/>
                <a:gd name="T37" fmla="*/ 6 h 11"/>
                <a:gd name="T38" fmla="*/ 0 w 5"/>
                <a:gd name="T39" fmla="*/ 6 h 11"/>
                <a:gd name="T40" fmla="*/ 0 w 5"/>
                <a:gd name="T41" fmla="*/ 6 h 11"/>
                <a:gd name="T42" fmla="*/ 0 w 5"/>
                <a:gd name="T43" fmla="*/ 6 h 11"/>
                <a:gd name="T44" fmla="*/ 0 w 5"/>
                <a:gd name="T45" fmla="*/ 6 h 11"/>
                <a:gd name="T46" fmla="*/ 0 w 5"/>
                <a:gd name="T47" fmla="*/ 6 h 11"/>
                <a:gd name="T48" fmla="*/ 0 w 5"/>
                <a:gd name="T49" fmla="*/ 6 h 11"/>
                <a:gd name="T50" fmla="*/ 0 w 5"/>
                <a:gd name="T51" fmla="*/ 6 h 11"/>
                <a:gd name="T52" fmla="*/ 5 w 5"/>
                <a:gd name="T53" fmla="*/ 6 h 11"/>
                <a:gd name="T54" fmla="*/ 5 w 5"/>
                <a:gd name="T55" fmla="*/ 6 h 11"/>
                <a:gd name="T56" fmla="*/ 5 w 5"/>
                <a:gd name="T57" fmla="*/ 6 h 11"/>
                <a:gd name="T58" fmla="*/ 5 w 5"/>
                <a:gd name="T59" fmla="*/ 6 h 11"/>
                <a:gd name="T60" fmla="*/ 5 w 5"/>
                <a:gd name="T61" fmla="*/ 6 h 11"/>
                <a:gd name="T62" fmla="*/ 5 w 5"/>
                <a:gd name="T63" fmla="*/ 6 h 11"/>
                <a:gd name="T64" fmla="*/ 5 w 5"/>
                <a:gd name="T65" fmla="*/ 6 h 11"/>
                <a:gd name="T66" fmla="*/ 5 w 5"/>
                <a:gd name="T67" fmla="*/ 6 h 11"/>
                <a:gd name="T68" fmla="*/ 5 w 5"/>
                <a:gd name="T69" fmla="*/ 6 h 11"/>
                <a:gd name="T70" fmla="*/ 5 w 5"/>
                <a:gd name="T71" fmla="*/ 6 h 11"/>
                <a:gd name="T72" fmla="*/ 5 w 5"/>
                <a:gd name="T73" fmla="*/ 6 h 11"/>
                <a:gd name="T74" fmla="*/ 5 w 5"/>
                <a:gd name="T75" fmla="*/ 6 h 11"/>
                <a:gd name="T76" fmla="*/ 5 w 5"/>
                <a:gd name="T77" fmla="*/ 6 h 11"/>
                <a:gd name="T78" fmla="*/ 5 w 5"/>
                <a:gd name="T79" fmla="*/ 6 h 11"/>
                <a:gd name="T80" fmla="*/ 5 w 5"/>
                <a:gd name="T81" fmla="*/ 6 h 11"/>
                <a:gd name="T82" fmla="*/ 5 w 5"/>
                <a:gd name="T83" fmla="*/ 6 h 11"/>
                <a:gd name="T84" fmla="*/ 5 w 5"/>
                <a:gd name="T85" fmla="*/ 6 h 11"/>
                <a:gd name="T86" fmla="*/ 5 w 5"/>
                <a:gd name="T87" fmla="*/ 6 h 11"/>
                <a:gd name="T88" fmla="*/ 5 w 5"/>
                <a:gd name="T89" fmla="*/ 6 h 11"/>
                <a:gd name="T90" fmla="*/ 5 w 5"/>
                <a:gd name="T91" fmla="*/ 6 h 11"/>
                <a:gd name="T92" fmla="*/ 5 w 5"/>
                <a:gd name="T93" fmla="*/ 6 h 11"/>
                <a:gd name="T94" fmla="*/ 5 w 5"/>
                <a:gd name="T95" fmla="*/ 6 h 11"/>
                <a:gd name="T96" fmla="*/ 5 w 5"/>
                <a:gd name="T97" fmla="*/ 0 h 11"/>
                <a:gd name="T98" fmla="*/ 5 w 5"/>
                <a:gd name="T99" fmla="*/ 0 h 11"/>
                <a:gd name="T100" fmla="*/ 5 w 5"/>
                <a:gd name="T101" fmla="*/ 0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1"/>
                <a:gd name="T155" fmla="*/ 5 w 5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1">
                  <a:moveTo>
                    <a:pt x="0" y="11"/>
                  </a:moveTo>
                  <a:lnTo>
                    <a:pt x="0" y="11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3" name="Freeform 80"/>
            <p:cNvSpPr>
              <a:spLocks/>
            </p:cNvSpPr>
            <p:nvPr/>
          </p:nvSpPr>
          <p:spPr bwMode="auto">
            <a:xfrm>
              <a:off x="4687" y="3301"/>
              <a:ext cx="5" cy="6"/>
            </a:xfrm>
            <a:custGeom>
              <a:avLst/>
              <a:gdLst>
                <a:gd name="T0" fmla="*/ 0 w 5"/>
                <a:gd name="T1" fmla="*/ 6 h 6"/>
                <a:gd name="T2" fmla="*/ 0 w 5"/>
                <a:gd name="T3" fmla="*/ 6 h 6"/>
                <a:gd name="T4" fmla="*/ 0 w 5"/>
                <a:gd name="T5" fmla="*/ 6 h 6"/>
                <a:gd name="T6" fmla="*/ 0 w 5"/>
                <a:gd name="T7" fmla="*/ 6 h 6"/>
                <a:gd name="T8" fmla="*/ 0 w 5"/>
                <a:gd name="T9" fmla="*/ 6 h 6"/>
                <a:gd name="T10" fmla="*/ 0 w 5"/>
                <a:gd name="T11" fmla="*/ 6 h 6"/>
                <a:gd name="T12" fmla="*/ 0 w 5"/>
                <a:gd name="T13" fmla="*/ 6 h 6"/>
                <a:gd name="T14" fmla="*/ 0 w 5"/>
                <a:gd name="T15" fmla="*/ 6 h 6"/>
                <a:gd name="T16" fmla="*/ 0 w 5"/>
                <a:gd name="T17" fmla="*/ 6 h 6"/>
                <a:gd name="T18" fmla="*/ 0 w 5"/>
                <a:gd name="T19" fmla="*/ 6 h 6"/>
                <a:gd name="T20" fmla="*/ 0 w 5"/>
                <a:gd name="T21" fmla="*/ 6 h 6"/>
                <a:gd name="T22" fmla="*/ 0 w 5"/>
                <a:gd name="T23" fmla="*/ 6 h 6"/>
                <a:gd name="T24" fmla="*/ 0 w 5"/>
                <a:gd name="T25" fmla="*/ 6 h 6"/>
                <a:gd name="T26" fmla="*/ 0 w 5"/>
                <a:gd name="T27" fmla="*/ 6 h 6"/>
                <a:gd name="T28" fmla="*/ 0 w 5"/>
                <a:gd name="T29" fmla="*/ 6 h 6"/>
                <a:gd name="T30" fmla="*/ 0 w 5"/>
                <a:gd name="T31" fmla="*/ 6 h 6"/>
                <a:gd name="T32" fmla="*/ 5 w 5"/>
                <a:gd name="T33" fmla="*/ 6 h 6"/>
                <a:gd name="T34" fmla="*/ 5 w 5"/>
                <a:gd name="T35" fmla="*/ 6 h 6"/>
                <a:gd name="T36" fmla="*/ 5 w 5"/>
                <a:gd name="T37" fmla="*/ 6 h 6"/>
                <a:gd name="T38" fmla="*/ 5 w 5"/>
                <a:gd name="T39" fmla="*/ 6 h 6"/>
                <a:gd name="T40" fmla="*/ 5 w 5"/>
                <a:gd name="T41" fmla="*/ 6 h 6"/>
                <a:gd name="T42" fmla="*/ 5 w 5"/>
                <a:gd name="T43" fmla="*/ 6 h 6"/>
                <a:gd name="T44" fmla="*/ 5 w 5"/>
                <a:gd name="T45" fmla="*/ 6 h 6"/>
                <a:gd name="T46" fmla="*/ 5 w 5"/>
                <a:gd name="T47" fmla="*/ 6 h 6"/>
                <a:gd name="T48" fmla="*/ 5 w 5"/>
                <a:gd name="T49" fmla="*/ 6 h 6"/>
                <a:gd name="T50" fmla="*/ 5 w 5"/>
                <a:gd name="T51" fmla="*/ 6 h 6"/>
                <a:gd name="T52" fmla="*/ 5 w 5"/>
                <a:gd name="T53" fmla="*/ 6 h 6"/>
                <a:gd name="T54" fmla="*/ 5 w 5"/>
                <a:gd name="T55" fmla="*/ 6 h 6"/>
                <a:gd name="T56" fmla="*/ 5 w 5"/>
                <a:gd name="T57" fmla="*/ 6 h 6"/>
                <a:gd name="T58" fmla="*/ 5 w 5"/>
                <a:gd name="T59" fmla="*/ 6 h 6"/>
                <a:gd name="T60" fmla="*/ 5 w 5"/>
                <a:gd name="T61" fmla="*/ 6 h 6"/>
                <a:gd name="T62" fmla="*/ 5 w 5"/>
                <a:gd name="T63" fmla="*/ 0 h 6"/>
                <a:gd name="T64" fmla="*/ 5 w 5"/>
                <a:gd name="T65" fmla="*/ 0 h 6"/>
                <a:gd name="T66" fmla="*/ 5 w 5"/>
                <a:gd name="T67" fmla="*/ 0 h 6"/>
                <a:gd name="T68" fmla="*/ 5 w 5"/>
                <a:gd name="T69" fmla="*/ 0 h 6"/>
                <a:gd name="T70" fmla="*/ 5 w 5"/>
                <a:gd name="T71" fmla="*/ 0 h 6"/>
                <a:gd name="T72" fmla="*/ 5 w 5"/>
                <a:gd name="T73" fmla="*/ 0 h 6"/>
                <a:gd name="T74" fmla="*/ 5 w 5"/>
                <a:gd name="T75" fmla="*/ 0 h 6"/>
                <a:gd name="T76" fmla="*/ 5 w 5"/>
                <a:gd name="T77" fmla="*/ 0 h 6"/>
                <a:gd name="T78" fmla="*/ 5 w 5"/>
                <a:gd name="T79" fmla="*/ 0 h 6"/>
                <a:gd name="T80" fmla="*/ 5 w 5"/>
                <a:gd name="T81" fmla="*/ 0 h 6"/>
                <a:gd name="T82" fmla="*/ 5 w 5"/>
                <a:gd name="T83" fmla="*/ 0 h 6"/>
                <a:gd name="T84" fmla="*/ 5 w 5"/>
                <a:gd name="T85" fmla="*/ 0 h 6"/>
                <a:gd name="T86" fmla="*/ 5 w 5"/>
                <a:gd name="T87" fmla="*/ 0 h 6"/>
                <a:gd name="T88" fmla="*/ 5 w 5"/>
                <a:gd name="T89" fmla="*/ 0 h 6"/>
                <a:gd name="T90" fmla="*/ 5 w 5"/>
                <a:gd name="T91" fmla="*/ 0 h 6"/>
                <a:gd name="T92" fmla="*/ 5 w 5"/>
                <a:gd name="T93" fmla="*/ 0 h 6"/>
                <a:gd name="T94" fmla="*/ 5 w 5"/>
                <a:gd name="T95" fmla="*/ 0 h 6"/>
                <a:gd name="T96" fmla="*/ 5 w 5"/>
                <a:gd name="T97" fmla="*/ 0 h 6"/>
                <a:gd name="T98" fmla="*/ 5 w 5"/>
                <a:gd name="T99" fmla="*/ 0 h 6"/>
                <a:gd name="T100" fmla="*/ 5 w 5"/>
                <a:gd name="T101" fmla="*/ 0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6"/>
                <a:gd name="T155" fmla="*/ 5 w 5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6">
                  <a:moveTo>
                    <a:pt x="0" y="6"/>
                  </a:move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4" name="Freeform 81"/>
            <p:cNvSpPr>
              <a:spLocks/>
            </p:cNvSpPr>
            <p:nvPr/>
          </p:nvSpPr>
          <p:spPr bwMode="auto">
            <a:xfrm>
              <a:off x="4692" y="3290"/>
              <a:ext cx="9" cy="11"/>
            </a:xfrm>
            <a:custGeom>
              <a:avLst/>
              <a:gdLst>
                <a:gd name="T0" fmla="*/ 0 w 9"/>
                <a:gd name="T1" fmla="*/ 11 h 11"/>
                <a:gd name="T2" fmla="*/ 0 w 9"/>
                <a:gd name="T3" fmla="*/ 11 h 11"/>
                <a:gd name="T4" fmla="*/ 0 w 9"/>
                <a:gd name="T5" fmla="*/ 11 h 11"/>
                <a:gd name="T6" fmla="*/ 0 w 9"/>
                <a:gd name="T7" fmla="*/ 11 h 11"/>
                <a:gd name="T8" fmla="*/ 0 w 9"/>
                <a:gd name="T9" fmla="*/ 11 h 11"/>
                <a:gd name="T10" fmla="*/ 0 w 9"/>
                <a:gd name="T11" fmla="*/ 11 h 11"/>
                <a:gd name="T12" fmla="*/ 5 w 9"/>
                <a:gd name="T13" fmla="*/ 11 h 11"/>
                <a:gd name="T14" fmla="*/ 5 w 9"/>
                <a:gd name="T15" fmla="*/ 11 h 11"/>
                <a:gd name="T16" fmla="*/ 5 w 9"/>
                <a:gd name="T17" fmla="*/ 6 h 11"/>
                <a:gd name="T18" fmla="*/ 5 w 9"/>
                <a:gd name="T19" fmla="*/ 6 h 11"/>
                <a:gd name="T20" fmla="*/ 5 w 9"/>
                <a:gd name="T21" fmla="*/ 6 h 11"/>
                <a:gd name="T22" fmla="*/ 5 w 9"/>
                <a:gd name="T23" fmla="*/ 6 h 11"/>
                <a:gd name="T24" fmla="*/ 5 w 9"/>
                <a:gd name="T25" fmla="*/ 6 h 11"/>
                <a:gd name="T26" fmla="*/ 5 w 9"/>
                <a:gd name="T27" fmla="*/ 6 h 11"/>
                <a:gd name="T28" fmla="*/ 5 w 9"/>
                <a:gd name="T29" fmla="*/ 6 h 11"/>
                <a:gd name="T30" fmla="*/ 5 w 9"/>
                <a:gd name="T31" fmla="*/ 6 h 11"/>
                <a:gd name="T32" fmla="*/ 5 w 9"/>
                <a:gd name="T33" fmla="*/ 6 h 11"/>
                <a:gd name="T34" fmla="*/ 5 w 9"/>
                <a:gd name="T35" fmla="*/ 6 h 11"/>
                <a:gd name="T36" fmla="*/ 5 w 9"/>
                <a:gd name="T37" fmla="*/ 6 h 11"/>
                <a:gd name="T38" fmla="*/ 5 w 9"/>
                <a:gd name="T39" fmla="*/ 6 h 11"/>
                <a:gd name="T40" fmla="*/ 5 w 9"/>
                <a:gd name="T41" fmla="*/ 6 h 11"/>
                <a:gd name="T42" fmla="*/ 5 w 9"/>
                <a:gd name="T43" fmla="*/ 6 h 11"/>
                <a:gd name="T44" fmla="*/ 5 w 9"/>
                <a:gd name="T45" fmla="*/ 6 h 11"/>
                <a:gd name="T46" fmla="*/ 5 w 9"/>
                <a:gd name="T47" fmla="*/ 6 h 11"/>
                <a:gd name="T48" fmla="*/ 5 w 9"/>
                <a:gd name="T49" fmla="*/ 6 h 11"/>
                <a:gd name="T50" fmla="*/ 5 w 9"/>
                <a:gd name="T51" fmla="*/ 6 h 11"/>
                <a:gd name="T52" fmla="*/ 5 w 9"/>
                <a:gd name="T53" fmla="*/ 6 h 11"/>
                <a:gd name="T54" fmla="*/ 5 w 9"/>
                <a:gd name="T55" fmla="*/ 6 h 11"/>
                <a:gd name="T56" fmla="*/ 5 w 9"/>
                <a:gd name="T57" fmla="*/ 6 h 11"/>
                <a:gd name="T58" fmla="*/ 5 w 9"/>
                <a:gd name="T59" fmla="*/ 6 h 11"/>
                <a:gd name="T60" fmla="*/ 5 w 9"/>
                <a:gd name="T61" fmla="*/ 6 h 11"/>
                <a:gd name="T62" fmla="*/ 5 w 9"/>
                <a:gd name="T63" fmla="*/ 6 h 11"/>
                <a:gd name="T64" fmla="*/ 5 w 9"/>
                <a:gd name="T65" fmla="*/ 0 h 11"/>
                <a:gd name="T66" fmla="*/ 5 w 9"/>
                <a:gd name="T67" fmla="*/ 0 h 11"/>
                <a:gd name="T68" fmla="*/ 5 w 9"/>
                <a:gd name="T69" fmla="*/ 0 h 11"/>
                <a:gd name="T70" fmla="*/ 5 w 9"/>
                <a:gd name="T71" fmla="*/ 0 h 11"/>
                <a:gd name="T72" fmla="*/ 5 w 9"/>
                <a:gd name="T73" fmla="*/ 0 h 11"/>
                <a:gd name="T74" fmla="*/ 5 w 9"/>
                <a:gd name="T75" fmla="*/ 0 h 11"/>
                <a:gd name="T76" fmla="*/ 5 w 9"/>
                <a:gd name="T77" fmla="*/ 0 h 11"/>
                <a:gd name="T78" fmla="*/ 5 w 9"/>
                <a:gd name="T79" fmla="*/ 0 h 11"/>
                <a:gd name="T80" fmla="*/ 5 w 9"/>
                <a:gd name="T81" fmla="*/ 0 h 11"/>
                <a:gd name="T82" fmla="*/ 5 w 9"/>
                <a:gd name="T83" fmla="*/ 0 h 11"/>
                <a:gd name="T84" fmla="*/ 5 w 9"/>
                <a:gd name="T85" fmla="*/ 0 h 11"/>
                <a:gd name="T86" fmla="*/ 5 w 9"/>
                <a:gd name="T87" fmla="*/ 0 h 11"/>
                <a:gd name="T88" fmla="*/ 5 w 9"/>
                <a:gd name="T89" fmla="*/ 0 h 11"/>
                <a:gd name="T90" fmla="*/ 5 w 9"/>
                <a:gd name="T91" fmla="*/ 0 h 11"/>
                <a:gd name="T92" fmla="*/ 9 w 9"/>
                <a:gd name="T93" fmla="*/ 0 h 11"/>
                <a:gd name="T94" fmla="*/ 9 w 9"/>
                <a:gd name="T95" fmla="*/ 0 h 11"/>
                <a:gd name="T96" fmla="*/ 9 w 9"/>
                <a:gd name="T97" fmla="*/ 0 h 11"/>
                <a:gd name="T98" fmla="*/ 9 w 9"/>
                <a:gd name="T99" fmla="*/ 0 h 1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9"/>
                <a:gd name="T151" fmla="*/ 0 h 11"/>
                <a:gd name="T152" fmla="*/ 9 w 9"/>
                <a:gd name="T153" fmla="*/ 11 h 1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9" h="11">
                  <a:moveTo>
                    <a:pt x="0" y="11"/>
                  </a:moveTo>
                  <a:lnTo>
                    <a:pt x="0" y="11"/>
                  </a:lnTo>
                  <a:lnTo>
                    <a:pt x="5" y="11"/>
                  </a:lnTo>
                  <a:lnTo>
                    <a:pt x="5" y="6"/>
                  </a:lnTo>
                  <a:lnTo>
                    <a:pt x="5" y="0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5" name="Freeform 82"/>
            <p:cNvSpPr>
              <a:spLocks/>
            </p:cNvSpPr>
            <p:nvPr/>
          </p:nvSpPr>
          <p:spPr bwMode="auto">
            <a:xfrm>
              <a:off x="4701" y="3273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1 h 17"/>
                <a:gd name="T12" fmla="*/ 0 w 5"/>
                <a:gd name="T13" fmla="*/ 11 h 17"/>
                <a:gd name="T14" fmla="*/ 0 w 5"/>
                <a:gd name="T15" fmla="*/ 11 h 17"/>
                <a:gd name="T16" fmla="*/ 0 w 5"/>
                <a:gd name="T17" fmla="*/ 11 h 17"/>
                <a:gd name="T18" fmla="*/ 0 w 5"/>
                <a:gd name="T19" fmla="*/ 11 h 17"/>
                <a:gd name="T20" fmla="*/ 0 w 5"/>
                <a:gd name="T21" fmla="*/ 11 h 17"/>
                <a:gd name="T22" fmla="*/ 0 w 5"/>
                <a:gd name="T23" fmla="*/ 11 h 17"/>
                <a:gd name="T24" fmla="*/ 0 w 5"/>
                <a:gd name="T25" fmla="*/ 11 h 17"/>
                <a:gd name="T26" fmla="*/ 0 w 5"/>
                <a:gd name="T27" fmla="*/ 11 h 17"/>
                <a:gd name="T28" fmla="*/ 0 w 5"/>
                <a:gd name="T29" fmla="*/ 11 h 17"/>
                <a:gd name="T30" fmla="*/ 0 w 5"/>
                <a:gd name="T31" fmla="*/ 11 h 17"/>
                <a:gd name="T32" fmla="*/ 0 w 5"/>
                <a:gd name="T33" fmla="*/ 11 h 17"/>
                <a:gd name="T34" fmla="*/ 0 w 5"/>
                <a:gd name="T35" fmla="*/ 11 h 17"/>
                <a:gd name="T36" fmla="*/ 0 w 5"/>
                <a:gd name="T37" fmla="*/ 11 h 17"/>
                <a:gd name="T38" fmla="*/ 0 w 5"/>
                <a:gd name="T39" fmla="*/ 11 h 17"/>
                <a:gd name="T40" fmla="*/ 0 w 5"/>
                <a:gd name="T41" fmla="*/ 11 h 17"/>
                <a:gd name="T42" fmla="*/ 0 w 5"/>
                <a:gd name="T43" fmla="*/ 11 h 17"/>
                <a:gd name="T44" fmla="*/ 0 w 5"/>
                <a:gd name="T45" fmla="*/ 11 h 17"/>
                <a:gd name="T46" fmla="*/ 0 w 5"/>
                <a:gd name="T47" fmla="*/ 11 h 17"/>
                <a:gd name="T48" fmla="*/ 0 w 5"/>
                <a:gd name="T49" fmla="*/ 11 h 17"/>
                <a:gd name="T50" fmla="*/ 0 w 5"/>
                <a:gd name="T51" fmla="*/ 5 h 17"/>
                <a:gd name="T52" fmla="*/ 0 w 5"/>
                <a:gd name="T53" fmla="*/ 5 h 17"/>
                <a:gd name="T54" fmla="*/ 0 w 5"/>
                <a:gd name="T55" fmla="*/ 5 h 17"/>
                <a:gd name="T56" fmla="*/ 0 w 5"/>
                <a:gd name="T57" fmla="*/ 5 h 17"/>
                <a:gd name="T58" fmla="*/ 0 w 5"/>
                <a:gd name="T59" fmla="*/ 5 h 17"/>
                <a:gd name="T60" fmla="*/ 0 w 5"/>
                <a:gd name="T61" fmla="*/ 5 h 17"/>
                <a:gd name="T62" fmla="*/ 0 w 5"/>
                <a:gd name="T63" fmla="*/ 5 h 17"/>
                <a:gd name="T64" fmla="*/ 0 w 5"/>
                <a:gd name="T65" fmla="*/ 5 h 17"/>
                <a:gd name="T66" fmla="*/ 0 w 5"/>
                <a:gd name="T67" fmla="*/ 5 h 17"/>
                <a:gd name="T68" fmla="*/ 0 w 5"/>
                <a:gd name="T69" fmla="*/ 5 h 17"/>
                <a:gd name="T70" fmla="*/ 0 w 5"/>
                <a:gd name="T71" fmla="*/ 5 h 17"/>
                <a:gd name="T72" fmla="*/ 0 w 5"/>
                <a:gd name="T73" fmla="*/ 5 h 17"/>
                <a:gd name="T74" fmla="*/ 0 w 5"/>
                <a:gd name="T75" fmla="*/ 5 h 17"/>
                <a:gd name="T76" fmla="*/ 5 w 5"/>
                <a:gd name="T77" fmla="*/ 5 h 17"/>
                <a:gd name="T78" fmla="*/ 5 w 5"/>
                <a:gd name="T79" fmla="*/ 5 h 17"/>
                <a:gd name="T80" fmla="*/ 5 w 5"/>
                <a:gd name="T81" fmla="*/ 5 h 17"/>
                <a:gd name="T82" fmla="*/ 5 w 5"/>
                <a:gd name="T83" fmla="*/ 5 h 17"/>
                <a:gd name="T84" fmla="*/ 5 w 5"/>
                <a:gd name="T85" fmla="*/ 5 h 17"/>
                <a:gd name="T86" fmla="*/ 5 w 5"/>
                <a:gd name="T87" fmla="*/ 5 h 17"/>
                <a:gd name="T88" fmla="*/ 5 w 5"/>
                <a:gd name="T89" fmla="*/ 0 h 17"/>
                <a:gd name="T90" fmla="*/ 5 w 5"/>
                <a:gd name="T91" fmla="*/ 0 h 17"/>
                <a:gd name="T92" fmla="*/ 5 w 5"/>
                <a:gd name="T93" fmla="*/ 0 h 17"/>
                <a:gd name="T94" fmla="*/ 5 w 5"/>
                <a:gd name="T95" fmla="*/ 0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6" name="Freeform 83"/>
            <p:cNvSpPr>
              <a:spLocks/>
            </p:cNvSpPr>
            <p:nvPr/>
          </p:nvSpPr>
          <p:spPr bwMode="auto">
            <a:xfrm>
              <a:off x="4706" y="3256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7 h 17"/>
                <a:gd name="T12" fmla="*/ 0 w 5"/>
                <a:gd name="T13" fmla="*/ 17 h 17"/>
                <a:gd name="T14" fmla="*/ 0 w 5"/>
                <a:gd name="T15" fmla="*/ 17 h 17"/>
                <a:gd name="T16" fmla="*/ 0 w 5"/>
                <a:gd name="T17" fmla="*/ 17 h 17"/>
                <a:gd name="T18" fmla="*/ 0 w 5"/>
                <a:gd name="T19" fmla="*/ 17 h 17"/>
                <a:gd name="T20" fmla="*/ 0 w 5"/>
                <a:gd name="T21" fmla="*/ 17 h 17"/>
                <a:gd name="T22" fmla="*/ 0 w 5"/>
                <a:gd name="T23" fmla="*/ 17 h 17"/>
                <a:gd name="T24" fmla="*/ 0 w 5"/>
                <a:gd name="T25" fmla="*/ 11 h 17"/>
                <a:gd name="T26" fmla="*/ 0 w 5"/>
                <a:gd name="T27" fmla="*/ 11 h 17"/>
                <a:gd name="T28" fmla="*/ 0 w 5"/>
                <a:gd name="T29" fmla="*/ 11 h 17"/>
                <a:gd name="T30" fmla="*/ 0 w 5"/>
                <a:gd name="T31" fmla="*/ 11 h 17"/>
                <a:gd name="T32" fmla="*/ 0 w 5"/>
                <a:gd name="T33" fmla="*/ 11 h 17"/>
                <a:gd name="T34" fmla="*/ 0 w 5"/>
                <a:gd name="T35" fmla="*/ 11 h 17"/>
                <a:gd name="T36" fmla="*/ 0 w 5"/>
                <a:gd name="T37" fmla="*/ 11 h 17"/>
                <a:gd name="T38" fmla="*/ 0 w 5"/>
                <a:gd name="T39" fmla="*/ 11 h 17"/>
                <a:gd name="T40" fmla="*/ 0 w 5"/>
                <a:gd name="T41" fmla="*/ 11 h 17"/>
                <a:gd name="T42" fmla="*/ 0 w 5"/>
                <a:gd name="T43" fmla="*/ 11 h 17"/>
                <a:gd name="T44" fmla="*/ 0 w 5"/>
                <a:gd name="T45" fmla="*/ 11 h 17"/>
                <a:gd name="T46" fmla="*/ 0 w 5"/>
                <a:gd name="T47" fmla="*/ 11 h 17"/>
                <a:gd name="T48" fmla="*/ 0 w 5"/>
                <a:gd name="T49" fmla="*/ 11 h 17"/>
                <a:gd name="T50" fmla="*/ 0 w 5"/>
                <a:gd name="T51" fmla="*/ 11 h 17"/>
                <a:gd name="T52" fmla="*/ 0 w 5"/>
                <a:gd name="T53" fmla="*/ 11 h 17"/>
                <a:gd name="T54" fmla="*/ 0 w 5"/>
                <a:gd name="T55" fmla="*/ 11 h 17"/>
                <a:gd name="T56" fmla="*/ 5 w 5"/>
                <a:gd name="T57" fmla="*/ 11 h 17"/>
                <a:gd name="T58" fmla="*/ 5 w 5"/>
                <a:gd name="T59" fmla="*/ 11 h 17"/>
                <a:gd name="T60" fmla="*/ 5 w 5"/>
                <a:gd name="T61" fmla="*/ 5 h 17"/>
                <a:gd name="T62" fmla="*/ 5 w 5"/>
                <a:gd name="T63" fmla="*/ 5 h 17"/>
                <a:gd name="T64" fmla="*/ 5 w 5"/>
                <a:gd name="T65" fmla="*/ 5 h 17"/>
                <a:gd name="T66" fmla="*/ 5 w 5"/>
                <a:gd name="T67" fmla="*/ 5 h 17"/>
                <a:gd name="T68" fmla="*/ 5 w 5"/>
                <a:gd name="T69" fmla="*/ 5 h 17"/>
                <a:gd name="T70" fmla="*/ 5 w 5"/>
                <a:gd name="T71" fmla="*/ 5 h 17"/>
                <a:gd name="T72" fmla="*/ 5 w 5"/>
                <a:gd name="T73" fmla="*/ 5 h 17"/>
                <a:gd name="T74" fmla="*/ 5 w 5"/>
                <a:gd name="T75" fmla="*/ 5 h 17"/>
                <a:gd name="T76" fmla="*/ 5 w 5"/>
                <a:gd name="T77" fmla="*/ 5 h 17"/>
                <a:gd name="T78" fmla="*/ 5 w 5"/>
                <a:gd name="T79" fmla="*/ 5 h 17"/>
                <a:gd name="T80" fmla="*/ 5 w 5"/>
                <a:gd name="T81" fmla="*/ 5 h 17"/>
                <a:gd name="T82" fmla="*/ 5 w 5"/>
                <a:gd name="T83" fmla="*/ 5 h 17"/>
                <a:gd name="T84" fmla="*/ 5 w 5"/>
                <a:gd name="T85" fmla="*/ 5 h 17"/>
                <a:gd name="T86" fmla="*/ 5 w 5"/>
                <a:gd name="T87" fmla="*/ 5 h 17"/>
                <a:gd name="T88" fmla="*/ 5 w 5"/>
                <a:gd name="T89" fmla="*/ 5 h 17"/>
                <a:gd name="T90" fmla="*/ 5 w 5"/>
                <a:gd name="T91" fmla="*/ 5 h 17"/>
                <a:gd name="T92" fmla="*/ 5 w 5"/>
                <a:gd name="T93" fmla="*/ 0 h 17"/>
                <a:gd name="T94" fmla="*/ 5 w 5"/>
                <a:gd name="T95" fmla="*/ 0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7" name="Freeform 84"/>
            <p:cNvSpPr>
              <a:spLocks/>
            </p:cNvSpPr>
            <p:nvPr/>
          </p:nvSpPr>
          <p:spPr bwMode="auto">
            <a:xfrm>
              <a:off x="4711" y="3239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7 h 17"/>
                <a:gd name="T12" fmla="*/ 0 w 5"/>
                <a:gd name="T13" fmla="*/ 17 h 17"/>
                <a:gd name="T14" fmla="*/ 0 w 5"/>
                <a:gd name="T15" fmla="*/ 17 h 17"/>
                <a:gd name="T16" fmla="*/ 0 w 5"/>
                <a:gd name="T17" fmla="*/ 17 h 17"/>
                <a:gd name="T18" fmla="*/ 0 w 5"/>
                <a:gd name="T19" fmla="*/ 17 h 17"/>
                <a:gd name="T20" fmla="*/ 0 w 5"/>
                <a:gd name="T21" fmla="*/ 17 h 17"/>
                <a:gd name="T22" fmla="*/ 0 w 5"/>
                <a:gd name="T23" fmla="*/ 17 h 17"/>
                <a:gd name="T24" fmla="*/ 0 w 5"/>
                <a:gd name="T25" fmla="*/ 11 h 17"/>
                <a:gd name="T26" fmla="*/ 0 w 5"/>
                <a:gd name="T27" fmla="*/ 11 h 17"/>
                <a:gd name="T28" fmla="*/ 0 w 5"/>
                <a:gd name="T29" fmla="*/ 11 h 17"/>
                <a:gd name="T30" fmla="*/ 0 w 5"/>
                <a:gd name="T31" fmla="*/ 11 h 17"/>
                <a:gd name="T32" fmla="*/ 0 w 5"/>
                <a:gd name="T33" fmla="*/ 11 h 17"/>
                <a:gd name="T34" fmla="*/ 0 w 5"/>
                <a:gd name="T35" fmla="*/ 11 h 17"/>
                <a:gd name="T36" fmla="*/ 0 w 5"/>
                <a:gd name="T37" fmla="*/ 11 h 17"/>
                <a:gd name="T38" fmla="*/ 5 w 5"/>
                <a:gd name="T39" fmla="*/ 11 h 17"/>
                <a:gd name="T40" fmla="*/ 5 w 5"/>
                <a:gd name="T41" fmla="*/ 11 h 17"/>
                <a:gd name="T42" fmla="*/ 5 w 5"/>
                <a:gd name="T43" fmla="*/ 11 h 17"/>
                <a:gd name="T44" fmla="*/ 5 w 5"/>
                <a:gd name="T45" fmla="*/ 11 h 17"/>
                <a:gd name="T46" fmla="*/ 5 w 5"/>
                <a:gd name="T47" fmla="*/ 11 h 17"/>
                <a:gd name="T48" fmla="*/ 5 w 5"/>
                <a:gd name="T49" fmla="*/ 11 h 17"/>
                <a:gd name="T50" fmla="*/ 5 w 5"/>
                <a:gd name="T51" fmla="*/ 11 h 17"/>
                <a:gd name="T52" fmla="*/ 5 w 5"/>
                <a:gd name="T53" fmla="*/ 11 h 17"/>
                <a:gd name="T54" fmla="*/ 5 w 5"/>
                <a:gd name="T55" fmla="*/ 5 h 17"/>
                <a:gd name="T56" fmla="*/ 5 w 5"/>
                <a:gd name="T57" fmla="*/ 5 h 17"/>
                <a:gd name="T58" fmla="*/ 5 w 5"/>
                <a:gd name="T59" fmla="*/ 5 h 17"/>
                <a:gd name="T60" fmla="*/ 5 w 5"/>
                <a:gd name="T61" fmla="*/ 5 h 17"/>
                <a:gd name="T62" fmla="*/ 5 w 5"/>
                <a:gd name="T63" fmla="*/ 5 h 17"/>
                <a:gd name="T64" fmla="*/ 5 w 5"/>
                <a:gd name="T65" fmla="*/ 5 h 17"/>
                <a:gd name="T66" fmla="*/ 5 w 5"/>
                <a:gd name="T67" fmla="*/ 5 h 17"/>
                <a:gd name="T68" fmla="*/ 5 w 5"/>
                <a:gd name="T69" fmla="*/ 5 h 17"/>
                <a:gd name="T70" fmla="*/ 5 w 5"/>
                <a:gd name="T71" fmla="*/ 5 h 17"/>
                <a:gd name="T72" fmla="*/ 5 w 5"/>
                <a:gd name="T73" fmla="*/ 5 h 17"/>
                <a:gd name="T74" fmla="*/ 5 w 5"/>
                <a:gd name="T75" fmla="*/ 5 h 17"/>
                <a:gd name="T76" fmla="*/ 5 w 5"/>
                <a:gd name="T77" fmla="*/ 5 h 17"/>
                <a:gd name="T78" fmla="*/ 5 w 5"/>
                <a:gd name="T79" fmla="*/ 5 h 17"/>
                <a:gd name="T80" fmla="*/ 5 w 5"/>
                <a:gd name="T81" fmla="*/ 5 h 17"/>
                <a:gd name="T82" fmla="*/ 5 w 5"/>
                <a:gd name="T83" fmla="*/ 5 h 17"/>
                <a:gd name="T84" fmla="*/ 5 w 5"/>
                <a:gd name="T85" fmla="*/ 0 h 17"/>
                <a:gd name="T86" fmla="*/ 5 w 5"/>
                <a:gd name="T87" fmla="*/ 0 h 17"/>
                <a:gd name="T88" fmla="*/ 5 w 5"/>
                <a:gd name="T89" fmla="*/ 0 h 17"/>
                <a:gd name="T90" fmla="*/ 5 w 5"/>
                <a:gd name="T91" fmla="*/ 0 h 17"/>
                <a:gd name="T92" fmla="*/ 5 w 5"/>
                <a:gd name="T93" fmla="*/ 0 h 17"/>
                <a:gd name="T94" fmla="*/ 5 w 5"/>
                <a:gd name="T95" fmla="*/ 0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8" name="Freeform 85"/>
            <p:cNvSpPr>
              <a:spLocks/>
            </p:cNvSpPr>
            <p:nvPr/>
          </p:nvSpPr>
          <p:spPr bwMode="auto">
            <a:xfrm>
              <a:off x="4716" y="3216"/>
              <a:ext cx="9" cy="23"/>
            </a:xfrm>
            <a:custGeom>
              <a:avLst/>
              <a:gdLst>
                <a:gd name="T0" fmla="*/ 0 w 9"/>
                <a:gd name="T1" fmla="*/ 23 h 23"/>
                <a:gd name="T2" fmla="*/ 0 w 9"/>
                <a:gd name="T3" fmla="*/ 23 h 23"/>
                <a:gd name="T4" fmla="*/ 0 w 9"/>
                <a:gd name="T5" fmla="*/ 23 h 23"/>
                <a:gd name="T6" fmla="*/ 0 w 9"/>
                <a:gd name="T7" fmla="*/ 23 h 23"/>
                <a:gd name="T8" fmla="*/ 0 w 9"/>
                <a:gd name="T9" fmla="*/ 23 h 23"/>
                <a:gd name="T10" fmla="*/ 0 w 9"/>
                <a:gd name="T11" fmla="*/ 23 h 23"/>
                <a:gd name="T12" fmla="*/ 0 w 9"/>
                <a:gd name="T13" fmla="*/ 17 h 23"/>
                <a:gd name="T14" fmla="*/ 0 w 9"/>
                <a:gd name="T15" fmla="*/ 17 h 23"/>
                <a:gd name="T16" fmla="*/ 0 w 9"/>
                <a:gd name="T17" fmla="*/ 17 h 23"/>
                <a:gd name="T18" fmla="*/ 4 w 9"/>
                <a:gd name="T19" fmla="*/ 17 h 23"/>
                <a:gd name="T20" fmla="*/ 4 w 9"/>
                <a:gd name="T21" fmla="*/ 17 h 23"/>
                <a:gd name="T22" fmla="*/ 4 w 9"/>
                <a:gd name="T23" fmla="*/ 17 h 23"/>
                <a:gd name="T24" fmla="*/ 4 w 9"/>
                <a:gd name="T25" fmla="*/ 17 h 23"/>
                <a:gd name="T26" fmla="*/ 4 w 9"/>
                <a:gd name="T27" fmla="*/ 17 h 23"/>
                <a:gd name="T28" fmla="*/ 4 w 9"/>
                <a:gd name="T29" fmla="*/ 17 h 23"/>
                <a:gd name="T30" fmla="*/ 4 w 9"/>
                <a:gd name="T31" fmla="*/ 17 h 23"/>
                <a:gd name="T32" fmla="*/ 4 w 9"/>
                <a:gd name="T33" fmla="*/ 17 h 23"/>
                <a:gd name="T34" fmla="*/ 4 w 9"/>
                <a:gd name="T35" fmla="*/ 17 h 23"/>
                <a:gd name="T36" fmla="*/ 4 w 9"/>
                <a:gd name="T37" fmla="*/ 17 h 23"/>
                <a:gd name="T38" fmla="*/ 4 w 9"/>
                <a:gd name="T39" fmla="*/ 17 h 23"/>
                <a:gd name="T40" fmla="*/ 4 w 9"/>
                <a:gd name="T41" fmla="*/ 11 h 23"/>
                <a:gd name="T42" fmla="*/ 4 w 9"/>
                <a:gd name="T43" fmla="*/ 11 h 23"/>
                <a:gd name="T44" fmla="*/ 4 w 9"/>
                <a:gd name="T45" fmla="*/ 11 h 23"/>
                <a:gd name="T46" fmla="*/ 4 w 9"/>
                <a:gd name="T47" fmla="*/ 11 h 23"/>
                <a:gd name="T48" fmla="*/ 4 w 9"/>
                <a:gd name="T49" fmla="*/ 11 h 23"/>
                <a:gd name="T50" fmla="*/ 4 w 9"/>
                <a:gd name="T51" fmla="*/ 11 h 23"/>
                <a:gd name="T52" fmla="*/ 4 w 9"/>
                <a:gd name="T53" fmla="*/ 11 h 23"/>
                <a:gd name="T54" fmla="*/ 4 w 9"/>
                <a:gd name="T55" fmla="*/ 11 h 23"/>
                <a:gd name="T56" fmla="*/ 4 w 9"/>
                <a:gd name="T57" fmla="*/ 11 h 23"/>
                <a:gd name="T58" fmla="*/ 4 w 9"/>
                <a:gd name="T59" fmla="*/ 11 h 23"/>
                <a:gd name="T60" fmla="*/ 4 w 9"/>
                <a:gd name="T61" fmla="*/ 11 h 23"/>
                <a:gd name="T62" fmla="*/ 4 w 9"/>
                <a:gd name="T63" fmla="*/ 11 h 23"/>
                <a:gd name="T64" fmla="*/ 4 w 9"/>
                <a:gd name="T65" fmla="*/ 11 h 23"/>
                <a:gd name="T66" fmla="*/ 4 w 9"/>
                <a:gd name="T67" fmla="*/ 11 h 23"/>
                <a:gd name="T68" fmla="*/ 4 w 9"/>
                <a:gd name="T69" fmla="*/ 6 h 23"/>
                <a:gd name="T70" fmla="*/ 4 w 9"/>
                <a:gd name="T71" fmla="*/ 6 h 23"/>
                <a:gd name="T72" fmla="*/ 4 w 9"/>
                <a:gd name="T73" fmla="*/ 6 h 23"/>
                <a:gd name="T74" fmla="*/ 4 w 9"/>
                <a:gd name="T75" fmla="*/ 6 h 23"/>
                <a:gd name="T76" fmla="*/ 4 w 9"/>
                <a:gd name="T77" fmla="*/ 6 h 23"/>
                <a:gd name="T78" fmla="*/ 4 w 9"/>
                <a:gd name="T79" fmla="*/ 6 h 23"/>
                <a:gd name="T80" fmla="*/ 4 w 9"/>
                <a:gd name="T81" fmla="*/ 6 h 23"/>
                <a:gd name="T82" fmla="*/ 4 w 9"/>
                <a:gd name="T83" fmla="*/ 6 h 23"/>
                <a:gd name="T84" fmla="*/ 4 w 9"/>
                <a:gd name="T85" fmla="*/ 6 h 23"/>
                <a:gd name="T86" fmla="*/ 4 w 9"/>
                <a:gd name="T87" fmla="*/ 6 h 23"/>
                <a:gd name="T88" fmla="*/ 4 w 9"/>
                <a:gd name="T89" fmla="*/ 6 h 23"/>
                <a:gd name="T90" fmla="*/ 4 w 9"/>
                <a:gd name="T91" fmla="*/ 6 h 23"/>
                <a:gd name="T92" fmla="*/ 4 w 9"/>
                <a:gd name="T93" fmla="*/ 6 h 23"/>
                <a:gd name="T94" fmla="*/ 4 w 9"/>
                <a:gd name="T95" fmla="*/ 0 h 23"/>
                <a:gd name="T96" fmla="*/ 4 w 9"/>
                <a:gd name="T97" fmla="*/ 0 h 23"/>
                <a:gd name="T98" fmla="*/ 4 w 9"/>
                <a:gd name="T99" fmla="*/ 0 h 23"/>
                <a:gd name="T100" fmla="*/ 9 w 9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23"/>
                <a:gd name="T155" fmla="*/ 9 w 9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4" y="11"/>
                  </a:lnTo>
                  <a:lnTo>
                    <a:pt x="4" y="6"/>
                  </a:lnTo>
                  <a:lnTo>
                    <a:pt x="4" y="0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9" name="Freeform 86"/>
            <p:cNvSpPr>
              <a:spLocks/>
            </p:cNvSpPr>
            <p:nvPr/>
          </p:nvSpPr>
          <p:spPr bwMode="auto">
            <a:xfrm>
              <a:off x="4725" y="3193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23 h 23"/>
                <a:gd name="T10" fmla="*/ 0 w 5"/>
                <a:gd name="T11" fmla="*/ 23 h 23"/>
                <a:gd name="T12" fmla="*/ 0 w 5"/>
                <a:gd name="T13" fmla="*/ 23 h 23"/>
                <a:gd name="T14" fmla="*/ 0 w 5"/>
                <a:gd name="T15" fmla="*/ 23 h 23"/>
                <a:gd name="T16" fmla="*/ 0 w 5"/>
                <a:gd name="T17" fmla="*/ 23 h 23"/>
                <a:gd name="T18" fmla="*/ 0 w 5"/>
                <a:gd name="T19" fmla="*/ 23 h 23"/>
                <a:gd name="T20" fmla="*/ 0 w 5"/>
                <a:gd name="T21" fmla="*/ 17 h 23"/>
                <a:gd name="T22" fmla="*/ 0 w 5"/>
                <a:gd name="T23" fmla="*/ 17 h 23"/>
                <a:gd name="T24" fmla="*/ 0 w 5"/>
                <a:gd name="T25" fmla="*/ 17 h 23"/>
                <a:gd name="T26" fmla="*/ 0 w 5"/>
                <a:gd name="T27" fmla="*/ 17 h 23"/>
                <a:gd name="T28" fmla="*/ 0 w 5"/>
                <a:gd name="T29" fmla="*/ 17 h 23"/>
                <a:gd name="T30" fmla="*/ 0 w 5"/>
                <a:gd name="T31" fmla="*/ 17 h 23"/>
                <a:gd name="T32" fmla="*/ 0 w 5"/>
                <a:gd name="T33" fmla="*/ 17 h 23"/>
                <a:gd name="T34" fmla="*/ 0 w 5"/>
                <a:gd name="T35" fmla="*/ 17 h 23"/>
                <a:gd name="T36" fmla="*/ 0 w 5"/>
                <a:gd name="T37" fmla="*/ 17 h 23"/>
                <a:gd name="T38" fmla="*/ 0 w 5"/>
                <a:gd name="T39" fmla="*/ 17 h 23"/>
                <a:gd name="T40" fmla="*/ 0 w 5"/>
                <a:gd name="T41" fmla="*/ 17 h 23"/>
                <a:gd name="T42" fmla="*/ 0 w 5"/>
                <a:gd name="T43" fmla="*/ 17 h 23"/>
                <a:gd name="T44" fmla="*/ 0 w 5"/>
                <a:gd name="T45" fmla="*/ 17 h 23"/>
                <a:gd name="T46" fmla="*/ 0 w 5"/>
                <a:gd name="T47" fmla="*/ 17 h 23"/>
                <a:gd name="T48" fmla="*/ 0 w 5"/>
                <a:gd name="T49" fmla="*/ 11 h 23"/>
                <a:gd name="T50" fmla="*/ 0 w 5"/>
                <a:gd name="T51" fmla="*/ 11 h 23"/>
                <a:gd name="T52" fmla="*/ 0 w 5"/>
                <a:gd name="T53" fmla="*/ 11 h 23"/>
                <a:gd name="T54" fmla="*/ 0 w 5"/>
                <a:gd name="T55" fmla="*/ 11 h 23"/>
                <a:gd name="T56" fmla="*/ 0 w 5"/>
                <a:gd name="T57" fmla="*/ 11 h 23"/>
                <a:gd name="T58" fmla="*/ 0 w 5"/>
                <a:gd name="T59" fmla="*/ 11 h 23"/>
                <a:gd name="T60" fmla="*/ 0 w 5"/>
                <a:gd name="T61" fmla="*/ 11 h 23"/>
                <a:gd name="T62" fmla="*/ 0 w 5"/>
                <a:gd name="T63" fmla="*/ 11 h 23"/>
                <a:gd name="T64" fmla="*/ 0 w 5"/>
                <a:gd name="T65" fmla="*/ 11 h 23"/>
                <a:gd name="T66" fmla="*/ 0 w 5"/>
                <a:gd name="T67" fmla="*/ 11 h 23"/>
                <a:gd name="T68" fmla="*/ 0 w 5"/>
                <a:gd name="T69" fmla="*/ 11 h 23"/>
                <a:gd name="T70" fmla="*/ 0 w 5"/>
                <a:gd name="T71" fmla="*/ 11 h 23"/>
                <a:gd name="T72" fmla="*/ 0 w 5"/>
                <a:gd name="T73" fmla="*/ 6 h 23"/>
                <a:gd name="T74" fmla="*/ 0 w 5"/>
                <a:gd name="T75" fmla="*/ 6 h 23"/>
                <a:gd name="T76" fmla="*/ 0 w 5"/>
                <a:gd name="T77" fmla="*/ 6 h 23"/>
                <a:gd name="T78" fmla="*/ 0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6 h 23"/>
                <a:gd name="T86" fmla="*/ 5 w 5"/>
                <a:gd name="T87" fmla="*/ 6 h 23"/>
                <a:gd name="T88" fmla="*/ 5 w 5"/>
                <a:gd name="T89" fmla="*/ 6 h 23"/>
                <a:gd name="T90" fmla="*/ 5 w 5"/>
                <a:gd name="T91" fmla="*/ 6 h 23"/>
                <a:gd name="T92" fmla="*/ 5 w 5"/>
                <a:gd name="T93" fmla="*/ 6 h 23"/>
                <a:gd name="T94" fmla="*/ 5 w 5"/>
                <a:gd name="T95" fmla="*/ 6 h 23"/>
                <a:gd name="T96" fmla="*/ 5 w 5"/>
                <a:gd name="T97" fmla="*/ 6 h 23"/>
                <a:gd name="T98" fmla="*/ 5 w 5"/>
                <a:gd name="T99" fmla="*/ 0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0" y="11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0" name="Freeform 87"/>
            <p:cNvSpPr>
              <a:spLocks/>
            </p:cNvSpPr>
            <p:nvPr/>
          </p:nvSpPr>
          <p:spPr bwMode="auto">
            <a:xfrm>
              <a:off x="4730" y="3170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23 h 23"/>
                <a:gd name="T10" fmla="*/ 0 w 5"/>
                <a:gd name="T11" fmla="*/ 23 h 23"/>
                <a:gd name="T12" fmla="*/ 0 w 5"/>
                <a:gd name="T13" fmla="*/ 23 h 23"/>
                <a:gd name="T14" fmla="*/ 0 w 5"/>
                <a:gd name="T15" fmla="*/ 23 h 23"/>
                <a:gd name="T16" fmla="*/ 0 w 5"/>
                <a:gd name="T17" fmla="*/ 23 h 23"/>
                <a:gd name="T18" fmla="*/ 0 w 5"/>
                <a:gd name="T19" fmla="*/ 23 h 23"/>
                <a:gd name="T20" fmla="*/ 0 w 5"/>
                <a:gd name="T21" fmla="*/ 23 h 23"/>
                <a:gd name="T22" fmla="*/ 0 w 5"/>
                <a:gd name="T23" fmla="*/ 17 h 23"/>
                <a:gd name="T24" fmla="*/ 0 w 5"/>
                <a:gd name="T25" fmla="*/ 17 h 23"/>
                <a:gd name="T26" fmla="*/ 0 w 5"/>
                <a:gd name="T27" fmla="*/ 17 h 23"/>
                <a:gd name="T28" fmla="*/ 0 w 5"/>
                <a:gd name="T29" fmla="*/ 17 h 23"/>
                <a:gd name="T30" fmla="*/ 0 w 5"/>
                <a:gd name="T31" fmla="*/ 17 h 23"/>
                <a:gd name="T32" fmla="*/ 0 w 5"/>
                <a:gd name="T33" fmla="*/ 17 h 23"/>
                <a:gd name="T34" fmla="*/ 0 w 5"/>
                <a:gd name="T35" fmla="*/ 17 h 23"/>
                <a:gd name="T36" fmla="*/ 0 w 5"/>
                <a:gd name="T37" fmla="*/ 17 h 23"/>
                <a:gd name="T38" fmla="*/ 0 w 5"/>
                <a:gd name="T39" fmla="*/ 17 h 23"/>
                <a:gd name="T40" fmla="*/ 0 w 5"/>
                <a:gd name="T41" fmla="*/ 17 h 23"/>
                <a:gd name="T42" fmla="*/ 0 w 5"/>
                <a:gd name="T43" fmla="*/ 17 h 23"/>
                <a:gd name="T44" fmla="*/ 0 w 5"/>
                <a:gd name="T45" fmla="*/ 17 h 23"/>
                <a:gd name="T46" fmla="*/ 0 w 5"/>
                <a:gd name="T47" fmla="*/ 17 h 23"/>
                <a:gd name="T48" fmla="*/ 0 w 5"/>
                <a:gd name="T49" fmla="*/ 12 h 23"/>
                <a:gd name="T50" fmla="*/ 0 w 5"/>
                <a:gd name="T51" fmla="*/ 12 h 23"/>
                <a:gd name="T52" fmla="*/ 0 w 5"/>
                <a:gd name="T53" fmla="*/ 12 h 23"/>
                <a:gd name="T54" fmla="*/ 0 w 5"/>
                <a:gd name="T55" fmla="*/ 12 h 23"/>
                <a:gd name="T56" fmla="*/ 0 w 5"/>
                <a:gd name="T57" fmla="*/ 12 h 23"/>
                <a:gd name="T58" fmla="*/ 0 w 5"/>
                <a:gd name="T59" fmla="*/ 12 h 23"/>
                <a:gd name="T60" fmla="*/ 0 w 5"/>
                <a:gd name="T61" fmla="*/ 12 h 23"/>
                <a:gd name="T62" fmla="*/ 5 w 5"/>
                <a:gd name="T63" fmla="*/ 12 h 23"/>
                <a:gd name="T64" fmla="*/ 5 w 5"/>
                <a:gd name="T65" fmla="*/ 12 h 23"/>
                <a:gd name="T66" fmla="*/ 5 w 5"/>
                <a:gd name="T67" fmla="*/ 12 h 23"/>
                <a:gd name="T68" fmla="*/ 5 w 5"/>
                <a:gd name="T69" fmla="*/ 12 h 23"/>
                <a:gd name="T70" fmla="*/ 5 w 5"/>
                <a:gd name="T71" fmla="*/ 12 h 23"/>
                <a:gd name="T72" fmla="*/ 5 w 5"/>
                <a:gd name="T73" fmla="*/ 6 h 23"/>
                <a:gd name="T74" fmla="*/ 5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6 h 23"/>
                <a:gd name="T86" fmla="*/ 5 w 5"/>
                <a:gd name="T87" fmla="*/ 6 h 23"/>
                <a:gd name="T88" fmla="*/ 5 w 5"/>
                <a:gd name="T89" fmla="*/ 6 h 23"/>
                <a:gd name="T90" fmla="*/ 5 w 5"/>
                <a:gd name="T91" fmla="*/ 6 h 23"/>
                <a:gd name="T92" fmla="*/ 5 w 5"/>
                <a:gd name="T93" fmla="*/ 6 h 23"/>
                <a:gd name="T94" fmla="*/ 5 w 5"/>
                <a:gd name="T95" fmla="*/ 6 h 23"/>
                <a:gd name="T96" fmla="*/ 5 w 5"/>
                <a:gd name="T97" fmla="*/ 0 h 23"/>
                <a:gd name="T98" fmla="*/ 5 w 5"/>
                <a:gd name="T99" fmla="*/ 0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1" name="Freeform 88"/>
            <p:cNvSpPr>
              <a:spLocks/>
            </p:cNvSpPr>
            <p:nvPr/>
          </p:nvSpPr>
          <p:spPr bwMode="auto">
            <a:xfrm>
              <a:off x="4735" y="3148"/>
              <a:ext cx="5" cy="22"/>
            </a:xfrm>
            <a:custGeom>
              <a:avLst/>
              <a:gdLst>
                <a:gd name="T0" fmla="*/ 0 w 5"/>
                <a:gd name="T1" fmla="*/ 22 h 22"/>
                <a:gd name="T2" fmla="*/ 0 w 5"/>
                <a:gd name="T3" fmla="*/ 22 h 22"/>
                <a:gd name="T4" fmla="*/ 0 w 5"/>
                <a:gd name="T5" fmla="*/ 22 h 22"/>
                <a:gd name="T6" fmla="*/ 0 w 5"/>
                <a:gd name="T7" fmla="*/ 22 h 22"/>
                <a:gd name="T8" fmla="*/ 0 w 5"/>
                <a:gd name="T9" fmla="*/ 22 h 22"/>
                <a:gd name="T10" fmla="*/ 0 w 5"/>
                <a:gd name="T11" fmla="*/ 22 h 22"/>
                <a:gd name="T12" fmla="*/ 0 w 5"/>
                <a:gd name="T13" fmla="*/ 22 h 22"/>
                <a:gd name="T14" fmla="*/ 0 w 5"/>
                <a:gd name="T15" fmla="*/ 22 h 22"/>
                <a:gd name="T16" fmla="*/ 0 w 5"/>
                <a:gd name="T17" fmla="*/ 22 h 22"/>
                <a:gd name="T18" fmla="*/ 0 w 5"/>
                <a:gd name="T19" fmla="*/ 22 h 22"/>
                <a:gd name="T20" fmla="*/ 0 w 5"/>
                <a:gd name="T21" fmla="*/ 17 h 22"/>
                <a:gd name="T22" fmla="*/ 0 w 5"/>
                <a:gd name="T23" fmla="*/ 17 h 22"/>
                <a:gd name="T24" fmla="*/ 0 w 5"/>
                <a:gd name="T25" fmla="*/ 17 h 22"/>
                <a:gd name="T26" fmla="*/ 0 w 5"/>
                <a:gd name="T27" fmla="*/ 17 h 22"/>
                <a:gd name="T28" fmla="*/ 0 w 5"/>
                <a:gd name="T29" fmla="*/ 17 h 22"/>
                <a:gd name="T30" fmla="*/ 0 w 5"/>
                <a:gd name="T31" fmla="*/ 17 h 22"/>
                <a:gd name="T32" fmla="*/ 0 w 5"/>
                <a:gd name="T33" fmla="*/ 17 h 22"/>
                <a:gd name="T34" fmla="*/ 0 w 5"/>
                <a:gd name="T35" fmla="*/ 17 h 22"/>
                <a:gd name="T36" fmla="*/ 0 w 5"/>
                <a:gd name="T37" fmla="*/ 17 h 22"/>
                <a:gd name="T38" fmla="*/ 0 w 5"/>
                <a:gd name="T39" fmla="*/ 17 h 22"/>
                <a:gd name="T40" fmla="*/ 0 w 5"/>
                <a:gd name="T41" fmla="*/ 17 h 22"/>
                <a:gd name="T42" fmla="*/ 5 w 5"/>
                <a:gd name="T43" fmla="*/ 17 h 22"/>
                <a:gd name="T44" fmla="*/ 5 w 5"/>
                <a:gd name="T45" fmla="*/ 11 h 22"/>
                <a:gd name="T46" fmla="*/ 5 w 5"/>
                <a:gd name="T47" fmla="*/ 11 h 22"/>
                <a:gd name="T48" fmla="*/ 5 w 5"/>
                <a:gd name="T49" fmla="*/ 11 h 22"/>
                <a:gd name="T50" fmla="*/ 5 w 5"/>
                <a:gd name="T51" fmla="*/ 11 h 22"/>
                <a:gd name="T52" fmla="*/ 5 w 5"/>
                <a:gd name="T53" fmla="*/ 11 h 22"/>
                <a:gd name="T54" fmla="*/ 5 w 5"/>
                <a:gd name="T55" fmla="*/ 11 h 22"/>
                <a:gd name="T56" fmla="*/ 5 w 5"/>
                <a:gd name="T57" fmla="*/ 11 h 22"/>
                <a:gd name="T58" fmla="*/ 5 w 5"/>
                <a:gd name="T59" fmla="*/ 11 h 22"/>
                <a:gd name="T60" fmla="*/ 5 w 5"/>
                <a:gd name="T61" fmla="*/ 11 h 22"/>
                <a:gd name="T62" fmla="*/ 5 w 5"/>
                <a:gd name="T63" fmla="*/ 11 h 22"/>
                <a:gd name="T64" fmla="*/ 5 w 5"/>
                <a:gd name="T65" fmla="*/ 11 h 22"/>
                <a:gd name="T66" fmla="*/ 5 w 5"/>
                <a:gd name="T67" fmla="*/ 5 h 22"/>
                <a:gd name="T68" fmla="*/ 5 w 5"/>
                <a:gd name="T69" fmla="*/ 5 h 22"/>
                <a:gd name="T70" fmla="*/ 5 w 5"/>
                <a:gd name="T71" fmla="*/ 5 h 22"/>
                <a:gd name="T72" fmla="*/ 5 w 5"/>
                <a:gd name="T73" fmla="*/ 5 h 22"/>
                <a:gd name="T74" fmla="*/ 5 w 5"/>
                <a:gd name="T75" fmla="*/ 5 h 22"/>
                <a:gd name="T76" fmla="*/ 5 w 5"/>
                <a:gd name="T77" fmla="*/ 5 h 22"/>
                <a:gd name="T78" fmla="*/ 5 w 5"/>
                <a:gd name="T79" fmla="*/ 5 h 22"/>
                <a:gd name="T80" fmla="*/ 5 w 5"/>
                <a:gd name="T81" fmla="*/ 5 h 22"/>
                <a:gd name="T82" fmla="*/ 5 w 5"/>
                <a:gd name="T83" fmla="*/ 5 h 22"/>
                <a:gd name="T84" fmla="*/ 5 w 5"/>
                <a:gd name="T85" fmla="*/ 5 h 22"/>
                <a:gd name="T86" fmla="*/ 5 w 5"/>
                <a:gd name="T87" fmla="*/ 5 h 22"/>
                <a:gd name="T88" fmla="*/ 5 w 5"/>
                <a:gd name="T89" fmla="*/ 5 h 22"/>
                <a:gd name="T90" fmla="*/ 5 w 5"/>
                <a:gd name="T91" fmla="*/ 0 h 22"/>
                <a:gd name="T92" fmla="*/ 5 w 5"/>
                <a:gd name="T93" fmla="*/ 0 h 22"/>
                <a:gd name="T94" fmla="*/ 5 w 5"/>
                <a:gd name="T95" fmla="*/ 0 h 22"/>
                <a:gd name="T96" fmla="*/ 5 w 5"/>
                <a:gd name="T97" fmla="*/ 0 h 22"/>
                <a:gd name="T98" fmla="*/ 5 w 5"/>
                <a:gd name="T99" fmla="*/ 0 h 22"/>
                <a:gd name="T100" fmla="*/ 5 w 5"/>
                <a:gd name="T101" fmla="*/ 0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2"/>
                <a:gd name="T155" fmla="*/ 5 w 5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2">
                  <a:moveTo>
                    <a:pt x="0" y="22"/>
                  </a:moveTo>
                  <a:lnTo>
                    <a:pt x="0" y="22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2" name="Freeform 89"/>
            <p:cNvSpPr>
              <a:spLocks/>
            </p:cNvSpPr>
            <p:nvPr/>
          </p:nvSpPr>
          <p:spPr bwMode="auto">
            <a:xfrm>
              <a:off x="4740" y="3125"/>
              <a:ext cx="4" cy="23"/>
            </a:xfrm>
            <a:custGeom>
              <a:avLst/>
              <a:gdLst>
                <a:gd name="T0" fmla="*/ 0 w 4"/>
                <a:gd name="T1" fmla="*/ 23 h 23"/>
                <a:gd name="T2" fmla="*/ 0 w 4"/>
                <a:gd name="T3" fmla="*/ 23 h 23"/>
                <a:gd name="T4" fmla="*/ 0 w 4"/>
                <a:gd name="T5" fmla="*/ 23 h 23"/>
                <a:gd name="T6" fmla="*/ 0 w 4"/>
                <a:gd name="T7" fmla="*/ 23 h 23"/>
                <a:gd name="T8" fmla="*/ 0 w 4"/>
                <a:gd name="T9" fmla="*/ 23 h 23"/>
                <a:gd name="T10" fmla="*/ 0 w 4"/>
                <a:gd name="T11" fmla="*/ 23 h 23"/>
                <a:gd name="T12" fmla="*/ 0 w 4"/>
                <a:gd name="T13" fmla="*/ 23 h 23"/>
                <a:gd name="T14" fmla="*/ 0 w 4"/>
                <a:gd name="T15" fmla="*/ 17 h 23"/>
                <a:gd name="T16" fmla="*/ 0 w 4"/>
                <a:gd name="T17" fmla="*/ 17 h 23"/>
                <a:gd name="T18" fmla="*/ 0 w 4"/>
                <a:gd name="T19" fmla="*/ 17 h 23"/>
                <a:gd name="T20" fmla="*/ 0 w 4"/>
                <a:gd name="T21" fmla="*/ 17 h 23"/>
                <a:gd name="T22" fmla="*/ 0 w 4"/>
                <a:gd name="T23" fmla="*/ 17 h 23"/>
                <a:gd name="T24" fmla="*/ 4 w 4"/>
                <a:gd name="T25" fmla="*/ 17 h 23"/>
                <a:gd name="T26" fmla="*/ 4 w 4"/>
                <a:gd name="T27" fmla="*/ 17 h 23"/>
                <a:gd name="T28" fmla="*/ 4 w 4"/>
                <a:gd name="T29" fmla="*/ 17 h 23"/>
                <a:gd name="T30" fmla="*/ 4 w 4"/>
                <a:gd name="T31" fmla="*/ 17 h 23"/>
                <a:gd name="T32" fmla="*/ 4 w 4"/>
                <a:gd name="T33" fmla="*/ 17 h 23"/>
                <a:gd name="T34" fmla="*/ 4 w 4"/>
                <a:gd name="T35" fmla="*/ 17 h 23"/>
                <a:gd name="T36" fmla="*/ 4 w 4"/>
                <a:gd name="T37" fmla="*/ 11 h 23"/>
                <a:gd name="T38" fmla="*/ 4 w 4"/>
                <a:gd name="T39" fmla="*/ 11 h 23"/>
                <a:gd name="T40" fmla="*/ 4 w 4"/>
                <a:gd name="T41" fmla="*/ 11 h 23"/>
                <a:gd name="T42" fmla="*/ 4 w 4"/>
                <a:gd name="T43" fmla="*/ 11 h 23"/>
                <a:gd name="T44" fmla="*/ 4 w 4"/>
                <a:gd name="T45" fmla="*/ 11 h 23"/>
                <a:gd name="T46" fmla="*/ 4 w 4"/>
                <a:gd name="T47" fmla="*/ 11 h 23"/>
                <a:gd name="T48" fmla="*/ 4 w 4"/>
                <a:gd name="T49" fmla="*/ 11 h 23"/>
                <a:gd name="T50" fmla="*/ 4 w 4"/>
                <a:gd name="T51" fmla="*/ 11 h 23"/>
                <a:gd name="T52" fmla="*/ 4 w 4"/>
                <a:gd name="T53" fmla="*/ 11 h 23"/>
                <a:gd name="T54" fmla="*/ 4 w 4"/>
                <a:gd name="T55" fmla="*/ 11 h 23"/>
                <a:gd name="T56" fmla="*/ 4 w 4"/>
                <a:gd name="T57" fmla="*/ 11 h 23"/>
                <a:gd name="T58" fmla="*/ 4 w 4"/>
                <a:gd name="T59" fmla="*/ 11 h 23"/>
                <a:gd name="T60" fmla="*/ 4 w 4"/>
                <a:gd name="T61" fmla="*/ 5 h 23"/>
                <a:gd name="T62" fmla="*/ 4 w 4"/>
                <a:gd name="T63" fmla="*/ 5 h 23"/>
                <a:gd name="T64" fmla="*/ 4 w 4"/>
                <a:gd name="T65" fmla="*/ 5 h 23"/>
                <a:gd name="T66" fmla="*/ 4 w 4"/>
                <a:gd name="T67" fmla="*/ 5 h 23"/>
                <a:gd name="T68" fmla="*/ 4 w 4"/>
                <a:gd name="T69" fmla="*/ 5 h 23"/>
                <a:gd name="T70" fmla="*/ 4 w 4"/>
                <a:gd name="T71" fmla="*/ 5 h 23"/>
                <a:gd name="T72" fmla="*/ 4 w 4"/>
                <a:gd name="T73" fmla="*/ 5 h 23"/>
                <a:gd name="T74" fmla="*/ 4 w 4"/>
                <a:gd name="T75" fmla="*/ 5 h 23"/>
                <a:gd name="T76" fmla="*/ 4 w 4"/>
                <a:gd name="T77" fmla="*/ 5 h 23"/>
                <a:gd name="T78" fmla="*/ 4 w 4"/>
                <a:gd name="T79" fmla="*/ 5 h 23"/>
                <a:gd name="T80" fmla="*/ 4 w 4"/>
                <a:gd name="T81" fmla="*/ 5 h 23"/>
                <a:gd name="T82" fmla="*/ 4 w 4"/>
                <a:gd name="T83" fmla="*/ 0 h 23"/>
                <a:gd name="T84" fmla="*/ 4 w 4"/>
                <a:gd name="T85" fmla="*/ 0 h 23"/>
                <a:gd name="T86" fmla="*/ 4 w 4"/>
                <a:gd name="T87" fmla="*/ 0 h 23"/>
                <a:gd name="T88" fmla="*/ 4 w 4"/>
                <a:gd name="T89" fmla="*/ 0 h 23"/>
                <a:gd name="T90" fmla="*/ 4 w 4"/>
                <a:gd name="T91" fmla="*/ 0 h 23"/>
                <a:gd name="T92" fmla="*/ 4 w 4"/>
                <a:gd name="T93" fmla="*/ 0 h 23"/>
                <a:gd name="T94" fmla="*/ 4 w 4"/>
                <a:gd name="T95" fmla="*/ 0 h 23"/>
                <a:gd name="T96" fmla="*/ 4 w 4"/>
                <a:gd name="T97" fmla="*/ 0 h 23"/>
                <a:gd name="T98" fmla="*/ 4 w 4"/>
                <a:gd name="T99" fmla="*/ 0 h 23"/>
                <a:gd name="T100" fmla="*/ 4 w 4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4" y="11"/>
                  </a:lnTo>
                  <a:lnTo>
                    <a:pt x="4" y="5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3" name="Freeform 90"/>
            <p:cNvSpPr>
              <a:spLocks/>
            </p:cNvSpPr>
            <p:nvPr/>
          </p:nvSpPr>
          <p:spPr bwMode="auto">
            <a:xfrm>
              <a:off x="4744" y="3096"/>
              <a:ext cx="10" cy="29"/>
            </a:xfrm>
            <a:custGeom>
              <a:avLst/>
              <a:gdLst>
                <a:gd name="T0" fmla="*/ 0 w 10"/>
                <a:gd name="T1" fmla="*/ 29 h 29"/>
                <a:gd name="T2" fmla="*/ 0 w 10"/>
                <a:gd name="T3" fmla="*/ 29 h 29"/>
                <a:gd name="T4" fmla="*/ 5 w 10"/>
                <a:gd name="T5" fmla="*/ 29 h 29"/>
                <a:gd name="T6" fmla="*/ 5 w 10"/>
                <a:gd name="T7" fmla="*/ 23 h 29"/>
                <a:gd name="T8" fmla="*/ 5 w 10"/>
                <a:gd name="T9" fmla="*/ 23 h 29"/>
                <a:gd name="T10" fmla="*/ 5 w 10"/>
                <a:gd name="T11" fmla="*/ 23 h 29"/>
                <a:gd name="T12" fmla="*/ 5 w 10"/>
                <a:gd name="T13" fmla="*/ 23 h 29"/>
                <a:gd name="T14" fmla="*/ 5 w 10"/>
                <a:gd name="T15" fmla="*/ 23 h 29"/>
                <a:gd name="T16" fmla="*/ 5 w 10"/>
                <a:gd name="T17" fmla="*/ 23 h 29"/>
                <a:gd name="T18" fmla="*/ 5 w 10"/>
                <a:gd name="T19" fmla="*/ 23 h 29"/>
                <a:gd name="T20" fmla="*/ 5 w 10"/>
                <a:gd name="T21" fmla="*/ 23 h 29"/>
                <a:gd name="T22" fmla="*/ 5 w 10"/>
                <a:gd name="T23" fmla="*/ 23 h 29"/>
                <a:gd name="T24" fmla="*/ 5 w 10"/>
                <a:gd name="T25" fmla="*/ 23 h 29"/>
                <a:gd name="T26" fmla="*/ 5 w 10"/>
                <a:gd name="T27" fmla="*/ 23 h 29"/>
                <a:gd name="T28" fmla="*/ 5 w 10"/>
                <a:gd name="T29" fmla="*/ 23 h 29"/>
                <a:gd name="T30" fmla="*/ 5 w 10"/>
                <a:gd name="T31" fmla="*/ 17 h 29"/>
                <a:gd name="T32" fmla="*/ 5 w 10"/>
                <a:gd name="T33" fmla="*/ 17 h 29"/>
                <a:gd name="T34" fmla="*/ 5 w 10"/>
                <a:gd name="T35" fmla="*/ 17 h 29"/>
                <a:gd name="T36" fmla="*/ 5 w 10"/>
                <a:gd name="T37" fmla="*/ 17 h 29"/>
                <a:gd name="T38" fmla="*/ 5 w 10"/>
                <a:gd name="T39" fmla="*/ 17 h 29"/>
                <a:gd name="T40" fmla="*/ 5 w 10"/>
                <a:gd name="T41" fmla="*/ 17 h 29"/>
                <a:gd name="T42" fmla="*/ 5 w 10"/>
                <a:gd name="T43" fmla="*/ 17 h 29"/>
                <a:gd name="T44" fmla="*/ 5 w 10"/>
                <a:gd name="T45" fmla="*/ 17 h 29"/>
                <a:gd name="T46" fmla="*/ 5 w 10"/>
                <a:gd name="T47" fmla="*/ 17 h 29"/>
                <a:gd name="T48" fmla="*/ 5 w 10"/>
                <a:gd name="T49" fmla="*/ 17 h 29"/>
                <a:gd name="T50" fmla="*/ 5 w 10"/>
                <a:gd name="T51" fmla="*/ 17 h 29"/>
                <a:gd name="T52" fmla="*/ 5 w 10"/>
                <a:gd name="T53" fmla="*/ 12 h 29"/>
                <a:gd name="T54" fmla="*/ 5 w 10"/>
                <a:gd name="T55" fmla="*/ 12 h 29"/>
                <a:gd name="T56" fmla="*/ 5 w 10"/>
                <a:gd name="T57" fmla="*/ 12 h 29"/>
                <a:gd name="T58" fmla="*/ 5 w 10"/>
                <a:gd name="T59" fmla="*/ 12 h 29"/>
                <a:gd name="T60" fmla="*/ 5 w 10"/>
                <a:gd name="T61" fmla="*/ 12 h 29"/>
                <a:gd name="T62" fmla="*/ 5 w 10"/>
                <a:gd name="T63" fmla="*/ 12 h 29"/>
                <a:gd name="T64" fmla="*/ 5 w 10"/>
                <a:gd name="T65" fmla="*/ 12 h 29"/>
                <a:gd name="T66" fmla="*/ 5 w 10"/>
                <a:gd name="T67" fmla="*/ 12 h 29"/>
                <a:gd name="T68" fmla="*/ 5 w 10"/>
                <a:gd name="T69" fmla="*/ 12 h 29"/>
                <a:gd name="T70" fmla="*/ 5 w 10"/>
                <a:gd name="T71" fmla="*/ 12 h 29"/>
                <a:gd name="T72" fmla="*/ 5 w 10"/>
                <a:gd name="T73" fmla="*/ 12 h 29"/>
                <a:gd name="T74" fmla="*/ 5 w 10"/>
                <a:gd name="T75" fmla="*/ 12 h 29"/>
                <a:gd name="T76" fmla="*/ 5 w 10"/>
                <a:gd name="T77" fmla="*/ 6 h 29"/>
                <a:gd name="T78" fmla="*/ 5 w 10"/>
                <a:gd name="T79" fmla="*/ 6 h 29"/>
                <a:gd name="T80" fmla="*/ 5 w 10"/>
                <a:gd name="T81" fmla="*/ 6 h 29"/>
                <a:gd name="T82" fmla="*/ 5 w 10"/>
                <a:gd name="T83" fmla="*/ 6 h 29"/>
                <a:gd name="T84" fmla="*/ 5 w 10"/>
                <a:gd name="T85" fmla="*/ 6 h 29"/>
                <a:gd name="T86" fmla="*/ 10 w 10"/>
                <a:gd name="T87" fmla="*/ 6 h 29"/>
                <a:gd name="T88" fmla="*/ 10 w 10"/>
                <a:gd name="T89" fmla="*/ 6 h 29"/>
                <a:gd name="T90" fmla="*/ 10 w 10"/>
                <a:gd name="T91" fmla="*/ 6 h 29"/>
                <a:gd name="T92" fmla="*/ 10 w 10"/>
                <a:gd name="T93" fmla="*/ 6 h 29"/>
                <a:gd name="T94" fmla="*/ 10 w 10"/>
                <a:gd name="T95" fmla="*/ 6 h 29"/>
                <a:gd name="T96" fmla="*/ 10 w 10"/>
                <a:gd name="T97" fmla="*/ 6 h 29"/>
                <a:gd name="T98" fmla="*/ 10 w 10"/>
                <a:gd name="T99" fmla="*/ 0 h 29"/>
                <a:gd name="T100" fmla="*/ 10 w 10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9"/>
                <a:gd name="T155" fmla="*/ 10 w 10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9">
                  <a:moveTo>
                    <a:pt x="0" y="29"/>
                  </a:moveTo>
                  <a:lnTo>
                    <a:pt x="0" y="29"/>
                  </a:lnTo>
                  <a:lnTo>
                    <a:pt x="5" y="29"/>
                  </a:lnTo>
                  <a:lnTo>
                    <a:pt x="5" y="23"/>
                  </a:lnTo>
                  <a:lnTo>
                    <a:pt x="5" y="17"/>
                  </a:lnTo>
                  <a:lnTo>
                    <a:pt x="5" y="12"/>
                  </a:lnTo>
                  <a:lnTo>
                    <a:pt x="5" y="6"/>
                  </a:lnTo>
                  <a:lnTo>
                    <a:pt x="10" y="6"/>
                  </a:lnTo>
                  <a:lnTo>
                    <a:pt x="1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4" name="Freeform 91"/>
            <p:cNvSpPr>
              <a:spLocks/>
            </p:cNvSpPr>
            <p:nvPr/>
          </p:nvSpPr>
          <p:spPr bwMode="auto">
            <a:xfrm>
              <a:off x="4754" y="3074"/>
              <a:ext cx="5" cy="22"/>
            </a:xfrm>
            <a:custGeom>
              <a:avLst/>
              <a:gdLst>
                <a:gd name="T0" fmla="*/ 0 w 5"/>
                <a:gd name="T1" fmla="*/ 22 h 22"/>
                <a:gd name="T2" fmla="*/ 0 w 5"/>
                <a:gd name="T3" fmla="*/ 22 h 22"/>
                <a:gd name="T4" fmla="*/ 0 w 5"/>
                <a:gd name="T5" fmla="*/ 22 h 22"/>
                <a:gd name="T6" fmla="*/ 0 w 5"/>
                <a:gd name="T7" fmla="*/ 22 h 22"/>
                <a:gd name="T8" fmla="*/ 0 w 5"/>
                <a:gd name="T9" fmla="*/ 22 h 22"/>
                <a:gd name="T10" fmla="*/ 0 w 5"/>
                <a:gd name="T11" fmla="*/ 22 h 22"/>
                <a:gd name="T12" fmla="*/ 0 w 5"/>
                <a:gd name="T13" fmla="*/ 22 h 22"/>
                <a:gd name="T14" fmla="*/ 0 w 5"/>
                <a:gd name="T15" fmla="*/ 22 h 22"/>
                <a:gd name="T16" fmla="*/ 0 w 5"/>
                <a:gd name="T17" fmla="*/ 22 h 22"/>
                <a:gd name="T18" fmla="*/ 0 w 5"/>
                <a:gd name="T19" fmla="*/ 22 h 22"/>
                <a:gd name="T20" fmla="*/ 0 w 5"/>
                <a:gd name="T21" fmla="*/ 22 h 22"/>
                <a:gd name="T22" fmla="*/ 0 w 5"/>
                <a:gd name="T23" fmla="*/ 17 h 22"/>
                <a:gd name="T24" fmla="*/ 0 w 5"/>
                <a:gd name="T25" fmla="*/ 17 h 22"/>
                <a:gd name="T26" fmla="*/ 0 w 5"/>
                <a:gd name="T27" fmla="*/ 17 h 22"/>
                <a:gd name="T28" fmla="*/ 0 w 5"/>
                <a:gd name="T29" fmla="*/ 17 h 22"/>
                <a:gd name="T30" fmla="*/ 0 w 5"/>
                <a:gd name="T31" fmla="*/ 17 h 22"/>
                <a:gd name="T32" fmla="*/ 0 w 5"/>
                <a:gd name="T33" fmla="*/ 17 h 22"/>
                <a:gd name="T34" fmla="*/ 0 w 5"/>
                <a:gd name="T35" fmla="*/ 17 h 22"/>
                <a:gd name="T36" fmla="*/ 0 w 5"/>
                <a:gd name="T37" fmla="*/ 17 h 22"/>
                <a:gd name="T38" fmla="*/ 0 w 5"/>
                <a:gd name="T39" fmla="*/ 17 h 22"/>
                <a:gd name="T40" fmla="*/ 0 w 5"/>
                <a:gd name="T41" fmla="*/ 17 h 22"/>
                <a:gd name="T42" fmla="*/ 0 w 5"/>
                <a:gd name="T43" fmla="*/ 17 h 22"/>
                <a:gd name="T44" fmla="*/ 0 w 5"/>
                <a:gd name="T45" fmla="*/ 17 h 22"/>
                <a:gd name="T46" fmla="*/ 0 w 5"/>
                <a:gd name="T47" fmla="*/ 11 h 22"/>
                <a:gd name="T48" fmla="*/ 0 w 5"/>
                <a:gd name="T49" fmla="*/ 11 h 22"/>
                <a:gd name="T50" fmla="*/ 0 w 5"/>
                <a:gd name="T51" fmla="*/ 11 h 22"/>
                <a:gd name="T52" fmla="*/ 0 w 5"/>
                <a:gd name="T53" fmla="*/ 11 h 22"/>
                <a:gd name="T54" fmla="*/ 0 w 5"/>
                <a:gd name="T55" fmla="*/ 11 h 22"/>
                <a:gd name="T56" fmla="*/ 0 w 5"/>
                <a:gd name="T57" fmla="*/ 11 h 22"/>
                <a:gd name="T58" fmla="*/ 0 w 5"/>
                <a:gd name="T59" fmla="*/ 11 h 22"/>
                <a:gd name="T60" fmla="*/ 0 w 5"/>
                <a:gd name="T61" fmla="*/ 11 h 22"/>
                <a:gd name="T62" fmla="*/ 0 w 5"/>
                <a:gd name="T63" fmla="*/ 11 h 22"/>
                <a:gd name="T64" fmla="*/ 0 w 5"/>
                <a:gd name="T65" fmla="*/ 11 h 22"/>
                <a:gd name="T66" fmla="*/ 5 w 5"/>
                <a:gd name="T67" fmla="*/ 11 h 22"/>
                <a:gd name="T68" fmla="*/ 5 w 5"/>
                <a:gd name="T69" fmla="*/ 5 h 22"/>
                <a:gd name="T70" fmla="*/ 5 w 5"/>
                <a:gd name="T71" fmla="*/ 5 h 22"/>
                <a:gd name="T72" fmla="*/ 5 w 5"/>
                <a:gd name="T73" fmla="*/ 5 h 22"/>
                <a:gd name="T74" fmla="*/ 5 w 5"/>
                <a:gd name="T75" fmla="*/ 5 h 22"/>
                <a:gd name="T76" fmla="*/ 5 w 5"/>
                <a:gd name="T77" fmla="*/ 5 h 22"/>
                <a:gd name="T78" fmla="*/ 5 w 5"/>
                <a:gd name="T79" fmla="*/ 5 h 22"/>
                <a:gd name="T80" fmla="*/ 5 w 5"/>
                <a:gd name="T81" fmla="*/ 5 h 22"/>
                <a:gd name="T82" fmla="*/ 5 w 5"/>
                <a:gd name="T83" fmla="*/ 5 h 22"/>
                <a:gd name="T84" fmla="*/ 5 w 5"/>
                <a:gd name="T85" fmla="*/ 5 h 22"/>
                <a:gd name="T86" fmla="*/ 5 w 5"/>
                <a:gd name="T87" fmla="*/ 5 h 22"/>
                <a:gd name="T88" fmla="*/ 5 w 5"/>
                <a:gd name="T89" fmla="*/ 5 h 22"/>
                <a:gd name="T90" fmla="*/ 5 w 5"/>
                <a:gd name="T91" fmla="*/ 5 h 22"/>
                <a:gd name="T92" fmla="*/ 5 w 5"/>
                <a:gd name="T93" fmla="*/ 0 h 22"/>
                <a:gd name="T94" fmla="*/ 5 w 5"/>
                <a:gd name="T95" fmla="*/ 0 h 22"/>
                <a:gd name="T96" fmla="*/ 5 w 5"/>
                <a:gd name="T97" fmla="*/ 0 h 22"/>
                <a:gd name="T98" fmla="*/ 5 w 5"/>
                <a:gd name="T99" fmla="*/ 0 h 22"/>
                <a:gd name="T100" fmla="*/ 5 w 5"/>
                <a:gd name="T101" fmla="*/ 0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2"/>
                <a:gd name="T155" fmla="*/ 5 w 5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2">
                  <a:moveTo>
                    <a:pt x="0" y="22"/>
                  </a:moveTo>
                  <a:lnTo>
                    <a:pt x="0" y="22"/>
                  </a:lnTo>
                  <a:lnTo>
                    <a:pt x="0" y="17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5" name="Freeform 92"/>
            <p:cNvSpPr>
              <a:spLocks/>
            </p:cNvSpPr>
            <p:nvPr/>
          </p:nvSpPr>
          <p:spPr bwMode="auto">
            <a:xfrm>
              <a:off x="4759" y="3051"/>
              <a:ext cx="4" cy="23"/>
            </a:xfrm>
            <a:custGeom>
              <a:avLst/>
              <a:gdLst>
                <a:gd name="T0" fmla="*/ 0 w 4"/>
                <a:gd name="T1" fmla="*/ 23 h 23"/>
                <a:gd name="T2" fmla="*/ 0 w 4"/>
                <a:gd name="T3" fmla="*/ 23 h 23"/>
                <a:gd name="T4" fmla="*/ 0 w 4"/>
                <a:gd name="T5" fmla="*/ 23 h 23"/>
                <a:gd name="T6" fmla="*/ 0 w 4"/>
                <a:gd name="T7" fmla="*/ 23 h 23"/>
                <a:gd name="T8" fmla="*/ 0 w 4"/>
                <a:gd name="T9" fmla="*/ 23 h 23"/>
                <a:gd name="T10" fmla="*/ 0 w 4"/>
                <a:gd name="T11" fmla="*/ 23 h 23"/>
                <a:gd name="T12" fmla="*/ 0 w 4"/>
                <a:gd name="T13" fmla="*/ 23 h 23"/>
                <a:gd name="T14" fmla="*/ 0 w 4"/>
                <a:gd name="T15" fmla="*/ 23 h 23"/>
                <a:gd name="T16" fmla="*/ 0 w 4"/>
                <a:gd name="T17" fmla="*/ 17 h 23"/>
                <a:gd name="T18" fmla="*/ 0 w 4"/>
                <a:gd name="T19" fmla="*/ 17 h 23"/>
                <a:gd name="T20" fmla="*/ 0 w 4"/>
                <a:gd name="T21" fmla="*/ 17 h 23"/>
                <a:gd name="T22" fmla="*/ 0 w 4"/>
                <a:gd name="T23" fmla="*/ 17 h 23"/>
                <a:gd name="T24" fmla="*/ 0 w 4"/>
                <a:gd name="T25" fmla="*/ 17 h 23"/>
                <a:gd name="T26" fmla="*/ 0 w 4"/>
                <a:gd name="T27" fmla="*/ 17 h 23"/>
                <a:gd name="T28" fmla="*/ 0 w 4"/>
                <a:gd name="T29" fmla="*/ 17 h 23"/>
                <a:gd name="T30" fmla="*/ 0 w 4"/>
                <a:gd name="T31" fmla="*/ 17 h 23"/>
                <a:gd name="T32" fmla="*/ 0 w 4"/>
                <a:gd name="T33" fmla="*/ 17 h 23"/>
                <a:gd name="T34" fmla="*/ 0 w 4"/>
                <a:gd name="T35" fmla="*/ 17 h 23"/>
                <a:gd name="T36" fmla="*/ 0 w 4"/>
                <a:gd name="T37" fmla="*/ 17 h 23"/>
                <a:gd name="T38" fmla="*/ 0 w 4"/>
                <a:gd name="T39" fmla="*/ 17 h 23"/>
                <a:gd name="T40" fmla="*/ 0 w 4"/>
                <a:gd name="T41" fmla="*/ 11 h 23"/>
                <a:gd name="T42" fmla="*/ 0 w 4"/>
                <a:gd name="T43" fmla="*/ 11 h 23"/>
                <a:gd name="T44" fmla="*/ 0 w 4"/>
                <a:gd name="T45" fmla="*/ 11 h 23"/>
                <a:gd name="T46" fmla="*/ 0 w 4"/>
                <a:gd name="T47" fmla="*/ 11 h 23"/>
                <a:gd name="T48" fmla="*/ 4 w 4"/>
                <a:gd name="T49" fmla="*/ 11 h 23"/>
                <a:gd name="T50" fmla="*/ 4 w 4"/>
                <a:gd name="T51" fmla="*/ 11 h 23"/>
                <a:gd name="T52" fmla="*/ 4 w 4"/>
                <a:gd name="T53" fmla="*/ 11 h 23"/>
                <a:gd name="T54" fmla="*/ 4 w 4"/>
                <a:gd name="T55" fmla="*/ 11 h 23"/>
                <a:gd name="T56" fmla="*/ 4 w 4"/>
                <a:gd name="T57" fmla="*/ 11 h 23"/>
                <a:gd name="T58" fmla="*/ 4 w 4"/>
                <a:gd name="T59" fmla="*/ 11 h 23"/>
                <a:gd name="T60" fmla="*/ 4 w 4"/>
                <a:gd name="T61" fmla="*/ 11 h 23"/>
                <a:gd name="T62" fmla="*/ 4 w 4"/>
                <a:gd name="T63" fmla="*/ 11 h 23"/>
                <a:gd name="T64" fmla="*/ 4 w 4"/>
                <a:gd name="T65" fmla="*/ 5 h 23"/>
                <a:gd name="T66" fmla="*/ 4 w 4"/>
                <a:gd name="T67" fmla="*/ 5 h 23"/>
                <a:gd name="T68" fmla="*/ 4 w 4"/>
                <a:gd name="T69" fmla="*/ 5 h 23"/>
                <a:gd name="T70" fmla="*/ 4 w 4"/>
                <a:gd name="T71" fmla="*/ 5 h 23"/>
                <a:gd name="T72" fmla="*/ 4 w 4"/>
                <a:gd name="T73" fmla="*/ 5 h 23"/>
                <a:gd name="T74" fmla="*/ 4 w 4"/>
                <a:gd name="T75" fmla="*/ 5 h 23"/>
                <a:gd name="T76" fmla="*/ 4 w 4"/>
                <a:gd name="T77" fmla="*/ 5 h 23"/>
                <a:gd name="T78" fmla="*/ 4 w 4"/>
                <a:gd name="T79" fmla="*/ 5 h 23"/>
                <a:gd name="T80" fmla="*/ 4 w 4"/>
                <a:gd name="T81" fmla="*/ 5 h 23"/>
                <a:gd name="T82" fmla="*/ 4 w 4"/>
                <a:gd name="T83" fmla="*/ 5 h 23"/>
                <a:gd name="T84" fmla="*/ 4 w 4"/>
                <a:gd name="T85" fmla="*/ 5 h 23"/>
                <a:gd name="T86" fmla="*/ 4 w 4"/>
                <a:gd name="T87" fmla="*/ 5 h 23"/>
                <a:gd name="T88" fmla="*/ 4 w 4"/>
                <a:gd name="T89" fmla="*/ 0 h 23"/>
                <a:gd name="T90" fmla="*/ 4 w 4"/>
                <a:gd name="T91" fmla="*/ 0 h 23"/>
                <a:gd name="T92" fmla="*/ 4 w 4"/>
                <a:gd name="T93" fmla="*/ 0 h 23"/>
                <a:gd name="T94" fmla="*/ 4 w 4"/>
                <a:gd name="T95" fmla="*/ 0 h 23"/>
                <a:gd name="T96" fmla="*/ 4 w 4"/>
                <a:gd name="T97" fmla="*/ 0 h 23"/>
                <a:gd name="T98" fmla="*/ 4 w 4"/>
                <a:gd name="T99" fmla="*/ 0 h 23"/>
                <a:gd name="T100" fmla="*/ 4 w 4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5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6" name="Freeform 93"/>
            <p:cNvSpPr>
              <a:spLocks/>
            </p:cNvSpPr>
            <p:nvPr/>
          </p:nvSpPr>
          <p:spPr bwMode="auto">
            <a:xfrm>
              <a:off x="4763" y="3028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23 h 23"/>
                <a:gd name="T10" fmla="*/ 0 w 5"/>
                <a:gd name="T11" fmla="*/ 23 h 23"/>
                <a:gd name="T12" fmla="*/ 0 w 5"/>
                <a:gd name="T13" fmla="*/ 17 h 23"/>
                <a:gd name="T14" fmla="*/ 0 w 5"/>
                <a:gd name="T15" fmla="*/ 17 h 23"/>
                <a:gd name="T16" fmla="*/ 0 w 5"/>
                <a:gd name="T17" fmla="*/ 17 h 23"/>
                <a:gd name="T18" fmla="*/ 0 w 5"/>
                <a:gd name="T19" fmla="*/ 17 h 23"/>
                <a:gd name="T20" fmla="*/ 0 w 5"/>
                <a:gd name="T21" fmla="*/ 17 h 23"/>
                <a:gd name="T22" fmla="*/ 0 w 5"/>
                <a:gd name="T23" fmla="*/ 17 h 23"/>
                <a:gd name="T24" fmla="*/ 0 w 5"/>
                <a:gd name="T25" fmla="*/ 17 h 23"/>
                <a:gd name="T26" fmla="*/ 0 w 5"/>
                <a:gd name="T27" fmla="*/ 17 h 23"/>
                <a:gd name="T28" fmla="*/ 5 w 5"/>
                <a:gd name="T29" fmla="*/ 17 h 23"/>
                <a:gd name="T30" fmla="*/ 5 w 5"/>
                <a:gd name="T31" fmla="*/ 17 h 23"/>
                <a:gd name="T32" fmla="*/ 5 w 5"/>
                <a:gd name="T33" fmla="*/ 17 h 23"/>
                <a:gd name="T34" fmla="*/ 5 w 5"/>
                <a:gd name="T35" fmla="*/ 17 h 23"/>
                <a:gd name="T36" fmla="*/ 5 w 5"/>
                <a:gd name="T37" fmla="*/ 17 h 23"/>
                <a:gd name="T38" fmla="*/ 5 w 5"/>
                <a:gd name="T39" fmla="*/ 11 h 23"/>
                <a:gd name="T40" fmla="*/ 5 w 5"/>
                <a:gd name="T41" fmla="*/ 11 h 23"/>
                <a:gd name="T42" fmla="*/ 5 w 5"/>
                <a:gd name="T43" fmla="*/ 11 h 23"/>
                <a:gd name="T44" fmla="*/ 5 w 5"/>
                <a:gd name="T45" fmla="*/ 11 h 23"/>
                <a:gd name="T46" fmla="*/ 5 w 5"/>
                <a:gd name="T47" fmla="*/ 11 h 23"/>
                <a:gd name="T48" fmla="*/ 5 w 5"/>
                <a:gd name="T49" fmla="*/ 11 h 23"/>
                <a:gd name="T50" fmla="*/ 5 w 5"/>
                <a:gd name="T51" fmla="*/ 11 h 23"/>
                <a:gd name="T52" fmla="*/ 5 w 5"/>
                <a:gd name="T53" fmla="*/ 11 h 23"/>
                <a:gd name="T54" fmla="*/ 5 w 5"/>
                <a:gd name="T55" fmla="*/ 11 h 23"/>
                <a:gd name="T56" fmla="*/ 5 w 5"/>
                <a:gd name="T57" fmla="*/ 11 h 23"/>
                <a:gd name="T58" fmla="*/ 5 w 5"/>
                <a:gd name="T59" fmla="*/ 11 h 23"/>
                <a:gd name="T60" fmla="*/ 5 w 5"/>
                <a:gd name="T61" fmla="*/ 11 h 23"/>
                <a:gd name="T62" fmla="*/ 5 w 5"/>
                <a:gd name="T63" fmla="*/ 6 h 23"/>
                <a:gd name="T64" fmla="*/ 5 w 5"/>
                <a:gd name="T65" fmla="*/ 6 h 23"/>
                <a:gd name="T66" fmla="*/ 5 w 5"/>
                <a:gd name="T67" fmla="*/ 6 h 23"/>
                <a:gd name="T68" fmla="*/ 5 w 5"/>
                <a:gd name="T69" fmla="*/ 6 h 23"/>
                <a:gd name="T70" fmla="*/ 5 w 5"/>
                <a:gd name="T71" fmla="*/ 6 h 23"/>
                <a:gd name="T72" fmla="*/ 5 w 5"/>
                <a:gd name="T73" fmla="*/ 6 h 23"/>
                <a:gd name="T74" fmla="*/ 5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6 h 23"/>
                <a:gd name="T86" fmla="*/ 5 w 5"/>
                <a:gd name="T87" fmla="*/ 6 h 23"/>
                <a:gd name="T88" fmla="*/ 5 w 5"/>
                <a:gd name="T89" fmla="*/ 0 h 23"/>
                <a:gd name="T90" fmla="*/ 5 w 5"/>
                <a:gd name="T91" fmla="*/ 0 h 23"/>
                <a:gd name="T92" fmla="*/ 5 w 5"/>
                <a:gd name="T93" fmla="*/ 0 h 23"/>
                <a:gd name="T94" fmla="*/ 5 w 5"/>
                <a:gd name="T95" fmla="*/ 0 h 23"/>
                <a:gd name="T96" fmla="*/ 5 w 5"/>
                <a:gd name="T97" fmla="*/ 0 h 23"/>
                <a:gd name="T98" fmla="*/ 5 w 5"/>
                <a:gd name="T99" fmla="*/ 0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7" name="Freeform 94"/>
            <p:cNvSpPr>
              <a:spLocks/>
            </p:cNvSpPr>
            <p:nvPr/>
          </p:nvSpPr>
          <p:spPr bwMode="auto">
            <a:xfrm>
              <a:off x="4768" y="3005"/>
              <a:ext cx="10" cy="23"/>
            </a:xfrm>
            <a:custGeom>
              <a:avLst/>
              <a:gdLst>
                <a:gd name="T0" fmla="*/ 0 w 10"/>
                <a:gd name="T1" fmla="*/ 23 h 23"/>
                <a:gd name="T2" fmla="*/ 0 w 10"/>
                <a:gd name="T3" fmla="*/ 23 h 23"/>
                <a:gd name="T4" fmla="*/ 0 w 10"/>
                <a:gd name="T5" fmla="*/ 23 h 23"/>
                <a:gd name="T6" fmla="*/ 0 w 10"/>
                <a:gd name="T7" fmla="*/ 23 h 23"/>
                <a:gd name="T8" fmla="*/ 0 w 10"/>
                <a:gd name="T9" fmla="*/ 23 h 23"/>
                <a:gd name="T10" fmla="*/ 5 w 10"/>
                <a:gd name="T11" fmla="*/ 23 h 23"/>
                <a:gd name="T12" fmla="*/ 5 w 10"/>
                <a:gd name="T13" fmla="*/ 23 h 23"/>
                <a:gd name="T14" fmla="*/ 5 w 10"/>
                <a:gd name="T15" fmla="*/ 17 h 23"/>
                <a:gd name="T16" fmla="*/ 5 w 10"/>
                <a:gd name="T17" fmla="*/ 17 h 23"/>
                <a:gd name="T18" fmla="*/ 5 w 10"/>
                <a:gd name="T19" fmla="*/ 17 h 23"/>
                <a:gd name="T20" fmla="*/ 5 w 10"/>
                <a:gd name="T21" fmla="*/ 17 h 23"/>
                <a:gd name="T22" fmla="*/ 5 w 10"/>
                <a:gd name="T23" fmla="*/ 17 h 23"/>
                <a:gd name="T24" fmla="*/ 5 w 10"/>
                <a:gd name="T25" fmla="*/ 17 h 23"/>
                <a:gd name="T26" fmla="*/ 5 w 10"/>
                <a:gd name="T27" fmla="*/ 17 h 23"/>
                <a:gd name="T28" fmla="*/ 5 w 10"/>
                <a:gd name="T29" fmla="*/ 17 h 23"/>
                <a:gd name="T30" fmla="*/ 5 w 10"/>
                <a:gd name="T31" fmla="*/ 17 h 23"/>
                <a:gd name="T32" fmla="*/ 5 w 10"/>
                <a:gd name="T33" fmla="*/ 17 h 23"/>
                <a:gd name="T34" fmla="*/ 5 w 10"/>
                <a:gd name="T35" fmla="*/ 17 h 23"/>
                <a:gd name="T36" fmla="*/ 5 w 10"/>
                <a:gd name="T37" fmla="*/ 17 h 23"/>
                <a:gd name="T38" fmla="*/ 5 w 10"/>
                <a:gd name="T39" fmla="*/ 17 h 23"/>
                <a:gd name="T40" fmla="*/ 5 w 10"/>
                <a:gd name="T41" fmla="*/ 12 h 23"/>
                <a:gd name="T42" fmla="*/ 5 w 10"/>
                <a:gd name="T43" fmla="*/ 12 h 23"/>
                <a:gd name="T44" fmla="*/ 5 w 10"/>
                <a:gd name="T45" fmla="*/ 12 h 23"/>
                <a:gd name="T46" fmla="*/ 5 w 10"/>
                <a:gd name="T47" fmla="*/ 12 h 23"/>
                <a:gd name="T48" fmla="*/ 5 w 10"/>
                <a:gd name="T49" fmla="*/ 12 h 23"/>
                <a:gd name="T50" fmla="*/ 5 w 10"/>
                <a:gd name="T51" fmla="*/ 12 h 23"/>
                <a:gd name="T52" fmla="*/ 5 w 10"/>
                <a:gd name="T53" fmla="*/ 12 h 23"/>
                <a:gd name="T54" fmla="*/ 5 w 10"/>
                <a:gd name="T55" fmla="*/ 12 h 23"/>
                <a:gd name="T56" fmla="*/ 5 w 10"/>
                <a:gd name="T57" fmla="*/ 12 h 23"/>
                <a:gd name="T58" fmla="*/ 5 w 10"/>
                <a:gd name="T59" fmla="*/ 12 h 23"/>
                <a:gd name="T60" fmla="*/ 5 w 10"/>
                <a:gd name="T61" fmla="*/ 12 h 23"/>
                <a:gd name="T62" fmla="*/ 5 w 10"/>
                <a:gd name="T63" fmla="*/ 12 h 23"/>
                <a:gd name="T64" fmla="*/ 5 w 10"/>
                <a:gd name="T65" fmla="*/ 12 h 23"/>
                <a:gd name="T66" fmla="*/ 5 w 10"/>
                <a:gd name="T67" fmla="*/ 12 h 23"/>
                <a:gd name="T68" fmla="*/ 5 w 10"/>
                <a:gd name="T69" fmla="*/ 6 h 23"/>
                <a:gd name="T70" fmla="*/ 5 w 10"/>
                <a:gd name="T71" fmla="*/ 6 h 23"/>
                <a:gd name="T72" fmla="*/ 5 w 10"/>
                <a:gd name="T73" fmla="*/ 6 h 23"/>
                <a:gd name="T74" fmla="*/ 5 w 10"/>
                <a:gd name="T75" fmla="*/ 6 h 23"/>
                <a:gd name="T76" fmla="*/ 5 w 10"/>
                <a:gd name="T77" fmla="*/ 6 h 23"/>
                <a:gd name="T78" fmla="*/ 5 w 10"/>
                <a:gd name="T79" fmla="*/ 6 h 23"/>
                <a:gd name="T80" fmla="*/ 5 w 10"/>
                <a:gd name="T81" fmla="*/ 6 h 23"/>
                <a:gd name="T82" fmla="*/ 5 w 10"/>
                <a:gd name="T83" fmla="*/ 6 h 23"/>
                <a:gd name="T84" fmla="*/ 5 w 10"/>
                <a:gd name="T85" fmla="*/ 6 h 23"/>
                <a:gd name="T86" fmla="*/ 5 w 10"/>
                <a:gd name="T87" fmla="*/ 6 h 23"/>
                <a:gd name="T88" fmla="*/ 5 w 10"/>
                <a:gd name="T89" fmla="*/ 6 h 23"/>
                <a:gd name="T90" fmla="*/ 5 w 10"/>
                <a:gd name="T91" fmla="*/ 6 h 23"/>
                <a:gd name="T92" fmla="*/ 10 w 10"/>
                <a:gd name="T93" fmla="*/ 6 h 23"/>
                <a:gd name="T94" fmla="*/ 10 w 10"/>
                <a:gd name="T95" fmla="*/ 0 h 23"/>
                <a:gd name="T96" fmla="*/ 10 w 10"/>
                <a:gd name="T97" fmla="*/ 0 h 23"/>
                <a:gd name="T98" fmla="*/ 10 w 10"/>
                <a:gd name="T99" fmla="*/ 0 h 23"/>
                <a:gd name="T100" fmla="*/ 10 w 10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3"/>
                <a:gd name="T155" fmla="*/ 10 w 10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3">
                  <a:moveTo>
                    <a:pt x="0" y="23"/>
                  </a:moveTo>
                  <a:lnTo>
                    <a:pt x="0" y="23"/>
                  </a:lnTo>
                  <a:lnTo>
                    <a:pt x="5" y="23"/>
                  </a:lnTo>
                  <a:lnTo>
                    <a:pt x="5" y="17"/>
                  </a:lnTo>
                  <a:lnTo>
                    <a:pt x="5" y="12"/>
                  </a:lnTo>
                  <a:lnTo>
                    <a:pt x="5" y="6"/>
                  </a:lnTo>
                  <a:lnTo>
                    <a:pt x="10" y="6"/>
                  </a:lnTo>
                  <a:lnTo>
                    <a:pt x="1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8" name="Freeform 95"/>
            <p:cNvSpPr>
              <a:spLocks/>
            </p:cNvSpPr>
            <p:nvPr/>
          </p:nvSpPr>
          <p:spPr bwMode="auto">
            <a:xfrm>
              <a:off x="4778" y="2988"/>
              <a:ext cx="4" cy="17"/>
            </a:xfrm>
            <a:custGeom>
              <a:avLst/>
              <a:gdLst>
                <a:gd name="T0" fmla="*/ 0 w 4"/>
                <a:gd name="T1" fmla="*/ 17 h 17"/>
                <a:gd name="T2" fmla="*/ 0 w 4"/>
                <a:gd name="T3" fmla="*/ 17 h 17"/>
                <a:gd name="T4" fmla="*/ 0 w 4"/>
                <a:gd name="T5" fmla="*/ 17 h 17"/>
                <a:gd name="T6" fmla="*/ 0 w 4"/>
                <a:gd name="T7" fmla="*/ 17 h 17"/>
                <a:gd name="T8" fmla="*/ 0 w 4"/>
                <a:gd name="T9" fmla="*/ 17 h 17"/>
                <a:gd name="T10" fmla="*/ 0 w 4"/>
                <a:gd name="T11" fmla="*/ 17 h 17"/>
                <a:gd name="T12" fmla="*/ 0 w 4"/>
                <a:gd name="T13" fmla="*/ 17 h 17"/>
                <a:gd name="T14" fmla="*/ 0 w 4"/>
                <a:gd name="T15" fmla="*/ 17 h 17"/>
                <a:gd name="T16" fmla="*/ 0 w 4"/>
                <a:gd name="T17" fmla="*/ 17 h 17"/>
                <a:gd name="T18" fmla="*/ 0 w 4"/>
                <a:gd name="T19" fmla="*/ 17 h 17"/>
                <a:gd name="T20" fmla="*/ 0 w 4"/>
                <a:gd name="T21" fmla="*/ 17 h 17"/>
                <a:gd name="T22" fmla="*/ 0 w 4"/>
                <a:gd name="T23" fmla="*/ 12 h 17"/>
                <a:gd name="T24" fmla="*/ 0 w 4"/>
                <a:gd name="T25" fmla="*/ 12 h 17"/>
                <a:gd name="T26" fmla="*/ 0 w 4"/>
                <a:gd name="T27" fmla="*/ 12 h 17"/>
                <a:gd name="T28" fmla="*/ 0 w 4"/>
                <a:gd name="T29" fmla="*/ 12 h 17"/>
                <a:gd name="T30" fmla="*/ 0 w 4"/>
                <a:gd name="T31" fmla="*/ 12 h 17"/>
                <a:gd name="T32" fmla="*/ 0 w 4"/>
                <a:gd name="T33" fmla="*/ 12 h 17"/>
                <a:gd name="T34" fmla="*/ 0 w 4"/>
                <a:gd name="T35" fmla="*/ 12 h 17"/>
                <a:gd name="T36" fmla="*/ 0 w 4"/>
                <a:gd name="T37" fmla="*/ 12 h 17"/>
                <a:gd name="T38" fmla="*/ 0 w 4"/>
                <a:gd name="T39" fmla="*/ 12 h 17"/>
                <a:gd name="T40" fmla="*/ 0 w 4"/>
                <a:gd name="T41" fmla="*/ 12 h 17"/>
                <a:gd name="T42" fmla="*/ 0 w 4"/>
                <a:gd name="T43" fmla="*/ 12 h 17"/>
                <a:gd name="T44" fmla="*/ 0 w 4"/>
                <a:gd name="T45" fmla="*/ 12 h 17"/>
                <a:gd name="T46" fmla="*/ 0 w 4"/>
                <a:gd name="T47" fmla="*/ 12 h 17"/>
                <a:gd name="T48" fmla="*/ 0 w 4"/>
                <a:gd name="T49" fmla="*/ 12 h 17"/>
                <a:gd name="T50" fmla="*/ 0 w 4"/>
                <a:gd name="T51" fmla="*/ 6 h 17"/>
                <a:gd name="T52" fmla="*/ 0 w 4"/>
                <a:gd name="T53" fmla="*/ 6 h 17"/>
                <a:gd name="T54" fmla="*/ 0 w 4"/>
                <a:gd name="T55" fmla="*/ 6 h 17"/>
                <a:gd name="T56" fmla="*/ 0 w 4"/>
                <a:gd name="T57" fmla="*/ 6 h 17"/>
                <a:gd name="T58" fmla="*/ 0 w 4"/>
                <a:gd name="T59" fmla="*/ 6 h 17"/>
                <a:gd name="T60" fmla="*/ 0 w 4"/>
                <a:gd name="T61" fmla="*/ 6 h 17"/>
                <a:gd name="T62" fmla="*/ 0 w 4"/>
                <a:gd name="T63" fmla="*/ 6 h 17"/>
                <a:gd name="T64" fmla="*/ 0 w 4"/>
                <a:gd name="T65" fmla="*/ 6 h 17"/>
                <a:gd name="T66" fmla="*/ 0 w 4"/>
                <a:gd name="T67" fmla="*/ 6 h 17"/>
                <a:gd name="T68" fmla="*/ 0 w 4"/>
                <a:gd name="T69" fmla="*/ 6 h 17"/>
                <a:gd name="T70" fmla="*/ 0 w 4"/>
                <a:gd name="T71" fmla="*/ 6 h 17"/>
                <a:gd name="T72" fmla="*/ 4 w 4"/>
                <a:gd name="T73" fmla="*/ 6 h 17"/>
                <a:gd name="T74" fmla="*/ 4 w 4"/>
                <a:gd name="T75" fmla="*/ 6 h 17"/>
                <a:gd name="T76" fmla="*/ 4 w 4"/>
                <a:gd name="T77" fmla="*/ 6 h 17"/>
                <a:gd name="T78" fmla="*/ 4 w 4"/>
                <a:gd name="T79" fmla="*/ 6 h 17"/>
                <a:gd name="T80" fmla="*/ 4 w 4"/>
                <a:gd name="T81" fmla="*/ 0 h 17"/>
                <a:gd name="T82" fmla="*/ 4 w 4"/>
                <a:gd name="T83" fmla="*/ 0 h 17"/>
                <a:gd name="T84" fmla="*/ 4 w 4"/>
                <a:gd name="T85" fmla="*/ 0 h 17"/>
                <a:gd name="T86" fmla="*/ 4 w 4"/>
                <a:gd name="T87" fmla="*/ 0 h 17"/>
                <a:gd name="T88" fmla="*/ 4 w 4"/>
                <a:gd name="T89" fmla="*/ 0 h 17"/>
                <a:gd name="T90" fmla="*/ 4 w 4"/>
                <a:gd name="T91" fmla="*/ 0 h 17"/>
                <a:gd name="T92" fmla="*/ 4 w 4"/>
                <a:gd name="T93" fmla="*/ 0 h 17"/>
                <a:gd name="T94" fmla="*/ 4 w 4"/>
                <a:gd name="T95" fmla="*/ 0 h 17"/>
                <a:gd name="T96" fmla="*/ 4 w 4"/>
                <a:gd name="T97" fmla="*/ 0 h 17"/>
                <a:gd name="T98" fmla="*/ 4 w 4"/>
                <a:gd name="T99" fmla="*/ 0 h 17"/>
                <a:gd name="T100" fmla="*/ 4 w 4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17"/>
                <a:gd name="T155" fmla="*/ 4 w 4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17">
                  <a:moveTo>
                    <a:pt x="0" y="17"/>
                  </a:moveTo>
                  <a:lnTo>
                    <a:pt x="0" y="17"/>
                  </a:lnTo>
                  <a:lnTo>
                    <a:pt x="0" y="12"/>
                  </a:lnTo>
                  <a:lnTo>
                    <a:pt x="0" y="6"/>
                  </a:lnTo>
                  <a:lnTo>
                    <a:pt x="4" y="6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9" name="Freeform 96"/>
            <p:cNvSpPr>
              <a:spLocks/>
            </p:cNvSpPr>
            <p:nvPr/>
          </p:nvSpPr>
          <p:spPr bwMode="auto">
            <a:xfrm>
              <a:off x="4782" y="2971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1 h 17"/>
                <a:gd name="T12" fmla="*/ 0 w 5"/>
                <a:gd name="T13" fmla="*/ 11 h 17"/>
                <a:gd name="T14" fmla="*/ 0 w 5"/>
                <a:gd name="T15" fmla="*/ 11 h 17"/>
                <a:gd name="T16" fmla="*/ 0 w 5"/>
                <a:gd name="T17" fmla="*/ 11 h 17"/>
                <a:gd name="T18" fmla="*/ 0 w 5"/>
                <a:gd name="T19" fmla="*/ 11 h 17"/>
                <a:gd name="T20" fmla="*/ 0 w 5"/>
                <a:gd name="T21" fmla="*/ 11 h 17"/>
                <a:gd name="T22" fmla="*/ 0 w 5"/>
                <a:gd name="T23" fmla="*/ 11 h 17"/>
                <a:gd name="T24" fmla="*/ 0 w 5"/>
                <a:gd name="T25" fmla="*/ 11 h 17"/>
                <a:gd name="T26" fmla="*/ 0 w 5"/>
                <a:gd name="T27" fmla="*/ 11 h 17"/>
                <a:gd name="T28" fmla="*/ 0 w 5"/>
                <a:gd name="T29" fmla="*/ 11 h 17"/>
                <a:gd name="T30" fmla="*/ 0 w 5"/>
                <a:gd name="T31" fmla="*/ 11 h 17"/>
                <a:gd name="T32" fmla="*/ 0 w 5"/>
                <a:gd name="T33" fmla="*/ 11 h 17"/>
                <a:gd name="T34" fmla="*/ 0 w 5"/>
                <a:gd name="T35" fmla="*/ 11 h 17"/>
                <a:gd name="T36" fmla="*/ 0 w 5"/>
                <a:gd name="T37" fmla="*/ 11 h 17"/>
                <a:gd name="T38" fmla="*/ 0 w 5"/>
                <a:gd name="T39" fmla="*/ 11 h 17"/>
                <a:gd name="T40" fmla="*/ 0 w 5"/>
                <a:gd name="T41" fmla="*/ 11 h 17"/>
                <a:gd name="T42" fmla="*/ 0 w 5"/>
                <a:gd name="T43" fmla="*/ 6 h 17"/>
                <a:gd name="T44" fmla="*/ 0 w 5"/>
                <a:gd name="T45" fmla="*/ 6 h 17"/>
                <a:gd name="T46" fmla="*/ 0 w 5"/>
                <a:gd name="T47" fmla="*/ 6 h 17"/>
                <a:gd name="T48" fmla="*/ 0 w 5"/>
                <a:gd name="T49" fmla="*/ 6 h 17"/>
                <a:gd name="T50" fmla="*/ 0 w 5"/>
                <a:gd name="T51" fmla="*/ 6 h 17"/>
                <a:gd name="T52" fmla="*/ 5 w 5"/>
                <a:gd name="T53" fmla="*/ 6 h 17"/>
                <a:gd name="T54" fmla="*/ 5 w 5"/>
                <a:gd name="T55" fmla="*/ 6 h 17"/>
                <a:gd name="T56" fmla="*/ 5 w 5"/>
                <a:gd name="T57" fmla="*/ 6 h 17"/>
                <a:gd name="T58" fmla="*/ 5 w 5"/>
                <a:gd name="T59" fmla="*/ 6 h 17"/>
                <a:gd name="T60" fmla="*/ 5 w 5"/>
                <a:gd name="T61" fmla="*/ 6 h 17"/>
                <a:gd name="T62" fmla="*/ 5 w 5"/>
                <a:gd name="T63" fmla="*/ 6 h 17"/>
                <a:gd name="T64" fmla="*/ 5 w 5"/>
                <a:gd name="T65" fmla="*/ 6 h 17"/>
                <a:gd name="T66" fmla="*/ 5 w 5"/>
                <a:gd name="T67" fmla="*/ 6 h 17"/>
                <a:gd name="T68" fmla="*/ 5 w 5"/>
                <a:gd name="T69" fmla="*/ 6 h 17"/>
                <a:gd name="T70" fmla="*/ 5 w 5"/>
                <a:gd name="T71" fmla="*/ 6 h 17"/>
                <a:gd name="T72" fmla="*/ 5 w 5"/>
                <a:gd name="T73" fmla="*/ 6 h 17"/>
                <a:gd name="T74" fmla="*/ 5 w 5"/>
                <a:gd name="T75" fmla="*/ 0 h 17"/>
                <a:gd name="T76" fmla="*/ 5 w 5"/>
                <a:gd name="T77" fmla="*/ 0 h 17"/>
                <a:gd name="T78" fmla="*/ 5 w 5"/>
                <a:gd name="T79" fmla="*/ 0 h 17"/>
                <a:gd name="T80" fmla="*/ 5 w 5"/>
                <a:gd name="T81" fmla="*/ 0 h 17"/>
                <a:gd name="T82" fmla="*/ 5 w 5"/>
                <a:gd name="T83" fmla="*/ 0 h 17"/>
                <a:gd name="T84" fmla="*/ 5 w 5"/>
                <a:gd name="T85" fmla="*/ 0 h 17"/>
                <a:gd name="T86" fmla="*/ 5 w 5"/>
                <a:gd name="T87" fmla="*/ 0 h 17"/>
                <a:gd name="T88" fmla="*/ 5 w 5"/>
                <a:gd name="T89" fmla="*/ 0 h 17"/>
                <a:gd name="T90" fmla="*/ 5 w 5"/>
                <a:gd name="T91" fmla="*/ 0 h 17"/>
                <a:gd name="T92" fmla="*/ 5 w 5"/>
                <a:gd name="T93" fmla="*/ 0 h 17"/>
                <a:gd name="T94" fmla="*/ 5 w 5"/>
                <a:gd name="T95" fmla="*/ 0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0" name="Freeform 97"/>
            <p:cNvSpPr>
              <a:spLocks/>
            </p:cNvSpPr>
            <p:nvPr/>
          </p:nvSpPr>
          <p:spPr bwMode="auto">
            <a:xfrm>
              <a:off x="4787" y="2954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1 h 17"/>
                <a:gd name="T10" fmla="*/ 0 w 5"/>
                <a:gd name="T11" fmla="*/ 11 h 17"/>
                <a:gd name="T12" fmla="*/ 0 w 5"/>
                <a:gd name="T13" fmla="*/ 11 h 17"/>
                <a:gd name="T14" fmla="*/ 0 w 5"/>
                <a:gd name="T15" fmla="*/ 11 h 17"/>
                <a:gd name="T16" fmla="*/ 0 w 5"/>
                <a:gd name="T17" fmla="*/ 11 h 17"/>
                <a:gd name="T18" fmla="*/ 0 w 5"/>
                <a:gd name="T19" fmla="*/ 11 h 17"/>
                <a:gd name="T20" fmla="*/ 0 w 5"/>
                <a:gd name="T21" fmla="*/ 11 h 17"/>
                <a:gd name="T22" fmla="*/ 0 w 5"/>
                <a:gd name="T23" fmla="*/ 11 h 17"/>
                <a:gd name="T24" fmla="*/ 0 w 5"/>
                <a:gd name="T25" fmla="*/ 11 h 17"/>
                <a:gd name="T26" fmla="*/ 0 w 5"/>
                <a:gd name="T27" fmla="*/ 11 h 17"/>
                <a:gd name="T28" fmla="*/ 0 w 5"/>
                <a:gd name="T29" fmla="*/ 11 h 17"/>
                <a:gd name="T30" fmla="*/ 0 w 5"/>
                <a:gd name="T31" fmla="*/ 11 h 17"/>
                <a:gd name="T32" fmla="*/ 0 w 5"/>
                <a:gd name="T33" fmla="*/ 11 h 17"/>
                <a:gd name="T34" fmla="*/ 5 w 5"/>
                <a:gd name="T35" fmla="*/ 11 h 17"/>
                <a:gd name="T36" fmla="*/ 5 w 5"/>
                <a:gd name="T37" fmla="*/ 11 h 17"/>
                <a:gd name="T38" fmla="*/ 5 w 5"/>
                <a:gd name="T39" fmla="*/ 11 h 17"/>
                <a:gd name="T40" fmla="*/ 5 w 5"/>
                <a:gd name="T41" fmla="*/ 11 h 17"/>
                <a:gd name="T42" fmla="*/ 5 w 5"/>
                <a:gd name="T43" fmla="*/ 11 h 17"/>
                <a:gd name="T44" fmla="*/ 5 w 5"/>
                <a:gd name="T45" fmla="*/ 6 h 17"/>
                <a:gd name="T46" fmla="*/ 5 w 5"/>
                <a:gd name="T47" fmla="*/ 6 h 17"/>
                <a:gd name="T48" fmla="*/ 5 w 5"/>
                <a:gd name="T49" fmla="*/ 6 h 17"/>
                <a:gd name="T50" fmla="*/ 5 w 5"/>
                <a:gd name="T51" fmla="*/ 6 h 17"/>
                <a:gd name="T52" fmla="*/ 5 w 5"/>
                <a:gd name="T53" fmla="*/ 6 h 17"/>
                <a:gd name="T54" fmla="*/ 5 w 5"/>
                <a:gd name="T55" fmla="*/ 6 h 17"/>
                <a:gd name="T56" fmla="*/ 5 w 5"/>
                <a:gd name="T57" fmla="*/ 6 h 17"/>
                <a:gd name="T58" fmla="*/ 5 w 5"/>
                <a:gd name="T59" fmla="*/ 6 h 17"/>
                <a:gd name="T60" fmla="*/ 5 w 5"/>
                <a:gd name="T61" fmla="*/ 6 h 17"/>
                <a:gd name="T62" fmla="*/ 5 w 5"/>
                <a:gd name="T63" fmla="*/ 6 h 17"/>
                <a:gd name="T64" fmla="*/ 5 w 5"/>
                <a:gd name="T65" fmla="*/ 6 h 17"/>
                <a:gd name="T66" fmla="*/ 5 w 5"/>
                <a:gd name="T67" fmla="*/ 6 h 17"/>
                <a:gd name="T68" fmla="*/ 5 w 5"/>
                <a:gd name="T69" fmla="*/ 6 h 17"/>
                <a:gd name="T70" fmla="*/ 5 w 5"/>
                <a:gd name="T71" fmla="*/ 6 h 17"/>
                <a:gd name="T72" fmla="*/ 5 w 5"/>
                <a:gd name="T73" fmla="*/ 6 h 17"/>
                <a:gd name="T74" fmla="*/ 5 w 5"/>
                <a:gd name="T75" fmla="*/ 6 h 17"/>
                <a:gd name="T76" fmla="*/ 5 w 5"/>
                <a:gd name="T77" fmla="*/ 6 h 17"/>
                <a:gd name="T78" fmla="*/ 5 w 5"/>
                <a:gd name="T79" fmla="*/ 6 h 17"/>
                <a:gd name="T80" fmla="*/ 5 w 5"/>
                <a:gd name="T81" fmla="*/ 6 h 17"/>
                <a:gd name="T82" fmla="*/ 5 w 5"/>
                <a:gd name="T83" fmla="*/ 0 h 17"/>
                <a:gd name="T84" fmla="*/ 5 w 5"/>
                <a:gd name="T85" fmla="*/ 0 h 17"/>
                <a:gd name="T86" fmla="*/ 5 w 5"/>
                <a:gd name="T87" fmla="*/ 0 h 17"/>
                <a:gd name="T88" fmla="*/ 5 w 5"/>
                <a:gd name="T89" fmla="*/ 0 h 17"/>
                <a:gd name="T90" fmla="*/ 5 w 5"/>
                <a:gd name="T91" fmla="*/ 0 h 17"/>
                <a:gd name="T92" fmla="*/ 5 w 5"/>
                <a:gd name="T93" fmla="*/ 0 h 17"/>
                <a:gd name="T94" fmla="*/ 5 w 5"/>
                <a:gd name="T95" fmla="*/ 0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1" name="Freeform 98"/>
            <p:cNvSpPr>
              <a:spLocks/>
            </p:cNvSpPr>
            <p:nvPr/>
          </p:nvSpPr>
          <p:spPr bwMode="auto">
            <a:xfrm>
              <a:off x="4792" y="2943"/>
              <a:ext cx="9" cy="11"/>
            </a:xfrm>
            <a:custGeom>
              <a:avLst/>
              <a:gdLst>
                <a:gd name="T0" fmla="*/ 0 w 9"/>
                <a:gd name="T1" fmla="*/ 11 h 11"/>
                <a:gd name="T2" fmla="*/ 0 w 9"/>
                <a:gd name="T3" fmla="*/ 11 h 11"/>
                <a:gd name="T4" fmla="*/ 0 w 9"/>
                <a:gd name="T5" fmla="*/ 11 h 11"/>
                <a:gd name="T6" fmla="*/ 0 w 9"/>
                <a:gd name="T7" fmla="*/ 11 h 11"/>
                <a:gd name="T8" fmla="*/ 0 w 9"/>
                <a:gd name="T9" fmla="*/ 11 h 11"/>
                <a:gd name="T10" fmla="*/ 0 w 9"/>
                <a:gd name="T11" fmla="*/ 11 h 11"/>
                <a:gd name="T12" fmla="*/ 0 w 9"/>
                <a:gd name="T13" fmla="*/ 11 h 11"/>
                <a:gd name="T14" fmla="*/ 0 w 9"/>
                <a:gd name="T15" fmla="*/ 11 h 11"/>
                <a:gd name="T16" fmla="*/ 5 w 9"/>
                <a:gd name="T17" fmla="*/ 11 h 11"/>
                <a:gd name="T18" fmla="*/ 5 w 9"/>
                <a:gd name="T19" fmla="*/ 11 h 11"/>
                <a:gd name="T20" fmla="*/ 5 w 9"/>
                <a:gd name="T21" fmla="*/ 11 h 11"/>
                <a:gd name="T22" fmla="*/ 5 w 9"/>
                <a:gd name="T23" fmla="*/ 5 h 11"/>
                <a:gd name="T24" fmla="*/ 5 w 9"/>
                <a:gd name="T25" fmla="*/ 5 h 11"/>
                <a:gd name="T26" fmla="*/ 5 w 9"/>
                <a:gd name="T27" fmla="*/ 5 h 11"/>
                <a:gd name="T28" fmla="*/ 5 w 9"/>
                <a:gd name="T29" fmla="*/ 5 h 11"/>
                <a:gd name="T30" fmla="*/ 5 w 9"/>
                <a:gd name="T31" fmla="*/ 5 h 11"/>
                <a:gd name="T32" fmla="*/ 5 w 9"/>
                <a:gd name="T33" fmla="*/ 5 h 11"/>
                <a:gd name="T34" fmla="*/ 5 w 9"/>
                <a:gd name="T35" fmla="*/ 5 h 11"/>
                <a:gd name="T36" fmla="*/ 5 w 9"/>
                <a:gd name="T37" fmla="*/ 5 h 11"/>
                <a:gd name="T38" fmla="*/ 5 w 9"/>
                <a:gd name="T39" fmla="*/ 5 h 11"/>
                <a:gd name="T40" fmla="*/ 5 w 9"/>
                <a:gd name="T41" fmla="*/ 5 h 11"/>
                <a:gd name="T42" fmla="*/ 5 w 9"/>
                <a:gd name="T43" fmla="*/ 5 h 11"/>
                <a:gd name="T44" fmla="*/ 5 w 9"/>
                <a:gd name="T45" fmla="*/ 5 h 11"/>
                <a:gd name="T46" fmla="*/ 5 w 9"/>
                <a:gd name="T47" fmla="*/ 5 h 11"/>
                <a:gd name="T48" fmla="*/ 5 w 9"/>
                <a:gd name="T49" fmla="*/ 5 h 11"/>
                <a:gd name="T50" fmla="*/ 5 w 9"/>
                <a:gd name="T51" fmla="*/ 5 h 11"/>
                <a:gd name="T52" fmla="*/ 5 w 9"/>
                <a:gd name="T53" fmla="*/ 5 h 11"/>
                <a:gd name="T54" fmla="*/ 5 w 9"/>
                <a:gd name="T55" fmla="*/ 5 h 11"/>
                <a:gd name="T56" fmla="*/ 5 w 9"/>
                <a:gd name="T57" fmla="*/ 5 h 11"/>
                <a:gd name="T58" fmla="*/ 5 w 9"/>
                <a:gd name="T59" fmla="*/ 5 h 11"/>
                <a:gd name="T60" fmla="*/ 5 w 9"/>
                <a:gd name="T61" fmla="*/ 5 h 11"/>
                <a:gd name="T62" fmla="*/ 5 w 9"/>
                <a:gd name="T63" fmla="*/ 5 h 11"/>
                <a:gd name="T64" fmla="*/ 5 w 9"/>
                <a:gd name="T65" fmla="*/ 5 h 11"/>
                <a:gd name="T66" fmla="*/ 5 w 9"/>
                <a:gd name="T67" fmla="*/ 0 h 11"/>
                <a:gd name="T68" fmla="*/ 5 w 9"/>
                <a:gd name="T69" fmla="*/ 0 h 11"/>
                <a:gd name="T70" fmla="*/ 5 w 9"/>
                <a:gd name="T71" fmla="*/ 0 h 11"/>
                <a:gd name="T72" fmla="*/ 5 w 9"/>
                <a:gd name="T73" fmla="*/ 0 h 11"/>
                <a:gd name="T74" fmla="*/ 5 w 9"/>
                <a:gd name="T75" fmla="*/ 0 h 11"/>
                <a:gd name="T76" fmla="*/ 5 w 9"/>
                <a:gd name="T77" fmla="*/ 0 h 11"/>
                <a:gd name="T78" fmla="*/ 5 w 9"/>
                <a:gd name="T79" fmla="*/ 0 h 11"/>
                <a:gd name="T80" fmla="*/ 5 w 9"/>
                <a:gd name="T81" fmla="*/ 0 h 11"/>
                <a:gd name="T82" fmla="*/ 5 w 9"/>
                <a:gd name="T83" fmla="*/ 0 h 11"/>
                <a:gd name="T84" fmla="*/ 5 w 9"/>
                <a:gd name="T85" fmla="*/ 0 h 11"/>
                <a:gd name="T86" fmla="*/ 5 w 9"/>
                <a:gd name="T87" fmla="*/ 0 h 11"/>
                <a:gd name="T88" fmla="*/ 5 w 9"/>
                <a:gd name="T89" fmla="*/ 0 h 11"/>
                <a:gd name="T90" fmla="*/ 5 w 9"/>
                <a:gd name="T91" fmla="*/ 0 h 11"/>
                <a:gd name="T92" fmla="*/ 5 w 9"/>
                <a:gd name="T93" fmla="*/ 0 h 11"/>
                <a:gd name="T94" fmla="*/ 5 w 9"/>
                <a:gd name="T95" fmla="*/ 0 h 11"/>
                <a:gd name="T96" fmla="*/ 9 w 9"/>
                <a:gd name="T97" fmla="*/ 0 h 11"/>
                <a:gd name="T98" fmla="*/ 9 w 9"/>
                <a:gd name="T99" fmla="*/ 0 h 11"/>
                <a:gd name="T100" fmla="*/ 9 w 9"/>
                <a:gd name="T101" fmla="*/ 0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1"/>
                <a:gd name="T155" fmla="*/ 9 w 9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1">
                  <a:moveTo>
                    <a:pt x="0" y="11"/>
                  </a:moveTo>
                  <a:lnTo>
                    <a:pt x="0" y="11"/>
                  </a:lnTo>
                  <a:lnTo>
                    <a:pt x="5" y="11"/>
                  </a:lnTo>
                  <a:lnTo>
                    <a:pt x="5" y="5"/>
                  </a:lnTo>
                  <a:lnTo>
                    <a:pt x="5" y="0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2" name="Freeform 99"/>
            <p:cNvSpPr>
              <a:spLocks/>
            </p:cNvSpPr>
            <p:nvPr/>
          </p:nvSpPr>
          <p:spPr bwMode="auto">
            <a:xfrm>
              <a:off x="4801" y="2931"/>
              <a:ext cx="5" cy="12"/>
            </a:xfrm>
            <a:custGeom>
              <a:avLst/>
              <a:gdLst>
                <a:gd name="T0" fmla="*/ 0 w 5"/>
                <a:gd name="T1" fmla="*/ 12 h 12"/>
                <a:gd name="T2" fmla="*/ 0 w 5"/>
                <a:gd name="T3" fmla="*/ 12 h 12"/>
                <a:gd name="T4" fmla="*/ 0 w 5"/>
                <a:gd name="T5" fmla="*/ 12 h 12"/>
                <a:gd name="T6" fmla="*/ 0 w 5"/>
                <a:gd name="T7" fmla="*/ 12 h 12"/>
                <a:gd name="T8" fmla="*/ 0 w 5"/>
                <a:gd name="T9" fmla="*/ 12 h 12"/>
                <a:gd name="T10" fmla="*/ 0 w 5"/>
                <a:gd name="T11" fmla="*/ 12 h 12"/>
                <a:gd name="T12" fmla="*/ 0 w 5"/>
                <a:gd name="T13" fmla="*/ 12 h 12"/>
                <a:gd name="T14" fmla="*/ 0 w 5"/>
                <a:gd name="T15" fmla="*/ 6 h 12"/>
                <a:gd name="T16" fmla="*/ 0 w 5"/>
                <a:gd name="T17" fmla="*/ 6 h 12"/>
                <a:gd name="T18" fmla="*/ 0 w 5"/>
                <a:gd name="T19" fmla="*/ 6 h 12"/>
                <a:gd name="T20" fmla="*/ 0 w 5"/>
                <a:gd name="T21" fmla="*/ 6 h 12"/>
                <a:gd name="T22" fmla="*/ 0 w 5"/>
                <a:gd name="T23" fmla="*/ 6 h 12"/>
                <a:gd name="T24" fmla="*/ 0 w 5"/>
                <a:gd name="T25" fmla="*/ 6 h 12"/>
                <a:gd name="T26" fmla="*/ 0 w 5"/>
                <a:gd name="T27" fmla="*/ 6 h 12"/>
                <a:gd name="T28" fmla="*/ 0 w 5"/>
                <a:gd name="T29" fmla="*/ 6 h 12"/>
                <a:gd name="T30" fmla="*/ 0 w 5"/>
                <a:gd name="T31" fmla="*/ 6 h 12"/>
                <a:gd name="T32" fmla="*/ 0 w 5"/>
                <a:gd name="T33" fmla="*/ 6 h 12"/>
                <a:gd name="T34" fmla="*/ 0 w 5"/>
                <a:gd name="T35" fmla="*/ 6 h 12"/>
                <a:gd name="T36" fmla="*/ 0 w 5"/>
                <a:gd name="T37" fmla="*/ 6 h 12"/>
                <a:gd name="T38" fmla="*/ 0 w 5"/>
                <a:gd name="T39" fmla="*/ 6 h 12"/>
                <a:gd name="T40" fmla="*/ 0 w 5"/>
                <a:gd name="T41" fmla="*/ 6 h 12"/>
                <a:gd name="T42" fmla="*/ 0 w 5"/>
                <a:gd name="T43" fmla="*/ 6 h 12"/>
                <a:gd name="T44" fmla="*/ 0 w 5"/>
                <a:gd name="T45" fmla="*/ 6 h 12"/>
                <a:gd name="T46" fmla="*/ 0 w 5"/>
                <a:gd name="T47" fmla="*/ 6 h 12"/>
                <a:gd name="T48" fmla="*/ 0 w 5"/>
                <a:gd name="T49" fmla="*/ 6 h 12"/>
                <a:gd name="T50" fmla="*/ 0 w 5"/>
                <a:gd name="T51" fmla="*/ 6 h 12"/>
                <a:gd name="T52" fmla="*/ 0 w 5"/>
                <a:gd name="T53" fmla="*/ 6 h 12"/>
                <a:gd name="T54" fmla="*/ 0 w 5"/>
                <a:gd name="T55" fmla="*/ 6 h 12"/>
                <a:gd name="T56" fmla="*/ 0 w 5"/>
                <a:gd name="T57" fmla="*/ 6 h 12"/>
                <a:gd name="T58" fmla="*/ 0 w 5"/>
                <a:gd name="T59" fmla="*/ 6 h 12"/>
                <a:gd name="T60" fmla="*/ 0 w 5"/>
                <a:gd name="T61" fmla="*/ 6 h 12"/>
                <a:gd name="T62" fmla="*/ 0 w 5"/>
                <a:gd name="T63" fmla="*/ 6 h 12"/>
                <a:gd name="T64" fmla="*/ 0 w 5"/>
                <a:gd name="T65" fmla="*/ 6 h 12"/>
                <a:gd name="T66" fmla="*/ 0 w 5"/>
                <a:gd name="T67" fmla="*/ 6 h 12"/>
                <a:gd name="T68" fmla="*/ 0 w 5"/>
                <a:gd name="T69" fmla="*/ 0 h 12"/>
                <a:gd name="T70" fmla="*/ 0 w 5"/>
                <a:gd name="T71" fmla="*/ 0 h 12"/>
                <a:gd name="T72" fmla="*/ 0 w 5"/>
                <a:gd name="T73" fmla="*/ 0 h 12"/>
                <a:gd name="T74" fmla="*/ 0 w 5"/>
                <a:gd name="T75" fmla="*/ 0 h 12"/>
                <a:gd name="T76" fmla="*/ 0 w 5"/>
                <a:gd name="T77" fmla="*/ 0 h 12"/>
                <a:gd name="T78" fmla="*/ 5 w 5"/>
                <a:gd name="T79" fmla="*/ 0 h 12"/>
                <a:gd name="T80" fmla="*/ 5 w 5"/>
                <a:gd name="T81" fmla="*/ 0 h 12"/>
                <a:gd name="T82" fmla="*/ 5 w 5"/>
                <a:gd name="T83" fmla="*/ 0 h 12"/>
                <a:gd name="T84" fmla="*/ 5 w 5"/>
                <a:gd name="T85" fmla="*/ 0 h 12"/>
                <a:gd name="T86" fmla="*/ 5 w 5"/>
                <a:gd name="T87" fmla="*/ 0 h 12"/>
                <a:gd name="T88" fmla="*/ 5 w 5"/>
                <a:gd name="T89" fmla="*/ 0 h 12"/>
                <a:gd name="T90" fmla="*/ 5 w 5"/>
                <a:gd name="T91" fmla="*/ 0 h 12"/>
                <a:gd name="T92" fmla="*/ 5 w 5"/>
                <a:gd name="T93" fmla="*/ 0 h 12"/>
                <a:gd name="T94" fmla="*/ 5 w 5"/>
                <a:gd name="T95" fmla="*/ 0 h 12"/>
                <a:gd name="T96" fmla="*/ 5 w 5"/>
                <a:gd name="T97" fmla="*/ 0 h 12"/>
                <a:gd name="T98" fmla="*/ 5 w 5"/>
                <a:gd name="T99" fmla="*/ 0 h 12"/>
                <a:gd name="T100" fmla="*/ 5 w 5"/>
                <a:gd name="T101" fmla="*/ 0 h 1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2"/>
                <a:gd name="T155" fmla="*/ 5 w 5"/>
                <a:gd name="T156" fmla="*/ 12 h 1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2">
                  <a:moveTo>
                    <a:pt x="0" y="12"/>
                  </a:moveTo>
                  <a:lnTo>
                    <a:pt x="0" y="12"/>
                  </a:lnTo>
                  <a:lnTo>
                    <a:pt x="0" y="6"/>
                  </a:ln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3" name="Freeform 100"/>
            <p:cNvSpPr>
              <a:spLocks/>
            </p:cNvSpPr>
            <p:nvPr/>
          </p:nvSpPr>
          <p:spPr bwMode="auto">
            <a:xfrm>
              <a:off x="4806" y="2926"/>
              <a:ext cx="5" cy="5"/>
            </a:xfrm>
            <a:custGeom>
              <a:avLst/>
              <a:gdLst>
                <a:gd name="T0" fmla="*/ 0 w 5"/>
                <a:gd name="T1" fmla="*/ 5 h 5"/>
                <a:gd name="T2" fmla="*/ 0 w 5"/>
                <a:gd name="T3" fmla="*/ 5 h 5"/>
                <a:gd name="T4" fmla="*/ 0 w 5"/>
                <a:gd name="T5" fmla="*/ 5 h 5"/>
                <a:gd name="T6" fmla="*/ 0 w 5"/>
                <a:gd name="T7" fmla="*/ 5 h 5"/>
                <a:gd name="T8" fmla="*/ 0 w 5"/>
                <a:gd name="T9" fmla="*/ 5 h 5"/>
                <a:gd name="T10" fmla="*/ 0 w 5"/>
                <a:gd name="T11" fmla="*/ 5 h 5"/>
                <a:gd name="T12" fmla="*/ 0 w 5"/>
                <a:gd name="T13" fmla="*/ 5 h 5"/>
                <a:gd name="T14" fmla="*/ 0 w 5"/>
                <a:gd name="T15" fmla="*/ 5 h 5"/>
                <a:gd name="T16" fmla="*/ 0 w 5"/>
                <a:gd name="T17" fmla="*/ 5 h 5"/>
                <a:gd name="T18" fmla="*/ 0 w 5"/>
                <a:gd name="T19" fmla="*/ 5 h 5"/>
                <a:gd name="T20" fmla="*/ 0 w 5"/>
                <a:gd name="T21" fmla="*/ 5 h 5"/>
                <a:gd name="T22" fmla="*/ 0 w 5"/>
                <a:gd name="T23" fmla="*/ 5 h 5"/>
                <a:gd name="T24" fmla="*/ 0 w 5"/>
                <a:gd name="T25" fmla="*/ 5 h 5"/>
                <a:gd name="T26" fmla="*/ 0 w 5"/>
                <a:gd name="T27" fmla="*/ 5 h 5"/>
                <a:gd name="T28" fmla="*/ 0 w 5"/>
                <a:gd name="T29" fmla="*/ 5 h 5"/>
                <a:gd name="T30" fmla="*/ 0 w 5"/>
                <a:gd name="T31" fmla="*/ 0 h 5"/>
                <a:gd name="T32" fmla="*/ 0 w 5"/>
                <a:gd name="T33" fmla="*/ 0 h 5"/>
                <a:gd name="T34" fmla="*/ 0 w 5"/>
                <a:gd name="T35" fmla="*/ 0 h 5"/>
                <a:gd name="T36" fmla="*/ 0 w 5"/>
                <a:gd name="T37" fmla="*/ 0 h 5"/>
                <a:gd name="T38" fmla="*/ 0 w 5"/>
                <a:gd name="T39" fmla="*/ 0 h 5"/>
                <a:gd name="T40" fmla="*/ 0 w 5"/>
                <a:gd name="T41" fmla="*/ 0 h 5"/>
                <a:gd name="T42" fmla="*/ 0 w 5"/>
                <a:gd name="T43" fmla="*/ 0 h 5"/>
                <a:gd name="T44" fmla="*/ 0 w 5"/>
                <a:gd name="T45" fmla="*/ 0 h 5"/>
                <a:gd name="T46" fmla="*/ 0 w 5"/>
                <a:gd name="T47" fmla="*/ 0 h 5"/>
                <a:gd name="T48" fmla="*/ 0 w 5"/>
                <a:gd name="T49" fmla="*/ 0 h 5"/>
                <a:gd name="T50" fmla="*/ 0 w 5"/>
                <a:gd name="T51" fmla="*/ 0 h 5"/>
                <a:gd name="T52" fmla="*/ 0 w 5"/>
                <a:gd name="T53" fmla="*/ 0 h 5"/>
                <a:gd name="T54" fmla="*/ 0 w 5"/>
                <a:gd name="T55" fmla="*/ 0 h 5"/>
                <a:gd name="T56" fmla="*/ 0 w 5"/>
                <a:gd name="T57" fmla="*/ 0 h 5"/>
                <a:gd name="T58" fmla="*/ 5 w 5"/>
                <a:gd name="T59" fmla="*/ 0 h 5"/>
                <a:gd name="T60" fmla="*/ 5 w 5"/>
                <a:gd name="T61" fmla="*/ 0 h 5"/>
                <a:gd name="T62" fmla="*/ 5 w 5"/>
                <a:gd name="T63" fmla="*/ 0 h 5"/>
                <a:gd name="T64" fmla="*/ 5 w 5"/>
                <a:gd name="T65" fmla="*/ 0 h 5"/>
                <a:gd name="T66" fmla="*/ 5 w 5"/>
                <a:gd name="T67" fmla="*/ 0 h 5"/>
                <a:gd name="T68" fmla="*/ 5 w 5"/>
                <a:gd name="T69" fmla="*/ 0 h 5"/>
                <a:gd name="T70" fmla="*/ 5 w 5"/>
                <a:gd name="T71" fmla="*/ 0 h 5"/>
                <a:gd name="T72" fmla="*/ 5 w 5"/>
                <a:gd name="T73" fmla="*/ 0 h 5"/>
                <a:gd name="T74" fmla="*/ 5 w 5"/>
                <a:gd name="T75" fmla="*/ 0 h 5"/>
                <a:gd name="T76" fmla="*/ 5 w 5"/>
                <a:gd name="T77" fmla="*/ 0 h 5"/>
                <a:gd name="T78" fmla="*/ 5 w 5"/>
                <a:gd name="T79" fmla="*/ 0 h 5"/>
                <a:gd name="T80" fmla="*/ 5 w 5"/>
                <a:gd name="T81" fmla="*/ 0 h 5"/>
                <a:gd name="T82" fmla="*/ 5 w 5"/>
                <a:gd name="T83" fmla="*/ 0 h 5"/>
                <a:gd name="T84" fmla="*/ 5 w 5"/>
                <a:gd name="T85" fmla="*/ 0 h 5"/>
                <a:gd name="T86" fmla="*/ 5 w 5"/>
                <a:gd name="T87" fmla="*/ 0 h 5"/>
                <a:gd name="T88" fmla="*/ 5 w 5"/>
                <a:gd name="T89" fmla="*/ 0 h 5"/>
                <a:gd name="T90" fmla="*/ 5 w 5"/>
                <a:gd name="T91" fmla="*/ 0 h 5"/>
                <a:gd name="T92" fmla="*/ 5 w 5"/>
                <a:gd name="T93" fmla="*/ 0 h 5"/>
                <a:gd name="T94" fmla="*/ 5 w 5"/>
                <a:gd name="T95" fmla="*/ 0 h 5"/>
                <a:gd name="T96" fmla="*/ 5 w 5"/>
                <a:gd name="T97" fmla="*/ 0 h 5"/>
                <a:gd name="T98" fmla="*/ 5 w 5"/>
                <a:gd name="T99" fmla="*/ 0 h 5"/>
                <a:gd name="T100" fmla="*/ 5 w 5"/>
                <a:gd name="T101" fmla="*/ 0 h 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5"/>
                <a:gd name="T155" fmla="*/ 5 w 5"/>
                <a:gd name="T156" fmla="*/ 5 h 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5">
                  <a:moveTo>
                    <a:pt x="0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4" name="Freeform 101"/>
            <p:cNvSpPr>
              <a:spLocks/>
            </p:cNvSpPr>
            <p:nvPr/>
          </p:nvSpPr>
          <p:spPr bwMode="auto">
            <a:xfrm>
              <a:off x="4811" y="2920"/>
              <a:ext cx="5" cy="6"/>
            </a:xfrm>
            <a:custGeom>
              <a:avLst/>
              <a:gdLst>
                <a:gd name="T0" fmla="*/ 0 w 5"/>
                <a:gd name="T1" fmla="*/ 6 h 6"/>
                <a:gd name="T2" fmla="*/ 0 w 5"/>
                <a:gd name="T3" fmla="*/ 6 h 6"/>
                <a:gd name="T4" fmla="*/ 0 w 5"/>
                <a:gd name="T5" fmla="*/ 6 h 6"/>
                <a:gd name="T6" fmla="*/ 0 w 5"/>
                <a:gd name="T7" fmla="*/ 6 h 6"/>
                <a:gd name="T8" fmla="*/ 0 w 5"/>
                <a:gd name="T9" fmla="*/ 6 h 6"/>
                <a:gd name="T10" fmla="*/ 0 w 5"/>
                <a:gd name="T11" fmla="*/ 6 h 6"/>
                <a:gd name="T12" fmla="*/ 0 w 5"/>
                <a:gd name="T13" fmla="*/ 6 h 6"/>
                <a:gd name="T14" fmla="*/ 0 w 5"/>
                <a:gd name="T15" fmla="*/ 0 h 6"/>
                <a:gd name="T16" fmla="*/ 0 w 5"/>
                <a:gd name="T17" fmla="*/ 0 h 6"/>
                <a:gd name="T18" fmla="*/ 0 w 5"/>
                <a:gd name="T19" fmla="*/ 0 h 6"/>
                <a:gd name="T20" fmla="*/ 0 w 5"/>
                <a:gd name="T21" fmla="*/ 0 h 6"/>
                <a:gd name="T22" fmla="*/ 0 w 5"/>
                <a:gd name="T23" fmla="*/ 0 h 6"/>
                <a:gd name="T24" fmla="*/ 0 w 5"/>
                <a:gd name="T25" fmla="*/ 0 h 6"/>
                <a:gd name="T26" fmla="*/ 0 w 5"/>
                <a:gd name="T27" fmla="*/ 0 h 6"/>
                <a:gd name="T28" fmla="*/ 0 w 5"/>
                <a:gd name="T29" fmla="*/ 0 h 6"/>
                <a:gd name="T30" fmla="*/ 0 w 5"/>
                <a:gd name="T31" fmla="*/ 0 h 6"/>
                <a:gd name="T32" fmla="*/ 0 w 5"/>
                <a:gd name="T33" fmla="*/ 0 h 6"/>
                <a:gd name="T34" fmla="*/ 0 w 5"/>
                <a:gd name="T35" fmla="*/ 0 h 6"/>
                <a:gd name="T36" fmla="*/ 0 w 5"/>
                <a:gd name="T37" fmla="*/ 0 h 6"/>
                <a:gd name="T38" fmla="*/ 0 w 5"/>
                <a:gd name="T39" fmla="*/ 0 h 6"/>
                <a:gd name="T40" fmla="*/ 5 w 5"/>
                <a:gd name="T41" fmla="*/ 0 h 6"/>
                <a:gd name="T42" fmla="*/ 5 w 5"/>
                <a:gd name="T43" fmla="*/ 0 h 6"/>
                <a:gd name="T44" fmla="*/ 5 w 5"/>
                <a:gd name="T45" fmla="*/ 0 h 6"/>
                <a:gd name="T46" fmla="*/ 5 w 5"/>
                <a:gd name="T47" fmla="*/ 0 h 6"/>
                <a:gd name="T48" fmla="*/ 5 w 5"/>
                <a:gd name="T49" fmla="*/ 0 h 6"/>
                <a:gd name="T50" fmla="*/ 5 w 5"/>
                <a:gd name="T51" fmla="*/ 0 h 6"/>
                <a:gd name="T52" fmla="*/ 5 w 5"/>
                <a:gd name="T53" fmla="*/ 0 h 6"/>
                <a:gd name="T54" fmla="*/ 5 w 5"/>
                <a:gd name="T55" fmla="*/ 0 h 6"/>
                <a:gd name="T56" fmla="*/ 5 w 5"/>
                <a:gd name="T57" fmla="*/ 0 h 6"/>
                <a:gd name="T58" fmla="*/ 5 w 5"/>
                <a:gd name="T59" fmla="*/ 0 h 6"/>
                <a:gd name="T60" fmla="*/ 5 w 5"/>
                <a:gd name="T61" fmla="*/ 0 h 6"/>
                <a:gd name="T62" fmla="*/ 5 w 5"/>
                <a:gd name="T63" fmla="*/ 0 h 6"/>
                <a:gd name="T64" fmla="*/ 5 w 5"/>
                <a:gd name="T65" fmla="*/ 0 h 6"/>
                <a:gd name="T66" fmla="*/ 5 w 5"/>
                <a:gd name="T67" fmla="*/ 0 h 6"/>
                <a:gd name="T68" fmla="*/ 5 w 5"/>
                <a:gd name="T69" fmla="*/ 0 h 6"/>
                <a:gd name="T70" fmla="*/ 5 w 5"/>
                <a:gd name="T71" fmla="*/ 0 h 6"/>
                <a:gd name="T72" fmla="*/ 5 w 5"/>
                <a:gd name="T73" fmla="*/ 0 h 6"/>
                <a:gd name="T74" fmla="*/ 5 w 5"/>
                <a:gd name="T75" fmla="*/ 0 h 6"/>
                <a:gd name="T76" fmla="*/ 5 w 5"/>
                <a:gd name="T77" fmla="*/ 0 h 6"/>
                <a:gd name="T78" fmla="*/ 5 w 5"/>
                <a:gd name="T79" fmla="*/ 0 h 6"/>
                <a:gd name="T80" fmla="*/ 5 w 5"/>
                <a:gd name="T81" fmla="*/ 0 h 6"/>
                <a:gd name="T82" fmla="*/ 5 w 5"/>
                <a:gd name="T83" fmla="*/ 0 h 6"/>
                <a:gd name="T84" fmla="*/ 5 w 5"/>
                <a:gd name="T85" fmla="*/ 0 h 6"/>
                <a:gd name="T86" fmla="*/ 5 w 5"/>
                <a:gd name="T87" fmla="*/ 0 h 6"/>
                <a:gd name="T88" fmla="*/ 5 w 5"/>
                <a:gd name="T89" fmla="*/ 0 h 6"/>
                <a:gd name="T90" fmla="*/ 5 w 5"/>
                <a:gd name="T91" fmla="*/ 0 h 6"/>
                <a:gd name="T92" fmla="*/ 5 w 5"/>
                <a:gd name="T93" fmla="*/ 0 h 6"/>
                <a:gd name="T94" fmla="*/ 5 w 5"/>
                <a:gd name="T95" fmla="*/ 0 h 6"/>
                <a:gd name="T96" fmla="*/ 5 w 5"/>
                <a:gd name="T97" fmla="*/ 0 h 6"/>
                <a:gd name="T98" fmla="*/ 5 w 5"/>
                <a:gd name="T99" fmla="*/ 0 h 6"/>
                <a:gd name="T100" fmla="*/ 5 w 5"/>
                <a:gd name="T101" fmla="*/ 0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6"/>
                <a:gd name="T155" fmla="*/ 5 w 5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6">
                  <a:moveTo>
                    <a:pt x="0" y="6"/>
                  </a:moveTo>
                  <a:lnTo>
                    <a:pt x="0" y="6"/>
                  </a:ln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5" name="Freeform 102"/>
            <p:cNvSpPr>
              <a:spLocks/>
            </p:cNvSpPr>
            <p:nvPr/>
          </p:nvSpPr>
          <p:spPr bwMode="auto">
            <a:xfrm>
              <a:off x="4816" y="2920"/>
              <a:ext cx="5" cy="1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0 w 5"/>
                <a:gd name="T5" fmla="*/ 0 h 1"/>
                <a:gd name="T6" fmla="*/ 0 w 5"/>
                <a:gd name="T7" fmla="*/ 0 h 1"/>
                <a:gd name="T8" fmla="*/ 0 w 5"/>
                <a:gd name="T9" fmla="*/ 0 h 1"/>
                <a:gd name="T10" fmla="*/ 0 w 5"/>
                <a:gd name="T11" fmla="*/ 0 h 1"/>
                <a:gd name="T12" fmla="*/ 0 w 5"/>
                <a:gd name="T13" fmla="*/ 0 h 1"/>
                <a:gd name="T14" fmla="*/ 0 w 5"/>
                <a:gd name="T15" fmla="*/ 0 h 1"/>
                <a:gd name="T16" fmla="*/ 0 w 5"/>
                <a:gd name="T17" fmla="*/ 0 h 1"/>
                <a:gd name="T18" fmla="*/ 5 w 5"/>
                <a:gd name="T19" fmla="*/ 0 h 1"/>
                <a:gd name="T20" fmla="*/ 5 w 5"/>
                <a:gd name="T21" fmla="*/ 0 h 1"/>
                <a:gd name="T22" fmla="*/ 5 w 5"/>
                <a:gd name="T23" fmla="*/ 0 h 1"/>
                <a:gd name="T24" fmla="*/ 5 w 5"/>
                <a:gd name="T25" fmla="*/ 0 h 1"/>
                <a:gd name="T26" fmla="*/ 5 w 5"/>
                <a:gd name="T27" fmla="*/ 0 h 1"/>
                <a:gd name="T28" fmla="*/ 5 w 5"/>
                <a:gd name="T29" fmla="*/ 0 h 1"/>
                <a:gd name="T30" fmla="*/ 5 w 5"/>
                <a:gd name="T31" fmla="*/ 0 h 1"/>
                <a:gd name="T32" fmla="*/ 5 w 5"/>
                <a:gd name="T33" fmla="*/ 0 h 1"/>
                <a:gd name="T34" fmla="*/ 5 w 5"/>
                <a:gd name="T35" fmla="*/ 0 h 1"/>
                <a:gd name="T36" fmla="*/ 5 w 5"/>
                <a:gd name="T37" fmla="*/ 0 h 1"/>
                <a:gd name="T38" fmla="*/ 5 w 5"/>
                <a:gd name="T39" fmla="*/ 0 h 1"/>
                <a:gd name="T40" fmla="*/ 5 w 5"/>
                <a:gd name="T41" fmla="*/ 0 h 1"/>
                <a:gd name="T42" fmla="*/ 5 w 5"/>
                <a:gd name="T43" fmla="*/ 0 h 1"/>
                <a:gd name="T44" fmla="*/ 5 w 5"/>
                <a:gd name="T45" fmla="*/ 0 h 1"/>
                <a:gd name="T46" fmla="*/ 5 w 5"/>
                <a:gd name="T47" fmla="*/ 0 h 1"/>
                <a:gd name="T48" fmla="*/ 5 w 5"/>
                <a:gd name="T49" fmla="*/ 0 h 1"/>
                <a:gd name="T50" fmla="*/ 5 w 5"/>
                <a:gd name="T51" fmla="*/ 0 h 1"/>
                <a:gd name="T52" fmla="*/ 5 w 5"/>
                <a:gd name="T53" fmla="*/ 0 h 1"/>
                <a:gd name="T54" fmla="*/ 5 w 5"/>
                <a:gd name="T55" fmla="*/ 0 h 1"/>
                <a:gd name="T56" fmla="*/ 5 w 5"/>
                <a:gd name="T57" fmla="*/ 0 h 1"/>
                <a:gd name="T58" fmla="*/ 5 w 5"/>
                <a:gd name="T59" fmla="*/ 0 h 1"/>
                <a:gd name="T60" fmla="*/ 5 w 5"/>
                <a:gd name="T61" fmla="*/ 0 h 1"/>
                <a:gd name="T62" fmla="*/ 5 w 5"/>
                <a:gd name="T63" fmla="*/ 0 h 1"/>
                <a:gd name="T64" fmla="*/ 5 w 5"/>
                <a:gd name="T65" fmla="*/ 0 h 1"/>
                <a:gd name="T66" fmla="*/ 5 w 5"/>
                <a:gd name="T67" fmla="*/ 0 h 1"/>
                <a:gd name="T68" fmla="*/ 5 w 5"/>
                <a:gd name="T69" fmla="*/ 0 h 1"/>
                <a:gd name="T70" fmla="*/ 5 w 5"/>
                <a:gd name="T71" fmla="*/ 0 h 1"/>
                <a:gd name="T72" fmla="*/ 5 w 5"/>
                <a:gd name="T73" fmla="*/ 0 h 1"/>
                <a:gd name="T74" fmla="*/ 5 w 5"/>
                <a:gd name="T75" fmla="*/ 0 h 1"/>
                <a:gd name="T76" fmla="*/ 5 w 5"/>
                <a:gd name="T77" fmla="*/ 0 h 1"/>
                <a:gd name="T78" fmla="*/ 5 w 5"/>
                <a:gd name="T79" fmla="*/ 0 h 1"/>
                <a:gd name="T80" fmla="*/ 5 w 5"/>
                <a:gd name="T81" fmla="*/ 0 h 1"/>
                <a:gd name="T82" fmla="*/ 5 w 5"/>
                <a:gd name="T83" fmla="*/ 0 h 1"/>
                <a:gd name="T84" fmla="*/ 5 w 5"/>
                <a:gd name="T85" fmla="*/ 0 h 1"/>
                <a:gd name="T86" fmla="*/ 5 w 5"/>
                <a:gd name="T87" fmla="*/ 0 h 1"/>
                <a:gd name="T88" fmla="*/ 5 w 5"/>
                <a:gd name="T89" fmla="*/ 0 h 1"/>
                <a:gd name="T90" fmla="*/ 5 w 5"/>
                <a:gd name="T91" fmla="*/ 0 h 1"/>
                <a:gd name="T92" fmla="*/ 5 w 5"/>
                <a:gd name="T93" fmla="*/ 0 h 1"/>
                <a:gd name="T94" fmla="*/ 5 w 5"/>
                <a:gd name="T95" fmla="*/ 0 h 1"/>
                <a:gd name="T96" fmla="*/ 5 w 5"/>
                <a:gd name="T97" fmla="*/ 0 h 1"/>
                <a:gd name="T98" fmla="*/ 5 w 5"/>
                <a:gd name="T99" fmla="*/ 0 h 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1"/>
                <a:gd name="T152" fmla="*/ 5 w 5"/>
                <a:gd name="T153" fmla="*/ 1 h 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6" name="Freeform 103"/>
            <p:cNvSpPr>
              <a:spLocks/>
            </p:cNvSpPr>
            <p:nvPr/>
          </p:nvSpPr>
          <p:spPr bwMode="auto">
            <a:xfrm>
              <a:off x="4821" y="2920"/>
              <a:ext cx="4" cy="1"/>
            </a:xfrm>
            <a:custGeom>
              <a:avLst/>
              <a:gdLst>
                <a:gd name="T0" fmla="*/ 0 w 4"/>
                <a:gd name="T1" fmla="*/ 0 h 1"/>
                <a:gd name="T2" fmla="*/ 4 w 4"/>
                <a:gd name="T3" fmla="*/ 0 h 1"/>
                <a:gd name="T4" fmla="*/ 4 w 4"/>
                <a:gd name="T5" fmla="*/ 0 h 1"/>
                <a:gd name="T6" fmla="*/ 4 w 4"/>
                <a:gd name="T7" fmla="*/ 0 h 1"/>
                <a:gd name="T8" fmla="*/ 4 w 4"/>
                <a:gd name="T9" fmla="*/ 0 h 1"/>
                <a:gd name="T10" fmla="*/ 4 w 4"/>
                <a:gd name="T11" fmla="*/ 0 h 1"/>
                <a:gd name="T12" fmla="*/ 4 w 4"/>
                <a:gd name="T13" fmla="*/ 0 h 1"/>
                <a:gd name="T14" fmla="*/ 4 w 4"/>
                <a:gd name="T15" fmla="*/ 0 h 1"/>
                <a:gd name="T16" fmla="*/ 4 w 4"/>
                <a:gd name="T17" fmla="*/ 0 h 1"/>
                <a:gd name="T18" fmla="*/ 4 w 4"/>
                <a:gd name="T19" fmla="*/ 0 h 1"/>
                <a:gd name="T20" fmla="*/ 4 w 4"/>
                <a:gd name="T21" fmla="*/ 0 h 1"/>
                <a:gd name="T22" fmla="*/ 4 w 4"/>
                <a:gd name="T23" fmla="*/ 0 h 1"/>
                <a:gd name="T24" fmla="*/ 4 w 4"/>
                <a:gd name="T25" fmla="*/ 0 h 1"/>
                <a:gd name="T26" fmla="*/ 4 w 4"/>
                <a:gd name="T27" fmla="*/ 0 h 1"/>
                <a:gd name="T28" fmla="*/ 4 w 4"/>
                <a:gd name="T29" fmla="*/ 0 h 1"/>
                <a:gd name="T30" fmla="*/ 4 w 4"/>
                <a:gd name="T31" fmla="*/ 0 h 1"/>
                <a:gd name="T32" fmla="*/ 4 w 4"/>
                <a:gd name="T33" fmla="*/ 0 h 1"/>
                <a:gd name="T34" fmla="*/ 4 w 4"/>
                <a:gd name="T35" fmla="*/ 0 h 1"/>
                <a:gd name="T36" fmla="*/ 4 w 4"/>
                <a:gd name="T37" fmla="*/ 0 h 1"/>
                <a:gd name="T38" fmla="*/ 4 w 4"/>
                <a:gd name="T39" fmla="*/ 0 h 1"/>
                <a:gd name="T40" fmla="*/ 4 w 4"/>
                <a:gd name="T41" fmla="*/ 0 h 1"/>
                <a:gd name="T42" fmla="*/ 4 w 4"/>
                <a:gd name="T43" fmla="*/ 0 h 1"/>
                <a:gd name="T44" fmla="*/ 4 w 4"/>
                <a:gd name="T45" fmla="*/ 0 h 1"/>
                <a:gd name="T46" fmla="*/ 4 w 4"/>
                <a:gd name="T47" fmla="*/ 0 h 1"/>
                <a:gd name="T48" fmla="*/ 4 w 4"/>
                <a:gd name="T49" fmla="*/ 0 h 1"/>
                <a:gd name="T50" fmla="*/ 4 w 4"/>
                <a:gd name="T51" fmla="*/ 0 h 1"/>
                <a:gd name="T52" fmla="*/ 4 w 4"/>
                <a:gd name="T53" fmla="*/ 0 h 1"/>
                <a:gd name="T54" fmla="*/ 4 w 4"/>
                <a:gd name="T55" fmla="*/ 0 h 1"/>
                <a:gd name="T56" fmla="*/ 4 w 4"/>
                <a:gd name="T57" fmla="*/ 0 h 1"/>
                <a:gd name="T58" fmla="*/ 4 w 4"/>
                <a:gd name="T59" fmla="*/ 0 h 1"/>
                <a:gd name="T60" fmla="*/ 4 w 4"/>
                <a:gd name="T61" fmla="*/ 0 h 1"/>
                <a:gd name="T62" fmla="*/ 4 w 4"/>
                <a:gd name="T63" fmla="*/ 0 h 1"/>
                <a:gd name="T64" fmla="*/ 4 w 4"/>
                <a:gd name="T65" fmla="*/ 0 h 1"/>
                <a:gd name="T66" fmla="*/ 4 w 4"/>
                <a:gd name="T67" fmla="*/ 0 h 1"/>
                <a:gd name="T68" fmla="*/ 4 w 4"/>
                <a:gd name="T69" fmla="*/ 0 h 1"/>
                <a:gd name="T70" fmla="*/ 4 w 4"/>
                <a:gd name="T71" fmla="*/ 0 h 1"/>
                <a:gd name="T72" fmla="*/ 4 w 4"/>
                <a:gd name="T73" fmla="*/ 0 h 1"/>
                <a:gd name="T74" fmla="*/ 4 w 4"/>
                <a:gd name="T75" fmla="*/ 0 h 1"/>
                <a:gd name="T76" fmla="*/ 4 w 4"/>
                <a:gd name="T77" fmla="*/ 0 h 1"/>
                <a:gd name="T78" fmla="*/ 4 w 4"/>
                <a:gd name="T79" fmla="*/ 0 h 1"/>
                <a:gd name="T80" fmla="*/ 4 w 4"/>
                <a:gd name="T81" fmla="*/ 0 h 1"/>
                <a:gd name="T82" fmla="*/ 4 w 4"/>
                <a:gd name="T83" fmla="*/ 0 h 1"/>
                <a:gd name="T84" fmla="*/ 4 w 4"/>
                <a:gd name="T85" fmla="*/ 0 h 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"/>
                <a:gd name="T130" fmla="*/ 0 h 1"/>
                <a:gd name="T131" fmla="*/ 4 w 4"/>
                <a:gd name="T132" fmla="*/ 1 h 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" h="1">
                  <a:moveTo>
                    <a:pt x="0" y="0"/>
                  </a:move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7" name="Freeform 104"/>
            <p:cNvSpPr>
              <a:spLocks/>
            </p:cNvSpPr>
            <p:nvPr/>
          </p:nvSpPr>
          <p:spPr bwMode="auto">
            <a:xfrm>
              <a:off x="4825" y="2920"/>
              <a:ext cx="5" cy="1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0 w 5"/>
                <a:gd name="T5" fmla="*/ 0 h 1"/>
                <a:gd name="T6" fmla="*/ 0 w 5"/>
                <a:gd name="T7" fmla="*/ 0 h 1"/>
                <a:gd name="T8" fmla="*/ 0 w 5"/>
                <a:gd name="T9" fmla="*/ 0 h 1"/>
                <a:gd name="T10" fmla="*/ 0 w 5"/>
                <a:gd name="T11" fmla="*/ 0 h 1"/>
                <a:gd name="T12" fmla="*/ 0 w 5"/>
                <a:gd name="T13" fmla="*/ 0 h 1"/>
                <a:gd name="T14" fmla="*/ 0 w 5"/>
                <a:gd name="T15" fmla="*/ 0 h 1"/>
                <a:gd name="T16" fmla="*/ 0 w 5"/>
                <a:gd name="T17" fmla="*/ 0 h 1"/>
                <a:gd name="T18" fmla="*/ 0 w 5"/>
                <a:gd name="T19" fmla="*/ 0 h 1"/>
                <a:gd name="T20" fmla="*/ 0 w 5"/>
                <a:gd name="T21" fmla="*/ 0 h 1"/>
                <a:gd name="T22" fmla="*/ 0 w 5"/>
                <a:gd name="T23" fmla="*/ 0 h 1"/>
                <a:gd name="T24" fmla="*/ 0 w 5"/>
                <a:gd name="T25" fmla="*/ 0 h 1"/>
                <a:gd name="T26" fmla="*/ 0 w 5"/>
                <a:gd name="T27" fmla="*/ 0 h 1"/>
                <a:gd name="T28" fmla="*/ 0 w 5"/>
                <a:gd name="T29" fmla="*/ 0 h 1"/>
                <a:gd name="T30" fmla="*/ 0 w 5"/>
                <a:gd name="T31" fmla="*/ 0 h 1"/>
                <a:gd name="T32" fmla="*/ 0 w 5"/>
                <a:gd name="T33" fmla="*/ 0 h 1"/>
                <a:gd name="T34" fmla="*/ 0 w 5"/>
                <a:gd name="T35" fmla="*/ 0 h 1"/>
                <a:gd name="T36" fmla="*/ 0 w 5"/>
                <a:gd name="T37" fmla="*/ 0 h 1"/>
                <a:gd name="T38" fmla="*/ 0 w 5"/>
                <a:gd name="T39" fmla="*/ 0 h 1"/>
                <a:gd name="T40" fmla="*/ 0 w 5"/>
                <a:gd name="T41" fmla="*/ 0 h 1"/>
                <a:gd name="T42" fmla="*/ 5 w 5"/>
                <a:gd name="T43" fmla="*/ 0 h 1"/>
                <a:gd name="T44" fmla="*/ 5 w 5"/>
                <a:gd name="T45" fmla="*/ 0 h 1"/>
                <a:gd name="T46" fmla="*/ 5 w 5"/>
                <a:gd name="T47" fmla="*/ 0 h 1"/>
                <a:gd name="T48" fmla="*/ 5 w 5"/>
                <a:gd name="T49" fmla="*/ 0 h 1"/>
                <a:gd name="T50" fmla="*/ 5 w 5"/>
                <a:gd name="T51" fmla="*/ 0 h 1"/>
                <a:gd name="T52" fmla="*/ 5 w 5"/>
                <a:gd name="T53" fmla="*/ 0 h 1"/>
                <a:gd name="T54" fmla="*/ 5 w 5"/>
                <a:gd name="T55" fmla="*/ 0 h 1"/>
                <a:gd name="T56" fmla="*/ 5 w 5"/>
                <a:gd name="T57" fmla="*/ 0 h 1"/>
                <a:gd name="T58" fmla="*/ 5 w 5"/>
                <a:gd name="T59" fmla="*/ 0 h 1"/>
                <a:gd name="T60" fmla="*/ 5 w 5"/>
                <a:gd name="T61" fmla="*/ 0 h 1"/>
                <a:gd name="T62" fmla="*/ 5 w 5"/>
                <a:gd name="T63" fmla="*/ 0 h 1"/>
                <a:gd name="T64" fmla="*/ 5 w 5"/>
                <a:gd name="T65" fmla="*/ 0 h 1"/>
                <a:gd name="T66" fmla="*/ 5 w 5"/>
                <a:gd name="T67" fmla="*/ 0 h 1"/>
                <a:gd name="T68" fmla="*/ 5 w 5"/>
                <a:gd name="T69" fmla="*/ 0 h 1"/>
                <a:gd name="T70" fmla="*/ 5 w 5"/>
                <a:gd name="T71" fmla="*/ 0 h 1"/>
                <a:gd name="T72" fmla="*/ 5 w 5"/>
                <a:gd name="T73" fmla="*/ 0 h 1"/>
                <a:gd name="T74" fmla="*/ 5 w 5"/>
                <a:gd name="T75" fmla="*/ 0 h 1"/>
                <a:gd name="T76" fmla="*/ 5 w 5"/>
                <a:gd name="T77" fmla="*/ 0 h 1"/>
                <a:gd name="T78" fmla="*/ 5 w 5"/>
                <a:gd name="T79" fmla="*/ 0 h 1"/>
                <a:gd name="T80" fmla="*/ 5 w 5"/>
                <a:gd name="T81" fmla="*/ 0 h 1"/>
                <a:gd name="T82" fmla="*/ 5 w 5"/>
                <a:gd name="T83" fmla="*/ 0 h 1"/>
                <a:gd name="T84" fmla="*/ 5 w 5"/>
                <a:gd name="T85" fmla="*/ 0 h 1"/>
                <a:gd name="T86" fmla="*/ 5 w 5"/>
                <a:gd name="T87" fmla="*/ 0 h 1"/>
                <a:gd name="T88" fmla="*/ 5 w 5"/>
                <a:gd name="T89" fmla="*/ 0 h 1"/>
                <a:gd name="T90" fmla="*/ 5 w 5"/>
                <a:gd name="T91" fmla="*/ 0 h 1"/>
                <a:gd name="T92" fmla="*/ 5 w 5"/>
                <a:gd name="T93" fmla="*/ 0 h 1"/>
                <a:gd name="T94" fmla="*/ 5 w 5"/>
                <a:gd name="T95" fmla="*/ 0 h 1"/>
                <a:gd name="T96" fmla="*/ 5 w 5"/>
                <a:gd name="T97" fmla="*/ 0 h 1"/>
                <a:gd name="T98" fmla="*/ 5 w 5"/>
                <a:gd name="T99" fmla="*/ 0 h 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1"/>
                <a:gd name="T152" fmla="*/ 5 w 5"/>
                <a:gd name="T153" fmla="*/ 1 h 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8" name="Freeform 105"/>
            <p:cNvSpPr>
              <a:spLocks/>
            </p:cNvSpPr>
            <p:nvPr/>
          </p:nvSpPr>
          <p:spPr bwMode="auto">
            <a:xfrm>
              <a:off x="4830" y="2920"/>
              <a:ext cx="5" cy="6"/>
            </a:xfrm>
            <a:custGeom>
              <a:avLst/>
              <a:gdLst>
                <a:gd name="T0" fmla="*/ 0 w 5"/>
                <a:gd name="T1" fmla="*/ 0 h 6"/>
                <a:gd name="T2" fmla="*/ 0 w 5"/>
                <a:gd name="T3" fmla="*/ 0 h 6"/>
                <a:gd name="T4" fmla="*/ 0 w 5"/>
                <a:gd name="T5" fmla="*/ 0 h 6"/>
                <a:gd name="T6" fmla="*/ 0 w 5"/>
                <a:gd name="T7" fmla="*/ 0 h 6"/>
                <a:gd name="T8" fmla="*/ 0 w 5"/>
                <a:gd name="T9" fmla="*/ 0 h 6"/>
                <a:gd name="T10" fmla="*/ 0 w 5"/>
                <a:gd name="T11" fmla="*/ 0 h 6"/>
                <a:gd name="T12" fmla="*/ 0 w 5"/>
                <a:gd name="T13" fmla="*/ 0 h 6"/>
                <a:gd name="T14" fmla="*/ 0 w 5"/>
                <a:gd name="T15" fmla="*/ 0 h 6"/>
                <a:gd name="T16" fmla="*/ 0 w 5"/>
                <a:gd name="T17" fmla="*/ 0 h 6"/>
                <a:gd name="T18" fmla="*/ 0 w 5"/>
                <a:gd name="T19" fmla="*/ 0 h 6"/>
                <a:gd name="T20" fmla="*/ 0 w 5"/>
                <a:gd name="T21" fmla="*/ 0 h 6"/>
                <a:gd name="T22" fmla="*/ 0 w 5"/>
                <a:gd name="T23" fmla="*/ 0 h 6"/>
                <a:gd name="T24" fmla="*/ 5 w 5"/>
                <a:gd name="T25" fmla="*/ 0 h 6"/>
                <a:gd name="T26" fmla="*/ 5 w 5"/>
                <a:gd name="T27" fmla="*/ 0 h 6"/>
                <a:gd name="T28" fmla="*/ 5 w 5"/>
                <a:gd name="T29" fmla="*/ 0 h 6"/>
                <a:gd name="T30" fmla="*/ 5 w 5"/>
                <a:gd name="T31" fmla="*/ 0 h 6"/>
                <a:gd name="T32" fmla="*/ 5 w 5"/>
                <a:gd name="T33" fmla="*/ 0 h 6"/>
                <a:gd name="T34" fmla="*/ 5 w 5"/>
                <a:gd name="T35" fmla="*/ 0 h 6"/>
                <a:gd name="T36" fmla="*/ 5 w 5"/>
                <a:gd name="T37" fmla="*/ 0 h 6"/>
                <a:gd name="T38" fmla="*/ 5 w 5"/>
                <a:gd name="T39" fmla="*/ 0 h 6"/>
                <a:gd name="T40" fmla="*/ 5 w 5"/>
                <a:gd name="T41" fmla="*/ 0 h 6"/>
                <a:gd name="T42" fmla="*/ 5 w 5"/>
                <a:gd name="T43" fmla="*/ 0 h 6"/>
                <a:gd name="T44" fmla="*/ 5 w 5"/>
                <a:gd name="T45" fmla="*/ 0 h 6"/>
                <a:gd name="T46" fmla="*/ 5 w 5"/>
                <a:gd name="T47" fmla="*/ 0 h 6"/>
                <a:gd name="T48" fmla="*/ 5 w 5"/>
                <a:gd name="T49" fmla="*/ 0 h 6"/>
                <a:gd name="T50" fmla="*/ 5 w 5"/>
                <a:gd name="T51" fmla="*/ 6 h 6"/>
                <a:gd name="T52" fmla="*/ 5 w 5"/>
                <a:gd name="T53" fmla="*/ 6 h 6"/>
                <a:gd name="T54" fmla="*/ 5 w 5"/>
                <a:gd name="T55" fmla="*/ 6 h 6"/>
                <a:gd name="T56" fmla="*/ 5 w 5"/>
                <a:gd name="T57" fmla="*/ 6 h 6"/>
                <a:gd name="T58" fmla="*/ 5 w 5"/>
                <a:gd name="T59" fmla="*/ 6 h 6"/>
                <a:gd name="T60" fmla="*/ 5 w 5"/>
                <a:gd name="T61" fmla="*/ 6 h 6"/>
                <a:gd name="T62" fmla="*/ 5 w 5"/>
                <a:gd name="T63" fmla="*/ 6 h 6"/>
                <a:gd name="T64" fmla="*/ 5 w 5"/>
                <a:gd name="T65" fmla="*/ 6 h 6"/>
                <a:gd name="T66" fmla="*/ 5 w 5"/>
                <a:gd name="T67" fmla="*/ 6 h 6"/>
                <a:gd name="T68" fmla="*/ 5 w 5"/>
                <a:gd name="T69" fmla="*/ 6 h 6"/>
                <a:gd name="T70" fmla="*/ 5 w 5"/>
                <a:gd name="T71" fmla="*/ 6 h 6"/>
                <a:gd name="T72" fmla="*/ 5 w 5"/>
                <a:gd name="T73" fmla="*/ 6 h 6"/>
                <a:gd name="T74" fmla="*/ 5 w 5"/>
                <a:gd name="T75" fmla="*/ 6 h 6"/>
                <a:gd name="T76" fmla="*/ 5 w 5"/>
                <a:gd name="T77" fmla="*/ 6 h 6"/>
                <a:gd name="T78" fmla="*/ 5 w 5"/>
                <a:gd name="T79" fmla="*/ 6 h 6"/>
                <a:gd name="T80" fmla="*/ 5 w 5"/>
                <a:gd name="T81" fmla="*/ 6 h 6"/>
                <a:gd name="T82" fmla="*/ 5 w 5"/>
                <a:gd name="T83" fmla="*/ 6 h 6"/>
                <a:gd name="T84" fmla="*/ 5 w 5"/>
                <a:gd name="T85" fmla="*/ 6 h 6"/>
                <a:gd name="T86" fmla="*/ 5 w 5"/>
                <a:gd name="T87" fmla="*/ 6 h 6"/>
                <a:gd name="T88" fmla="*/ 5 w 5"/>
                <a:gd name="T89" fmla="*/ 6 h 6"/>
                <a:gd name="T90" fmla="*/ 5 w 5"/>
                <a:gd name="T91" fmla="*/ 6 h 6"/>
                <a:gd name="T92" fmla="*/ 5 w 5"/>
                <a:gd name="T93" fmla="*/ 6 h 6"/>
                <a:gd name="T94" fmla="*/ 5 w 5"/>
                <a:gd name="T95" fmla="*/ 6 h 6"/>
                <a:gd name="T96" fmla="*/ 5 w 5"/>
                <a:gd name="T97" fmla="*/ 6 h 6"/>
                <a:gd name="T98" fmla="*/ 5 w 5"/>
                <a:gd name="T99" fmla="*/ 6 h 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6"/>
                <a:gd name="T152" fmla="*/ 5 w 5"/>
                <a:gd name="T153" fmla="*/ 6 h 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6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9" name="Freeform 106"/>
            <p:cNvSpPr>
              <a:spLocks/>
            </p:cNvSpPr>
            <p:nvPr/>
          </p:nvSpPr>
          <p:spPr bwMode="auto">
            <a:xfrm>
              <a:off x="4835" y="2926"/>
              <a:ext cx="9" cy="11"/>
            </a:xfrm>
            <a:custGeom>
              <a:avLst/>
              <a:gdLst>
                <a:gd name="T0" fmla="*/ 0 w 9"/>
                <a:gd name="T1" fmla="*/ 0 h 11"/>
                <a:gd name="T2" fmla="*/ 0 w 9"/>
                <a:gd name="T3" fmla="*/ 0 h 11"/>
                <a:gd name="T4" fmla="*/ 0 w 9"/>
                <a:gd name="T5" fmla="*/ 0 h 11"/>
                <a:gd name="T6" fmla="*/ 5 w 9"/>
                <a:gd name="T7" fmla="*/ 0 h 11"/>
                <a:gd name="T8" fmla="*/ 5 w 9"/>
                <a:gd name="T9" fmla="*/ 0 h 11"/>
                <a:gd name="T10" fmla="*/ 5 w 9"/>
                <a:gd name="T11" fmla="*/ 0 h 11"/>
                <a:gd name="T12" fmla="*/ 5 w 9"/>
                <a:gd name="T13" fmla="*/ 0 h 11"/>
                <a:gd name="T14" fmla="*/ 5 w 9"/>
                <a:gd name="T15" fmla="*/ 0 h 11"/>
                <a:gd name="T16" fmla="*/ 5 w 9"/>
                <a:gd name="T17" fmla="*/ 0 h 11"/>
                <a:gd name="T18" fmla="*/ 5 w 9"/>
                <a:gd name="T19" fmla="*/ 0 h 11"/>
                <a:gd name="T20" fmla="*/ 5 w 9"/>
                <a:gd name="T21" fmla="*/ 0 h 11"/>
                <a:gd name="T22" fmla="*/ 5 w 9"/>
                <a:gd name="T23" fmla="*/ 0 h 11"/>
                <a:gd name="T24" fmla="*/ 5 w 9"/>
                <a:gd name="T25" fmla="*/ 0 h 11"/>
                <a:gd name="T26" fmla="*/ 5 w 9"/>
                <a:gd name="T27" fmla="*/ 0 h 11"/>
                <a:gd name="T28" fmla="*/ 5 w 9"/>
                <a:gd name="T29" fmla="*/ 0 h 11"/>
                <a:gd name="T30" fmla="*/ 5 w 9"/>
                <a:gd name="T31" fmla="*/ 0 h 11"/>
                <a:gd name="T32" fmla="*/ 5 w 9"/>
                <a:gd name="T33" fmla="*/ 0 h 11"/>
                <a:gd name="T34" fmla="*/ 5 w 9"/>
                <a:gd name="T35" fmla="*/ 5 h 11"/>
                <a:gd name="T36" fmla="*/ 5 w 9"/>
                <a:gd name="T37" fmla="*/ 5 h 11"/>
                <a:gd name="T38" fmla="*/ 5 w 9"/>
                <a:gd name="T39" fmla="*/ 5 h 11"/>
                <a:gd name="T40" fmla="*/ 5 w 9"/>
                <a:gd name="T41" fmla="*/ 5 h 11"/>
                <a:gd name="T42" fmla="*/ 5 w 9"/>
                <a:gd name="T43" fmla="*/ 5 h 11"/>
                <a:gd name="T44" fmla="*/ 5 w 9"/>
                <a:gd name="T45" fmla="*/ 5 h 11"/>
                <a:gd name="T46" fmla="*/ 5 w 9"/>
                <a:gd name="T47" fmla="*/ 5 h 11"/>
                <a:gd name="T48" fmla="*/ 5 w 9"/>
                <a:gd name="T49" fmla="*/ 5 h 11"/>
                <a:gd name="T50" fmla="*/ 5 w 9"/>
                <a:gd name="T51" fmla="*/ 5 h 11"/>
                <a:gd name="T52" fmla="*/ 5 w 9"/>
                <a:gd name="T53" fmla="*/ 5 h 11"/>
                <a:gd name="T54" fmla="*/ 5 w 9"/>
                <a:gd name="T55" fmla="*/ 5 h 11"/>
                <a:gd name="T56" fmla="*/ 5 w 9"/>
                <a:gd name="T57" fmla="*/ 5 h 11"/>
                <a:gd name="T58" fmla="*/ 5 w 9"/>
                <a:gd name="T59" fmla="*/ 5 h 11"/>
                <a:gd name="T60" fmla="*/ 5 w 9"/>
                <a:gd name="T61" fmla="*/ 5 h 11"/>
                <a:gd name="T62" fmla="*/ 5 w 9"/>
                <a:gd name="T63" fmla="*/ 5 h 11"/>
                <a:gd name="T64" fmla="*/ 5 w 9"/>
                <a:gd name="T65" fmla="*/ 5 h 11"/>
                <a:gd name="T66" fmla="*/ 5 w 9"/>
                <a:gd name="T67" fmla="*/ 5 h 11"/>
                <a:gd name="T68" fmla="*/ 5 w 9"/>
                <a:gd name="T69" fmla="*/ 5 h 11"/>
                <a:gd name="T70" fmla="*/ 5 w 9"/>
                <a:gd name="T71" fmla="*/ 5 h 11"/>
                <a:gd name="T72" fmla="*/ 5 w 9"/>
                <a:gd name="T73" fmla="*/ 5 h 11"/>
                <a:gd name="T74" fmla="*/ 5 w 9"/>
                <a:gd name="T75" fmla="*/ 5 h 11"/>
                <a:gd name="T76" fmla="*/ 5 w 9"/>
                <a:gd name="T77" fmla="*/ 5 h 11"/>
                <a:gd name="T78" fmla="*/ 5 w 9"/>
                <a:gd name="T79" fmla="*/ 5 h 11"/>
                <a:gd name="T80" fmla="*/ 5 w 9"/>
                <a:gd name="T81" fmla="*/ 5 h 11"/>
                <a:gd name="T82" fmla="*/ 5 w 9"/>
                <a:gd name="T83" fmla="*/ 5 h 11"/>
                <a:gd name="T84" fmla="*/ 5 w 9"/>
                <a:gd name="T85" fmla="*/ 5 h 11"/>
                <a:gd name="T86" fmla="*/ 5 w 9"/>
                <a:gd name="T87" fmla="*/ 5 h 11"/>
                <a:gd name="T88" fmla="*/ 9 w 9"/>
                <a:gd name="T89" fmla="*/ 5 h 11"/>
                <a:gd name="T90" fmla="*/ 9 w 9"/>
                <a:gd name="T91" fmla="*/ 5 h 11"/>
                <a:gd name="T92" fmla="*/ 9 w 9"/>
                <a:gd name="T93" fmla="*/ 5 h 11"/>
                <a:gd name="T94" fmla="*/ 9 w 9"/>
                <a:gd name="T95" fmla="*/ 5 h 11"/>
                <a:gd name="T96" fmla="*/ 9 w 9"/>
                <a:gd name="T97" fmla="*/ 5 h 11"/>
                <a:gd name="T98" fmla="*/ 9 w 9"/>
                <a:gd name="T99" fmla="*/ 11 h 11"/>
                <a:gd name="T100" fmla="*/ 9 w 9"/>
                <a:gd name="T101" fmla="*/ 11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1"/>
                <a:gd name="T155" fmla="*/ 9 w 9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lnTo>
                    <a:pt x="9" y="5"/>
                  </a:lnTo>
                  <a:lnTo>
                    <a:pt x="9" y="1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0" name="Freeform 107"/>
            <p:cNvSpPr>
              <a:spLocks/>
            </p:cNvSpPr>
            <p:nvPr/>
          </p:nvSpPr>
          <p:spPr bwMode="auto">
            <a:xfrm>
              <a:off x="4844" y="2937"/>
              <a:ext cx="5" cy="11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0 w 5"/>
                <a:gd name="T5" fmla="*/ 0 h 11"/>
                <a:gd name="T6" fmla="*/ 0 w 5"/>
                <a:gd name="T7" fmla="*/ 0 h 11"/>
                <a:gd name="T8" fmla="*/ 0 w 5"/>
                <a:gd name="T9" fmla="*/ 0 h 11"/>
                <a:gd name="T10" fmla="*/ 0 w 5"/>
                <a:gd name="T11" fmla="*/ 0 h 11"/>
                <a:gd name="T12" fmla="*/ 0 w 5"/>
                <a:gd name="T13" fmla="*/ 0 h 11"/>
                <a:gd name="T14" fmla="*/ 0 w 5"/>
                <a:gd name="T15" fmla="*/ 0 h 11"/>
                <a:gd name="T16" fmla="*/ 0 w 5"/>
                <a:gd name="T17" fmla="*/ 0 h 11"/>
                <a:gd name="T18" fmla="*/ 0 w 5"/>
                <a:gd name="T19" fmla="*/ 0 h 11"/>
                <a:gd name="T20" fmla="*/ 0 w 5"/>
                <a:gd name="T21" fmla="*/ 0 h 11"/>
                <a:gd name="T22" fmla="*/ 0 w 5"/>
                <a:gd name="T23" fmla="*/ 0 h 11"/>
                <a:gd name="T24" fmla="*/ 0 w 5"/>
                <a:gd name="T25" fmla="*/ 0 h 11"/>
                <a:gd name="T26" fmla="*/ 0 w 5"/>
                <a:gd name="T27" fmla="*/ 0 h 11"/>
                <a:gd name="T28" fmla="*/ 0 w 5"/>
                <a:gd name="T29" fmla="*/ 0 h 11"/>
                <a:gd name="T30" fmla="*/ 0 w 5"/>
                <a:gd name="T31" fmla="*/ 0 h 11"/>
                <a:gd name="T32" fmla="*/ 0 w 5"/>
                <a:gd name="T33" fmla="*/ 0 h 11"/>
                <a:gd name="T34" fmla="*/ 0 w 5"/>
                <a:gd name="T35" fmla="*/ 0 h 11"/>
                <a:gd name="T36" fmla="*/ 0 w 5"/>
                <a:gd name="T37" fmla="*/ 0 h 11"/>
                <a:gd name="T38" fmla="*/ 0 w 5"/>
                <a:gd name="T39" fmla="*/ 0 h 11"/>
                <a:gd name="T40" fmla="*/ 0 w 5"/>
                <a:gd name="T41" fmla="*/ 0 h 11"/>
                <a:gd name="T42" fmla="*/ 0 w 5"/>
                <a:gd name="T43" fmla="*/ 0 h 11"/>
                <a:gd name="T44" fmla="*/ 0 w 5"/>
                <a:gd name="T45" fmla="*/ 0 h 11"/>
                <a:gd name="T46" fmla="*/ 0 w 5"/>
                <a:gd name="T47" fmla="*/ 0 h 11"/>
                <a:gd name="T48" fmla="*/ 0 w 5"/>
                <a:gd name="T49" fmla="*/ 0 h 11"/>
                <a:gd name="T50" fmla="*/ 0 w 5"/>
                <a:gd name="T51" fmla="*/ 0 h 11"/>
                <a:gd name="T52" fmla="*/ 0 w 5"/>
                <a:gd name="T53" fmla="*/ 6 h 11"/>
                <a:gd name="T54" fmla="*/ 0 w 5"/>
                <a:gd name="T55" fmla="*/ 6 h 11"/>
                <a:gd name="T56" fmla="*/ 0 w 5"/>
                <a:gd name="T57" fmla="*/ 6 h 11"/>
                <a:gd name="T58" fmla="*/ 0 w 5"/>
                <a:gd name="T59" fmla="*/ 6 h 11"/>
                <a:gd name="T60" fmla="*/ 0 w 5"/>
                <a:gd name="T61" fmla="*/ 6 h 11"/>
                <a:gd name="T62" fmla="*/ 0 w 5"/>
                <a:gd name="T63" fmla="*/ 6 h 11"/>
                <a:gd name="T64" fmla="*/ 0 w 5"/>
                <a:gd name="T65" fmla="*/ 6 h 11"/>
                <a:gd name="T66" fmla="*/ 0 w 5"/>
                <a:gd name="T67" fmla="*/ 6 h 11"/>
                <a:gd name="T68" fmla="*/ 5 w 5"/>
                <a:gd name="T69" fmla="*/ 6 h 11"/>
                <a:gd name="T70" fmla="*/ 5 w 5"/>
                <a:gd name="T71" fmla="*/ 6 h 11"/>
                <a:gd name="T72" fmla="*/ 5 w 5"/>
                <a:gd name="T73" fmla="*/ 6 h 11"/>
                <a:gd name="T74" fmla="*/ 5 w 5"/>
                <a:gd name="T75" fmla="*/ 6 h 11"/>
                <a:gd name="T76" fmla="*/ 5 w 5"/>
                <a:gd name="T77" fmla="*/ 6 h 11"/>
                <a:gd name="T78" fmla="*/ 5 w 5"/>
                <a:gd name="T79" fmla="*/ 6 h 11"/>
                <a:gd name="T80" fmla="*/ 5 w 5"/>
                <a:gd name="T81" fmla="*/ 6 h 11"/>
                <a:gd name="T82" fmla="*/ 5 w 5"/>
                <a:gd name="T83" fmla="*/ 6 h 11"/>
                <a:gd name="T84" fmla="*/ 5 w 5"/>
                <a:gd name="T85" fmla="*/ 6 h 11"/>
                <a:gd name="T86" fmla="*/ 5 w 5"/>
                <a:gd name="T87" fmla="*/ 6 h 11"/>
                <a:gd name="T88" fmla="*/ 5 w 5"/>
                <a:gd name="T89" fmla="*/ 6 h 11"/>
                <a:gd name="T90" fmla="*/ 5 w 5"/>
                <a:gd name="T91" fmla="*/ 6 h 11"/>
                <a:gd name="T92" fmla="*/ 5 w 5"/>
                <a:gd name="T93" fmla="*/ 6 h 11"/>
                <a:gd name="T94" fmla="*/ 5 w 5"/>
                <a:gd name="T95" fmla="*/ 6 h 11"/>
                <a:gd name="T96" fmla="*/ 5 w 5"/>
                <a:gd name="T97" fmla="*/ 6 h 11"/>
                <a:gd name="T98" fmla="*/ 5 w 5"/>
                <a:gd name="T99" fmla="*/ 6 h 11"/>
                <a:gd name="T100" fmla="*/ 5 w 5"/>
                <a:gd name="T101" fmla="*/ 11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1"/>
                <a:gd name="T155" fmla="*/ 5 w 5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1" name="Freeform 108"/>
            <p:cNvSpPr>
              <a:spLocks/>
            </p:cNvSpPr>
            <p:nvPr/>
          </p:nvSpPr>
          <p:spPr bwMode="auto">
            <a:xfrm>
              <a:off x="4849" y="2948"/>
              <a:ext cx="5" cy="12"/>
            </a:xfrm>
            <a:custGeom>
              <a:avLst/>
              <a:gdLst>
                <a:gd name="T0" fmla="*/ 0 w 5"/>
                <a:gd name="T1" fmla="*/ 0 h 12"/>
                <a:gd name="T2" fmla="*/ 0 w 5"/>
                <a:gd name="T3" fmla="*/ 0 h 12"/>
                <a:gd name="T4" fmla="*/ 0 w 5"/>
                <a:gd name="T5" fmla="*/ 0 h 12"/>
                <a:gd name="T6" fmla="*/ 0 w 5"/>
                <a:gd name="T7" fmla="*/ 0 h 12"/>
                <a:gd name="T8" fmla="*/ 0 w 5"/>
                <a:gd name="T9" fmla="*/ 0 h 12"/>
                <a:gd name="T10" fmla="*/ 0 w 5"/>
                <a:gd name="T11" fmla="*/ 0 h 12"/>
                <a:gd name="T12" fmla="*/ 0 w 5"/>
                <a:gd name="T13" fmla="*/ 0 h 12"/>
                <a:gd name="T14" fmla="*/ 0 w 5"/>
                <a:gd name="T15" fmla="*/ 0 h 12"/>
                <a:gd name="T16" fmla="*/ 0 w 5"/>
                <a:gd name="T17" fmla="*/ 0 h 12"/>
                <a:gd name="T18" fmla="*/ 0 w 5"/>
                <a:gd name="T19" fmla="*/ 0 h 12"/>
                <a:gd name="T20" fmla="*/ 0 w 5"/>
                <a:gd name="T21" fmla="*/ 0 h 12"/>
                <a:gd name="T22" fmla="*/ 0 w 5"/>
                <a:gd name="T23" fmla="*/ 0 h 12"/>
                <a:gd name="T24" fmla="*/ 0 w 5"/>
                <a:gd name="T25" fmla="*/ 0 h 12"/>
                <a:gd name="T26" fmla="*/ 0 w 5"/>
                <a:gd name="T27" fmla="*/ 0 h 12"/>
                <a:gd name="T28" fmla="*/ 0 w 5"/>
                <a:gd name="T29" fmla="*/ 0 h 12"/>
                <a:gd name="T30" fmla="*/ 0 w 5"/>
                <a:gd name="T31" fmla="*/ 0 h 12"/>
                <a:gd name="T32" fmla="*/ 0 w 5"/>
                <a:gd name="T33" fmla="*/ 0 h 12"/>
                <a:gd name="T34" fmla="*/ 0 w 5"/>
                <a:gd name="T35" fmla="*/ 0 h 12"/>
                <a:gd name="T36" fmla="*/ 0 w 5"/>
                <a:gd name="T37" fmla="*/ 0 h 12"/>
                <a:gd name="T38" fmla="*/ 0 w 5"/>
                <a:gd name="T39" fmla="*/ 0 h 12"/>
                <a:gd name="T40" fmla="*/ 0 w 5"/>
                <a:gd name="T41" fmla="*/ 0 h 12"/>
                <a:gd name="T42" fmla="*/ 0 w 5"/>
                <a:gd name="T43" fmla="*/ 0 h 12"/>
                <a:gd name="T44" fmla="*/ 0 w 5"/>
                <a:gd name="T45" fmla="*/ 6 h 12"/>
                <a:gd name="T46" fmla="*/ 0 w 5"/>
                <a:gd name="T47" fmla="*/ 6 h 12"/>
                <a:gd name="T48" fmla="*/ 0 w 5"/>
                <a:gd name="T49" fmla="*/ 6 h 12"/>
                <a:gd name="T50" fmla="*/ 5 w 5"/>
                <a:gd name="T51" fmla="*/ 6 h 12"/>
                <a:gd name="T52" fmla="*/ 5 w 5"/>
                <a:gd name="T53" fmla="*/ 6 h 12"/>
                <a:gd name="T54" fmla="*/ 5 w 5"/>
                <a:gd name="T55" fmla="*/ 6 h 12"/>
                <a:gd name="T56" fmla="*/ 5 w 5"/>
                <a:gd name="T57" fmla="*/ 6 h 12"/>
                <a:gd name="T58" fmla="*/ 5 w 5"/>
                <a:gd name="T59" fmla="*/ 6 h 12"/>
                <a:gd name="T60" fmla="*/ 5 w 5"/>
                <a:gd name="T61" fmla="*/ 6 h 12"/>
                <a:gd name="T62" fmla="*/ 5 w 5"/>
                <a:gd name="T63" fmla="*/ 6 h 12"/>
                <a:gd name="T64" fmla="*/ 5 w 5"/>
                <a:gd name="T65" fmla="*/ 6 h 12"/>
                <a:gd name="T66" fmla="*/ 5 w 5"/>
                <a:gd name="T67" fmla="*/ 6 h 12"/>
                <a:gd name="T68" fmla="*/ 5 w 5"/>
                <a:gd name="T69" fmla="*/ 6 h 12"/>
                <a:gd name="T70" fmla="*/ 5 w 5"/>
                <a:gd name="T71" fmla="*/ 6 h 12"/>
                <a:gd name="T72" fmla="*/ 5 w 5"/>
                <a:gd name="T73" fmla="*/ 6 h 12"/>
                <a:gd name="T74" fmla="*/ 5 w 5"/>
                <a:gd name="T75" fmla="*/ 6 h 12"/>
                <a:gd name="T76" fmla="*/ 5 w 5"/>
                <a:gd name="T77" fmla="*/ 6 h 12"/>
                <a:gd name="T78" fmla="*/ 5 w 5"/>
                <a:gd name="T79" fmla="*/ 6 h 12"/>
                <a:gd name="T80" fmla="*/ 5 w 5"/>
                <a:gd name="T81" fmla="*/ 6 h 12"/>
                <a:gd name="T82" fmla="*/ 5 w 5"/>
                <a:gd name="T83" fmla="*/ 6 h 12"/>
                <a:gd name="T84" fmla="*/ 5 w 5"/>
                <a:gd name="T85" fmla="*/ 12 h 12"/>
                <a:gd name="T86" fmla="*/ 5 w 5"/>
                <a:gd name="T87" fmla="*/ 12 h 12"/>
                <a:gd name="T88" fmla="*/ 5 w 5"/>
                <a:gd name="T89" fmla="*/ 12 h 12"/>
                <a:gd name="T90" fmla="*/ 5 w 5"/>
                <a:gd name="T91" fmla="*/ 12 h 12"/>
                <a:gd name="T92" fmla="*/ 5 w 5"/>
                <a:gd name="T93" fmla="*/ 12 h 12"/>
                <a:gd name="T94" fmla="*/ 5 w 5"/>
                <a:gd name="T95" fmla="*/ 12 h 12"/>
                <a:gd name="T96" fmla="*/ 5 w 5"/>
                <a:gd name="T97" fmla="*/ 12 h 12"/>
                <a:gd name="T98" fmla="*/ 5 w 5"/>
                <a:gd name="T99" fmla="*/ 12 h 12"/>
                <a:gd name="T100" fmla="*/ 5 w 5"/>
                <a:gd name="T101" fmla="*/ 12 h 1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2"/>
                <a:gd name="T155" fmla="*/ 5 w 5"/>
                <a:gd name="T156" fmla="*/ 12 h 1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2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2" name="Freeform 109"/>
            <p:cNvSpPr>
              <a:spLocks/>
            </p:cNvSpPr>
            <p:nvPr/>
          </p:nvSpPr>
          <p:spPr bwMode="auto">
            <a:xfrm>
              <a:off x="4854" y="2960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0 h 17"/>
                <a:gd name="T14" fmla="*/ 0 w 5"/>
                <a:gd name="T15" fmla="*/ 0 h 17"/>
                <a:gd name="T16" fmla="*/ 0 w 5"/>
                <a:gd name="T17" fmla="*/ 0 h 17"/>
                <a:gd name="T18" fmla="*/ 0 w 5"/>
                <a:gd name="T19" fmla="*/ 0 h 17"/>
                <a:gd name="T20" fmla="*/ 0 w 5"/>
                <a:gd name="T21" fmla="*/ 0 h 17"/>
                <a:gd name="T22" fmla="*/ 0 w 5"/>
                <a:gd name="T23" fmla="*/ 5 h 17"/>
                <a:gd name="T24" fmla="*/ 0 w 5"/>
                <a:gd name="T25" fmla="*/ 5 h 17"/>
                <a:gd name="T26" fmla="*/ 0 w 5"/>
                <a:gd name="T27" fmla="*/ 5 h 17"/>
                <a:gd name="T28" fmla="*/ 0 w 5"/>
                <a:gd name="T29" fmla="*/ 5 h 17"/>
                <a:gd name="T30" fmla="*/ 5 w 5"/>
                <a:gd name="T31" fmla="*/ 5 h 17"/>
                <a:gd name="T32" fmla="*/ 5 w 5"/>
                <a:gd name="T33" fmla="*/ 5 h 17"/>
                <a:gd name="T34" fmla="*/ 5 w 5"/>
                <a:gd name="T35" fmla="*/ 5 h 17"/>
                <a:gd name="T36" fmla="*/ 5 w 5"/>
                <a:gd name="T37" fmla="*/ 5 h 17"/>
                <a:gd name="T38" fmla="*/ 5 w 5"/>
                <a:gd name="T39" fmla="*/ 5 h 17"/>
                <a:gd name="T40" fmla="*/ 5 w 5"/>
                <a:gd name="T41" fmla="*/ 5 h 17"/>
                <a:gd name="T42" fmla="*/ 5 w 5"/>
                <a:gd name="T43" fmla="*/ 5 h 17"/>
                <a:gd name="T44" fmla="*/ 5 w 5"/>
                <a:gd name="T45" fmla="*/ 5 h 17"/>
                <a:gd name="T46" fmla="*/ 5 w 5"/>
                <a:gd name="T47" fmla="*/ 5 h 17"/>
                <a:gd name="T48" fmla="*/ 5 w 5"/>
                <a:gd name="T49" fmla="*/ 5 h 17"/>
                <a:gd name="T50" fmla="*/ 5 w 5"/>
                <a:gd name="T51" fmla="*/ 5 h 17"/>
                <a:gd name="T52" fmla="*/ 5 w 5"/>
                <a:gd name="T53" fmla="*/ 5 h 17"/>
                <a:gd name="T54" fmla="*/ 5 w 5"/>
                <a:gd name="T55" fmla="*/ 5 h 17"/>
                <a:gd name="T56" fmla="*/ 5 w 5"/>
                <a:gd name="T57" fmla="*/ 11 h 17"/>
                <a:gd name="T58" fmla="*/ 5 w 5"/>
                <a:gd name="T59" fmla="*/ 11 h 17"/>
                <a:gd name="T60" fmla="*/ 5 w 5"/>
                <a:gd name="T61" fmla="*/ 11 h 17"/>
                <a:gd name="T62" fmla="*/ 5 w 5"/>
                <a:gd name="T63" fmla="*/ 11 h 17"/>
                <a:gd name="T64" fmla="*/ 5 w 5"/>
                <a:gd name="T65" fmla="*/ 11 h 17"/>
                <a:gd name="T66" fmla="*/ 5 w 5"/>
                <a:gd name="T67" fmla="*/ 11 h 17"/>
                <a:gd name="T68" fmla="*/ 5 w 5"/>
                <a:gd name="T69" fmla="*/ 11 h 17"/>
                <a:gd name="T70" fmla="*/ 5 w 5"/>
                <a:gd name="T71" fmla="*/ 11 h 17"/>
                <a:gd name="T72" fmla="*/ 5 w 5"/>
                <a:gd name="T73" fmla="*/ 11 h 17"/>
                <a:gd name="T74" fmla="*/ 5 w 5"/>
                <a:gd name="T75" fmla="*/ 11 h 17"/>
                <a:gd name="T76" fmla="*/ 5 w 5"/>
                <a:gd name="T77" fmla="*/ 11 h 17"/>
                <a:gd name="T78" fmla="*/ 5 w 5"/>
                <a:gd name="T79" fmla="*/ 11 h 17"/>
                <a:gd name="T80" fmla="*/ 5 w 5"/>
                <a:gd name="T81" fmla="*/ 11 h 17"/>
                <a:gd name="T82" fmla="*/ 5 w 5"/>
                <a:gd name="T83" fmla="*/ 11 h 17"/>
                <a:gd name="T84" fmla="*/ 5 w 5"/>
                <a:gd name="T85" fmla="*/ 11 h 17"/>
                <a:gd name="T86" fmla="*/ 5 w 5"/>
                <a:gd name="T87" fmla="*/ 11 h 17"/>
                <a:gd name="T88" fmla="*/ 5 w 5"/>
                <a:gd name="T89" fmla="*/ 11 h 17"/>
                <a:gd name="T90" fmla="*/ 5 w 5"/>
                <a:gd name="T91" fmla="*/ 17 h 17"/>
                <a:gd name="T92" fmla="*/ 5 w 5"/>
                <a:gd name="T93" fmla="*/ 17 h 17"/>
                <a:gd name="T94" fmla="*/ 5 w 5"/>
                <a:gd name="T95" fmla="*/ 17 h 17"/>
                <a:gd name="T96" fmla="*/ 5 w 5"/>
                <a:gd name="T97" fmla="*/ 17 h 17"/>
                <a:gd name="T98" fmla="*/ 5 w 5"/>
                <a:gd name="T99" fmla="*/ 17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11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3" name="Freeform 110"/>
            <p:cNvSpPr>
              <a:spLocks/>
            </p:cNvSpPr>
            <p:nvPr/>
          </p:nvSpPr>
          <p:spPr bwMode="auto">
            <a:xfrm>
              <a:off x="4859" y="2977"/>
              <a:ext cx="9" cy="17"/>
            </a:xfrm>
            <a:custGeom>
              <a:avLst/>
              <a:gdLst>
                <a:gd name="T0" fmla="*/ 0 w 9"/>
                <a:gd name="T1" fmla="*/ 0 h 17"/>
                <a:gd name="T2" fmla="*/ 0 w 9"/>
                <a:gd name="T3" fmla="*/ 0 h 17"/>
                <a:gd name="T4" fmla="*/ 0 w 9"/>
                <a:gd name="T5" fmla="*/ 0 h 17"/>
                <a:gd name="T6" fmla="*/ 0 w 9"/>
                <a:gd name="T7" fmla="*/ 0 h 17"/>
                <a:gd name="T8" fmla="*/ 0 w 9"/>
                <a:gd name="T9" fmla="*/ 0 h 17"/>
                <a:gd name="T10" fmla="*/ 0 w 9"/>
                <a:gd name="T11" fmla="*/ 0 h 17"/>
                <a:gd name="T12" fmla="*/ 4 w 9"/>
                <a:gd name="T13" fmla="*/ 0 h 17"/>
                <a:gd name="T14" fmla="*/ 4 w 9"/>
                <a:gd name="T15" fmla="*/ 0 h 17"/>
                <a:gd name="T16" fmla="*/ 4 w 9"/>
                <a:gd name="T17" fmla="*/ 0 h 17"/>
                <a:gd name="T18" fmla="*/ 4 w 9"/>
                <a:gd name="T19" fmla="*/ 0 h 17"/>
                <a:gd name="T20" fmla="*/ 4 w 9"/>
                <a:gd name="T21" fmla="*/ 0 h 17"/>
                <a:gd name="T22" fmla="*/ 4 w 9"/>
                <a:gd name="T23" fmla="*/ 0 h 17"/>
                <a:gd name="T24" fmla="*/ 4 w 9"/>
                <a:gd name="T25" fmla="*/ 5 h 17"/>
                <a:gd name="T26" fmla="*/ 4 w 9"/>
                <a:gd name="T27" fmla="*/ 5 h 17"/>
                <a:gd name="T28" fmla="*/ 4 w 9"/>
                <a:gd name="T29" fmla="*/ 5 h 17"/>
                <a:gd name="T30" fmla="*/ 4 w 9"/>
                <a:gd name="T31" fmla="*/ 5 h 17"/>
                <a:gd name="T32" fmla="*/ 4 w 9"/>
                <a:gd name="T33" fmla="*/ 5 h 17"/>
                <a:gd name="T34" fmla="*/ 4 w 9"/>
                <a:gd name="T35" fmla="*/ 5 h 17"/>
                <a:gd name="T36" fmla="*/ 4 w 9"/>
                <a:gd name="T37" fmla="*/ 5 h 17"/>
                <a:gd name="T38" fmla="*/ 4 w 9"/>
                <a:gd name="T39" fmla="*/ 5 h 17"/>
                <a:gd name="T40" fmla="*/ 4 w 9"/>
                <a:gd name="T41" fmla="*/ 5 h 17"/>
                <a:gd name="T42" fmla="*/ 4 w 9"/>
                <a:gd name="T43" fmla="*/ 5 h 17"/>
                <a:gd name="T44" fmla="*/ 4 w 9"/>
                <a:gd name="T45" fmla="*/ 5 h 17"/>
                <a:gd name="T46" fmla="*/ 4 w 9"/>
                <a:gd name="T47" fmla="*/ 5 h 17"/>
                <a:gd name="T48" fmla="*/ 4 w 9"/>
                <a:gd name="T49" fmla="*/ 5 h 17"/>
                <a:gd name="T50" fmla="*/ 4 w 9"/>
                <a:gd name="T51" fmla="*/ 5 h 17"/>
                <a:gd name="T52" fmla="*/ 4 w 9"/>
                <a:gd name="T53" fmla="*/ 5 h 17"/>
                <a:gd name="T54" fmla="*/ 4 w 9"/>
                <a:gd name="T55" fmla="*/ 11 h 17"/>
                <a:gd name="T56" fmla="*/ 4 w 9"/>
                <a:gd name="T57" fmla="*/ 11 h 17"/>
                <a:gd name="T58" fmla="*/ 4 w 9"/>
                <a:gd name="T59" fmla="*/ 11 h 17"/>
                <a:gd name="T60" fmla="*/ 4 w 9"/>
                <a:gd name="T61" fmla="*/ 11 h 17"/>
                <a:gd name="T62" fmla="*/ 4 w 9"/>
                <a:gd name="T63" fmla="*/ 11 h 17"/>
                <a:gd name="T64" fmla="*/ 4 w 9"/>
                <a:gd name="T65" fmla="*/ 11 h 17"/>
                <a:gd name="T66" fmla="*/ 4 w 9"/>
                <a:gd name="T67" fmla="*/ 11 h 17"/>
                <a:gd name="T68" fmla="*/ 4 w 9"/>
                <a:gd name="T69" fmla="*/ 11 h 17"/>
                <a:gd name="T70" fmla="*/ 4 w 9"/>
                <a:gd name="T71" fmla="*/ 11 h 17"/>
                <a:gd name="T72" fmla="*/ 4 w 9"/>
                <a:gd name="T73" fmla="*/ 11 h 17"/>
                <a:gd name="T74" fmla="*/ 4 w 9"/>
                <a:gd name="T75" fmla="*/ 11 h 17"/>
                <a:gd name="T76" fmla="*/ 4 w 9"/>
                <a:gd name="T77" fmla="*/ 11 h 17"/>
                <a:gd name="T78" fmla="*/ 4 w 9"/>
                <a:gd name="T79" fmla="*/ 11 h 17"/>
                <a:gd name="T80" fmla="*/ 4 w 9"/>
                <a:gd name="T81" fmla="*/ 11 h 17"/>
                <a:gd name="T82" fmla="*/ 4 w 9"/>
                <a:gd name="T83" fmla="*/ 11 h 17"/>
                <a:gd name="T84" fmla="*/ 4 w 9"/>
                <a:gd name="T85" fmla="*/ 11 h 17"/>
                <a:gd name="T86" fmla="*/ 4 w 9"/>
                <a:gd name="T87" fmla="*/ 17 h 17"/>
                <a:gd name="T88" fmla="*/ 4 w 9"/>
                <a:gd name="T89" fmla="*/ 17 h 17"/>
                <a:gd name="T90" fmla="*/ 4 w 9"/>
                <a:gd name="T91" fmla="*/ 17 h 17"/>
                <a:gd name="T92" fmla="*/ 9 w 9"/>
                <a:gd name="T93" fmla="*/ 17 h 17"/>
                <a:gd name="T94" fmla="*/ 9 w 9"/>
                <a:gd name="T95" fmla="*/ 17 h 17"/>
                <a:gd name="T96" fmla="*/ 9 w 9"/>
                <a:gd name="T97" fmla="*/ 17 h 17"/>
                <a:gd name="T98" fmla="*/ 9 w 9"/>
                <a:gd name="T99" fmla="*/ 17 h 17"/>
                <a:gd name="T100" fmla="*/ 9 w 9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7"/>
                <a:gd name="T155" fmla="*/ 9 w 9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7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5"/>
                  </a:lnTo>
                  <a:lnTo>
                    <a:pt x="4" y="11"/>
                  </a:lnTo>
                  <a:lnTo>
                    <a:pt x="4" y="17"/>
                  </a:lnTo>
                  <a:lnTo>
                    <a:pt x="9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4" name="Freeform 111"/>
            <p:cNvSpPr>
              <a:spLocks/>
            </p:cNvSpPr>
            <p:nvPr/>
          </p:nvSpPr>
          <p:spPr bwMode="auto">
            <a:xfrm>
              <a:off x="4868" y="2994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0 h 23"/>
                <a:gd name="T10" fmla="*/ 0 w 5"/>
                <a:gd name="T11" fmla="*/ 0 h 23"/>
                <a:gd name="T12" fmla="*/ 0 w 5"/>
                <a:gd name="T13" fmla="*/ 0 h 23"/>
                <a:gd name="T14" fmla="*/ 0 w 5"/>
                <a:gd name="T15" fmla="*/ 6 h 23"/>
                <a:gd name="T16" fmla="*/ 0 w 5"/>
                <a:gd name="T17" fmla="*/ 6 h 23"/>
                <a:gd name="T18" fmla="*/ 0 w 5"/>
                <a:gd name="T19" fmla="*/ 6 h 23"/>
                <a:gd name="T20" fmla="*/ 0 w 5"/>
                <a:gd name="T21" fmla="*/ 6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0 w 5"/>
                <a:gd name="T31" fmla="*/ 6 h 23"/>
                <a:gd name="T32" fmla="*/ 0 w 5"/>
                <a:gd name="T33" fmla="*/ 6 h 23"/>
                <a:gd name="T34" fmla="*/ 0 w 5"/>
                <a:gd name="T35" fmla="*/ 6 h 23"/>
                <a:gd name="T36" fmla="*/ 0 w 5"/>
                <a:gd name="T37" fmla="*/ 6 h 23"/>
                <a:gd name="T38" fmla="*/ 0 w 5"/>
                <a:gd name="T39" fmla="*/ 6 h 23"/>
                <a:gd name="T40" fmla="*/ 0 w 5"/>
                <a:gd name="T41" fmla="*/ 6 h 23"/>
                <a:gd name="T42" fmla="*/ 0 w 5"/>
                <a:gd name="T43" fmla="*/ 6 h 23"/>
                <a:gd name="T44" fmla="*/ 0 w 5"/>
                <a:gd name="T45" fmla="*/ 11 h 23"/>
                <a:gd name="T46" fmla="*/ 0 w 5"/>
                <a:gd name="T47" fmla="*/ 11 h 23"/>
                <a:gd name="T48" fmla="*/ 0 w 5"/>
                <a:gd name="T49" fmla="*/ 11 h 23"/>
                <a:gd name="T50" fmla="*/ 0 w 5"/>
                <a:gd name="T51" fmla="*/ 11 h 23"/>
                <a:gd name="T52" fmla="*/ 0 w 5"/>
                <a:gd name="T53" fmla="*/ 11 h 23"/>
                <a:gd name="T54" fmla="*/ 0 w 5"/>
                <a:gd name="T55" fmla="*/ 11 h 23"/>
                <a:gd name="T56" fmla="*/ 0 w 5"/>
                <a:gd name="T57" fmla="*/ 11 h 23"/>
                <a:gd name="T58" fmla="*/ 0 w 5"/>
                <a:gd name="T59" fmla="*/ 11 h 23"/>
                <a:gd name="T60" fmla="*/ 0 w 5"/>
                <a:gd name="T61" fmla="*/ 11 h 23"/>
                <a:gd name="T62" fmla="*/ 0 w 5"/>
                <a:gd name="T63" fmla="*/ 11 h 23"/>
                <a:gd name="T64" fmla="*/ 0 w 5"/>
                <a:gd name="T65" fmla="*/ 11 h 23"/>
                <a:gd name="T66" fmla="*/ 0 w 5"/>
                <a:gd name="T67" fmla="*/ 11 h 23"/>
                <a:gd name="T68" fmla="*/ 0 w 5"/>
                <a:gd name="T69" fmla="*/ 11 h 23"/>
                <a:gd name="T70" fmla="*/ 0 w 5"/>
                <a:gd name="T71" fmla="*/ 11 h 23"/>
                <a:gd name="T72" fmla="*/ 0 w 5"/>
                <a:gd name="T73" fmla="*/ 17 h 23"/>
                <a:gd name="T74" fmla="*/ 5 w 5"/>
                <a:gd name="T75" fmla="*/ 17 h 23"/>
                <a:gd name="T76" fmla="*/ 5 w 5"/>
                <a:gd name="T77" fmla="*/ 17 h 23"/>
                <a:gd name="T78" fmla="*/ 5 w 5"/>
                <a:gd name="T79" fmla="*/ 17 h 23"/>
                <a:gd name="T80" fmla="*/ 5 w 5"/>
                <a:gd name="T81" fmla="*/ 17 h 23"/>
                <a:gd name="T82" fmla="*/ 5 w 5"/>
                <a:gd name="T83" fmla="*/ 17 h 23"/>
                <a:gd name="T84" fmla="*/ 5 w 5"/>
                <a:gd name="T85" fmla="*/ 17 h 23"/>
                <a:gd name="T86" fmla="*/ 5 w 5"/>
                <a:gd name="T87" fmla="*/ 17 h 23"/>
                <a:gd name="T88" fmla="*/ 5 w 5"/>
                <a:gd name="T89" fmla="*/ 17 h 23"/>
                <a:gd name="T90" fmla="*/ 5 w 5"/>
                <a:gd name="T91" fmla="*/ 17 h 23"/>
                <a:gd name="T92" fmla="*/ 5 w 5"/>
                <a:gd name="T93" fmla="*/ 17 h 23"/>
                <a:gd name="T94" fmla="*/ 5 w 5"/>
                <a:gd name="T95" fmla="*/ 17 h 23"/>
                <a:gd name="T96" fmla="*/ 5 w 5"/>
                <a:gd name="T97" fmla="*/ 17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5" name="Freeform 112"/>
            <p:cNvSpPr>
              <a:spLocks/>
            </p:cNvSpPr>
            <p:nvPr/>
          </p:nvSpPr>
          <p:spPr bwMode="auto">
            <a:xfrm>
              <a:off x="4873" y="3017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0 h 17"/>
                <a:gd name="T14" fmla="*/ 0 w 5"/>
                <a:gd name="T15" fmla="*/ 0 h 17"/>
                <a:gd name="T16" fmla="*/ 0 w 5"/>
                <a:gd name="T17" fmla="*/ 0 h 17"/>
                <a:gd name="T18" fmla="*/ 0 w 5"/>
                <a:gd name="T19" fmla="*/ 0 h 17"/>
                <a:gd name="T20" fmla="*/ 0 w 5"/>
                <a:gd name="T21" fmla="*/ 0 h 17"/>
                <a:gd name="T22" fmla="*/ 0 w 5"/>
                <a:gd name="T23" fmla="*/ 0 h 17"/>
                <a:gd name="T24" fmla="*/ 0 w 5"/>
                <a:gd name="T25" fmla="*/ 0 h 17"/>
                <a:gd name="T26" fmla="*/ 0 w 5"/>
                <a:gd name="T27" fmla="*/ 5 h 17"/>
                <a:gd name="T28" fmla="*/ 0 w 5"/>
                <a:gd name="T29" fmla="*/ 5 h 17"/>
                <a:gd name="T30" fmla="*/ 0 w 5"/>
                <a:gd name="T31" fmla="*/ 5 h 17"/>
                <a:gd name="T32" fmla="*/ 0 w 5"/>
                <a:gd name="T33" fmla="*/ 5 h 17"/>
                <a:gd name="T34" fmla="*/ 0 w 5"/>
                <a:gd name="T35" fmla="*/ 5 h 17"/>
                <a:gd name="T36" fmla="*/ 0 w 5"/>
                <a:gd name="T37" fmla="*/ 5 h 17"/>
                <a:gd name="T38" fmla="*/ 0 w 5"/>
                <a:gd name="T39" fmla="*/ 5 h 17"/>
                <a:gd name="T40" fmla="*/ 0 w 5"/>
                <a:gd name="T41" fmla="*/ 5 h 17"/>
                <a:gd name="T42" fmla="*/ 0 w 5"/>
                <a:gd name="T43" fmla="*/ 5 h 17"/>
                <a:gd name="T44" fmla="*/ 0 w 5"/>
                <a:gd name="T45" fmla="*/ 5 h 17"/>
                <a:gd name="T46" fmla="*/ 0 w 5"/>
                <a:gd name="T47" fmla="*/ 5 h 17"/>
                <a:gd name="T48" fmla="*/ 0 w 5"/>
                <a:gd name="T49" fmla="*/ 5 h 17"/>
                <a:gd name="T50" fmla="*/ 0 w 5"/>
                <a:gd name="T51" fmla="*/ 5 h 17"/>
                <a:gd name="T52" fmla="*/ 0 w 5"/>
                <a:gd name="T53" fmla="*/ 11 h 17"/>
                <a:gd name="T54" fmla="*/ 5 w 5"/>
                <a:gd name="T55" fmla="*/ 11 h 17"/>
                <a:gd name="T56" fmla="*/ 5 w 5"/>
                <a:gd name="T57" fmla="*/ 11 h 17"/>
                <a:gd name="T58" fmla="*/ 5 w 5"/>
                <a:gd name="T59" fmla="*/ 11 h 17"/>
                <a:gd name="T60" fmla="*/ 5 w 5"/>
                <a:gd name="T61" fmla="*/ 11 h 17"/>
                <a:gd name="T62" fmla="*/ 5 w 5"/>
                <a:gd name="T63" fmla="*/ 11 h 17"/>
                <a:gd name="T64" fmla="*/ 5 w 5"/>
                <a:gd name="T65" fmla="*/ 11 h 17"/>
                <a:gd name="T66" fmla="*/ 5 w 5"/>
                <a:gd name="T67" fmla="*/ 11 h 17"/>
                <a:gd name="T68" fmla="*/ 5 w 5"/>
                <a:gd name="T69" fmla="*/ 11 h 17"/>
                <a:gd name="T70" fmla="*/ 5 w 5"/>
                <a:gd name="T71" fmla="*/ 11 h 17"/>
                <a:gd name="T72" fmla="*/ 5 w 5"/>
                <a:gd name="T73" fmla="*/ 11 h 17"/>
                <a:gd name="T74" fmla="*/ 5 w 5"/>
                <a:gd name="T75" fmla="*/ 11 h 17"/>
                <a:gd name="T76" fmla="*/ 5 w 5"/>
                <a:gd name="T77" fmla="*/ 11 h 17"/>
                <a:gd name="T78" fmla="*/ 5 w 5"/>
                <a:gd name="T79" fmla="*/ 17 h 17"/>
                <a:gd name="T80" fmla="*/ 5 w 5"/>
                <a:gd name="T81" fmla="*/ 17 h 17"/>
                <a:gd name="T82" fmla="*/ 5 w 5"/>
                <a:gd name="T83" fmla="*/ 17 h 17"/>
                <a:gd name="T84" fmla="*/ 5 w 5"/>
                <a:gd name="T85" fmla="*/ 17 h 17"/>
                <a:gd name="T86" fmla="*/ 5 w 5"/>
                <a:gd name="T87" fmla="*/ 17 h 17"/>
                <a:gd name="T88" fmla="*/ 5 w 5"/>
                <a:gd name="T89" fmla="*/ 17 h 17"/>
                <a:gd name="T90" fmla="*/ 5 w 5"/>
                <a:gd name="T91" fmla="*/ 17 h 17"/>
                <a:gd name="T92" fmla="*/ 5 w 5"/>
                <a:gd name="T93" fmla="*/ 17 h 17"/>
                <a:gd name="T94" fmla="*/ 5 w 5"/>
                <a:gd name="T95" fmla="*/ 17 h 17"/>
                <a:gd name="T96" fmla="*/ 5 w 5"/>
                <a:gd name="T97" fmla="*/ 17 h 17"/>
                <a:gd name="T98" fmla="*/ 5 w 5"/>
                <a:gd name="T99" fmla="*/ 17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6" name="Freeform 113"/>
            <p:cNvSpPr>
              <a:spLocks/>
            </p:cNvSpPr>
            <p:nvPr/>
          </p:nvSpPr>
          <p:spPr bwMode="auto">
            <a:xfrm>
              <a:off x="4878" y="3034"/>
              <a:ext cx="4" cy="22"/>
            </a:xfrm>
            <a:custGeom>
              <a:avLst/>
              <a:gdLst>
                <a:gd name="T0" fmla="*/ 0 w 4"/>
                <a:gd name="T1" fmla="*/ 0 h 22"/>
                <a:gd name="T2" fmla="*/ 0 w 4"/>
                <a:gd name="T3" fmla="*/ 5 h 22"/>
                <a:gd name="T4" fmla="*/ 0 w 4"/>
                <a:gd name="T5" fmla="*/ 5 h 22"/>
                <a:gd name="T6" fmla="*/ 0 w 4"/>
                <a:gd name="T7" fmla="*/ 5 h 22"/>
                <a:gd name="T8" fmla="*/ 0 w 4"/>
                <a:gd name="T9" fmla="*/ 5 h 22"/>
                <a:gd name="T10" fmla="*/ 0 w 4"/>
                <a:gd name="T11" fmla="*/ 5 h 22"/>
                <a:gd name="T12" fmla="*/ 0 w 4"/>
                <a:gd name="T13" fmla="*/ 5 h 22"/>
                <a:gd name="T14" fmla="*/ 0 w 4"/>
                <a:gd name="T15" fmla="*/ 5 h 22"/>
                <a:gd name="T16" fmla="*/ 0 w 4"/>
                <a:gd name="T17" fmla="*/ 5 h 22"/>
                <a:gd name="T18" fmla="*/ 0 w 4"/>
                <a:gd name="T19" fmla="*/ 5 h 22"/>
                <a:gd name="T20" fmla="*/ 0 w 4"/>
                <a:gd name="T21" fmla="*/ 5 h 22"/>
                <a:gd name="T22" fmla="*/ 0 w 4"/>
                <a:gd name="T23" fmla="*/ 5 h 22"/>
                <a:gd name="T24" fmla="*/ 0 w 4"/>
                <a:gd name="T25" fmla="*/ 5 h 22"/>
                <a:gd name="T26" fmla="*/ 0 w 4"/>
                <a:gd name="T27" fmla="*/ 5 h 22"/>
                <a:gd name="T28" fmla="*/ 0 w 4"/>
                <a:gd name="T29" fmla="*/ 11 h 22"/>
                <a:gd name="T30" fmla="*/ 0 w 4"/>
                <a:gd name="T31" fmla="*/ 11 h 22"/>
                <a:gd name="T32" fmla="*/ 0 w 4"/>
                <a:gd name="T33" fmla="*/ 11 h 22"/>
                <a:gd name="T34" fmla="*/ 0 w 4"/>
                <a:gd name="T35" fmla="*/ 11 h 22"/>
                <a:gd name="T36" fmla="*/ 4 w 4"/>
                <a:gd name="T37" fmla="*/ 11 h 22"/>
                <a:gd name="T38" fmla="*/ 4 w 4"/>
                <a:gd name="T39" fmla="*/ 11 h 22"/>
                <a:gd name="T40" fmla="*/ 4 w 4"/>
                <a:gd name="T41" fmla="*/ 11 h 22"/>
                <a:gd name="T42" fmla="*/ 4 w 4"/>
                <a:gd name="T43" fmla="*/ 11 h 22"/>
                <a:gd name="T44" fmla="*/ 4 w 4"/>
                <a:gd name="T45" fmla="*/ 11 h 22"/>
                <a:gd name="T46" fmla="*/ 4 w 4"/>
                <a:gd name="T47" fmla="*/ 11 h 22"/>
                <a:gd name="T48" fmla="*/ 4 w 4"/>
                <a:gd name="T49" fmla="*/ 11 h 22"/>
                <a:gd name="T50" fmla="*/ 4 w 4"/>
                <a:gd name="T51" fmla="*/ 11 h 22"/>
                <a:gd name="T52" fmla="*/ 4 w 4"/>
                <a:gd name="T53" fmla="*/ 17 h 22"/>
                <a:gd name="T54" fmla="*/ 4 w 4"/>
                <a:gd name="T55" fmla="*/ 17 h 22"/>
                <a:gd name="T56" fmla="*/ 4 w 4"/>
                <a:gd name="T57" fmla="*/ 17 h 22"/>
                <a:gd name="T58" fmla="*/ 4 w 4"/>
                <a:gd name="T59" fmla="*/ 17 h 22"/>
                <a:gd name="T60" fmla="*/ 4 w 4"/>
                <a:gd name="T61" fmla="*/ 17 h 22"/>
                <a:gd name="T62" fmla="*/ 4 w 4"/>
                <a:gd name="T63" fmla="*/ 17 h 22"/>
                <a:gd name="T64" fmla="*/ 4 w 4"/>
                <a:gd name="T65" fmla="*/ 17 h 22"/>
                <a:gd name="T66" fmla="*/ 4 w 4"/>
                <a:gd name="T67" fmla="*/ 17 h 22"/>
                <a:gd name="T68" fmla="*/ 4 w 4"/>
                <a:gd name="T69" fmla="*/ 17 h 22"/>
                <a:gd name="T70" fmla="*/ 4 w 4"/>
                <a:gd name="T71" fmla="*/ 17 h 22"/>
                <a:gd name="T72" fmla="*/ 4 w 4"/>
                <a:gd name="T73" fmla="*/ 17 h 22"/>
                <a:gd name="T74" fmla="*/ 4 w 4"/>
                <a:gd name="T75" fmla="*/ 17 h 22"/>
                <a:gd name="T76" fmla="*/ 4 w 4"/>
                <a:gd name="T77" fmla="*/ 17 h 22"/>
                <a:gd name="T78" fmla="*/ 4 w 4"/>
                <a:gd name="T79" fmla="*/ 22 h 22"/>
                <a:gd name="T80" fmla="*/ 4 w 4"/>
                <a:gd name="T81" fmla="*/ 22 h 22"/>
                <a:gd name="T82" fmla="*/ 4 w 4"/>
                <a:gd name="T83" fmla="*/ 22 h 22"/>
                <a:gd name="T84" fmla="*/ 4 w 4"/>
                <a:gd name="T85" fmla="*/ 22 h 22"/>
                <a:gd name="T86" fmla="*/ 4 w 4"/>
                <a:gd name="T87" fmla="*/ 22 h 22"/>
                <a:gd name="T88" fmla="*/ 4 w 4"/>
                <a:gd name="T89" fmla="*/ 22 h 22"/>
                <a:gd name="T90" fmla="*/ 4 w 4"/>
                <a:gd name="T91" fmla="*/ 22 h 22"/>
                <a:gd name="T92" fmla="*/ 4 w 4"/>
                <a:gd name="T93" fmla="*/ 22 h 22"/>
                <a:gd name="T94" fmla="*/ 4 w 4"/>
                <a:gd name="T95" fmla="*/ 22 h 22"/>
                <a:gd name="T96" fmla="*/ 4 w 4"/>
                <a:gd name="T97" fmla="*/ 22 h 22"/>
                <a:gd name="T98" fmla="*/ 4 w 4"/>
                <a:gd name="T99" fmla="*/ 22 h 22"/>
                <a:gd name="T100" fmla="*/ 4 w 4"/>
                <a:gd name="T101" fmla="*/ 22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2"/>
                <a:gd name="T155" fmla="*/ 4 w 4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2">
                  <a:moveTo>
                    <a:pt x="0" y="0"/>
                  </a:moveTo>
                  <a:lnTo>
                    <a:pt x="0" y="5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17"/>
                  </a:lnTo>
                  <a:lnTo>
                    <a:pt x="4" y="2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7" name="Freeform 114"/>
            <p:cNvSpPr>
              <a:spLocks/>
            </p:cNvSpPr>
            <p:nvPr/>
          </p:nvSpPr>
          <p:spPr bwMode="auto">
            <a:xfrm>
              <a:off x="4882" y="3056"/>
              <a:ext cx="10" cy="29"/>
            </a:xfrm>
            <a:custGeom>
              <a:avLst/>
              <a:gdLst>
                <a:gd name="T0" fmla="*/ 0 w 10"/>
                <a:gd name="T1" fmla="*/ 0 h 29"/>
                <a:gd name="T2" fmla="*/ 0 w 10"/>
                <a:gd name="T3" fmla="*/ 6 h 29"/>
                <a:gd name="T4" fmla="*/ 0 w 10"/>
                <a:gd name="T5" fmla="*/ 6 h 29"/>
                <a:gd name="T6" fmla="*/ 0 w 10"/>
                <a:gd name="T7" fmla="*/ 6 h 29"/>
                <a:gd name="T8" fmla="*/ 0 w 10"/>
                <a:gd name="T9" fmla="*/ 6 h 29"/>
                <a:gd name="T10" fmla="*/ 0 w 10"/>
                <a:gd name="T11" fmla="*/ 6 h 29"/>
                <a:gd name="T12" fmla="*/ 0 w 10"/>
                <a:gd name="T13" fmla="*/ 6 h 29"/>
                <a:gd name="T14" fmla="*/ 0 w 10"/>
                <a:gd name="T15" fmla="*/ 6 h 29"/>
                <a:gd name="T16" fmla="*/ 5 w 10"/>
                <a:gd name="T17" fmla="*/ 6 h 29"/>
                <a:gd name="T18" fmla="*/ 5 w 10"/>
                <a:gd name="T19" fmla="*/ 6 h 29"/>
                <a:gd name="T20" fmla="*/ 5 w 10"/>
                <a:gd name="T21" fmla="*/ 6 h 29"/>
                <a:gd name="T22" fmla="*/ 5 w 10"/>
                <a:gd name="T23" fmla="*/ 6 h 29"/>
                <a:gd name="T24" fmla="*/ 5 w 10"/>
                <a:gd name="T25" fmla="*/ 6 h 29"/>
                <a:gd name="T26" fmla="*/ 5 w 10"/>
                <a:gd name="T27" fmla="*/ 12 h 29"/>
                <a:gd name="T28" fmla="*/ 5 w 10"/>
                <a:gd name="T29" fmla="*/ 12 h 29"/>
                <a:gd name="T30" fmla="*/ 5 w 10"/>
                <a:gd name="T31" fmla="*/ 12 h 29"/>
                <a:gd name="T32" fmla="*/ 5 w 10"/>
                <a:gd name="T33" fmla="*/ 12 h 29"/>
                <a:gd name="T34" fmla="*/ 5 w 10"/>
                <a:gd name="T35" fmla="*/ 12 h 29"/>
                <a:gd name="T36" fmla="*/ 5 w 10"/>
                <a:gd name="T37" fmla="*/ 12 h 29"/>
                <a:gd name="T38" fmla="*/ 5 w 10"/>
                <a:gd name="T39" fmla="*/ 12 h 29"/>
                <a:gd name="T40" fmla="*/ 5 w 10"/>
                <a:gd name="T41" fmla="*/ 12 h 29"/>
                <a:gd name="T42" fmla="*/ 5 w 10"/>
                <a:gd name="T43" fmla="*/ 12 h 29"/>
                <a:gd name="T44" fmla="*/ 5 w 10"/>
                <a:gd name="T45" fmla="*/ 12 h 29"/>
                <a:gd name="T46" fmla="*/ 5 w 10"/>
                <a:gd name="T47" fmla="*/ 12 h 29"/>
                <a:gd name="T48" fmla="*/ 5 w 10"/>
                <a:gd name="T49" fmla="*/ 12 h 29"/>
                <a:gd name="T50" fmla="*/ 5 w 10"/>
                <a:gd name="T51" fmla="*/ 18 h 29"/>
                <a:gd name="T52" fmla="*/ 5 w 10"/>
                <a:gd name="T53" fmla="*/ 18 h 29"/>
                <a:gd name="T54" fmla="*/ 5 w 10"/>
                <a:gd name="T55" fmla="*/ 18 h 29"/>
                <a:gd name="T56" fmla="*/ 5 w 10"/>
                <a:gd name="T57" fmla="*/ 18 h 29"/>
                <a:gd name="T58" fmla="*/ 5 w 10"/>
                <a:gd name="T59" fmla="*/ 18 h 29"/>
                <a:gd name="T60" fmla="*/ 5 w 10"/>
                <a:gd name="T61" fmla="*/ 18 h 29"/>
                <a:gd name="T62" fmla="*/ 5 w 10"/>
                <a:gd name="T63" fmla="*/ 18 h 29"/>
                <a:gd name="T64" fmla="*/ 5 w 10"/>
                <a:gd name="T65" fmla="*/ 18 h 29"/>
                <a:gd name="T66" fmla="*/ 5 w 10"/>
                <a:gd name="T67" fmla="*/ 18 h 29"/>
                <a:gd name="T68" fmla="*/ 5 w 10"/>
                <a:gd name="T69" fmla="*/ 18 h 29"/>
                <a:gd name="T70" fmla="*/ 5 w 10"/>
                <a:gd name="T71" fmla="*/ 18 h 29"/>
                <a:gd name="T72" fmla="*/ 5 w 10"/>
                <a:gd name="T73" fmla="*/ 18 h 29"/>
                <a:gd name="T74" fmla="*/ 5 w 10"/>
                <a:gd name="T75" fmla="*/ 23 h 29"/>
                <a:gd name="T76" fmla="*/ 5 w 10"/>
                <a:gd name="T77" fmla="*/ 23 h 29"/>
                <a:gd name="T78" fmla="*/ 5 w 10"/>
                <a:gd name="T79" fmla="*/ 23 h 29"/>
                <a:gd name="T80" fmla="*/ 5 w 10"/>
                <a:gd name="T81" fmla="*/ 23 h 29"/>
                <a:gd name="T82" fmla="*/ 5 w 10"/>
                <a:gd name="T83" fmla="*/ 23 h 29"/>
                <a:gd name="T84" fmla="*/ 5 w 10"/>
                <a:gd name="T85" fmla="*/ 23 h 29"/>
                <a:gd name="T86" fmla="*/ 5 w 10"/>
                <a:gd name="T87" fmla="*/ 23 h 29"/>
                <a:gd name="T88" fmla="*/ 5 w 10"/>
                <a:gd name="T89" fmla="*/ 23 h 29"/>
                <a:gd name="T90" fmla="*/ 5 w 10"/>
                <a:gd name="T91" fmla="*/ 23 h 29"/>
                <a:gd name="T92" fmla="*/ 5 w 10"/>
                <a:gd name="T93" fmla="*/ 23 h 29"/>
                <a:gd name="T94" fmla="*/ 5 w 10"/>
                <a:gd name="T95" fmla="*/ 23 h 29"/>
                <a:gd name="T96" fmla="*/ 5 w 10"/>
                <a:gd name="T97" fmla="*/ 29 h 29"/>
                <a:gd name="T98" fmla="*/ 10 w 10"/>
                <a:gd name="T99" fmla="*/ 29 h 29"/>
                <a:gd name="T100" fmla="*/ 10 w 10"/>
                <a:gd name="T101" fmla="*/ 29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9"/>
                <a:gd name="T155" fmla="*/ 10 w 10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9">
                  <a:moveTo>
                    <a:pt x="0" y="0"/>
                  </a:moveTo>
                  <a:lnTo>
                    <a:pt x="0" y="6"/>
                  </a:lnTo>
                  <a:lnTo>
                    <a:pt x="5" y="6"/>
                  </a:lnTo>
                  <a:lnTo>
                    <a:pt x="5" y="12"/>
                  </a:lnTo>
                  <a:lnTo>
                    <a:pt x="5" y="18"/>
                  </a:lnTo>
                  <a:lnTo>
                    <a:pt x="5" y="23"/>
                  </a:lnTo>
                  <a:lnTo>
                    <a:pt x="5" y="29"/>
                  </a:lnTo>
                  <a:lnTo>
                    <a:pt x="10" y="29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8" name="Freeform 115"/>
            <p:cNvSpPr>
              <a:spLocks/>
            </p:cNvSpPr>
            <p:nvPr/>
          </p:nvSpPr>
          <p:spPr bwMode="auto">
            <a:xfrm>
              <a:off x="4892" y="3085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0 h 23"/>
                <a:gd name="T10" fmla="*/ 0 w 5"/>
                <a:gd name="T11" fmla="*/ 0 h 23"/>
                <a:gd name="T12" fmla="*/ 0 w 5"/>
                <a:gd name="T13" fmla="*/ 0 h 23"/>
                <a:gd name="T14" fmla="*/ 0 w 5"/>
                <a:gd name="T15" fmla="*/ 0 h 23"/>
                <a:gd name="T16" fmla="*/ 0 w 5"/>
                <a:gd name="T17" fmla="*/ 0 h 23"/>
                <a:gd name="T18" fmla="*/ 0 w 5"/>
                <a:gd name="T19" fmla="*/ 0 h 23"/>
                <a:gd name="T20" fmla="*/ 0 w 5"/>
                <a:gd name="T21" fmla="*/ 6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0 w 5"/>
                <a:gd name="T31" fmla="*/ 6 h 23"/>
                <a:gd name="T32" fmla="*/ 0 w 5"/>
                <a:gd name="T33" fmla="*/ 6 h 23"/>
                <a:gd name="T34" fmla="*/ 0 w 5"/>
                <a:gd name="T35" fmla="*/ 6 h 23"/>
                <a:gd name="T36" fmla="*/ 0 w 5"/>
                <a:gd name="T37" fmla="*/ 6 h 23"/>
                <a:gd name="T38" fmla="*/ 0 w 5"/>
                <a:gd name="T39" fmla="*/ 6 h 23"/>
                <a:gd name="T40" fmla="*/ 0 w 5"/>
                <a:gd name="T41" fmla="*/ 6 h 23"/>
                <a:gd name="T42" fmla="*/ 0 w 5"/>
                <a:gd name="T43" fmla="*/ 6 h 23"/>
                <a:gd name="T44" fmla="*/ 0 w 5"/>
                <a:gd name="T45" fmla="*/ 11 h 23"/>
                <a:gd name="T46" fmla="*/ 0 w 5"/>
                <a:gd name="T47" fmla="*/ 11 h 23"/>
                <a:gd name="T48" fmla="*/ 0 w 5"/>
                <a:gd name="T49" fmla="*/ 11 h 23"/>
                <a:gd name="T50" fmla="*/ 0 w 5"/>
                <a:gd name="T51" fmla="*/ 11 h 23"/>
                <a:gd name="T52" fmla="*/ 0 w 5"/>
                <a:gd name="T53" fmla="*/ 11 h 23"/>
                <a:gd name="T54" fmla="*/ 0 w 5"/>
                <a:gd name="T55" fmla="*/ 11 h 23"/>
                <a:gd name="T56" fmla="*/ 0 w 5"/>
                <a:gd name="T57" fmla="*/ 11 h 23"/>
                <a:gd name="T58" fmla="*/ 0 w 5"/>
                <a:gd name="T59" fmla="*/ 11 h 23"/>
                <a:gd name="T60" fmla="*/ 0 w 5"/>
                <a:gd name="T61" fmla="*/ 11 h 23"/>
                <a:gd name="T62" fmla="*/ 0 w 5"/>
                <a:gd name="T63" fmla="*/ 11 h 23"/>
                <a:gd name="T64" fmla="*/ 0 w 5"/>
                <a:gd name="T65" fmla="*/ 11 h 23"/>
                <a:gd name="T66" fmla="*/ 0 w 5"/>
                <a:gd name="T67" fmla="*/ 17 h 23"/>
                <a:gd name="T68" fmla="*/ 0 w 5"/>
                <a:gd name="T69" fmla="*/ 17 h 23"/>
                <a:gd name="T70" fmla="*/ 0 w 5"/>
                <a:gd name="T71" fmla="*/ 17 h 23"/>
                <a:gd name="T72" fmla="*/ 0 w 5"/>
                <a:gd name="T73" fmla="*/ 17 h 23"/>
                <a:gd name="T74" fmla="*/ 0 w 5"/>
                <a:gd name="T75" fmla="*/ 17 h 23"/>
                <a:gd name="T76" fmla="*/ 0 w 5"/>
                <a:gd name="T77" fmla="*/ 17 h 23"/>
                <a:gd name="T78" fmla="*/ 5 w 5"/>
                <a:gd name="T79" fmla="*/ 17 h 23"/>
                <a:gd name="T80" fmla="*/ 5 w 5"/>
                <a:gd name="T81" fmla="*/ 17 h 23"/>
                <a:gd name="T82" fmla="*/ 5 w 5"/>
                <a:gd name="T83" fmla="*/ 17 h 23"/>
                <a:gd name="T84" fmla="*/ 5 w 5"/>
                <a:gd name="T85" fmla="*/ 17 h 23"/>
                <a:gd name="T86" fmla="*/ 5 w 5"/>
                <a:gd name="T87" fmla="*/ 17 h 23"/>
                <a:gd name="T88" fmla="*/ 5 w 5"/>
                <a:gd name="T89" fmla="*/ 17 h 23"/>
                <a:gd name="T90" fmla="*/ 5 w 5"/>
                <a:gd name="T91" fmla="*/ 23 h 23"/>
                <a:gd name="T92" fmla="*/ 5 w 5"/>
                <a:gd name="T93" fmla="*/ 23 h 23"/>
                <a:gd name="T94" fmla="*/ 5 w 5"/>
                <a:gd name="T95" fmla="*/ 23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9" name="Freeform 116"/>
            <p:cNvSpPr>
              <a:spLocks/>
            </p:cNvSpPr>
            <p:nvPr/>
          </p:nvSpPr>
          <p:spPr bwMode="auto">
            <a:xfrm>
              <a:off x="4897" y="3108"/>
              <a:ext cx="4" cy="22"/>
            </a:xfrm>
            <a:custGeom>
              <a:avLst/>
              <a:gdLst>
                <a:gd name="T0" fmla="*/ 0 w 4"/>
                <a:gd name="T1" fmla="*/ 0 h 22"/>
                <a:gd name="T2" fmla="*/ 0 w 4"/>
                <a:gd name="T3" fmla="*/ 0 h 22"/>
                <a:gd name="T4" fmla="*/ 0 w 4"/>
                <a:gd name="T5" fmla="*/ 0 h 22"/>
                <a:gd name="T6" fmla="*/ 0 w 4"/>
                <a:gd name="T7" fmla="*/ 0 h 22"/>
                <a:gd name="T8" fmla="*/ 0 w 4"/>
                <a:gd name="T9" fmla="*/ 0 h 22"/>
                <a:gd name="T10" fmla="*/ 0 w 4"/>
                <a:gd name="T11" fmla="*/ 0 h 22"/>
                <a:gd name="T12" fmla="*/ 0 w 4"/>
                <a:gd name="T13" fmla="*/ 0 h 22"/>
                <a:gd name="T14" fmla="*/ 0 w 4"/>
                <a:gd name="T15" fmla="*/ 5 h 22"/>
                <a:gd name="T16" fmla="*/ 0 w 4"/>
                <a:gd name="T17" fmla="*/ 5 h 22"/>
                <a:gd name="T18" fmla="*/ 0 w 4"/>
                <a:gd name="T19" fmla="*/ 5 h 22"/>
                <a:gd name="T20" fmla="*/ 0 w 4"/>
                <a:gd name="T21" fmla="*/ 5 h 22"/>
                <a:gd name="T22" fmla="*/ 0 w 4"/>
                <a:gd name="T23" fmla="*/ 5 h 22"/>
                <a:gd name="T24" fmla="*/ 0 w 4"/>
                <a:gd name="T25" fmla="*/ 5 h 22"/>
                <a:gd name="T26" fmla="*/ 0 w 4"/>
                <a:gd name="T27" fmla="*/ 5 h 22"/>
                <a:gd name="T28" fmla="*/ 0 w 4"/>
                <a:gd name="T29" fmla="*/ 5 h 22"/>
                <a:gd name="T30" fmla="*/ 0 w 4"/>
                <a:gd name="T31" fmla="*/ 5 h 22"/>
                <a:gd name="T32" fmla="*/ 0 w 4"/>
                <a:gd name="T33" fmla="*/ 5 h 22"/>
                <a:gd name="T34" fmla="*/ 0 w 4"/>
                <a:gd name="T35" fmla="*/ 5 h 22"/>
                <a:gd name="T36" fmla="*/ 0 w 4"/>
                <a:gd name="T37" fmla="*/ 11 h 22"/>
                <a:gd name="T38" fmla="*/ 0 w 4"/>
                <a:gd name="T39" fmla="*/ 11 h 22"/>
                <a:gd name="T40" fmla="*/ 0 w 4"/>
                <a:gd name="T41" fmla="*/ 11 h 22"/>
                <a:gd name="T42" fmla="*/ 0 w 4"/>
                <a:gd name="T43" fmla="*/ 11 h 22"/>
                <a:gd name="T44" fmla="*/ 0 w 4"/>
                <a:gd name="T45" fmla="*/ 11 h 22"/>
                <a:gd name="T46" fmla="*/ 0 w 4"/>
                <a:gd name="T47" fmla="*/ 11 h 22"/>
                <a:gd name="T48" fmla="*/ 0 w 4"/>
                <a:gd name="T49" fmla="*/ 11 h 22"/>
                <a:gd name="T50" fmla="*/ 0 w 4"/>
                <a:gd name="T51" fmla="*/ 11 h 22"/>
                <a:gd name="T52" fmla="*/ 0 w 4"/>
                <a:gd name="T53" fmla="*/ 11 h 22"/>
                <a:gd name="T54" fmla="*/ 0 w 4"/>
                <a:gd name="T55" fmla="*/ 11 h 22"/>
                <a:gd name="T56" fmla="*/ 0 w 4"/>
                <a:gd name="T57" fmla="*/ 11 h 22"/>
                <a:gd name="T58" fmla="*/ 0 w 4"/>
                <a:gd name="T59" fmla="*/ 11 h 22"/>
                <a:gd name="T60" fmla="*/ 4 w 4"/>
                <a:gd name="T61" fmla="*/ 17 h 22"/>
                <a:gd name="T62" fmla="*/ 4 w 4"/>
                <a:gd name="T63" fmla="*/ 17 h 22"/>
                <a:gd name="T64" fmla="*/ 4 w 4"/>
                <a:gd name="T65" fmla="*/ 17 h 22"/>
                <a:gd name="T66" fmla="*/ 4 w 4"/>
                <a:gd name="T67" fmla="*/ 17 h 22"/>
                <a:gd name="T68" fmla="*/ 4 w 4"/>
                <a:gd name="T69" fmla="*/ 17 h 22"/>
                <a:gd name="T70" fmla="*/ 4 w 4"/>
                <a:gd name="T71" fmla="*/ 17 h 22"/>
                <a:gd name="T72" fmla="*/ 4 w 4"/>
                <a:gd name="T73" fmla="*/ 17 h 22"/>
                <a:gd name="T74" fmla="*/ 4 w 4"/>
                <a:gd name="T75" fmla="*/ 17 h 22"/>
                <a:gd name="T76" fmla="*/ 4 w 4"/>
                <a:gd name="T77" fmla="*/ 17 h 22"/>
                <a:gd name="T78" fmla="*/ 4 w 4"/>
                <a:gd name="T79" fmla="*/ 17 h 22"/>
                <a:gd name="T80" fmla="*/ 4 w 4"/>
                <a:gd name="T81" fmla="*/ 17 h 22"/>
                <a:gd name="T82" fmla="*/ 4 w 4"/>
                <a:gd name="T83" fmla="*/ 22 h 22"/>
                <a:gd name="T84" fmla="*/ 4 w 4"/>
                <a:gd name="T85" fmla="*/ 22 h 22"/>
                <a:gd name="T86" fmla="*/ 4 w 4"/>
                <a:gd name="T87" fmla="*/ 22 h 22"/>
                <a:gd name="T88" fmla="*/ 4 w 4"/>
                <a:gd name="T89" fmla="*/ 22 h 22"/>
                <a:gd name="T90" fmla="*/ 4 w 4"/>
                <a:gd name="T91" fmla="*/ 22 h 22"/>
                <a:gd name="T92" fmla="*/ 4 w 4"/>
                <a:gd name="T93" fmla="*/ 22 h 22"/>
                <a:gd name="T94" fmla="*/ 4 w 4"/>
                <a:gd name="T95" fmla="*/ 22 h 22"/>
                <a:gd name="T96" fmla="*/ 4 w 4"/>
                <a:gd name="T97" fmla="*/ 22 h 22"/>
                <a:gd name="T98" fmla="*/ 4 w 4"/>
                <a:gd name="T99" fmla="*/ 22 h 22"/>
                <a:gd name="T100" fmla="*/ 4 w 4"/>
                <a:gd name="T101" fmla="*/ 22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2"/>
                <a:gd name="T155" fmla="*/ 4 w 4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2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11"/>
                  </a:lnTo>
                  <a:lnTo>
                    <a:pt x="4" y="17"/>
                  </a:lnTo>
                  <a:lnTo>
                    <a:pt x="4" y="2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0" name="Freeform 117"/>
            <p:cNvSpPr>
              <a:spLocks/>
            </p:cNvSpPr>
            <p:nvPr/>
          </p:nvSpPr>
          <p:spPr bwMode="auto">
            <a:xfrm>
              <a:off x="4901" y="3130"/>
              <a:ext cx="5" cy="29"/>
            </a:xfrm>
            <a:custGeom>
              <a:avLst/>
              <a:gdLst>
                <a:gd name="T0" fmla="*/ 0 w 5"/>
                <a:gd name="T1" fmla="*/ 0 h 29"/>
                <a:gd name="T2" fmla="*/ 0 w 5"/>
                <a:gd name="T3" fmla="*/ 0 h 29"/>
                <a:gd name="T4" fmla="*/ 0 w 5"/>
                <a:gd name="T5" fmla="*/ 0 h 29"/>
                <a:gd name="T6" fmla="*/ 0 w 5"/>
                <a:gd name="T7" fmla="*/ 6 h 29"/>
                <a:gd name="T8" fmla="*/ 0 w 5"/>
                <a:gd name="T9" fmla="*/ 6 h 29"/>
                <a:gd name="T10" fmla="*/ 0 w 5"/>
                <a:gd name="T11" fmla="*/ 6 h 29"/>
                <a:gd name="T12" fmla="*/ 0 w 5"/>
                <a:gd name="T13" fmla="*/ 6 h 29"/>
                <a:gd name="T14" fmla="*/ 0 w 5"/>
                <a:gd name="T15" fmla="*/ 6 h 29"/>
                <a:gd name="T16" fmla="*/ 0 w 5"/>
                <a:gd name="T17" fmla="*/ 6 h 29"/>
                <a:gd name="T18" fmla="*/ 0 w 5"/>
                <a:gd name="T19" fmla="*/ 6 h 29"/>
                <a:gd name="T20" fmla="*/ 0 w 5"/>
                <a:gd name="T21" fmla="*/ 6 h 29"/>
                <a:gd name="T22" fmla="*/ 0 w 5"/>
                <a:gd name="T23" fmla="*/ 6 h 29"/>
                <a:gd name="T24" fmla="*/ 0 w 5"/>
                <a:gd name="T25" fmla="*/ 6 h 29"/>
                <a:gd name="T26" fmla="*/ 0 w 5"/>
                <a:gd name="T27" fmla="*/ 6 h 29"/>
                <a:gd name="T28" fmla="*/ 0 w 5"/>
                <a:gd name="T29" fmla="*/ 12 h 29"/>
                <a:gd name="T30" fmla="*/ 0 w 5"/>
                <a:gd name="T31" fmla="*/ 12 h 29"/>
                <a:gd name="T32" fmla="*/ 0 w 5"/>
                <a:gd name="T33" fmla="*/ 12 h 29"/>
                <a:gd name="T34" fmla="*/ 0 w 5"/>
                <a:gd name="T35" fmla="*/ 12 h 29"/>
                <a:gd name="T36" fmla="*/ 0 w 5"/>
                <a:gd name="T37" fmla="*/ 12 h 29"/>
                <a:gd name="T38" fmla="*/ 0 w 5"/>
                <a:gd name="T39" fmla="*/ 12 h 29"/>
                <a:gd name="T40" fmla="*/ 5 w 5"/>
                <a:gd name="T41" fmla="*/ 12 h 29"/>
                <a:gd name="T42" fmla="*/ 5 w 5"/>
                <a:gd name="T43" fmla="*/ 12 h 29"/>
                <a:gd name="T44" fmla="*/ 5 w 5"/>
                <a:gd name="T45" fmla="*/ 12 h 29"/>
                <a:gd name="T46" fmla="*/ 5 w 5"/>
                <a:gd name="T47" fmla="*/ 12 h 29"/>
                <a:gd name="T48" fmla="*/ 5 w 5"/>
                <a:gd name="T49" fmla="*/ 12 h 29"/>
                <a:gd name="T50" fmla="*/ 5 w 5"/>
                <a:gd name="T51" fmla="*/ 12 h 29"/>
                <a:gd name="T52" fmla="*/ 5 w 5"/>
                <a:gd name="T53" fmla="*/ 18 h 29"/>
                <a:gd name="T54" fmla="*/ 5 w 5"/>
                <a:gd name="T55" fmla="*/ 18 h 29"/>
                <a:gd name="T56" fmla="*/ 5 w 5"/>
                <a:gd name="T57" fmla="*/ 18 h 29"/>
                <a:gd name="T58" fmla="*/ 5 w 5"/>
                <a:gd name="T59" fmla="*/ 18 h 29"/>
                <a:gd name="T60" fmla="*/ 5 w 5"/>
                <a:gd name="T61" fmla="*/ 18 h 29"/>
                <a:gd name="T62" fmla="*/ 5 w 5"/>
                <a:gd name="T63" fmla="*/ 18 h 29"/>
                <a:gd name="T64" fmla="*/ 5 w 5"/>
                <a:gd name="T65" fmla="*/ 18 h 29"/>
                <a:gd name="T66" fmla="*/ 5 w 5"/>
                <a:gd name="T67" fmla="*/ 18 h 29"/>
                <a:gd name="T68" fmla="*/ 5 w 5"/>
                <a:gd name="T69" fmla="*/ 18 h 29"/>
                <a:gd name="T70" fmla="*/ 5 w 5"/>
                <a:gd name="T71" fmla="*/ 18 h 29"/>
                <a:gd name="T72" fmla="*/ 5 w 5"/>
                <a:gd name="T73" fmla="*/ 18 h 29"/>
                <a:gd name="T74" fmla="*/ 5 w 5"/>
                <a:gd name="T75" fmla="*/ 18 h 29"/>
                <a:gd name="T76" fmla="*/ 5 w 5"/>
                <a:gd name="T77" fmla="*/ 23 h 29"/>
                <a:gd name="T78" fmla="*/ 5 w 5"/>
                <a:gd name="T79" fmla="*/ 23 h 29"/>
                <a:gd name="T80" fmla="*/ 5 w 5"/>
                <a:gd name="T81" fmla="*/ 23 h 29"/>
                <a:gd name="T82" fmla="*/ 5 w 5"/>
                <a:gd name="T83" fmla="*/ 23 h 29"/>
                <a:gd name="T84" fmla="*/ 5 w 5"/>
                <a:gd name="T85" fmla="*/ 23 h 29"/>
                <a:gd name="T86" fmla="*/ 5 w 5"/>
                <a:gd name="T87" fmla="*/ 23 h 29"/>
                <a:gd name="T88" fmla="*/ 5 w 5"/>
                <a:gd name="T89" fmla="*/ 23 h 29"/>
                <a:gd name="T90" fmla="*/ 5 w 5"/>
                <a:gd name="T91" fmla="*/ 23 h 29"/>
                <a:gd name="T92" fmla="*/ 5 w 5"/>
                <a:gd name="T93" fmla="*/ 23 h 29"/>
                <a:gd name="T94" fmla="*/ 5 w 5"/>
                <a:gd name="T95" fmla="*/ 23 h 29"/>
                <a:gd name="T96" fmla="*/ 5 w 5"/>
                <a:gd name="T97" fmla="*/ 23 h 29"/>
                <a:gd name="T98" fmla="*/ 5 w 5"/>
                <a:gd name="T99" fmla="*/ 29 h 29"/>
                <a:gd name="T100" fmla="*/ 5 w 5"/>
                <a:gd name="T101" fmla="*/ 29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9"/>
                <a:gd name="T155" fmla="*/ 5 w 5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9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18"/>
                  </a:lnTo>
                  <a:lnTo>
                    <a:pt x="5" y="23"/>
                  </a:lnTo>
                  <a:lnTo>
                    <a:pt x="5" y="29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1" name="Freeform 118"/>
            <p:cNvSpPr>
              <a:spLocks/>
            </p:cNvSpPr>
            <p:nvPr/>
          </p:nvSpPr>
          <p:spPr bwMode="auto">
            <a:xfrm>
              <a:off x="4906" y="3159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0 h 23"/>
                <a:gd name="T10" fmla="*/ 0 w 5"/>
                <a:gd name="T11" fmla="*/ 0 h 23"/>
                <a:gd name="T12" fmla="*/ 0 w 5"/>
                <a:gd name="T13" fmla="*/ 0 h 23"/>
                <a:gd name="T14" fmla="*/ 0 w 5"/>
                <a:gd name="T15" fmla="*/ 0 h 23"/>
                <a:gd name="T16" fmla="*/ 0 w 5"/>
                <a:gd name="T17" fmla="*/ 0 h 23"/>
                <a:gd name="T18" fmla="*/ 0 w 5"/>
                <a:gd name="T19" fmla="*/ 0 h 23"/>
                <a:gd name="T20" fmla="*/ 0 w 5"/>
                <a:gd name="T21" fmla="*/ 0 h 23"/>
                <a:gd name="T22" fmla="*/ 5 w 5"/>
                <a:gd name="T23" fmla="*/ 6 h 23"/>
                <a:gd name="T24" fmla="*/ 5 w 5"/>
                <a:gd name="T25" fmla="*/ 6 h 23"/>
                <a:gd name="T26" fmla="*/ 5 w 5"/>
                <a:gd name="T27" fmla="*/ 6 h 23"/>
                <a:gd name="T28" fmla="*/ 5 w 5"/>
                <a:gd name="T29" fmla="*/ 6 h 23"/>
                <a:gd name="T30" fmla="*/ 5 w 5"/>
                <a:gd name="T31" fmla="*/ 6 h 23"/>
                <a:gd name="T32" fmla="*/ 5 w 5"/>
                <a:gd name="T33" fmla="*/ 6 h 23"/>
                <a:gd name="T34" fmla="*/ 5 w 5"/>
                <a:gd name="T35" fmla="*/ 6 h 23"/>
                <a:gd name="T36" fmla="*/ 5 w 5"/>
                <a:gd name="T37" fmla="*/ 6 h 23"/>
                <a:gd name="T38" fmla="*/ 5 w 5"/>
                <a:gd name="T39" fmla="*/ 6 h 23"/>
                <a:gd name="T40" fmla="*/ 5 w 5"/>
                <a:gd name="T41" fmla="*/ 6 h 23"/>
                <a:gd name="T42" fmla="*/ 5 w 5"/>
                <a:gd name="T43" fmla="*/ 6 h 23"/>
                <a:gd name="T44" fmla="*/ 5 w 5"/>
                <a:gd name="T45" fmla="*/ 6 h 23"/>
                <a:gd name="T46" fmla="*/ 5 w 5"/>
                <a:gd name="T47" fmla="*/ 11 h 23"/>
                <a:gd name="T48" fmla="*/ 5 w 5"/>
                <a:gd name="T49" fmla="*/ 11 h 23"/>
                <a:gd name="T50" fmla="*/ 5 w 5"/>
                <a:gd name="T51" fmla="*/ 11 h 23"/>
                <a:gd name="T52" fmla="*/ 5 w 5"/>
                <a:gd name="T53" fmla="*/ 11 h 23"/>
                <a:gd name="T54" fmla="*/ 5 w 5"/>
                <a:gd name="T55" fmla="*/ 11 h 23"/>
                <a:gd name="T56" fmla="*/ 5 w 5"/>
                <a:gd name="T57" fmla="*/ 11 h 23"/>
                <a:gd name="T58" fmla="*/ 5 w 5"/>
                <a:gd name="T59" fmla="*/ 11 h 23"/>
                <a:gd name="T60" fmla="*/ 5 w 5"/>
                <a:gd name="T61" fmla="*/ 11 h 23"/>
                <a:gd name="T62" fmla="*/ 5 w 5"/>
                <a:gd name="T63" fmla="*/ 11 h 23"/>
                <a:gd name="T64" fmla="*/ 5 w 5"/>
                <a:gd name="T65" fmla="*/ 11 h 23"/>
                <a:gd name="T66" fmla="*/ 5 w 5"/>
                <a:gd name="T67" fmla="*/ 11 h 23"/>
                <a:gd name="T68" fmla="*/ 5 w 5"/>
                <a:gd name="T69" fmla="*/ 11 h 23"/>
                <a:gd name="T70" fmla="*/ 5 w 5"/>
                <a:gd name="T71" fmla="*/ 17 h 23"/>
                <a:gd name="T72" fmla="*/ 5 w 5"/>
                <a:gd name="T73" fmla="*/ 17 h 23"/>
                <a:gd name="T74" fmla="*/ 5 w 5"/>
                <a:gd name="T75" fmla="*/ 17 h 23"/>
                <a:gd name="T76" fmla="*/ 5 w 5"/>
                <a:gd name="T77" fmla="*/ 17 h 23"/>
                <a:gd name="T78" fmla="*/ 5 w 5"/>
                <a:gd name="T79" fmla="*/ 17 h 23"/>
                <a:gd name="T80" fmla="*/ 5 w 5"/>
                <a:gd name="T81" fmla="*/ 17 h 23"/>
                <a:gd name="T82" fmla="*/ 5 w 5"/>
                <a:gd name="T83" fmla="*/ 17 h 23"/>
                <a:gd name="T84" fmla="*/ 5 w 5"/>
                <a:gd name="T85" fmla="*/ 17 h 23"/>
                <a:gd name="T86" fmla="*/ 5 w 5"/>
                <a:gd name="T87" fmla="*/ 17 h 23"/>
                <a:gd name="T88" fmla="*/ 5 w 5"/>
                <a:gd name="T89" fmla="*/ 17 h 23"/>
                <a:gd name="T90" fmla="*/ 5 w 5"/>
                <a:gd name="T91" fmla="*/ 17 h 23"/>
                <a:gd name="T92" fmla="*/ 5 w 5"/>
                <a:gd name="T93" fmla="*/ 17 h 23"/>
                <a:gd name="T94" fmla="*/ 5 w 5"/>
                <a:gd name="T95" fmla="*/ 23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5" y="6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2" name="Freeform 119"/>
            <p:cNvSpPr>
              <a:spLocks/>
            </p:cNvSpPr>
            <p:nvPr/>
          </p:nvSpPr>
          <p:spPr bwMode="auto">
            <a:xfrm>
              <a:off x="4911" y="3182"/>
              <a:ext cx="10" cy="22"/>
            </a:xfrm>
            <a:custGeom>
              <a:avLst/>
              <a:gdLst>
                <a:gd name="T0" fmla="*/ 0 w 10"/>
                <a:gd name="T1" fmla="*/ 0 h 22"/>
                <a:gd name="T2" fmla="*/ 5 w 10"/>
                <a:gd name="T3" fmla="*/ 0 h 22"/>
                <a:gd name="T4" fmla="*/ 5 w 10"/>
                <a:gd name="T5" fmla="*/ 0 h 22"/>
                <a:gd name="T6" fmla="*/ 5 w 10"/>
                <a:gd name="T7" fmla="*/ 0 h 22"/>
                <a:gd name="T8" fmla="*/ 5 w 10"/>
                <a:gd name="T9" fmla="*/ 0 h 22"/>
                <a:gd name="T10" fmla="*/ 5 w 10"/>
                <a:gd name="T11" fmla="*/ 0 h 22"/>
                <a:gd name="T12" fmla="*/ 5 w 10"/>
                <a:gd name="T13" fmla="*/ 0 h 22"/>
                <a:gd name="T14" fmla="*/ 5 w 10"/>
                <a:gd name="T15" fmla="*/ 0 h 22"/>
                <a:gd name="T16" fmla="*/ 5 w 10"/>
                <a:gd name="T17" fmla="*/ 0 h 22"/>
                <a:gd name="T18" fmla="*/ 5 w 10"/>
                <a:gd name="T19" fmla="*/ 5 h 22"/>
                <a:gd name="T20" fmla="*/ 5 w 10"/>
                <a:gd name="T21" fmla="*/ 5 h 22"/>
                <a:gd name="T22" fmla="*/ 5 w 10"/>
                <a:gd name="T23" fmla="*/ 5 h 22"/>
                <a:gd name="T24" fmla="*/ 5 w 10"/>
                <a:gd name="T25" fmla="*/ 5 h 22"/>
                <a:gd name="T26" fmla="*/ 5 w 10"/>
                <a:gd name="T27" fmla="*/ 5 h 22"/>
                <a:gd name="T28" fmla="*/ 5 w 10"/>
                <a:gd name="T29" fmla="*/ 5 h 22"/>
                <a:gd name="T30" fmla="*/ 5 w 10"/>
                <a:gd name="T31" fmla="*/ 5 h 22"/>
                <a:gd name="T32" fmla="*/ 5 w 10"/>
                <a:gd name="T33" fmla="*/ 5 h 22"/>
                <a:gd name="T34" fmla="*/ 5 w 10"/>
                <a:gd name="T35" fmla="*/ 5 h 22"/>
                <a:gd name="T36" fmla="*/ 5 w 10"/>
                <a:gd name="T37" fmla="*/ 5 h 22"/>
                <a:gd name="T38" fmla="*/ 5 w 10"/>
                <a:gd name="T39" fmla="*/ 5 h 22"/>
                <a:gd name="T40" fmla="*/ 5 w 10"/>
                <a:gd name="T41" fmla="*/ 5 h 22"/>
                <a:gd name="T42" fmla="*/ 5 w 10"/>
                <a:gd name="T43" fmla="*/ 5 h 22"/>
                <a:gd name="T44" fmla="*/ 5 w 10"/>
                <a:gd name="T45" fmla="*/ 11 h 22"/>
                <a:gd name="T46" fmla="*/ 5 w 10"/>
                <a:gd name="T47" fmla="*/ 11 h 22"/>
                <a:gd name="T48" fmla="*/ 5 w 10"/>
                <a:gd name="T49" fmla="*/ 11 h 22"/>
                <a:gd name="T50" fmla="*/ 5 w 10"/>
                <a:gd name="T51" fmla="*/ 11 h 22"/>
                <a:gd name="T52" fmla="*/ 5 w 10"/>
                <a:gd name="T53" fmla="*/ 11 h 22"/>
                <a:gd name="T54" fmla="*/ 5 w 10"/>
                <a:gd name="T55" fmla="*/ 11 h 22"/>
                <a:gd name="T56" fmla="*/ 5 w 10"/>
                <a:gd name="T57" fmla="*/ 11 h 22"/>
                <a:gd name="T58" fmla="*/ 5 w 10"/>
                <a:gd name="T59" fmla="*/ 11 h 22"/>
                <a:gd name="T60" fmla="*/ 5 w 10"/>
                <a:gd name="T61" fmla="*/ 11 h 22"/>
                <a:gd name="T62" fmla="*/ 5 w 10"/>
                <a:gd name="T63" fmla="*/ 11 h 22"/>
                <a:gd name="T64" fmla="*/ 5 w 10"/>
                <a:gd name="T65" fmla="*/ 11 h 22"/>
                <a:gd name="T66" fmla="*/ 5 w 10"/>
                <a:gd name="T67" fmla="*/ 11 h 22"/>
                <a:gd name="T68" fmla="*/ 5 w 10"/>
                <a:gd name="T69" fmla="*/ 17 h 22"/>
                <a:gd name="T70" fmla="*/ 5 w 10"/>
                <a:gd name="T71" fmla="*/ 17 h 22"/>
                <a:gd name="T72" fmla="*/ 5 w 10"/>
                <a:gd name="T73" fmla="*/ 17 h 22"/>
                <a:gd name="T74" fmla="*/ 5 w 10"/>
                <a:gd name="T75" fmla="*/ 17 h 22"/>
                <a:gd name="T76" fmla="*/ 5 w 10"/>
                <a:gd name="T77" fmla="*/ 17 h 22"/>
                <a:gd name="T78" fmla="*/ 5 w 10"/>
                <a:gd name="T79" fmla="*/ 17 h 22"/>
                <a:gd name="T80" fmla="*/ 5 w 10"/>
                <a:gd name="T81" fmla="*/ 17 h 22"/>
                <a:gd name="T82" fmla="*/ 5 w 10"/>
                <a:gd name="T83" fmla="*/ 17 h 22"/>
                <a:gd name="T84" fmla="*/ 10 w 10"/>
                <a:gd name="T85" fmla="*/ 17 h 22"/>
                <a:gd name="T86" fmla="*/ 10 w 10"/>
                <a:gd name="T87" fmla="*/ 17 h 22"/>
                <a:gd name="T88" fmla="*/ 10 w 10"/>
                <a:gd name="T89" fmla="*/ 17 h 22"/>
                <a:gd name="T90" fmla="*/ 10 w 10"/>
                <a:gd name="T91" fmla="*/ 17 h 22"/>
                <a:gd name="T92" fmla="*/ 10 w 10"/>
                <a:gd name="T93" fmla="*/ 22 h 22"/>
                <a:gd name="T94" fmla="*/ 10 w 10"/>
                <a:gd name="T95" fmla="*/ 22 h 22"/>
                <a:gd name="T96" fmla="*/ 10 w 10"/>
                <a:gd name="T97" fmla="*/ 22 h 22"/>
                <a:gd name="T98" fmla="*/ 10 w 10"/>
                <a:gd name="T99" fmla="*/ 22 h 22"/>
                <a:gd name="T100" fmla="*/ 10 w 10"/>
                <a:gd name="T101" fmla="*/ 22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2"/>
                <a:gd name="T155" fmla="*/ 10 w 10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2">
                  <a:moveTo>
                    <a:pt x="0" y="0"/>
                  </a:moveTo>
                  <a:lnTo>
                    <a:pt x="5" y="0"/>
                  </a:lnTo>
                  <a:lnTo>
                    <a:pt x="5" y="5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10" y="17"/>
                  </a:lnTo>
                  <a:lnTo>
                    <a:pt x="10" y="2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3" name="Freeform 120"/>
            <p:cNvSpPr>
              <a:spLocks/>
            </p:cNvSpPr>
            <p:nvPr/>
          </p:nvSpPr>
          <p:spPr bwMode="auto">
            <a:xfrm>
              <a:off x="4921" y="3204"/>
              <a:ext cx="4" cy="23"/>
            </a:xfrm>
            <a:custGeom>
              <a:avLst/>
              <a:gdLst>
                <a:gd name="T0" fmla="*/ 0 w 4"/>
                <a:gd name="T1" fmla="*/ 0 h 23"/>
                <a:gd name="T2" fmla="*/ 0 w 4"/>
                <a:gd name="T3" fmla="*/ 0 h 23"/>
                <a:gd name="T4" fmla="*/ 0 w 4"/>
                <a:gd name="T5" fmla="*/ 0 h 23"/>
                <a:gd name="T6" fmla="*/ 0 w 4"/>
                <a:gd name="T7" fmla="*/ 0 h 23"/>
                <a:gd name="T8" fmla="*/ 0 w 4"/>
                <a:gd name="T9" fmla="*/ 0 h 23"/>
                <a:gd name="T10" fmla="*/ 0 w 4"/>
                <a:gd name="T11" fmla="*/ 0 h 23"/>
                <a:gd name="T12" fmla="*/ 0 w 4"/>
                <a:gd name="T13" fmla="*/ 0 h 23"/>
                <a:gd name="T14" fmla="*/ 0 w 4"/>
                <a:gd name="T15" fmla="*/ 0 h 23"/>
                <a:gd name="T16" fmla="*/ 0 w 4"/>
                <a:gd name="T17" fmla="*/ 0 h 23"/>
                <a:gd name="T18" fmla="*/ 0 w 4"/>
                <a:gd name="T19" fmla="*/ 6 h 23"/>
                <a:gd name="T20" fmla="*/ 0 w 4"/>
                <a:gd name="T21" fmla="*/ 6 h 23"/>
                <a:gd name="T22" fmla="*/ 0 w 4"/>
                <a:gd name="T23" fmla="*/ 6 h 23"/>
                <a:gd name="T24" fmla="*/ 0 w 4"/>
                <a:gd name="T25" fmla="*/ 6 h 23"/>
                <a:gd name="T26" fmla="*/ 0 w 4"/>
                <a:gd name="T27" fmla="*/ 6 h 23"/>
                <a:gd name="T28" fmla="*/ 0 w 4"/>
                <a:gd name="T29" fmla="*/ 6 h 23"/>
                <a:gd name="T30" fmla="*/ 0 w 4"/>
                <a:gd name="T31" fmla="*/ 6 h 23"/>
                <a:gd name="T32" fmla="*/ 0 w 4"/>
                <a:gd name="T33" fmla="*/ 6 h 23"/>
                <a:gd name="T34" fmla="*/ 0 w 4"/>
                <a:gd name="T35" fmla="*/ 6 h 23"/>
                <a:gd name="T36" fmla="*/ 0 w 4"/>
                <a:gd name="T37" fmla="*/ 6 h 23"/>
                <a:gd name="T38" fmla="*/ 0 w 4"/>
                <a:gd name="T39" fmla="*/ 6 h 23"/>
                <a:gd name="T40" fmla="*/ 0 w 4"/>
                <a:gd name="T41" fmla="*/ 6 h 23"/>
                <a:gd name="T42" fmla="*/ 0 w 4"/>
                <a:gd name="T43" fmla="*/ 6 h 23"/>
                <a:gd name="T44" fmla="*/ 0 w 4"/>
                <a:gd name="T45" fmla="*/ 12 h 23"/>
                <a:gd name="T46" fmla="*/ 0 w 4"/>
                <a:gd name="T47" fmla="*/ 12 h 23"/>
                <a:gd name="T48" fmla="*/ 0 w 4"/>
                <a:gd name="T49" fmla="*/ 12 h 23"/>
                <a:gd name="T50" fmla="*/ 0 w 4"/>
                <a:gd name="T51" fmla="*/ 12 h 23"/>
                <a:gd name="T52" fmla="*/ 0 w 4"/>
                <a:gd name="T53" fmla="*/ 12 h 23"/>
                <a:gd name="T54" fmla="*/ 0 w 4"/>
                <a:gd name="T55" fmla="*/ 12 h 23"/>
                <a:gd name="T56" fmla="*/ 0 w 4"/>
                <a:gd name="T57" fmla="*/ 12 h 23"/>
                <a:gd name="T58" fmla="*/ 0 w 4"/>
                <a:gd name="T59" fmla="*/ 12 h 23"/>
                <a:gd name="T60" fmla="*/ 0 w 4"/>
                <a:gd name="T61" fmla="*/ 12 h 23"/>
                <a:gd name="T62" fmla="*/ 0 w 4"/>
                <a:gd name="T63" fmla="*/ 12 h 23"/>
                <a:gd name="T64" fmla="*/ 4 w 4"/>
                <a:gd name="T65" fmla="*/ 12 h 23"/>
                <a:gd name="T66" fmla="*/ 4 w 4"/>
                <a:gd name="T67" fmla="*/ 12 h 23"/>
                <a:gd name="T68" fmla="*/ 4 w 4"/>
                <a:gd name="T69" fmla="*/ 12 h 23"/>
                <a:gd name="T70" fmla="*/ 4 w 4"/>
                <a:gd name="T71" fmla="*/ 18 h 23"/>
                <a:gd name="T72" fmla="*/ 4 w 4"/>
                <a:gd name="T73" fmla="*/ 18 h 23"/>
                <a:gd name="T74" fmla="*/ 4 w 4"/>
                <a:gd name="T75" fmla="*/ 18 h 23"/>
                <a:gd name="T76" fmla="*/ 4 w 4"/>
                <a:gd name="T77" fmla="*/ 18 h 23"/>
                <a:gd name="T78" fmla="*/ 4 w 4"/>
                <a:gd name="T79" fmla="*/ 18 h 23"/>
                <a:gd name="T80" fmla="*/ 4 w 4"/>
                <a:gd name="T81" fmla="*/ 18 h 23"/>
                <a:gd name="T82" fmla="*/ 4 w 4"/>
                <a:gd name="T83" fmla="*/ 18 h 23"/>
                <a:gd name="T84" fmla="*/ 4 w 4"/>
                <a:gd name="T85" fmla="*/ 18 h 23"/>
                <a:gd name="T86" fmla="*/ 4 w 4"/>
                <a:gd name="T87" fmla="*/ 18 h 23"/>
                <a:gd name="T88" fmla="*/ 4 w 4"/>
                <a:gd name="T89" fmla="*/ 18 h 23"/>
                <a:gd name="T90" fmla="*/ 4 w 4"/>
                <a:gd name="T91" fmla="*/ 18 h 23"/>
                <a:gd name="T92" fmla="*/ 4 w 4"/>
                <a:gd name="T93" fmla="*/ 18 h 23"/>
                <a:gd name="T94" fmla="*/ 4 w 4"/>
                <a:gd name="T95" fmla="*/ 18 h 23"/>
                <a:gd name="T96" fmla="*/ 4 w 4"/>
                <a:gd name="T97" fmla="*/ 18 h 23"/>
                <a:gd name="T98" fmla="*/ 4 w 4"/>
                <a:gd name="T99" fmla="*/ 23 h 23"/>
                <a:gd name="T100" fmla="*/ 4 w 4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4" y="18"/>
                  </a:lnTo>
                  <a:lnTo>
                    <a:pt x="4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4" name="Freeform 121"/>
            <p:cNvSpPr>
              <a:spLocks/>
            </p:cNvSpPr>
            <p:nvPr/>
          </p:nvSpPr>
          <p:spPr bwMode="auto">
            <a:xfrm>
              <a:off x="4925" y="3227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0 h 17"/>
                <a:gd name="T14" fmla="*/ 0 w 5"/>
                <a:gd name="T15" fmla="*/ 0 h 17"/>
                <a:gd name="T16" fmla="*/ 0 w 5"/>
                <a:gd name="T17" fmla="*/ 0 h 17"/>
                <a:gd name="T18" fmla="*/ 0 w 5"/>
                <a:gd name="T19" fmla="*/ 0 h 17"/>
                <a:gd name="T20" fmla="*/ 0 w 5"/>
                <a:gd name="T21" fmla="*/ 0 h 17"/>
                <a:gd name="T22" fmla="*/ 0 w 5"/>
                <a:gd name="T23" fmla="*/ 0 h 17"/>
                <a:gd name="T24" fmla="*/ 0 w 5"/>
                <a:gd name="T25" fmla="*/ 0 h 17"/>
                <a:gd name="T26" fmla="*/ 0 w 5"/>
                <a:gd name="T27" fmla="*/ 6 h 17"/>
                <a:gd name="T28" fmla="*/ 0 w 5"/>
                <a:gd name="T29" fmla="*/ 6 h 17"/>
                <a:gd name="T30" fmla="*/ 0 w 5"/>
                <a:gd name="T31" fmla="*/ 6 h 17"/>
                <a:gd name="T32" fmla="*/ 0 w 5"/>
                <a:gd name="T33" fmla="*/ 6 h 17"/>
                <a:gd name="T34" fmla="*/ 0 w 5"/>
                <a:gd name="T35" fmla="*/ 6 h 17"/>
                <a:gd name="T36" fmla="*/ 0 w 5"/>
                <a:gd name="T37" fmla="*/ 6 h 17"/>
                <a:gd name="T38" fmla="*/ 0 w 5"/>
                <a:gd name="T39" fmla="*/ 6 h 17"/>
                <a:gd name="T40" fmla="*/ 0 w 5"/>
                <a:gd name="T41" fmla="*/ 6 h 17"/>
                <a:gd name="T42" fmla="*/ 0 w 5"/>
                <a:gd name="T43" fmla="*/ 6 h 17"/>
                <a:gd name="T44" fmla="*/ 0 w 5"/>
                <a:gd name="T45" fmla="*/ 6 h 17"/>
                <a:gd name="T46" fmla="*/ 5 w 5"/>
                <a:gd name="T47" fmla="*/ 6 h 17"/>
                <a:gd name="T48" fmla="*/ 5 w 5"/>
                <a:gd name="T49" fmla="*/ 6 h 17"/>
                <a:gd name="T50" fmla="*/ 5 w 5"/>
                <a:gd name="T51" fmla="*/ 6 h 17"/>
                <a:gd name="T52" fmla="*/ 5 w 5"/>
                <a:gd name="T53" fmla="*/ 6 h 17"/>
                <a:gd name="T54" fmla="*/ 5 w 5"/>
                <a:gd name="T55" fmla="*/ 12 h 17"/>
                <a:gd name="T56" fmla="*/ 5 w 5"/>
                <a:gd name="T57" fmla="*/ 12 h 17"/>
                <a:gd name="T58" fmla="*/ 5 w 5"/>
                <a:gd name="T59" fmla="*/ 12 h 17"/>
                <a:gd name="T60" fmla="*/ 5 w 5"/>
                <a:gd name="T61" fmla="*/ 12 h 17"/>
                <a:gd name="T62" fmla="*/ 5 w 5"/>
                <a:gd name="T63" fmla="*/ 12 h 17"/>
                <a:gd name="T64" fmla="*/ 5 w 5"/>
                <a:gd name="T65" fmla="*/ 12 h 17"/>
                <a:gd name="T66" fmla="*/ 5 w 5"/>
                <a:gd name="T67" fmla="*/ 12 h 17"/>
                <a:gd name="T68" fmla="*/ 5 w 5"/>
                <a:gd name="T69" fmla="*/ 12 h 17"/>
                <a:gd name="T70" fmla="*/ 5 w 5"/>
                <a:gd name="T71" fmla="*/ 12 h 17"/>
                <a:gd name="T72" fmla="*/ 5 w 5"/>
                <a:gd name="T73" fmla="*/ 12 h 17"/>
                <a:gd name="T74" fmla="*/ 5 w 5"/>
                <a:gd name="T75" fmla="*/ 12 h 17"/>
                <a:gd name="T76" fmla="*/ 5 w 5"/>
                <a:gd name="T77" fmla="*/ 12 h 17"/>
                <a:gd name="T78" fmla="*/ 5 w 5"/>
                <a:gd name="T79" fmla="*/ 12 h 17"/>
                <a:gd name="T80" fmla="*/ 5 w 5"/>
                <a:gd name="T81" fmla="*/ 12 h 17"/>
                <a:gd name="T82" fmla="*/ 5 w 5"/>
                <a:gd name="T83" fmla="*/ 17 h 17"/>
                <a:gd name="T84" fmla="*/ 5 w 5"/>
                <a:gd name="T85" fmla="*/ 17 h 17"/>
                <a:gd name="T86" fmla="*/ 5 w 5"/>
                <a:gd name="T87" fmla="*/ 17 h 17"/>
                <a:gd name="T88" fmla="*/ 5 w 5"/>
                <a:gd name="T89" fmla="*/ 17 h 17"/>
                <a:gd name="T90" fmla="*/ 5 w 5"/>
                <a:gd name="T91" fmla="*/ 17 h 17"/>
                <a:gd name="T92" fmla="*/ 5 w 5"/>
                <a:gd name="T93" fmla="*/ 17 h 17"/>
                <a:gd name="T94" fmla="*/ 5 w 5"/>
                <a:gd name="T95" fmla="*/ 17 h 17"/>
                <a:gd name="T96" fmla="*/ 5 w 5"/>
                <a:gd name="T97" fmla="*/ 17 h 17"/>
                <a:gd name="T98" fmla="*/ 5 w 5"/>
                <a:gd name="T99" fmla="*/ 17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2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5" name="Freeform 122"/>
            <p:cNvSpPr>
              <a:spLocks/>
            </p:cNvSpPr>
            <p:nvPr/>
          </p:nvSpPr>
          <p:spPr bwMode="auto">
            <a:xfrm>
              <a:off x="4930" y="3244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6 h 17"/>
                <a:gd name="T14" fmla="*/ 0 w 5"/>
                <a:gd name="T15" fmla="*/ 6 h 17"/>
                <a:gd name="T16" fmla="*/ 0 w 5"/>
                <a:gd name="T17" fmla="*/ 6 h 17"/>
                <a:gd name="T18" fmla="*/ 0 w 5"/>
                <a:gd name="T19" fmla="*/ 6 h 17"/>
                <a:gd name="T20" fmla="*/ 0 w 5"/>
                <a:gd name="T21" fmla="*/ 6 h 17"/>
                <a:gd name="T22" fmla="*/ 0 w 5"/>
                <a:gd name="T23" fmla="*/ 6 h 17"/>
                <a:gd name="T24" fmla="*/ 0 w 5"/>
                <a:gd name="T25" fmla="*/ 6 h 17"/>
                <a:gd name="T26" fmla="*/ 5 w 5"/>
                <a:gd name="T27" fmla="*/ 6 h 17"/>
                <a:gd name="T28" fmla="*/ 5 w 5"/>
                <a:gd name="T29" fmla="*/ 6 h 17"/>
                <a:gd name="T30" fmla="*/ 5 w 5"/>
                <a:gd name="T31" fmla="*/ 6 h 17"/>
                <a:gd name="T32" fmla="*/ 5 w 5"/>
                <a:gd name="T33" fmla="*/ 6 h 17"/>
                <a:gd name="T34" fmla="*/ 5 w 5"/>
                <a:gd name="T35" fmla="*/ 6 h 17"/>
                <a:gd name="T36" fmla="*/ 5 w 5"/>
                <a:gd name="T37" fmla="*/ 6 h 17"/>
                <a:gd name="T38" fmla="*/ 5 w 5"/>
                <a:gd name="T39" fmla="*/ 6 h 17"/>
                <a:gd name="T40" fmla="*/ 5 w 5"/>
                <a:gd name="T41" fmla="*/ 6 h 17"/>
                <a:gd name="T42" fmla="*/ 5 w 5"/>
                <a:gd name="T43" fmla="*/ 12 h 17"/>
                <a:gd name="T44" fmla="*/ 5 w 5"/>
                <a:gd name="T45" fmla="*/ 12 h 17"/>
                <a:gd name="T46" fmla="*/ 5 w 5"/>
                <a:gd name="T47" fmla="*/ 12 h 17"/>
                <a:gd name="T48" fmla="*/ 5 w 5"/>
                <a:gd name="T49" fmla="*/ 12 h 17"/>
                <a:gd name="T50" fmla="*/ 5 w 5"/>
                <a:gd name="T51" fmla="*/ 12 h 17"/>
                <a:gd name="T52" fmla="*/ 5 w 5"/>
                <a:gd name="T53" fmla="*/ 12 h 17"/>
                <a:gd name="T54" fmla="*/ 5 w 5"/>
                <a:gd name="T55" fmla="*/ 12 h 17"/>
                <a:gd name="T56" fmla="*/ 5 w 5"/>
                <a:gd name="T57" fmla="*/ 12 h 17"/>
                <a:gd name="T58" fmla="*/ 5 w 5"/>
                <a:gd name="T59" fmla="*/ 12 h 17"/>
                <a:gd name="T60" fmla="*/ 5 w 5"/>
                <a:gd name="T61" fmla="*/ 12 h 17"/>
                <a:gd name="T62" fmla="*/ 5 w 5"/>
                <a:gd name="T63" fmla="*/ 12 h 17"/>
                <a:gd name="T64" fmla="*/ 5 w 5"/>
                <a:gd name="T65" fmla="*/ 12 h 17"/>
                <a:gd name="T66" fmla="*/ 5 w 5"/>
                <a:gd name="T67" fmla="*/ 12 h 17"/>
                <a:gd name="T68" fmla="*/ 5 w 5"/>
                <a:gd name="T69" fmla="*/ 12 h 17"/>
                <a:gd name="T70" fmla="*/ 5 w 5"/>
                <a:gd name="T71" fmla="*/ 12 h 17"/>
                <a:gd name="T72" fmla="*/ 5 w 5"/>
                <a:gd name="T73" fmla="*/ 12 h 17"/>
                <a:gd name="T74" fmla="*/ 5 w 5"/>
                <a:gd name="T75" fmla="*/ 17 h 17"/>
                <a:gd name="T76" fmla="*/ 5 w 5"/>
                <a:gd name="T77" fmla="*/ 17 h 17"/>
                <a:gd name="T78" fmla="*/ 5 w 5"/>
                <a:gd name="T79" fmla="*/ 17 h 17"/>
                <a:gd name="T80" fmla="*/ 5 w 5"/>
                <a:gd name="T81" fmla="*/ 17 h 17"/>
                <a:gd name="T82" fmla="*/ 5 w 5"/>
                <a:gd name="T83" fmla="*/ 17 h 17"/>
                <a:gd name="T84" fmla="*/ 5 w 5"/>
                <a:gd name="T85" fmla="*/ 17 h 17"/>
                <a:gd name="T86" fmla="*/ 5 w 5"/>
                <a:gd name="T87" fmla="*/ 17 h 17"/>
                <a:gd name="T88" fmla="*/ 5 w 5"/>
                <a:gd name="T89" fmla="*/ 17 h 17"/>
                <a:gd name="T90" fmla="*/ 5 w 5"/>
                <a:gd name="T91" fmla="*/ 17 h 17"/>
                <a:gd name="T92" fmla="*/ 5 w 5"/>
                <a:gd name="T93" fmla="*/ 17 h 17"/>
                <a:gd name="T94" fmla="*/ 5 w 5"/>
                <a:gd name="T95" fmla="*/ 17 h 17"/>
                <a:gd name="T96" fmla="*/ 5 w 5"/>
                <a:gd name="T97" fmla="*/ 17 h 17"/>
                <a:gd name="T98" fmla="*/ 5 w 5"/>
                <a:gd name="T99" fmla="*/ 17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2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6" name="Freeform 123"/>
            <p:cNvSpPr>
              <a:spLocks/>
            </p:cNvSpPr>
            <p:nvPr/>
          </p:nvSpPr>
          <p:spPr bwMode="auto">
            <a:xfrm>
              <a:off x="4935" y="3261"/>
              <a:ext cx="9" cy="17"/>
            </a:xfrm>
            <a:custGeom>
              <a:avLst/>
              <a:gdLst>
                <a:gd name="T0" fmla="*/ 0 w 9"/>
                <a:gd name="T1" fmla="*/ 0 h 17"/>
                <a:gd name="T2" fmla="*/ 0 w 9"/>
                <a:gd name="T3" fmla="*/ 0 h 17"/>
                <a:gd name="T4" fmla="*/ 0 w 9"/>
                <a:gd name="T5" fmla="*/ 0 h 17"/>
                <a:gd name="T6" fmla="*/ 0 w 9"/>
                <a:gd name="T7" fmla="*/ 6 h 17"/>
                <a:gd name="T8" fmla="*/ 5 w 9"/>
                <a:gd name="T9" fmla="*/ 6 h 17"/>
                <a:gd name="T10" fmla="*/ 5 w 9"/>
                <a:gd name="T11" fmla="*/ 6 h 17"/>
                <a:gd name="T12" fmla="*/ 5 w 9"/>
                <a:gd name="T13" fmla="*/ 6 h 17"/>
                <a:gd name="T14" fmla="*/ 5 w 9"/>
                <a:gd name="T15" fmla="*/ 6 h 17"/>
                <a:gd name="T16" fmla="*/ 5 w 9"/>
                <a:gd name="T17" fmla="*/ 6 h 17"/>
                <a:gd name="T18" fmla="*/ 5 w 9"/>
                <a:gd name="T19" fmla="*/ 6 h 17"/>
                <a:gd name="T20" fmla="*/ 5 w 9"/>
                <a:gd name="T21" fmla="*/ 6 h 17"/>
                <a:gd name="T22" fmla="*/ 5 w 9"/>
                <a:gd name="T23" fmla="*/ 6 h 17"/>
                <a:gd name="T24" fmla="*/ 5 w 9"/>
                <a:gd name="T25" fmla="*/ 6 h 17"/>
                <a:gd name="T26" fmla="*/ 5 w 9"/>
                <a:gd name="T27" fmla="*/ 6 h 17"/>
                <a:gd name="T28" fmla="*/ 5 w 9"/>
                <a:gd name="T29" fmla="*/ 6 h 17"/>
                <a:gd name="T30" fmla="*/ 5 w 9"/>
                <a:gd name="T31" fmla="*/ 6 h 17"/>
                <a:gd name="T32" fmla="*/ 5 w 9"/>
                <a:gd name="T33" fmla="*/ 6 h 17"/>
                <a:gd name="T34" fmla="*/ 5 w 9"/>
                <a:gd name="T35" fmla="*/ 6 h 17"/>
                <a:gd name="T36" fmla="*/ 5 w 9"/>
                <a:gd name="T37" fmla="*/ 6 h 17"/>
                <a:gd name="T38" fmla="*/ 5 w 9"/>
                <a:gd name="T39" fmla="*/ 6 h 17"/>
                <a:gd name="T40" fmla="*/ 5 w 9"/>
                <a:gd name="T41" fmla="*/ 12 h 17"/>
                <a:gd name="T42" fmla="*/ 5 w 9"/>
                <a:gd name="T43" fmla="*/ 12 h 17"/>
                <a:gd name="T44" fmla="*/ 5 w 9"/>
                <a:gd name="T45" fmla="*/ 12 h 17"/>
                <a:gd name="T46" fmla="*/ 5 w 9"/>
                <a:gd name="T47" fmla="*/ 12 h 17"/>
                <a:gd name="T48" fmla="*/ 5 w 9"/>
                <a:gd name="T49" fmla="*/ 12 h 17"/>
                <a:gd name="T50" fmla="*/ 5 w 9"/>
                <a:gd name="T51" fmla="*/ 12 h 17"/>
                <a:gd name="T52" fmla="*/ 5 w 9"/>
                <a:gd name="T53" fmla="*/ 12 h 17"/>
                <a:gd name="T54" fmla="*/ 5 w 9"/>
                <a:gd name="T55" fmla="*/ 12 h 17"/>
                <a:gd name="T56" fmla="*/ 5 w 9"/>
                <a:gd name="T57" fmla="*/ 12 h 17"/>
                <a:gd name="T58" fmla="*/ 5 w 9"/>
                <a:gd name="T59" fmla="*/ 12 h 17"/>
                <a:gd name="T60" fmla="*/ 5 w 9"/>
                <a:gd name="T61" fmla="*/ 12 h 17"/>
                <a:gd name="T62" fmla="*/ 5 w 9"/>
                <a:gd name="T63" fmla="*/ 12 h 17"/>
                <a:gd name="T64" fmla="*/ 5 w 9"/>
                <a:gd name="T65" fmla="*/ 12 h 17"/>
                <a:gd name="T66" fmla="*/ 5 w 9"/>
                <a:gd name="T67" fmla="*/ 12 h 17"/>
                <a:gd name="T68" fmla="*/ 5 w 9"/>
                <a:gd name="T69" fmla="*/ 12 h 17"/>
                <a:gd name="T70" fmla="*/ 5 w 9"/>
                <a:gd name="T71" fmla="*/ 12 h 17"/>
                <a:gd name="T72" fmla="*/ 5 w 9"/>
                <a:gd name="T73" fmla="*/ 12 h 17"/>
                <a:gd name="T74" fmla="*/ 5 w 9"/>
                <a:gd name="T75" fmla="*/ 12 h 17"/>
                <a:gd name="T76" fmla="*/ 5 w 9"/>
                <a:gd name="T77" fmla="*/ 17 h 17"/>
                <a:gd name="T78" fmla="*/ 5 w 9"/>
                <a:gd name="T79" fmla="*/ 17 h 17"/>
                <a:gd name="T80" fmla="*/ 5 w 9"/>
                <a:gd name="T81" fmla="*/ 17 h 17"/>
                <a:gd name="T82" fmla="*/ 5 w 9"/>
                <a:gd name="T83" fmla="*/ 17 h 17"/>
                <a:gd name="T84" fmla="*/ 5 w 9"/>
                <a:gd name="T85" fmla="*/ 17 h 17"/>
                <a:gd name="T86" fmla="*/ 5 w 9"/>
                <a:gd name="T87" fmla="*/ 17 h 17"/>
                <a:gd name="T88" fmla="*/ 5 w 9"/>
                <a:gd name="T89" fmla="*/ 17 h 17"/>
                <a:gd name="T90" fmla="*/ 9 w 9"/>
                <a:gd name="T91" fmla="*/ 17 h 17"/>
                <a:gd name="T92" fmla="*/ 9 w 9"/>
                <a:gd name="T93" fmla="*/ 17 h 17"/>
                <a:gd name="T94" fmla="*/ 9 w 9"/>
                <a:gd name="T95" fmla="*/ 17 h 17"/>
                <a:gd name="T96" fmla="*/ 9 w 9"/>
                <a:gd name="T97" fmla="*/ 17 h 17"/>
                <a:gd name="T98" fmla="*/ 9 w 9"/>
                <a:gd name="T99" fmla="*/ 17 h 17"/>
                <a:gd name="T100" fmla="*/ 9 w 9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7"/>
                <a:gd name="T155" fmla="*/ 9 w 9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7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2"/>
                  </a:lnTo>
                  <a:lnTo>
                    <a:pt x="5" y="17"/>
                  </a:lnTo>
                  <a:lnTo>
                    <a:pt x="9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7" name="Freeform 124"/>
            <p:cNvSpPr>
              <a:spLocks/>
            </p:cNvSpPr>
            <p:nvPr/>
          </p:nvSpPr>
          <p:spPr bwMode="auto">
            <a:xfrm>
              <a:off x="4944" y="3278"/>
              <a:ext cx="5" cy="18"/>
            </a:xfrm>
            <a:custGeom>
              <a:avLst/>
              <a:gdLst>
                <a:gd name="T0" fmla="*/ 0 w 5"/>
                <a:gd name="T1" fmla="*/ 0 h 18"/>
                <a:gd name="T2" fmla="*/ 0 w 5"/>
                <a:gd name="T3" fmla="*/ 0 h 18"/>
                <a:gd name="T4" fmla="*/ 0 w 5"/>
                <a:gd name="T5" fmla="*/ 0 h 18"/>
                <a:gd name="T6" fmla="*/ 0 w 5"/>
                <a:gd name="T7" fmla="*/ 0 h 18"/>
                <a:gd name="T8" fmla="*/ 0 w 5"/>
                <a:gd name="T9" fmla="*/ 0 h 18"/>
                <a:gd name="T10" fmla="*/ 0 w 5"/>
                <a:gd name="T11" fmla="*/ 0 h 18"/>
                <a:gd name="T12" fmla="*/ 0 w 5"/>
                <a:gd name="T13" fmla="*/ 0 h 18"/>
                <a:gd name="T14" fmla="*/ 0 w 5"/>
                <a:gd name="T15" fmla="*/ 6 h 18"/>
                <a:gd name="T16" fmla="*/ 0 w 5"/>
                <a:gd name="T17" fmla="*/ 6 h 18"/>
                <a:gd name="T18" fmla="*/ 0 w 5"/>
                <a:gd name="T19" fmla="*/ 6 h 18"/>
                <a:gd name="T20" fmla="*/ 0 w 5"/>
                <a:gd name="T21" fmla="*/ 6 h 18"/>
                <a:gd name="T22" fmla="*/ 0 w 5"/>
                <a:gd name="T23" fmla="*/ 6 h 18"/>
                <a:gd name="T24" fmla="*/ 0 w 5"/>
                <a:gd name="T25" fmla="*/ 6 h 18"/>
                <a:gd name="T26" fmla="*/ 0 w 5"/>
                <a:gd name="T27" fmla="*/ 6 h 18"/>
                <a:gd name="T28" fmla="*/ 0 w 5"/>
                <a:gd name="T29" fmla="*/ 6 h 18"/>
                <a:gd name="T30" fmla="*/ 0 w 5"/>
                <a:gd name="T31" fmla="*/ 6 h 18"/>
                <a:gd name="T32" fmla="*/ 0 w 5"/>
                <a:gd name="T33" fmla="*/ 6 h 18"/>
                <a:gd name="T34" fmla="*/ 0 w 5"/>
                <a:gd name="T35" fmla="*/ 6 h 18"/>
                <a:gd name="T36" fmla="*/ 0 w 5"/>
                <a:gd name="T37" fmla="*/ 6 h 18"/>
                <a:gd name="T38" fmla="*/ 0 w 5"/>
                <a:gd name="T39" fmla="*/ 6 h 18"/>
                <a:gd name="T40" fmla="*/ 0 w 5"/>
                <a:gd name="T41" fmla="*/ 6 h 18"/>
                <a:gd name="T42" fmla="*/ 0 w 5"/>
                <a:gd name="T43" fmla="*/ 6 h 18"/>
                <a:gd name="T44" fmla="*/ 0 w 5"/>
                <a:gd name="T45" fmla="*/ 6 h 18"/>
                <a:gd name="T46" fmla="*/ 0 w 5"/>
                <a:gd name="T47" fmla="*/ 6 h 18"/>
                <a:gd name="T48" fmla="*/ 0 w 5"/>
                <a:gd name="T49" fmla="*/ 6 h 18"/>
                <a:gd name="T50" fmla="*/ 0 w 5"/>
                <a:gd name="T51" fmla="*/ 6 h 18"/>
                <a:gd name="T52" fmla="*/ 0 w 5"/>
                <a:gd name="T53" fmla="*/ 6 h 18"/>
                <a:gd name="T54" fmla="*/ 0 w 5"/>
                <a:gd name="T55" fmla="*/ 6 h 18"/>
                <a:gd name="T56" fmla="*/ 0 w 5"/>
                <a:gd name="T57" fmla="*/ 12 h 18"/>
                <a:gd name="T58" fmla="*/ 0 w 5"/>
                <a:gd name="T59" fmla="*/ 12 h 18"/>
                <a:gd name="T60" fmla="*/ 0 w 5"/>
                <a:gd name="T61" fmla="*/ 12 h 18"/>
                <a:gd name="T62" fmla="*/ 0 w 5"/>
                <a:gd name="T63" fmla="*/ 12 h 18"/>
                <a:gd name="T64" fmla="*/ 0 w 5"/>
                <a:gd name="T65" fmla="*/ 12 h 18"/>
                <a:gd name="T66" fmla="*/ 0 w 5"/>
                <a:gd name="T67" fmla="*/ 12 h 18"/>
                <a:gd name="T68" fmla="*/ 0 w 5"/>
                <a:gd name="T69" fmla="*/ 12 h 18"/>
                <a:gd name="T70" fmla="*/ 5 w 5"/>
                <a:gd name="T71" fmla="*/ 12 h 18"/>
                <a:gd name="T72" fmla="*/ 5 w 5"/>
                <a:gd name="T73" fmla="*/ 12 h 18"/>
                <a:gd name="T74" fmla="*/ 5 w 5"/>
                <a:gd name="T75" fmla="*/ 12 h 18"/>
                <a:gd name="T76" fmla="*/ 5 w 5"/>
                <a:gd name="T77" fmla="*/ 12 h 18"/>
                <a:gd name="T78" fmla="*/ 5 w 5"/>
                <a:gd name="T79" fmla="*/ 12 h 18"/>
                <a:gd name="T80" fmla="*/ 5 w 5"/>
                <a:gd name="T81" fmla="*/ 12 h 18"/>
                <a:gd name="T82" fmla="*/ 5 w 5"/>
                <a:gd name="T83" fmla="*/ 12 h 18"/>
                <a:gd name="T84" fmla="*/ 5 w 5"/>
                <a:gd name="T85" fmla="*/ 12 h 18"/>
                <a:gd name="T86" fmla="*/ 5 w 5"/>
                <a:gd name="T87" fmla="*/ 12 h 18"/>
                <a:gd name="T88" fmla="*/ 5 w 5"/>
                <a:gd name="T89" fmla="*/ 12 h 18"/>
                <a:gd name="T90" fmla="*/ 5 w 5"/>
                <a:gd name="T91" fmla="*/ 12 h 18"/>
                <a:gd name="T92" fmla="*/ 5 w 5"/>
                <a:gd name="T93" fmla="*/ 12 h 18"/>
                <a:gd name="T94" fmla="*/ 5 w 5"/>
                <a:gd name="T95" fmla="*/ 12 h 18"/>
                <a:gd name="T96" fmla="*/ 5 w 5"/>
                <a:gd name="T97" fmla="*/ 12 h 18"/>
                <a:gd name="T98" fmla="*/ 5 w 5"/>
                <a:gd name="T99" fmla="*/ 12 h 18"/>
                <a:gd name="T100" fmla="*/ 5 w 5"/>
                <a:gd name="T101" fmla="*/ 18 h 1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8"/>
                <a:gd name="T155" fmla="*/ 5 w 5"/>
                <a:gd name="T156" fmla="*/ 18 h 1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8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18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8" name="Freeform 125"/>
            <p:cNvSpPr>
              <a:spLocks/>
            </p:cNvSpPr>
            <p:nvPr/>
          </p:nvSpPr>
          <p:spPr bwMode="auto">
            <a:xfrm>
              <a:off x="4949" y="3296"/>
              <a:ext cx="5" cy="5"/>
            </a:xfrm>
            <a:custGeom>
              <a:avLst/>
              <a:gdLst>
                <a:gd name="T0" fmla="*/ 0 w 5"/>
                <a:gd name="T1" fmla="*/ 0 h 5"/>
                <a:gd name="T2" fmla="*/ 0 w 5"/>
                <a:gd name="T3" fmla="*/ 0 h 5"/>
                <a:gd name="T4" fmla="*/ 0 w 5"/>
                <a:gd name="T5" fmla="*/ 0 h 5"/>
                <a:gd name="T6" fmla="*/ 0 w 5"/>
                <a:gd name="T7" fmla="*/ 0 h 5"/>
                <a:gd name="T8" fmla="*/ 0 w 5"/>
                <a:gd name="T9" fmla="*/ 0 h 5"/>
                <a:gd name="T10" fmla="*/ 0 w 5"/>
                <a:gd name="T11" fmla="*/ 0 h 5"/>
                <a:gd name="T12" fmla="*/ 0 w 5"/>
                <a:gd name="T13" fmla="*/ 0 h 5"/>
                <a:gd name="T14" fmla="*/ 0 w 5"/>
                <a:gd name="T15" fmla="*/ 0 h 5"/>
                <a:gd name="T16" fmla="*/ 0 w 5"/>
                <a:gd name="T17" fmla="*/ 0 h 5"/>
                <a:gd name="T18" fmla="*/ 0 w 5"/>
                <a:gd name="T19" fmla="*/ 0 h 5"/>
                <a:gd name="T20" fmla="*/ 0 w 5"/>
                <a:gd name="T21" fmla="*/ 0 h 5"/>
                <a:gd name="T22" fmla="*/ 0 w 5"/>
                <a:gd name="T23" fmla="*/ 0 h 5"/>
                <a:gd name="T24" fmla="*/ 0 w 5"/>
                <a:gd name="T25" fmla="*/ 0 h 5"/>
                <a:gd name="T26" fmla="*/ 0 w 5"/>
                <a:gd name="T27" fmla="*/ 0 h 5"/>
                <a:gd name="T28" fmla="*/ 0 w 5"/>
                <a:gd name="T29" fmla="*/ 0 h 5"/>
                <a:gd name="T30" fmla="*/ 0 w 5"/>
                <a:gd name="T31" fmla="*/ 0 h 5"/>
                <a:gd name="T32" fmla="*/ 0 w 5"/>
                <a:gd name="T33" fmla="*/ 0 h 5"/>
                <a:gd name="T34" fmla="*/ 0 w 5"/>
                <a:gd name="T35" fmla="*/ 0 h 5"/>
                <a:gd name="T36" fmla="*/ 0 w 5"/>
                <a:gd name="T37" fmla="*/ 0 h 5"/>
                <a:gd name="T38" fmla="*/ 0 w 5"/>
                <a:gd name="T39" fmla="*/ 0 h 5"/>
                <a:gd name="T40" fmla="*/ 0 w 5"/>
                <a:gd name="T41" fmla="*/ 0 h 5"/>
                <a:gd name="T42" fmla="*/ 0 w 5"/>
                <a:gd name="T43" fmla="*/ 0 h 5"/>
                <a:gd name="T44" fmla="*/ 0 w 5"/>
                <a:gd name="T45" fmla="*/ 0 h 5"/>
                <a:gd name="T46" fmla="*/ 0 w 5"/>
                <a:gd name="T47" fmla="*/ 0 h 5"/>
                <a:gd name="T48" fmla="*/ 0 w 5"/>
                <a:gd name="T49" fmla="*/ 5 h 5"/>
                <a:gd name="T50" fmla="*/ 5 w 5"/>
                <a:gd name="T51" fmla="*/ 5 h 5"/>
                <a:gd name="T52" fmla="*/ 5 w 5"/>
                <a:gd name="T53" fmla="*/ 5 h 5"/>
                <a:gd name="T54" fmla="*/ 5 w 5"/>
                <a:gd name="T55" fmla="*/ 5 h 5"/>
                <a:gd name="T56" fmla="*/ 5 w 5"/>
                <a:gd name="T57" fmla="*/ 5 h 5"/>
                <a:gd name="T58" fmla="*/ 5 w 5"/>
                <a:gd name="T59" fmla="*/ 5 h 5"/>
                <a:gd name="T60" fmla="*/ 5 w 5"/>
                <a:gd name="T61" fmla="*/ 5 h 5"/>
                <a:gd name="T62" fmla="*/ 5 w 5"/>
                <a:gd name="T63" fmla="*/ 5 h 5"/>
                <a:gd name="T64" fmla="*/ 5 w 5"/>
                <a:gd name="T65" fmla="*/ 5 h 5"/>
                <a:gd name="T66" fmla="*/ 5 w 5"/>
                <a:gd name="T67" fmla="*/ 5 h 5"/>
                <a:gd name="T68" fmla="*/ 5 w 5"/>
                <a:gd name="T69" fmla="*/ 5 h 5"/>
                <a:gd name="T70" fmla="*/ 5 w 5"/>
                <a:gd name="T71" fmla="*/ 5 h 5"/>
                <a:gd name="T72" fmla="*/ 5 w 5"/>
                <a:gd name="T73" fmla="*/ 5 h 5"/>
                <a:gd name="T74" fmla="*/ 5 w 5"/>
                <a:gd name="T75" fmla="*/ 5 h 5"/>
                <a:gd name="T76" fmla="*/ 5 w 5"/>
                <a:gd name="T77" fmla="*/ 5 h 5"/>
                <a:gd name="T78" fmla="*/ 5 w 5"/>
                <a:gd name="T79" fmla="*/ 5 h 5"/>
                <a:gd name="T80" fmla="*/ 5 w 5"/>
                <a:gd name="T81" fmla="*/ 5 h 5"/>
                <a:gd name="T82" fmla="*/ 5 w 5"/>
                <a:gd name="T83" fmla="*/ 5 h 5"/>
                <a:gd name="T84" fmla="*/ 5 w 5"/>
                <a:gd name="T85" fmla="*/ 5 h 5"/>
                <a:gd name="T86" fmla="*/ 5 w 5"/>
                <a:gd name="T87" fmla="*/ 5 h 5"/>
                <a:gd name="T88" fmla="*/ 5 w 5"/>
                <a:gd name="T89" fmla="*/ 5 h 5"/>
                <a:gd name="T90" fmla="*/ 5 w 5"/>
                <a:gd name="T91" fmla="*/ 5 h 5"/>
                <a:gd name="T92" fmla="*/ 5 w 5"/>
                <a:gd name="T93" fmla="*/ 5 h 5"/>
                <a:gd name="T94" fmla="*/ 5 w 5"/>
                <a:gd name="T95" fmla="*/ 5 h 5"/>
                <a:gd name="T96" fmla="*/ 5 w 5"/>
                <a:gd name="T97" fmla="*/ 5 h 5"/>
                <a:gd name="T98" fmla="*/ 5 w 5"/>
                <a:gd name="T99" fmla="*/ 5 h 5"/>
                <a:gd name="T100" fmla="*/ 5 w 5"/>
                <a:gd name="T101" fmla="*/ 5 h 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5"/>
                <a:gd name="T155" fmla="*/ 5 w 5"/>
                <a:gd name="T156" fmla="*/ 5 h 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5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5" y="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9" name="Freeform 126"/>
            <p:cNvSpPr>
              <a:spLocks/>
            </p:cNvSpPr>
            <p:nvPr/>
          </p:nvSpPr>
          <p:spPr bwMode="auto">
            <a:xfrm>
              <a:off x="4954" y="3301"/>
              <a:ext cx="5" cy="12"/>
            </a:xfrm>
            <a:custGeom>
              <a:avLst/>
              <a:gdLst>
                <a:gd name="T0" fmla="*/ 0 w 5"/>
                <a:gd name="T1" fmla="*/ 0 h 12"/>
                <a:gd name="T2" fmla="*/ 0 w 5"/>
                <a:gd name="T3" fmla="*/ 0 h 12"/>
                <a:gd name="T4" fmla="*/ 0 w 5"/>
                <a:gd name="T5" fmla="*/ 6 h 12"/>
                <a:gd name="T6" fmla="*/ 0 w 5"/>
                <a:gd name="T7" fmla="*/ 6 h 12"/>
                <a:gd name="T8" fmla="*/ 0 w 5"/>
                <a:gd name="T9" fmla="*/ 6 h 12"/>
                <a:gd name="T10" fmla="*/ 0 w 5"/>
                <a:gd name="T11" fmla="*/ 6 h 12"/>
                <a:gd name="T12" fmla="*/ 0 w 5"/>
                <a:gd name="T13" fmla="*/ 6 h 12"/>
                <a:gd name="T14" fmla="*/ 0 w 5"/>
                <a:gd name="T15" fmla="*/ 6 h 12"/>
                <a:gd name="T16" fmla="*/ 0 w 5"/>
                <a:gd name="T17" fmla="*/ 6 h 12"/>
                <a:gd name="T18" fmla="*/ 0 w 5"/>
                <a:gd name="T19" fmla="*/ 6 h 12"/>
                <a:gd name="T20" fmla="*/ 0 w 5"/>
                <a:gd name="T21" fmla="*/ 6 h 12"/>
                <a:gd name="T22" fmla="*/ 0 w 5"/>
                <a:gd name="T23" fmla="*/ 6 h 12"/>
                <a:gd name="T24" fmla="*/ 0 w 5"/>
                <a:gd name="T25" fmla="*/ 6 h 12"/>
                <a:gd name="T26" fmla="*/ 0 w 5"/>
                <a:gd name="T27" fmla="*/ 6 h 12"/>
                <a:gd name="T28" fmla="*/ 0 w 5"/>
                <a:gd name="T29" fmla="*/ 6 h 12"/>
                <a:gd name="T30" fmla="*/ 0 w 5"/>
                <a:gd name="T31" fmla="*/ 6 h 12"/>
                <a:gd name="T32" fmla="*/ 5 w 5"/>
                <a:gd name="T33" fmla="*/ 6 h 12"/>
                <a:gd name="T34" fmla="*/ 5 w 5"/>
                <a:gd name="T35" fmla="*/ 6 h 12"/>
                <a:gd name="T36" fmla="*/ 5 w 5"/>
                <a:gd name="T37" fmla="*/ 6 h 12"/>
                <a:gd name="T38" fmla="*/ 5 w 5"/>
                <a:gd name="T39" fmla="*/ 6 h 12"/>
                <a:gd name="T40" fmla="*/ 5 w 5"/>
                <a:gd name="T41" fmla="*/ 6 h 12"/>
                <a:gd name="T42" fmla="*/ 5 w 5"/>
                <a:gd name="T43" fmla="*/ 6 h 12"/>
                <a:gd name="T44" fmla="*/ 5 w 5"/>
                <a:gd name="T45" fmla="*/ 6 h 12"/>
                <a:gd name="T46" fmla="*/ 5 w 5"/>
                <a:gd name="T47" fmla="*/ 6 h 12"/>
                <a:gd name="T48" fmla="*/ 5 w 5"/>
                <a:gd name="T49" fmla="*/ 6 h 12"/>
                <a:gd name="T50" fmla="*/ 5 w 5"/>
                <a:gd name="T51" fmla="*/ 6 h 12"/>
                <a:gd name="T52" fmla="*/ 5 w 5"/>
                <a:gd name="T53" fmla="*/ 6 h 12"/>
                <a:gd name="T54" fmla="*/ 5 w 5"/>
                <a:gd name="T55" fmla="*/ 6 h 12"/>
                <a:gd name="T56" fmla="*/ 5 w 5"/>
                <a:gd name="T57" fmla="*/ 6 h 12"/>
                <a:gd name="T58" fmla="*/ 5 w 5"/>
                <a:gd name="T59" fmla="*/ 6 h 12"/>
                <a:gd name="T60" fmla="*/ 5 w 5"/>
                <a:gd name="T61" fmla="*/ 6 h 12"/>
                <a:gd name="T62" fmla="*/ 5 w 5"/>
                <a:gd name="T63" fmla="*/ 6 h 12"/>
                <a:gd name="T64" fmla="*/ 5 w 5"/>
                <a:gd name="T65" fmla="*/ 6 h 12"/>
                <a:gd name="T66" fmla="*/ 5 w 5"/>
                <a:gd name="T67" fmla="*/ 6 h 12"/>
                <a:gd name="T68" fmla="*/ 5 w 5"/>
                <a:gd name="T69" fmla="*/ 6 h 12"/>
                <a:gd name="T70" fmla="*/ 5 w 5"/>
                <a:gd name="T71" fmla="*/ 12 h 12"/>
                <a:gd name="T72" fmla="*/ 5 w 5"/>
                <a:gd name="T73" fmla="*/ 12 h 12"/>
                <a:gd name="T74" fmla="*/ 5 w 5"/>
                <a:gd name="T75" fmla="*/ 12 h 12"/>
                <a:gd name="T76" fmla="*/ 5 w 5"/>
                <a:gd name="T77" fmla="*/ 12 h 12"/>
                <a:gd name="T78" fmla="*/ 5 w 5"/>
                <a:gd name="T79" fmla="*/ 12 h 12"/>
                <a:gd name="T80" fmla="*/ 5 w 5"/>
                <a:gd name="T81" fmla="*/ 12 h 12"/>
                <a:gd name="T82" fmla="*/ 5 w 5"/>
                <a:gd name="T83" fmla="*/ 12 h 12"/>
                <a:gd name="T84" fmla="*/ 5 w 5"/>
                <a:gd name="T85" fmla="*/ 12 h 12"/>
                <a:gd name="T86" fmla="*/ 5 w 5"/>
                <a:gd name="T87" fmla="*/ 12 h 12"/>
                <a:gd name="T88" fmla="*/ 5 w 5"/>
                <a:gd name="T89" fmla="*/ 12 h 12"/>
                <a:gd name="T90" fmla="*/ 5 w 5"/>
                <a:gd name="T91" fmla="*/ 12 h 12"/>
                <a:gd name="T92" fmla="*/ 5 w 5"/>
                <a:gd name="T93" fmla="*/ 12 h 12"/>
                <a:gd name="T94" fmla="*/ 5 w 5"/>
                <a:gd name="T95" fmla="*/ 12 h 12"/>
                <a:gd name="T96" fmla="*/ 5 w 5"/>
                <a:gd name="T97" fmla="*/ 12 h 12"/>
                <a:gd name="T98" fmla="*/ 5 w 5"/>
                <a:gd name="T99" fmla="*/ 12 h 12"/>
                <a:gd name="T100" fmla="*/ 5 w 5"/>
                <a:gd name="T101" fmla="*/ 12 h 1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2"/>
                <a:gd name="T155" fmla="*/ 5 w 5"/>
                <a:gd name="T156" fmla="*/ 12 h 1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2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0" name="Freeform 127"/>
            <p:cNvSpPr>
              <a:spLocks/>
            </p:cNvSpPr>
            <p:nvPr/>
          </p:nvSpPr>
          <p:spPr bwMode="auto">
            <a:xfrm>
              <a:off x="4959" y="3313"/>
              <a:ext cx="9" cy="5"/>
            </a:xfrm>
            <a:custGeom>
              <a:avLst/>
              <a:gdLst>
                <a:gd name="T0" fmla="*/ 0 w 9"/>
                <a:gd name="T1" fmla="*/ 0 h 5"/>
                <a:gd name="T2" fmla="*/ 0 w 9"/>
                <a:gd name="T3" fmla="*/ 0 h 5"/>
                <a:gd name="T4" fmla="*/ 0 w 9"/>
                <a:gd name="T5" fmla="*/ 0 h 5"/>
                <a:gd name="T6" fmla="*/ 0 w 9"/>
                <a:gd name="T7" fmla="*/ 0 h 5"/>
                <a:gd name="T8" fmla="*/ 0 w 9"/>
                <a:gd name="T9" fmla="*/ 0 h 5"/>
                <a:gd name="T10" fmla="*/ 0 w 9"/>
                <a:gd name="T11" fmla="*/ 0 h 5"/>
                <a:gd name="T12" fmla="*/ 4 w 9"/>
                <a:gd name="T13" fmla="*/ 0 h 5"/>
                <a:gd name="T14" fmla="*/ 4 w 9"/>
                <a:gd name="T15" fmla="*/ 0 h 5"/>
                <a:gd name="T16" fmla="*/ 4 w 9"/>
                <a:gd name="T17" fmla="*/ 0 h 5"/>
                <a:gd name="T18" fmla="*/ 4 w 9"/>
                <a:gd name="T19" fmla="*/ 0 h 5"/>
                <a:gd name="T20" fmla="*/ 4 w 9"/>
                <a:gd name="T21" fmla="*/ 0 h 5"/>
                <a:gd name="T22" fmla="*/ 4 w 9"/>
                <a:gd name="T23" fmla="*/ 0 h 5"/>
                <a:gd name="T24" fmla="*/ 4 w 9"/>
                <a:gd name="T25" fmla="*/ 0 h 5"/>
                <a:gd name="T26" fmla="*/ 4 w 9"/>
                <a:gd name="T27" fmla="*/ 0 h 5"/>
                <a:gd name="T28" fmla="*/ 4 w 9"/>
                <a:gd name="T29" fmla="*/ 0 h 5"/>
                <a:gd name="T30" fmla="*/ 4 w 9"/>
                <a:gd name="T31" fmla="*/ 0 h 5"/>
                <a:gd name="T32" fmla="*/ 4 w 9"/>
                <a:gd name="T33" fmla="*/ 0 h 5"/>
                <a:gd name="T34" fmla="*/ 4 w 9"/>
                <a:gd name="T35" fmla="*/ 0 h 5"/>
                <a:gd name="T36" fmla="*/ 4 w 9"/>
                <a:gd name="T37" fmla="*/ 0 h 5"/>
                <a:gd name="T38" fmla="*/ 4 w 9"/>
                <a:gd name="T39" fmla="*/ 0 h 5"/>
                <a:gd name="T40" fmla="*/ 4 w 9"/>
                <a:gd name="T41" fmla="*/ 0 h 5"/>
                <a:gd name="T42" fmla="*/ 4 w 9"/>
                <a:gd name="T43" fmla="*/ 0 h 5"/>
                <a:gd name="T44" fmla="*/ 4 w 9"/>
                <a:gd name="T45" fmla="*/ 0 h 5"/>
                <a:gd name="T46" fmla="*/ 4 w 9"/>
                <a:gd name="T47" fmla="*/ 0 h 5"/>
                <a:gd name="T48" fmla="*/ 4 w 9"/>
                <a:gd name="T49" fmla="*/ 0 h 5"/>
                <a:gd name="T50" fmla="*/ 4 w 9"/>
                <a:gd name="T51" fmla="*/ 0 h 5"/>
                <a:gd name="T52" fmla="*/ 4 w 9"/>
                <a:gd name="T53" fmla="*/ 0 h 5"/>
                <a:gd name="T54" fmla="*/ 4 w 9"/>
                <a:gd name="T55" fmla="*/ 0 h 5"/>
                <a:gd name="T56" fmla="*/ 4 w 9"/>
                <a:gd name="T57" fmla="*/ 0 h 5"/>
                <a:gd name="T58" fmla="*/ 4 w 9"/>
                <a:gd name="T59" fmla="*/ 0 h 5"/>
                <a:gd name="T60" fmla="*/ 4 w 9"/>
                <a:gd name="T61" fmla="*/ 5 h 5"/>
                <a:gd name="T62" fmla="*/ 4 w 9"/>
                <a:gd name="T63" fmla="*/ 5 h 5"/>
                <a:gd name="T64" fmla="*/ 4 w 9"/>
                <a:gd name="T65" fmla="*/ 5 h 5"/>
                <a:gd name="T66" fmla="*/ 4 w 9"/>
                <a:gd name="T67" fmla="*/ 5 h 5"/>
                <a:gd name="T68" fmla="*/ 4 w 9"/>
                <a:gd name="T69" fmla="*/ 5 h 5"/>
                <a:gd name="T70" fmla="*/ 4 w 9"/>
                <a:gd name="T71" fmla="*/ 5 h 5"/>
                <a:gd name="T72" fmla="*/ 4 w 9"/>
                <a:gd name="T73" fmla="*/ 5 h 5"/>
                <a:gd name="T74" fmla="*/ 4 w 9"/>
                <a:gd name="T75" fmla="*/ 5 h 5"/>
                <a:gd name="T76" fmla="*/ 4 w 9"/>
                <a:gd name="T77" fmla="*/ 5 h 5"/>
                <a:gd name="T78" fmla="*/ 4 w 9"/>
                <a:gd name="T79" fmla="*/ 5 h 5"/>
                <a:gd name="T80" fmla="*/ 4 w 9"/>
                <a:gd name="T81" fmla="*/ 5 h 5"/>
                <a:gd name="T82" fmla="*/ 4 w 9"/>
                <a:gd name="T83" fmla="*/ 5 h 5"/>
                <a:gd name="T84" fmla="*/ 4 w 9"/>
                <a:gd name="T85" fmla="*/ 5 h 5"/>
                <a:gd name="T86" fmla="*/ 4 w 9"/>
                <a:gd name="T87" fmla="*/ 5 h 5"/>
                <a:gd name="T88" fmla="*/ 4 w 9"/>
                <a:gd name="T89" fmla="*/ 5 h 5"/>
                <a:gd name="T90" fmla="*/ 4 w 9"/>
                <a:gd name="T91" fmla="*/ 5 h 5"/>
                <a:gd name="T92" fmla="*/ 4 w 9"/>
                <a:gd name="T93" fmla="*/ 5 h 5"/>
                <a:gd name="T94" fmla="*/ 9 w 9"/>
                <a:gd name="T95" fmla="*/ 5 h 5"/>
                <a:gd name="T96" fmla="*/ 9 w 9"/>
                <a:gd name="T97" fmla="*/ 5 h 5"/>
                <a:gd name="T98" fmla="*/ 9 w 9"/>
                <a:gd name="T99" fmla="*/ 5 h 5"/>
                <a:gd name="T100" fmla="*/ 9 w 9"/>
                <a:gd name="T101" fmla="*/ 5 h 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5"/>
                <a:gd name="T155" fmla="*/ 9 w 9"/>
                <a:gd name="T156" fmla="*/ 5 h 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5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5"/>
                  </a:lnTo>
                  <a:lnTo>
                    <a:pt x="9" y="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1" name="Freeform 128"/>
            <p:cNvSpPr>
              <a:spLocks/>
            </p:cNvSpPr>
            <p:nvPr/>
          </p:nvSpPr>
          <p:spPr bwMode="auto">
            <a:xfrm>
              <a:off x="4968" y="3318"/>
              <a:ext cx="5" cy="1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0 w 5"/>
                <a:gd name="T5" fmla="*/ 0 h 1"/>
                <a:gd name="T6" fmla="*/ 0 w 5"/>
                <a:gd name="T7" fmla="*/ 0 h 1"/>
                <a:gd name="T8" fmla="*/ 0 w 5"/>
                <a:gd name="T9" fmla="*/ 0 h 1"/>
                <a:gd name="T10" fmla="*/ 0 w 5"/>
                <a:gd name="T11" fmla="*/ 0 h 1"/>
                <a:gd name="T12" fmla="*/ 0 w 5"/>
                <a:gd name="T13" fmla="*/ 0 h 1"/>
                <a:gd name="T14" fmla="*/ 0 w 5"/>
                <a:gd name="T15" fmla="*/ 0 h 1"/>
                <a:gd name="T16" fmla="*/ 0 w 5"/>
                <a:gd name="T17" fmla="*/ 0 h 1"/>
                <a:gd name="T18" fmla="*/ 0 w 5"/>
                <a:gd name="T19" fmla="*/ 0 h 1"/>
                <a:gd name="T20" fmla="*/ 0 w 5"/>
                <a:gd name="T21" fmla="*/ 0 h 1"/>
                <a:gd name="T22" fmla="*/ 0 w 5"/>
                <a:gd name="T23" fmla="*/ 0 h 1"/>
                <a:gd name="T24" fmla="*/ 0 w 5"/>
                <a:gd name="T25" fmla="*/ 0 h 1"/>
                <a:gd name="T26" fmla="*/ 0 w 5"/>
                <a:gd name="T27" fmla="*/ 0 h 1"/>
                <a:gd name="T28" fmla="*/ 0 w 5"/>
                <a:gd name="T29" fmla="*/ 0 h 1"/>
                <a:gd name="T30" fmla="*/ 0 w 5"/>
                <a:gd name="T31" fmla="*/ 0 h 1"/>
                <a:gd name="T32" fmla="*/ 0 w 5"/>
                <a:gd name="T33" fmla="*/ 0 h 1"/>
                <a:gd name="T34" fmla="*/ 0 w 5"/>
                <a:gd name="T35" fmla="*/ 0 h 1"/>
                <a:gd name="T36" fmla="*/ 0 w 5"/>
                <a:gd name="T37" fmla="*/ 0 h 1"/>
                <a:gd name="T38" fmla="*/ 0 w 5"/>
                <a:gd name="T39" fmla="*/ 0 h 1"/>
                <a:gd name="T40" fmla="*/ 0 w 5"/>
                <a:gd name="T41" fmla="*/ 0 h 1"/>
                <a:gd name="T42" fmla="*/ 0 w 5"/>
                <a:gd name="T43" fmla="*/ 0 h 1"/>
                <a:gd name="T44" fmla="*/ 0 w 5"/>
                <a:gd name="T45" fmla="*/ 0 h 1"/>
                <a:gd name="T46" fmla="*/ 0 w 5"/>
                <a:gd name="T47" fmla="*/ 0 h 1"/>
                <a:gd name="T48" fmla="*/ 0 w 5"/>
                <a:gd name="T49" fmla="*/ 0 h 1"/>
                <a:gd name="T50" fmla="*/ 0 w 5"/>
                <a:gd name="T51" fmla="*/ 0 h 1"/>
                <a:gd name="T52" fmla="*/ 0 w 5"/>
                <a:gd name="T53" fmla="*/ 0 h 1"/>
                <a:gd name="T54" fmla="*/ 0 w 5"/>
                <a:gd name="T55" fmla="*/ 0 h 1"/>
                <a:gd name="T56" fmla="*/ 0 w 5"/>
                <a:gd name="T57" fmla="*/ 0 h 1"/>
                <a:gd name="T58" fmla="*/ 0 w 5"/>
                <a:gd name="T59" fmla="*/ 0 h 1"/>
                <a:gd name="T60" fmla="*/ 0 w 5"/>
                <a:gd name="T61" fmla="*/ 0 h 1"/>
                <a:gd name="T62" fmla="*/ 0 w 5"/>
                <a:gd name="T63" fmla="*/ 0 h 1"/>
                <a:gd name="T64" fmla="*/ 0 w 5"/>
                <a:gd name="T65" fmla="*/ 0 h 1"/>
                <a:gd name="T66" fmla="*/ 0 w 5"/>
                <a:gd name="T67" fmla="*/ 0 h 1"/>
                <a:gd name="T68" fmla="*/ 0 w 5"/>
                <a:gd name="T69" fmla="*/ 0 h 1"/>
                <a:gd name="T70" fmla="*/ 0 w 5"/>
                <a:gd name="T71" fmla="*/ 0 h 1"/>
                <a:gd name="T72" fmla="*/ 0 w 5"/>
                <a:gd name="T73" fmla="*/ 0 h 1"/>
                <a:gd name="T74" fmla="*/ 5 w 5"/>
                <a:gd name="T75" fmla="*/ 0 h 1"/>
                <a:gd name="T76" fmla="*/ 5 w 5"/>
                <a:gd name="T77" fmla="*/ 0 h 1"/>
                <a:gd name="T78" fmla="*/ 5 w 5"/>
                <a:gd name="T79" fmla="*/ 0 h 1"/>
                <a:gd name="T80" fmla="*/ 5 w 5"/>
                <a:gd name="T81" fmla="*/ 0 h 1"/>
                <a:gd name="T82" fmla="*/ 5 w 5"/>
                <a:gd name="T83" fmla="*/ 0 h 1"/>
                <a:gd name="T84" fmla="*/ 5 w 5"/>
                <a:gd name="T85" fmla="*/ 0 h 1"/>
                <a:gd name="T86" fmla="*/ 5 w 5"/>
                <a:gd name="T87" fmla="*/ 0 h 1"/>
                <a:gd name="T88" fmla="*/ 5 w 5"/>
                <a:gd name="T89" fmla="*/ 0 h 1"/>
                <a:gd name="T90" fmla="*/ 5 w 5"/>
                <a:gd name="T91" fmla="*/ 0 h 1"/>
                <a:gd name="T92" fmla="*/ 5 w 5"/>
                <a:gd name="T93" fmla="*/ 0 h 1"/>
                <a:gd name="T94" fmla="*/ 5 w 5"/>
                <a:gd name="T95" fmla="*/ 0 h 1"/>
                <a:gd name="T96" fmla="*/ 5 w 5"/>
                <a:gd name="T97" fmla="*/ 0 h 1"/>
                <a:gd name="T98" fmla="*/ 5 w 5"/>
                <a:gd name="T99" fmla="*/ 0 h 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1"/>
                <a:gd name="T152" fmla="*/ 5 w 5"/>
                <a:gd name="T153" fmla="*/ 1 h 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2" name="Freeform 129"/>
            <p:cNvSpPr>
              <a:spLocks/>
            </p:cNvSpPr>
            <p:nvPr/>
          </p:nvSpPr>
          <p:spPr bwMode="auto">
            <a:xfrm>
              <a:off x="4973" y="3318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"/>
                <a:gd name="T148" fmla="*/ 0 h 1"/>
                <a:gd name="T149" fmla="*/ 1 w 1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3" name="Freeform 130"/>
            <p:cNvSpPr>
              <a:spLocks/>
            </p:cNvSpPr>
            <p:nvPr/>
          </p:nvSpPr>
          <p:spPr bwMode="auto">
            <a:xfrm>
              <a:off x="4973" y="3318"/>
              <a:ext cx="9" cy="1"/>
            </a:xfrm>
            <a:custGeom>
              <a:avLst/>
              <a:gdLst>
                <a:gd name="T0" fmla="*/ 0 w 9"/>
                <a:gd name="T1" fmla="*/ 0 h 1"/>
                <a:gd name="T2" fmla="*/ 0 w 9"/>
                <a:gd name="T3" fmla="*/ 0 h 1"/>
                <a:gd name="T4" fmla="*/ 0 w 9"/>
                <a:gd name="T5" fmla="*/ 0 h 1"/>
                <a:gd name="T6" fmla="*/ 0 w 9"/>
                <a:gd name="T7" fmla="*/ 0 h 1"/>
                <a:gd name="T8" fmla="*/ 0 w 9"/>
                <a:gd name="T9" fmla="*/ 0 h 1"/>
                <a:gd name="T10" fmla="*/ 0 w 9"/>
                <a:gd name="T11" fmla="*/ 0 h 1"/>
                <a:gd name="T12" fmla="*/ 5 w 9"/>
                <a:gd name="T13" fmla="*/ 0 h 1"/>
                <a:gd name="T14" fmla="*/ 5 w 9"/>
                <a:gd name="T15" fmla="*/ 0 h 1"/>
                <a:gd name="T16" fmla="*/ 5 w 9"/>
                <a:gd name="T17" fmla="*/ 0 h 1"/>
                <a:gd name="T18" fmla="*/ 5 w 9"/>
                <a:gd name="T19" fmla="*/ 0 h 1"/>
                <a:gd name="T20" fmla="*/ 5 w 9"/>
                <a:gd name="T21" fmla="*/ 0 h 1"/>
                <a:gd name="T22" fmla="*/ 5 w 9"/>
                <a:gd name="T23" fmla="*/ 0 h 1"/>
                <a:gd name="T24" fmla="*/ 5 w 9"/>
                <a:gd name="T25" fmla="*/ 0 h 1"/>
                <a:gd name="T26" fmla="*/ 5 w 9"/>
                <a:gd name="T27" fmla="*/ 0 h 1"/>
                <a:gd name="T28" fmla="*/ 5 w 9"/>
                <a:gd name="T29" fmla="*/ 0 h 1"/>
                <a:gd name="T30" fmla="*/ 5 w 9"/>
                <a:gd name="T31" fmla="*/ 0 h 1"/>
                <a:gd name="T32" fmla="*/ 5 w 9"/>
                <a:gd name="T33" fmla="*/ 0 h 1"/>
                <a:gd name="T34" fmla="*/ 5 w 9"/>
                <a:gd name="T35" fmla="*/ 0 h 1"/>
                <a:gd name="T36" fmla="*/ 5 w 9"/>
                <a:gd name="T37" fmla="*/ 0 h 1"/>
                <a:gd name="T38" fmla="*/ 5 w 9"/>
                <a:gd name="T39" fmla="*/ 0 h 1"/>
                <a:gd name="T40" fmla="*/ 5 w 9"/>
                <a:gd name="T41" fmla="*/ 0 h 1"/>
                <a:gd name="T42" fmla="*/ 5 w 9"/>
                <a:gd name="T43" fmla="*/ 0 h 1"/>
                <a:gd name="T44" fmla="*/ 5 w 9"/>
                <a:gd name="T45" fmla="*/ 0 h 1"/>
                <a:gd name="T46" fmla="*/ 5 w 9"/>
                <a:gd name="T47" fmla="*/ 0 h 1"/>
                <a:gd name="T48" fmla="*/ 5 w 9"/>
                <a:gd name="T49" fmla="*/ 0 h 1"/>
                <a:gd name="T50" fmla="*/ 5 w 9"/>
                <a:gd name="T51" fmla="*/ 0 h 1"/>
                <a:gd name="T52" fmla="*/ 5 w 9"/>
                <a:gd name="T53" fmla="*/ 0 h 1"/>
                <a:gd name="T54" fmla="*/ 5 w 9"/>
                <a:gd name="T55" fmla="*/ 0 h 1"/>
                <a:gd name="T56" fmla="*/ 5 w 9"/>
                <a:gd name="T57" fmla="*/ 0 h 1"/>
                <a:gd name="T58" fmla="*/ 5 w 9"/>
                <a:gd name="T59" fmla="*/ 0 h 1"/>
                <a:gd name="T60" fmla="*/ 5 w 9"/>
                <a:gd name="T61" fmla="*/ 0 h 1"/>
                <a:gd name="T62" fmla="*/ 5 w 9"/>
                <a:gd name="T63" fmla="*/ 0 h 1"/>
                <a:gd name="T64" fmla="*/ 5 w 9"/>
                <a:gd name="T65" fmla="*/ 0 h 1"/>
                <a:gd name="T66" fmla="*/ 5 w 9"/>
                <a:gd name="T67" fmla="*/ 0 h 1"/>
                <a:gd name="T68" fmla="*/ 5 w 9"/>
                <a:gd name="T69" fmla="*/ 0 h 1"/>
                <a:gd name="T70" fmla="*/ 5 w 9"/>
                <a:gd name="T71" fmla="*/ 0 h 1"/>
                <a:gd name="T72" fmla="*/ 5 w 9"/>
                <a:gd name="T73" fmla="*/ 0 h 1"/>
                <a:gd name="T74" fmla="*/ 5 w 9"/>
                <a:gd name="T75" fmla="*/ 0 h 1"/>
                <a:gd name="T76" fmla="*/ 5 w 9"/>
                <a:gd name="T77" fmla="*/ 0 h 1"/>
                <a:gd name="T78" fmla="*/ 5 w 9"/>
                <a:gd name="T79" fmla="*/ 0 h 1"/>
                <a:gd name="T80" fmla="*/ 5 w 9"/>
                <a:gd name="T81" fmla="*/ 0 h 1"/>
                <a:gd name="T82" fmla="*/ 5 w 9"/>
                <a:gd name="T83" fmla="*/ 0 h 1"/>
                <a:gd name="T84" fmla="*/ 5 w 9"/>
                <a:gd name="T85" fmla="*/ 0 h 1"/>
                <a:gd name="T86" fmla="*/ 5 w 9"/>
                <a:gd name="T87" fmla="*/ 0 h 1"/>
                <a:gd name="T88" fmla="*/ 5 w 9"/>
                <a:gd name="T89" fmla="*/ 0 h 1"/>
                <a:gd name="T90" fmla="*/ 5 w 9"/>
                <a:gd name="T91" fmla="*/ 0 h 1"/>
                <a:gd name="T92" fmla="*/ 9 w 9"/>
                <a:gd name="T93" fmla="*/ 0 h 1"/>
                <a:gd name="T94" fmla="*/ 9 w 9"/>
                <a:gd name="T95" fmla="*/ 0 h 1"/>
                <a:gd name="T96" fmla="*/ 9 w 9"/>
                <a:gd name="T97" fmla="*/ 0 h 1"/>
                <a:gd name="T98" fmla="*/ 9 w 9"/>
                <a:gd name="T99" fmla="*/ 0 h 1"/>
                <a:gd name="T100" fmla="*/ 9 w 9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"/>
                <a:gd name="T155" fmla="*/ 9 w 9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4" name="Freeform 131"/>
            <p:cNvSpPr>
              <a:spLocks/>
            </p:cNvSpPr>
            <p:nvPr/>
          </p:nvSpPr>
          <p:spPr bwMode="auto">
            <a:xfrm>
              <a:off x="4982" y="3313"/>
              <a:ext cx="5" cy="5"/>
            </a:xfrm>
            <a:custGeom>
              <a:avLst/>
              <a:gdLst>
                <a:gd name="T0" fmla="*/ 0 w 5"/>
                <a:gd name="T1" fmla="*/ 5 h 5"/>
                <a:gd name="T2" fmla="*/ 0 w 5"/>
                <a:gd name="T3" fmla="*/ 5 h 5"/>
                <a:gd name="T4" fmla="*/ 0 w 5"/>
                <a:gd name="T5" fmla="*/ 5 h 5"/>
                <a:gd name="T6" fmla="*/ 0 w 5"/>
                <a:gd name="T7" fmla="*/ 5 h 5"/>
                <a:gd name="T8" fmla="*/ 0 w 5"/>
                <a:gd name="T9" fmla="*/ 5 h 5"/>
                <a:gd name="T10" fmla="*/ 0 w 5"/>
                <a:gd name="T11" fmla="*/ 5 h 5"/>
                <a:gd name="T12" fmla="*/ 0 w 5"/>
                <a:gd name="T13" fmla="*/ 5 h 5"/>
                <a:gd name="T14" fmla="*/ 0 w 5"/>
                <a:gd name="T15" fmla="*/ 5 h 5"/>
                <a:gd name="T16" fmla="*/ 0 w 5"/>
                <a:gd name="T17" fmla="*/ 5 h 5"/>
                <a:gd name="T18" fmla="*/ 0 w 5"/>
                <a:gd name="T19" fmla="*/ 5 h 5"/>
                <a:gd name="T20" fmla="*/ 0 w 5"/>
                <a:gd name="T21" fmla="*/ 5 h 5"/>
                <a:gd name="T22" fmla="*/ 0 w 5"/>
                <a:gd name="T23" fmla="*/ 5 h 5"/>
                <a:gd name="T24" fmla="*/ 0 w 5"/>
                <a:gd name="T25" fmla="*/ 5 h 5"/>
                <a:gd name="T26" fmla="*/ 0 w 5"/>
                <a:gd name="T27" fmla="*/ 5 h 5"/>
                <a:gd name="T28" fmla="*/ 0 w 5"/>
                <a:gd name="T29" fmla="*/ 5 h 5"/>
                <a:gd name="T30" fmla="*/ 0 w 5"/>
                <a:gd name="T31" fmla="*/ 5 h 5"/>
                <a:gd name="T32" fmla="*/ 0 w 5"/>
                <a:gd name="T33" fmla="*/ 5 h 5"/>
                <a:gd name="T34" fmla="*/ 0 w 5"/>
                <a:gd name="T35" fmla="*/ 5 h 5"/>
                <a:gd name="T36" fmla="*/ 0 w 5"/>
                <a:gd name="T37" fmla="*/ 5 h 5"/>
                <a:gd name="T38" fmla="*/ 0 w 5"/>
                <a:gd name="T39" fmla="*/ 5 h 5"/>
                <a:gd name="T40" fmla="*/ 0 w 5"/>
                <a:gd name="T41" fmla="*/ 5 h 5"/>
                <a:gd name="T42" fmla="*/ 0 w 5"/>
                <a:gd name="T43" fmla="*/ 5 h 5"/>
                <a:gd name="T44" fmla="*/ 0 w 5"/>
                <a:gd name="T45" fmla="*/ 5 h 5"/>
                <a:gd name="T46" fmla="*/ 0 w 5"/>
                <a:gd name="T47" fmla="*/ 5 h 5"/>
                <a:gd name="T48" fmla="*/ 0 w 5"/>
                <a:gd name="T49" fmla="*/ 5 h 5"/>
                <a:gd name="T50" fmla="*/ 0 w 5"/>
                <a:gd name="T51" fmla="*/ 5 h 5"/>
                <a:gd name="T52" fmla="*/ 0 w 5"/>
                <a:gd name="T53" fmla="*/ 0 h 5"/>
                <a:gd name="T54" fmla="*/ 0 w 5"/>
                <a:gd name="T55" fmla="*/ 0 h 5"/>
                <a:gd name="T56" fmla="*/ 0 w 5"/>
                <a:gd name="T57" fmla="*/ 0 h 5"/>
                <a:gd name="T58" fmla="*/ 0 w 5"/>
                <a:gd name="T59" fmla="*/ 0 h 5"/>
                <a:gd name="T60" fmla="*/ 0 w 5"/>
                <a:gd name="T61" fmla="*/ 0 h 5"/>
                <a:gd name="T62" fmla="*/ 0 w 5"/>
                <a:gd name="T63" fmla="*/ 0 h 5"/>
                <a:gd name="T64" fmla="*/ 0 w 5"/>
                <a:gd name="T65" fmla="*/ 0 h 5"/>
                <a:gd name="T66" fmla="*/ 0 w 5"/>
                <a:gd name="T67" fmla="*/ 0 h 5"/>
                <a:gd name="T68" fmla="*/ 0 w 5"/>
                <a:gd name="T69" fmla="*/ 0 h 5"/>
                <a:gd name="T70" fmla="*/ 0 w 5"/>
                <a:gd name="T71" fmla="*/ 0 h 5"/>
                <a:gd name="T72" fmla="*/ 0 w 5"/>
                <a:gd name="T73" fmla="*/ 0 h 5"/>
                <a:gd name="T74" fmla="*/ 5 w 5"/>
                <a:gd name="T75" fmla="*/ 0 h 5"/>
                <a:gd name="T76" fmla="*/ 5 w 5"/>
                <a:gd name="T77" fmla="*/ 0 h 5"/>
                <a:gd name="T78" fmla="*/ 5 w 5"/>
                <a:gd name="T79" fmla="*/ 0 h 5"/>
                <a:gd name="T80" fmla="*/ 5 w 5"/>
                <a:gd name="T81" fmla="*/ 0 h 5"/>
                <a:gd name="T82" fmla="*/ 5 w 5"/>
                <a:gd name="T83" fmla="*/ 0 h 5"/>
                <a:gd name="T84" fmla="*/ 5 w 5"/>
                <a:gd name="T85" fmla="*/ 0 h 5"/>
                <a:gd name="T86" fmla="*/ 5 w 5"/>
                <a:gd name="T87" fmla="*/ 0 h 5"/>
                <a:gd name="T88" fmla="*/ 5 w 5"/>
                <a:gd name="T89" fmla="*/ 0 h 5"/>
                <a:gd name="T90" fmla="*/ 5 w 5"/>
                <a:gd name="T91" fmla="*/ 0 h 5"/>
                <a:gd name="T92" fmla="*/ 5 w 5"/>
                <a:gd name="T93" fmla="*/ 0 h 5"/>
                <a:gd name="T94" fmla="*/ 5 w 5"/>
                <a:gd name="T95" fmla="*/ 0 h 5"/>
                <a:gd name="T96" fmla="*/ 5 w 5"/>
                <a:gd name="T97" fmla="*/ 0 h 5"/>
                <a:gd name="T98" fmla="*/ 5 w 5"/>
                <a:gd name="T99" fmla="*/ 0 h 5"/>
                <a:gd name="T100" fmla="*/ 5 w 5"/>
                <a:gd name="T101" fmla="*/ 0 h 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5"/>
                <a:gd name="T155" fmla="*/ 5 w 5"/>
                <a:gd name="T156" fmla="*/ 5 h 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5">
                  <a:moveTo>
                    <a:pt x="0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5" name="Freeform 132"/>
            <p:cNvSpPr>
              <a:spLocks/>
            </p:cNvSpPr>
            <p:nvPr/>
          </p:nvSpPr>
          <p:spPr bwMode="auto">
            <a:xfrm>
              <a:off x="4987" y="3307"/>
              <a:ext cx="5" cy="6"/>
            </a:xfrm>
            <a:custGeom>
              <a:avLst/>
              <a:gdLst>
                <a:gd name="T0" fmla="*/ 0 w 5"/>
                <a:gd name="T1" fmla="*/ 6 h 6"/>
                <a:gd name="T2" fmla="*/ 0 w 5"/>
                <a:gd name="T3" fmla="*/ 6 h 6"/>
                <a:gd name="T4" fmla="*/ 0 w 5"/>
                <a:gd name="T5" fmla="*/ 6 h 6"/>
                <a:gd name="T6" fmla="*/ 0 w 5"/>
                <a:gd name="T7" fmla="*/ 6 h 6"/>
                <a:gd name="T8" fmla="*/ 0 w 5"/>
                <a:gd name="T9" fmla="*/ 6 h 6"/>
                <a:gd name="T10" fmla="*/ 0 w 5"/>
                <a:gd name="T11" fmla="*/ 6 h 6"/>
                <a:gd name="T12" fmla="*/ 0 w 5"/>
                <a:gd name="T13" fmla="*/ 6 h 6"/>
                <a:gd name="T14" fmla="*/ 0 w 5"/>
                <a:gd name="T15" fmla="*/ 6 h 6"/>
                <a:gd name="T16" fmla="*/ 0 w 5"/>
                <a:gd name="T17" fmla="*/ 6 h 6"/>
                <a:gd name="T18" fmla="*/ 0 w 5"/>
                <a:gd name="T19" fmla="*/ 6 h 6"/>
                <a:gd name="T20" fmla="*/ 0 w 5"/>
                <a:gd name="T21" fmla="*/ 6 h 6"/>
                <a:gd name="T22" fmla="*/ 0 w 5"/>
                <a:gd name="T23" fmla="*/ 6 h 6"/>
                <a:gd name="T24" fmla="*/ 0 w 5"/>
                <a:gd name="T25" fmla="*/ 6 h 6"/>
                <a:gd name="T26" fmla="*/ 0 w 5"/>
                <a:gd name="T27" fmla="*/ 6 h 6"/>
                <a:gd name="T28" fmla="*/ 0 w 5"/>
                <a:gd name="T29" fmla="*/ 6 h 6"/>
                <a:gd name="T30" fmla="*/ 0 w 5"/>
                <a:gd name="T31" fmla="*/ 6 h 6"/>
                <a:gd name="T32" fmla="*/ 0 w 5"/>
                <a:gd name="T33" fmla="*/ 6 h 6"/>
                <a:gd name="T34" fmla="*/ 0 w 5"/>
                <a:gd name="T35" fmla="*/ 6 h 6"/>
                <a:gd name="T36" fmla="*/ 0 w 5"/>
                <a:gd name="T37" fmla="*/ 6 h 6"/>
                <a:gd name="T38" fmla="*/ 0 w 5"/>
                <a:gd name="T39" fmla="*/ 6 h 6"/>
                <a:gd name="T40" fmla="*/ 0 w 5"/>
                <a:gd name="T41" fmla="*/ 6 h 6"/>
                <a:gd name="T42" fmla="*/ 0 w 5"/>
                <a:gd name="T43" fmla="*/ 0 h 6"/>
                <a:gd name="T44" fmla="*/ 0 w 5"/>
                <a:gd name="T45" fmla="*/ 0 h 6"/>
                <a:gd name="T46" fmla="*/ 0 w 5"/>
                <a:gd name="T47" fmla="*/ 0 h 6"/>
                <a:gd name="T48" fmla="*/ 0 w 5"/>
                <a:gd name="T49" fmla="*/ 0 h 6"/>
                <a:gd name="T50" fmla="*/ 0 w 5"/>
                <a:gd name="T51" fmla="*/ 0 h 6"/>
                <a:gd name="T52" fmla="*/ 0 w 5"/>
                <a:gd name="T53" fmla="*/ 0 h 6"/>
                <a:gd name="T54" fmla="*/ 5 w 5"/>
                <a:gd name="T55" fmla="*/ 0 h 6"/>
                <a:gd name="T56" fmla="*/ 5 w 5"/>
                <a:gd name="T57" fmla="*/ 0 h 6"/>
                <a:gd name="T58" fmla="*/ 5 w 5"/>
                <a:gd name="T59" fmla="*/ 0 h 6"/>
                <a:gd name="T60" fmla="*/ 5 w 5"/>
                <a:gd name="T61" fmla="*/ 0 h 6"/>
                <a:gd name="T62" fmla="*/ 5 w 5"/>
                <a:gd name="T63" fmla="*/ 0 h 6"/>
                <a:gd name="T64" fmla="*/ 5 w 5"/>
                <a:gd name="T65" fmla="*/ 0 h 6"/>
                <a:gd name="T66" fmla="*/ 5 w 5"/>
                <a:gd name="T67" fmla="*/ 0 h 6"/>
                <a:gd name="T68" fmla="*/ 5 w 5"/>
                <a:gd name="T69" fmla="*/ 0 h 6"/>
                <a:gd name="T70" fmla="*/ 5 w 5"/>
                <a:gd name="T71" fmla="*/ 0 h 6"/>
                <a:gd name="T72" fmla="*/ 5 w 5"/>
                <a:gd name="T73" fmla="*/ 0 h 6"/>
                <a:gd name="T74" fmla="*/ 5 w 5"/>
                <a:gd name="T75" fmla="*/ 0 h 6"/>
                <a:gd name="T76" fmla="*/ 5 w 5"/>
                <a:gd name="T77" fmla="*/ 0 h 6"/>
                <a:gd name="T78" fmla="*/ 5 w 5"/>
                <a:gd name="T79" fmla="*/ 0 h 6"/>
                <a:gd name="T80" fmla="*/ 5 w 5"/>
                <a:gd name="T81" fmla="*/ 0 h 6"/>
                <a:gd name="T82" fmla="*/ 5 w 5"/>
                <a:gd name="T83" fmla="*/ 0 h 6"/>
                <a:gd name="T84" fmla="*/ 5 w 5"/>
                <a:gd name="T85" fmla="*/ 0 h 6"/>
                <a:gd name="T86" fmla="*/ 5 w 5"/>
                <a:gd name="T87" fmla="*/ 0 h 6"/>
                <a:gd name="T88" fmla="*/ 5 w 5"/>
                <a:gd name="T89" fmla="*/ 0 h 6"/>
                <a:gd name="T90" fmla="*/ 5 w 5"/>
                <a:gd name="T91" fmla="*/ 0 h 6"/>
                <a:gd name="T92" fmla="*/ 5 w 5"/>
                <a:gd name="T93" fmla="*/ 0 h 6"/>
                <a:gd name="T94" fmla="*/ 5 w 5"/>
                <a:gd name="T95" fmla="*/ 0 h 6"/>
                <a:gd name="T96" fmla="*/ 5 w 5"/>
                <a:gd name="T97" fmla="*/ 0 h 6"/>
                <a:gd name="T98" fmla="*/ 5 w 5"/>
                <a:gd name="T99" fmla="*/ 0 h 6"/>
                <a:gd name="T100" fmla="*/ 5 w 5"/>
                <a:gd name="T101" fmla="*/ 0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6"/>
                <a:gd name="T155" fmla="*/ 5 w 5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6">
                  <a:moveTo>
                    <a:pt x="0" y="6"/>
                  </a:moveTo>
                  <a:lnTo>
                    <a:pt x="0" y="6"/>
                  </a:ln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6" name="Freeform 133"/>
            <p:cNvSpPr>
              <a:spLocks/>
            </p:cNvSpPr>
            <p:nvPr/>
          </p:nvSpPr>
          <p:spPr bwMode="auto">
            <a:xfrm>
              <a:off x="4992" y="3296"/>
              <a:ext cx="5" cy="11"/>
            </a:xfrm>
            <a:custGeom>
              <a:avLst/>
              <a:gdLst>
                <a:gd name="T0" fmla="*/ 0 w 5"/>
                <a:gd name="T1" fmla="*/ 11 h 11"/>
                <a:gd name="T2" fmla="*/ 0 w 5"/>
                <a:gd name="T3" fmla="*/ 11 h 11"/>
                <a:gd name="T4" fmla="*/ 0 w 5"/>
                <a:gd name="T5" fmla="*/ 11 h 11"/>
                <a:gd name="T6" fmla="*/ 0 w 5"/>
                <a:gd name="T7" fmla="*/ 5 h 11"/>
                <a:gd name="T8" fmla="*/ 0 w 5"/>
                <a:gd name="T9" fmla="*/ 5 h 11"/>
                <a:gd name="T10" fmla="*/ 0 w 5"/>
                <a:gd name="T11" fmla="*/ 5 h 11"/>
                <a:gd name="T12" fmla="*/ 0 w 5"/>
                <a:gd name="T13" fmla="*/ 5 h 11"/>
                <a:gd name="T14" fmla="*/ 0 w 5"/>
                <a:gd name="T15" fmla="*/ 5 h 11"/>
                <a:gd name="T16" fmla="*/ 0 w 5"/>
                <a:gd name="T17" fmla="*/ 5 h 11"/>
                <a:gd name="T18" fmla="*/ 0 w 5"/>
                <a:gd name="T19" fmla="*/ 5 h 11"/>
                <a:gd name="T20" fmla="*/ 0 w 5"/>
                <a:gd name="T21" fmla="*/ 5 h 11"/>
                <a:gd name="T22" fmla="*/ 0 w 5"/>
                <a:gd name="T23" fmla="*/ 5 h 11"/>
                <a:gd name="T24" fmla="*/ 0 w 5"/>
                <a:gd name="T25" fmla="*/ 5 h 11"/>
                <a:gd name="T26" fmla="*/ 0 w 5"/>
                <a:gd name="T27" fmla="*/ 5 h 11"/>
                <a:gd name="T28" fmla="*/ 0 w 5"/>
                <a:gd name="T29" fmla="*/ 5 h 11"/>
                <a:gd name="T30" fmla="*/ 0 w 5"/>
                <a:gd name="T31" fmla="*/ 5 h 11"/>
                <a:gd name="T32" fmla="*/ 0 w 5"/>
                <a:gd name="T33" fmla="*/ 5 h 11"/>
                <a:gd name="T34" fmla="*/ 5 w 5"/>
                <a:gd name="T35" fmla="*/ 5 h 11"/>
                <a:gd name="T36" fmla="*/ 5 w 5"/>
                <a:gd name="T37" fmla="*/ 5 h 11"/>
                <a:gd name="T38" fmla="*/ 5 w 5"/>
                <a:gd name="T39" fmla="*/ 5 h 11"/>
                <a:gd name="T40" fmla="*/ 5 w 5"/>
                <a:gd name="T41" fmla="*/ 5 h 11"/>
                <a:gd name="T42" fmla="*/ 5 w 5"/>
                <a:gd name="T43" fmla="*/ 5 h 11"/>
                <a:gd name="T44" fmla="*/ 5 w 5"/>
                <a:gd name="T45" fmla="*/ 5 h 11"/>
                <a:gd name="T46" fmla="*/ 5 w 5"/>
                <a:gd name="T47" fmla="*/ 5 h 11"/>
                <a:gd name="T48" fmla="*/ 5 w 5"/>
                <a:gd name="T49" fmla="*/ 5 h 11"/>
                <a:gd name="T50" fmla="*/ 5 w 5"/>
                <a:gd name="T51" fmla="*/ 5 h 11"/>
                <a:gd name="T52" fmla="*/ 5 w 5"/>
                <a:gd name="T53" fmla="*/ 5 h 11"/>
                <a:gd name="T54" fmla="*/ 5 w 5"/>
                <a:gd name="T55" fmla="*/ 5 h 11"/>
                <a:gd name="T56" fmla="*/ 5 w 5"/>
                <a:gd name="T57" fmla="*/ 5 h 11"/>
                <a:gd name="T58" fmla="*/ 5 w 5"/>
                <a:gd name="T59" fmla="*/ 5 h 11"/>
                <a:gd name="T60" fmla="*/ 5 w 5"/>
                <a:gd name="T61" fmla="*/ 0 h 11"/>
                <a:gd name="T62" fmla="*/ 5 w 5"/>
                <a:gd name="T63" fmla="*/ 0 h 11"/>
                <a:gd name="T64" fmla="*/ 5 w 5"/>
                <a:gd name="T65" fmla="*/ 0 h 11"/>
                <a:gd name="T66" fmla="*/ 5 w 5"/>
                <a:gd name="T67" fmla="*/ 0 h 11"/>
                <a:gd name="T68" fmla="*/ 5 w 5"/>
                <a:gd name="T69" fmla="*/ 0 h 11"/>
                <a:gd name="T70" fmla="*/ 5 w 5"/>
                <a:gd name="T71" fmla="*/ 0 h 11"/>
                <a:gd name="T72" fmla="*/ 5 w 5"/>
                <a:gd name="T73" fmla="*/ 0 h 11"/>
                <a:gd name="T74" fmla="*/ 5 w 5"/>
                <a:gd name="T75" fmla="*/ 0 h 11"/>
                <a:gd name="T76" fmla="*/ 5 w 5"/>
                <a:gd name="T77" fmla="*/ 0 h 11"/>
                <a:gd name="T78" fmla="*/ 5 w 5"/>
                <a:gd name="T79" fmla="*/ 0 h 11"/>
                <a:gd name="T80" fmla="*/ 5 w 5"/>
                <a:gd name="T81" fmla="*/ 0 h 11"/>
                <a:gd name="T82" fmla="*/ 5 w 5"/>
                <a:gd name="T83" fmla="*/ 0 h 11"/>
                <a:gd name="T84" fmla="*/ 5 w 5"/>
                <a:gd name="T85" fmla="*/ 0 h 11"/>
                <a:gd name="T86" fmla="*/ 5 w 5"/>
                <a:gd name="T87" fmla="*/ 0 h 11"/>
                <a:gd name="T88" fmla="*/ 5 w 5"/>
                <a:gd name="T89" fmla="*/ 0 h 11"/>
                <a:gd name="T90" fmla="*/ 5 w 5"/>
                <a:gd name="T91" fmla="*/ 0 h 11"/>
                <a:gd name="T92" fmla="*/ 5 w 5"/>
                <a:gd name="T93" fmla="*/ 0 h 11"/>
                <a:gd name="T94" fmla="*/ 5 w 5"/>
                <a:gd name="T95" fmla="*/ 0 h 11"/>
                <a:gd name="T96" fmla="*/ 5 w 5"/>
                <a:gd name="T97" fmla="*/ 0 h 11"/>
                <a:gd name="T98" fmla="*/ 5 w 5"/>
                <a:gd name="T99" fmla="*/ 0 h 1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11"/>
                <a:gd name="T152" fmla="*/ 5 w 5"/>
                <a:gd name="T153" fmla="*/ 11 h 1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11">
                  <a:moveTo>
                    <a:pt x="0" y="11"/>
                  </a:moveTo>
                  <a:lnTo>
                    <a:pt x="0" y="11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7" name="Freeform 134"/>
            <p:cNvSpPr>
              <a:spLocks/>
            </p:cNvSpPr>
            <p:nvPr/>
          </p:nvSpPr>
          <p:spPr bwMode="auto">
            <a:xfrm>
              <a:off x="4997" y="3278"/>
              <a:ext cx="9" cy="18"/>
            </a:xfrm>
            <a:custGeom>
              <a:avLst/>
              <a:gdLst>
                <a:gd name="T0" fmla="*/ 0 w 9"/>
                <a:gd name="T1" fmla="*/ 18 h 18"/>
                <a:gd name="T2" fmla="*/ 0 w 9"/>
                <a:gd name="T3" fmla="*/ 18 h 18"/>
                <a:gd name="T4" fmla="*/ 0 w 9"/>
                <a:gd name="T5" fmla="*/ 18 h 18"/>
                <a:gd name="T6" fmla="*/ 0 w 9"/>
                <a:gd name="T7" fmla="*/ 18 h 18"/>
                <a:gd name="T8" fmla="*/ 0 w 9"/>
                <a:gd name="T9" fmla="*/ 18 h 18"/>
                <a:gd name="T10" fmla="*/ 0 w 9"/>
                <a:gd name="T11" fmla="*/ 18 h 18"/>
                <a:gd name="T12" fmla="*/ 0 w 9"/>
                <a:gd name="T13" fmla="*/ 12 h 18"/>
                <a:gd name="T14" fmla="*/ 0 w 9"/>
                <a:gd name="T15" fmla="*/ 12 h 18"/>
                <a:gd name="T16" fmla="*/ 5 w 9"/>
                <a:gd name="T17" fmla="*/ 12 h 18"/>
                <a:gd name="T18" fmla="*/ 5 w 9"/>
                <a:gd name="T19" fmla="*/ 12 h 18"/>
                <a:gd name="T20" fmla="*/ 5 w 9"/>
                <a:gd name="T21" fmla="*/ 12 h 18"/>
                <a:gd name="T22" fmla="*/ 5 w 9"/>
                <a:gd name="T23" fmla="*/ 12 h 18"/>
                <a:gd name="T24" fmla="*/ 5 w 9"/>
                <a:gd name="T25" fmla="*/ 12 h 18"/>
                <a:gd name="T26" fmla="*/ 5 w 9"/>
                <a:gd name="T27" fmla="*/ 12 h 18"/>
                <a:gd name="T28" fmla="*/ 5 w 9"/>
                <a:gd name="T29" fmla="*/ 12 h 18"/>
                <a:gd name="T30" fmla="*/ 5 w 9"/>
                <a:gd name="T31" fmla="*/ 12 h 18"/>
                <a:gd name="T32" fmla="*/ 5 w 9"/>
                <a:gd name="T33" fmla="*/ 12 h 18"/>
                <a:gd name="T34" fmla="*/ 5 w 9"/>
                <a:gd name="T35" fmla="*/ 12 h 18"/>
                <a:gd name="T36" fmla="*/ 5 w 9"/>
                <a:gd name="T37" fmla="*/ 12 h 18"/>
                <a:gd name="T38" fmla="*/ 5 w 9"/>
                <a:gd name="T39" fmla="*/ 12 h 18"/>
                <a:gd name="T40" fmla="*/ 5 w 9"/>
                <a:gd name="T41" fmla="*/ 12 h 18"/>
                <a:gd name="T42" fmla="*/ 5 w 9"/>
                <a:gd name="T43" fmla="*/ 12 h 18"/>
                <a:gd name="T44" fmla="*/ 5 w 9"/>
                <a:gd name="T45" fmla="*/ 12 h 18"/>
                <a:gd name="T46" fmla="*/ 5 w 9"/>
                <a:gd name="T47" fmla="*/ 12 h 18"/>
                <a:gd name="T48" fmla="*/ 5 w 9"/>
                <a:gd name="T49" fmla="*/ 12 h 18"/>
                <a:gd name="T50" fmla="*/ 5 w 9"/>
                <a:gd name="T51" fmla="*/ 12 h 18"/>
                <a:gd name="T52" fmla="*/ 5 w 9"/>
                <a:gd name="T53" fmla="*/ 12 h 18"/>
                <a:gd name="T54" fmla="*/ 5 w 9"/>
                <a:gd name="T55" fmla="*/ 12 h 18"/>
                <a:gd name="T56" fmla="*/ 5 w 9"/>
                <a:gd name="T57" fmla="*/ 6 h 18"/>
                <a:gd name="T58" fmla="*/ 5 w 9"/>
                <a:gd name="T59" fmla="*/ 6 h 18"/>
                <a:gd name="T60" fmla="*/ 5 w 9"/>
                <a:gd name="T61" fmla="*/ 6 h 18"/>
                <a:gd name="T62" fmla="*/ 5 w 9"/>
                <a:gd name="T63" fmla="*/ 6 h 18"/>
                <a:gd name="T64" fmla="*/ 5 w 9"/>
                <a:gd name="T65" fmla="*/ 6 h 18"/>
                <a:gd name="T66" fmla="*/ 5 w 9"/>
                <a:gd name="T67" fmla="*/ 6 h 18"/>
                <a:gd name="T68" fmla="*/ 5 w 9"/>
                <a:gd name="T69" fmla="*/ 6 h 18"/>
                <a:gd name="T70" fmla="*/ 5 w 9"/>
                <a:gd name="T71" fmla="*/ 6 h 18"/>
                <a:gd name="T72" fmla="*/ 5 w 9"/>
                <a:gd name="T73" fmla="*/ 6 h 18"/>
                <a:gd name="T74" fmla="*/ 5 w 9"/>
                <a:gd name="T75" fmla="*/ 6 h 18"/>
                <a:gd name="T76" fmla="*/ 5 w 9"/>
                <a:gd name="T77" fmla="*/ 6 h 18"/>
                <a:gd name="T78" fmla="*/ 5 w 9"/>
                <a:gd name="T79" fmla="*/ 6 h 18"/>
                <a:gd name="T80" fmla="*/ 5 w 9"/>
                <a:gd name="T81" fmla="*/ 6 h 18"/>
                <a:gd name="T82" fmla="*/ 5 w 9"/>
                <a:gd name="T83" fmla="*/ 6 h 18"/>
                <a:gd name="T84" fmla="*/ 5 w 9"/>
                <a:gd name="T85" fmla="*/ 6 h 18"/>
                <a:gd name="T86" fmla="*/ 5 w 9"/>
                <a:gd name="T87" fmla="*/ 6 h 18"/>
                <a:gd name="T88" fmla="*/ 5 w 9"/>
                <a:gd name="T89" fmla="*/ 6 h 18"/>
                <a:gd name="T90" fmla="*/ 5 w 9"/>
                <a:gd name="T91" fmla="*/ 6 h 18"/>
                <a:gd name="T92" fmla="*/ 5 w 9"/>
                <a:gd name="T93" fmla="*/ 6 h 18"/>
                <a:gd name="T94" fmla="*/ 5 w 9"/>
                <a:gd name="T95" fmla="*/ 6 h 18"/>
                <a:gd name="T96" fmla="*/ 5 w 9"/>
                <a:gd name="T97" fmla="*/ 0 h 18"/>
                <a:gd name="T98" fmla="*/ 9 w 9"/>
                <a:gd name="T99" fmla="*/ 0 h 18"/>
                <a:gd name="T100" fmla="*/ 9 w 9"/>
                <a:gd name="T101" fmla="*/ 0 h 1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8"/>
                <a:gd name="T155" fmla="*/ 9 w 9"/>
                <a:gd name="T156" fmla="*/ 18 h 1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8">
                  <a:moveTo>
                    <a:pt x="0" y="18"/>
                  </a:moveTo>
                  <a:lnTo>
                    <a:pt x="0" y="18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6"/>
                  </a:lnTo>
                  <a:lnTo>
                    <a:pt x="5" y="0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8" name="Freeform 135"/>
            <p:cNvSpPr>
              <a:spLocks/>
            </p:cNvSpPr>
            <p:nvPr/>
          </p:nvSpPr>
          <p:spPr bwMode="auto">
            <a:xfrm>
              <a:off x="5006" y="3267"/>
              <a:ext cx="5" cy="11"/>
            </a:xfrm>
            <a:custGeom>
              <a:avLst/>
              <a:gdLst>
                <a:gd name="T0" fmla="*/ 0 w 5"/>
                <a:gd name="T1" fmla="*/ 11 h 11"/>
                <a:gd name="T2" fmla="*/ 0 w 5"/>
                <a:gd name="T3" fmla="*/ 11 h 11"/>
                <a:gd name="T4" fmla="*/ 0 w 5"/>
                <a:gd name="T5" fmla="*/ 11 h 11"/>
                <a:gd name="T6" fmla="*/ 0 w 5"/>
                <a:gd name="T7" fmla="*/ 11 h 11"/>
                <a:gd name="T8" fmla="*/ 0 w 5"/>
                <a:gd name="T9" fmla="*/ 11 h 11"/>
                <a:gd name="T10" fmla="*/ 0 w 5"/>
                <a:gd name="T11" fmla="*/ 11 h 11"/>
                <a:gd name="T12" fmla="*/ 0 w 5"/>
                <a:gd name="T13" fmla="*/ 11 h 11"/>
                <a:gd name="T14" fmla="*/ 0 w 5"/>
                <a:gd name="T15" fmla="*/ 11 h 11"/>
                <a:gd name="T16" fmla="*/ 0 w 5"/>
                <a:gd name="T17" fmla="*/ 11 h 11"/>
                <a:gd name="T18" fmla="*/ 0 w 5"/>
                <a:gd name="T19" fmla="*/ 11 h 11"/>
                <a:gd name="T20" fmla="*/ 0 w 5"/>
                <a:gd name="T21" fmla="*/ 11 h 11"/>
                <a:gd name="T22" fmla="*/ 0 w 5"/>
                <a:gd name="T23" fmla="*/ 11 h 11"/>
                <a:gd name="T24" fmla="*/ 0 w 5"/>
                <a:gd name="T25" fmla="*/ 11 h 11"/>
                <a:gd name="T26" fmla="*/ 0 w 5"/>
                <a:gd name="T27" fmla="*/ 11 h 11"/>
                <a:gd name="T28" fmla="*/ 0 w 5"/>
                <a:gd name="T29" fmla="*/ 11 h 11"/>
                <a:gd name="T30" fmla="*/ 0 w 5"/>
                <a:gd name="T31" fmla="*/ 11 h 11"/>
                <a:gd name="T32" fmla="*/ 0 w 5"/>
                <a:gd name="T33" fmla="*/ 11 h 11"/>
                <a:gd name="T34" fmla="*/ 0 w 5"/>
                <a:gd name="T35" fmla="*/ 6 h 11"/>
                <a:gd name="T36" fmla="*/ 0 w 5"/>
                <a:gd name="T37" fmla="*/ 6 h 11"/>
                <a:gd name="T38" fmla="*/ 0 w 5"/>
                <a:gd name="T39" fmla="*/ 6 h 11"/>
                <a:gd name="T40" fmla="*/ 0 w 5"/>
                <a:gd name="T41" fmla="*/ 6 h 11"/>
                <a:gd name="T42" fmla="*/ 0 w 5"/>
                <a:gd name="T43" fmla="*/ 6 h 11"/>
                <a:gd name="T44" fmla="*/ 0 w 5"/>
                <a:gd name="T45" fmla="*/ 6 h 11"/>
                <a:gd name="T46" fmla="*/ 0 w 5"/>
                <a:gd name="T47" fmla="*/ 6 h 11"/>
                <a:gd name="T48" fmla="*/ 0 w 5"/>
                <a:gd name="T49" fmla="*/ 6 h 11"/>
                <a:gd name="T50" fmla="*/ 0 w 5"/>
                <a:gd name="T51" fmla="*/ 6 h 11"/>
                <a:gd name="T52" fmla="*/ 0 w 5"/>
                <a:gd name="T53" fmla="*/ 6 h 11"/>
                <a:gd name="T54" fmla="*/ 0 w 5"/>
                <a:gd name="T55" fmla="*/ 6 h 11"/>
                <a:gd name="T56" fmla="*/ 0 w 5"/>
                <a:gd name="T57" fmla="*/ 6 h 11"/>
                <a:gd name="T58" fmla="*/ 0 w 5"/>
                <a:gd name="T59" fmla="*/ 6 h 11"/>
                <a:gd name="T60" fmla="*/ 0 w 5"/>
                <a:gd name="T61" fmla="*/ 6 h 11"/>
                <a:gd name="T62" fmla="*/ 0 w 5"/>
                <a:gd name="T63" fmla="*/ 6 h 11"/>
                <a:gd name="T64" fmla="*/ 0 w 5"/>
                <a:gd name="T65" fmla="*/ 6 h 11"/>
                <a:gd name="T66" fmla="*/ 0 w 5"/>
                <a:gd name="T67" fmla="*/ 6 h 11"/>
                <a:gd name="T68" fmla="*/ 0 w 5"/>
                <a:gd name="T69" fmla="*/ 6 h 11"/>
                <a:gd name="T70" fmla="*/ 0 w 5"/>
                <a:gd name="T71" fmla="*/ 0 h 11"/>
                <a:gd name="T72" fmla="*/ 0 w 5"/>
                <a:gd name="T73" fmla="*/ 0 h 11"/>
                <a:gd name="T74" fmla="*/ 0 w 5"/>
                <a:gd name="T75" fmla="*/ 0 h 11"/>
                <a:gd name="T76" fmla="*/ 0 w 5"/>
                <a:gd name="T77" fmla="*/ 0 h 11"/>
                <a:gd name="T78" fmla="*/ 5 w 5"/>
                <a:gd name="T79" fmla="*/ 0 h 11"/>
                <a:gd name="T80" fmla="*/ 5 w 5"/>
                <a:gd name="T81" fmla="*/ 0 h 11"/>
                <a:gd name="T82" fmla="*/ 5 w 5"/>
                <a:gd name="T83" fmla="*/ 0 h 11"/>
                <a:gd name="T84" fmla="*/ 5 w 5"/>
                <a:gd name="T85" fmla="*/ 0 h 11"/>
                <a:gd name="T86" fmla="*/ 5 w 5"/>
                <a:gd name="T87" fmla="*/ 0 h 11"/>
                <a:gd name="T88" fmla="*/ 5 w 5"/>
                <a:gd name="T89" fmla="*/ 0 h 11"/>
                <a:gd name="T90" fmla="*/ 5 w 5"/>
                <a:gd name="T91" fmla="*/ 0 h 11"/>
                <a:gd name="T92" fmla="*/ 5 w 5"/>
                <a:gd name="T93" fmla="*/ 0 h 11"/>
                <a:gd name="T94" fmla="*/ 5 w 5"/>
                <a:gd name="T95" fmla="*/ 0 h 11"/>
                <a:gd name="T96" fmla="*/ 5 w 5"/>
                <a:gd name="T97" fmla="*/ 0 h 11"/>
                <a:gd name="T98" fmla="*/ 5 w 5"/>
                <a:gd name="T99" fmla="*/ 0 h 11"/>
                <a:gd name="T100" fmla="*/ 5 w 5"/>
                <a:gd name="T101" fmla="*/ 0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1"/>
                <a:gd name="T155" fmla="*/ 5 w 5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1">
                  <a:moveTo>
                    <a:pt x="0" y="11"/>
                  </a:moveTo>
                  <a:lnTo>
                    <a:pt x="0" y="11"/>
                  </a:lnTo>
                  <a:lnTo>
                    <a:pt x="0" y="6"/>
                  </a:ln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9" name="Freeform 136"/>
            <p:cNvSpPr>
              <a:spLocks/>
            </p:cNvSpPr>
            <p:nvPr/>
          </p:nvSpPr>
          <p:spPr bwMode="auto">
            <a:xfrm>
              <a:off x="5011" y="3244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17 h 23"/>
                <a:gd name="T6" fmla="*/ 0 w 5"/>
                <a:gd name="T7" fmla="*/ 17 h 23"/>
                <a:gd name="T8" fmla="*/ 0 w 5"/>
                <a:gd name="T9" fmla="*/ 17 h 23"/>
                <a:gd name="T10" fmla="*/ 0 w 5"/>
                <a:gd name="T11" fmla="*/ 17 h 23"/>
                <a:gd name="T12" fmla="*/ 0 w 5"/>
                <a:gd name="T13" fmla="*/ 17 h 23"/>
                <a:gd name="T14" fmla="*/ 0 w 5"/>
                <a:gd name="T15" fmla="*/ 17 h 23"/>
                <a:gd name="T16" fmla="*/ 0 w 5"/>
                <a:gd name="T17" fmla="*/ 17 h 23"/>
                <a:gd name="T18" fmla="*/ 0 w 5"/>
                <a:gd name="T19" fmla="*/ 17 h 23"/>
                <a:gd name="T20" fmla="*/ 0 w 5"/>
                <a:gd name="T21" fmla="*/ 17 h 23"/>
                <a:gd name="T22" fmla="*/ 0 w 5"/>
                <a:gd name="T23" fmla="*/ 17 h 23"/>
                <a:gd name="T24" fmla="*/ 0 w 5"/>
                <a:gd name="T25" fmla="*/ 17 h 23"/>
                <a:gd name="T26" fmla="*/ 0 w 5"/>
                <a:gd name="T27" fmla="*/ 17 h 23"/>
                <a:gd name="T28" fmla="*/ 0 w 5"/>
                <a:gd name="T29" fmla="*/ 17 h 23"/>
                <a:gd name="T30" fmla="*/ 0 w 5"/>
                <a:gd name="T31" fmla="*/ 17 h 23"/>
                <a:gd name="T32" fmla="*/ 0 w 5"/>
                <a:gd name="T33" fmla="*/ 17 h 23"/>
                <a:gd name="T34" fmla="*/ 0 w 5"/>
                <a:gd name="T35" fmla="*/ 17 h 23"/>
                <a:gd name="T36" fmla="*/ 0 w 5"/>
                <a:gd name="T37" fmla="*/ 17 h 23"/>
                <a:gd name="T38" fmla="*/ 0 w 5"/>
                <a:gd name="T39" fmla="*/ 12 h 23"/>
                <a:gd name="T40" fmla="*/ 0 w 5"/>
                <a:gd name="T41" fmla="*/ 12 h 23"/>
                <a:gd name="T42" fmla="*/ 0 w 5"/>
                <a:gd name="T43" fmla="*/ 12 h 23"/>
                <a:gd name="T44" fmla="*/ 0 w 5"/>
                <a:gd name="T45" fmla="*/ 12 h 23"/>
                <a:gd name="T46" fmla="*/ 0 w 5"/>
                <a:gd name="T47" fmla="*/ 12 h 23"/>
                <a:gd name="T48" fmla="*/ 0 w 5"/>
                <a:gd name="T49" fmla="*/ 12 h 23"/>
                <a:gd name="T50" fmla="*/ 0 w 5"/>
                <a:gd name="T51" fmla="*/ 12 h 23"/>
                <a:gd name="T52" fmla="*/ 0 w 5"/>
                <a:gd name="T53" fmla="*/ 12 h 23"/>
                <a:gd name="T54" fmla="*/ 0 w 5"/>
                <a:gd name="T55" fmla="*/ 12 h 23"/>
                <a:gd name="T56" fmla="*/ 0 w 5"/>
                <a:gd name="T57" fmla="*/ 12 h 23"/>
                <a:gd name="T58" fmla="*/ 0 w 5"/>
                <a:gd name="T59" fmla="*/ 12 h 23"/>
                <a:gd name="T60" fmla="*/ 5 w 5"/>
                <a:gd name="T61" fmla="*/ 12 h 23"/>
                <a:gd name="T62" fmla="*/ 5 w 5"/>
                <a:gd name="T63" fmla="*/ 12 h 23"/>
                <a:gd name="T64" fmla="*/ 5 w 5"/>
                <a:gd name="T65" fmla="*/ 12 h 23"/>
                <a:gd name="T66" fmla="*/ 5 w 5"/>
                <a:gd name="T67" fmla="*/ 12 h 23"/>
                <a:gd name="T68" fmla="*/ 5 w 5"/>
                <a:gd name="T69" fmla="*/ 6 h 23"/>
                <a:gd name="T70" fmla="*/ 5 w 5"/>
                <a:gd name="T71" fmla="*/ 6 h 23"/>
                <a:gd name="T72" fmla="*/ 5 w 5"/>
                <a:gd name="T73" fmla="*/ 6 h 23"/>
                <a:gd name="T74" fmla="*/ 5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6 h 23"/>
                <a:gd name="T86" fmla="*/ 5 w 5"/>
                <a:gd name="T87" fmla="*/ 6 h 23"/>
                <a:gd name="T88" fmla="*/ 5 w 5"/>
                <a:gd name="T89" fmla="*/ 6 h 23"/>
                <a:gd name="T90" fmla="*/ 5 w 5"/>
                <a:gd name="T91" fmla="*/ 6 h 23"/>
                <a:gd name="T92" fmla="*/ 5 w 5"/>
                <a:gd name="T93" fmla="*/ 6 h 23"/>
                <a:gd name="T94" fmla="*/ 5 w 5"/>
                <a:gd name="T95" fmla="*/ 6 h 23"/>
                <a:gd name="T96" fmla="*/ 5 w 5"/>
                <a:gd name="T97" fmla="*/ 6 h 23"/>
                <a:gd name="T98" fmla="*/ 5 w 5"/>
                <a:gd name="T99" fmla="*/ 6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0" name="Freeform 137"/>
            <p:cNvSpPr>
              <a:spLocks/>
            </p:cNvSpPr>
            <p:nvPr/>
          </p:nvSpPr>
          <p:spPr bwMode="auto">
            <a:xfrm>
              <a:off x="5016" y="3227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7 h 17"/>
                <a:gd name="T12" fmla="*/ 0 w 5"/>
                <a:gd name="T13" fmla="*/ 17 h 17"/>
                <a:gd name="T14" fmla="*/ 0 w 5"/>
                <a:gd name="T15" fmla="*/ 17 h 17"/>
                <a:gd name="T16" fmla="*/ 0 w 5"/>
                <a:gd name="T17" fmla="*/ 17 h 17"/>
                <a:gd name="T18" fmla="*/ 0 w 5"/>
                <a:gd name="T19" fmla="*/ 17 h 17"/>
                <a:gd name="T20" fmla="*/ 0 w 5"/>
                <a:gd name="T21" fmla="*/ 17 h 17"/>
                <a:gd name="T22" fmla="*/ 0 w 5"/>
                <a:gd name="T23" fmla="*/ 17 h 17"/>
                <a:gd name="T24" fmla="*/ 0 w 5"/>
                <a:gd name="T25" fmla="*/ 17 h 17"/>
                <a:gd name="T26" fmla="*/ 0 w 5"/>
                <a:gd name="T27" fmla="*/ 17 h 17"/>
                <a:gd name="T28" fmla="*/ 0 w 5"/>
                <a:gd name="T29" fmla="*/ 17 h 17"/>
                <a:gd name="T30" fmla="*/ 0 w 5"/>
                <a:gd name="T31" fmla="*/ 12 h 17"/>
                <a:gd name="T32" fmla="*/ 0 w 5"/>
                <a:gd name="T33" fmla="*/ 12 h 17"/>
                <a:gd name="T34" fmla="*/ 0 w 5"/>
                <a:gd name="T35" fmla="*/ 12 h 17"/>
                <a:gd name="T36" fmla="*/ 0 w 5"/>
                <a:gd name="T37" fmla="*/ 12 h 17"/>
                <a:gd name="T38" fmla="*/ 0 w 5"/>
                <a:gd name="T39" fmla="*/ 12 h 17"/>
                <a:gd name="T40" fmla="*/ 5 w 5"/>
                <a:gd name="T41" fmla="*/ 12 h 17"/>
                <a:gd name="T42" fmla="*/ 5 w 5"/>
                <a:gd name="T43" fmla="*/ 12 h 17"/>
                <a:gd name="T44" fmla="*/ 5 w 5"/>
                <a:gd name="T45" fmla="*/ 12 h 17"/>
                <a:gd name="T46" fmla="*/ 5 w 5"/>
                <a:gd name="T47" fmla="*/ 12 h 17"/>
                <a:gd name="T48" fmla="*/ 5 w 5"/>
                <a:gd name="T49" fmla="*/ 12 h 17"/>
                <a:gd name="T50" fmla="*/ 5 w 5"/>
                <a:gd name="T51" fmla="*/ 12 h 17"/>
                <a:gd name="T52" fmla="*/ 5 w 5"/>
                <a:gd name="T53" fmla="*/ 12 h 17"/>
                <a:gd name="T54" fmla="*/ 5 w 5"/>
                <a:gd name="T55" fmla="*/ 12 h 17"/>
                <a:gd name="T56" fmla="*/ 5 w 5"/>
                <a:gd name="T57" fmla="*/ 12 h 17"/>
                <a:gd name="T58" fmla="*/ 5 w 5"/>
                <a:gd name="T59" fmla="*/ 6 h 17"/>
                <a:gd name="T60" fmla="*/ 5 w 5"/>
                <a:gd name="T61" fmla="*/ 6 h 17"/>
                <a:gd name="T62" fmla="*/ 5 w 5"/>
                <a:gd name="T63" fmla="*/ 6 h 17"/>
                <a:gd name="T64" fmla="*/ 5 w 5"/>
                <a:gd name="T65" fmla="*/ 6 h 17"/>
                <a:gd name="T66" fmla="*/ 5 w 5"/>
                <a:gd name="T67" fmla="*/ 6 h 17"/>
                <a:gd name="T68" fmla="*/ 5 w 5"/>
                <a:gd name="T69" fmla="*/ 6 h 17"/>
                <a:gd name="T70" fmla="*/ 5 w 5"/>
                <a:gd name="T71" fmla="*/ 6 h 17"/>
                <a:gd name="T72" fmla="*/ 5 w 5"/>
                <a:gd name="T73" fmla="*/ 6 h 17"/>
                <a:gd name="T74" fmla="*/ 5 w 5"/>
                <a:gd name="T75" fmla="*/ 6 h 17"/>
                <a:gd name="T76" fmla="*/ 5 w 5"/>
                <a:gd name="T77" fmla="*/ 6 h 17"/>
                <a:gd name="T78" fmla="*/ 5 w 5"/>
                <a:gd name="T79" fmla="*/ 6 h 17"/>
                <a:gd name="T80" fmla="*/ 5 w 5"/>
                <a:gd name="T81" fmla="*/ 6 h 17"/>
                <a:gd name="T82" fmla="*/ 5 w 5"/>
                <a:gd name="T83" fmla="*/ 6 h 17"/>
                <a:gd name="T84" fmla="*/ 5 w 5"/>
                <a:gd name="T85" fmla="*/ 6 h 17"/>
                <a:gd name="T86" fmla="*/ 5 w 5"/>
                <a:gd name="T87" fmla="*/ 0 h 17"/>
                <a:gd name="T88" fmla="*/ 5 w 5"/>
                <a:gd name="T89" fmla="*/ 0 h 17"/>
                <a:gd name="T90" fmla="*/ 5 w 5"/>
                <a:gd name="T91" fmla="*/ 0 h 17"/>
                <a:gd name="T92" fmla="*/ 5 w 5"/>
                <a:gd name="T93" fmla="*/ 0 h 17"/>
                <a:gd name="T94" fmla="*/ 5 w 5"/>
                <a:gd name="T95" fmla="*/ 0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1" name="Freeform 138"/>
            <p:cNvSpPr>
              <a:spLocks/>
            </p:cNvSpPr>
            <p:nvPr/>
          </p:nvSpPr>
          <p:spPr bwMode="auto">
            <a:xfrm>
              <a:off x="5021" y="3204"/>
              <a:ext cx="4" cy="23"/>
            </a:xfrm>
            <a:custGeom>
              <a:avLst/>
              <a:gdLst>
                <a:gd name="T0" fmla="*/ 0 w 4"/>
                <a:gd name="T1" fmla="*/ 23 h 23"/>
                <a:gd name="T2" fmla="*/ 0 w 4"/>
                <a:gd name="T3" fmla="*/ 23 h 23"/>
                <a:gd name="T4" fmla="*/ 0 w 4"/>
                <a:gd name="T5" fmla="*/ 23 h 23"/>
                <a:gd name="T6" fmla="*/ 0 w 4"/>
                <a:gd name="T7" fmla="*/ 23 h 23"/>
                <a:gd name="T8" fmla="*/ 0 w 4"/>
                <a:gd name="T9" fmla="*/ 23 h 23"/>
                <a:gd name="T10" fmla="*/ 0 w 4"/>
                <a:gd name="T11" fmla="*/ 23 h 23"/>
                <a:gd name="T12" fmla="*/ 0 w 4"/>
                <a:gd name="T13" fmla="*/ 23 h 23"/>
                <a:gd name="T14" fmla="*/ 0 w 4"/>
                <a:gd name="T15" fmla="*/ 18 h 23"/>
                <a:gd name="T16" fmla="*/ 0 w 4"/>
                <a:gd name="T17" fmla="*/ 18 h 23"/>
                <a:gd name="T18" fmla="*/ 0 w 4"/>
                <a:gd name="T19" fmla="*/ 18 h 23"/>
                <a:gd name="T20" fmla="*/ 0 w 4"/>
                <a:gd name="T21" fmla="*/ 18 h 23"/>
                <a:gd name="T22" fmla="*/ 4 w 4"/>
                <a:gd name="T23" fmla="*/ 18 h 23"/>
                <a:gd name="T24" fmla="*/ 4 w 4"/>
                <a:gd name="T25" fmla="*/ 18 h 23"/>
                <a:gd name="T26" fmla="*/ 4 w 4"/>
                <a:gd name="T27" fmla="*/ 18 h 23"/>
                <a:gd name="T28" fmla="*/ 4 w 4"/>
                <a:gd name="T29" fmla="*/ 18 h 23"/>
                <a:gd name="T30" fmla="*/ 4 w 4"/>
                <a:gd name="T31" fmla="*/ 18 h 23"/>
                <a:gd name="T32" fmla="*/ 4 w 4"/>
                <a:gd name="T33" fmla="*/ 18 h 23"/>
                <a:gd name="T34" fmla="*/ 4 w 4"/>
                <a:gd name="T35" fmla="*/ 18 h 23"/>
                <a:gd name="T36" fmla="*/ 4 w 4"/>
                <a:gd name="T37" fmla="*/ 18 h 23"/>
                <a:gd name="T38" fmla="*/ 4 w 4"/>
                <a:gd name="T39" fmla="*/ 18 h 23"/>
                <a:gd name="T40" fmla="*/ 4 w 4"/>
                <a:gd name="T41" fmla="*/ 12 h 23"/>
                <a:gd name="T42" fmla="*/ 4 w 4"/>
                <a:gd name="T43" fmla="*/ 12 h 23"/>
                <a:gd name="T44" fmla="*/ 4 w 4"/>
                <a:gd name="T45" fmla="*/ 12 h 23"/>
                <a:gd name="T46" fmla="*/ 4 w 4"/>
                <a:gd name="T47" fmla="*/ 12 h 23"/>
                <a:gd name="T48" fmla="*/ 4 w 4"/>
                <a:gd name="T49" fmla="*/ 12 h 23"/>
                <a:gd name="T50" fmla="*/ 4 w 4"/>
                <a:gd name="T51" fmla="*/ 12 h 23"/>
                <a:gd name="T52" fmla="*/ 4 w 4"/>
                <a:gd name="T53" fmla="*/ 12 h 23"/>
                <a:gd name="T54" fmla="*/ 4 w 4"/>
                <a:gd name="T55" fmla="*/ 12 h 23"/>
                <a:gd name="T56" fmla="*/ 4 w 4"/>
                <a:gd name="T57" fmla="*/ 12 h 23"/>
                <a:gd name="T58" fmla="*/ 4 w 4"/>
                <a:gd name="T59" fmla="*/ 12 h 23"/>
                <a:gd name="T60" fmla="*/ 4 w 4"/>
                <a:gd name="T61" fmla="*/ 12 h 23"/>
                <a:gd name="T62" fmla="*/ 4 w 4"/>
                <a:gd name="T63" fmla="*/ 12 h 23"/>
                <a:gd name="T64" fmla="*/ 4 w 4"/>
                <a:gd name="T65" fmla="*/ 12 h 23"/>
                <a:gd name="T66" fmla="*/ 4 w 4"/>
                <a:gd name="T67" fmla="*/ 6 h 23"/>
                <a:gd name="T68" fmla="*/ 4 w 4"/>
                <a:gd name="T69" fmla="*/ 6 h 23"/>
                <a:gd name="T70" fmla="*/ 4 w 4"/>
                <a:gd name="T71" fmla="*/ 6 h 23"/>
                <a:gd name="T72" fmla="*/ 4 w 4"/>
                <a:gd name="T73" fmla="*/ 6 h 23"/>
                <a:gd name="T74" fmla="*/ 4 w 4"/>
                <a:gd name="T75" fmla="*/ 6 h 23"/>
                <a:gd name="T76" fmla="*/ 4 w 4"/>
                <a:gd name="T77" fmla="*/ 6 h 23"/>
                <a:gd name="T78" fmla="*/ 4 w 4"/>
                <a:gd name="T79" fmla="*/ 6 h 23"/>
                <a:gd name="T80" fmla="*/ 4 w 4"/>
                <a:gd name="T81" fmla="*/ 6 h 23"/>
                <a:gd name="T82" fmla="*/ 4 w 4"/>
                <a:gd name="T83" fmla="*/ 6 h 23"/>
                <a:gd name="T84" fmla="*/ 4 w 4"/>
                <a:gd name="T85" fmla="*/ 6 h 23"/>
                <a:gd name="T86" fmla="*/ 4 w 4"/>
                <a:gd name="T87" fmla="*/ 6 h 23"/>
                <a:gd name="T88" fmla="*/ 4 w 4"/>
                <a:gd name="T89" fmla="*/ 6 h 23"/>
                <a:gd name="T90" fmla="*/ 4 w 4"/>
                <a:gd name="T91" fmla="*/ 6 h 23"/>
                <a:gd name="T92" fmla="*/ 4 w 4"/>
                <a:gd name="T93" fmla="*/ 0 h 23"/>
                <a:gd name="T94" fmla="*/ 4 w 4"/>
                <a:gd name="T95" fmla="*/ 0 h 23"/>
                <a:gd name="T96" fmla="*/ 4 w 4"/>
                <a:gd name="T97" fmla="*/ 0 h 23"/>
                <a:gd name="T98" fmla="*/ 4 w 4"/>
                <a:gd name="T99" fmla="*/ 0 h 23"/>
                <a:gd name="T100" fmla="*/ 4 w 4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23"/>
                  </a:moveTo>
                  <a:lnTo>
                    <a:pt x="0" y="23"/>
                  </a:lnTo>
                  <a:lnTo>
                    <a:pt x="0" y="18"/>
                  </a:lnTo>
                  <a:lnTo>
                    <a:pt x="4" y="18"/>
                  </a:lnTo>
                  <a:lnTo>
                    <a:pt x="4" y="12"/>
                  </a:lnTo>
                  <a:lnTo>
                    <a:pt x="4" y="6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2" name="Freeform 139"/>
            <p:cNvSpPr>
              <a:spLocks/>
            </p:cNvSpPr>
            <p:nvPr/>
          </p:nvSpPr>
          <p:spPr bwMode="auto">
            <a:xfrm>
              <a:off x="5025" y="3182"/>
              <a:ext cx="10" cy="22"/>
            </a:xfrm>
            <a:custGeom>
              <a:avLst/>
              <a:gdLst>
                <a:gd name="T0" fmla="*/ 0 w 10"/>
                <a:gd name="T1" fmla="*/ 22 h 22"/>
                <a:gd name="T2" fmla="*/ 0 w 10"/>
                <a:gd name="T3" fmla="*/ 22 h 22"/>
                <a:gd name="T4" fmla="*/ 5 w 10"/>
                <a:gd name="T5" fmla="*/ 22 h 22"/>
                <a:gd name="T6" fmla="*/ 5 w 10"/>
                <a:gd name="T7" fmla="*/ 22 h 22"/>
                <a:gd name="T8" fmla="*/ 5 w 10"/>
                <a:gd name="T9" fmla="*/ 22 h 22"/>
                <a:gd name="T10" fmla="*/ 5 w 10"/>
                <a:gd name="T11" fmla="*/ 22 h 22"/>
                <a:gd name="T12" fmla="*/ 5 w 10"/>
                <a:gd name="T13" fmla="*/ 22 h 22"/>
                <a:gd name="T14" fmla="*/ 5 w 10"/>
                <a:gd name="T15" fmla="*/ 22 h 22"/>
                <a:gd name="T16" fmla="*/ 5 w 10"/>
                <a:gd name="T17" fmla="*/ 22 h 22"/>
                <a:gd name="T18" fmla="*/ 5 w 10"/>
                <a:gd name="T19" fmla="*/ 17 h 22"/>
                <a:gd name="T20" fmla="*/ 5 w 10"/>
                <a:gd name="T21" fmla="*/ 17 h 22"/>
                <a:gd name="T22" fmla="*/ 5 w 10"/>
                <a:gd name="T23" fmla="*/ 17 h 22"/>
                <a:gd name="T24" fmla="*/ 5 w 10"/>
                <a:gd name="T25" fmla="*/ 17 h 22"/>
                <a:gd name="T26" fmla="*/ 5 w 10"/>
                <a:gd name="T27" fmla="*/ 17 h 22"/>
                <a:gd name="T28" fmla="*/ 5 w 10"/>
                <a:gd name="T29" fmla="*/ 17 h 22"/>
                <a:gd name="T30" fmla="*/ 5 w 10"/>
                <a:gd name="T31" fmla="*/ 17 h 22"/>
                <a:gd name="T32" fmla="*/ 5 w 10"/>
                <a:gd name="T33" fmla="*/ 17 h 22"/>
                <a:gd name="T34" fmla="*/ 5 w 10"/>
                <a:gd name="T35" fmla="*/ 17 h 22"/>
                <a:gd name="T36" fmla="*/ 5 w 10"/>
                <a:gd name="T37" fmla="*/ 17 h 22"/>
                <a:gd name="T38" fmla="*/ 5 w 10"/>
                <a:gd name="T39" fmla="*/ 17 h 22"/>
                <a:gd name="T40" fmla="*/ 5 w 10"/>
                <a:gd name="T41" fmla="*/ 17 h 22"/>
                <a:gd name="T42" fmla="*/ 5 w 10"/>
                <a:gd name="T43" fmla="*/ 17 h 22"/>
                <a:gd name="T44" fmla="*/ 5 w 10"/>
                <a:gd name="T45" fmla="*/ 11 h 22"/>
                <a:gd name="T46" fmla="*/ 5 w 10"/>
                <a:gd name="T47" fmla="*/ 11 h 22"/>
                <a:gd name="T48" fmla="*/ 5 w 10"/>
                <a:gd name="T49" fmla="*/ 11 h 22"/>
                <a:gd name="T50" fmla="*/ 5 w 10"/>
                <a:gd name="T51" fmla="*/ 11 h 22"/>
                <a:gd name="T52" fmla="*/ 5 w 10"/>
                <a:gd name="T53" fmla="*/ 11 h 22"/>
                <a:gd name="T54" fmla="*/ 5 w 10"/>
                <a:gd name="T55" fmla="*/ 11 h 22"/>
                <a:gd name="T56" fmla="*/ 5 w 10"/>
                <a:gd name="T57" fmla="*/ 11 h 22"/>
                <a:gd name="T58" fmla="*/ 5 w 10"/>
                <a:gd name="T59" fmla="*/ 11 h 22"/>
                <a:gd name="T60" fmla="*/ 5 w 10"/>
                <a:gd name="T61" fmla="*/ 11 h 22"/>
                <a:gd name="T62" fmla="*/ 5 w 10"/>
                <a:gd name="T63" fmla="*/ 11 h 22"/>
                <a:gd name="T64" fmla="*/ 5 w 10"/>
                <a:gd name="T65" fmla="*/ 11 h 22"/>
                <a:gd name="T66" fmla="*/ 5 w 10"/>
                <a:gd name="T67" fmla="*/ 11 h 22"/>
                <a:gd name="T68" fmla="*/ 5 w 10"/>
                <a:gd name="T69" fmla="*/ 5 h 22"/>
                <a:gd name="T70" fmla="*/ 5 w 10"/>
                <a:gd name="T71" fmla="*/ 5 h 22"/>
                <a:gd name="T72" fmla="*/ 5 w 10"/>
                <a:gd name="T73" fmla="*/ 5 h 22"/>
                <a:gd name="T74" fmla="*/ 5 w 10"/>
                <a:gd name="T75" fmla="*/ 5 h 22"/>
                <a:gd name="T76" fmla="*/ 5 w 10"/>
                <a:gd name="T77" fmla="*/ 5 h 22"/>
                <a:gd name="T78" fmla="*/ 5 w 10"/>
                <a:gd name="T79" fmla="*/ 5 h 22"/>
                <a:gd name="T80" fmla="*/ 5 w 10"/>
                <a:gd name="T81" fmla="*/ 5 h 22"/>
                <a:gd name="T82" fmla="*/ 5 w 10"/>
                <a:gd name="T83" fmla="*/ 5 h 22"/>
                <a:gd name="T84" fmla="*/ 10 w 10"/>
                <a:gd name="T85" fmla="*/ 5 h 22"/>
                <a:gd name="T86" fmla="*/ 10 w 10"/>
                <a:gd name="T87" fmla="*/ 5 h 22"/>
                <a:gd name="T88" fmla="*/ 10 w 10"/>
                <a:gd name="T89" fmla="*/ 5 h 22"/>
                <a:gd name="T90" fmla="*/ 10 w 10"/>
                <a:gd name="T91" fmla="*/ 5 h 22"/>
                <a:gd name="T92" fmla="*/ 10 w 10"/>
                <a:gd name="T93" fmla="*/ 0 h 22"/>
                <a:gd name="T94" fmla="*/ 10 w 10"/>
                <a:gd name="T95" fmla="*/ 0 h 22"/>
                <a:gd name="T96" fmla="*/ 10 w 10"/>
                <a:gd name="T97" fmla="*/ 0 h 22"/>
                <a:gd name="T98" fmla="*/ 10 w 10"/>
                <a:gd name="T99" fmla="*/ 0 h 22"/>
                <a:gd name="T100" fmla="*/ 10 w 10"/>
                <a:gd name="T101" fmla="*/ 0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2"/>
                <a:gd name="T155" fmla="*/ 10 w 10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2">
                  <a:moveTo>
                    <a:pt x="0" y="22"/>
                  </a:moveTo>
                  <a:lnTo>
                    <a:pt x="0" y="22"/>
                  </a:lnTo>
                  <a:lnTo>
                    <a:pt x="5" y="22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5"/>
                  </a:lnTo>
                  <a:lnTo>
                    <a:pt x="10" y="5"/>
                  </a:lnTo>
                  <a:lnTo>
                    <a:pt x="1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3" name="Freeform 140"/>
            <p:cNvSpPr>
              <a:spLocks/>
            </p:cNvSpPr>
            <p:nvPr/>
          </p:nvSpPr>
          <p:spPr bwMode="auto">
            <a:xfrm>
              <a:off x="5035" y="3159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23 h 23"/>
                <a:gd name="T10" fmla="*/ 0 w 5"/>
                <a:gd name="T11" fmla="*/ 23 h 23"/>
                <a:gd name="T12" fmla="*/ 0 w 5"/>
                <a:gd name="T13" fmla="*/ 23 h 23"/>
                <a:gd name="T14" fmla="*/ 0 w 5"/>
                <a:gd name="T15" fmla="*/ 23 h 23"/>
                <a:gd name="T16" fmla="*/ 0 w 5"/>
                <a:gd name="T17" fmla="*/ 23 h 23"/>
                <a:gd name="T18" fmla="*/ 0 w 5"/>
                <a:gd name="T19" fmla="*/ 17 h 23"/>
                <a:gd name="T20" fmla="*/ 0 w 5"/>
                <a:gd name="T21" fmla="*/ 17 h 23"/>
                <a:gd name="T22" fmla="*/ 0 w 5"/>
                <a:gd name="T23" fmla="*/ 17 h 23"/>
                <a:gd name="T24" fmla="*/ 0 w 5"/>
                <a:gd name="T25" fmla="*/ 17 h 23"/>
                <a:gd name="T26" fmla="*/ 0 w 5"/>
                <a:gd name="T27" fmla="*/ 17 h 23"/>
                <a:gd name="T28" fmla="*/ 0 w 5"/>
                <a:gd name="T29" fmla="*/ 17 h 23"/>
                <a:gd name="T30" fmla="*/ 0 w 5"/>
                <a:gd name="T31" fmla="*/ 17 h 23"/>
                <a:gd name="T32" fmla="*/ 0 w 5"/>
                <a:gd name="T33" fmla="*/ 17 h 23"/>
                <a:gd name="T34" fmla="*/ 0 w 5"/>
                <a:gd name="T35" fmla="*/ 17 h 23"/>
                <a:gd name="T36" fmla="*/ 0 w 5"/>
                <a:gd name="T37" fmla="*/ 17 h 23"/>
                <a:gd name="T38" fmla="*/ 0 w 5"/>
                <a:gd name="T39" fmla="*/ 17 h 23"/>
                <a:gd name="T40" fmla="*/ 0 w 5"/>
                <a:gd name="T41" fmla="*/ 17 h 23"/>
                <a:gd name="T42" fmla="*/ 0 w 5"/>
                <a:gd name="T43" fmla="*/ 11 h 23"/>
                <a:gd name="T44" fmla="*/ 0 w 5"/>
                <a:gd name="T45" fmla="*/ 11 h 23"/>
                <a:gd name="T46" fmla="*/ 0 w 5"/>
                <a:gd name="T47" fmla="*/ 11 h 23"/>
                <a:gd name="T48" fmla="*/ 0 w 5"/>
                <a:gd name="T49" fmla="*/ 11 h 23"/>
                <a:gd name="T50" fmla="*/ 0 w 5"/>
                <a:gd name="T51" fmla="*/ 11 h 23"/>
                <a:gd name="T52" fmla="*/ 0 w 5"/>
                <a:gd name="T53" fmla="*/ 11 h 23"/>
                <a:gd name="T54" fmla="*/ 0 w 5"/>
                <a:gd name="T55" fmla="*/ 11 h 23"/>
                <a:gd name="T56" fmla="*/ 0 w 5"/>
                <a:gd name="T57" fmla="*/ 11 h 23"/>
                <a:gd name="T58" fmla="*/ 0 w 5"/>
                <a:gd name="T59" fmla="*/ 11 h 23"/>
                <a:gd name="T60" fmla="*/ 0 w 5"/>
                <a:gd name="T61" fmla="*/ 11 h 23"/>
                <a:gd name="T62" fmla="*/ 0 w 5"/>
                <a:gd name="T63" fmla="*/ 11 h 23"/>
                <a:gd name="T64" fmla="*/ 0 w 5"/>
                <a:gd name="T65" fmla="*/ 6 h 23"/>
                <a:gd name="T66" fmla="*/ 5 w 5"/>
                <a:gd name="T67" fmla="*/ 6 h 23"/>
                <a:gd name="T68" fmla="*/ 5 w 5"/>
                <a:gd name="T69" fmla="*/ 6 h 23"/>
                <a:gd name="T70" fmla="*/ 5 w 5"/>
                <a:gd name="T71" fmla="*/ 6 h 23"/>
                <a:gd name="T72" fmla="*/ 5 w 5"/>
                <a:gd name="T73" fmla="*/ 6 h 23"/>
                <a:gd name="T74" fmla="*/ 5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6 h 23"/>
                <a:gd name="T86" fmla="*/ 5 w 5"/>
                <a:gd name="T87" fmla="*/ 6 h 23"/>
                <a:gd name="T88" fmla="*/ 5 w 5"/>
                <a:gd name="T89" fmla="*/ 0 h 23"/>
                <a:gd name="T90" fmla="*/ 5 w 5"/>
                <a:gd name="T91" fmla="*/ 0 h 23"/>
                <a:gd name="T92" fmla="*/ 5 w 5"/>
                <a:gd name="T93" fmla="*/ 0 h 23"/>
                <a:gd name="T94" fmla="*/ 5 w 5"/>
                <a:gd name="T95" fmla="*/ 0 h 23"/>
                <a:gd name="T96" fmla="*/ 5 w 5"/>
                <a:gd name="T97" fmla="*/ 0 h 23"/>
                <a:gd name="T98" fmla="*/ 5 w 5"/>
                <a:gd name="T99" fmla="*/ 0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0" y="11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4" name="Freeform 141"/>
            <p:cNvSpPr>
              <a:spLocks/>
            </p:cNvSpPr>
            <p:nvPr/>
          </p:nvSpPr>
          <p:spPr bwMode="auto">
            <a:xfrm>
              <a:off x="5040" y="3136"/>
              <a:ext cx="4" cy="23"/>
            </a:xfrm>
            <a:custGeom>
              <a:avLst/>
              <a:gdLst>
                <a:gd name="T0" fmla="*/ 0 w 4"/>
                <a:gd name="T1" fmla="*/ 23 h 23"/>
                <a:gd name="T2" fmla="*/ 0 w 4"/>
                <a:gd name="T3" fmla="*/ 23 h 23"/>
                <a:gd name="T4" fmla="*/ 0 w 4"/>
                <a:gd name="T5" fmla="*/ 23 h 23"/>
                <a:gd name="T6" fmla="*/ 0 w 4"/>
                <a:gd name="T7" fmla="*/ 23 h 23"/>
                <a:gd name="T8" fmla="*/ 0 w 4"/>
                <a:gd name="T9" fmla="*/ 23 h 23"/>
                <a:gd name="T10" fmla="*/ 0 w 4"/>
                <a:gd name="T11" fmla="*/ 23 h 23"/>
                <a:gd name="T12" fmla="*/ 0 w 4"/>
                <a:gd name="T13" fmla="*/ 17 h 23"/>
                <a:gd name="T14" fmla="*/ 0 w 4"/>
                <a:gd name="T15" fmla="*/ 17 h 23"/>
                <a:gd name="T16" fmla="*/ 0 w 4"/>
                <a:gd name="T17" fmla="*/ 17 h 23"/>
                <a:gd name="T18" fmla="*/ 0 w 4"/>
                <a:gd name="T19" fmla="*/ 17 h 23"/>
                <a:gd name="T20" fmla="*/ 0 w 4"/>
                <a:gd name="T21" fmla="*/ 17 h 23"/>
                <a:gd name="T22" fmla="*/ 0 w 4"/>
                <a:gd name="T23" fmla="*/ 17 h 23"/>
                <a:gd name="T24" fmla="*/ 0 w 4"/>
                <a:gd name="T25" fmla="*/ 17 h 23"/>
                <a:gd name="T26" fmla="*/ 0 w 4"/>
                <a:gd name="T27" fmla="*/ 17 h 23"/>
                <a:gd name="T28" fmla="*/ 0 w 4"/>
                <a:gd name="T29" fmla="*/ 17 h 23"/>
                <a:gd name="T30" fmla="*/ 0 w 4"/>
                <a:gd name="T31" fmla="*/ 17 h 23"/>
                <a:gd name="T32" fmla="*/ 0 w 4"/>
                <a:gd name="T33" fmla="*/ 17 h 23"/>
                <a:gd name="T34" fmla="*/ 0 w 4"/>
                <a:gd name="T35" fmla="*/ 17 h 23"/>
                <a:gd name="T36" fmla="*/ 0 w 4"/>
                <a:gd name="T37" fmla="*/ 12 h 23"/>
                <a:gd name="T38" fmla="*/ 0 w 4"/>
                <a:gd name="T39" fmla="*/ 12 h 23"/>
                <a:gd name="T40" fmla="*/ 0 w 4"/>
                <a:gd name="T41" fmla="*/ 12 h 23"/>
                <a:gd name="T42" fmla="*/ 0 w 4"/>
                <a:gd name="T43" fmla="*/ 12 h 23"/>
                <a:gd name="T44" fmla="*/ 0 w 4"/>
                <a:gd name="T45" fmla="*/ 12 h 23"/>
                <a:gd name="T46" fmla="*/ 4 w 4"/>
                <a:gd name="T47" fmla="*/ 12 h 23"/>
                <a:gd name="T48" fmla="*/ 4 w 4"/>
                <a:gd name="T49" fmla="*/ 12 h 23"/>
                <a:gd name="T50" fmla="*/ 4 w 4"/>
                <a:gd name="T51" fmla="*/ 12 h 23"/>
                <a:gd name="T52" fmla="*/ 4 w 4"/>
                <a:gd name="T53" fmla="*/ 12 h 23"/>
                <a:gd name="T54" fmla="*/ 4 w 4"/>
                <a:gd name="T55" fmla="*/ 12 h 23"/>
                <a:gd name="T56" fmla="*/ 4 w 4"/>
                <a:gd name="T57" fmla="*/ 12 h 23"/>
                <a:gd name="T58" fmla="*/ 4 w 4"/>
                <a:gd name="T59" fmla="*/ 12 h 23"/>
                <a:gd name="T60" fmla="*/ 4 w 4"/>
                <a:gd name="T61" fmla="*/ 6 h 23"/>
                <a:gd name="T62" fmla="*/ 4 w 4"/>
                <a:gd name="T63" fmla="*/ 6 h 23"/>
                <a:gd name="T64" fmla="*/ 4 w 4"/>
                <a:gd name="T65" fmla="*/ 6 h 23"/>
                <a:gd name="T66" fmla="*/ 4 w 4"/>
                <a:gd name="T67" fmla="*/ 6 h 23"/>
                <a:gd name="T68" fmla="*/ 4 w 4"/>
                <a:gd name="T69" fmla="*/ 6 h 23"/>
                <a:gd name="T70" fmla="*/ 4 w 4"/>
                <a:gd name="T71" fmla="*/ 6 h 23"/>
                <a:gd name="T72" fmla="*/ 4 w 4"/>
                <a:gd name="T73" fmla="*/ 6 h 23"/>
                <a:gd name="T74" fmla="*/ 4 w 4"/>
                <a:gd name="T75" fmla="*/ 6 h 23"/>
                <a:gd name="T76" fmla="*/ 4 w 4"/>
                <a:gd name="T77" fmla="*/ 6 h 23"/>
                <a:gd name="T78" fmla="*/ 4 w 4"/>
                <a:gd name="T79" fmla="*/ 6 h 23"/>
                <a:gd name="T80" fmla="*/ 4 w 4"/>
                <a:gd name="T81" fmla="*/ 6 h 23"/>
                <a:gd name="T82" fmla="*/ 4 w 4"/>
                <a:gd name="T83" fmla="*/ 0 h 23"/>
                <a:gd name="T84" fmla="*/ 4 w 4"/>
                <a:gd name="T85" fmla="*/ 0 h 23"/>
                <a:gd name="T86" fmla="*/ 4 w 4"/>
                <a:gd name="T87" fmla="*/ 0 h 23"/>
                <a:gd name="T88" fmla="*/ 4 w 4"/>
                <a:gd name="T89" fmla="*/ 0 h 23"/>
                <a:gd name="T90" fmla="*/ 4 w 4"/>
                <a:gd name="T91" fmla="*/ 0 h 23"/>
                <a:gd name="T92" fmla="*/ 4 w 4"/>
                <a:gd name="T93" fmla="*/ 0 h 23"/>
                <a:gd name="T94" fmla="*/ 4 w 4"/>
                <a:gd name="T95" fmla="*/ 0 h 23"/>
                <a:gd name="T96" fmla="*/ 4 w 4"/>
                <a:gd name="T97" fmla="*/ 0 h 23"/>
                <a:gd name="T98" fmla="*/ 4 w 4"/>
                <a:gd name="T99" fmla="*/ 0 h 23"/>
                <a:gd name="T100" fmla="*/ 4 w 4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4" y="6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5" name="Freeform 142"/>
            <p:cNvSpPr>
              <a:spLocks/>
            </p:cNvSpPr>
            <p:nvPr/>
          </p:nvSpPr>
          <p:spPr bwMode="auto">
            <a:xfrm>
              <a:off x="5044" y="3108"/>
              <a:ext cx="5" cy="28"/>
            </a:xfrm>
            <a:custGeom>
              <a:avLst/>
              <a:gdLst>
                <a:gd name="T0" fmla="*/ 0 w 5"/>
                <a:gd name="T1" fmla="*/ 28 h 28"/>
                <a:gd name="T2" fmla="*/ 0 w 5"/>
                <a:gd name="T3" fmla="*/ 28 h 28"/>
                <a:gd name="T4" fmla="*/ 0 w 5"/>
                <a:gd name="T5" fmla="*/ 28 h 28"/>
                <a:gd name="T6" fmla="*/ 0 w 5"/>
                <a:gd name="T7" fmla="*/ 22 h 28"/>
                <a:gd name="T8" fmla="*/ 0 w 5"/>
                <a:gd name="T9" fmla="*/ 22 h 28"/>
                <a:gd name="T10" fmla="*/ 0 w 5"/>
                <a:gd name="T11" fmla="*/ 22 h 28"/>
                <a:gd name="T12" fmla="*/ 0 w 5"/>
                <a:gd name="T13" fmla="*/ 22 h 28"/>
                <a:gd name="T14" fmla="*/ 0 w 5"/>
                <a:gd name="T15" fmla="*/ 22 h 28"/>
                <a:gd name="T16" fmla="*/ 0 w 5"/>
                <a:gd name="T17" fmla="*/ 22 h 28"/>
                <a:gd name="T18" fmla="*/ 0 w 5"/>
                <a:gd name="T19" fmla="*/ 22 h 28"/>
                <a:gd name="T20" fmla="*/ 0 w 5"/>
                <a:gd name="T21" fmla="*/ 22 h 28"/>
                <a:gd name="T22" fmla="*/ 0 w 5"/>
                <a:gd name="T23" fmla="*/ 22 h 28"/>
                <a:gd name="T24" fmla="*/ 0 w 5"/>
                <a:gd name="T25" fmla="*/ 22 h 28"/>
                <a:gd name="T26" fmla="*/ 5 w 5"/>
                <a:gd name="T27" fmla="*/ 22 h 28"/>
                <a:gd name="T28" fmla="*/ 5 w 5"/>
                <a:gd name="T29" fmla="*/ 17 h 28"/>
                <a:gd name="T30" fmla="*/ 5 w 5"/>
                <a:gd name="T31" fmla="*/ 17 h 28"/>
                <a:gd name="T32" fmla="*/ 5 w 5"/>
                <a:gd name="T33" fmla="*/ 17 h 28"/>
                <a:gd name="T34" fmla="*/ 5 w 5"/>
                <a:gd name="T35" fmla="*/ 17 h 28"/>
                <a:gd name="T36" fmla="*/ 5 w 5"/>
                <a:gd name="T37" fmla="*/ 17 h 28"/>
                <a:gd name="T38" fmla="*/ 5 w 5"/>
                <a:gd name="T39" fmla="*/ 17 h 28"/>
                <a:gd name="T40" fmla="*/ 5 w 5"/>
                <a:gd name="T41" fmla="*/ 17 h 28"/>
                <a:gd name="T42" fmla="*/ 5 w 5"/>
                <a:gd name="T43" fmla="*/ 17 h 28"/>
                <a:gd name="T44" fmla="*/ 5 w 5"/>
                <a:gd name="T45" fmla="*/ 17 h 28"/>
                <a:gd name="T46" fmla="*/ 5 w 5"/>
                <a:gd name="T47" fmla="*/ 17 h 28"/>
                <a:gd name="T48" fmla="*/ 5 w 5"/>
                <a:gd name="T49" fmla="*/ 17 h 28"/>
                <a:gd name="T50" fmla="*/ 5 w 5"/>
                <a:gd name="T51" fmla="*/ 17 h 28"/>
                <a:gd name="T52" fmla="*/ 5 w 5"/>
                <a:gd name="T53" fmla="*/ 11 h 28"/>
                <a:gd name="T54" fmla="*/ 5 w 5"/>
                <a:gd name="T55" fmla="*/ 11 h 28"/>
                <a:gd name="T56" fmla="*/ 5 w 5"/>
                <a:gd name="T57" fmla="*/ 11 h 28"/>
                <a:gd name="T58" fmla="*/ 5 w 5"/>
                <a:gd name="T59" fmla="*/ 11 h 28"/>
                <a:gd name="T60" fmla="*/ 5 w 5"/>
                <a:gd name="T61" fmla="*/ 11 h 28"/>
                <a:gd name="T62" fmla="*/ 5 w 5"/>
                <a:gd name="T63" fmla="*/ 11 h 28"/>
                <a:gd name="T64" fmla="*/ 5 w 5"/>
                <a:gd name="T65" fmla="*/ 11 h 28"/>
                <a:gd name="T66" fmla="*/ 5 w 5"/>
                <a:gd name="T67" fmla="*/ 11 h 28"/>
                <a:gd name="T68" fmla="*/ 5 w 5"/>
                <a:gd name="T69" fmla="*/ 11 h 28"/>
                <a:gd name="T70" fmla="*/ 5 w 5"/>
                <a:gd name="T71" fmla="*/ 11 h 28"/>
                <a:gd name="T72" fmla="*/ 5 w 5"/>
                <a:gd name="T73" fmla="*/ 11 h 28"/>
                <a:gd name="T74" fmla="*/ 5 w 5"/>
                <a:gd name="T75" fmla="*/ 5 h 28"/>
                <a:gd name="T76" fmla="*/ 5 w 5"/>
                <a:gd name="T77" fmla="*/ 5 h 28"/>
                <a:gd name="T78" fmla="*/ 5 w 5"/>
                <a:gd name="T79" fmla="*/ 5 h 28"/>
                <a:gd name="T80" fmla="*/ 5 w 5"/>
                <a:gd name="T81" fmla="*/ 5 h 28"/>
                <a:gd name="T82" fmla="*/ 5 w 5"/>
                <a:gd name="T83" fmla="*/ 5 h 28"/>
                <a:gd name="T84" fmla="*/ 5 w 5"/>
                <a:gd name="T85" fmla="*/ 5 h 28"/>
                <a:gd name="T86" fmla="*/ 5 w 5"/>
                <a:gd name="T87" fmla="*/ 5 h 28"/>
                <a:gd name="T88" fmla="*/ 5 w 5"/>
                <a:gd name="T89" fmla="*/ 5 h 28"/>
                <a:gd name="T90" fmla="*/ 5 w 5"/>
                <a:gd name="T91" fmla="*/ 5 h 28"/>
                <a:gd name="T92" fmla="*/ 5 w 5"/>
                <a:gd name="T93" fmla="*/ 5 h 28"/>
                <a:gd name="T94" fmla="*/ 5 w 5"/>
                <a:gd name="T95" fmla="*/ 5 h 28"/>
                <a:gd name="T96" fmla="*/ 5 w 5"/>
                <a:gd name="T97" fmla="*/ 5 h 28"/>
                <a:gd name="T98" fmla="*/ 5 w 5"/>
                <a:gd name="T99" fmla="*/ 0 h 28"/>
                <a:gd name="T100" fmla="*/ 5 w 5"/>
                <a:gd name="T101" fmla="*/ 0 h 2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8"/>
                <a:gd name="T155" fmla="*/ 5 w 5"/>
                <a:gd name="T156" fmla="*/ 28 h 2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8">
                  <a:moveTo>
                    <a:pt x="0" y="28"/>
                  </a:moveTo>
                  <a:lnTo>
                    <a:pt x="0" y="28"/>
                  </a:lnTo>
                  <a:lnTo>
                    <a:pt x="0" y="22"/>
                  </a:lnTo>
                  <a:lnTo>
                    <a:pt x="5" y="22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6" name="Freeform 143"/>
            <p:cNvSpPr>
              <a:spLocks/>
            </p:cNvSpPr>
            <p:nvPr/>
          </p:nvSpPr>
          <p:spPr bwMode="auto">
            <a:xfrm>
              <a:off x="5049" y="3085"/>
              <a:ext cx="10" cy="23"/>
            </a:xfrm>
            <a:custGeom>
              <a:avLst/>
              <a:gdLst>
                <a:gd name="T0" fmla="*/ 0 w 10"/>
                <a:gd name="T1" fmla="*/ 23 h 23"/>
                <a:gd name="T2" fmla="*/ 0 w 10"/>
                <a:gd name="T3" fmla="*/ 23 h 23"/>
                <a:gd name="T4" fmla="*/ 0 w 10"/>
                <a:gd name="T5" fmla="*/ 23 h 23"/>
                <a:gd name="T6" fmla="*/ 0 w 10"/>
                <a:gd name="T7" fmla="*/ 23 h 23"/>
                <a:gd name="T8" fmla="*/ 5 w 10"/>
                <a:gd name="T9" fmla="*/ 23 h 23"/>
                <a:gd name="T10" fmla="*/ 5 w 10"/>
                <a:gd name="T11" fmla="*/ 23 h 23"/>
                <a:gd name="T12" fmla="*/ 5 w 10"/>
                <a:gd name="T13" fmla="*/ 23 h 23"/>
                <a:gd name="T14" fmla="*/ 5 w 10"/>
                <a:gd name="T15" fmla="*/ 23 h 23"/>
                <a:gd name="T16" fmla="*/ 5 w 10"/>
                <a:gd name="T17" fmla="*/ 23 h 23"/>
                <a:gd name="T18" fmla="*/ 5 w 10"/>
                <a:gd name="T19" fmla="*/ 23 h 23"/>
                <a:gd name="T20" fmla="*/ 5 w 10"/>
                <a:gd name="T21" fmla="*/ 23 h 23"/>
                <a:gd name="T22" fmla="*/ 5 w 10"/>
                <a:gd name="T23" fmla="*/ 17 h 23"/>
                <a:gd name="T24" fmla="*/ 5 w 10"/>
                <a:gd name="T25" fmla="*/ 17 h 23"/>
                <a:gd name="T26" fmla="*/ 5 w 10"/>
                <a:gd name="T27" fmla="*/ 17 h 23"/>
                <a:gd name="T28" fmla="*/ 5 w 10"/>
                <a:gd name="T29" fmla="*/ 17 h 23"/>
                <a:gd name="T30" fmla="*/ 5 w 10"/>
                <a:gd name="T31" fmla="*/ 17 h 23"/>
                <a:gd name="T32" fmla="*/ 5 w 10"/>
                <a:gd name="T33" fmla="*/ 17 h 23"/>
                <a:gd name="T34" fmla="*/ 5 w 10"/>
                <a:gd name="T35" fmla="*/ 17 h 23"/>
                <a:gd name="T36" fmla="*/ 5 w 10"/>
                <a:gd name="T37" fmla="*/ 17 h 23"/>
                <a:gd name="T38" fmla="*/ 5 w 10"/>
                <a:gd name="T39" fmla="*/ 17 h 23"/>
                <a:gd name="T40" fmla="*/ 5 w 10"/>
                <a:gd name="T41" fmla="*/ 17 h 23"/>
                <a:gd name="T42" fmla="*/ 5 w 10"/>
                <a:gd name="T43" fmla="*/ 17 h 23"/>
                <a:gd name="T44" fmla="*/ 5 w 10"/>
                <a:gd name="T45" fmla="*/ 11 h 23"/>
                <a:gd name="T46" fmla="*/ 5 w 10"/>
                <a:gd name="T47" fmla="*/ 11 h 23"/>
                <a:gd name="T48" fmla="*/ 5 w 10"/>
                <a:gd name="T49" fmla="*/ 11 h 23"/>
                <a:gd name="T50" fmla="*/ 5 w 10"/>
                <a:gd name="T51" fmla="*/ 11 h 23"/>
                <a:gd name="T52" fmla="*/ 5 w 10"/>
                <a:gd name="T53" fmla="*/ 11 h 23"/>
                <a:gd name="T54" fmla="*/ 5 w 10"/>
                <a:gd name="T55" fmla="*/ 11 h 23"/>
                <a:gd name="T56" fmla="*/ 5 w 10"/>
                <a:gd name="T57" fmla="*/ 11 h 23"/>
                <a:gd name="T58" fmla="*/ 5 w 10"/>
                <a:gd name="T59" fmla="*/ 11 h 23"/>
                <a:gd name="T60" fmla="*/ 5 w 10"/>
                <a:gd name="T61" fmla="*/ 11 h 23"/>
                <a:gd name="T62" fmla="*/ 5 w 10"/>
                <a:gd name="T63" fmla="*/ 11 h 23"/>
                <a:gd name="T64" fmla="*/ 5 w 10"/>
                <a:gd name="T65" fmla="*/ 11 h 23"/>
                <a:gd name="T66" fmla="*/ 5 w 10"/>
                <a:gd name="T67" fmla="*/ 11 h 23"/>
                <a:gd name="T68" fmla="*/ 5 w 10"/>
                <a:gd name="T69" fmla="*/ 6 h 23"/>
                <a:gd name="T70" fmla="*/ 5 w 10"/>
                <a:gd name="T71" fmla="*/ 6 h 23"/>
                <a:gd name="T72" fmla="*/ 5 w 10"/>
                <a:gd name="T73" fmla="*/ 6 h 23"/>
                <a:gd name="T74" fmla="*/ 5 w 10"/>
                <a:gd name="T75" fmla="*/ 6 h 23"/>
                <a:gd name="T76" fmla="*/ 5 w 10"/>
                <a:gd name="T77" fmla="*/ 6 h 23"/>
                <a:gd name="T78" fmla="*/ 5 w 10"/>
                <a:gd name="T79" fmla="*/ 6 h 23"/>
                <a:gd name="T80" fmla="*/ 5 w 10"/>
                <a:gd name="T81" fmla="*/ 6 h 23"/>
                <a:gd name="T82" fmla="*/ 5 w 10"/>
                <a:gd name="T83" fmla="*/ 6 h 23"/>
                <a:gd name="T84" fmla="*/ 5 w 10"/>
                <a:gd name="T85" fmla="*/ 6 h 23"/>
                <a:gd name="T86" fmla="*/ 5 w 10"/>
                <a:gd name="T87" fmla="*/ 6 h 23"/>
                <a:gd name="T88" fmla="*/ 5 w 10"/>
                <a:gd name="T89" fmla="*/ 6 h 23"/>
                <a:gd name="T90" fmla="*/ 10 w 10"/>
                <a:gd name="T91" fmla="*/ 0 h 23"/>
                <a:gd name="T92" fmla="*/ 10 w 10"/>
                <a:gd name="T93" fmla="*/ 0 h 23"/>
                <a:gd name="T94" fmla="*/ 10 w 10"/>
                <a:gd name="T95" fmla="*/ 0 h 23"/>
                <a:gd name="T96" fmla="*/ 10 w 10"/>
                <a:gd name="T97" fmla="*/ 0 h 23"/>
                <a:gd name="T98" fmla="*/ 10 w 10"/>
                <a:gd name="T99" fmla="*/ 0 h 23"/>
                <a:gd name="T100" fmla="*/ 10 w 10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3"/>
                <a:gd name="T155" fmla="*/ 10 w 10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3">
                  <a:moveTo>
                    <a:pt x="0" y="23"/>
                  </a:moveTo>
                  <a:lnTo>
                    <a:pt x="0" y="23"/>
                  </a:lnTo>
                  <a:lnTo>
                    <a:pt x="5" y="23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6"/>
                  </a:lnTo>
                  <a:lnTo>
                    <a:pt x="1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7" name="Freeform 144"/>
            <p:cNvSpPr>
              <a:spLocks/>
            </p:cNvSpPr>
            <p:nvPr/>
          </p:nvSpPr>
          <p:spPr bwMode="auto">
            <a:xfrm>
              <a:off x="5059" y="3062"/>
              <a:ext cx="4" cy="23"/>
            </a:xfrm>
            <a:custGeom>
              <a:avLst/>
              <a:gdLst>
                <a:gd name="T0" fmla="*/ 0 w 4"/>
                <a:gd name="T1" fmla="*/ 23 h 23"/>
                <a:gd name="T2" fmla="*/ 0 w 4"/>
                <a:gd name="T3" fmla="*/ 23 h 23"/>
                <a:gd name="T4" fmla="*/ 0 w 4"/>
                <a:gd name="T5" fmla="*/ 23 h 23"/>
                <a:gd name="T6" fmla="*/ 0 w 4"/>
                <a:gd name="T7" fmla="*/ 23 h 23"/>
                <a:gd name="T8" fmla="*/ 0 w 4"/>
                <a:gd name="T9" fmla="*/ 23 h 23"/>
                <a:gd name="T10" fmla="*/ 0 w 4"/>
                <a:gd name="T11" fmla="*/ 23 h 23"/>
                <a:gd name="T12" fmla="*/ 0 w 4"/>
                <a:gd name="T13" fmla="*/ 23 h 23"/>
                <a:gd name="T14" fmla="*/ 0 w 4"/>
                <a:gd name="T15" fmla="*/ 17 h 23"/>
                <a:gd name="T16" fmla="*/ 0 w 4"/>
                <a:gd name="T17" fmla="*/ 17 h 23"/>
                <a:gd name="T18" fmla="*/ 0 w 4"/>
                <a:gd name="T19" fmla="*/ 17 h 23"/>
                <a:gd name="T20" fmla="*/ 0 w 4"/>
                <a:gd name="T21" fmla="*/ 17 h 23"/>
                <a:gd name="T22" fmla="*/ 0 w 4"/>
                <a:gd name="T23" fmla="*/ 17 h 23"/>
                <a:gd name="T24" fmla="*/ 0 w 4"/>
                <a:gd name="T25" fmla="*/ 17 h 23"/>
                <a:gd name="T26" fmla="*/ 0 w 4"/>
                <a:gd name="T27" fmla="*/ 17 h 23"/>
                <a:gd name="T28" fmla="*/ 0 w 4"/>
                <a:gd name="T29" fmla="*/ 17 h 23"/>
                <a:gd name="T30" fmla="*/ 0 w 4"/>
                <a:gd name="T31" fmla="*/ 17 h 23"/>
                <a:gd name="T32" fmla="*/ 0 w 4"/>
                <a:gd name="T33" fmla="*/ 17 h 23"/>
                <a:gd name="T34" fmla="*/ 0 w 4"/>
                <a:gd name="T35" fmla="*/ 17 h 23"/>
                <a:gd name="T36" fmla="*/ 0 w 4"/>
                <a:gd name="T37" fmla="*/ 17 h 23"/>
                <a:gd name="T38" fmla="*/ 0 w 4"/>
                <a:gd name="T39" fmla="*/ 12 h 23"/>
                <a:gd name="T40" fmla="*/ 0 w 4"/>
                <a:gd name="T41" fmla="*/ 12 h 23"/>
                <a:gd name="T42" fmla="*/ 0 w 4"/>
                <a:gd name="T43" fmla="*/ 12 h 23"/>
                <a:gd name="T44" fmla="*/ 0 w 4"/>
                <a:gd name="T45" fmla="*/ 12 h 23"/>
                <a:gd name="T46" fmla="*/ 0 w 4"/>
                <a:gd name="T47" fmla="*/ 12 h 23"/>
                <a:gd name="T48" fmla="*/ 0 w 4"/>
                <a:gd name="T49" fmla="*/ 12 h 23"/>
                <a:gd name="T50" fmla="*/ 0 w 4"/>
                <a:gd name="T51" fmla="*/ 12 h 23"/>
                <a:gd name="T52" fmla="*/ 0 w 4"/>
                <a:gd name="T53" fmla="*/ 12 h 23"/>
                <a:gd name="T54" fmla="*/ 0 w 4"/>
                <a:gd name="T55" fmla="*/ 12 h 23"/>
                <a:gd name="T56" fmla="*/ 0 w 4"/>
                <a:gd name="T57" fmla="*/ 12 h 23"/>
                <a:gd name="T58" fmla="*/ 0 w 4"/>
                <a:gd name="T59" fmla="*/ 12 h 23"/>
                <a:gd name="T60" fmla="*/ 0 w 4"/>
                <a:gd name="T61" fmla="*/ 12 h 23"/>
                <a:gd name="T62" fmla="*/ 0 w 4"/>
                <a:gd name="T63" fmla="*/ 6 h 23"/>
                <a:gd name="T64" fmla="*/ 0 w 4"/>
                <a:gd name="T65" fmla="*/ 6 h 23"/>
                <a:gd name="T66" fmla="*/ 0 w 4"/>
                <a:gd name="T67" fmla="*/ 6 h 23"/>
                <a:gd name="T68" fmla="*/ 0 w 4"/>
                <a:gd name="T69" fmla="*/ 6 h 23"/>
                <a:gd name="T70" fmla="*/ 4 w 4"/>
                <a:gd name="T71" fmla="*/ 6 h 23"/>
                <a:gd name="T72" fmla="*/ 4 w 4"/>
                <a:gd name="T73" fmla="*/ 6 h 23"/>
                <a:gd name="T74" fmla="*/ 4 w 4"/>
                <a:gd name="T75" fmla="*/ 6 h 23"/>
                <a:gd name="T76" fmla="*/ 4 w 4"/>
                <a:gd name="T77" fmla="*/ 6 h 23"/>
                <a:gd name="T78" fmla="*/ 4 w 4"/>
                <a:gd name="T79" fmla="*/ 6 h 23"/>
                <a:gd name="T80" fmla="*/ 4 w 4"/>
                <a:gd name="T81" fmla="*/ 6 h 23"/>
                <a:gd name="T82" fmla="*/ 4 w 4"/>
                <a:gd name="T83" fmla="*/ 6 h 23"/>
                <a:gd name="T84" fmla="*/ 4 w 4"/>
                <a:gd name="T85" fmla="*/ 6 h 23"/>
                <a:gd name="T86" fmla="*/ 4 w 4"/>
                <a:gd name="T87" fmla="*/ 0 h 23"/>
                <a:gd name="T88" fmla="*/ 4 w 4"/>
                <a:gd name="T89" fmla="*/ 0 h 23"/>
                <a:gd name="T90" fmla="*/ 4 w 4"/>
                <a:gd name="T91" fmla="*/ 0 h 23"/>
                <a:gd name="T92" fmla="*/ 4 w 4"/>
                <a:gd name="T93" fmla="*/ 0 h 23"/>
                <a:gd name="T94" fmla="*/ 4 w 4"/>
                <a:gd name="T95" fmla="*/ 0 h 23"/>
                <a:gd name="T96" fmla="*/ 4 w 4"/>
                <a:gd name="T97" fmla="*/ 0 h 23"/>
                <a:gd name="T98" fmla="*/ 4 w 4"/>
                <a:gd name="T99" fmla="*/ 0 h 23"/>
                <a:gd name="T100" fmla="*/ 4 w 4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0" y="12"/>
                  </a:lnTo>
                  <a:lnTo>
                    <a:pt x="0" y="6"/>
                  </a:lnTo>
                  <a:lnTo>
                    <a:pt x="4" y="6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8" name="Freeform 145"/>
            <p:cNvSpPr>
              <a:spLocks/>
            </p:cNvSpPr>
            <p:nvPr/>
          </p:nvSpPr>
          <p:spPr bwMode="auto">
            <a:xfrm>
              <a:off x="5063" y="3039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23 h 23"/>
                <a:gd name="T10" fmla="*/ 0 w 5"/>
                <a:gd name="T11" fmla="*/ 17 h 23"/>
                <a:gd name="T12" fmla="*/ 0 w 5"/>
                <a:gd name="T13" fmla="*/ 17 h 23"/>
                <a:gd name="T14" fmla="*/ 0 w 5"/>
                <a:gd name="T15" fmla="*/ 17 h 23"/>
                <a:gd name="T16" fmla="*/ 0 w 5"/>
                <a:gd name="T17" fmla="*/ 17 h 23"/>
                <a:gd name="T18" fmla="*/ 0 w 5"/>
                <a:gd name="T19" fmla="*/ 17 h 23"/>
                <a:gd name="T20" fmla="*/ 0 w 5"/>
                <a:gd name="T21" fmla="*/ 17 h 23"/>
                <a:gd name="T22" fmla="*/ 0 w 5"/>
                <a:gd name="T23" fmla="*/ 17 h 23"/>
                <a:gd name="T24" fmla="*/ 0 w 5"/>
                <a:gd name="T25" fmla="*/ 17 h 23"/>
                <a:gd name="T26" fmla="*/ 0 w 5"/>
                <a:gd name="T27" fmla="*/ 17 h 23"/>
                <a:gd name="T28" fmla="*/ 0 w 5"/>
                <a:gd name="T29" fmla="*/ 17 h 23"/>
                <a:gd name="T30" fmla="*/ 0 w 5"/>
                <a:gd name="T31" fmla="*/ 17 h 23"/>
                <a:gd name="T32" fmla="*/ 0 w 5"/>
                <a:gd name="T33" fmla="*/ 17 h 23"/>
                <a:gd name="T34" fmla="*/ 0 w 5"/>
                <a:gd name="T35" fmla="*/ 12 h 23"/>
                <a:gd name="T36" fmla="*/ 0 w 5"/>
                <a:gd name="T37" fmla="*/ 12 h 23"/>
                <a:gd name="T38" fmla="*/ 0 w 5"/>
                <a:gd name="T39" fmla="*/ 12 h 23"/>
                <a:gd name="T40" fmla="*/ 0 w 5"/>
                <a:gd name="T41" fmla="*/ 12 h 23"/>
                <a:gd name="T42" fmla="*/ 0 w 5"/>
                <a:gd name="T43" fmla="*/ 12 h 23"/>
                <a:gd name="T44" fmla="*/ 0 w 5"/>
                <a:gd name="T45" fmla="*/ 12 h 23"/>
                <a:gd name="T46" fmla="*/ 0 w 5"/>
                <a:gd name="T47" fmla="*/ 12 h 23"/>
                <a:gd name="T48" fmla="*/ 0 w 5"/>
                <a:gd name="T49" fmla="*/ 12 h 23"/>
                <a:gd name="T50" fmla="*/ 0 w 5"/>
                <a:gd name="T51" fmla="*/ 12 h 23"/>
                <a:gd name="T52" fmla="*/ 5 w 5"/>
                <a:gd name="T53" fmla="*/ 12 h 23"/>
                <a:gd name="T54" fmla="*/ 5 w 5"/>
                <a:gd name="T55" fmla="*/ 12 h 23"/>
                <a:gd name="T56" fmla="*/ 5 w 5"/>
                <a:gd name="T57" fmla="*/ 12 h 23"/>
                <a:gd name="T58" fmla="*/ 5 w 5"/>
                <a:gd name="T59" fmla="*/ 6 h 23"/>
                <a:gd name="T60" fmla="*/ 5 w 5"/>
                <a:gd name="T61" fmla="*/ 6 h 23"/>
                <a:gd name="T62" fmla="*/ 5 w 5"/>
                <a:gd name="T63" fmla="*/ 6 h 23"/>
                <a:gd name="T64" fmla="*/ 5 w 5"/>
                <a:gd name="T65" fmla="*/ 6 h 23"/>
                <a:gd name="T66" fmla="*/ 5 w 5"/>
                <a:gd name="T67" fmla="*/ 6 h 23"/>
                <a:gd name="T68" fmla="*/ 5 w 5"/>
                <a:gd name="T69" fmla="*/ 6 h 23"/>
                <a:gd name="T70" fmla="*/ 5 w 5"/>
                <a:gd name="T71" fmla="*/ 6 h 23"/>
                <a:gd name="T72" fmla="*/ 5 w 5"/>
                <a:gd name="T73" fmla="*/ 6 h 23"/>
                <a:gd name="T74" fmla="*/ 5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0 h 23"/>
                <a:gd name="T86" fmla="*/ 5 w 5"/>
                <a:gd name="T87" fmla="*/ 0 h 23"/>
                <a:gd name="T88" fmla="*/ 5 w 5"/>
                <a:gd name="T89" fmla="*/ 0 h 23"/>
                <a:gd name="T90" fmla="*/ 5 w 5"/>
                <a:gd name="T91" fmla="*/ 0 h 23"/>
                <a:gd name="T92" fmla="*/ 5 w 5"/>
                <a:gd name="T93" fmla="*/ 0 h 23"/>
                <a:gd name="T94" fmla="*/ 5 w 5"/>
                <a:gd name="T95" fmla="*/ 0 h 23"/>
                <a:gd name="T96" fmla="*/ 5 w 5"/>
                <a:gd name="T97" fmla="*/ 0 h 23"/>
                <a:gd name="T98" fmla="*/ 5 w 5"/>
                <a:gd name="T99" fmla="*/ 0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9" name="Freeform 146"/>
            <p:cNvSpPr>
              <a:spLocks/>
            </p:cNvSpPr>
            <p:nvPr/>
          </p:nvSpPr>
          <p:spPr bwMode="auto">
            <a:xfrm>
              <a:off x="5068" y="3017"/>
              <a:ext cx="5" cy="22"/>
            </a:xfrm>
            <a:custGeom>
              <a:avLst/>
              <a:gdLst>
                <a:gd name="T0" fmla="*/ 0 w 5"/>
                <a:gd name="T1" fmla="*/ 22 h 22"/>
                <a:gd name="T2" fmla="*/ 0 w 5"/>
                <a:gd name="T3" fmla="*/ 22 h 22"/>
                <a:gd name="T4" fmla="*/ 0 w 5"/>
                <a:gd name="T5" fmla="*/ 22 h 22"/>
                <a:gd name="T6" fmla="*/ 0 w 5"/>
                <a:gd name="T7" fmla="*/ 22 h 22"/>
                <a:gd name="T8" fmla="*/ 0 w 5"/>
                <a:gd name="T9" fmla="*/ 17 h 22"/>
                <a:gd name="T10" fmla="*/ 0 w 5"/>
                <a:gd name="T11" fmla="*/ 17 h 22"/>
                <a:gd name="T12" fmla="*/ 0 w 5"/>
                <a:gd name="T13" fmla="*/ 17 h 22"/>
                <a:gd name="T14" fmla="*/ 0 w 5"/>
                <a:gd name="T15" fmla="*/ 17 h 22"/>
                <a:gd name="T16" fmla="*/ 0 w 5"/>
                <a:gd name="T17" fmla="*/ 17 h 22"/>
                <a:gd name="T18" fmla="*/ 0 w 5"/>
                <a:gd name="T19" fmla="*/ 17 h 22"/>
                <a:gd name="T20" fmla="*/ 0 w 5"/>
                <a:gd name="T21" fmla="*/ 17 h 22"/>
                <a:gd name="T22" fmla="*/ 0 w 5"/>
                <a:gd name="T23" fmla="*/ 17 h 22"/>
                <a:gd name="T24" fmla="*/ 0 w 5"/>
                <a:gd name="T25" fmla="*/ 17 h 22"/>
                <a:gd name="T26" fmla="*/ 0 w 5"/>
                <a:gd name="T27" fmla="*/ 17 h 22"/>
                <a:gd name="T28" fmla="*/ 0 w 5"/>
                <a:gd name="T29" fmla="*/ 17 h 22"/>
                <a:gd name="T30" fmla="*/ 0 w 5"/>
                <a:gd name="T31" fmla="*/ 17 h 22"/>
                <a:gd name="T32" fmla="*/ 5 w 5"/>
                <a:gd name="T33" fmla="*/ 17 h 22"/>
                <a:gd name="T34" fmla="*/ 5 w 5"/>
                <a:gd name="T35" fmla="*/ 11 h 22"/>
                <a:gd name="T36" fmla="*/ 5 w 5"/>
                <a:gd name="T37" fmla="*/ 11 h 22"/>
                <a:gd name="T38" fmla="*/ 5 w 5"/>
                <a:gd name="T39" fmla="*/ 11 h 22"/>
                <a:gd name="T40" fmla="*/ 5 w 5"/>
                <a:gd name="T41" fmla="*/ 11 h 22"/>
                <a:gd name="T42" fmla="*/ 5 w 5"/>
                <a:gd name="T43" fmla="*/ 11 h 22"/>
                <a:gd name="T44" fmla="*/ 5 w 5"/>
                <a:gd name="T45" fmla="*/ 11 h 22"/>
                <a:gd name="T46" fmla="*/ 5 w 5"/>
                <a:gd name="T47" fmla="*/ 11 h 22"/>
                <a:gd name="T48" fmla="*/ 5 w 5"/>
                <a:gd name="T49" fmla="*/ 11 h 22"/>
                <a:gd name="T50" fmla="*/ 5 w 5"/>
                <a:gd name="T51" fmla="*/ 11 h 22"/>
                <a:gd name="T52" fmla="*/ 5 w 5"/>
                <a:gd name="T53" fmla="*/ 11 h 22"/>
                <a:gd name="T54" fmla="*/ 5 w 5"/>
                <a:gd name="T55" fmla="*/ 11 h 22"/>
                <a:gd name="T56" fmla="*/ 5 w 5"/>
                <a:gd name="T57" fmla="*/ 11 h 22"/>
                <a:gd name="T58" fmla="*/ 5 w 5"/>
                <a:gd name="T59" fmla="*/ 11 h 22"/>
                <a:gd name="T60" fmla="*/ 5 w 5"/>
                <a:gd name="T61" fmla="*/ 5 h 22"/>
                <a:gd name="T62" fmla="*/ 5 w 5"/>
                <a:gd name="T63" fmla="*/ 5 h 22"/>
                <a:gd name="T64" fmla="*/ 5 w 5"/>
                <a:gd name="T65" fmla="*/ 5 h 22"/>
                <a:gd name="T66" fmla="*/ 5 w 5"/>
                <a:gd name="T67" fmla="*/ 5 h 22"/>
                <a:gd name="T68" fmla="*/ 5 w 5"/>
                <a:gd name="T69" fmla="*/ 5 h 22"/>
                <a:gd name="T70" fmla="*/ 5 w 5"/>
                <a:gd name="T71" fmla="*/ 5 h 22"/>
                <a:gd name="T72" fmla="*/ 5 w 5"/>
                <a:gd name="T73" fmla="*/ 5 h 22"/>
                <a:gd name="T74" fmla="*/ 5 w 5"/>
                <a:gd name="T75" fmla="*/ 5 h 22"/>
                <a:gd name="T76" fmla="*/ 5 w 5"/>
                <a:gd name="T77" fmla="*/ 5 h 22"/>
                <a:gd name="T78" fmla="*/ 5 w 5"/>
                <a:gd name="T79" fmla="*/ 5 h 22"/>
                <a:gd name="T80" fmla="*/ 5 w 5"/>
                <a:gd name="T81" fmla="*/ 5 h 22"/>
                <a:gd name="T82" fmla="*/ 5 w 5"/>
                <a:gd name="T83" fmla="*/ 5 h 22"/>
                <a:gd name="T84" fmla="*/ 5 w 5"/>
                <a:gd name="T85" fmla="*/ 5 h 22"/>
                <a:gd name="T86" fmla="*/ 5 w 5"/>
                <a:gd name="T87" fmla="*/ 0 h 22"/>
                <a:gd name="T88" fmla="*/ 5 w 5"/>
                <a:gd name="T89" fmla="*/ 0 h 22"/>
                <a:gd name="T90" fmla="*/ 5 w 5"/>
                <a:gd name="T91" fmla="*/ 0 h 22"/>
                <a:gd name="T92" fmla="*/ 5 w 5"/>
                <a:gd name="T93" fmla="*/ 0 h 22"/>
                <a:gd name="T94" fmla="*/ 5 w 5"/>
                <a:gd name="T95" fmla="*/ 0 h 22"/>
                <a:gd name="T96" fmla="*/ 5 w 5"/>
                <a:gd name="T97" fmla="*/ 0 h 22"/>
                <a:gd name="T98" fmla="*/ 5 w 5"/>
                <a:gd name="T99" fmla="*/ 0 h 22"/>
                <a:gd name="T100" fmla="*/ 5 w 5"/>
                <a:gd name="T101" fmla="*/ 0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2"/>
                <a:gd name="T155" fmla="*/ 5 w 5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2">
                  <a:moveTo>
                    <a:pt x="0" y="22"/>
                  </a:moveTo>
                  <a:lnTo>
                    <a:pt x="0" y="22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0" name="Freeform 147"/>
            <p:cNvSpPr>
              <a:spLocks/>
            </p:cNvSpPr>
            <p:nvPr/>
          </p:nvSpPr>
          <p:spPr bwMode="auto">
            <a:xfrm>
              <a:off x="5073" y="2994"/>
              <a:ext cx="10" cy="23"/>
            </a:xfrm>
            <a:custGeom>
              <a:avLst/>
              <a:gdLst>
                <a:gd name="T0" fmla="*/ 0 w 10"/>
                <a:gd name="T1" fmla="*/ 23 h 23"/>
                <a:gd name="T2" fmla="*/ 0 w 10"/>
                <a:gd name="T3" fmla="*/ 23 h 23"/>
                <a:gd name="T4" fmla="*/ 0 w 10"/>
                <a:gd name="T5" fmla="*/ 23 h 23"/>
                <a:gd name="T6" fmla="*/ 0 w 10"/>
                <a:gd name="T7" fmla="*/ 23 h 23"/>
                <a:gd name="T8" fmla="*/ 0 w 10"/>
                <a:gd name="T9" fmla="*/ 23 h 23"/>
                <a:gd name="T10" fmla="*/ 0 w 10"/>
                <a:gd name="T11" fmla="*/ 23 h 23"/>
                <a:gd name="T12" fmla="*/ 0 w 10"/>
                <a:gd name="T13" fmla="*/ 17 h 23"/>
                <a:gd name="T14" fmla="*/ 5 w 10"/>
                <a:gd name="T15" fmla="*/ 17 h 23"/>
                <a:gd name="T16" fmla="*/ 5 w 10"/>
                <a:gd name="T17" fmla="*/ 17 h 23"/>
                <a:gd name="T18" fmla="*/ 5 w 10"/>
                <a:gd name="T19" fmla="*/ 17 h 23"/>
                <a:gd name="T20" fmla="*/ 5 w 10"/>
                <a:gd name="T21" fmla="*/ 17 h 23"/>
                <a:gd name="T22" fmla="*/ 5 w 10"/>
                <a:gd name="T23" fmla="*/ 17 h 23"/>
                <a:gd name="T24" fmla="*/ 5 w 10"/>
                <a:gd name="T25" fmla="*/ 17 h 23"/>
                <a:gd name="T26" fmla="*/ 5 w 10"/>
                <a:gd name="T27" fmla="*/ 17 h 23"/>
                <a:gd name="T28" fmla="*/ 5 w 10"/>
                <a:gd name="T29" fmla="*/ 17 h 23"/>
                <a:gd name="T30" fmla="*/ 5 w 10"/>
                <a:gd name="T31" fmla="*/ 17 h 23"/>
                <a:gd name="T32" fmla="*/ 5 w 10"/>
                <a:gd name="T33" fmla="*/ 17 h 23"/>
                <a:gd name="T34" fmla="*/ 5 w 10"/>
                <a:gd name="T35" fmla="*/ 17 h 23"/>
                <a:gd name="T36" fmla="*/ 5 w 10"/>
                <a:gd name="T37" fmla="*/ 17 h 23"/>
                <a:gd name="T38" fmla="*/ 5 w 10"/>
                <a:gd name="T39" fmla="*/ 17 h 23"/>
                <a:gd name="T40" fmla="*/ 5 w 10"/>
                <a:gd name="T41" fmla="*/ 11 h 23"/>
                <a:gd name="T42" fmla="*/ 5 w 10"/>
                <a:gd name="T43" fmla="*/ 11 h 23"/>
                <a:gd name="T44" fmla="*/ 5 w 10"/>
                <a:gd name="T45" fmla="*/ 11 h 23"/>
                <a:gd name="T46" fmla="*/ 5 w 10"/>
                <a:gd name="T47" fmla="*/ 11 h 23"/>
                <a:gd name="T48" fmla="*/ 5 w 10"/>
                <a:gd name="T49" fmla="*/ 11 h 23"/>
                <a:gd name="T50" fmla="*/ 5 w 10"/>
                <a:gd name="T51" fmla="*/ 11 h 23"/>
                <a:gd name="T52" fmla="*/ 5 w 10"/>
                <a:gd name="T53" fmla="*/ 11 h 23"/>
                <a:gd name="T54" fmla="*/ 5 w 10"/>
                <a:gd name="T55" fmla="*/ 11 h 23"/>
                <a:gd name="T56" fmla="*/ 5 w 10"/>
                <a:gd name="T57" fmla="*/ 11 h 23"/>
                <a:gd name="T58" fmla="*/ 5 w 10"/>
                <a:gd name="T59" fmla="*/ 11 h 23"/>
                <a:gd name="T60" fmla="*/ 5 w 10"/>
                <a:gd name="T61" fmla="*/ 11 h 23"/>
                <a:gd name="T62" fmla="*/ 5 w 10"/>
                <a:gd name="T63" fmla="*/ 11 h 23"/>
                <a:gd name="T64" fmla="*/ 5 w 10"/>
                <a:gd name="T65" fmla="*/ 11 h 23"/>
                <a:gd name="T66" fmla="*/ 5 w 10"/>
                <a:gd name="T67" fmla="*/ 11 h 23"/>
                <a:gd name="T68" fmla="*/ 5 w 10"/>
                <a:gd name="T69" fmla="*/ 6 h 23"/>
                <a:gd name="T70" fmla="*/ 5 w 10"/>
                <a:gd name="T71" fmla="*/ 6 h 23"/>
                <a:gd name="T72" fmla="*/ 5 w 10"/>
                <a:gd name="T73" fmla="*/ 6 h 23"/>
                <a:gd name="T74" fmla="*/ 5 w 10"/>
                <a:gd name="T75" fmla="*/ 6 h 23"/>
                <a:gd name="T76" fmla="*/ 5 w 10"/>
                <a:gd name="T77" fmla="*/ 6 h 23"/>
                <a:gd name="T78" fmla="*/ 5 w 10"/>
                <a:gd name="T79" fmla="*/ 6 h 23"/>
                <a:gd name="T80" fmla="*/ 5 w 10"/>
                <a:gd name="T81" fmla="*/ 6 h 23"/>
                <a:gd name="T82" fmla="*/ 5 w 10"/>
                <a:gd name="T83" fmla="*/ 6 h 23"/>
                <a:gd name="T84" fmla="*/ 5 w 10"/>
                <a:gd name="T85" fmla="*/ 6 h 23"/>
                <a:gd name="T86" fmla="*/ 5 w 10"/>
                <a:gd name="T87" fmla="*/ 6 h 23"/>
                <a:gd name="T88" fmla="*/ 5 w 10"/>
                <a:gd name="T89" fmla="*/ 6 h 23"/>
                <a:gd name="T90" fmla="*/ 5 w 10"/>
                <a:gd name="T91" fmla="*/ 6 h 23"/>
                <a:gd name="T92" fmla="*/ 5 w 10"/>
                <a:gd name="T93" fmla="*/ 6 h 23"/>
                <a:gd name="T94" fmla="*/ 10 w 10"/>
                <a:gd name="T95" fmla="*/ 6 h 23"/>
                <a:gd name="T96" fmla="*/ 10 w 10"/>
                <a:gd name="T97" fmla="*/ 0 h 23"/>
                <a:gd name="T98" fmla="*/ 10 w 10"/>
                <a:gd name="T99" fmla="*/ 0 h 23"/>
                <a:gd name="T100" fmla="*/ 10 w 10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3"/>
                <a:gd name="T155" fmla="*/ 10 w 10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6"/>
                  </a:lnTo>
                  <a:lnTo>
                    <a:pt x="10" y="6"/>
                  </a:lnTo>
                  <a:lnTo>
                    <a:pt x="1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1" name="Freeform 148"/>
            <p:cNvSpPr>
              <a:spLocks/>
            </p:cNvSpPr>
            <p:nvPr/>
          </p:nvSpPr>
          <p:spPr bwMode="auto">
            <a:xfrm>
              <a:off x="5083" y="2977"/>
              <a:ext cx="4" cy="17"/>
            </a:xfrm>
            <a:custGeom>
              <a:avLst/>
              <a:gdLst>
                <a:gd name="T0" fmla="*/ 0 w 4"/>
                <a:gd name="T1" fmla="*/ 17 h 17"/>
                <a:gd name="T2" fmla="*/ 0 w 4"/>
                <a:gd name="T3" fmla="*/ 17 h 17"/>
                <a:gd name="T4" fmla="*/ 0 w 4"/>
                <a:gd name="T5" fmla="*/ 17 h 17"/>
                <a:gd name="T6" fmla="*/ 0 w 4"/>
                <a:gd name="T7" fmla="*/ 17 h 17"/>
                <a:gd name="T8" fmla="*/ 0 w 4"/>
                <a:gd name="T9" fmla="*/ 17 h 17"/>
                <a:gd name="T10" fmla="*/ 0 w 4"/>
                <a:gd name="T11" fmla="*/ 17 h 17"/>
                <a:gd name="T12" fmla="*/ 0 w 4"/>
                <a:gd name="T13" fmla="*/ 17 h 17"/>
                <a:gd name="T14" fmla="*/ 0 w 4"/>
                <a:gd name="T15" fmla="*/ 17 h 17"/>
                <a:gd name="T16" fmla="*/ 0 w 4"/>
                <a:gd name="T17" fmla="*/ 17 h 17"/>
                <a:gd name="T18" fmla="*/ 0 w 4"/>
                <a:gd name="T19" fmla="*/ 17 h 17"/>
                <a:gd name="T20" fmla="*/ 0 w 4"/>
                <a:gd name="T21" fmla="*/ 17 h 17"/>
                <a:gd name="T22" fmla="*/ 0 w 4"/>
                <a:gd name="T23" fmla="*/ 17 h 17"/>
                <a:gd name="T24" fmla="*/ 0 w 4"/>
                <a:gd name="T25" fmla="*/ 17 h 17"/>
                <a:gd name="T26" fmla="*/ 0 w 4"/>
                <a:gd name="T27" fmla="*/ 11 h 17"/>
                <a:gd name="T28" fmla="*/ 0 w 4"/>
                <a:gd name="T29" fmla="*/ 11 h 17"/>
                <a:gd name="T30" fmla="*/ 0 w 4"/>
                <a:gd name="T31" fmla="*/ 11 h 17"/>
                <a:gd name="T32" fmla="*/ 0 w 4"/>
                <a:gd name="T33" fmla="*/ 11 h 17"/>
                <a:gd name="T34" fmla="*/ 0 w 4"/>
                <a:gd name="T35" fmla="*/ 11 h 17"/>
                <a:gd name="T36" fmla="*/ 0 w 4"/>
                <a:gd name="T37" fmla="*/ 11 h 17"/>
                <a:gd name="T38" fmla="*/ 0 w 4"/>
                <a:gd name="T39" fmla="*/ 11 h 17"/>
                <a:gd name="T40" fmla="*/ 0 w 4"/>
                <a:gd name="T41" fmla="*/ 11 h 17"/>
                <a:gd name="T42" fmla="*/ 0 w 4"/>
                <a:gd name="T43" fmla="*/ 11 h 17"/>
                <a:gd name="T44" fmla="*/ 0 w 4"/>
                <a:gd name="T45" fmla="*/ 11 h 17"/>
                <a:gd name="T46" fmla="*/ 0 w 4"/>
                <a:gd name="T47" fmla="*/ 11 h 17"/>
                <a:gd name="T48" fmla="*/ 0 w 4"/>
                <a:gd name="T49" fmla="*/ 11 h 17"/>
                <a:gd name="T50" fmla="*/ 0 w 4"/>
                <a:gd name="T51" fmla="*/ 11 h 17"/>
                <a:gd name="T52" fmla="*/ 0 w 4"/>
                <a:gd name="T53" fmla="*/ 11 h 17"/>
                <a:gd name="T54" fmla="*/ 0 w 4"/>
                <a:gd name="T55" fmla="*/ 11 h 17"/>
                <a:gd name="T56" fmla="*/ 0 w 4"/>
                <a:gd name="T57" fmla="*/ 5 h 17"/>
                <a:gd name="T58" fmla="*/ 0 w 4"/>
                <a:gd name="T59" fmla="*/ 5 h 17"/>
                <a:gd name="T60" fmla="*/ 0 w 4"/>
                <a:gd name="T61" fmla="*/ 5 h 17"/>
                <a:gd name="T62" fmla="*/ 0 w 4"/>
                <a:gd name="T63" fmla="*/ 5 h 17"/>
                <a:gd name="T64" fmla="*/ 0 w 4"/>
                <a:gd name="T65" fmla="*/ 5 h 17"/>
                <a:gd name="T66" fmla="*/ 0 w 4"/>
                <a:gd name="T67" fmla="*/ 5 h 17"/>
                <a:gd name="T68" fmla="*/ 0 w 4"/>
                <a:gd name="T69" fmla="*/ 5 h 17"/>
                <a:gd name="T70" fmla="*/ 0 w 4"/>
                <a:gd name="T71" fmla="*/ 5 h 17"/>
                <a:gd name="T72" fmla="*/ 0 w 4"/>
                <a:gd name="T73" fmla="*/ 5 h 17"/>
                <a:gd name="T74" fmla="*/ 0 w 4"/>
                <a:gd name="T75" fmla="*/ 5 h 17"/>
                <a:gd name="T76" fmla="*/ 4 w 4"/>
                <a:gd name="T77" fmla="*/ 5 h 17"/>
                <a:gd name="T78" fmla="*/ 4 w 4"/>
                <a:gd name="T79" fmla="*/ 5 h 17"/>
                <a:gd name="T80" fmla="*/ 4 w 4"/>
                <a:gd name="T81" fmla="*/ 5 h 17"/>
                <a:gd name="T82" fmla="*/ 4 w 4"/>
                <a:gd name="T83" fmla="*/ 5 h 17"/>
                <a:gd name="T84" fmla="*/ 4 w 4"/>
                <a:gd name="T85" fmla="*/ 5 h 17"/>
                <a:gd name="T86" fmla="*/ 4 w 4"/>
                <a:gd name="T87" fmla="*/ 5 h 17"/>
                <a:gd name="T88" fmla="*/ 4 w 4"/>
                <a:gd name="T89" fmla="*/ 0 h 17"/>
                <a:gd name="T90" fmla="*/ 4 w 4"/>
                <a:gd name="T91" fmla="*/ 0 h 17"/>
                <a:gd name="T92" fmla="*/ 4 w 4"/>
                <a:gd name="T93" fmla="*/ 0 h 17"/>
                <a:gd name="T94" fmla="*/ 4 w 4"/>
                <a:gd name="T95" fmla="*/ 0 h 17"/>
                <a:gd name="T96" fmla="*/ 4 w 4"/>
                <a:gd name="T97" fmla="*/ 0 h 17"/>
                <a:gd name="T98" fmla="*/ 4 w 4"/>
                <a:gd name="T99" fmla="*/ 0 h 17"/>
                <a:gd name="T100" fmla="*/ 4 w 4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17"/>
                <a:gd name="T155" fmla="*/ 4 w 4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0" y="5"/>
                  </a:lnTo>
                  <a:lnTo>
                    <a:pt x="4" y="5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2" name="Freeform 149"/>
            <p:cNvSpPr>
              <a:spLocks/>
            </p:cNvSpPr>
            <p:nvPr/>
          </p:nvSpPr>
          <p:spPr bwMode="auto">
            <a:xfrm>
              <a:off x="5087" y="2960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7 h 17"/>
                <a:gd name="T12" fmla="*/ 0 w 5"/>
                <a:gd name="T13" fmla="*/ 17 h 17"/>
                <a:gd name="T14" fmla="*/ 0 w 5"/>
                <a:gd name="T15" fmla="*/ 17 h 17"/>
                <a:gd name="T16" fmla="*/ 0 w 5"/>
                <a:gd name="T17" fmla="*/ 17 h 17"/>
                <a:gd name="T18" fmla="*/ 0 w 5"/>
                <a:gd name="T19" fmla="*/ 17 h 17"/>
                <a:gd name="T20" fmla="*/ 0 w 5"/>
                <a:gd name="T21" fmla="*/ 11 h 17"/>
                <a:gd name="T22" fmla="*/ 0 w 5"/>
                <a:gd name="T23" fmla="*/ 11 h 17"/>
                <a:gd name="T24" fmla="*/ 0 w 5"/>
                <a:gd name="T25" fmla="*/ 11 h 17"/>
                <a:gd name="T26" fmla="*/ 0 w 5"/>
                <a:gd name="T27" fmla="*/ 11 h 17"/>
                <a:gd name="T28" fmla="*/ 0 w 5"/>
                <a:gd name="T29" fmla="*/ 11 h 17"/>
                <a:gd name="T30" fmla="*/ 0 w 5"/>
                <a:gd name="T31" fmla="*/ 11 h 17"/>
                <a:gd name="T32" fmla="*/ 0 w 5"/>
                <a:gd name="T33" fmla="*/ 11 h 17"/>
                <a:gd name="T34" fmla="*/ 0 w 5"/>
                <a:gd name="T35" fmla="*/ 11 h 17"/>
                <a:gd name="T36" fmla="*/ 0 w 5"/>
                <a:gd name="T37" fmla="*/ 11 h 17"/>
                <a:gd name="T38" fmla="*/ 0 w 5"/>
                <a:gd name="T39" fmla="*/ 11 h 17"/>
                <a:gd name="T40" fmla="*/ 0 w 5"/>
                <a:gd name="T41" fmla="*/ 11 h 17"/>
                <a:gd name="T42" fmla="*/ 0 w 5"/>
                <a:gd name="T43" fmla="*/ 11 h 17"/>
                <a:gd name="T44" fmla="*/ 0 w 5"/>
                <a:gd name="T45" fmla="*/ 11 h 17"/>
                <a:gd name="T46" fmla="*/ 0 w 5"/>
                <a:gd name="T47" fmla="*/ 11 h 17"/>
                <a:gd name="T48" fmla="*/ 0 w 5"/>
                <a:gd name="T49" fmla="*/ 11 h 17"/>
                <a:gd name="T50" fmla="*/ 0 w 5"/>
                <a:gd name="T51" fmla="*/ 11 h 17"/>
                <a:gd name="T52" fmla="*/ 0 w 5"/>
                <a:gd name="T53" fmla="*/ 11 h 17"/>
                <a:gd name="T54" fmla="*/ 0 w 5"/>
                <a:gd name="T55" fmla="*/ 5 h 17"/>
                <a:gd name="T56" fmla="*/ 5 w 5"/>
                <a:gd name="T57" fmla="*/ 5 h 17"/>
                <a:gd name="T58" fmla="*/ 5 w 5"/>
                <a:gd name="T59" fmla="*/ 5 h 17"/>
                <a:gd name="T60" fmla="*/ 5 w 5"/>
                <a:gd name="T61" fmla="*/ 5 h 17"/>
                <a:gd name="T62" fmla="*/ 5 w 5"/>
                <a:gd name="T63" fmla="*/ 5 h 17"/>
                <a:gd name="T64" fmla="*/ 5 w 5"/>
                <a:gd name="T65" fmla="*/ 5 h 17"/>
                <a:gd name="T66" fmla="*/ 5 w 5"/>
                <a:gd name="T67" fmla="*/ 5 h 17"/>
                <a:gd name="T68" fmla="*/ 5 w 5"/>
                <a:gd name="T69" fmla="*/ 5 h 17"/>
                <a:gd name="T70" fmla="*/ 5 w 5"/>
                <a:gd name="T71" fmla="*/ 5 h 17"/>
                <a:gd name="T72" fmla="*/ 5 w 5"/>
                <a:gd name="T73" fmla="*/ 5 h 17"/>
                <a:gd name="T74" fmla="*/ 5 w 5"/>
                <a:gd name="T75" fmla="*/ 5 h 17"/>
                <a:gd name="T76" fmla="*/ 5 w 5"/>
                <a:gd name="T77" fmla="*/ 5 h 17"/>
                <a:gd name="T78" fmla="*/ 5 w 5"/>
                <a:gd name="T79" fmla="*/ 5 h 17"/>
                <a:gd name="T80" fmla="*/ 5 w 5"/>
                <a:gd name="T81" fmla="*/ 5 h 17"/>
                <a:gd name="T82" fmla="*/ 5 w 5"/>
                <a:gd name="T83" fmla="*/ 5 h 17"/>
                <a:gd name="T84" fmla="*/ 5 w 5"/>
                <a:gd name="T85" fmla="*/ 5 h 17"/>
                <a:gd name="T86" fmla="*/ 5 w 5"/>
                <a:gd name="T87" fmla="*/ 5 h 17"/>
                <a:gd name="T88" fmla="*/ 5 w 5"/>
                <a:gd name="T89" fmla="*/ 5 h 17"/>
                <a:gd name="T90" fmla="*/ 5 w 5"/>
                <a:gd name="T91" fmla="*/ 0 h 17"/>
                <a:gd name="T92" fmla="*/ 5 w 5"/>
                <a:gd name="T93" fmla="*/ 0 h 17"/>
                <a:gd name="T94" fmla="*/ 5 w 5"/>
                <a:gd name="T95" fmla="*/ 0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3" name="Freeform 150"/>
            <p:cNvSpPr>
              <a:spLocks/>
            </p:cNvSpPr>
            <p:nvPr/>
          </p:nvSpPr>
          <p:spPr bwMode="auto">
            <a:xfrm>
              <a:off x="5092" y="2948"/>
              <a:ext cx="5" cy="12"/>
            </a:xfrm>
            <a:custGeom>
              <a:avLst/>
              <a:gdLst>
                <a:gd name="T0" fmla="*/ 0 w 5"/>
                <a:gd name="T1" fmla="*/ 12 h 12"/>
                <a:gd name="T2" fmla="*/ 0 w 5"/>
                <a:gd name="T3" fmla="*/ 12 h 12"/>
                <a:gd name="T4" fmla="*/ 0 w 5"/>
                <a:gd name="T5" fmla="*/ 12 h 12"/>
                <a:gd name="T6" fmla="*/ 0 w 5"/>
                <a:gd name="T7" fmla="*/ 12 h 12"/>
                <a:gd name="T8" fmla="*/ 0 w 5"/>
                <a:gd name="T9" fmla="*/ 12 h 12"/>
                <a:gd name="T10" fmla="*/ 0 w 5"/>
                <a:gd name="T11" fmla="*/ 12 h 12"/>
                <a:gd name="T12" fmla="*/ 0 w 5"/>
                <a:gd name="T13" fmla="*/ 12 h 12"/>
                <a:gd name="T14" fmla="*/ 0 w 5"/>
                <a:gd name="T15" fmla="*/ 12 h 12"/>
                <a:gd name="T16" fmla="*/ 0 w 5"/>
                <a:gd name="T17" fmla="*/ 12 h 12"/>
                <a:gd name="T18" fmla="*/ 0 w 5"/>
                <a:gd name="T19" fmla="*/ 12 h 12"/>
                <a:gd name="T20" fmla="*/ 0 w 5"/>
                <a:gd name="T21" fmla="*/ 12 h 12"/>
                <a:gd name="T22" fmla="*/ 0 w 5"/>
                <a:gd name="T23" fmla="*/ 12 h 12"/>
                <a:gd name="T24" fmla="*/ 0 w 5"/>
                <a:gd name="T25" fmla="*/ 12 h 12"/>
                <a:gd name="T26" fmla="*/ 0 w 5"/>
                <a:gd name="T27" fmla="*/ 12 h 12"/>
                <a:gd name="T28" fmla="*/ 0 w 5"/>
                <a:gd name="T29" fmla="*/ 6 h 12"/>
                <a:gd name="T30" fmla="*/ 0 w 5"/>
                <a:gd name="T31" fmla="*/ 6 h 12"/>
                <a:gd name="T32" fmla="*/ 0 w 5"/>
                <a:gd name="T33" fmla="*/ 6 h 12"/>
                <a:gd name="T34" fmla="*/ 0 w 5"/>
                <a:gd name="T35" fmla="*/ 6 h 12"/>
                <a:gd name="T36" fmla="*/ 0 w 5"/>
                <a:gd name="T37" fmla="*/ 6 h 12"/>
                <a:gd name="T38" fmla="*/ 5 w 5"/>
                <a:gd name="T39" fmla="*/ 6 h 12"/>
                <a:gd name="T40" fmla="*/ 5 w 5"/>
                <a:gd name="T41" fmla="*/ 6 h 12"/>
                <a:gd name="T42" fmla="*/ 5 w 5"/>
                <a:gd name="T43" fmla="*/ 6 h 12"/>
                <a:gd name="T44" fmla="*/ 5 w 5"/>
                <a:gd name="T45" fmla="*/ 6 h 12"/>
                <a:gd name="T46" fmla="*/ 5 w 5"/>
                <a:gd name="T47" fmla="*/ 6 h 12"/>
                <a:gd name="T48" fmla="*/ 5 w 5"/>
                <a:gd name="T49" fmla="*/ 6 h 12"/>
                <a:gd name="T50" fmla="*/ 5 w 5"/>
                <a:gd name="T51" fmla="*/ 6 h 12"/>
                <a:gd name="T52" fmla="*/ 5 w 5"/>
                <a:gd name="T53" fmla="*/ 6 h 12"/>
                <a:gd name="T54" fmla="*/ 5 w 5"/>
                <a:gd name="T55" fmla="*/ 6 h 12"/>
                <a:gd name="T56" fmla="*/ 5 w 5"/>
                <a:gd name="T57" fmla="*/ 6 h 12"/>
                <a:gd name="T58" fmla="*/ 5 w 5"/>
                <a:gd name="T59" fmla="*/ 6 h 12"/>
                <a:gd name="T60" fmla="*/ 5 w 5"/>
                <a:gd name="T61" fmla="*/ 6 h 12"/>
                <a:gd name="T62" fmla="*/ 5 w 5"/>
                <a:gd name="T63" fmla="*/ 6 h 12"/>
                <a:gd name="T64" fmla="*/ 5 w 5"/>
                <a:gd name="T65" fmla="*/ 6 h 12"/>
                <a:gd name="T66" fmla="*/ 5 w 5"/>
                <a:gd name="T67" fmla="*/ 6 h 12"/>
                <a:gd name="T68" fmla="*/ 5 w 5"/>
                <a:gd name="T69" fmla="*/ 0 h 12"/>
                <a:gd name="T70" fmla="*/ 5 w 5"/>
                <a:gd name="T71" fmla="*/ 0 h 12"/>
                <a:gd name="T72" fmla="*/ 5 w 5"/>
                <a:gd name="T73" fmla="*/ 0 h 12"/>
                <a:gd name="T74" fmla="*/ 5 w 5"/>
                <a:gd name="T75" fmla="*/ 0 h 12"/>
                <a:gd name="T76" fmla="*/ 5 w 5"/>
                <a:gd name="T77" fmla="*/ 0 h 12"/>
                <a:gd name="T78" fmla="*/ 5 w 5"/>
                <a:gd name="T79" fmla="*/ 0 h 12"/>
                <a:gd name="T80" fmla="*/ 5 w 5"/>
                <a:gd name="T81" fmla="*/ 0 h 12"/>
                <a:gd name="T82" fmla="*/ 5 w 5"/>
                <a:gd name="T83" fmla="*/ 0 h 12"/>
                <a:gd name="T84" fmla="*/ 5 w 5"/>
                <a:gd name="T85" fmla="*/ 0 h 12"/>
                <a:gd name="T86" fmla="*/ 5 w 5"/>
                <a:gd name="T87" fmla="*/ 0 h 12"/>
                <a:gd name="T88" fmla="*/ 5 w 5"/>
                <a:gd name="T89" fmla="*/ 0 h 12"/>
                <a:gd name="T90" fmla="*/ 5 w 5"/>
                <a:gd name="T91" fmla="*/ 0 h 12"/>
                <a:gd name="T92" fmla="*/ 5 w 5"/>
                <a:gd name="T93" fmla="*/ 0 h 12"/>
                <a:gd name="T94" fmla="*/ 5 w 5"/>
                <a:gd name="T95" fmla="*/ 0 h 12"/>
                <a:gd name="T96" fmla="*/ 5 w 5"/>
                <a:gd name="T97" fmla="*/ 0 h 12"/>
                <a:gd name="T98" fmla="*/ 5 w 5"/>
                <a:gd name="T99" fmla="*/ 0 h 12"/>
                <a:gd name="T100" fmla="*/ 5 w 5"/>
                <a:gd name="T101" fmla="*/ 0 h 1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2"/>
                <a:gd name="T155" fmla="*/ 5 w 5"/>
                <a:gd name="T156" fmla="*/ 12 h 1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2">
                  <a:moveTo>
                    <a:pt x="0" y="12"/>
                  </a:moveTo>
                  <a:lnTo>
                    <a:pt x="0" y="12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4" name="Freeform 151"/>
            <p:cNvSpPr>
              <a:spLocks/>
            </p:cNvSpPr>
            <p:nvPr/>
          </p:nvSpPr>
          <p:spPr bwMode="auto">
            <a:xfrm>
              <a:off x="5097" y="2937"/>
              <a:ext cx="9" cy="11"/>
            </a:xfrm>
            <a:custGeom>
              <a:avLst/>
              <a:gdLst>
                <a:gd name="T0" fmla="*/ 0 w 9"/>
                <a:gd name="T1" fmla="*/ 11 h 11"/>
                <a:gd name="T2" fmla="*/ 0 w 9"/>
                <a:gd name="T3" fmla="*/ 11 h 11"/>
                <a:gd name="T4" fmla="*/ 0 w 9"/>
                <a:gd name="T5" fmla="*/ 11 h 11"/>
                <a:gd name="T6" fmla="*/ 0 w 9"/>
                <a:gd name="T7" fmla="*/ 11 h 11"/>
                <a:gd name="T8" fmla="*/ 0 w 9"/>
                <a:gd name="T9" fmla="*/ 11 h 11"/>
                <a:gd name="T10" fmla="*/ 0 w 9"/>
                <a:gd name="T11" fmla="*/ 11 h 11"/>
                <a:gd name="T12" fmla="*/ 0 w 9"/>
                <a:gd name="T13" fmla="*/ 6 h 11"/>
                <a:gd name="T14" fmla="*/ 0 w 9"/>
                <a:gd name="T15" fmla="*/ 6 h 11"/>
                <a:gd name="T16" fmla="*/ 0 w 9"/>
                <a:gd name="T17" fmla="*/ 6 h 11"/>
                <a:gd name="T18" fmla="*/ 5 w 9"/>
                <a:gd name="T19" fmla="*/ 6 h 11"/>
                <a:gd name="T20" fmla="*/ 5 w 9"/>
                <a:gd name="T21" fmla="*/ 6 h 11"/>
                <a:gd name="T22" fmla="*/ 5 w 9"/>
                <a:gd name="T23" fmla="*/ 6 h 11"/>
                <a:gd name="T24" fmla="*/ 5 w 9"/>
                <a:gd name="T25" fmla="*/ 6 h 11"/>
                <a:gd name="T26" fmla="*/ 5 w 9"/>
                <a:gd name="T27" fmla="*/ 6 h 11"/>
                <a:gd name="T28" fmla="*/ 5 w 9"/>
                <a:gd name="T29" fmla="*/ 6 h 11"/>
                <a:gd name="T30" fmla="*/ 5 w 9"/>
                <a:gd name="T31" fmla="*/ 6 h 11"/>
                <a:gd name="T32" fmla="*/ 5 w 9"/>
                <a:gd name="T33" fmla="*/ 6 h 11"/>
                <a:gd name="T34" fmla="*/ 5 w 9"/>
                <a:gd name="T35" fmla="*/ 6 h 11"/>
                <a:gd name="T36" fmla="*/ 5 w 9"/>
                <a:gd name="T37" fmla="*/ 6 h 11"/>
                <a:gd name="T38" fmla="*/ 5 w 9"/>
                <a:gd name="T39" fmla="*/ 6 h 11"/>
                <a:gd name="T40" fmla="*/ 5 w 9"/>
                <a:gd name="T41" fmla="*/ 6 h 11"/>
                <a:gd name="T42" fmla="*/ 5 w 9"/>
                <a:gd name="T43" fmla="*/ 6 h 11"/>
                <a:gd name="T44" fmla="*/ 5 w 9"/>
                <a:gd name="T45" fmla="*/ 6 h 11"/>
                <a:gd name="T46" fmla="*/ 5 w 9"/>
                <a:gd name="T47" fmla="*/ 6 h 11"/>
                <a:gd name="T48" fmla="*/ 5 w 9"/>
                <a:gd name="T49" fmla="*/ 6 h 11"/>
                <a:gd name="T50" fmla="*/ 5 w 9"/>
                <a:gd name="T51" fmla="*/ 6 h 11"/>
                <a:gd name="T52" fmla="*/ 5 w 9"/>
                <a:gd name="T53" fmla="*/ 6 h 11"/>
                <a:gd name="T54" fmla="*/ 5 w 9"/>
                <a:gd name="T55" fmla="*/ 6 h 11"/>
                <a:gd name="T56" fmla="*/ 5 w 9"/>
                <a:gd name="T57" fmla="*/ 6 h 11"/>
                <a:gd name="T58" fmla="*/ 5 w 9"/>
                <a:gd name="T59" fmla="*/ 0 h 11"/>
                <a:gd name="T60" fmla="*/ 5 w 9"/>
                <a:gd name="T61" fmla="*/ 0 h 11"/>
                <a:gd name="T62" fmla="*/ 5 w 9"/>
                <a:gd name="T63" fmla="*/ 0 h 11"/>
                <a:gd name="T64" fmla="*/ 5 w 9"/>
                <a:gd name="T65" fmla="*/ 0 h 11"/>
                <a:gd name="T66" fmla="*/ 5 w 9"/>
                <a:gd name="T67" fmla="*/ 0 h 11"/>
                <a:gd name="T68" fmla="*/ 5 w 9"/>
                <a:gd name="T69" fmla="*/ 0 h 11"/>
                <a:gd name="T70" fmla="*/ 5 w 9"/>
                <a:gd name="T71" fmla="*/ 0 h 11"/>
                <a:gd name="T72" fmla="*/ 5 w 9"/>
                <a:gd name="T73" fmla="*/ 0 h 11"/>
                <a:gd name="T74" fmla="*/ 5 w 9"/>
                <a:gd name="T75" fmla="*/ 0 h 11"/>
                <a:gd name="T76" fmla="*/ 5 w 9"/>
                <a:gd name="T77" fmla="*/ 0 h 11"/>
                <a:gd name="T78" fmla="*/ 5 w 9"/>
                <a:gd name="T79" fmla="*/ 0 h 11"/>
                <a:gd name="T80" fmla="*/ 5 w 9"/>
                <a:gd name="T81" fmla="*/ 0 h 11"/>
                <a:gd name="T82" fmla="*/ 5 w 9"/>
                <a:gd name="T83" fmla="*/ 0 h 11"/>
                <a:gd name="T84" fmla="*/ 5 w 9"/>
                <a:gd name="T85" fmla="*/ 0 h 11"/>
                <a:gd name="T86" fmla="*/ 5 w 9"/>
                <a:gd name="T87" fmla="*/ 0 h 11"/>
                <a:gd name="T88" fmla="*/ 5 w 9"/>
                <a:gd name="T89" fmla="*/ 0 h 11"/>
                <a:gd name="T90" fmla="*/ 5 w 9"/>
                <a:gd name="T91" fmla="*/ 0 h 11"/>
                <a:gd name="T92" fmla="*/ 5 w 9"/>
                <a:gd name="T93" fmla="*/ 0 h 11"/>
                <a:gd name="T94" fmla="*/ 5 w 9"/>
                <a:gd name="T95" fmla="*/ 0 h 11"/>
                <a:gd name="T96" fmla="*/ 5 w 9"/>
                <a:gd name="T97" fmla="*/ 0 h 11"/>
                <a:gd name="T98" fmla="*/ 5 w 9"/>
                <a:gd name="T99" fmla="*/ 0 h 11"/>
                <a:gd name="T100" fmla="*/ 9 w 9"/>
                <a:gd name="T101" fmla="*/ 0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1"/>
                <a:gd name="T155" fmla="*/ 9 w 9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1">
                  <a:moveTo>
                    <a:pt x="0" y="11"/>
                  </a:moveTo>
                  <a:lnTo>
                    <a:pt x="0" y="11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5" name="Freeform 152"/>
            <p:cNvSpPr>
              <a:spLocks/>
            </p:cNvSpPr>
            <p:nvPr/>
          </p:nvSpPr>
          <p:spPr bwMode="auto">
            <a:xfrm>
              <a:off x="5106" y="2926"/>
              <a:ext cx="5" cy="11"/>
            </a:xfrm>
            <a:custGeom>
              <a:avLst/>
              <a:gdLst>
                <a:gd name="T0" fmla="*/ 0 w 5"/>
                <a:gd name="T1" fmla="*/ 11 h 11"/>
                <a:gd name="T2" fmla="*/ 0 w 5"/>
                <a:gd name="T3" fmla="*/ 11 h 11"/>
                <a:gd name="T4" fmla="*/ 0 w 5"/>
                <a:gd name="T5" fmla="*/ 11 h 11"/>
                <a:gd name="T6" fmla="*/ 0 w 5"/>
                <a:gd name="T7" fmla="*/ 11 h 11"/>
                <a:gd name="T8" fmla="*/ 0 w 5"/>
                <a:gd name="T9" fmla="*/ 11 h 11"/>
                <a:gd name="T10" fmla="*/ 0 w 5"/>
                <a:gd name="T11" fmla="*/ 11 h 11"/>
                <a:gd name="T12" fmla="*/ 0 w 5"/>
                <a:gd name="T13" fmla="*/ 5 h 11"/>
                <a:gd name="T14" fmla="*/ 0 w 5"/>
                <a:gd name="T15" fmla="*/ 5 h 11"/>
                <a:gd name="T16" fmla="*/ 0 w 5"/>
                <a:gd name="T17" fmla="*/ 5 h 11"/>
                <a:gd name="T18" fmla="*/ 0 w 5"/>
                <a:gd name="T19" fmla="*/ 5 h 11"/>
                <a:gd name="T20" fmla="*/ 0 w 5"/>
                <a:gd name="T21" fmla="*/ 5 h 11"/>
                <a:gd name="T22" fmla="*/ 0 w 5"/>
                <a:gd name="T23" fmla="*/ 5 h 11"/>
                <a:gd name="T24" fmla="*/ 0 w 5"/>
                <a:gd name="T25" fmla="*/ 5 h 11"/>
                <a:gd name="T26" fmla="*/ 0 w 5"/>
                <a:gd name="T27" fmla="*/ 5 h 11"/>
                <a:gd name="T28" fmla="*/ 0 w 5"/>
                <a:gd name="T29" fmla="*/ 5 h 11"/>
                <a:gd name="T30" fmla="*/ 0 w 5"/>
                <a:gd name="T31" fmla="*/ 5 h 11"/>
                <a:gd name="T32" fmla="*/ 0 w 5"/>
                <a:gd name="T33" fmla="*/ 5 h 11"/>
                <a:gd name="T34" fmla="*/ 0 w 5"/>
                <a:gd name="T35" fmla="*/ 5 h 11"/>
                <a:gd name="T36" fmla="*/ 0 w 5"/>
                <a:gd name="T37" fmla="*/ 5 h 11"/>
                <a:gd name="T38" fmla="*/ 0 w 5"/>
                <a:gd name="T39" fmla="*/ 5 h 11"/>
                <a:gd name="T40" fmla="*/ 0 w 5"/>
                <a:gd name="T41" fmla="*/ 5 h 11"/>
                <a:gd name="T42" fmla="*/ 0 w 5"/>
                <a:gd name="T43" fmla="*/ 5 h 11"/>
                <a:gd name="T44" fmla="*/ 0 w 5"/>
                <a:gd name="T45" fmla="*/ 5 h 11"/>
                <a:gd name="T46" fmla="*/ 0 w 5"/>
                <a:gd name="T47" fmla="*/ 5 h 11"/>
                <a:gd name="T48" fmla="*/ 0 w 5"/>
                <a:gd name="T49" fmla="*/ 5 h 11"/>
                <a:gd name="T50" fmla="*/ 0 w 5"/>
                <a:gd name="T51" fmla="*/ 5 h 11"/>
                <a:gd name="T52" fmla="*/ 0 w 5"/>
                <a:gd name="T53" fmla="*/ 5 h 11"/>
                <a:gd name="T54" fmla="*/ 0 w 5"/>
                <a:gd name="T55" fmla="*/ 5 h 11"/>
                <a:gd name="T56" fmla="*/ 0 w 5"/>
                <a:gd name="T57" fmla="*/ 5 h 11"/>
                <a:gd name="T58" fmla="*/ 0 w 5"/>
                <a:gd name="T59" fmla="*/ 5 h 11"/>
                <a:gd name="T60" fmla="*/ 0 w 5"/>
                <a:gd name="T61" fmla="*/ 5 h 11"/>
                <a:gd name="T62" fmla="*/ 0 w 5"/>
                <a:gd name="T63" fmla="*/ 5 h 11"/>
                <a:gd name="T64" fmla="*/ 0 w 5"/>
                <a:gd name="T65" fmla="*/ 5 h 11"/>
                <a:gd name="T66" fmla="*/ 0 w 5"/>
                <a:gd name="T67" fmla="*/ 5 h 11"/>
                <a:gd name="T68" fmla="*/ 0 w 5"/>
                <a:gd name="T69" fmla="*/ 5 h 11"/>
                <a:gd name="T70" fmla="*/ 0 w 5"/>
                <a:gd name="T71" fmla="*/ 5 h 11"/>
                <a:gd name="T72" fmla="*/ 0 w 5"/>
                <a:gd name="T73" fmla="*/ 5 h 11"/>
                <a:gd name="T74" fmla="*/ 0 w 5"/>
                <a:gd name="T75" fmla="*/ 5 h 11"/>
                <a:gd name="T76" fmla="*/ 0 w 5"/>
                <a:gd name="T77" fmla="*/ 0 h 11"/>
                <a:gd name="T78" fmla="*/ 0 w 5"/>
                <a:gd name="T79" fmla="*/ 0 h 11"/>
                <a:gd name="T80" fmla="*/ 5 w 5"/>
                <a:gd name="T81" fmla="*/ 0 h 11"/>
                <a:gd name="T82" fmla="*/ 5 w 5"/>
                <a:gd name="T83" fmla="*/ 0 h 11"/>
                <a:gd name="T84" fmla="*/ 5 w 5"/>
                <a:gd name="T85" fmla="*/ 0 h 11"/>
                <a:gd name="T86" fmla="*/ 5 w 5"/>
                <a:gd name="T87" fmla="*/ 0 h 11"/>
                <a:gd name="T88" fmla="*/ 5 w 5"/>
                <a:gd name="T89" fmla="*/ 0 h 11"/>
                <a:gd name="T90" fmla="*/ 5 w 5"/>
                <a:gd name="T91" fmla="*/ 0 h 11"/>
                <a:gd name="T92" fmla="*/ 5 w 5"/>
                <a:gd name="T93" fmla="*/ 0 h 11"/>
                <a:gd name="T94" fmla="*/ 5 w 5"/>
                <a:gd name="T95" fmla="*/ 0 h 11"/>
                <a:gd name="T96" fmla="*/ 5 w 5"/>
                <a:gd name="T97" fmla="*/ 0 h 11"/>
                <a:gd name="T98" fmla="*/ 5 w 5"/>
                <a:gd name="T99" fmla="*/ 0 h 11"/>
                <a:gd name="T100" fmla="*/ 5 w 5"/>
                <a:gd name="T101" fmla="*/ 0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1"/>
                <a:gd name="T155" fmla="*/ 5 w 5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1">
                  <a:moveTo>
                    <a:pt x="0" y="11"/>
                  </a:moveTo>
                  <a:lnTo>
                    <a:pt x="0" y="11"/>
                  </a:ln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6" name="Freeform 153"/>
            <p:cNvSpPr>
              <a:spLocks/>
            </p:cNvSpPr>
            <p:nvPr/>
          </p:nvSpPr>
          <p:spPr bwMode="auto">
            <a:xfrm>
              <a:off x="5111" y="2920"/>
              <a:ext cx="5" cy="6"/>
            </a:xfrm>
            <a:custGeom>
              <a:avLst/>
              <a:gdLst>
                <a:gd name="T0" fmla="*/ 0 w 5"/>
                <a:gd name="T1" fmla="*/ 6 h 6"/>
                <a:gd name="T2" fmla="*/ 0 w 5"/>
                <a:gd name="T3" fmla="*/ 6 h 6"/>
                <a:gd name="T4" fmla="*/ 0 w 5"/>
                <a:gd name="T5" fmla="*/ 6 h 6"/>
                <a:gd name="T6" fmla="*/ 0 w 5"/>
                <a:gd name="T7" fmla="*/ 6 h 6"/>
                <a:gd name="T8" fmla="*/ 0 w 5"/>
                <a:gd name="T9" fmla="*/ 6 h 6"/>
                <a:gd name="T10" fmla="*/ 0 w 5"/>
                <a:gd name="T11" fmla="*/ 6 h 6"/>
                <a:gd name="T12" fmla="*/ 0 w 5"/>
                <a:gd name="T13" fmla="*/ 6 h 6"/>
                <a:gd name="T14" fmla="*/ 0 w 5"/>
                <a:gd name="T15" fmla="*/ 6 h 6"/>
                <a:gd name="T16" fmla="*/ 0 w 5"/>
                <a:gd name="T17" fmla="*/ 6 h 6"/>
                <a:gd name="T18" fmla="*/ 0 w 5"/>
                <a:gd name="T19" fmla="*/ 6 h 6"/>
                <a:gd name="T20" fmla="*/ 0 w 5"/>
                <a:gd name="T21" fmla="*/ 6 h 6"/>
                <a:gd name="T22" fmla="*/ 0 w 5"/>
                <a:gd name="T23" fmla="*/ 6 h 6"/>
                <a:gd name="T24" fmla="*/ 0 w 5"/>
                <a:gd name="T25" fmla="*/ 6 h 6"/>
                <a:gd name="T26" fmla="*/ 0 w 5"/>
                <a:gd name="T27" fmla="*/ 6 h 6"/>
                <a:gd name="T28" fmla="*/ 0 w 5"/>
                <a:gd name="T29" fmla="*/ 6 h 6"/>
                <a:gd name="T30" fmla="*/ 0 w 5"/>
                <a:gd name="T31" fmla="*/ 6 h 6"/>
                <a:gd name="T32" fmla="*/ 0 w 5"/>
                <a:gd name="T33" fmla="*/ 6 h 6"/>
                <a:gd name="T34" fmla="*/ 0 w 5"/>
                <a:gd name="T35" fmla="*/ 6 h 6"/>
                <a:gd name="T36" fmla="*/ 0 w 5"/>
                <a:gd name="T37" fmla="*/ 6 h 6"/>
                <a:gd name="T38" fmla="*/ 0 w 5"/>
                <a:gd name="T39" fmla="*/ 6 h 6"/>
                <a:gd name="T40" fmla="*/ 0 w 5"/>
                <a:gd name="T41" fmla="*/ 6 h 6"/>
                <a:gd name="T42" fmla="*/ 0 w 5"/>
                <a:gd name="T43" fmla="*/ 6 h 6"/>
                <a:gd name="T44" fmla="*/ 0 w 5"/>
                <a:gd name="T45" fmla="*/ 6 h 6"/>
                <a:gd name="T46" fmla="*/ 0 w 5"/>
                <a:gd name="T47" fmla="*/ 6 h 6"/>
                <a:gd name="T48" fmla="*/ 0 w 5"/>
                <a:gd name="T49" fmla="*/ 6 h 6"/>
                <a:gd name="T50" fmla="*/ 0 w 5"/>
                <a:gd name="T51" fmla="*/ 6 h 6"/>
                <a:gd name="T52" fmla="*/ 0 w 5"/>
                <a:gd name="T53" fmla="*/ 6 h 6"/>
                <a:gd name="T54" fmla="*/ 0 w 5"/>
                <a:gd name="T55" fmla="*/ 6 h 6"/>
                <a:gd name="T56" fmla="*/ 0 w 5"/>
                <a:gd name="T57" fmla="*/ 6 h 6"/>
                <a:gd name="T58" fmla="*/ 0 w 5"/>
                <a:gd name="T59" fmla="*/ 0 h 6"/>
                <a:gd name="T60" fmla="*/ 5 w 5"/>
                <a:gd name="T61" fmla="*/ 0 h 6"/>
                <a:gd name="T62" fmla="*/ 5 w 5"/>
                <a:gd name="T63" fmla="*/ 0 h 6"/>
                <a:gd name="T64" fmla="*/ 5 w 5"/>
                <a:gd name="T65" fmla="*/ 0 h 6"/>
                <a:gd name="T66" fmla="*/ 5 w 5"/>
                <a:gd name="T67" fmla="*/ 0 h 6"/>
                <a:gd name="T68" fmla="*/ 5 w 5"/>
                <a:gd name="T69" fmla="*/ 0 h 6"/>
                <a:gd name="T70" fmla="*/ 5 w 5"/>
                <a:gd name="T71" fmla="*/ 0 h 6"/>
                <a:gd name="T72" fmla="*/ 5 w 5"/>
                <a:gd name="T73" fmla="*/ 0 h 6"/>
                <a:gd name="T74" fmla="*/ 5 w 5"/>
                <a:gd name="T75" fmla="*/ 0 h 6"/>
                <a:gd name="T76" fmla="*/ 5 w 5"/>
                <a:gd name="T77" fmla="*/ 0 h 6"/>
                <a:gd name="T78" fmla="*/ 5 w 5"/>
                <a:gd name="T79" fmla="*/ 0 h 6"/>
                <a:gd name="T80" fmla="*/ 5 w 5"/>
                <a:gd name="T81" fmla="*/ 0 h 6"/>
                <a:gd name="T82" fmla="*/ 5 w 5"/>
                <a:gd name="T83" fmla="*/ 0 h 6"/>
                <a:gd name="T84" fmla="*/ 5 w 5"/>
                <a:gd name="T85" fmla="*/ 0 h 6"/>
                <a:gd name="T86" fmla="*/ 5 w 5"/>
                <a:gd name="T87" fmla="*/ 0 h 6"/>
                <a:gd name="T88" fmla="*/ 5 w 5"/>
                <a:gd name="T89" fmla="*/ 0 h 6"/>
                <a:gd name="T90" fmla="*/ 5 w 5"/>
                <a:gd name="T91" fmla="*/ 0 h 6"/>
                <a:gd name="T92" fmla="*/ 5 w 5"/>
                <a:gd name="T93" fmla="*/ 0 h 6"/>
                <a:gd name="T94" fmla="*/ 5 w 5"/>
                <a:gd name="T95" fmla="*/ 0 h 6"/>
                <a:gd name="T96" fmla="*/ 5 w 5"/>
                <a:gd name="T97" fmla="*/ 0 h 6"/>
                <a:gd name="T98" fmla="*/ 5 w 5"/>
                <a:gd name="T99" fmla="*/ 0 h 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6"/>
                <a:gd name="T152" fmla="*/ 5 w 5"/>
                <a:gd name="T153" fmla="*/ 6 h 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6">
                  <a:moveTo>
                    <a:pt x="0" y="6"/>
                  </a:moveTo>
                  <a:lnTo>
                    <a:pt x="0" y="6"/>
                  </a:ln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7" name="Freeform 154"/>
            <p:cNvSpPr>
              <a:spLocks/>
            </p:cNvSpPr>
            <p:nvPr/>
          </p:nvSpPr>
          <p:spPr bwMode="auto">
            <a:xfrm>
              <a:off x="5116" y="2920"/>
              <a:ext cx="5" cy="1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0 w 5"/>
                <a:gd name="T5" fmla="*/ 0 h 1"/>
                <a:gd name="T6" fmla="*/ 0 w 5"/>
                <a:gd name="T7" fmla="*/ 0 h 1"/>
                <a:gd name="T8" fmla="*/ 0 w 5"/>
                <a:gd name="T9" fmla="*/ 0 h 1"/>
                <a:gd name="T10" fmla="*/ 0 w 5"/>
                <a:gd name="T11" fmla="*/ 0 h 1"/>
                <a:gd name="T12" fmla="*/ 0 w 5"/>
                <a:gd name="T13" fmla="*/ 0 h 1"/>
                <a:gd name="T14" fmla="*/ 0 w 5"/>
                <a:gd name="T15" fmla="*/ 0 h 1"/>
                <a:gd name="T16" fmla="*/ 0 w 5"/>
                <a:gd name="T17" fmla="*/ 0 h 1"/>
                <a:gd name="T18" fmla="*/ 0 w 5"/>
                <a:gd name="T19" fmla="*/ 0 h 1"/>
                <a:gd name="T20" fmla="*/ 0 w 5"/>
                <a:gd name="T21" fmla="*/ 0 h 1"/>
                <a:gd name="T22" fmla="*/ 0 w 5"/>
                <a:gd name="T23" fmla="*/ 0 h 1"/>
                <a:gd name="T24" fmla="*/ 0 w 5"/>
                <a:gd name="T25" fmla="*/ 0 h 1"/>
                <a:gd name="T26" fmla="*/ 0 w 5"/>
                <a:gd name="T27" fmla="*/ 0 h 1"/>
                <a:gd name="T28" fmla="*/ 0 w 5"/>
                <a:gd name="T29" fmla="*/ 0 h 1"/>
                <a:gd name="T30" fmla="*/ 0 w 5"/>
                <a:gd name="T31" fmla="*/ 0 h 1"/>
                <a:gd name="T32" fmla="*/ 0 w 5"/>
                <a:gd name="T33" fmla="*/ 0 h 1"/>
                <a:gd name="T34" fmla="*/ 0 w 5"/>
                <a:gd name="T35" fmla="*/ 0 h 1"/>
                <a:gd name="T36" fmla="*/ 0 w 5"/>
                <a:gd name="T37" fmla="*/ 0 h 1"/>
                <a:gd name="T38" fmla="*/ 0 w 5"/>
                <a:gd name="T39" fmla="*/ 0 h 1"/>
                <a:gd name="T40" fmla="*/ 0 w 5"/>
                <a:gd name="T41" fmla="*/ 0 h 1"/>
                <a:gd name="T42" fmla="*/ 5 w 5"/>
                <a:gd name="T43" fmla="*/ 0 h 1"/>
                <a:gd name="T44" fmla="*/ 5 w 5"/>
                <a:gd name="T45" fmla="*/ 0 h 1"/>
                <a:gd name="T46" fmla="*/ 5 w 5"/>
                <a:gd name="T47" fmla="*/ 0 h 1"/>
                <a:gd name="T48" fmla="*/ 5 w 5"/>
                <a:gd name="T49" fmla="*/ 0 h 1"/>
                <a:gd name="T50" fmla="*/ 5 w 5"/>
                <a:gd name="T51" fmla="*/ 0 h 1"/>
                <a:gd name="T52" fmla="*/ 5 w 5"/>
                <a:gd name="T53" fmla="*/ 0 h 1"/>
                <a:gd name="T54" fmla="*/ 5 w 5"/>
                <a:gd name="T55" fmla="*/ 0 h 1"/>
                <a:gd name="T56" fmla="*/ 5 w 5"/>
                <a:gd name="T57" fmla="*/ 0 h 1"/>
                <a:gd name="T58" fmla="*/ 5 w 5"/>
                <a:gd name="T59" fmla="*/ 0 h 1"/>
                <a:gd name="T60" fmla="*/ 5 w 5"/>
                <a:gd name="T61" fmla="*/ 0 h 1"/>
                <a:gd name="T62" fmla="*/ 5 w 5"/>
                <a:gd name="T63" fmla="*/ 0 h 1"/>
                <a:gd name="T64" fmla="*/ 5 w 5"/>
                <a:gd name="T65" fmla="*/ 0 h 1"/>
                <a:gd name="T66" fmla="*/ 5 w 5"/>
                <a:gd name="T67" fmla="*/ 0 h 1"/>
                <a:gd name="T68" fmla="*/ 5 w 5"/>
                <a:gd name="T69" fmla="*/ 0 h 1"/>
                <a:gd name="T70" fmla="*/ 5 w 5"/>
                <a:gd name="T71" fmla="*/ 0 h 1"/>
                <a:gd name="T72" fmla="*/ 5 w 5"/>
                <a:gd name="T73" fmla="*/ 0 h 1"/>
                <a:gd name="T74" fmla="*/ 5 w 5"/>
                <a:gd name="T75" fmla="*/ 0 h 1"/>
                <a:gd name="T76" fmla="*/ 5 w 5"/>
                <a:gd name="T77" fmla="*/ 0 h 1"/>
                <a:gd name="T78" fmla="*/ 5 w 5"/>
                <a:gd name="T79" fmla="*/ 0 h 1"/>
                <a:gd name="T80" fmla="*/ 5 w 5"/>
                <a:gd name="T81" fmla="*/ 0 h 1"/>
                <a:gd name="T82" fmla="*/ 5 w 5"/>
                <a:gd name="T83" fmla="*/ 0 h 1"/>
                <a:gd name="T84" fmla="*/ 5 w 5"/>
                <a:gd name="T85" fmla="*/ 0 h 1"/>
                <a:gd name="T86" fmla="*/ 5 w 5"/>
                <a:gd name="T87" fmla="*/ 0 h 1"/>
                <a:gd name="T88" fmla="*/ 5 w 5"/>
                <a:gd name="T89" fmla="*/ 0 h 1"/>
                <a:gd name="T90" fmla="*/ 5 w 5"/>
                <a:gd name="T91" fmla="*/ 0 h 1"/>
                <a:gd name="T92" fmla="*/ 5 w 5"/>
                <a:gd name="T93" fmla="*/ 0 h 1"/>
                <a:gd name="T94" fmla="*/ 5 w 5"/>
                <a:gd name="T95" fmla="*/ 0 h 1"/>
                <a:gd name="T96" fmla="*/ 5 w 5"/>
                <a:gd name="T97" fmla="*/ 0 h 1"/>
                <a:gd name="T98" fmla="*/ 5 w 5"/>
                <a:gd name="T99" fmla="*/ 0 h 1"/>
                <a:gd name="T100" fmla="*/ 5 w 5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"/>
                <a:gd name="T155" fmla="*/ 5 w 5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8" name="Freeform 155"/>
            <p:cNvSpPr>
              <a:spLocks/>
            </p:cNvSpPr>
            <p:nvPr/>
          </p:nvSpPr>
          <p:spPr bwMode="auto">
            <a:xfrm>
              <a:off x="5121" y="2920"/>
              <a:ext cx="4" cy="1"/>
            </a:xfrm>
            <a:custGeom>
              <a:avLst/>
              <a:gdLst>
                <a:gd name="T0" fmla="*/ 0 w 4"/>
                <a:gd name="T1" fmla="*/ 0 h 1"/>
                <a:gd name="T2" fmla="*/ 0 w 4"/>
                <a:gd name="T3" fmla="*/ 0 h 1"/>
                <a:gd name="T4" fmla="*/ 0 w 4"/>
                <a:gd name="T5" fmla="*/ 0 h 1"/>
                <a:gd name="T6" fmla="*/ 0 w 4"/>
                <a:gd name="T7" fmla="*/ 0 h 1"/>
                <a:gd name="T8" fmla="*/ 0 w 4"/>
                <a:gd name="T9" fmla="*/ 0 h 1"/>
                <a:gd name="T10" fmla="*/ 0 w 4"/>
                <a:gd name="T11" fmla="*/ 0 h 1"/>
                <a:gd name="T12" fmla="*/ 0 w 4"/>
                <a:gd name="T13" fmla="*/ 0 h 1"/>
                <a:gd name="T14" fmla="*/ 0 w 4"/>
                <a:gd name="T15" fmla="*/ 0 h 1"/>
                <a:gd name="T16" fmla="*/ 0 w 4"/>
                <a:gd name="T17" fmla="*/ 0 h 1"/>
                <a:gd name="T18" fmla="*/ 0 w 4"/>
                <a:gd name="T19" fmla="*/ 0 h 1"/>
                <a:gd name="T20" fmla="*/ 0 w 4"/>
                <a:gd name="T21" fmla="*/ 0 h 1"/>
                <a:gd name="T22" fmla="*/ 0 w 4"/>
                <a:gd name="T23" fmla="*/ 0 h 1"/>
                <a:gd name="T24" fmla="*/ 4 w 4"/>
                <a:gd name="T25" fmla="*/ 0 h 1"/>
                <a:gd name="T26" fmla="*/ 4 w 4"/>
                <a:gd name="T27" fmla="*/ 0 h 1"/>
                <a:gd name="T28" fmla="*/ 4 w 4"/>
                <a:gd name="T29" fmla="*/ 0 h 1"/>
                <a:gd name="T30" fmla="*/ 4 w 4"/>
                <a:gd name="T31" fmla="*/ 0 h 1"/>
                <a:gd name="T32" fmla="*/ 4 w 4"/>
                <a:gd name="T33" fmla="*/ 0 h 1"/>
                <a:gd name="T34" fmla="*/ 4 w 4"/>
                <a:gd name="T35" fmla="*/ 0 h 1"/>
                <a:gd name="T36" fmla="*/ 4 w 4"/>
                <a:gd name="T37" fmla="*/ 0 h 1"/>
                <a:gd name="T38" fmla="*/ 4 w 4"/>
                <a:gd name="T39" fmla="*/ 0 h 1"/>
                <a:gd name="T40" fmla="*/ 4 w 4"/>
                <a:gd name="T41" fmla="*/ 0 h 1"/>
                <a:gd name="T42" fmla="*/ 4 w 4"/>
                <a:gd name="T43" fmla="*/ 0 h 1"/>
                <a:gd name="T44" fmla="*/ 4 w 4"/>
                <a:gd name="T45" fmla="*/ 0 h 1"/>
                <a:gd name="T46" fmla="*/ 4 w 4"/>
                <a:gd name="T47" fmla="*/ 0 h 1"/>
                <a:gd name="T48" fmla="*/ 4 w 4"/>
                <a:gd name="T49" fmla="*/ 0 h 1"/>
                <a:gd name="T50" fmla="*/ 4 w 4"/>
                <a:gd name="T51" fmla="*/ 0 h 1"/>
                <a:gd name="T52" fmla="*/ 4 w 4"/>
                <a:gd name="T53" fmla="*/ 0 h 1"/>
                <a:gd name="T54" fmla="*/ 4 w 4"/>
                <a:gd name="T55" fmla="*/ 0 h 1"/>
                <a:gd name="T56" fmla="*/ 4 w 4"/>
                <a:gd name="T57" fmla="*/ 0 h 1"/>
                <a:gd name="T58" fmla="*/ 4 w 4"/>
                <a:gd name="T59" fmla="*/ 0 h 1"/>
                <a:gd name="T60" fmla="*/ 4 w 4"/>
                <a:gd name="T61" fmla="*/ 0 h 1"/>
                <a:gd name="T62" fmla="*/ 4 w 4"/>
                <a:gd name="T63" fmla="*/ 0 h 1"/>
                <a:gd name="T64" fmla="*/ 4 w 4"/>
                <a:gd name="T65" fmla="*/ 0 h 1"/>
                <a:gd name="T66" fmla="*/ 4 w 4"/>
                <a:gd name="T67" fmla="*/ 0 h 1"/>
                <a:gd name="T68" fmla="*/ 4 w 4"/>
                <a:gd name="T69" fmla="*/ 0 h 1"/>
                <a:gd name="T70" fmla="*/ 4 w 4"/>
                <a:gd name="T71" fmla="*/ 0 h 1"/>
                <a:gd name="T72" fmla="*/ 4 w 4"/>
                <a:gd name="T73" fmla="*/ 0 h 1"/>
                <a:gd name="T74" fmla="*/ 4 w 4"/>
                <a:gd name="T75" fmla="*/ 0 h 1"/>
                <a:gd name="T76" fmla="*/ 4 w 4"/>
                <a:gd name="T77" fmla="*/ 0 h 1"/>
                <a:gd name="T78" fmla="*/ 4 w 4"/>
                <a:gd name="T79" fmla="*/ 0 h 1"/>
                <a:gd name="T80" fmla="*/ 4 w 4"/>
                <a:gd name="T81" fmla="*/ 0 h 1"/>
                <a:gd name="T82" fmla="*/ 4 w 4"/>
                <a:gd name="T83" fmla="*/ 0 h 1"/>
                <a:gd name="T84" fmla="*/ 4 w 4"/>
                <a:gd name="T85" fmla="*/ 0 h 1"/>
                <a:gd name="T86" fmla="*/ 4 w 4"/>
                <a:gd name="T87" fmla="*/ 0 h 1"/>
                <a:gd name="T88" fmla="*/ 4 w 4"/>
                <a:gd name="T89" fmla="*/ 0 h 1"/>
                <a:gd name="T90" fmla="*/ 4 w 4"/>
                <a:gd name="T91" fmla="*/ 0 h 1"/>
                <a:gd name="T92" fmla="*/ 4 w 4"/>
                <a:gd name="T93" fmla="*/ 0 h 1"/>
                <a:gd name="T94" fmla="*/ 4 w 4"/>
                <a:gd name="T95" fmla="*/ 0 h 1"/>
                <a:gd name="T96" fmla="*/ 4 w 4"/>
                <a:gd name="T97" fmla="*/ 0 h 1"/>
                <a:gd name="T98" fmla="*/ 4 w 4"/>
                <a:gd name="T99" fmla="*/ 0 h 1"/>
                <a:gd name="T100" fmla="*/ 4 w 4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1"/>
                <a:gd name="T155" fmla="*/ 4 w 4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1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9" name="Freeform 156"/>
            <p:cNvSpPr>
              <a:spLocks/>
            </p:cNvSpPr>
            <p:nvPr/>
          </p:nvSpPr>
          <p:spPr bwMode="auto">
            <a:xfrm>
              <a:off x="5125" y="2920"/>
              <a:ext cx="5" cy="1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0 w 5"/>
                <a:gd name="T5" fmla="*/ 0 h 1"/>
                <a:gd name="T6" fmla="*/ 0 w 5"/>
                <a:gd name="T7" fmla="*/ 0 h 1"/>
                <a:gd name="T8" fmla="*/ 0 w 5"/>
                <a:gd name="T9" fmla="*/ 0 h 1"/>
                <a:gd name="T10" fmla="*/ 0 w 5"/>
                <a:gd name="T11" fmla="*/ 0 h 1"/>
                <a:gd name="T12" fmla="*/ 0 w 5"/>
                <a:gd name="T13" fmla="*/ 0 h 1"/>
                <a:gd name="T14" fmla="*/ 0 w 5"/>
                <a:gd name="T15" fmla="*/ 0 h 1"/>
                <a:gd name="T16" fmla="*/ 0 w 5"/>
                <a:gd name="T17" fmla="*/ 0 h 1"/>
                <a:gd name="T18" fmla="*/ 0 w 5"/>
                <a:gd name="T19" fmla="*/ 0 h 1"/>
                <a:gd name="T20" fmla="*/ 0 w 5"/>
                <a:gd name="T21" fmla="*/ 0 h 1"/>
                <a:gd name="T22" fmla="*/ 0 w 5"/>
                <a:gd name="T23" fmla="*/ 0 h 1"/>
                <a:gd name="T24" fmla="*/ 0 w 5"/>
                <a:gd name="T25" fmla="*/ 0 h 1"/>
                <a:gd name="T26" fmla="*/ 0 w 5"/>
                <a:gd name="T27" fmla="*/ 0 h 1"/>
                <a:gd name="T28" fmla="*/ 0 w 5"/>
                <a:gd name="T29" fmla="*/ 0 h 1"/>
                <a:gd name="T30" fmla="*/ 0 w 5"/>
                <a:gd name="T31" fmla="*/ 0 h 1"/>
                <a:gd name="T32" fmla="*/ 0 w 5"/>
                <a:gd name="T33" fmla="*/ 0 h 1"/>
                <a:gd name="T34" fmla="*/ 0 w 5"/>
                <a:gd name="T35" fmla="*/ 0 h 1"/>
                <a:gd name="T36" fmla="*/ 0 w 5"/>
                <a:gd name="T37" fmla="*/ 0 h 1"/>
                <a:gd name="T38" fmla="*/ 0 w 5"/>
                <a:gd name="T39" fmla="*/ 0 h 1"/>
                <a:gd name="T40" fmla="*/ 0 w 5"/>
                <a:gd name="T41" fmla="*/ 0 h 1"/>
                <a:gd name="T42" fmla="*/ 0 w 5"/>
                <a:gd name="T43" fmla="*/ 0 h 1"/>
                <a:gd name="T44" fmla="*/ 0 w 5"/>
                <a:gd name="T45" fmla="*/ 0 h 1"/>
                <a:gd name="T46" fmla="*/ 0 w 5"/>
                <a:gd name="T47" fmla="*/ 0 h 1"/>
                <a:gd name="T48" fmla="*/ 0 w 5"/>
                <a:gd name="T49" fmla="*/ 0 h 1"/>
                <a:gd name="T50" fmla="*/ 0 w 5"/>
                <a:gd name="T51" fmla="*/ 0 h 1"/>
                <a:gd name="T52" fmla="*/ 5 w 5"/>
                <a:gd name="T53" fmla="*/ 0 h 1"/>
                <a:gd name="T54" fmla="*/ 5 w 5"/>
                <a:gd name="T55" fmla="*/ 0 h 1"/>
                <a:gd name="T56" fmla="*/ 5 w 5"/>
                <a:gd name="T57" fmla="*/ 0 h 1"/>
                <a:gd name="T58" fmla="*/ 5 w 5"/>
                <a:gd name="T59" fmla="*/ 0 h 1"/>
                <a:gd name="T60" fmla="*/ 5 w 5"/>
                <a:gd name="T61" fmla="*/ 0 h 1"/>
                <a:gd name="T62" fmla="*/ 5 w 5"/>
                <a:gd name="T63" fmla="*/ 0 h 1"/>
                <a:gd name="T64" fmla="*/ 5 w 5"/>
                <a:gd name="T65" fmla="*/ 0 h 1"/>
                <a:gd name="T66" fmla="*/ 5 w 5"/>
                <a:gd name="T67" fmla="*/ 0 h 1"/>
                <a:gd name="T68" fmla="*/ 5 w 5"/>
                <a:gd name="T69" fmla="*/ 0 h 1"/>
                <a:gd name="T70" fmla="*/ 5 w 5"/>
                <a:gd name="T71" fmla="*/ 0 h 1"/>
                <a:gd name="T72" fmla="*/ 5 w 5"/>
                <a:gd name="T73" fmla="*/ 0 h 1"/>
                <a:gd name="T74" fmla="*/ 5 w 5"/>
                <a:gd name="T75" fmla="*/ 0 h 1"/>
                <a:gd name="T76" fmla="*/ 5 w 5"/>
                <a:gd name="T77" fmla="*/ 0 h 1"/>
                <a:gd name="T78" fmla="*/ 5 w 5"/>
                <a:gd name="T79" fmla="*/ 0 h 1"/>
                <a:gd name="T80" fmla="*/ 5 w 5"/>
                <a:gd name="T81" fmla="*/ 0 h 1"/>
                <a:gd name="T82" fmla="*/ 5 w 5"/>
                <a:gd name="T83" fmla="*/ 0 h 1"/>
                <a:gd name="T84" fmla="*/ 5 w 5"/>
                <a:gd name="T85" fmla="*/ 0 h 1"/>
                <a:gd name="T86" fmla="*/ 5 w 5"/>
                <a:gd name="T87" fmla="*/ 0 h 1"/>
                <a:gd name="T88" fmla="*/ 5 w 5"/>
                <a:gd name="T89" fmla="*/ 0 h 1"/>
                <a:gd name="T90" fmla="*/ 5 w 5"/>
                <a:gd name="T91" fmla="*/ 0 h 1"/>
                <a:gd name="T92" fmla="*/ 5 w 5"/>
                <a:gd name="T93" fmla="*/ 0 h 1"/>
                <a:gd name="T94" fmla="*/ 5 w 5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5"/>
                <a:gd name="T145" fmla="*/ 0 h 1"/>
                <a:gd name="T146" fmla="*/ 5 w 5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0" name="Freeform 157"/>
            <p:cNvSpPr>
              <a:spLocks/>
            </p:cNvSpPr>
            <p:nvPr/>
          </p:nvSpPr>
          <p:spPr bwMode="auto">
            <a:xfrm>
              <a:off x="5130" y="2920"/>
              <a:ext cx="5" cy="6"/>
            </a:xfrm>
            <a:custGeom>
              <a:avLst/>
              <a:gdLst>
                <a:gd name="T0" fmla="*/ 0 w 5"/>
                <a:gd name="T1" fmla="*/ 0 h 6"/>
                <a:gd name="T2" fmla="*/ 0 w 5"/>
                <a:gd name="T3" fmla="*/ 0 h 6"/>
                <a:gd name="T4" fmla="*/ 0 w 5"/>
                <a:gd name="T5" fmla="*/ 0 h 6"/>
                <a:gd name="T6" fmla="*/ 0 w 5"/>
                <a:gd name="T7" fmla="*/ 0 h 6"/>
                <a:gd name="T8" fmla="*/ 0 w 5"/>
                <a:gd name="T9" fmla="*/ 0 h 6"/>
                <a:gd name="T10" fmla="*/ 0 w 5"/>
                <a:gd name="T11" fmla="*/ 0 h 6"/>
                <a:gd name="T12" fmla="*/ 0 w 5"/>
                <a:gd name="T13" fmla="*/ 0 h 6"/>
                <a:gd name="T14" fmla="*/ 0 w 5"/>
                <a:gd name="T15" fmla="*/ 0 h 6"/>
                <a:gd name="T16" fmla="*/ 0 w 5"/>
                <a:gd name="T17" fmla="*/ 0 h 6"/>
                <a:gd name="T18" fmla="*/ 0 w 5"/>
                <a:gd name="T19" fmla="*/ 0 h 6"/>
                <a:gd name="T20" fmla="*/ 0 w 5"/>
                <a:gd name="T21" fmla="*/ 0 h 6"/>
                <a:gd name="T22" fmla="*/ 0 w 5"/>
                <a:gd name="T23" fmla="*/ 0 h 6"/>
                <a:gd name="T24" fmla="*/ 0 w 5"/>
                <a:gd name="T25" fmla="*/ 0 h 6"/>
                <a:gd name="T26" fmla="*/ 0 w 5"/>
                <a:gd name="T27" fmla="*/ 0 h 6"/>
                <a:gd name="T28" fmla="*/ 0 w 5"/>
                <a:gd name="T29" fmla="*/ 0 h 6"/>
                <a:gd name="T30" fmla="*/ 0 w 5"/>
                <a:gd name="T31" fmla="*/ 0 h 6"/>
                <a:gd name="T32" fmla="*/ 0 w 5"/>
                <a:gd name="T33" fmla="*/ 0 h 6"/>
                <a:gd name="T34" fmla="*/ 0 w 5"/>
                <a:gd name="T35" fmla="*/ 0 h 6"/>
                <a:gd name="T36" fmla="*/ 0 w 5"/>
                <a:gd name="T37" fmla="*/ 0 h 6"/>
                <a:gd name="T38" fmla="*/ 5 w 5"/>
                <a:gd name="T39" fmla="*/ 0 h 6"/>
                <a:gd name="T40" fmla="*/ 5 w 5"/>
                <a:gd name="T41" fmla="*/ 0 h 6"/>
                <a:gd name="T42" fmla="*/ 5 w 5"/>
                <a:gd name="T43" fmla="*/ 0 h 6"/>
                <a:gd name="T44" fmla="*/ 5 w 5"/>
                <a:gd name="T45" fmla="*/ 0 h 6"/>
                <a:gd name="T46" fmla="*/ 5 w 5"/>
                <a:gd name="T47" fmla="*/ 0 h 6"/>
                <a:gd name="T48" fmla="*/ 5 w 5"/>
                <a:gd name="T49" fmla="*/ 0 h 6"/>
                <a:gd name="T50" fmla="*/ 5 w 5"/>
                <a:gd name="T51" fmla="*/ 0 h 6"/>
                <a:gd name="T52" fmla="*/ 5 w 5"/>
                <a:gd name="T53" fmla="*/ 0 h 6"/>
                <a:gd name="T54" fmla="*/ 5 w 5"/>
                <a:gd name="T55" fmla="*/ 0 h 6"/>
                <a:gd name="T56" fmla="*/ 5 w 5"/>
                <a:gd name="T57" fmla="*/ 0 h 6"/>
                <a:gd name="T58" fmla="*/ 5 w 5"/>
                <a:gd name="T59" fmla="*/ 0 h 6"/>
                <a:gd name="T60" fmla="*/ 5 w 5"/>
                <a:gd name="T61" fmla="*/ 0 h 6"/>
                <a:gd name="T62" fmla="*/ 5 w 5"/>
                <a:gd name="T63" fmla="*/ 0 h 6"/>
                <a:gd name="T64" fmla="*/ 5 w 5"/>
                <a:gd name="T65" fmla="*/ 0 h 6"/>
                <a:gd name="T66" fmla="*/ 5 w 5"/>
                <a:gd name="T67" fmla="*/ 0 h 6"/>
                <a:gd name="T68" fmla="*/ 5 w 5"/>
                <a:gd name="T69" fmla="*/ 0 h 6"/>
                <a:gd name="T70" fmla="*/ 5 w 5"/>
                <a:gd name="T71" fmla="*/ 0 h 6"/>
                <a:gd name="T72" fmla="*/ 5 w 5"/>
                <a:gd name="T73" fmla="*/ 0 h 6"/>
                <a:gd name="T74" fmla="*/ 5 w 5"/>
                <a:gd name="T75" fmla="*/ 0 h 6"/>
                <a:gd name="T76" fmla="*/ 5 w 5"/>
                <a:gd name="T77" fmla="*/ 0 h 6"/>
                <a:gd name="T78" fmla="*/ 5 w 5"/>
                <a:gd name="T79" fmla="*/ 0 h 6"/>
                <a:gd name="T80" fmla="*/ 5 w 5"/>
                <a:gd name="T81" fmla="*/ 0 h 6"/>
                <a:gd name="T82" fmla="*/ 5 w 5"/>
                <a:gd name="T83" fmla="*/ 0 h 6"/>
                <a:gd name="T84" fmla="*/ 5 w 5"/>
                <a:gd name="T85" fmla="*/ 0 h 6"/>
                <a:gd name="T86" fmla="*/ 5 w 5"/>
                <a:gd name="T87" fmla="*/ 6 h 6"/>
                <a:gd name="T88" fmla="*/ 5 w 5"/>
                <a:gd name="T89" fmla="*/ 6 h 6"/>
                <a:gd name="T90" fmla="*/ 5 w 5"/>
                <a:gd name="T91" fmla="*/ 6 h 6"/>
                <a:gd name="T92" fmla="*/ 5 w 5"/>
                <a:gd name="T93" fmla="*/ 6 h 6"/>
                <a:gd name="T94" fmla="*/ 5 w 5"/>
                <a:gd name="T95" fmla="*/ 6 h 6"/>
                <a:gd name="T96" fmla="*/ 5 w 5"/>
                <a:gd name="T97" fmla="*/ 6 h 6"/>
                <a:gd name="T98" fmla="*/ 5 w 5"/>
                <a:gd name="T99" fmla="*/ 6 h 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6"/>
                <a:gd name="T152" fmla="*/ 5 w 5"/>
                <a:gd name="T153" fmla="*/ 6 h 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6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1" name="Freeform 158"/>
            <p:cNvSpPr>
              <a:spLocks/>
            </p:cNvSpPr>
            <p:nvPr/>
          </p:nvSpPr>
          <p:spPr bwMode="auto">
            <a:xfrm>
              <a:off x="5135" y="2926"/>
              <a:ext cx="5" cy="5"/>
            </a:xfrm>
            <a:custGeom>
              <a:avLst/>
              <a:gdLst>
                <a:gd name="T0" fmla="*/ 0 w 5"/>
                <a:gd name="T1" fmla="*/ 0 h 5"/>
                <a:gd name="T2" fmla="*/ 0 w 5"/>
                <a:gd name="T3" fmla="*/ 0 h 5"/>
                <a:gd name="T4" fmla="*/ 0 w 5"/>
                <a:gd name="T5" fmla="*/ 0 h 5"/>
                <a:gd name="T6" fmla="*/ 0 w 5"/>
                <a:gd name="T7" fmla="*/ 0 h 5"/>
                <a:gd name="T8" fmla="*/ 0 w 5"/>
                <a:gd name="T9" fmla="*/ 0 h 5"/>
                <a:gd name="T10" fmla="*/ 0 w 5"/>
                <a:gd name="T11" fmla="*/ 0 h 5"/>
                <a:gd name="T12" fmla="*/ 0 w 5"/>
                <a:gd name="T13" fmla="*/ 0 h 5"/>
                <a:gd name="T14" fmla="*/ 0 w 5"/>
                <a:gd name="T15" fmla="*/ 0 h 5"/>
                <a:gd name="T16" fmla="*/ 0 w 5"/>
                <a:gd name="T17" fmla="*/ 0 h 5"/>
                <a:gd name="T18" fmla="*/ 0 w 5"/>
                <a:gd name="T19" fmla="*/ 0 h 5"/>
                <a:gd name="T20" fmla="*/ 5 w 5"/>
                <a:gd name="T21" fmla="*/ 0 h 5"/>
                <a:gd name="T22" fmla="*/ 5 w 5"/>
                <a:gd name="T23" fmla="*/ 0 h 5"/>
                <a:gd name="T24" fmla="*/ 5 w 5"/>
                <a:gd name="T25" fmla="*/ 0 h 5"/>
                <a:gd name="T26" fmla="*/ 5 w 5"/>
                <a:gd name="T27" fmla="*/ 0 h 5"/>
                <a:gd name="T28" fmla="*/ 5 w 5"/>
                <a:gd name="T29" fmla="*/ 0 h 5"/>
                <a:gd name="T30" fmla="*/ 5 w 5"/>
                <a:gd name="T31" fmla="*/ 0 h 5"/>
                <a:gd name="T32" fmla="*/ 5 w 5"/>
                <a:gd name="T33" fmla="*/ 0 h 5"/>
                <a:gd name="T34" fmla="*/ 5 w 5"/>
                <a:gd name="T35" fmla="*/ 0 h 5"/>
                <a:gd name="T36" fmla="*/ 5 w 5"/>
                <a:gd name="T37" fmla="*/ 0 h 5"/>
                <a:gd name="T38" fmla="*/ 5 w 5"/>
                <a:gd name="T39" fmla="*/ 0 h 5"/>
                <a:gd name="T40" fmla="*/ 5 w 5"/>
                <a:gd name="T41" fmla="*/ 0 h 5"/>
                <a:gd name="T42" fmla="*/ 5 w 5"/>
                <a:gd name="T43" fmla="*/ 0 h 5"/>
                <a:gd name="T44" fmla="*/ 5 w 5"/>
                <a:gd name="T45" fmla="*/ 0 h 5"/>
                <a:gd name="T46" fmla="*/ 5 w 5"/>
                <a:gd name="T47" fmla="*/ 0 h 5"/>
                <a:gd name="T48" fmla="*/ 5 w 5"/>
                <a:gd name="T49" fmla="*/ 0 h 5"/>
                <a:gd name="T50" fmla="*/ 5 w 5"/>
                <a:gd name="T51" fmla="*/ 0 h 5"/>
                <a:gd name="T52" fmla="*/ 5 w 5"/>
                <a:gd name="T53" fmla="*/ 0 h 5"/>
                <a:gd name="T54" fmla="*/ 5 w 5"/>
                <a:gd name="T55" fmla="*/ 0 h 5"/>
                <a:gd name="T56" fmla="*/ 5 w 5"/>
                <a:gd name="T57" fmla="*/ 0 h 5"/>
                <a:gd name="T58" fmla="*/ 5 w 5"/>
                <a:gd name="T59" fmla="*/ 0 h 5"/>
                <a:gd name="T60" fmla="*/ 5 w 5"/>
                <a:gd name="T61" fmla="*/ 0 h 5"/>
                <a:gd name="T62" fmla="*/ 5 w 5"/>
                <a:gd name="T63" fmla="*/ 0 h 5"/>
                <a:gd name="T64" fmla="*/ 5 w 5"/>
                <a:gd name="T65" fmla="*/ 0 h 5"/>
                <a:gd name="T66" fmla="*/ 5 w 5"/>
                <a:gd name="T67" fmla="*/ 0 h 5"/>
                <a:gd name="T68" fmla="*/ 5 w 5"/>
                <a:gd name="T69" fmla="*/ 0 h 5"/>
                <a:gd name="T70" fmla="*/ 5 w 5"/>
                <a:gd name="T71" fmla="*/ 0 h 5"/>
                <a:gd name="T72" fmla="*/ 5 w 5"/>
                <a:gd name="T73" fmla="*/ 5 h 5"/>
                <a:gd name="T74" fmla="*/ 5 w 5"/>
                <a:gd name="T75" fmla="*/ 5 h 5"/>
                <a:gd name="T76" fmla="*/ 5 w 5"/>
                <a:gd name="T77" fmla="*/ 5 h 5"/>
                <a:gd name="T78" fmla="*/ 5 w 5"/>
                <a:gd name="T79" fmla="*/ 5 h 5"/>
                <a:gd name="T80" fmla="*/ 5 w 5"/>
                <a:gd name="T81" fmla="*/ 5 h 5"/>
                <a:gd name="T82" fmla="*/ 5 w 5"/>
                <a:gd name="T83" fmla="*/ 5 h 5"/>
                <a:gd name="T84" fmla="*/ 5 w 5"/>
                <a:gd name="T85" fmla="*/ 5 h 5"/>
                <a:gd name="T86" fmla="*/ 5 w 5"/>
                <a:gd name="T87" fmla="*/ 5 h 5"/>
                <a:gd name="T88" fmla="*/ 5 w 5"/>
                <a:gd name="T89" fmla="*/ 5 h 5"/>
                <a:gd name="T90" fmla="*/ 5 w 5"/>
                <a:gd name="T91" fmla="*/ 5 h 5"/>
                <a:gd name="T92" fmla="*/ 5 w 5"/>
                <a:gd name="T93" fmla="*/ 5 h 5"/>
                <a:gd name="T94" fmla="*/ 5 w 5"/>
                <a:gd name="T95" fmla="*/ 5 h 5"/>
                <a:gd name="T96" fmla="*/ 5 w 5"/>
                <a:gd name="T97" fmla="*/ 5 h 5"/>
                <a:gd name="T98" fmla="*/ 5 w 5"/>
                <a:gd name="T99" fmla="*/ 5 h 5"/>
                <a:gd name="T100" fmla="*/ 5 w 5"/>
                <a:gd name="T101" fmla="*/ 5 h 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5"/>
                <a:gd name="T155" fmla="*/ 5 w 5"/>
                <a:gd name="T156" fmla="*/ 5 h 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5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2" name="Freeform 159"/>
            <p:cNvSpPr>
              <a:spLocks/>
            </p:cNvSpPr>
            <p:nvPr/>
          </p:nvSpPr>
          <p:spPr bwMode="auto">
            <a:xfrm>
              <a:off x="5140" y="2931"/>
              <a:ext cx="9" cy="12"/>
            </a:xfrm>
            <a:custGeom>
              <a:avLst/>
              <a:gdLst>
                <a:gd name="T0" fmla="*/ 0 w 9"/>
                <a:gd name="T1" fmla="*/ 0 h 12"/>
                <a:gd name="T2" fmla="*/ 4 w 9"/>
                <a:gd name="T3" fmla="*/ 0 h 12"/>
                <a:gd name="T4" fmla="*/ 4 w 9"/>
                <a:gd name="T5" fmla="*/ 0 h 12"/>
                <a:gd name="T6" fmla="*/ 4 w 9"/>
                <a:gd name="T7" fmla="*/ 0 h 12"/>
                <a:gd name="T8" fmla="*/ 4 w 9"/>
                <a:gd name="T9" fmla="*/ 0 h 12"/>
                <a:gd name="T10" fmla="*/ 4 w 9"/>
                <a:gd name="T11" fmla="*/ 0 h 12"/>
                <a:gd name="T12" fmla="*/ 4 w 9"/>
                <a:gd name="T13" fmla="*/ 0 h 12"/>
                <a:gd name="T14" fmla="*/ 4 w 9"/>
                <a:gd name="T15" fmla="*/ 0 h 12"/>
                <a:gd name="T16" fmla="*/ 4 w 9"/>
                <a:gd name="T17" fmla="*/ 0 h 12"/>
                <a:gd name="T18" fmla="*/ 4 w 9"/>
                <a:gd name="T19" fmla="*/ 0 h 12"/>
                <a:gd name="T20" fmla="*/ 4 w 9"/>
                <a:gd name="T21" fmla="*/ 0 h 12"/>
                <a:gd name="T22" fmla="*/ 4 w 9"/>
                <a:gd name="T23" fmla="*/ 0 h 12"/>
                <a:gd name="T24" fmla="*/ 4 w 9"/>
                <a:gd name="T25" fmla="*/ 0 h 12"/>
                <a:gd name="T26" fmla="*/ 4 w 9"/>
                <a:gd name="T27" fmla="*/ 0 h 12"/>
                <a:gd name="T28" fmla="*/ 4 w 9"/>
                <a:gd name="T29" fmla="*/ 0 h 12"/>
                <a:gd name="T30" fmla="*/ 4 w 9"/>
                <a:gd name="T31" fmla="*/ 0 h 12"/>
                <a:gd name="T32" fmla="*/ 4 w 9"/>
                <a:gd name="T33" fmla="*/ 0 h 12"/>
                <a:gd name="T34" fmla="*/ 4 w 9"/>
                <a:gd name="T35" fmla="*/ 0 h 12"/>
                <a:gd name="T36" fmla="*/ 4 w 9"/>
                <a:gd name="T37" fmla="*/ 6 h 12"/>
                <a:gd name="T38" fmla="*/ 4 w 9"/>
                <a:gd name="T39" fmla="*/ 6 h 12"/>
                <a:gd name="T40" fmla="*/ 4 w 9"/>
                <a:gd name="T41" fmla="*/ 6 h 12"/>
                <a:gd name="T42" fmla="*/ 4 w 9"/>
                <a:gd name="T43" fmla="*/ 6 h 12"/>
                <a:gd name="T44" fmla="*/ 4 w 9"/>
                <a:gd name="T45" fmla="*/ 6 h 12"/>
                <a:gd name="T46" fmla="*/ 4 w 9"/>
                <a:gd name="T47" fmla="*/ 6 h 12"/>
                <a:gd name="T48" fmla="*/ 4 w 9"/>
                <a:gd name="T49" fmla="*/ 6 h 12"/>
                <a:gd name="T50" fmla="*/ 4 w 9"/>
                <a:gd name="T51" fmla="*/ 6 h 12"/>
                <a:gd name="T52" fmla="*/ 4 w 9"/>
                <a:gd name="T53" fmla="*/ 6 h 12"/>
                <a:gd name="T54" fmla="*/ 4 w 9"/>
                <a:gd name="T55" fmla="*/ 6 h 12"/>
                <a:gd name="T56" fmla="*/ 4 w 9"/>
                <a:gd name="T57" fmla="*/ 6 h 12"/>
                <a:gd name="T58" fmla="*/ 4 w 9"/>
                <a:gd name="T59" fmla="*/ 6 h 12"/>
                <a:gd name="T60" fmla="*/ 4 w 9"/>
                <a:gd name="T61" fmla="*/ 6 h 12"/>
                <a:gd name="T62" fmla="*/ 4 w 9"/>
                <a:gd name="T63" fmla="*/ 6 h 12"/>
                <a:gd name="T64" fmla="*/ 4 w 9"/>
                <a:gd name="T65" fmla="*/ 6 h 12"/>
                <a:gd name="T66" fmla="*/ 4 w 9"/>
                <a:gd name="T67" fmla="*/ 6 h 12"/>
                <a:gd name="T68" fmla="*/ 4 w 9"/>
                <a:gd name="T69" fmla="*/ 6 h 12"/>
                <a:gd name="T70" fmla="*/ 4 w 9"/>
                <a:gd name="T71" fmla="*/ 6 h 12"/>
                <a:gd name="T72" fmla="*/ 4 w 9"/>
                <a:gd name="T73" fmla="*/ 6 h 12"/>
                <a:gd name="T74" fmla="*/ 4 w 9"/>
                <a:gd name="T75" fmla="*/ 6 h 12"/>
                <a:gd name="T76" fmla="*/ 4 w 9"/>
                <a:gd name="T77" fmla="*/ 6 h 12"/>
                <a:gd name="T78" fmla="*/ 4 w 9"/>
                <a:gd name="T79" fmla="*/ 6 h 12"/>
                <a:gd name="T80" fmla="*/ 4 w 9"/>
                <a:gd name="T81" fmla="*/ 6 h 12"/>
                <a:gd name="T82" fmla="*/ 9 w 9"/>
                <a:gd name="T83" fmla="*/ 6 h 12"/>
                <a:gd name="T84" fmla="*/ 9 w 9"/>
                <a:gd name="T85" fmla="*/ 6 h 12"/>
                <a:gd name="T86" fmla="*/ 9 w 9"/>
                <a:gd name="T87" fmla="*/ 6 h 12"/>
                <a:gd name="T88" fmla="*/ 9 w 9"/>
                <a:gd name="T89" fmla="*/ 6 h 12"/>
                <a:gd name="T90" fmla="*/ 9 w 9"/>
                <a:gd name="T91" fmla="*/ 12 h 12"/>
                <a:gd name="T92" fmla="*/ 9 w 9"/>
                <a:gd name="T93" fmla="*/ 12 h 12"/>
                <a:gd name="T94" fmla="*/ 9 w 9"/>
                <a:gd name="T95" fmla="*/ 12 h 12"/>
                <a:gd name="T96" fmla="*/ 9 w 9"/>
                <a:gd name="T97" fmla="*/ 12 h 12"/>
                <a:gd name="T98" fmla="*/ 9 w 9"/>
                <a:gd name="T99" fmla="*/ 12 h 12"/>
                <a:gd name="T100" fmla="*/ 9 w 9"/>
                <a:gd name="T101" fmla="*/ 12 h 1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2"/>
                <a:gd name="T155" fmla="*/ 9 w 9"/>
                <a:gd name="T156" fmla="*/ 12 h 1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2">
                  <a:moveTo>
                    <a:pt x="0" y="0"/>
                  </a:moveTo>
                  <a:lnTo>
                    <a:pt x="4" y="0"/>
                  </a:lnTo>
                  <a:lnTo>
                    <a:pt x="4" y="6"/>
                  </a:lnTo>
                  <a:lnTo>
                    <a:pt x="9" y="6"/>
                  </a:lnTo>
                  <a:lnTo>
                    <a:pt x="9" y="1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3" name="Freeform 160"/>
            <p:cNvSpPr>
              <a:spLocks/>
            </p:cNvSpPr>
            <p:nvPr/>
          </p:nvSpPr>
          <p:spPr bwMode="auto">
            <a:xfrm>
              <a:off x="5149" y="2943"/>
              <a:ext cx="5" cy="11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0 w 5"/>
                <a:gd name="T5" fmla="*/ 0 h 11"/>
                <a:gd name="T6" fmla="*/ 0 w 5"/>
                <a:gd name="T7" fmla="*/ 0 h 11"/>
                <a:gd name="T8" fmla="*/ 0 w 5"/>
                <a:gd name="T9" fmla="*/ 0 h 11"/>
                <a:gd name="T10" fmla="*/ 0 w 5"/>
                <a:gd name="T11" fmla="*/ 0 h 11"/>
                <a:gd name="T12" fmla="*/ 0 w 5"/>
                <a:gd name="T13" fmla="*/ 0 h 11"/>
                <a:gd name="T14" fmla="*/ 0 w 5"/>
                <a:gd name="T15" fmla="*/ 0 h 11"/>
                <a:gd name="T16" fmla="*/ 0 w 5"/>
                <a:gd name="T17" fmla="*/ 0 h 11"/>
                <a:gd name="T18" fmla="*/ 0 w 5"/>
                <a:gd name="T19" fmla="*/ 0 h 11"/>
                <a:gd name="T20" fmla="*/ 0 w 5"/>
                <a:gd name="T21" fmla="*/ 0 h 11"/>
                <a:gd name="T22" fmla="*/ 0 w 5"/>
                <a:gd name="T23" fmla="*/ 0 h 11"/>
                <a:gd name="T24" fmla="*/ 0 w 5"/>
                <a:gd name="T25" fmla="*/ 0 h 11"/>
                <a:gd name="T26" fmla="*/ 0 w 5"/>
                <a:gd name="T27" fmla="*/ 0 h 11"/>
                <a:gd name="T28" fmla="*/ 0 w 5"/>
                <a:gd name="T29" fmla="*/ 0 h 11"/>
                <a:gd name="T30" fmla="*/ 0 w 5"/>
                <a:gd name="T31" fmla="*/ 0 h 11"/>
                <a:gd name="T32" fmla="*/ 0 w 5"/>
                <a:gd name="T33" fmla="*/ 0 h 11"/>
                <a:gd name="T34" fmla="*/ 0 w 5"/>
                <a:gd name="T35" fmla="*/ 0 h 11"/>
                <a:gd name="T36" fmla="*/ 0 w 5"/>
                <a:gd name="T37" fmla="*/ 0 h 11"/>
                <a:gd name="T38" fmla="*/ 0 w 5"/>
                <a:gd name="T39" fmla="*/ 5 h 11"/>
                <a:gd name="T40" fmla="*/ 0 w 5"/>
                <a:gd name="T41" fmla="*/ 5 h 11"/>
                <a:gd name="T42" fmla="*/ 0 w 5"/>
                <a:gd name="T43" fmla="*/ 5 h 11"/>
                <a:gd name="T44" fmla="*/ 0 w 5"/>
                <a:gd name="T45" fmla="*/ 5 h 11"/>
                <a:gd name="T46" fmla="*/ 0 w 5"/>
                <a:gd name="T47" fmla="*/ 5 h 11"/>
                <a:gd name="T48" fmla="*/ 0 w 5"/>
                <a:gd name="T49" fmla="*/ 5 h 11"/>
                <a:gd name="T50" fmla="*/ 0 w 5"/>
                <a:gd name="T51" fmla="*/ 5 h 11"/>
                <a:gd name="T52" fmla="*/ 0 w 5"/>
                <a:gd name="T53" fmla="*/ 5 h 11"/>
                <a:gd name="T54" fmla="*/ 0 w 5"/>
                <a:gd name="T55" fmla="*/ 5 h 11"/>
                <a:gd name="T56" fmla="*/ 0 w 5"/>
                <a:gd name="T57" fmla="*/ 5 h 11"/>
                <a:gd name="T58" fmla="*/ 0 w 5"/>
                <a:gd name="T59" fmla="*/ 5 h 11"/>
                <a:gd name="T60" fmla="*/ 0 w 5"/>
                <a:gd name="T61" fmla="*/ 5 h 11"/>
                <a:gd name="T62" fmla="*/ 0 w 5"/>
                <a:gd name="T63" fmla="*/ 5 h 11"/>
                <a:gd name="T64" fmla="*/ 5 w 5"/>
                <a:gd name="T65" fmla="*/ 5 h 11"/>
                <a:gd name="T66" fmla="*/ 5 w 5"/>
                <a:gd name="T67" fmla="*/ 5 h 11"/>
                <a:gd name="T68" fmla="*/ 5 w 5"/>
                <a:gd name="T69" fmla="*/ 5 h 11"/>
                <a:gd name="T70" fmla="*/ 5 w 5"/>
                <a:gd name="T71" fmla="*/ 5 h 11"/>
                <a:gd name="T72" fmla="*/ 5 w 5"/>
                <a:gd name="T73" fmla="*/ 5 h 11"/>
                <a:gd name="T74" fmla="*/ 5 w 5"/>
                <a:gd name="T75" fmla="*/ 5 h 11"/>
                <a:gd name="T76" fmla="*/ 5 w 5"/>
                <a:gd name="T77" fmla="*/ 5 h 11"/>
                <a:gd name="T78" fmla="*/ 5 w 5"/>
                <a:gd name="T79" fmla="*/ 5 h 11"/>
                <a:gd name="T80" fmla="*/ 5 w 5"/>
                <a:gd name="T81" fmla="*/ 11 h 11"/>
                <a:gd name="T82" fmla="*/ 5 w 5"/>
                <a:gd name="T83" fmla="*/ 11 h 11"/>
                <a:gd name="T84" fmla="*/ 5 w 5"/>
                <a:gd name="T85" fmla="*/ 11 h 11"/>
                <a:gd name="T86" fmla="*/ 5 w 5"/>
                <a:gd name="T87" fmla="*/ 11 h 11"/>
                <a:gd name="T88" fmla="*/ 5 w 5"/>
                <a:gd name="T89" fmla="*/ 11 h 11"/>
                <a:gd name="T90" fmla="*/ 5 w 5"/>
                <a:gd name="T91" fmla="*/ 11 h 11"/>
                <a:gd name="T92" fmla="*/ 5 w 5"/>
                <a:gd name="T93" fmla="*/ 11 h 11"/>
                <a:gd name="T94" fmla="*/ 5 w 5"/>
                <a:gd name="T95" fmla="*/ 11 h 11"/>
                <a:gd name="T96" fmla="*/ 5 w 5"/>
                <a:gd name="T97" fmla="*/ 11 h 11"/>
                <a:gd name="T98" fmla="*/ 5 w 5"/>
                <a:gd name="T99" fmla="*/ 11 h 11"/>
                <a:gd name="T100" fmla="*/ 5 w 5"/>
                <a:gd name="T101" fmla="*/ 11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1"/>
                <a:gd name="T155" fmla="*/ 5 w 5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1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4" name="Freeform 161"/>
            <p:cNvSpPr>
              <a:spLocks/>
            </p:cNvSpPr>
            <p:nvPr/>
          </p:nvSpPr>
          <p:spPr bwMode="auto">
            <a:xfrm>
              <a:off x="5154" y="2954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0 h 17"/>
                <a:gd name="T14" fmla="*/ 0 w 5"/>
                <a:gd name="T15" fmla="*/ 0 h 17"/>
                <a:gd name="T16" fmla="*/ 0 w 5"/>
                <a:gd name="T17" fmla="*/ 0 h 17"/>
                <a:gd name="T18" fmla="*/ 0 w 5"/>
                <a:gd name="T19" fmla="*/ 0 h 17"/>
                <a:gd name="T20" fmla="*/ 0 w 5"/>
                <a:gd name="T21" fmla="*/ 0 h 17"/>
                <a:gd name="T22" fmla="*/ 0 w 5"/>
                <a:gd name="T23" fmla="*/ 6 h 17"/>
                <a:gd name="T24" fmla="*/ 0 w 5"/>
                <a:gd name="T25" fmla="*/ 6 h 17"/>
                <a:gd name="T26" fmla="*/ 0 w 5"/>
                <a:gd name="T27" fmla="*/ 6 h 17"/>
                <a:gd name="T28" fmla="*/ 0 w 5"/>
                <a:gd name="T29" fmla="*/ 6 h 17"/>
                <a:gd name="T30" fmla="*/ 0 w 5"/>
                <a:gd name="T31" fmla="*/ 6 h 17"/>
                <a:gd name="T32" fmla="*/ 0 w 5"/>
                <a:gd name="T33" fmla="*/ 6 h 17"/>
                <a:gd name="T34" fmla="*/ 0 w 5"/>
                <a:gd name="T35" fmla="*/ 6 h 17"/>
                <a:gd name="T36" fmla="*/ 0 w 5"/>
                <a:gd name="T37" fmla="*/ 6 h 17"/>
                <a:gd name="T38" fmla="*/ 0 w 5"/>
                <a:gd name="T39" fmla="*/ 6 h 17"/>
                <a:gd name="T40" fmla="*/ 0 w 5"/>
                <a:gd name="T41" fmla="*/ 6 h 17"/>
                <a:gd name="T42" fmla="*/ 0 w 5"/>
                <a:gd name="T43" fmla="*/ 6 h 17"/>
                <a:gd name="T44" fmla="*/ 5 w 5"/>
                <a:gd name="T45" fmla="*/ 6 h 17"/>
                <a:gd name="T46" fmla="*/ 5 w 5"/>
                <a:gd name="T47" fmla="*/ 6 h 17"/>
                <a:gd name="T48" fmla="*/ 5 w 5"/>
                <a:gd name="T49" fmla="*/ 6 h 17"/>
                <a:gd name="T50" fmla="*/ 5 w 5"/>
                <a:gd name="T51" fmla="*/ 6 h 17"/>
                <a:gd name="T52" fmla="*/ 5 w 5"/>
                <a:gd name="T53" fmla="*/ 6 h 17"/>
                <a:gd name="T54" fmla="*/ 5 w 5"/>
                <a:gd name="T55" fmla="*/ 6 h 17"/>
                <a:gd name="T56" fmla="*/ 5 w 5"/>
                <a:gd name="T57" fmla="*/ 6 h 17"/>
                <a:gd name="T58" fmla="*/ 5 w 5"/>
                <a:gd name="T59" fmla="*/ 11 h 17"/>
                <a:gd name="T60" fmla="*/ 5 w 5"/>
                <a:gd name="T61" fmla="*/ 11 h 17"/>
                <a:gd name="T62" fmla="*/ 5 w 5"/>
                <a:gd name="T63" fmla="*/ 11 h 17"/>
                <a:gd name="T64" fmla="*/ 5 w 5"/>
                <a:gd name="T65" fmla="*/ 11 h 17"/>
                <a:gd name="T66" fmla="*/ 5 w 5"/>
                <a:gd name="T67" fmla="*/ 11 h 17"/>
                <a:gd name="T68" fmla="*/ 5 w 5"/>
                <a:gd name="T69" fmla="*/ 11 h 17"/>
                <a:gd name="T70" fmla="*/ 5 w 5"/>
                <a:gd name="T71" fmla="*/ 11 h 17"/>
                <a:gd name="T72" fmla="*/ 5 w 5"/>
                <a:gd name="T73" fmla="*/ 11 h 17"/>
                <a:gd name="T74" fmla="*/ 5 w 5"/>
                <a:gd name="T75" fmla="*/ 11 h 17"/>
                <a:gd name="T76" fmla="*/ 5 w 5"/>
                <a:gd name="T77" fmla="*/ 11 h 17"/>
                <a:gd name="T78" fmla="*/ 5 w 5"/>
                <a:gd name="T79" fmla="*/ 11 h 17"/>
                <a:gd name="T80" fmla="*/ 5 w 5"/>
                <a:gd name="T81" fmla="*/ 11 h 17"/>
                <a:gd name="T82" fmla="*/ 5 w 5"/>
                <a:gd name="T83" fmla="*/ 11 h 17"/>
                <a:gd name="T84" fmla="*/ 5 w 5"/>
                <a:gd name="T85" fmla="*/ 11 h 17"/>
                <a:gd name="T86" fmla="*/ 5 w 5"/>
                <a:gd name="T87" fmla="*/ 11 h 17"/>
                <a:gd name="T88" fmla="*/ 5 w 5"/>
                <a:gd name="T89" fmla="*/ 11 h 17"/>
                <a:gd name="T90" fmla="*/ 5 w 5"/>
                <a:gd name="T91" fmla="*/ 11 h 17"/>
                <a:gd name="T92" fmla="*/ 5 w 5"/>
                <a:gd name="T93" fmla="*/ 11 h 17"/>
                <a:gd name="T94" fmla="*/ 5 w 5"/>
                <a:gd name="T95" fmla="*/ 17 h 17"/>
                <a:gd name="T96" fmla="*/ 5 w 5"/>
                <a:gd name="T97" fmla="*/ 17 h 17"/>
                <a:gd name="T98" fmla="*/ 5 w 5"/>
                <a:gd name="T99" fmla="*/ 17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1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5" name="Freeform 162"/>
            <p:cNvSpPr>
              <a:spLocks/>
            </p:cNvSpPr>
            <p:nvPr/>
          </p:nvSpPr>
          <p:spPr bwMode="auto">
            <a:xfrm>
              <a:off x="5159" y="2971"/>
              <a:ext cx="4" cy="17"/>
            </a:xfrm>
            <a:custGeom>
              <a:avLst/>
              <a:gdLst>
                <a:gd name="T0" fmla="*/ 0 w 4"/>
                <a:gd name="T1" fmla="*/ 0 h 17"/>
                <a:gd name="T2" fmla="*/ 0 w 4"/>
                <a:gd name="T3" fmla="*/ 0 h 17"/>
                <a:gd name="T4" fmla="*/ 0 w 4"/>
                <a:gd name="T5" fmla="*/ 0 h 17"/>
                <a:gd name="T6" fmla="*/ 0 w 4"/>
                <a:gd name="T7" fmla="*/ 0 h 17"/>
                <a:gd name="T8" fmla="*/ 0 w 4"/>
                <a:gd name="T9" fmla="*/ 0 h 17"/>
                <a:gd name="T10" fmla="*/ 0 w 4"/>
                <a:gd name="T11" fmla="*/ 0 h 17"/>
                <a:gd name="T12" fmla="*/ 0 w 4"/>
                <a:gd name="T13" fmla="*/ 0 h 17"/>
                <a:gd name="T14" fmla="*/ 0 w 4"/>
                <a:gd name="T15" fmla="*/ 0 h 17"/>
                <a:gd name="T16" fmla="*/ 0 w 4"/>
                <a:gd name="T17" fmla="*/ 0 h 17"/>
                <a:gd name="T18" fmla="*/ 0 w 4"/>
                <a:gd name="T19" fmla="*/ 0 h 17"/>
                <a:gd name="T20" fmla="*/ 0 w 4"/>
                <a:gd name="T21" fmla="*/ 0 h 17"/>
                <a:gd name="T22" fmla="*/ 0 w 4"/>
                <a:gd name="T23" fmla="*/ 0 h 17"/>
                <a:gd name="T24" fmla="*/ 0 w 4"/>
                <a:gd name="T25" fmla="*/ 0 h 17"/>
                <a:gd name="T26" fmla="*/ 4 w 4"/>
                <a:gd name="T27" fmla="*/ 0 h 17"/>
                <a:gd name="T28" fmla="*/ 4 w 4"/>
                <a:gd name="T29" fmla="*/ 6 h 17"/>
                <a:gd name="T30" fmla="*/ 4 w 4"/>
                <a:gd name="T31" fmla="*/ 6 h 17"/>
                <a:gd name="T32" fmla="*/ 4 w 4"/>
                <a:gd name="T33" fmla="*/ 6 h 17"/>
                <a:gd name="T34" fmla="*/ 4 w 4"/>
                <a:gd name="T35" fmla="*/ 6 h 17"/>
                <a:gd name="T36" fmla="*/ 4 w 4"/>
                <a:gd name="T37" fmla="*/ 6 h 17"/>
                <a:gd name="T38" fmla="*/ 4 w 4"/>
                <a:gd name="T39" fmla="*/ 6 h 17"/>
                <a:gd name="T40" fmla="*/ 4 w 4"/>
                <a:gd name="T41" fmla="*/ 6 h 17"/>
                <a:gd name="T42" fmla="*/ 4 w 4"/>
                <a:gd name="T43" fmla="*/ 6 h 17"/>
                <a:gd name="T44" fmla="*/ 4 w 4"/>
                <a:gd name="T45" fmla="*/ 6 h 17"/>
                <a:gd name="T46" fmla="*/ 4 w 4"/>
                <a:gd name="T47" fmla="*/ 6 h 17"/>
                <a:gd name="T48" fmla="*/ 4 w 4"/>
                <a:gd name="T49" fmla="*/ 6 h 17"/>
                <a:gd name="T50" fmla="*/ 4 w 4"/>
                <a:gd name="T51" fmla="*/ 6 h 17"/>
                <a:gd name="T52" fmla="*/ 4 w 4"/>
                <a:gd name="T53" fmla="*/ 6 h 17"/>
                <a:gd name="T54" fmla="*/ 4 w 4"/>
                <a:gd name="T55" fmla="*/ 6 h 17"/>
                <a:gd name="T56" fmla="*/ 4 w 4"/>
                <a:gd name="T57" fmla="*/ 6 h 17"/>
                <a:gd name="T58" fmla="*/ 4 w 4"/>
                <a:gd name="T59" fmla="*/ 6 h 17"/>
                <a:gd name="T60" fmla="*/ 4 w 4"/>
                <a:gd name="T61" fmla="*/ 6 h 17"/>
                <a:gd name="T62" fmla="*/ 4 w 4"/>
                <a:gd name="T63" fmla="*/ 11 h 17"/>
                <a:gd name="T64" fmla="*/ 4 w 4"/>
                <a:gd name="T65" fmla="*/ 11 h 17"/>
                <a:gd name="T66" fmla="*/ 4 w 4"/>
                <a:gd name="T67" fmla="*/ 11 h 17"/>
                <a:gd name="T68" fmla="*/ 4 w 4"/>
                <a:gd name="T69" fmla="*/ 11 h 17"/>
                <a:gd name="T70" fmla="*/ 4 w 4"/>
                <a:gd name="T71" fmla="*/ 11 h 17"/>
                <a:gd name="T72" fmla="*/ 4 w 4"/>
                <a:gd name="T73" fmla="*/ 11 h 17"/>
                <a:gd name="T74" fmla="*/ 4 w 4"/>
                <a:gd name="T75" fmla="*/ 11 h 17"/>
                <a:gd name="T76" fmla="*/ 4 w 4"/>
                <a:gd name="T77" fmla="*/ 11 h 17"/>
                <a:gd name="T78" fmla="*/ 4 w 4"/>
                <a:gd name="T79" fmla="*/ 11 h 17"/>
                <a:gd name="T80" fmla="*/ 4 w 4"/>
                <a:gd name="T81" fmla="*/ 11 h 17"/>
                <a:gd name="T82" fmla="*/ 4 w 4"/>
                <a:gd name="T83" fmla="*/ 11 h 17"/>
                <a:gd name="T84" fmla="*/ 4 w 4"/>
                <a:gd name="T85" fmla="*/ 11 h 17"/>
                <a:gd name="T86" fmla="*/ 4 w 4"/>
                <a:gd name="T87" fmla="*/ 11 h 17"/>
                <a:gd name="T88" fmla="*/ 4 w 4"/>
                <a:gd name="T89" fmla="*/ 11 h 17"/>
                <a:gd name="T90" fmla="*/ 4 w 4"/>
                <a:gd name="T91" fmla="*/ 11 h 17"/>
                <a:gd name="T92" fmla="*/ 4 w 4"/>
                <a:gd name="T93" fmla="*/ 17 h 17"/>
                <a:gd name="T94" fmla="*/ 4 w 4"/>
                <a:gd name="T95" fmla="*/ 17 h 17"/>
                <a:gd name="T96" fmla="*/ 4 w 4"/>
                <a:gd name="T97" fmla="*/ 17 h 17"/>
                <a:gd name="T98" fmla="*/ 4 w 4"/>
                <a:gd name="T99" fmla="*/ 17 h 17"/>
                <a:gd name="T100" fmla="*/ 4 w 4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17"/>
                <a:gd name="T155" fmla="*/ 4 w 4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17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6"/>
                  </a:lnTo>
                  <a:lnTo>
                    <a:pt x="4" y="11"/>
                  </a:lnTo>
                  <a:lnTo>
                    <a:pt x="4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6" name="Freeform 163"/>
            <p:cNvSpPr>
              <a:spLocks/>
            </p:cNvSpPr>
            <p:nvPr/>
          </p:nvSpPr>
          <p:spPr bwMode="auto">
            <a:xfrm>
              <a:off x="5163" y="2988"/>
              <a:ext cx="10" cy="17"/>
            </a:xfrm>
            <a:custGeom>
              <a:avLst/>
              <a:gdLst>
                <a:gd name="T0" fmla="*/ 0 w 10"/>
                <a:gd name="T1" fmla="*/ 0 h 17"/>
                <a:gd name="T2" fmla="*/ 0 w 10"/>
                <a:gd name="T3" fmla="*/ 0 h 17"/>
                <a:gd name="T4" fmla="*/ 0 w 10"/>
                <a:gd name="T5" fmla="*/ 0 h 17"/>
                <a:gd name="T6" fmla="*/ 5 w 10"/>
                <a:gd name="T7" fmla="*/ 0 h 17"/>
                <a:gd name="T8" fmla="*/ 5 w 10"/>
                <a:gd name="T9" fmla="*/ 0 h 17"/>
                <a:gd name="T10" fmla="*/ 5 w 10"/>
                <a:gd name="T11" fmla="*/ 0 h 17"/>
                <a:gd name="T12" fmla="*/ 5 w 10"/>
                <a:gd name="T13" fmla="*/ 0 h 17"/>
                <a:gd name="T14" fmla="*/ 5 w 10"/>
                <a:gd name="T15" fmla="*/ 0 h 17"/>
                <a:gd name="T16" fmla="*/ 5 w 10"/>
                <a:gd name="T17" fmla="*/ 0 h 17"/>
                <a:gd name="T18" fmla="*/ 5 w 10"/>
                <a:gd name="T19" fmla="*/ 0 h 17"/>
                <a:gd name="T20" fmla="*/ 5 w 10"/>
                <a:gd name="T21" fmla="*/ 0 h 17"/>
                <a:gd name="T22" fmla="*/ 5 w 10"/>
                <a:gd name="T23" fmla="*/ 6 h 17"/>
                <a:gd name="T24" fmla="*/ 5 w 10"/>
                <a:gd name="T25" fmla="*/ 6 h 17"/>
                <a:gd name="T26" fmla="*/ 5 w 10"/>
                <a:gd name="T27" fmla="*/ 6 h 17"/>
                <a:gd name="T28" fmla="*/ 5 w 10"/>
                <a:gd name="T29" fmla="*/ 6 h 17"/>
                <a:gd name="T30" fmla="*/ 5 w 10"/>
                <a:gd name="T31" fmla="*/ 6 h 17"/>
                <a:gd name="T32" fmla="*/ 5 w 10"/>
                <a:gd name="T33" fmla="*/ 6 h 17"/>
                <a:gd name="T34" fmla="*/ 5 w 10"/>
                <a:gd name="T35" fmla="*/ 6 h 17"/>
                <a:gd name="T36" fmla="*/ 5 w 10"/>
                <a:gd name="T37" fmla="*/ 6 h 17"/>
                <a:gd name="T38" fmla="*/ 5 w 10"/>
                <a:gd name="T39" fmla="*/ 6 h 17"/>
                <a:gd name="T40" fmla="*/ 5 w 10"/>
                <a:gd name="T41" fmla="*/ 6 h 17"/>
                <a:gd name="T42" fmla="*/ 5 w 10"/>
                <a:gd name="T43" fmla="*/ 6 h 17"/>
                <a:gd name="T44" fmla="*/ 5 w 10"/>
                <a:gd name="T45" fmla="*/ 6 h 17"/>
                <a:gd name="T46" fmla="*/ 5 w 10"/>
                <a:gd name="T47" fmla="*/ 6 h 17"/>
                <a:gd name="T48" fmla="*/ 5 w 10"/>
                <a:gd name="T49" fmla="*/ 6 h 17"/>
                <a:gd name="T50" fmla="*/ 5 w 10"/>
                <a:gd name="T51" fmla="*/ 6 h 17"/>
                <a:gd name="T52" fmla="*/ 5 w 10"/>
                <a:gd name="T53" fmla="*/ 12 h 17"/>
                <a:gd name="T54" fmla="*/ 5 w 10"/>
                <a:gd name="T55" fmla="*/ 12 h 17"/>
                <a:gd name="T56" fmla="*/ 5 w 10"/>
                <a:gd name="T57" fmla="*/ 12 h 17"/>
                <a:gd name="T58" fmla="*/ 5 w 10"/>
                <a:gd name="T59" fmla="*/ 12 h 17"/>
                <a:gd name="T60" fmla="*/ 5 w 10"/>
                <a:gd name="T61" fmla="*/ 12 h 17"/>
                <a:gd name="T62" fmla="*/ 5 w 10"/>
                <a:gd name="T63" fmla="*/ 12 h 17"/>
                <a:gd name="T64" fmla="*/ 5 w 10"/>
                <a:gd name="T65" fmla="*/ 12 h 17"/>
                <a:gd name="T66" fmla="*/ 5 w 10"/>
                <a:gd name="T67" fmla="*/ 12 h 17"/>
                <a:gd name="T68" fmla="*/ 5 w 10"/>
                <a:gd name="T69" fmla="*/ 12 h 17"/>
                <a:gd name="T70" fmla="*/ 5 w 10"/>
                <a:gd name="T71" fmla="*/ 12 h 17"/>
                <a:gd name="T72" fmla="*/ 5 w 10"/>
                <a:gd name="T73" fmla="*/ 12 h 17"/>
                <a:gd name="T74" fmla="*/ 5 w 10"/>
                <a:gd name="T75" fmla="*/ 12 h 17"/>
                <a:gd name="T76" fmla="*/ 5 w 10"/>
                <a:gd name="T77" fmla="*/ 12 h 17"/>
                <a:gd name="T78" fmla="*/ 5 w 10"/>
                <a:gd name="T79" fmla="*/ 12 h 17"/>
                <a:gd name="T80" fmla="*/ 5 w 10"/>
                <a:gd name="T81" fmla="*/ 17 h 17"/>
                <a:gd name="T82" fmla="*/ 5 w 10"/>
                <a:gd name="T83" fmla="*/ 17 h 17"/>
                <a:gd name="T84" fmla="*/ 5 w 10"/>
                <a:gd name="T85" fmla="*/ 17 h 17"/>
                <a:gd name="T86" fmla="*/ 5 w 10"/>
                <a:gd name="T87" fmla="*/ 17 h 17"/>
                <a:gd name="T88" fmla="*/ 10 w 10"/>
                <a:gd name="T89" fmla="*/ 17 h 17"/>
                <a:gd name="T90" fmla="*/ 10 w 10"/>
                <a:gd name="T91" fmla="*/ 17 h 17"/>
                <a:gd name="T92" fmla="*/ 10 w 10"/>
                <a:gd name="T93" fmla="*/ 17 h 17"/>
                <a:gd name="T94" fmla="*/ 10 w 10"/>
                <a:gd name="T95" fmla="*/ 17 h 17"/>
                <a:gd name="T96" fmla="*/ 10 w 10"/>
                <a:gd name="T97" fmla="*/ 17 h 17"/>
                <a:gd name="T98" fmla="*/ 10 w 10"/>
                <a:gd name="T99" fmla="*/ 17 h 17"/>
                <a:gd name="T100" fmla="*/ 10 w 10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17"/>
                <a:gd name="T155" fmla="*/ 10 w 10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17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6"/>
                  </a:lnTo>
                  <a:lnTo>
                    <a:pt x="5" y="12"/>
                  </a:lnTo>
                  <a:lnTo>
                    <a:pt x="5" y="17"/>
                  </a:lnTo>
                  <a:lnTo>
                    <a:pt x="10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7" name="Freeform 164"/>
            <p:cNvSpPr>
              <a:spLocks/>
            </p:cNvSpPr>
            <p:nvPr/>
          </p:nvSpPr>
          <p:spPr bwMode="auto">
            <a:xfrm>
              <a:off x="5173" y="3005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6 h 23"/>
                <a:gd name="T10" fmla="*/ 0 w 5"/>
                <a:gd name="T11" fmla="*/ 6 h 23"/>
                <a:gd name="T12" fmla="*/ 0 w 5"/>
                <a:gd name="T13" fmla="*/ 6 h 23"/>
                <a:gd name="T14" fmla="*/ 0 w 5"/>
                <a:gd name="T15" fmla="*/ 6 h 23"/>
                <a:gd name="T16" fmla="*/ 0 w 5"/>
                <a:gd name="T17" fmla="*/ 6 h 23"/>
                <a:gd name="T18" fmla="*/ 0 w 5"/>
                <a:gd name="T19" fmla="*/ 6 h 23"/>
                <a:gd name="T20" fmla="*/ 0 w 5"/>
                <a:gd name="T21" fmla="*/ 6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0 w 5"/>
                <a:gd name="T31" fmla="*/ 6 h 23"/>
                <a:gd name="T32" fmla="*/ 0 w 5"/>
                <a:gd name="T33" fmla="*/ 6 h 23"/>
                <a:gd name="T34" fmla="*/ 0 w 5"/>
                <a:gd name="T35" fmla="*/ 6 h 23"/>
                <a:gd name="T36" fmla="*/ 0 w 5"/>
                <a:gd name="T37" fmla="*/ 12 h 23"/>
                <a:gd name="T38" fmla="*/ 0 w 5"/>
                <a:gd name="T39" fmla="*/ 12 h 23"/>
                <a:gd name="T40" fmla="*/ 0 w 5"/>
                <a:gd name="T41" fmla="*/ 12 h 23"/>
                <a:gd name="T42" fmla="*/ 0 w 5"/>
                <a:gd name="T43" fmla="*/ 12 h 23"/>
                <a:gd name="T44" fmla="*/ 0 w 5"/>
                <a:gd name="T45" fmla="*/ 12 h 23"/>
                <a:gd name="T46" fmla="*/ 0 w 5"/>
                <a:gd name="T47" fmla="*/ 12 h 23"/>
                <a:gd name="T48" fmla="*/ 0 w 5"/>
                <a:gd name="T49" fmla="*/ 12 h 23"/>
                <a:gd name="T50" fmla="*/ 0 w 5"/>
                <a:gd name="T51" fmla="*/ 12 h 23"/>
                <a:gd name="T52" fmla="*/ 0 w 5"/>
                <a:gd name="T53" fmla="*/ 12 h 23"/>
                <a:gd name="T54" fmla="*/ 0 w 5"/>
                <a:gd name="T55" fmla="*/ 12 h 23"/>
                <a:gd name="T56" fmla="*/ 0 w 5"/>
                <a:gd name="T57" fmla="*/ 12 h 23"/>
                <a:gd name="T58" fmla="*/ 0 w 5"/>
                <a:gd name="T59" fmla="*/ 12 h 23"/>
                <a:gd name="T60" fmla="*/ 0 w 5"/>
                <a:gd name="T61" fmla="*/ 12 h 23"/>
                <a:gd name="T62" fmla="*/ 0 w 5"/>
                <a:gd name="T63" fmla="*/ 17 h 23"/>
                <a:gd name="T64" fmla="*/ 0 w 5"/>
                <a:gd name="T65" fmla="*/ 17 h 23"/>
                <a:gd name="T66" fmla="*/ 0 w 5"/>
                <a:gd name="T67" fmla="*/ 17 h 23"/>
                <a:gd name="T68" fmla="*/ 5 w 5"/>
                <a:gd name="T69" fmla="*/ 17 h 23"/>
                <a:gd name="T70" fmla="*/ 5 w 5"/>
                <a:gd name="T71" fmla="*/ 17 h 23"/>
                <a:gd name="T72" fmla="*/ 5 w 5"/>
                <a:gd name="T73" fmla="*/ 17 h 23"/>
                <a:gd name="T74" fmla="*/ 5 w 5"/>
                <a:gd name="T75" fmla="*/ 17 h 23"/>
                <a:gd name="T76" fmla="*/ 5 w 5"/>
                <a:gd name="T77" fmla="*/ 17 h 23"/>
                <a:gd name="T78" fmla="*/ 5 w 5"/>
                <a:gd name="T79" fmla="*/ 17 h 23"/>
                <a:gd name="T80" fmla="*/ 5 w 5"/>
                <a:gd name="T81" fmla="*/ 17 h 23"/>
                <a:gd name="T82" fmla="*/ 5 w 5"/>
                <a:gd name="T83" fmla="*/ 17 h 23"/>
                <a:gd name="T84" fmla="*/ 5 w 5"/>
                <a:gd name="T85" fmla="*/ 17 h 23"/>
                <a:gd name="T86" fmla="*/ 5 w 5"/>
                <a:gd name="T87" fmla="*/ 17 h 23"/>
                <a:gd name="T88" fmla="*/ 5 w 5"/>
                <a:gd name="T89" fmla="*/ 17 h 23"/>
                <a:gd name="T90" fmla="*/ 5 w 5"/>
                <a:gd name="T91" fmla="*/ 23 h 23"/>
                <a:gd name="T92" fmla="*/ 5 w 5"/>
                <a:gd name="T93" fmla="*/ 23 h 23"/>
                <a:gd name="T94" fmla="*/ 5 w 5"/>
                <a:gd name="T95" fmla="*/ 23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8" name="Freeform 165"/>
            <p:cNvSpPr>
              <a:spLocks/>
            </p:cNvSpPr>
            <p:nvPr/>
          </p:nvSpPr>
          <p:spPr bwMode="auto">
            <a:xfrm>
              <a:off x="5178" y="3028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0 h 23"/>
                <a:gd name="T10" fmla="*/ 0 w 5"/>
                <a:gd name="T11" fmla="*/ 0 h 23"/>
                <a:gd name="T12" fmla="*/ 0 w 5"/>
                <a:gd name="T13" fmla="*/ 0 h 23"/>
                <a:gd name="T14" fmla="*/ 0 w 5"/>
                <a:gd name="T15" fmla="*/ 0 h 23"/>
                <a:gd name="T16" fmla="*/ 0 w 5"/>
                <a:gd name="T17" fmla="*/ 6 h 23"/>
                <a:gd name="T18" fmla="*/ 0 w 5"/>
                <a:gd name="T19" fmla="*/ 6 h 23"/>
                <a:gd name="T20" fmla="*/ 0 w 5"/>
                <a:gd name="T21" fmla="*/ 6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0 w 5"/>
                <a:gd name="T31" fmla="*/ 6 h 23"/>
                <a:gd name="T32" fmla="*/ 0 w 5"/>
                <a:gd name="T33" fmla="*/ 6 h 23"/>
                <a:gd name="T34" fmla="*/ 0 w 5"/>
                <a:gd name="T35" fmla="*/ 6 h 23"/>
                <a:gd name="T36" fmla="*/ 0 w 5"/>
                <a:gd name="T37" fmla="*/ 6 h 23"/>
                <a:gd name="T38" fmla="*/ 0 w 5"/>
                <a:gd name="T39" fmla="*/ 6 h 23"/>
                <a:gd name="T40" fmla="*/ 0 w 5"/>
                <a:gd name="T41" fmla="*/ 11 h 23"/>
                <a:gd name="T42" fmla="*/ 0 w 5"/>
                <a:gd name="T43" fmla="*/ 11 h 23"/>
                <a:gd name="T44" fmla="*/ 0 w 5"/>
                <a:gd name="T45" fmla="*/ 11 h 23"/>
                <a:gd name="T46" fmla="*/ 0 w 5"/>
                <a:gd name="T47" fmla="*/ 11 h 23"/>
                <a:gd name="T48" fmla="*/ 0 w 5"/>
                <a:gd name="T49" fmla="*/ 11 h 23"/>
                <a:gd name="T50" fmla="*/ 5 w 5"/>
                <a:gd name="T51" fmla="*/ 11 h 23"/>
                <a:gd name="T52" fmla="*/ 5 w 5"/>
                <a:gd name="T53" fmla="*/ 11 h 23"/>
                <a:gd name="T54" fmla="*/ 5 w 5"/>
                <a:gd name="T55" fmla="*/ 11 h 23"/>
                <a:gd name="T56" fmla="*/ 5 w 5"/>
                <a:gd name="T57" fmla="*/ 11 h 23"/>
                <a:gd name="T58" fmla="*/ 5 w 5"/>
                <a:gd name="T59" fmla="*/ 11 h 23"/>
                <a:gd name="T60" fmla="*/ 5 w 5"/>
                <a:gd name="T61" fmla="*/ 11 h 23"/>
                <a:gd name="T62" fmla="*/ 5 w 5"/>
                <a:gd name="T63" fmla="*/ 11 h 23"/>
                <a:gd name="T64" fmla="*/ 5 w 5"/>
                <a:gd name="T65" fmla="*/ 11 h 23"/>
                <a:gd name="T66" fmla="*/ 5 w 5"/>
                <a:gd name="T67" fmla="*/ 17 h 23"/>
                <a:gd name="T68" fmla="*/ 5 w 5"/>
                <a:gd name="T69" fmla="*/ 17 h 23"/>
                <a:gd name="T70" fmla="*/ 5 w 5"/>
                <a:gd name="T71" fmla="*/ 17 h 23"/>
                <a:gd name="T72" fmla="*/ 5 w 5"/>
                <a:gd name="T73" fmla="*/ 17 h 23"/>
                <a:gd name="T74" fmla="*/ 5 w 5"/>
                <a:gd name="T75" fmla="*/ 17 h 23"/>
                <a:gd name="T76" fmla="*/ 5 w 5"/>
                <a:gd name="T77" fmla="*/ 17 h 23"/>
                <a:gd name="T78" fmla="*/ 5 w 5"/>
                <a:gd name="T79" fmla="*/ 17 h 23"/>
                <a:gd name="T80" fmla="*/ 5 w 5"/>
                <a:gd name="T81" fmla="*/ 17 h 23"/>
                <a:gd name="T82" fmla="*/ 5 w 5"/>
                <a:gd name="T83" fmla="*/ 17 h 23"/>
                <a:gd name="T84" fmla="*/ 5 w 5"/>
                <a:gd name="T85" fmla="*/ 17 h 23"/>
                <a:gd name="T86" fmla="*/ 5 w 5"/>
                <a:gd name="T87" fmla="*/ 17 h 23"/>
                <a:gd name="T88" fmla="*/ 5 w 5"/>
                <a:gd name="T89" fmla="*/ 17 h 23"/>
                <a:gd name="T90" fmla="*/ 5 w 5"/>
                <a:gd name="T91" fmla="*/ 23 h 23"/>
                <a:gd name="T92" fmla="*/ 5 w 5"/>
                <a:gd name="T93" fmla="*/ 23 h 23"/>
                <a:gd name="T94" fmla="*/ 5 w 5"/>
                <a:gd name="T95" fmla="*/ 23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9" name="Freeform 166"/>
            <p:cNvSpPr>
              <a:spLocks/>
            </p:cNvSpPr>
            <p:nvPr/>
          </p:nvSpPr>
          <p:spPr bwMode="auto">
            <a:xfrm>
              <a:off x="5183" y="3051"/>
              <a:ext cx="4" cy="23"/>
            </a:xfrm>
            <a:custGeom>
              <a:avLst/>
              <a:gdLst>
                <a:gd name="T0" fmla="*/ 0 w 4"/>
                <a:gd name="T1" fmla="*/ 0 h 23"/>
                <a:gd name="T2" fmla="*/ 0 w 4"/>
                <a:gd name="T3" fmla="*/ 0 h 23"/>
                <a:gd name="T4" fmla="*/ 0 w 4"/>
                <a:gd name="T5" fmla="*/ 0 h 23"/>
                <a:gd name="T6" fmla="*/ 0 w 4"/>
                <a:gd name="T7" fmla="*/ 0 h 23"/>
                <a:gd name="T8" fmla="*/ 0 w 4"/>
                <a:gd name="T9" fmla="*/ 0 h 23"/>
                <a:gd name="T10" fmla="*/ 0 w 4"/>
                <a:gd name="T11" fmla="*/ 0 h 23"/>
                <a:gd name="T12" fmla="*/ 0 w 4"/>
                <a:gd name="T13" fmla="*/ 0 h 23"/>
                <a:gd name="T14" fmla="*/ 0 w 4"/>
                <a:gd name="T15" fmla="*/ 5 h 23"/>
                <a:gd name="T16" fmla="*/ 0 w 4"/>
                <a:gd name="T17" fmla="*/ 5 h 23"/>
                <a:gd name="T18" fmla="*/ 0 w 4"/>
                <a:gd name="T19" fmla="*/ 5 h 23"/>
                <a:gd name="T20" fmla="*/ 0 w 4"/>
                <a:gd name="T21" fmla="*/ 5 h 23"/>
                <a:gd name="T22" fmla="*/ 0 w 4"/>
                <a:gd name="T23" fmla="*/ 5 h 23"/>
                <a:gd name="T24" fmla="*/ 0 w 4"/>
                <a:gd name="T25" fmla="*/ 5 h 23"/>
                <a:gd name="T26" fmla="*/ 0 w 4"/>
                <a:gd name="T27" fmla="*/ 5 h 23"/>
                <a:gd name="T28" fmla="*/ 0 w 4"/>
                <a:gd name="T29" fmla="*/ 5 h 23"/>
                <a:gd name="T30" fmla="*/ 4 w 4"/>
                <a:gd name="T31" fmla="*/ 5 h 23"/>
                <a:gd name="T32" fmla="*/ 4 w 4"/>
                <a:gd name="T33" fmla="*/ 5 h 23"/>
                <a:gd name="T34" fmla="*/ 4 w 4"/>
                <a:gd name="T35" fmla="*/ 5 h 23"/>
                <a:gd name="T36" fmla="*/ 4 w 4"/>
                <a:gd name="T37" fmla="*/ 5 h 23"/>
                <a:gd name="T38" fmla="*/ 4 w 4"/>
                <a:gd name="T39" fmla="*/ 5 h 23"/>
                <a:gd name="T40" fmla="*/ 4 w 4"/>
                <a:gd name="T41" fmla="*/ 11 h 23"/>
                <a:gd name="T42" fmla="*/ 4 w 4"/>
                <a:gd name="T43" fmla="*/ 11 h 23"/>
                <a:gd name="T44" fmla="*/ 4 w 4"/>
                <a:gd name="T45" fmla="*/ 11 h 23"/>
                <a:gd name="T46" fmla="*/ 4 w 4"/>
                <a:gd name="T47" fmla="*/ 11 h 23"/>
                <a:gd name="T48" fmla="*/ 4 w 4"/>
                <a:gd name="T49" fmla="*/ 11 h 23"/>
                <a:gd name="T50" fmla="*/ 4 w 4"/>
                <a:gd name="T51" fmla="*/ 11 h 23"/>
                <a:gd name="T52" fmla="*/ 4 w 4"/>
                <a:gd name="T53" fmla="*/ 11 h 23"/>
                <a:gd name="T54" fmla="*/ 4 w 4"/>
                <a:gd name="T55" fmla="*/ 11 h 23"/>
                <a:gd name="T56" fmla="*/ 4 w 4"/>
                <a:gd name="T57" fmla="*/ 11 h 23"/>
                <a:gd name="T58" fmla="*/ 4 w 4"/>
                <a:gd name="T59" fmla="*/ 11 h 23"/>
                <a:gd name="T60" fmla="*/ 4 w 4"/>
                <a:gd name="T61" fmla="*/ 11 h 23"/>
                <a:gd name="T62" fmla="*/ 4 w 4"/>
                <a:gd name="T63" fmla="*/ 11 h 23"/>
                <a:gd name="T64" fmla="*/ 4 w 4"/>
                <a:gd name="T65" fmla="*/ 17 h 23"/>
                <a:gd name="T66" fmla="*/ 4 w 4"/>
                <a:gd name="T67" fmla="*/ 17 h 23"/>
                <a:gd name="T68" fmla="*/ 4 w 4"/>
                <a:gd name="T69" fmla="*/ 17 h 23"/>
                <a:gd name="T70" fmla="*/ 4 w 4"/>
                <a:gd name="T71" fmla="*/ 17 h 23"/>
                <a:gd name="T72" fmla="*/ 4 w 4"/>
                <a:gd name="T73" fmla="*/ 17 h 23"/>
                <a:gd name="T74" fmla="*/ 4 w 4"/>
                <a:gd name="T75" fmla="*/ 17 h 23"/>
                <a:gd name="T76" fmla="*/ 4 w 4"/>
                <a:gd name="T77" fmla="*/ 17 h 23"/>
                <a:gd name="T78" fmla="*/ 4 w 4"/>
                <a:gd name="T79" fmla="*/ 17 h 23"/>
                <a:gd name="T80" fmla="*/ 4 w 4"/>
                <a:gd name="T81" fmla="*/ 17 h 23"/>
                <a:gd name="T82" fmla="*/ 4 w 4"/>
                <a:gd name="T83" fmla="*/ 17 h 23"/>
                <a:gd name="T84" fmla="*/ 4 w 4"/>
                <a:gd name="T85" fmla="*/ 17 h 23"/>
                <a:gd name="T86" fmla="*/ 4 w 4"/>
                <a:gd name="T87" fmla="*/ 17 h 23"/>
                <a:gd name="T88" fmla="*/ 4 w 4"/>
                <a:gd name="T89" fmla="*/ 23 h 23"/>
                <a:gd name="T90" fmla="*/ 4 w 4"/>
                <a:gd name="T91" fmla="*/ 23 h 23"/>
                <a:gd name="T92" fmla="*/ 4 w 4"/>
                <a:gd name="T93" fmla="*/ 23 h 23"/>
                <a:gd name="T94" fmla="*/ 4 w 4"/>
                <a:gd name="T95" fmla="*/ 23 h 23"/>
                <a:gd name="T96" fmla="*/ 4 w 4"/>
                <a:gd name="T97" fmla="*/ 23 h 23"/>
                <a:gd name="T98" fmla="*/ 4 w 4"/>
                <a:gd name="T99" fmla="*/ 23 h 23"/>
                <a:gd name="T100" fmla="*/ 4 w 4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4" y="5"/>
                  </a:lnTo>
                  <a:lnTo>
                    <a:pt x="4" y="11"/>
                  </a:lnTo>
                  <a:lnTo>
                    <a:pt x="4" y="17"/>
                  </a:lnTo>
                  <a:lnTo>
                    <a:pt x="4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0" name="Freeform 167"/>
            <p:cNvSpPr>
              <a:spLocks/>
            </p:cNvSpPr>
            <p:nvPr/>
          </p:nvSpPr>
          <p:spPr bwMode="auto">
            <a:xfrm>
              <a:off x="5187" y="3074"/>
              <a:ext cx="10" cy="22"/>
            </a:xfrm>
            <a:custGeom>
              <a:avLst/>
              <a:gdLst>
                <a:gd name="T0" fmla="*/ 0 w 10"/>
                <a:gd name="T1" fmla="*/ 0 h 22"/>
                <a:gd name="T2" fmla="*/ 0 w 10"/>
                <a:gd name="T3" fmla="*/ 0 h 22"/>
                <a:gd name="T4" fmla="*/ 0 w 10"/>
                <a:gd name="T5" fmla="*/ 0 h 22"/>
                <a:gd name="T6" fmla="*/ 0 w 10"/>
                <a:gd name="T7" fmla="*/ 0 h 22"/>
                <a:gd name="T8" fmla="*/ 0 w 10"/>
                <a:gd name="T9" fmla="*/ 0 h 22"/>
                <a:gd name="T10" fmla="*/ 0 w 10"/>
                <a:gd name="T11" fmla="*/ 5 h 22"/>
                <a:gd name="T12" fmla="*/ 5 w 10"/>
                <a:gd name="T13" fmla="*/ 5 h 22"/>
                <a:gd name="T14" fmla="*/ 5 w 10"/>
                <a:gd name="T15" fmla="*/ 5 h 22"/>
                <a:gd name="T16" fmla="*/ 5 w 10"/>
                <a:gd name="T17" fmla="*/ 5 h 22"/>
                <a:gd name="T18" fmla="*/ 5 w 10"/>
                <a:gd name="T19" fmla="*/ 5 h 22"/>
                <a:gd name="T20" fmla="*/ 5 w 10"/>
                <a:gd name="T21" fmla="*/ 5 h 22"/>
                <a:gd name="T22" fmla="*/ 5 w 10"/>
                <a:gd name="T23" fmla="*/ 5 h 22"/>
                <a:gd name="T24" fmla="*/ 5 w 10"/>
                <a:gd name="T25" fmla="*/ 5 h 22"/>
                <a:gd name="T26" fmla="*/ 5 w 10"/>
                <a:gd name="T27" fmla="*/ 5 h 22"/>
                <a:gd name="T28" fmla="*/ 5 w 10"/>
                <a:gd name="T29" fmla="*/ 5 h 22"/>
                <a:gd name="T30" fmla="*/ 5 w 10"/>
                <a:gd name="T31" fmla="*/ 5 h 22"/>
                <a:gd name="T32" fmla="*/ 5 w 10"/>
                <a:gd name="T33" fmla="*/ 5 h 22"/>
                <a:gd name="T34" fmla="*/ 5 w 10"/>
                <a:gd name="T35" fmla="*/ 11 h 22"/>
                <a:gd name="T36" fmla="*/ 5 w 10"/>
                <a:gd name="T37" fmla="*/ 11 h 22"/>
                <a:gd name="T38" fmla="*/ 5 w 10"/>
                <a:gd name="T39" fmla="*/ 11 h 22"/>
                <a:gd name="T40" fmla="*/ 5 w 10"/>
                <a:gd name="T41" fmla="*/ 11 h 22"/>
                <a:gd name="T42" fmla="*/ 5 w 10"/>
                <a:gd name="T43" fmla="*/ 11 h 22"/>
                <a:gd name="T44" fmla="*/ 5 w 10"/>
                <a:gd name="T45" fmla="*/ 11 h 22"/>
                <a:gd name="T46" fmla="*/ 5 w 10"/>
                <a:gd name="T47" fmla="*/ 11 h 22"/>
                <a:gd name="T48" fmla="*/ 5 w 10"/>
                <a:gd name="T49" fmla="*/ 11 h 22"/>
                <a:gd name="T50" fmla="*/ 5 w 10"/>
                <a:gd name="T51" fmla="*/ 11 h 22"/>
                <a:gd name="T52" fmla="*/ 5 w 10"/>
                <a:gd name="T53" fmla="*/ 11 h 22"/>
                <a:gd name="T54" fmla="*/ 5 w 10"/>
                <a:gd name="T55" fmla="*/ 11 h 22"/>
                <a:gd name="T56" fmla="*/ 5 w 10"/>
                <a:gd name="T57" fmla="*/ 11 h 22"/>
                <a:gd name="T58" fmla="*/ 5 w 10"/>
                <a:gd name="T59" fmla="*/ 17 h 22"/>
                <a:gd name="T60" fmla="*/ 5 w 10"/>
                <a:gd name="T61" fmla="*/ 17 h 22"/>
                <a:gd name="T62" fmla="*/ 5 w 10"/>
                <a:gd name="T63" fmla="*/ 17 h 22"/>
                <a:gd name="T64" fmla="*/ 5 w 10"/>
                <a:gd name="T65" fmla="*/ 17 h 22"/>
                <a:gd name="T66" fmla="*/ 5 w 10"/>
                <a:gd name="T67" fmla="*/ 17 h 22"/>
                <a:gd name="T68" fmla="*/ 5 w 10"/>
                <a:gd name="T69" fmla="*/ 17 h 22"/>
                <a:gd name="T70" fmla="*/ 5 w 10"/>
                <a:gd name="T71" fmla="*/ 17 h 22"/>
                <a:gd name="T72" fmla="*/ 5 w 10"/>
                <a:gd name="T73" fmla="*/ 17 h 22"/>
                <a:gd name="T74" fmla="*/ 5 w 10"/>
                <a:gd name="T75" fmla="*/ 17 h 22"/>
                <a:gd name="T76" fmla="*/ 5 w 10"/>
                <a:gd name="T77" fmla="*/ 17 h 22"/>
                <a:gd name="T78" fmla="*/ 5 w 10"/>
                <a:gd name="T79" fmla="*/ 17 h 22"/>
                <a:gd name="T80" fmla="*/ 5 w 10"/>
                <a:gd name="T81" fmla="*/ 17 h 22"/>
                <a:gd name="T82" fmla="*/ 5 w 10"/>
                <a:gd name="T83" fmla="*/ 22 h 22"/>
                <a:gd name="T84" fmla="*/ 5 w 10"/>
                <a:gd name="T85" fmla="*/ 22 h 22"/>
                <a:gd name="T86" fmla="*/ 5 w 10"/>
                <a:gd name="T87" fmla="*/ 22 h 22"/>
                <a:gd name="T88" fmla="*/ 5 w 10"/>
                <a:gd name="T89" fmla="*/ 22 h 22"/>
                <a:gd name="T90" fmla="*/ 5 w 10"/>
                <a:gd name="T91" fmla="*/ 22 h 22"/>
                <a:gd name="T92" fmla="*/ 10 w 10"/>
                <a:gd name="T93" fmla="*/ 22 h 22"/>
                <a:gd name="T94" fmla="*/ 10 w 10"/>
                <a:gd name="T95" fmla="*/ 22 h 22"/>
                <a:gd name="T96" fmla="*/ 10 w 10"/>
                <a:gd name="T97" fmla="*/ 22 h 22"/>
                <a:gd name="T98" fmla="*/ 10 w 10"/>
                <a:gd name="T99" fmla="*/ 22 h 22"/>
                <a:gd name="T100" fmla="*/ 10 w 10"/>
                <a:gd name="T101" fmla="*/ 22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2"/>
                <a:gd name="T155" fmla="*/ 10 w 10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2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5" y="22"/>
                  </a:lnTo>
                  <a:lnTo>
                    <a:pt x="10" y="2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1" name="Freeform 168"/>
            <p:cNvSpPr>
              <a:spLocks/>
            </p:cNvSpPr>
            <p:nvPr/>
          </p:nvSpPr>
          <p:spPr bwMode="auto">
            <a:xfrm>
              <a:off x="5197" y="3096"/>
              <a:ext cx="5" cy="29"/>
            </a:xfrm>
            <a:custGeom>
              <a:avLst/>
              <a:gdLst>
                <a:gd name="T0" fmla="*/ 0 w 5"/>
                <a:gd name="T1" fmla="*/ 0 h 29"/>
                <a:gd name="T2" fmla="*/ 0 w 5"/>
                <a:gd name="T3" fmla="*/ 0 h 29"/>
                <a:gd name="T4" fmla="*/ 0 w 5"/>
                <a:gd name="T5" fmla="*/ 6 h 29"/>
                <a:gd name="T6" fmla="*/ 0 w 5"/>
                <a:gd name="T7" fmla="*/ 6 h 29"/>
                <a:gd name="T8" fmla="*/ 0 w 5"/>
                <a:gd name="T9" fmla="*/ 6 h 29"/>
                <a:gd name="T10" fmla="*/ 0 w 5"/>
                <a:gd name="T11" fmla="*/ 6 h 29"/>
                <a:gd name="T12" fmla="*/ 0 w 5"/>
                <a:gd name="T13" fmla="*/ 6 h 29"/>
                <a:gd name="T14" fmla="*/ 0 w 5"/>
                <a:gd name="T15" fmla="*/ 6 h 29"/>
                <a:gd name="T16" fmla="*/ 0 w 5"/>
                <a:gd name="T17" fmla="*/ 6 h 29"/>
                <a:gd name="T18" fmla="*/ 0 w 5"/>
                <a:gd name="T19" fmla="*/ 6 h 29"/>
                <a:gd name="T20" fmla="*/ 0 w 5"/>
                <a:gd name="T21" fmla="*/ 6 h 29"/>
                <a:gd name="T22" fmla="*/ 0 w 5"/>
                <a:gd name="T23" fmla="*/ 6 h 29"/>
                <a:gd name="T24" fmla="*/ 0 w 5"/>
                <a:gd name="T25" fmla="*/ 6 h 29"/>
                <a:gd name="T26" fmla="*/ 0 w 5"/>
                <a:gd name="T27" fmla="*/ 6 h 29"/>
                <a:gd name="T28" fmla="*/ 0 w 5"/>
                <a:gd name="T29" fmla="*/ 12 h 29"/>
                <a:gd name="T30" fmla="*/ 0 w 5"/>
                <a:gd name="T31" fmla="*/ 12 h 29"/>
                <a:gd name="T32" fmla="*/ 0 w 5"/>
                <a:gd name="T33" fmla="*/ 12 h 29"/>
                <a:gd name="T34" fmla="*/ 0 w 5"/>
                <a:gd name="T35" fmla="*/ 12 h 29"/>
                <a:gd name="T36" fmla="*/ 0 w 5"/>
                <a:gd name="T37" fmla="*/ 12 h 29"/>
                <a:gd name="T38" fmla="*/ 0 w 5"/>
                <a:gd name="T39" fmla="*/ 12 h 29"/>
                <a:gd name="T40" fmla="*/ 0 w 5"/>
                <a:gd name="T41" fmla="*/ 12 h 29"/>
                <a:gd name="T42" fmla="*/ 0 w 5"/>
                <a:gd name="T43" fmla="*/ 12 h 29"/>
                <a:gd name="T44" fmla="*/ 0 w 5"/>
                <a:gd name="T45" fmla="*/ 12 h 29"/>
                <a:gd name="T46" fmla="*/ 0 w 5"/>
                <a:gd name="T47" fmla="*/ 12 h 29"/>
                <a:gd name="T48" fmla="*/ 0 w 5"/>
                <a:gd name="T49" fmla="*/ 12 h 29"/>
                <a:gd name="T50" fmla="*/ 0 w 5"/>
                <a:gd name="T51" fmla="*/ 17 h 29"/>
                <a:gd name="T52" fmla="*/ 0 w 5"/>
                <a:gd name="T53" fmla="*/ 17 h 29"/>
                <a:gd name="T54" fmla="*/ 0 w 5"/>
                <a:gd name="T55" fmla="*/ 17 h 29"/>
                <a:gd name="T56" fmla="*/ 0 w 5"/>
                <a:gd name="T57" fmla="*/ 17 h 29"/>
                <a:gd name="T58" fmla="*/ 0 w 5"/>
                <a:gd name="T59" fmla="*/ 17 h 29"/>
                <a:gd name="T60" fmla="*/ 0 w 5"/>
                <a:gd name="T61" fmla="*/ 17 h 29"/>
                <a:gd name="T62" fmla="*/ 0 w 5"/>
                <a:gd name="T63" fmla="*/ 17 h 29"/>
                <a:gd name="T64" fmla="*/ 0 w 5"/>
                <a:gd name="T65" fmla="*/ 17 h 29"/>
                <a:gd name="T66" fmla="*/ 0 w 5"/>
                <a:gd name="T67" fmla="*/ 17 h 29"/>
                <a:gd name="T68" fmla="*/ 0 w 5"/>
                <a:gd name="T69" fmla="*/ 17 h 29"/>
                <a:gd name="T70" fmla="*/ 0 w 5"/>
                <a:gd name="T71" fmla="*/ 17 h 29"/>
                <a:gd name="T72" fmla="*/ 0 w 5"/>
                <a:gd name="T73" fmla="*/ 17 h 29"/>
                <a:gd name="T74" fmla="*/ 5 w 5"/>
                <a:gd name="T75" fmla="*/ 23 h 29"/>
                <a:gd name="T76" fmla="*/ 5 w 5"/>
                <a:gd name="T77" fmla="*/ 23 h 29"/>
                <a:gd name="T78" fmla="*/ 5 w 5"/>
                <a:gd name="T79" fmla="*/ 23 h 29"/>
                <a:gd name="T80" fmla="*/ 5 w 5"/>
                <a:gd name="T81" fmla="*/ 23 h 29"/>
                <a:gd name="T82" fmla="*/ 5 w 5"/>
                <a:gd name="T83" fmla="*/ 23 h 29"/>
                <a:gd name="T84" fmla="*/ 5 w 5"/>
                <a:gd name="T85" fmla="*/ 23 h 29"/>
                <a:gd name="T86" fmla="*/ 5 w 5"/>
                <a:gd name="T87" fmla="*/ 23 h 29"/>
                <a:gd name="T88" fmla="*/ 5 w 5"/>
                <a:gd name="T89" fmla="*/ 23 h 29"/>
                <a:gd name="T90" fmla="*/ 5 w 5"/>
                <a:gd name="T91" fmla="*/ 23 h 29"/>
                <a:gd name="T92" fmla="*/ 5 w 5"/>
                <a:gd name="T93" fmla="*/ 23 h 29"/>
                <a:gd name="T94" fmla="*/ 5 w 5"/>
                <a:gd name="T95" fmla="*/ 23 h 29"/>
                <a:gd name="T96" fmla="*/ 5 w 5"/>
                <a:gd name="T97" fmla="*/ 29 h 29"/>
                <a:gd name="T98" fmla="*/ 5 w 5"/>
                <a:gd name="T99" fmla="*/ 29 h 29"/>
                <a:gd name="T100" fmla="*/ 5 w 5"/>
                <a:gd name="T101" fmla="*/ 29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9"/>
                <a:gd name="T155" fmla="*/ 5 w 5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9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5" y="23"/>
                  </a:lnTo>
                  <a:lnTo>
                    <a:pt x="5" y="29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2" name="Freeform 169"/>
            <p:cNvSpPr>
              <a:spLocks/>
            </p:cNvSpPr>
            <p:nvPr/>
          </p:nvSpPr>
          <p:spPr bwMode="auto">
            <a:xfrm>
              <a:off x="5202" y="3125"/>
              <a:ext cx="4" cy="23"/>
            </a:xfrm>
            <a:custGeom>
              <a:avLst/>
              <a:gdLst>
                <a:gd name="T0" fmla="*/ 0 w 4"/>
                <a:gd name="T1" fmla="*/ 0 h 23"/>
                <a:gd name="T2" fmla="*/ 0 w 4"/>
                <a:gd name="T3" fmla="*/ 0 h 23"/>
                <a:gd name="T4" fmla="*/ 0 w 4"/>
                <a:gd name="T5" fmla="*/ 0 h 23"/>
                <a:gd name="T6" fmla="*/ 0 w 4"/>
                <a:gd name="T7" fmla="*/ 0 h 23"/>
                <a:gd name="T8" fmla="*/ 0 w 4"/>
                <a:gd name="T9" fmla="*/ 0 h 23"/>
                <a:gd name="T10" fmla="*/ 0 w 4"/>
                <a:gd name="T11" fmla="*/ 0 h 23"/>
                <a:gd name="T12" fmla="*/ 0 w 4"/>
                <a:gd name="T13" fmla="*/ 0 h 23"/>
                <a:gd name="T14" fmla="*/ 0 w 4"/>
                <a:gd name="T15" fmla="*/ 0 h 23"/>
                <a:gd name="T16" fmla="*/ 0 w 4"/>
                <a:gd name="T17" fmla="*/ 0 h 23"/>
                <a:gd name="T18" fmla="*/ 0 w 4"/>
                <a:gd name="T19" fmla="*/ 0 h 23"/>
                <a:gd name="T20" fmla="*/ 0 w 4"/>
                <a:gd name="T21" fmla="*/ 5 h 23"/>
                <a:gd name="T22" fmla="*/ 0 w 4"/>
                <a:gd name="T23" fmla="*/ 5 h 23"/>
                <a:gd name="T24" fmla="*/ 0 w 4"/>
                <a:gd name="T25" fmla="*/ 5 h 23"/>
                <a:gd name="T26" fmla="*/ 0 w 4"/>
                <a:gd name="T27" fmla="*/ 5 h 23"/>
                <a:gd name="T28" fmla="*/ 0 w 4"/>
                <a:gd name="T29" fmla="*/ 5 h 23"/>
                <a:gd name="T30" fmla="*/ 0 w 4"/>
                <a:gd name="T31" fmla="*/ 5 h 23"/>
                <a:gd name="T32" fmla="*/ 0 w 4"/>
                <a:gd name="T33" fmla="*/ 5 h 23"/>
                <a:gd name="T34" fmla="*/ 0 w 4"/>
                <a:gd name="T35" fmla="*/ 5 h 23"/>
                <a:gd name="T36" fmla="*/ 0 w 4"/>
                <a:gd name="T37" fmla="*/ 5 h 23"/>
                <a:gd name="T38" fmla="*/ 0 w 4"/>
                <a:gd name="T39" fmla="*/ 5 h 23"/>
                <a:gd name="T40" fmla="*/ 0 w 4"/>
                <a:gd name="T41" fmla="*/ 5 h 23"/>
                <a:gd name="T42" fmla="*/ 0 w 4"/>
                <a:gd name="T43" fmla="*/ 5 h 23"/>
                <a:gd name="T44" fmla="*/ 0 w 4"/>
                <a:gd name="T45" fmla="*/ 11 h 23"/>
                <a:gd name="T46" fmla="*/ 0 w 4"/>
                <a:gd name="T47" fmla="*/ 11 h 23"/>
                <a:gd name="T48" fmla="*/ 0 w 4"/>
                <a:gd name="T49" fmla="*/ 11 h 23"/>
                <a:gd name="T50" fmla="*/ 0 w 4"/>
                <a:gd name="T51" fmla="*/ 11 h 23"/>
                <a:gd name="T52" fmla="*/ 0 w 4"/>
                <a:gd name="T53" fmla="*/ 11 h 23"/>
                <a:gd name="T54" fmla="*/ 4 w 4"/>
                <a:gd name="T55" fmla="*/ 11 h 23"/>
                <a:gd name="T56" fmla="*/ 4 w 4"/>
                <a:gd name="T57" fmla="*/ 11 h 23"/>
                <a:gd name="T58" fmla="*/ 4 w 4"/>
                <a:gd name="T59" fmla="*/ 11 h 23"/>
                <a:gd name="T60" fmla="*/ 4 w 4"/>
                <a:gd name="T61" fmla="*/ 11 h 23"/>
                <a:gd name="T62" fmla="*/ 4 w 4"/>
                <a:gd name="T63" fmla="*/ 11 h 23"/>
                <a:gd name="T64" fmla="*/ 4 w 4"/>
                <a:gd name="T65" fmla="*/ 11 h 23"/>
                <a:gd name="T66" fmla="*/ 4 w 4"/>
                <a:gd name="T67" fmla="*/ 17 h 23"/>
                <a:gd name="T68" fmla="*/ 4 w 4"/>
                <a:gd name="T69" fmla="*/ 17 h 23"/>
                <a:gd name="T70" fmla="*/ 4 w 4"/>
                <a:gd name="T71" fmla="*/ 17 h 23"/>
                <a:gd name="T72" fmla="*/ 4 w 4"/>
                <a:gd name="T73" fmla="*/ 17 h 23"/>
                <a:gd name="T74" fmla="*/ 4 w 4"/>
                <a:gd name="T75" fmla="*/ 17 h 23"/>
                <a:gd name="T76" fmla="*/ 4 w 4"/>
                <a:gd name="T77" fmla="*/ 17 h 23"/>
                <a:gd name="T78" fmla="*/ 4 w 4"/>
                <a:gd name="T79" fmla="*/ 17 h 23"/>
                <a:gd name="T80" fmla="*/ 4 w 4"/>
                <a:gd name="T81" fmla="*/ 17 h 23"/>
                <a:gd name="T82" fmla="*/ 4 w 4"/>
                <a:gd name="T83" fmla="*/ 17 h 23"/>
                <a:gd name="T84" fmla="*/ 4 w 4"/>
                <a:gd name="T85" fmla="*/ 17 h 23"/>
                <a:gd name="T86" fmla="*/ 4 w 4"/>
                <a:gd name="T87" fmla="*/ 17 h 23"/>
                <a:gd name="T88" fmla="*/ 4 w 4"/>
                <a:gd name="T89" fmla="*/ 17 h 23"/>
                <a:gd name="T90" fmla="*/ 4 w 4"/>
                <a:gd name="T91" fmla="*/ 23 h 23"/>
                <a:gd name="T92" fmla="*/ 4 w 4"/>
                <a:gd name="T93" fmla="*/ 23 h 23"/>
                <a:gd name="T94" fmla="*/ 4 w 4"/>
                <a:gd name="T95" fmla="*/ 23 h 23"/>
                <a:gd name="T96" fmla="*/ 4 w 4"/>
                <a:gd name="T97" fmla="*/ 23 h 23"/>
                <a:gd name="T98" fmla="*/ 4 w 4"/>
                <a:gd name="T99" fmla="*/ 23 h 23"/>
                <a:gd name="T100" fmla="*/ 4 w 4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17"/>
                  </a:lnTo>
                  <a:lnTo>
                    <a:pt x="4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3" name="Freeform 170"/>
            <p:cNvSpPr>
              <a:spLocks/>
            </p:cNvSpPr>
            <p:nvPr/>
          </p:nvSpPr>
          <p:spPr bwMode="auto">
            <a:xfrm>
              <a:off x="5206" y="3148"/>
              <a:ext cx="5" cy="22"/>
            </a:xfrm>
            <a:custGeom>
              <a:avLst/>
              <a:gdLst>
                <a:gd name="T0" fmla="*/ 0 w 5"/>
                <a:gd name="T1" fmla="*/ 0 h 22"/>
                <a:gd name="T2" fmla="*/ 0 w 5"/>
                <a:gd name="T3" fmla="*/ 0 h 22"/>
                <a:gd name="T4" fmla="*/ 0 w 5"/>
                <a:gd name="T5" fmla="*/ 0 h 22"/>
                <a:gd name="T6" fmla="*/ 0 w 5"/>
                <a:gd name="T7" fmla="*/ 0 h 22"/>
                <a:gd name="T8" fmla="*/ 0 w 5"/>
                <a:gd name="T9" fmla="*/ 0 h 22"/>
                <a:gd name="T10" fmla="*/ 0 w 5"/>
                <a:gd name="T11" fmla="*/ 0 h 22"/>
                <a:gd name="T12" fmla="*/ 0 w 5"/>
                <a:gd name="T13" fmla="*/ 5 h 22"/>
                <a:gd name="T14" fmla="*/ 0 w 5"/>
                <a:gd name="T15" fmla="*/ 5 h 22"/>
                <a:gd name="T16" fmla="*/ 0 w 5"/>
                <a:gd name="T17" fmla="*/ 5 h 22"/>
                <a:gd name="T18" fmla="*/ 0 w 5"/>
                <a:gd name="T19" fmla="*/ 5 h 22"/>
                <a:gd name="T20" fmla="*/ 0 w 5"/>
                <a:gd name="T21" fmla="*/ 5 h 22"/>
                <a:gd name="T22" fmla="*/ 0 w 5"/>
                <a:gd name="T23" fmla="*/ 5 h 22"/>
                <a:gd name="T24" fmla="*/ 0 w 5"/>
                <a:gd name="T25" fmla="*/ 5 h 22"/>
                <a:gd name="T26" fmla="*/ 0 w 5"/>
                <a:gd name="T27" fmla="*/ 5 h 22"/>
                <a:gd name="T28" fmla="*/ 0 w 5"/>
                <a:gd name="T29" fmla="*/ 5 h 22"/>
                <a:gd name="T30" fmla="*/ 0 w 5"/>
                <a:gd name="T31" fmla="*/ 5 h 22"/>
                <a:gd name="T32" fmla="*/ 0 w 5"/>
                <a:gd name="T33" fmla="*/ 5 h 22"/>
                <a:gd name="T34" fmla="*/ 0 w 5"/>
                <a:gd name="T35" fmla="*/ 5 h 22"/>
                <a:gd name="T36" fmla="*/ 5 w 5"/>
                <a:gd name="T37" fmla="*/ 11 h 22"/>
                <a:gd name="T38" fmla="*/ 5 w 5"/>
                <a:gd name="T39" fmla="*/ 11 h 22"/>
                <a:gd name="T40" fmla="*/ 5 w 5"/>
                <a:gd name="T41" fmla="*/ 11 h 22"/>
                <a:gd name="T42" fmla="*/ 5 w 5"/>
                <a:gd name="T43" fmla="*/ 11 h 22"/>
                <a:gd name="T44" fmla="*/ 5 w 5"/>
                <a:gd name="T45" fmla="*/ 11 h 22"/>
                <a:gd name="T46" fmla="*/ 5 w 5"/>
                <a:gd name="T47" fmla="*/ 11 h 22"/>
                <a:gd name="T48" fmla="*/ 5 w 5"/>
                <a:gd name="T49" fmla="*/ 11 h 22"/>
                <a:gd name="T50" fmla="*/ 5 w 5"/>
                <a:gd name="T51" fmla="*/ 11 h 22"/>
                <a:gd name="T52" fmla="*/ 5 w 5"/>
                <a:gd name="T53" fmla="*/ 11 h 22"/>
                <a:gd name="T54" fmla="*/ 5 w 5"/>
                <a:gd name="T55" fmla="*/ 11 h 22"/>
                <a:gd name="T56" fmla="*/ 5 w 5"/>
                <a:gd name="T57" fmla="*/ 11 h 22"/>
                <a:gd name="T58" fmla="*/ 5 w 5"/>
                <a:gd name="T59" fmla="*/ 11 h 22"/>
                <a:gd name="T60" fmla="*/ 5 w 5"/>
                <a:gd name="T61" fmla="*/ 17 h 22"/>
                <a:gd name="T62" fmla="*/ 5 w 5"/>
                <a:gd name="T63" fmla="*/ 17 h 22"/>
                <a:gd name="T64" fmla="*/ 5 w 5"/>
                <a:gd name="T65" fmla="*/ 17 h 22"/>
                <a:gd name="T66" fmla="*/ 5 w 5"/>
                <a:gd name="T67" fmla="*/ 17 h 22"/>
                <a:gd name="T68" fmla="*/ 5 w 5"/>
                <a:gd name="T69" fmla="*/ 17 h 22"/>
                <a:gd name="T70" fmla="*/ 5 w 5"/>
                <a:gd name="T71" fmla="*/ 17 h 22"/>
                <a:gd name="T72" fmla="*/ 5 w 5"/>
                <a:gd name="T73" fmla="*/ 17 h 22"/>
                <a:gd name="T74" fmla="*/ 5 w 5"/>
                <a:gd name="T75" fmla="*/ 17 h 22"/>
                <a:gd name="T76" fmla="*/ 5 w 5"/>
                <a:gd name="T77" fmla="*/ 17 h 22"/>
                <a:gd name="T78" fmla="*/ 5 w 5"/>
                <a:gd name="T79" fmla="*/ 17 h 22"/>
                <a:gd name="T80" fmla="*/ 5 w 5"/>
                <a:gd name="T81" fmla="*/ 17 h 22"/>
                <a:gd name="T82" fmla="*/ 5 w 5"/>
                <a:gd name="T83" fmla="*/ 17 h 22"/>
                <a:gd name="T84" fmla="*/ 5 w 5"/>
                <a:gd name="T85" fmla="*/ 22 h 22"/>
                <a:gd name="T86" fmla="*/ 5 w 5"/>
                <a:gd name="T87" fmla="*/ 22 h 22"/>
                <a:gd name="T88" fmla="*/ 5 w 5"/>
                <a:gd name="T89" fmla="*/ 22 h 22"/>
                <a:gd name="T90" fmla="*/ 5 w 5"/>
                <a:gd name="T91" fmla="*/ 22 h 22"/>
                <a:gd name="T92" fmla="*/ 5 w 5"/>
                <a:gd name="T93" fmla="*/ 22 h 22"/>
                <a:gd name="T94" fmla="*/ 5 w 5"/>
                <a:gd name="T95" fmla="*/ 22 h 22"/>
                <a:gd name="T96" fmla="*/ 5 w 5"/>
                <a:gd name="T97" fmla="*/ 22 h 22"/>
                <a:gd name="T98" fmla="*/ 5 w 5"/>
                <a:gd name="T99" fmla="*/ 22 h 22"/>
                <a:gd name="T100" fmla="*/ 5 w 5"/>
                <a:gd name="T101" fmla="*/ 22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2"/>
                <a:gd name="T155" fmla="*/ 5 w 5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2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5" y="2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4" name="Freeform 171"/>
            <p:cNvSpPr>
              <a:spLocks/>
            </p:cNvSpPr>
            <p:nvPr/>
          </p:nvSpPr>
          <p:spPr bwMode="auto">
            <a:xfrm>
              <a:off x="5211" y="3170"/>
              <a:ext cx="10" cy="23"/>
            </a:xfrm>
            <a:custGeom>
              <a:avLst/>
              <a:gdLst>
                <a:gd name="T0" fmla="*/ 0 w 10"/>
                <a:gd name="T1" fmla="*/ 0 h 23"/>
                <a:gd name="T2" fmla="*/ 0 w 10"/>
                <a:gd name="T3" fmla="*/ 0 h 23"/>
                <a:gd name="T4" fmla="*/ 0 w 10"/>
                <a:gd name="T5" fmla="*/ 0 h 23"/>
                <a:gd name="T6" fmla="*/ 0 w 10"/>
                <a:gd name="T7" fmla="*/ 0 h 23"/>
                <a:gd name="T8" fmla="*/ 0 w 10"/>
                <a:gd name="T9" fmla="*/ 6 h 23"/>
                <a:gd name="T10" fmla="*/ 0 w 10"/>
                <a:gd name="T11" fmla="*/ 6 h 23"/>
                <a:gd name="T12" fmla="*/ 0 w 10"/>
                <a:gd name="T13" fmla="*/ 6 h 23"/>
                <a:gd name="T14" fmla="*/ 0 w 10"/>
                <a:gd name="T15" fmla="*/ 6 h 23"/>
                <a:gd name="T16" fmla="*/ 5 w 10"/>
                <a:gd name="T17" fmla="*/ 6 h 23"/>
                <a:gd name="T18" fmla="*/ 5 w 10"/>
                <a:gd name="T19" fmla="*/ 6 h 23"/>
                <a:gd name="T20" fmla="*/ 5 w 10"/>
                <a:gd name="T21" fmla="*/ 6 h 23"/>
                <a:gd name="T22" fmla="*/ 5 w 10"/>
                <a:gd name="T23" fmla="*/ 6 h 23"/>
                <a:gd name="T24" fmla="*/ 5 w 10"/>
                <a:gd name="T25" fmla="*/ 6 h 23"/>
                <a:gd name="T26" fmla="*/ 5 w 10"/>
                <a:gd name="T27" fmla="*/ 6 h 23"/>
                <a:gd name="T28" fmla="*/ 5 w 10"/>
                <a:gd name="T29" fmla="*/ 6 h 23"/>
                <a:gd name="T30" fmla="*/ 5 w 10"/>
                <a:gd name="T31" fmla="*/ 6 h 23"/>
                <a:gd name="T32" fmla="*/ 5 w 10"/>
                <a:gd name="T33" fmla="*/ 12 h 23"/>
                <a:gd name="T34" fmla="*/ 5 w 10"/>
                <a:gd name="T35" fmla="*/ 12 h 23"/>
                <a:gd name="T36" fmla="*/ 5 w 10"/>
                <a:gd name="T37" fmla="*/ 12 h 23"/>
                <a:gd name="T38" fmla="*/ 5 w 10"/>
                <a:gd name="T39" fmla="*/ 12 h 23"/>
                <a:gd name="T40" fmla="*/ 5 w 10"/>
                <a:gd name="T41" fmla="*/ 12 h 23"/>
                <a:gd name="T42" fmla="*/ 5 w 10"/>
                <a:gd name="T43" fmla="*/ 12 h 23"/>
                <a:gd name="T44" fmla="*/ 5 w 10"/>
                <a:gd name="T45" fmla="*/ 12 h 23"/>
                <a:gd name="T46" fmla="*/ 5 w 10"/>
                <a:gd name="T47" fmla="*/ 12 h 23"/>
                <a:gd name="T48" fmla="*/ 5 w 10"/>
                <a:gd name="T49" fmla="*/ 12 h 23"/>
                <a:gd name="T50" fmla="*/ 5 w 10"/>
                <a:gd name="T51" fmla="*/ 12 h 23"/>
                <a:gd name="T52" fmla="*/ 5 w 10"/>
                <a:gd name="T53" fmla="*/ 12 h 23"/>
                <a:gd name="T54" fmla="*/ 5 w 10"/>
                <a:gd name="T55" fmla="*/ 12 h 23"/>
                <a:gd name="T56" fmla="*/ 5 w 10"/>
                <a:gd name="T57" fmla="*/ 17 h 23"/>
                <a:gd name="T58" fmla="*/ 5 w 10"/>
                <a:gd name="T59" fmla="*/ 17 h 23"/>
                <a:gd name="T60" fmla="*/ 5 w 10"/>
                <a:gd name="T61" fmla="*/ 17 h 23"/>
                <a:gd name="T62" fmla="*/ 5 w 10"/>
                <a:gd name="T63" fmla="*/ 17 h 23"/>
                <a:gd name="T64" fmla="*/ 5 w 10"/>
                <a:gd name="T65" fmla="*/ 17 h 23"/>
                <a:gd name="T66" fmla="*/ 5 w 10"/>
                <a:gd name="T67" fmla="*/ 17 h 23"/>
                <a:gd name="T68" fmla="*/ 5 w 10"/>
                <a:gd name="T69" fmla="*/ 17 h 23"/>
                <a:gd name="T70" fmla="*/ 5 w 10"/>
                <a:gd name="T71" fmla="*/ 17 h 23"/>
                <a:gd name="T72" fmla="*/ 5 w 10"/>
                <a:gd name="T73" fmla="*/ 17 h 23"/>
                <a:gd name="T74" fmla="*/ 5 w 10"/>
                <a:gd name="T75" fmla="*/ 17 h 23"/>
                <a:gd name="T76" fmla="*/ 5 w 10"/>
                <a:gd name="T77" fmla="*/ 17 h 23"/>
                <a:gd name="T78" fmla="*/ 5 w 10"/>
                <a:gd name="T79" fmla="*/ 17 h 23"/>
                <a:gd name="T80" fmla="*/ 5 w 10"/>
                <a:gd name="T81" fmla="*/ 23 h 23"/>
                <a:gd name="T82" fmla="*/ 5 w 10"/>
                <a:gd name="T83" fmla="*/ 23 h 23"/>
                <a:gd name="T84" fmla="*/ 5 w 10"/>
                <a:gd name="T85" fmla="*/ 23 h 23"/>
                <a:gd name="T86" fmla="*/ 5 w 10"/>
                <a:gd name="T87" fmla="*/ 23 h 23"/>
                <a:gd name="T88" fmla="*/ 5 w 10"/>
                <a:gd name="T89" fmla="*/ 23 h 23"/>
                <a:gd name="T90" fmla="*/ 5 w 10"/>
                <a:gd name="T91" fmla="*/ 23 h 23"/>
                <a:gd name="T92" fmla="*/ 5 w 10"/>
                <a:gd name="T93" fmla="*/ 23 h 23"/>
                <a:gd name="T94" fmla="*/ 5 w 10"/>
                <a:gd name="T95" fmla="*/ 23 h 23"/>
                <a:gd name="T96" fmla="*/ 5 w 10"/>
                <a:gd name="T97" fmla="*/ 23 h 23"/>
                <a:gd name="T98" fmla="*/ 10 w 10"/>
                <a:gd name="T99" fmla="*/ 23 h 23"/>
                <a:gd name="T100" fmla="*/ 10 w 10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3"/>
                <a:gd name="T155" fmla="*/ 10 w 10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2"/>
                  </a:lnTo>
                  <a:lnTo>
                    <a:pt x="5" y="17"/>
                  </a:lnTo>
                  <a:lnTo>
                    <a:pt x="5" y="23"/>
                  </a:lnTo>
                  <a:lnTo>
                    <a:pt x="10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5" name="Freeform 172"/>
            <p:cNvSpPr>
              <a:spLocks/>
            </p:cNvSpPr>
            <p:nvPr/>
          </p:nvSpPr>
          <p:spPr bwMode="auto">
            <a:xfrm>
              <a:off x="5221" y="3193"/>
              <a:ext cx="4" cy="23"/>
            </a:xfrm>
            <a:custGeom>
              <a:avLst/>
              <a:gdLst>
                <a:gd name="T0" fmla="*/ 0 w 4"/>
                <a:gd name="T1" fmla="*/ 0 h 23"/>
                <a:gd name="T2" fmla="*/ 0 w 4"/>
                <a:gd name="T3" fmla="*/ 0 h 23"/>
                <a:gd name="T4" fmla="*/ 0 w 4"/>
                <a:gd name="T5" fmla="*/ 0 h 23"/>
                <a:gd name="T6" fmla="*/ 0 w 4"/>
                <a:gd name="T7" fmla="*/ 6 h 23"/>
                <a:gd name="T8" fmla="*/ 0 w 4"/>
                <a:gd name="T9" fmla="*/ 6 h 23"/>
                <a:gd name="T10" fmla="*/ 0 w 4"/>
                <a:gd name="T11" fmla="*/ 6 h 23"/>
                <a:gd name="T12" fmla="*/ 0 w 4"/>
                <a:gd name="T13" fmla="*/ 6 h 23"/>
                <a:gd name="T14" fmla="*/ 0 w 4"/>
                <a:gd name="T15" fmla="*/ 6 h 23"/>
                <a:gd name="T16" fmla="*/ 0 w 4"/>
                <a:gd name="T17" fmla="*/ 6 h 23"/>
                <a:gd name="T18" fmla="*/ 0 w 4"/>
                <a:gd name="T19" fmla="*/ 6 h 23"/>
                <a:gd name="T20" fmla="*/ 0 w 4"/>
                <a:gd name="T21" fmla="*/ 6 h 23"/>
                <a:gd name="T22" fmla="*/ 0 w 4"/>
                <a:gd name="T23" fmla="*/ 6 h 23"/>
                <a:gd name="T24" fmla="*/ 0 w 4"/>
                <a:gd name="T25" fmla="*/ 6 h 23"/>
                <a:gd name="T26" fmla="*/ 0 w 4"/>
                <a:gd name="T27" fmla="*/ 6 h 23"/>
                <a:gd name="T28" fmla="*/ 0 w 4"/>
                <a:gd name="T29" fmla="*/ 6 h 23"/>
                <a:gd name="T30" fmla="*/ 0 w 4"/>
                <a:gd name="T31" fmla="*/ 11 h 23"/>
                <a:gd name="T32" fmla="*/ 0 w 4"/>
                <a:gd name="T33" fmla="*/ 11 h 23"/>
                <a:gd name="T34" fmla="*/ 0 w 4"/>
                <a:gd name="T35" fmla="*/ 11 h 23"/>
                <a:gd name="T36" fmla="*/ 0 w 4"/>
                <a:gd name="T37" fmla="*/ 11 h 23"/>
                <a:gd name="T38" fmla="*/ 0 w 4"/>
                <a:gd name="T39" fmla="*/ 11 h 23"/>
                <a:gd name="T40" fmla="*/ 0 w 4"/>
                <a:gd name="T41" fmla="*/ 11 h 23"/>
                <a:gd name="T42" fmla="*/ 0 w 4"/>
                <a:gd name="T43" fmla="*/ 11 h 23"/>
                <a:gd name="T44" fmla="*/ 0 w 4"/>
                <a:gd name="T45" fmla="*/ 11 h 23"/>
                <a:gd name="T46" fmla="*/ 0 w 4"/>
                <a:gd name="T47" fmla="*/ 11 h 23"/>
                <a:gd name="T48" fmla="*/ 0 w 4"/>
                <a:gd name="T49" fmla="*/ 11 h 23"/>
                <a:gd name="T50" fmla="*/ 0 w 4"/>
                <a:gd name="T51" fmla="*/ 11 h 23"/>
                <a:gd name="T52" fmla="*/ 0 w 4"/>
                <a:gd name="T53" fmla="*/ 11 h 23"/>
                <a:gd name="T54" fmla="*/ 0 w 4"/>
                <a:gd name="T55" fmla="*/ 11 h 23"/>
                <a:gd name="T56" fmla="*/ 0 w 4"/>
                <a:gd name="T57" fmla="*/ 17 h 23"/>
                <a:gd name="T58" fmla="*/ 0 w 4"/>
                <a:gd name="T59" fmla="*/ 17 h 23"/>
                <a:gd name="T60" fmla="*/ 0 w 4"/>
                <a:gd name="T61" fmla="*/ 17 h 23"/>
                <a:gd name="T62" fmla="*/ 0 w 4"/>
                <a:gd name="T63" fmla="*/ 17 h 23"/>
                <a:gd name="T64" fmla="*/ 0 w 4"/>
                <a:gd name="T65" fmla="*/ 17 h 23"/>
                <a:gd name="T66" fmla="*/ 0 w 4"/>
                <a:gd name="T67" fmla="*/ 17 h 23"/>
                <a:gd name="T68" fmla="*/ 0 w 4"/>
                <a:gd name="T69" fmla="*/ 17 h 23"/>
                <a:gd name="T70" fmla="*/ 0 w 4"/>
                <a:gd name="T71" fmla="*/ 17 h 23"/>
                <a:gd name="T72" fmla="*/ 0 w 4"/>
                <a:gd name="T73" fmla="*/ 17 h 23"/>
                <a:gd name="T74" fmla="*/ 0 w 4"/>
                <a:gd name="T75" fmla="*/ 17 h 23"/>
                <a:gd name="T76" fmla="*/ 0 w 4"/>
                <a:gd name="T77" fmla="*/ 17 h 23"/>
                <a:gd name="T78" fmla="*/ 4 w 4"/>
                <a:gd name="T79" fmla="*/ 17 h 23"/>
                <a:gd name="T80" fmla="*/ 4 w 4"/>
                <a:gd name="T81" fmla="*/ 17 h 23"/>
                <a:gd name="T82" fmla="*/ 4 w 4"/>
                <a:gd name="T83" fmla="*/ 23 h 23"/>
                <a:gd name="T84" fmla="*/ 4 w 4"/>
                <a:gd name="T85" fmla="*/ 23 h 23"/>
                <a:gd name="T86" fmla="*/ 4 w 4"/>
                <a:gd name="T87" fmla="*/ 23 h 23"/>
                <a:gd name="T88" fmla="*/ 4 w 4"/>
                <a:gd name="T89" fmla="*/ 23 h 23"/>
                <a:gd name="T90" fmla="*/ 4 w 4"/>
                <a:gd name="T91" fmla="*/ 23 h 23"/>
                <a:gd name="T92" fmla="*/ 4 w 4"/>
                <a:gd name="T93" fmla="*/ 23 h 23"/>
                <a:gd name="T94" fmla="*/ 4 w 4"/>
                <a:gd name="T95" fmla="*/ 23 h 23"/>
                <a:gd name="T96" fmla="*/ 4 w 4"/>
                <a:gd name="T97" fmla="*/ 23 h 23"/>
                <a:gd name="T98" fmla="*/ 4 w 4"/>
                <a:gd name="T99" fmla="*/ 23 h 23"/>
                <a:gd name="T100" fmla="*/ 4 w 4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4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6" name="Freeform 173"/>
            <p:cNvSpPr>
              <a:spLocks/>
            </p:cNvSpPr>
            <p:nvPr/>
          </p:nvSpPr>
          <p:spPr bwMode="auto">
            <a:xfrm>
              <a:off x="5225" y="3216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6 h 23"/>
                <a:gd name="T10" fmla="*/ 0 w 5"/>
                <a:gd name="T11" fmla="*/ 6 h 23"/>
                <a:gd name="T12" fmla="*/ 0 w 5"/>
                <a:gd name="T13" fmla="*/ 6 h 23"/>
                <a:gd name="T14" fmla="*/ 0 w 5"/>
                <a:gd name="T15" fmla="*/ 6 h 23"/>
                <a:gd name="T16" fmla="*/ 0 w 5"/>
                <a:gd name="T17" fmla="*/ 6 h 23"/>
                <a:gd name="T18" fmla="*/ 0 w 5"/>
                <a:gd name="T19" fmla="*/ 6 h 23"/>
                <a:gd name="T20" fmla="*/ 0 w 5"/>
                <a:gd name="T21" fmla="*/ 6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0 w 5"/>
                <a:gd name="T31" fmla="*/ 6 h 23"/>
                <a:gd name="T32" fmla="*/ 0 w 5"/>
                <a:gd name="T33" fmla="*/ 6 h 23"/>
                <a:gd name="T34" fmla="*/ 0 w 5"/>
                <a:gd name="T35" fmla="*/ 6 h 23"/>
                <a:gd name="T36" fmla="*/ 0 w 5"/>
                <a:gd name="T37" fmla="*/ 11 h 23"/>
                <a:gd name="T38" fmla="*/ 0 w 5"/>
                <a:gd name="T39" fmla="*/ 11 h 23"/>
                <a:gd name="T40" fmla="*/ 0 w 5"/>
                <a:gd name="T41" fmla="*/ 11 h 23"/>
                <a:gd name="T42" fmla="*/ 0 w 5"/>
                <a:gd name="T43" fmla="*/ 11 h 23"/>
                <a:gd name="T44" fmla="*/ 0 w 5"/>
                <a:gd name="T45" fmla="*/ 11 h 23"/>
                <a:gd name="T46" fmla="*/ 0 w 5"/>
                <a:gd name="T47" fmla="*/ 11 h 23"/>
                <a:gd name="T48" fmla="*/ 0 w 5"/>
                <a:gd name="T49" fmla="*/ 11 h 23"/>
                <a:gd name="T50" fmla="*/ 0 w 5"/>
                <a:gd name="T51" fmla="*/ 11 h 23"/>
                <a:gd name="T52" fmla="*/ 0 w 5"/>
                <a:gd name="T53" fmla="*/ 11 h 23"/>
                <a:gd name="T54" fmla="*/ 0 w 5"/>
                <a:gd name="T55" fmla="*/ 11 h 23"/>
                <a:gd name="T56" fmla="*/ 0 w 5"/>
                <a:gd name="T57" fmla="*/ 11 h 23"/>
                <a:gd name="T58" fmla="*/ 0 w 5"/>
                <a:gd name="T59" fmla="*/ 11 h 23"/>
                <a:gd name="T60" fmla="*/ 5 w 5"/>
                <a:gd name="T61" fmla="*/ 11 h 23"/>
                <a:gd name="T62" fmla="*/ 5 w 5"/>
                <a:gd name="T63" fmla="*/ 17 h 23"/>
                <a:gd name="T64" fmla="*/ 5 w 5"/>
                <a:gd name="T65" fmla="*/ 17 h 23"/>
                <a:gd name="T66" fmla="*/ 5 w 5"/>
                <a:gd name="T67" fmla="*/ 17 h 23"/>
                <a:gd name="T68" fmla="*/ 5 w 5"/>
                <a:gd name="T69" fmla="*/ 17 h 23"/>
                <a:gd name="T70" fmla="*/ 5 w 5"/>
                <a:gd name="T71" fmla="*/ 17 h 23"/>
                <a:gd name="T72" fmla="*/ 5 w 5"/>
                <a:gd name="T73" fmla="*/ 17 h 23"/>
                <a:gd name="T74" fmla="*/ 5 w 5"/>
                <a:gd name="T75" fmla="*/ 17 h 23"/>
                <a:gd name="T76" fmla="*/ 5 w 5"/>
                <a:gd name="T77" fmla="*/ 17 h 23"/>
                <a:gd name="T78" fmla="*/ 5 w 5"/>
                <a:gd name="T79" fmla="*/ 17 h 23"/>
                <a:gd name="T80" fmla="*/ 5 w 5"/>
                <a:gd name="T81" fmla="*/ 17 h 23"/>
                <a:gd name="T82" fmla="*/ 5 w 5"/>
                <a:gd name="T83" fmla="*/ 17 h 23"/>
                <a:gd name="T84" fmla="*/ 5 w 5"/>
                <a:gd name="T85" fmla="*/ 17 h 23"/>
                <a:gd name="T86" fmla="*/ 5 w 5"/>
                <a:gd name="T87" fmla="*/ 17 h 23"/>
                <a:gd name="T88" fmla="*/ 5 w 5"/>
                <a:gd name="T89" fmla="*/ 17 h 23"/>
                <a:gd name="T90" fmla="*/ 5 w 5"/>
                <a:gd name="T91" fmla="*/ 23 h 23"/>
                <a:gd name="T92" fmla="*/ 5 w 5"/>
                <a:gd name="T93" fmla="*/ 23 h 23"/>
                <a:gd name="T94" fmla="*/ 5 w 5"/>
                <a:gd name="T95" fmla="*/ 23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7" name="Freeform 174"/>
            <p:cNvSpPr>
              <a:spLocks/>
            </p:cNvSpPr>
            <p:nvPr/>
          </p:nvSpPr>
          <p:spPr bwMode="auto">
            <a:xfrm>
              <a:off x="5230" y="3239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0 h 17"/>
                <a:gd name="T14" fmla="*/ 0 w 5"/>
                <a:gd name="T15" fmla="*/ 0 h 17"/>
                <a:gd name="T16" fmla="*/ 0 w 5"/>
                <a:gd name="T17" fmla="*/ 0 h 17"/>
                <a:gd name="T18" fmla="*/ 0 w 5"/>
                <a:gd name="T19" fmla="*/ 0 h 17"/>
                <a:gd name="T20" fmla="*/ 0 w 5"/>
                <a:gd name="T21" fmla="*/ 5 h 17"/>
                <a:gd name="T22" fmla="*/ 0 w 5"/>
                <a:gd name="T23" fmla="*/ 5 h 17"/>
                <a:gd name="T24" fmla="*/ 0 w 5"/>
                <a:gd name="T25" fmla="*/ 5 h 17"/>
                <a:gd name="T26" fmla="*/ 0 w 5"/>
                <a:gd name="T27" fmla="*/ 5 h 17"/>
                <a:gd name="T28" fmla="*/ 0 w 5"/>
                <a:gd name="T29" fmla="*/ 5 h 17"/>
                <a:gd name="T30" fmla="*/ 0 w 5"/>
                <a:gd name="T31" fmla="*/ 5 h 17"/>
                <a:gd name="T32" fmla="*/ 0 w 5"/>
                <a:gd name="T33" fmla="*/ 5 h 17"/>
                <a:gd name="T34" fmla="*/ 0 w 5"/>
                <a:gd name="T35" fmla="*/ 5 h 17"/>
                <a:gd name="T36" fmla="*/ 0 w 5"/>
                <a:gd name="T37" fmla="*/ 5 h 17"/>
                <a:gd name="T38" fmla="*/ 0 w 5"/>
                <a:gd name="T39" fmla="*/ 5 h 17"/>
                <a:gd name="T40" fmla="*/ 5 w 5"/>
                <a:gd name="T41" fmla="*/ 5 h 17"/>
                <a:gd name="T42" fmla="*/ 5 w 5"/>
                <a:gd name="T43" fmla="*/ 5 h 17"/>
                <a:gd name="T44" fmla="*/ 5 w 5"/>
                <a:gd name="T45" fmla="*/ 5 h 17"/>
                <a:gd name="T46" fmla="*/ 5 w 5"/>
                <a:gd name="T47" fmla="*/ 5 h 17"/>
                <a:gd name="T48" fmla="*/ 5 w 5"/>
                <a:gd name="T49" fmla="*/ 5 h 17"/>
                <a:gd name="T50" fmla="*/ 5 w 5"/>
                <a:gd name="T51" fmla="*/ 11 h 17"/>
                <a:gd name="T52" fmla="*/ 5 w 5"/>
                <a:gd name="T53" fmla="*/ 11 h 17"/>
                <a:gd name="T54" fmla="*/ 5 w 5"/>
                <a:gd name="T55" fmla="*/ 11 h 17"/>
                <a:gd name="T56" fmla="*/ 5 w 5"/>
                <a:gd name="T57" fmla="*/ 11 h 17"/>
                <a:gd name="T58" fmla="*/ 5 w 5"/>
                <a:gd name="T59" fmla="*/ 11 h 17"/>
                <a:gd name="T60" fmla="*/ 5 w 5"/>
                <a:gd name="T61" fmla="*/ 11 h 17"/>
                <a:gd name="T62" fmla="*/ 5 w 5"/>
                <a:gd name="T63" fmla="*/ 11 h 17"/>
                <a:gd name="T64" fmla="*/ 5 w 5"/>
                <a:gd name="T65" fmla="*/ 11 h 17"/>
                <a:gd name="T66" fmla="*/ 5 w 5"/>
                <a:gd name="T67" fmla="*/ 11 h 17"/>
                <a:gd name="T68" fmla="*/ 5 w 5"/>
                <a:gd name="T69" fmla="*/ 11 h 17"/>
                <a:gd name="T70" fmla="*/ 5 w 5"/>
                <a:gd name="T71" fmla="*/ 11 h 17"/>
                <a:gd name="T72" fmla="*/ 5 w 5"/>
                <a:gd name="T73" fmla="*/ 11 h 17"/>
                <a:gd name="T74" fmla="*/ 5 w 5"/>
                <a:gd name="T75" fmla="*/ 11 h 17"/>
                <a:gd name="T76" fmla="*/ 5 w 5"/>
                <a:gd name="T77" fmla="*/ 11 h 17"/>
                <a:gd name="T78" fmla="*/ 5 w 5"/>
                <a:gd name="T79" fmla="*/ 11 h 17"/>
                <a:gd name="T80" fmla="*/ 5 w 5"/>
                <a:gd name="T81" fmla="*/ 17 h 17"/>
                <a:gd name="T82" fmla="*/ 5 w 5"/>
                <a:gd name="T83" fmla="*/ 17 h 17"/>
                <a:gd name="T84" fmla="*/ 5 w 5"/>
                <a:gd name="T85" fmla="*/ 17 h 17"/>
                <a:gd name="T86" fmla="*/ 5 w 5"/>
                <a:gd name="T87" fmla="*/ 17 h 17"/>
                <a:gd name="T88" fmla="*/ 5 w 5"/>
                <a:gd name="T89" fmla="*/ 17 h 17"/>
                <a:gd name="T90" fmla="*/ 5 w 5"/>
                <a:gd name="T91" fmla="*/ 17 h 17"/>
                <a:gd name="T92" fmla="*/ 5 w 5"/>
                <a:gd name="T93" fmla="*/ 17 h 17"/>
                <a:gd name="T94" fmla="*/ 5 w 5"/>
                <a:gd name="T95" fmla="*/ 17 h 17"/>
                <a:gd name="T96" fmla="*/ 5 w 5"/>
                <a:gd name="T97" fmla="*/ 17 h 17"/>
                <a:gd name="T98" fmla="*/ 5 w 5"/>
                <a:gd name="T99" fmla="*/ 17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11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8" name="Freeform 175"/>
            <p:cNvSpPr>
              <a:spLocks/>
            </p:cNvSpPr>
            <p:nvPr/>
          </p:nvSpPr>
          <p:spPr bwMode="auto">
            <a:xfrm>
              <a:off x="5235" y="3256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5 h 17"/>
                <a:gd name="T14" fmla="*/ 0 w 5"/>
                <a:gd name="T15" fmla="*/ 5 h 17"/>
                <a:gd name="T16" fmla="*/ 0 w 5"/>
                <a:gd name="T17" fmla="*/ 5 h 17"/>
                <a:gd name="T18" fmla="*/ 0 w 5"/>
                <a:gd name="T19" fmla="*/ 5 h 17"/>
                <a:gd name="T20" fmla="*/ 0 w 5"/>
                <a:gd name="T21" fmla="*/ 5 h 17"/>
                <a:gd name="T22" fmla="*/ 5 w 5"/>
                <a:gd name="T23" fmla="*/ 5 h 17"/>
                <a:gd name="T24" fmla="*/ 5 w 5"/>
                <a:gd name="T25" fmla="*/ 5 h 17"/>
                <a:gd name="T26" fmla="*/ 5 w 5"/>
                <a:gd name="T27" fmla="*/ 5 h 17"/>
                <a:gd name="T28" fmla="*/ 5 w 5"/>
                <a:gd name="T29" fmla="*/ 5 h 17"/>
                <a:gd name="T30" fmla="*/ 5 w 5"/>
                <a:gd name="T31" fmla="*/ 5 h 17"/>
                <a:gd name="T32" fmla="*/ 5 w 5"/>
                <a:gd name="T33" fmla="*/ 5 h 17"/>
                <a:gd name="T34" fmla="*/ 5 w 5"/>
                <a:gd name="T35" fmla="*/ 5 h 17"/>
                <a:gd name="T36" fmla="*/ 5 w 5"/>
                <a:gd name="T37" fmla="*/ 5 h 17"/>
                <a:gd name="T38" fmla="*/ 5 w 5"/>
                <a:gd name="T39" fmla="*/ 5 h 17"/>
                <a:gd name="T40" fmla="*/ 5 w 5"/>
                <a:gd name="T41" fmla="*/ 5 h 17"/>
                <a:gd name="T42" fmla="*/ 5 w 5"/>
                <a:gd name="T43" fmla="*/ 5 h 17"/>
                <a:gd name="T44" fmla="*/ 5 w 5"/>
                <a:gd name="T45" fmla="*/ 11 h 17"/>
                <a:gd name="T46" fmla="*/ 5 w 5"/>
                <a:gd name="T47" fmla="*/ 11 h 17"/>
                <a:gd name="T48" fmla="*/ 5 w 5"/>
                <a:gd name="T49" fmla="*/ 11 h 17"/>
                <a:gd name="T50" fmla="*/ 5 w 5"/>
                <a:gd name="T51" fmla="*/ 11 h 17"/>
                <a:gd name="T52" fmla="*/ 5 w 5"/>
                <a:gd name="T53" fmla="*/ 11 h 17"/>
                <a:gd name="T54" fmla="*/ 5 w 5"/>
                <a:gd name="T55" fmla="*/ 11 h 17"/>
                <a:gd name="T56" fmla="*/ 5 w 5"/>
                <a:gd name="T57" fmla="*/ 11 h 17"/>
                <a:gd name="T58" fmla="*/ 5 w 5"/>
                <a:gd name="T59" fmla="*/ 11 h 17"/>
                <a:gd name="T60" fmla="*/ 5 w 5"/>
                <a:gd name="T61" fmla="*/ 11 h 17"/>
                <a:gd name="T62" fmla="*/ 5 w 5"/>
                <a:gd name="T63" fmla="*/ 11 h 17"/>
                <a:gd name="T64" fmla="*/ 5 w 5"/>
                <a:gd name="T65" fmla="*/ 11 h 17"/>
                <a:gd name="T66" fmla="*/ 5 w 5"/>
                <a:gd name="T67" fmla="*/ 11 h 17"/>
                <a:gd name="T68" fmla="*/ 5 w 5"/>
                <a:gd name="T69" fmla="*/ 11 h 17"/>
                <a:gd name="T70" fmla="*/ 5 w 5"/>
                <a:gd name="T71" fmla="*/ 11 h 17"/>
                <a:gd name="T72" fmla="*/ 5 w 5"/>
                <a:gd name="T73" fmla="*/ 11 h 17"/>
                <a:gd name="T74" fmla="*/ 5 w 5"/>
                <a:gd name="T75" fmla="*/ 11 h 17"/>
                <a:gd name="T76" fmla="*/ 5 w 5"/>
                <a:gd name="T77" fmla="*/ 11 h 17"/>
                <a:gd name="T78" fmla="*/ 5 w 5"/>
                <a:gd name="T79" fmla="*/ 17 h 17"/>
                <a:gd name="T80" fmla="*/ 5 w 5"/>
                <a:gd name="T81" fmla="*/ 17 h 17"/>
                <a:gd name="T82" fmla="*/ 5 w 5"/>
                <a:gd name="T83" fmla="*/ 17 h 17"/>
                <a:gd name="T84" fmla="*/ 5 w 5"/>
                <a:gd name="T85" fmla="*/ 17 h 17"/>
                <a:gd name="T86" fmla="*/ 5 w 5"/>
                <a:gd name="T87" fmla="*/ 17 h 17"/>
                <a:gd name="T88" fmla="*/ 5 w 5"/>
                <a:gd name="T89" fmla="*/ 17 h 17"/>
                <a:gd name="T90" fmla="*/ 5 w 5"/>
                <a:gd name="T91" fmla="*/ 17 h 17"/>
                <a:gd name="T92" fmla="*/ 5 w 5"/>
                <a:gd name="T93" fmla="*/ 17 h 17"/>
                <a:gd name="T94" fmla="*/ 5 w 5"/>
                <a:gd name="T95" fmla="*/ 17 h 17"/>
                <a:gd name="T96" fmla="*/ 5 w 5"/>
                <a:gd name="T97" fmla="*/ 17 h 17"/>
                <a:gd name="T98" fmla="*/ 5 w 5"/>
                <a:gd name="T99" fmla="*/ 17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11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9" name="Freeform 176"/>
            <p:cNvSpPr>
              <a:spLocks/>
            </p:cNvSpPr>
            <p:nvPr/>
          </p:nvSpPr>
          <p:spPr bwMode="auto">
            <a:xfrm>
              <a:off x="5240" y="3273"/>
              <a:ext cx="9" cy="17"/>
            </a:xfrm>
            <a:custGeom>
              <a:avLst/>
              <a:gdLst>
                <a:gd name="T0" fmla="*/ 0 w 9"/>
                <a:gd name="T1" fmla="*/ 0 h 17"/>
                <a:gd name="T2" fmla="*/ 4 w 9"/>
                <a:gd name="T3" fmla="*/ 0 h 17"/>
                <a:gd name="T4" fmla="*/ 4 w 9"/>
                <a:gd name="T5" fmla="*/ 0 h 17"/>
                <a:gd name="T6" fmla="*/ 4 w 9"/>
                <a:gd name="T7" fmla="*/ 0 h 17"/>
                <a:gd name="T8" fmla="*/ 4 w 9"/>
                <a:gd name="T9" fmla="*/ 0 h 17"/>
                <a:gd name="T10" fmla="*/ 4 w 9"/>
                <a:gd name="T11" fmla="*/ 0 h 17"/>
                <a:gd name="T12" fmla="*/ 4 w 9"/>
                <a:gd name="T13" fmla="*/ 0 h 17"/>
                <a:gd name="T14" fmla="*/ 4 w 9"/>
                <a:gd name="T15" fmla="*/ 5 h 17"/>
                <a:gd name="T16" fmla="*/ 4 w 9"/>
                <a:gd name="T17" fmla="*/ 5 h 17"/>
                <a:gd name="T18" fmla="*/ 4 w 9"/>
                <a:gd name="T19" fmla="*/ 5 h 17"/>
                <a:gd name="T20" fmla="*/ 4 w 9"/>
                <a:gd name="T21" fmla="*/ 5 h 17"/>
                <a:gd name="T22" fmla="*/ 4 w 9"/>
                <a:gd name="T23" fmla="*/ 5 h 17"/>
                <a:gd name="T24" fmla="*/ 4 w 9"/>
                <a:gd name="T25" fmla="*/ 5 h 17"/>
                <a:gd name="T26" fmla="*/ 4 w 9"/>
                <a:gd name="T27" fmla="*/ 5 h 17"/>
                <a:gd name="T28" fmla="*/ 4 w 9"/>
                <a:gd name="T29" fmla="*/ 5 h 17"/>
                <a:gd name="T30" fmla="*/ 4 w 9"/>
                <a:gd name="T31" fmla="*/ 5 h 17"/>
                <a:gd name="T32" fmla="*/ 4 w 9"/>
                <a:gd name="T33" fmla="*/ 5 h 17"/>
                <a:gd name="T34" fmla="*/ 4 w 9"/>
                <a:gd name="T35" fmla="*/ 5 h 17"/>
                <a:gd name="T36" fmla="*/ 4 w 9"/>
                <a:gd name="T37" fmla="*/ 5 h 17"/>
                <a:gd name="T38" fmla="*/ 4 w 9"/>
                <a:gd name="T39" fmla="*/ 5 h 17"/>
                <a:gd name="T40" fmla="*/ 4 w 9"/>
                <a:gd name="T41" fmla="*/ 5 h 17"/>
                <a:gd name="T42" fmla="*/ 4 w 9"/>
                <a:gd name="T43" fmla="*/ 5 h 17"/>
                <a:gd name="T44" fmla="*/ 4 w 9"/>
                <a:gd name="T45" fmla="*/ 5 h 17"/>
                <a:gd name="T46" fmla="*/ 4 w 9"/>
                <a:gd name="T47" fmla="*/ 5 h 17"/>
                <a:gd name="T48" fmla="*/ 4 w 9"/>
                <a:gd name="T49" fmla="*/ 5 h 17"/>
                <a:gd name="T50" fmla="*/ 4 w 9"/>
                <a:gd name="T51" fmla="*/ 5 h 17"/>
                <a:gd name="T52" fmla="*/ 4 w 9"/>
                <a:gd name="T53" fmla="*/ 11 h 17"/>
                <a:gd name="T54" fmla="*/ 4 w 9"/>
                <a:gd name="T55" fmla="*/ 11 h 17"/>
                <a:gd name="T56" fmla="*/ 4 w 9"/>
                <a:gd name="T57" fmla="*/ 11 h 17"/>
                <a:gd name="T58" fmla="*/ 4 w 9"/>
                <a:gd name="T59" fmla="*/ 11 h 17"/>
                <a:gd name="T60" fmla="*/ 4 w 9"/>
                <a:gd name="T61" fmla="*/ 11 h 17"/>
                <a:gd name="T62" fmla="*/ 4 w 9"/>
                <a:gd name="T63" fmla="*/ 11 h 17"/>
                <a:gd name="T64" fmla="*/ 4 w 9"/>
                <a:gd name="T65" fmla="*/ 11 h 17"/>
                <a:gd name="T66" fmla="*/ 4 w 9"/>
                <a:gd name="T67" fmla="*/ 11 h 17"/>
                <a:gd name="T68" fmla="*/ 4 w 9"/>
                <a:gd name="T69" fmla="*/ 11 h 17"/>
                <a:gd name="T70" fmla="*/ 4 w 9"/>
                <a:gd name="T71" fmla="*/ 11 h 17"/>
                <a:gd name="T72" fmla="*/ 4 w 9"/>
                <a:gd name="T73" fmla="*/ 11 h 17"/>
                <a:gd name="T74" fmla="*/ 4 w 9"/>
                <a:gd name="T75" fmla="*/ 11 h 17"/>
                <a:gd name="T76" fmla="*/ 4 w 9"/>
                <a:gd name="T77" fmla="*/ 11 h 17"/>
                <a:gd name="T78" fmla="*/ 4 w 9"/>
                <a:gd name="T79" fmla="*/ 11 h 17"/>
                <a:gd name="T80" fmla="*/ 4 w 9"/>
                <a:gd name="T81" fmla="*/ 11 h 17"/>
                <a:gd name="T82" fmla="*/ 4 w 9"/>
                <a:gd name="T83" fmla="*/ 11 h 17"/>
                <a:gd name="T84" fmla="*/ 9 w 9"/>
                <a:gd name="T85" fmla="*/ 11 h 17"/>
                <a:gd name="T86" fmla="*/ 9 w 9"/>
                <a:gd name="T87" fmla="*/ 11 h 17"/>
                <a:gd name="T88" fmla="*/ 9 w 9"/>
                <a:gd name="T89" fmla="*/ 11 h 17"/>
                <a:gd name="T90" fmla="*/ 9 w 9"/>
                <a:gd name="T91" fmla="*/ 11 h 17"/>
                <a:gd name="T92" fmla="*/ 9 w 9"/>
                <a:gd name="T93" fmla="*/ 17 h 17"/>
                <a:gd name="T94" fmla="*/ 9 w 9"/>
                <a:gd name="T95" fmla="*/ 17 h 17"/>
                <a:gd name="T96" fmla="*/ 9 w 9"/>
                <a:gd name="T97" fmla="*/ 17 h 17"/>
                <a:gd name="T98" fmla="*/ 9 w 9"/>
                <a:gd name="T99" fmla="*/ 17 h 17"/>
                <a:gd name="T100" fmla="*/ 9 w 9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7"/>
                <a:gd name="T155" fmla="*/ 9 w 9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7">
                  <a:moveTo>
                    <a:pt x="0" y="0"/>
                  </a:moveTo>
                  <a:lnTo>
                    <a:pt x="4" y="0"/>
                  </a:lnTo>
                  <a:lnTo>
                    <a:pt x="4" y="5"/>
                  </a:lnTo>
                  <a:lnTo>
                    <a:pt x="4" y="11"/>
                  </a:lnTo>
                  <a:lnTo>
                    <a:pt x="9" y="11"/>
                  </a:lnTo>
                  <a:lnTo>
                    <a:pt x="9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0" name="Freeform 177"/>
            <p:cNvSpPr>
              <a:spLocks/>
            </p:cNvSpPr>
            <p:nvPr/>
          </p:nvSpPr>
          <p:spPr bwMode="auto">
            <a:xfrm>
              <a:off x="5249" y="3290"/>
              <a:ext cx="5" cy="11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0 w 5"/>
                <a:gd name="T5" fmla="*/ 0 h 11"/>
                <a:gd name="T6" fmla="*/ 0 w 5"/>
                <a:gd name="T7" fmla="*/ 0 h 11"/>
                <a:gd name="T8" fmla="*/ 0 w 5"/>
                <a:gd name="T9" fmla="*/ 0 h 11"/>
                <a:gd name="T10" fmla="*/ 0 w 5"/>
                <a:gd name="T11" fmla="*/ 0 h 11"/>
                <a:gd name="T12" fmla="*/ 0 w 5"/>
                <a:gd name="T13" fmla="*/ 0 h 11"/>
                <a:gd name="T14" fmla="*/ 0 w 5"/>
                <a:gd name="T15" fmla="*/ 0 h 11"/>
                <a:gd name="T16" fmla="*/ 0 w 5"/>
                <a:gd name="T17" fmla="*/ 0 h 11"/>
                <a:gd name="T18" fmla="*/ 0 w 5"/>
                <a:gd name="T19" fmla="*/ 0 h 11"/>
                <a:gd name="T20" fmla="*/ 0 w 5"/>
                <a:gd name="T21" fmla="*/ 0 h 11"/>
                <a:gd name="T22" fmla="*/ 0 w 5"/>
                <a:gd name="T23" fmla="*/ 0 h 11"/>
                <a:gd name="T24" fmla="*/ 0 w 5"/>
                <a:gd name="T25" fmla="*/ 0 h 11"/>
                <a:gd name="T26" fmla="*/ 0 w 5"/>
                <a:gd name="T27" fmla="*/ 0 h 11"/>
                <a:gd name="T28" fmla="*/ 0 w 5"/>
                <a:gd name="T29" fmla="*/ 0 h 11"/>
                <a:gd name="T30" fmla="*/ 0 w 5"/>
                <a:gd name="T31" fmla="*/ 0 h 11"/>
                <a:gd name="T32" fmla="*/ 0 w 5"/>
                <a:gd name="T33" fmla="*/ 0 h 11"/>
                <a:gd name="T34" fmla="*/ 0 w 5"/>
                <a:gd name="T35" fmla="*/ 0 h 11"/>
                <a:gd name="T36" fmla="*/ 0 w 5"/>
                <a:gd name="T37" fmla="*/ 6 h 11"/>
                <a:gd name="T38" fmla="*/ 0 w 5"/>
                <a:gd name="T39" fmla="*/ 6 h 11"/>
                <a:gd name="T40" fmla="*/ 0 w 5"/>
                <a:gd name="T41" fmla="*/ 6 h 11"/>
                <a:gd name="T42" fmla="*/ 0 w 5"/>
                <a:gd name="T43" fmla="*/ 6 h 11"/>
                <a:gd name="T44" fmla="*/ 0 w 5"/>
                <a:gd name="T45" fmla="*/ 6 h 11"/>
                <a:gd name="T46" fmla="*/ 0 w 5"/>
                <a:gd name="T47" fmla="*/ 6 h 11"/>
                <a:gd name="T48" fmla="*/ 0 w 5"/>
                <a:gd name="T49" fmla="*/ 6 h 11"/>
                <a:gd name="T50" fmla="*/ 0 w 5"/>
                <a:gd name="T51" fmla="*/ 6 h 11"/>
                <a:gd name="T52" fmla="*/ 0 w 5"/>
                <a:gd name="T53" fmla="*/ 6 h 11"/>
                <a:gd name="T54" fmla="*/ 0 w 5"/>
                <a:gd name="T55" fmla="*/ 6 h 11"/>
                <a:gd name="T56" fmla="*/ 0 w 5"/>
                <a:gd name="T57" fmla="*/ 6 h 11"/>
                <a:gd name="T58" fmla="*/ 0 w 5"/>
                <a:gd name="T59" fmla="*/ 6 h 11"/>
                <a:gd name="T60" fmla="*/ 0 w 5"/>
                <a:gd name="T61" fmla="*/ 6 h 11"/>
                <a:gd name="T62" fmla="*/ 0 w 5"/>
                <a:gd name="T63" fmla="*/ 6 h 11"/>
                <a:gd name="T64" fmla="*/ 5 w 5"/>
                <a:gd name="T65" fmla="*/ 6 h 11"/>
                <a:gd name="T66" fmla="*/ 5 w 5"/>
                <a:gd name="T67" fmla="*/ 6 h 11"/>
                <a:gd name="T68" fmla="*/ 5 w 5"/>
                <a:gd name="T69" fmla="*/ 6 h 11"/>
                <a:gd name="T70" fmla="*/ 5 w 5"/>
                <a:gd name="T71" fmla="*/ 6 h 11"/>
                <a:gd name="T72" fmla="*/ 5 w 5"/>
                <a:gd name="T73" fmla="*/ 6 h 11"/>
                <a:gd name="T74" fmla="*/ 5 w 5"/>
                <a:gd name="T75" fmla="*/ 6 h 11"/>
                <a:gd name="T76" fmla="*/ 5 w 5"/>
                <a:gd name="T77" fmla="*/ 6 h 11"/>
                <a:gd name="T78" fmla="*/ 5 w 5"/>
                <a:gd name="T79" fmla="*/ 6 h 11"/>
                <a:gd name="T80" fmla="*/ 5 w 5"/>
                <a:gd name="T81" fmla="*/ 6 h 11"/>
                <a:gd name="T82" fmla="*/ 5 w 5"/>
                <a:gd name="T83" fmla="*/ 6 h 11"/>
                <a:gd name="T84" fmla="*/ 5 w 5"/>
                <a:gd name="T85" fmla="*/ 11 h 11"/>
                <a:gd name="T86" fmla="*/ 5 w 5"/>
                <a:gd name="T87" fmla="*/ 11 h 11"/>
                <a:gd name="T88" fmla="*/ 5 w 5"/>
                <a:gd name="T89" fmla="*/ 11 h 11"/>
                <a:gd name="T90" fmla="*/ 5 w 5"/>
                <a:gd name="T91" fmla="*/ 11 h 11"/>
                <a:gd name="T92" fmla="*/ 5 w 5"/>
                <a:gd name="T93" fmla="*/ 11 h 11"/>
                <a:gd name="T94" fmla="*/ 5 w 5"/>
                <a:gd name="T95" fmla="*/ 11 h 11"/>
                <a:gd name="T96" fmla="*/ 5 w 5"/>
                <a:gd name="T97" fmla="*/ 11 h 11"/>
                <a:gd name="T98" fmla="*/ 5 w 5"/>
                <a:gd name="T99" fmla="*/ 11 h 1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11"/>
                <a:gd name="T152" fmla="*/ 5 w 5"/>
                <a:gd name="T153" fmla="*/ 11 h 1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1" name="Freeform 178"/>
            <p:cNvSpPr>
              <a:spLocks/>
            </p:cNvSpPr>
            <p:nvPr/>
          </p:nvSpPr>
          <p:spPr bwMode="auto">
            <a:xfrm>
              <a:off x="5254" y="3301"/>
              <a:ext cx="5" cy="6"/>
            </a:xfrm>
            <a:custGeom>
              <a:avLst/>
              <a:gdLst>
                <a:gd name="T0" fmla="*/ 0 w 5"/>
                <a:gd name="T1" fmla="*/ 0 h 6"/>
                <a:gd name="T2" fmla="*/ 0 w 5"/>
                <a:gd name="T3" fmla="*/ 0 h 6"/>
                <a:gd name="T4" fmla="*/ 0 w 5"/>
                <a:gd name="T5" fmla="*/ 0 h 6"/>
                <a:gd name="T6" fmla="*/ 0 w 5"/>
                <a:gd name="T7" fmla="*/ 0 h 6"/>
                <a:gd name="T8" fmla="*/ 0 w 5"/>
                <a:gd name="T9" fmla="*/ 0 h 6"/>
                <a:gd name="T10" fmla="*/ 0 w 5"/>
                <a:gd name="T11" fmla="*/ 0 h 6"/>
                <a:gd name="T12" fmla="*/ 0 w 5"/>
                <a:gd name="T13" fmla="*/ 0 h 6"/>
                <a:gd name="T14" fmla="*/ 0 w 5"/>
                <a:gd name="T15" fmla="*/ 0 h 6"/>
                <a:gd name="T16" fmla="*/ 0 w 5"/>
                <a:gd name="T17" fmla="*/ 0 h 6"/>
                <a:gd name="T18" fmla="*/ 0 w 5"/>
                <a:gd name="T19" fmla="*/ 0 h 6"/>
                <a:gd name="T20" fmla="*/ 0 w 5"/>
                <a:gd name="T21" fmla="*/ 0 h 6"/>
                <a:gd name="T22" fmla="*/ 0 w 5"/>
                <a:gd name="T23" fmla="*/ 0 h 6"/>
                <a:gd name="T24" fmla="*/ 0 w 5"/>
                <a:gd name="T25" fmla="*/ 0 h 6"/>
                <a:gd name="T26" fmla="*/ 0 w 5"/>
                <a:gd name="T27" fmla="*/ 0 h 6"/>
                <a:gd name="T28" fmla="*/ 0 w 5"/>
                <a:gd name="T29" fmla="*/ 0 h 6"/>
                <a:gd name="T30" fmla="*/ 0 w 5"/>
                <a:gd name="T31" fmla="*/ 0 h 6"/>
                <a:gd name="T32" fmla="*/ 0 w 5"/>
                <a:gd name="T33" fmla="*/ 0 h 6"/>
                <a:gd name="T34" fmla="*/ 0 w 5"/>
                <a:gd name="T35" fmla="*/ 0 h 6"/>
                <a:gd name="T36" fmla="*/ 0 w 5"/>
                <a:gd name="T37" fmla="*/ 0 h 6"/>
                <a:gd name="T38" fmla="*/ 0 w 5"/>
                <a:gd name="T39" fmla="*/ 0 h 6"/>
                <a:gd name="T40" fmla="*/ 0 w 5"/>
                <a:gd name="T41" fmla="*/ 0 h 6"/>
                <a:gd name="T42" fmla="*/ 0 w 5"/>
                <a:gd name="T43" fmla="*/ 6 h 6"/>
                <a:gd name="T44" fmla="*/ 0 w 5"/>
                <a:gd name="T45" fmla="*/ 6 h 6"/>
                <a:gd name="T46" fmla="*/ 5 w 5"/>
                <a:gd name="T47" fmla="*/ 6 h 6"/>
                <a:gd name="T48" fmla="*/ 5 w 5"/>
                <a:gd name="T49" fmla="*/ 6 h 6"/>
                <a:gd name="T50" fmla="*/ 5 w 5"/>
                <a:gd name="T51" fmla="*/ 6 h 6"/>
                <a:gd name="T52" fmla="*/ 5 w 5"/>
                <a:gd name="T53" fmla="*/ 6 h 6"/>
                <a:gd name="T54" fmla="*/ 5 w 5"/>
                <a:gd name="T55" fmla="*/ 6 h 6"/>
                <a:gd name="T56" fmla="*/ 5 w 5"/>
                <a:gd name="T57" fmla="*/ 6 h 6"/>
                <a:gd name="T58" fmla="*/ 5 w 5"/>
                <a:gd name="T59" fmla="*/ 6 h 6"/>
                <a:gd name="T60" fmla="*/ 5 w 5"/>
                <a:gd name="T61" fmla="*/ 6 h 6"/>
                <a:gd name="T62" fmla="*/ 5 w 5"/>
                <a:gd name="T63" fmla="*/ 6 h 6"/>
                <a:gd name="T64" fmla="*/ 5 w 5"/>
                <a:gd name="T65" fmla="*/ 6 h 6"/>
                <a:gd name="T66" fmla="*/ 5 w 5"/>
                <a:gd name="T67" fmla="*/ 6 h 6"/>
                <a:gd name="T68" fmla="*/ 5 w 5"/>
                <a:gd name="T69" fmla="*/ 6 h 6"/>
                <a:gd name="T70" fmla="*/ 5 w 5"/>
                <a:gd name="T71" fmla="*/ 6 h 6"/>
                <a:gd name="T72" fmla="*/ 5 w 5"/>
                <a:gd name="T73" fmla="*/ 6 h 6"/>
                <a:gd name="T74" fmla="*/ 5 w 5"/>
                <a:gd name="T75" fmla="*/ 6 h 6"/>
                <a:gd name="T76" fmla="*/ 5 w 5"/>
                <a:gd name="T77" fmla="*/ 6 h 6"/>
                <a:gd name="T78" fmla="*/ 5 w 5"/>
                <a:gd name="T79" fmla="*/ 6 h 6"/>
                <a:gd name="T80" fmla="*/ 5 w 5"/>
                <a:gd name="T81" fmla="*/ 6 h 6"/>
                <a:gd name="T82" fmla="*/ 5 w 5"/>
                <a:gd name="T83" fmla="*/ 6 h 6"/>
                <a:gd name="T84" fmla="*/ 5 w 5"/>
                <a:gd name="T85" fmla="*/ 6 h 6"/>
                <a:gd name="T86" fmla="*/ 5 w 5"/>
                <a:gd name="T87" fmla="*/ 6 h 6"/>
                <a:gd name="T88" fmla="*/ 5 w 5"/>
                <a:gd name="T89" fmla="*/ 6 h 6"/>
                <a:gd name="T90" fmla="*/ 5 w 5"/>
                <a:gd name="T91" fmla="*/ 6 h 6"/>
                <a:gd name="T92" fmla="*/ 5 w 5"/>
                <a:gd name="T93" fmla="*/ 6 h 6"/>
                <a:gd name="T94" fmla="*/ 5 w 5"/>
                <a:gd name="T95" fmla="*/ 6 h 6"/>
                <a:gd name="T96" fmla="*/ 5 w 5"/>
                <a:gd name="T97" fmla="*/ 6 h 6"/>
                <a:gd name="T98" fmla="*/ 5 w 5"/>
                <a:gd name="T99" fmla="*/ 6 h 6"/>
                <a:gd name="T100" fmla="*/ 5 w 5"/>
                <a:gd name="T101" fmla="*/ 6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6"/>
                <a:gd name="T155" fmla="*/ 5 w 5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6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2" name="Freeform 179"/>
            <p:cNvSpPr>
              <a:spLocks/>
            </p:cNvSpPr>
            <p:nvPr/>
          </p:nvSpPr>
          <p:spPr bwMode="auto">
            <a:xfrm>
              <a:off x="5259" y="3307"/>
              <a:ext cx="5" cy="11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0 w 5"/>
                <a:gd name="T5" fmla="*/ 0 h 11"/>
                <a:gd name="T6" fmla="*/ 0 w 5"/>
                <a:gd name="T7" fmla="*/ 0 h 11"/>
                <a:gd name="T8" fmla="*/ 0 w 5"/>
                <a:gd name="T9" fmla="*/ 6 h 11"/>
                <a:gd name="T10" fmla="*/ 0 w 5"/>
                <a:gd name="T11" fmla="*/ 6 h 11"/>
                <a:gd name="T12" fmla="*/ 0 w 5"/>
                <a:gd name="T13" fmla="*/ 6 h 11"/>
                <a:gd name="T14" fmla="*/ 0 w 5"/>
                <a:gd name="T15" fmla="*/ 6 h 11"/>
                <a:gd name="T16" fmla="*/ 0 w 5"/>
                <a:gd name="T17" fmla="*/ 6 h 11"/>
                <a:gd name="T18" fmla="*/ 0 w 5"/>
                <a:gd name="T19" fmla="*/ 6 h 11"/>
                <a:gd name="T20" fmla="*/ 0 w 5"/>
                <a:gd name="T21" fmla="*/ 6 h 11"/>
                <a:gd name="T22" fmla="*/ 0 w 5"/>
                <a:gd name="T23" fmla="*/ 6 h 11"/>
                <a:gd name="T24" fmla="*/ 0 w 5"/>
                <a:gd name="T25" fmla="*/ 6 h 11"/>
                <a:gd name="T26" fmla="*/ 0 w 5"/>
                <a:gd name="T27" fmla="*/ 6 h 11"/>
                <a:gd name="T28" fmla="*/ 5 w 5"/>
                <a:gd name="T29" fmla="*/ 6 h 11"/>
                <a:gd name="T30" fmla="*/ 5 w 5"/>
                <a:gd name="T31" fmla="*/ 6 h 11"/>
                <a:gd name="T32" fmla="*/ 5 w 5"/>
                <a:gd name="T33" fmla="*/ 6 h 11"/>
                <a:gd name="T34" fmla="*/ 5 w 5"/>
                <a:gd name="T35" fmla="*/ 6 h 11"/>
                <a:gd name="T36" fmla="*/ 5 w 5"/>
                <a:gd name="T37" fmla="*/ 6 h 11"/>
                <a:gd name="T38" fmla="*/ 5 w 5"/>
                <a:gd name="T39" fmla="*/ 6 h 11"/>
                <a:gd name="T40" fmla="*/ 5 w 5"/>
                <a:gd name="T41" fmla="*/ 6 h 11"/>
                <a:gd name="T42" fmla="*/ 5 w 5"/>
                <a:gd name="T43" fmla="*/ 6 h 11"/>
                <a:gd name="T44" fmla="*/ 5 w 5"/>
                <a:gd name="T45" fmla="*/ 6 h 11"/>
                <a:gd name="T46" fmla="*/ 5 w 5"/>
                <a:gd name="T47" fmla="*/ 6 h 11"/>
                <a:gd name="T48" fmla="*/ 5 w 5"/>
                <a:gd name="T49" fmla="*/ 6 h 11"/>
                <a:gd name="T50" fmla="*/ 5 w 5"/>
                <a:gd name="T51" fmla="*/ 6 h 11"/>
                <a:gd name="T52" fmla="*/ 5 w 5"/>
                <a:gd name="T53" fmla="*/ 6 h 11"/>
                <a:gd name="T54" fmla="*/ 5 w 5"/>
                <a:gd name="T55" fmla="*/ 6 h 11"/>
                <a:gd name="T56" fmla="*/ 5 w 5"/>
                <a:gd name="T57" fmla="*/ 6 h 11"/>
                <a:gd name="T58" fmla="*/ 5 w 5"/>
                <a:gd name="T59" fmla="*/ 6 h 11"/>
                <a:gd name="T60" fmla="*/ 5 w 5"/>
                <a:gd name="T61" fmla="*/ 6 h 11"/>
                <a:gd name="T62" fmla="*/ 5 w 5"/>
                <a:gd name="T63" fmla="*/ 6 h 11"/>
                <a:gd name="T64" fmla="*/ 5 w 5"/>
                <a:gd name="T65" fmla="*/ 6 h 11"/>
                <a:gd name="T66" fmla="*/ 5 w 5"/>
                <a:gd name="T67" fmla="*/ 6 h 11"/>
                <a:gd name="T68" fmla="*/ 5 w 5"/>
                <a:gd name="T69" fmla="*/ 6 h 11"/>
                <a:gd name="T70" fmla="*/ 5 w 5"/>
                <a:gd name="T71" fmla="*/ 6 h 11"/>
                <a:gd name="T72" fmla="*/ 5 w 5"/>
                <a:gd name="T73" fmla="*/ 6 h 11"/>
                <a:gd name="T74" fmla="*/ 5 w 5"/>
                <a:gd name="T75" fmla="*/ 6 h 11"/>
                <a:gd name="T76" fmla="*/ 5 w 5"/>
                <a:gd name="T77" fmla="*/ 6 h 11"/>
                <a:gd name="T78" fmla="*/ 5 w 5"/>
                <a:gd name="T79" fmla="*/ 6 h 11"/>
                <a:gd name="T80" fmla="*/ 5 w 5"/>
                <a:gd name="T81" fmla="*/ 6 h 11"/>
                <a:gd name="T82" fmla="*/ 5 w 5"/>
                <a:gd name="T83" fmla="*/ 6 h 11"/>
                <a:gd name="T84" fmla="*/ 5 w 5"/>
                <a:gd name="T85" fmla="*/ 6 h 11"/>
                <a:gd name="T86" fmla="*/ 5 w 5"/>
                <a:gd name="T87" fmla="*/ 6 h 11"/>
                <a:gd name="T88" fmla="*/ 5 w 5"/>
                <a:gd name="T89" fmla="*/ 6 h 11"/>
                <a:gd name="T90" fmla="*/ 5 w 5"/>
                <a:gd name="T91" fmla="*/ 6 h 11"/>
                <a:gd name="T92" fmla="*/ 5 w 5"/>
                <a:gd name="T93" fmla="*/ 6 h 11"/>
                <a:gd name="T94" fmla="*/ 5 w 5"/>
                <a:gd name="T95" fmla="*/ 6 h 11"/>
                <a:gd name="T96" fmla="*/ 5 w 5"/>
                <a:gd name="T97" fmla="*/ 11 h 11"/>
                <a:gd name="T98" fmla="*/ 5 w 5"/>
                <a:gd name="T99" fmla="*/ 11 h 11"/>
                <a:gd name="T100" fmla="*/ 5 w 5"/>
                <a:gd name="T101" fmla="*/ 11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1"/>
                <a:gd name="T155" fmla="*/ 5 w 5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3" name="Freeform 180"/>
            <p:cNvSpPr>
              <a:spLocks/>
            </p:cNvSpPr>
            <p:nvPr/>
          </p:nvSpPr>
          <p:spPr bwMode="auto">
            <a:xfrm>
              <a:off x="5264" y="3318"/>
              <a:ext cx="9" cy="1"/>
            </a:xfrm>
            <a:custGeom>
              <a:avLst/>
              <a:gdLst>
                <a:gd name="T0" fmla="*/ 0 w 9"/>
                <a:gd name="T1" fmla="*/ 0 h 1"/>
                <a:gd name="T2" fmla="*/ 0 w 9"/>
                <a:gd name="T3" fmla="*/ 0 h 1"/>
                <a:gd name="T4" fmla="*/ 0 w 9"/>
                <a:gd name="T5" fmla="*/ 0 h 1"/>
                <a:gd name="T6" fmla="*/ 4 w 9"/>
                <a:gd name="T7" fmla="*/ 0 h 1"/>
                <a:gd name="T8" fmla="*/ 4 w 9"/>
                <a:gd name="T9" fmla="*/ 0 h 1"/>
                <a:gd name="T10" fmla="*/ 4 w 9"/>
                <a:gd name="T11" fmla="*/ 0 h 1"/>
                <a:gd name="T12" fmla="*/ 4 w 9"/>
                <a:gd name="T13" fmla="*/ 0 h 1"/>
                <a:gd name="T14" fmla="*/ 4 w 9"/>
                <a:gd name="T15" fmla="*/ 0 h 1"/>
                <a:gd name="T16" fmla="*/ 4 w 9"/>
                <a:gd name="T17" fmla="*/ 0 h 1"/>
                <a:gd name="T18" fmla="*/ 4 w 9"/>
                <a:gd name="T19" fmla="*/ 0 h 1"/>
                <a:gd name="T20" fmla="*/ 4 w 9"/>
                <a:gd name="T21" fmla="*/ 0 h 1"/>
                <a:gd name="T22" fmla="*/ 4 w 9"/>
                <a:gd name="T23" fmla="*/ 0 h 1"/>
                <a:gd name="T24" fmla="*/ 4 w 9"/>
                <a:gd name="T25" fmla="*/ 0 h 1"/>
                <a:gd name="T26" fmla="*/ 4 w 9"/>
                <a:gd name="T27" fmla="*/ 0 h 1"/>
                <a:gd name="T28" fmla="*/ 4 w 9"/>
                <a:gd name="T29" fmla="*/ 0 h 1"/>
                <a:gd name="T30" fmla="*/ 4 w 9"/>
                <a:gd name="T31" fmla="*/ 0 h 1"/>
                <a:gd name="T32" fmla="*/ 4 w 9"/>
                <a:gd name="T33" fmla="*/ 0 h 1"/>
                <a:gd name="T34" fmla="*/ 4 w 9"/>
                <a:gd name="T35" fmla="*/ 0 h 1"/>
                <a:gd name="T36" fmla="*/ 4 w 9"/>
                <a:gd name="T37" fmla="*/ 0 h 1"/>
                <a:gd name="T38" fmla="*/ 4 w 9"/>
                <a:gd name="T39" fmla="*/ 0 h 1"/>
                <a:gd name="T40" fmla="*/ 4 w 9"/>
                <a:gd name="T41" fmla="*/ 0 h 1"/>
                <a:gd name="T42" fmla="*/ 4 w 9"/>
                <a:gd name="T43" fmla="*/ 0 h 1"/>
                <a:gd name="T44" fmla="*/ 4 w 9"/>
                <a:gd name="T45" fmla="*/ 0 h 1"/>
                <a:gd name="T46" fmla="*/ 4 w 9"/>
                <a:gd name="T47" fmla="*/ 0 h 1"/>
                <a:gd name="T48" fmla="*/ 4 w 9"/>
                <a:gd name="T49" fmla="*/ 0 h 1"/>
                <a:gd name="T50" fmla="*/ 4 w 9"/>
                <a:gd name="T51" fmla="*/ 0 h 1"/>
                <a:gd name="T52" fmla="*/ 4 w 9"/>
                <a:gd name="T53" fmla="*/ 0 h 1"/>
                <a:gd name="T54" fmla="*/ 4 w 9"/>
                <a:gd name="T55" fmla="*/ 0 h 1"/>
                <a:gd name="T56" fmla="*/ 4 w 9"/>
                <a:gd name="T57" fmla="*/ 0 h 1"/>
                <a:gd name="T58" fmla="*/ 4 w 9"/>
                <a:gd name="T59" fmla="*/ 0 h 1"/>
                <a:gd name="T60" fmla="*/ 4 w 9"/>
                <a:gd name="T61" fmla="*/ 0 h 1"/>
                <a:gd name="T62" fmla="*/ 4 w 9"/>
                <a:gd name="T63" fmla="*/ 0 h 1"/>
                <a:gd name="T64" fmla="*/ 4 w 9"/>
                <a:gd name="T65" fmla="*/ 0 h 1"/>
                <a:gd name="T66" fmla="*/ 4 w 9"/>
                <a:gd name="T67" fmla="*/ 0 h 1"/>
                <a:gd name="T68" fmla="*/ 4 w 9"/>
                <a:gd name="T69" fmla="*/ 0 h 1"/>
                <a:gd name="T70" fmla="*/ 4 w 9"/>
                <a:gd name="T71" fmla="*/ 0 h 1"/>
                <a:gd name="T72" fmla="*/ 4 w 9"/>
                <a:gd name="T73" fmla="*/ 0 h 1"/>
                <a:gd name="T74" fmla="*/ 4 w 9"/>
                <a:gd name="T75" fmla="*/ 0 h 1"/>
                <a:gd name="T76" fmla="*/ 4 w 9"/>
                <a:gd name="T77" fmla="*/ 0 h 1"/>
                <a:gd name="T78" fmla="*/ 4 w 9"/>
                <a:gd name="T79" fmla="*/ 0 h 1"/>
                <a:gd name="T80" fmla="*/ 4 w 9"/>
                <a:gd name="T81" fmla="*/ 0 h 1"/>
                <a:gd name="T82" fmla="*/ 4 w 9"/>
                <a:gd name="T83" fmla="*/ 0 h 1"/>
                <a:gd name="T84" fmla="*/ 4 w 9"/>
                <a:gd name="T85" fmla="*/ 0 h 1"/>
                <a:gd name="T86" fmla="*/ 4 w 9"/>
                <a:gd name="T87" fmla="*/ 0 h 1"/>
                <a:gd name="T88" fmla="*/ 9 w 9"/>
                <a:gd name="T89" fmla="*/ 0 h 1"/>
                <a:gd name="T90" fmla="*/ 9 w 9"/>
                <a:gd name="T91" fmla="*/ 0 h 1"/>
                <a:gd name="T92" fmla="*/ 9 w 9"/>
                <a:gd name="T93" fmla="*/ 0 h 1"/>
                <a:gd name="T94" fmla="*/ 9 w 9"/>
                <a:gd name="T95" fmla="*/ 0 h 1"/>
                <a:gd name="T96" fmla="*/ 9 w 9"/>
                <a:gd name="T97" fmla="*/ 0 h 1"/>
                <a:gd name="T98" fmla="*/ 9 w 9"/>
                <a:gd name="T99" fmla="*/ 0 h 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9"/>
                <a:gd name="T151" fmla="*/ 0 h 1"/>
                <a:gd name="T152" fmla="*/ 9 w 9"/>
                <a:gd name="T153" fmla="*/ 1 h 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9" h="1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4" name="Freeform 181"/>
            <p:cNvSpPr>
              <a:spLocks/>
            </p:cNvSpPr>
            <p:nvPr/>
          </p:nvSpPr>
          <p:spPr bwMode="auto">
            <a:xfrm>
              <a:off x="5273" y="3318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w 1"/>
                <a:gd name="T99" fmla="*/ 0 h 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1"/>
                <a:gd name="T152" fmla="*/ 1 w 1"/>
                <a:gd name="T153" fmla="*/ 1 h 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5" name="Freeform 182"/>
            <p:cNvSpPr>
              <a:spLocks/>
            </p:cNvSpPr>
            <p:nvPr/>
          </p:nvSpPr>
          <p:spPr bwMode="auto">
            <a:xfrm>
              <a:off x="5273" y="3318"/>
              <a:ext cx="5" cy="1"/>
            </a:xfrm>
            <a:custGeom>
              <a:avLst/>
              <a:gdLst>
                <a:gd name="T0" fmla="*/ 0 w 5"/>
                <a:gd name="T1" fmla="*/ 0 h 1"/>
                <a:gd name="T2" fmla="*/ 5 w 5"/>
                <a:gd name="T3" fmla="*/ 0 h 1"/>
                <a:gd name="T4" fmla="*/ 5 w 5"/>
                <a:gd name="T5" fmla="*/ 0 h 1"/>
                <a:gd name="T6" fmla="*/ 5 w 5"/>
                <a:gd name="T7" fmla="*/ 0 h 1"/>
                <a:gd name="T8" fmla="*/ 5 w 5"/>
                <a:gd name="T9" fmla="*/ 0 h 1"/>
                <a:gd name="T10" fmla="*/ 5 w 5"/>
                <a:gd name="T11" fmla="*/ 0 h 1"/>
                <a:gd name="T12" fmla="*/ 5 w 5"/>
                <a:gd name="T13" fmla="*/ 0 h 1"/>
                <a:gd name="T14" fmla="*/ 5 w 5"/>
                <a:gd name="T15" fmla="*/ 0 h 1"/>
                <a:gd name="T16" fmla="*/ 5 w 5"/>
                <a:gd name="T17" fmla="*/ 0 h 1"/>
                <a:gd name="T18" fmla="*/ 5 w 5"/>
                <a:gd name="T19" fmla="*/ 0 h 1"/>
                <a:gd name="T20" fmla="*/ 5 w 5"/>
                <a:gd name="T21" fmla="*/ 0 h 1"/>
                <a:gd name="T22" fmla="*/ 5 w 5"/>
                <a:gd name="T23" fmla="*/ 0 h 1"/>
                <a:gd name="T24" fmla="*/ 5 w 5"/>
                <a:gd name="T25" fmla="*/ 0 h 1"/>
                <a:gd name="T26" fmla="*/ 5 w 5"/>
                <a:gd name="T27" fmla="*/ 0 h 1"/>
                <a:gd name="T28" fmla="*/ 5 w 5"/>
                <a:gd name="T29" fmla="*/ 0 h 1"/>
                <a:gd name="T30" fmla="*/ 5 w 5"/>
                <a:gd name="T31" fmla="*/ 0 h 1"/>
                <a:gd name="T32" fmla="*/ 5 w 5"/>
                <a:gd name="T33" fmla="*/ 0 h 1"/>
                <a:gd name="T34" fmla="*/ 5 w 5"/>
                <a:gd name="T35" fmla="*/ 0 h 1"/>
                <a:gd name="T36" fmla="*/ 5 w 5"/>
                <a:gd name="T37" fmla="*/ 0 h 1"/>
                <a:gd name="T38" fmla="*/ 5 w 5"/>
                <a:gd name="T39" fmla="*/ 0 h 1"/>
                <a:gd name="T40" fmla="*/ 5 w 5"/>
                <a:gd name="T41" fmla="*/ 0 h 1"/>
                <a:gd name="T42" fmla="*/ 5 w 5"/>
                <a:gd name="T43" fmla="*/ 0 h 1"/>
                <a:gd name="T44" fmla="*/ 5 w 5"/>
                <a:gd name="T45" fmla="*/ 0 h 1"/>
                <a:gd name="T46" fmla="*/ 5 w 5"/>
                <a:gd name="T47" fmla="*/ 0 h 1"/>
                <a:gd name="T48" fmla="*/ 5 w 5"/>
                <a:gd name="T49" fmla="*/ 0 h 1"/>
                <a:gd name="T50" fmla="*/ 5 w 5"/>
                <a:gd name="T51" fmla="*/ 0 h 1"/>
                <a:gd name="T52" fmla="*/ 5 w 5"/>
                <a:gd name="T53" fmla="*/ 0 h 1"/>
                <a:gd name="T54" fmla="*/ 5 w 5"/>
                <a:gd name="T55" fmla="*/ 0 h 1"/>
                <a:gd name="T56" fmla="*/ 5 w 5"/>
                <a:gd name="T57" fmla="*/ 0 h 1"/>
                <a:gd name="T58" fmla="*/ 5 w 5"/>
                <a:gd name="T59" fmla="*/ 0 h 1"/>
                <a:gd name="T60" fmla="*/ 5 w 5"/>
                <a:gd name="T61" fmla="*/ 0 h 1"/>
                <a:gd name="T62" fmla="*/ 5 w 5"/>
                <a:gd name="T63" fmla="*/ 0 h 1"/>
                <a:gd name="T64" fmla="*/ 5 w 5"/>
                <a:gd name="T65" fmla="*/ 0 h 1"/>
                <a:gd name="T66" fmla="*/ 5 w 5"/>
                <a:gd name="T67" fmla="*/ 0 h 1"/>
                <a:gd name="T68" fmla="*/ 5 w 5"/>
                <a:gd name="T69" fmla="*/ 0 h 1"/>
                <a:gd name="T70" fmla="*/ 5 w 5"/>
                <a:gd name="T71" fmla="*/ 0 h 1"/>
                <a:gd name="T72" fmla="*/ 5 w 5"/>
                <a:gd name="T73" fmla="*/ 0 h 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5"/>
                <a:gd name="T112" fmla="*/ 0 h 1"/>
                <a:gd name="T113" fmla="*/ 5 w 5"/>
                <a:gd name="T114" fmla="*/ 1 h 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5" h="1">
                  <a:moveTo>
                    <a:pt x="0" y="0"/>
                  </a:move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6" name="Freeform 183"/>
            <p:cNvSpPr>
              <a:spLocks/>
            </p:cNvSpPr>
            <p:nvPr/>
          </p:nvSpPr>
          <p:spPr bwMode="auto">
            <a:xfrm>
              <a:off x="5278" y="3313"/>
              <a:ext cx="9" cy="5"/>
            </a:xfrm>
            <a:custGeom>
              <a:avLst/>
              <a:gdLst>
                <a:gd name="T0" fmla="*/ 0 w 9"/>
                <a:gd name="T1" fmla="*/ 5 h 5"/>
                <a:gd name="T2" fmla="*/ 0 w 9"/>
                <a:gd name="T3" fmla="*/ 5 h 5"/>
                <a:gd name="T4" fmla="*/ 0 w 9"/>
                <a:gd name="T5" fmla="*/ 5 h 5"/>
                <a:gd name="T6" fmla="*/ 0 w 9"/>
                <a:gd name="T7" fmla="*/ 5 h 5"/>
                <a:gd name="T8" fmla="*/ 5 w 9"/>
                <a:gd name="T9" fmla="*/ 5 h 5"/>
                <a:gd name="T10" fmla="*/ 5 w 9"/>
                <a:gd name="T11" fmla="*/ 5 h 5"/>
                <a:gd name="T12" fmla="*/ 5 w 9"/>
                <a:gd name="T13" fmla="*/ 5 h 5"/>
                <a:gd name="T14" fmla="*/ 5 w 9"/>
                <a:gd name="T15" fmla="*/ 5 h 5"/>
                <a:gd name="T16" fmla="*/ 5 w 9"/>
                <a:gd name="T17" fmla="*/ 5 h 5"/>
                <a:gd name="T18" fmla="*/ 5 w 9"/>
                <a:gd name="T19" fmla="*/ 5 h 5"/>
                <a:gd name="T20" fmla="*/ 5 w 9"/>
                <a:gd name="T21" fmla="*/ 5 h 5"/>
                <a:gd name="T22" fmla="*/ 5 w 9"/>
                <a:gd name="T23" fmla="*/ 5 h 5"/>
                <a:gd name="T24" fmla="*/ 5 w 9"/>
                <a:gd name="T25" fmla="*/ 5 h 5"/>
                <a:gd name="T26" fmla="*/ 5 w 9"/>
                <a:gd name="T27" fmla="*/ 5 h 5"/>
                <a:gd name="T28" fmla="*/ 5 w 9"/>
                <a:gd name="T29" fmla="*/ 5 h 5"/>
                <a:gd name="T30" fmla="*/ 5 w 9"/>
                <a:gd name="T31" fmla="*/ 5 h 5"/>
                <a:gd name="T32" fmla="*/ 5 w 9"/>
                <a:gd name="T33" fmla="*/ 5 h 5"/>
                <a:gd name="T34" fmla="*/ 5 w 9"/>
                <a:gd name="T35" fmla="*/ 5 h 5"/>
                <a:gd name="T36" fmla="*/ 5 w 9"/>
                <a:gd name="T37" fmla="*/ 5 h 5"/>
                <a:gd name="T38" fmla="*/ 5 w 9"/>
                <a:gd name="T39" fmla="*/ 5 h 5"/>
                <a:gd name="T40" fmla="*/ 5 w 9"/>
                <a:gd name="T41" fmla="*/ 5 h 5"/>
                <a:gd name="T42" fmla="*/ 5 w 9"/>
                <a:gd name="T43" fmla="*/ 5 h 5"/>
                <a:gd name="T44" fmla="*/ 5 w 9"/>
                <a:gd name="T45" fmla="*/ 5 h 5"/>
                <a:gd name="T46" fmla="*/ 5 w 9"/>
                <a:gd name="T47" fmla="*/ 5 h 5"/>
                <a:gd name="T48" fmla="*/ 5 w 9"/>
                <a:gd name="T49" fmla="*/ 5 h 5"/>
                <a:gd name="T50" fmla="*/ 5 w 9"/>
                <a:gd name="T51" fmla="*/ 5 h 5"/>
                <a:gd name="T52" fmla="*/ 5 w 9"/>
                <a:gd name="T53" fmla="*/ 5 h 5"/>
                <a:gd name="T54" fmla="*/ 5 w 9"/>
                <a:gd name="T55" fmla="*/ 5 h 5"/>
                <a:gd name="T56" fmla="*/ 5 w 9"/>
                <a:gd name="T57" fmla="*/ 5 h 5"/>
                <a:gd name="T58" fmla="*/ 5 w 9"/>
                <a:gd name="T59" fmla="*/ 5 h 5"/>
                <a:gd name="T60" fmla="*/ 5 w 9"/>
                <a:gd name="T61" fmla="*/ 5 h 5"/>
                <a:gd name="T62" fmla="*/ 5 w 9"/>
                <a:gd name="T63" fmla="*/ 5 h 5"/>
                <a:gd name="T64" fmla="*/ 5 w 9"/>
                <a:gd name="T65" fmla="*/ 5 h 5"/>
                <a:gd name="T66" fmla="*/ 5 w 9"/>
                <a:gd name="T67" fmla="*/ 5 h 5"/>
                <a:gd name="T68" fmla="*/ 5 w 9"/>
                <a:gd name="T69" fmla="*/ 5 h 5"/>
                <a:gd name="T70" fmla="*/ 5 w 9"/>
                <a:gd name="T71" fmla="*/ 5 h 5"/>
                <a:gd name="T72" fmla="*/ 5 w 9"/>
                <a:gd name="T73" fmla="*/ 5 h 5"/>
                <a:gd name="T74" fmla="*/ 5 w 9"/>
                <a:gd name="T75" fmla="*/ 5 h 5"/>
                <a:gd name="T76" fmla="*/ 5 w 9"/>
                <a:gd name="T77" fmla="*/ 5 h 5"/>
                <a:gd name="T78" fmla="*/ 5 w 9"/>
                <a:gd name="T79" fmla="*/ 5 h 5"/>
                <a:gd name="T80" fmla="*/ 5 w 9"/>
                <a:gd name="T81" fmla="*/ 5 h 5"/>
                <a:gd name="T82" fmla="*/ 5 w 9"/>
                <a:gd name="T83" fmla="*/ 5 h 5"/>
                <a:gd name="T84" fmla="*/ 5 w 9"/>
                <a:gd name="T85" fmla="*/ 5 h 5"/>
                <a:gd name="T86" fmla="*/ 5 w 9"/>
                <a:gd name="T87" fmla="*/ 5 h 5"/>
                <a:gd name="T88" fmla="*/ 9 w 9"/>
                <a:gd name="T89" fmla="*/ 5 h 5"/>
                <a:gd name="T90" fmla="*/ 9 w 9"/>
                <a:gd name="T91" fmla="*/ 0 h 5"/>
                <a:gd name="T92" fmla="*/ 9 w 9"/>
                <a:gd name="T93" fmla="*/ 0 h 5"/>
                <a:gd name="T94" fmla="*/ 9 w 9"/>
                <a:gd name="T95" fmla="*/ 0 h 5"/>
                <a:gd name="T96" fmla="*/ 9 w 9"/>
                <a:gd name="T97" fmla="*/ 0 h 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"/>
                <a:gd name="T148" fmla="*/ 0 h 5"/>
                <a:gd name="T149" fmla="*/ 9 w 9"/>
                <a:gd name="T150" fmla="*/ 5 h 5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" h="5">
                  <a:moveTo>
                    <a:pt x="0" y="5"/>
                  </a:moveTo>
                  <a:lnTo>
                    <a:pt x="0" y="5"/>
                  </a:lnTo>
                  <a:lnTo>
                    <a:pt x="5" y="5"/>
                  </a:lnTo>
                  <a:lnTo>
                    <a:pt x="9" y="5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7" name="Freeform 184"/>
            <p:cNvSpPr>
              <a:spLocks/>
            </p:cNvSpPr>
            <p:nvPr/>
          </p:nvSpPr>
          <p:spPr bwMode="auto">
            <a:xfrm>
              <a:off x="5287" y="3307"/>
              <a:ext cx="5" cy="6"/>
            </a:xfrm>
            <a:custGeom>
              <a:avLst/>
              <a:gdLst>
                <a:gd name="T0" fmla="*/ 0 w 5"/>
                <a:gd name="T1" fmla="*/ 6 h 6"/>
                <a:gd name="T2" fmla="*/ 0 w 5"/>
                <a:gd name="T3" fmla="*/ 6 h 6"/>
                <a:gd name="T4" fmla="*/ 0 w 5"/>
                <a:gd name="T5" fmla="*/ 6 h 6"/>
                <a:gd name="T6" fmla="*/ 0 w 5"/>
                <a:gd name="T7" fmla="*/ 6 h 6"/>
                <a:gd name="T8" fmla="*/ 0 w 5"/>
                <a:gd name="T9" fmla="*/ 6 h 6"/>
                <a:gd name="T10" fmla="*/ 0 w 5"/>
                <a:gd name="T11" fmla="*/ 6 h 6"/>
                <a:gd name="T12" fmla="*/ 0 w 5"/>
                <a:gd name="T13" fmla="*/ 6 h 6"/>
                <a:gd name="T14" fmla="*/ 0 w 5"/>
                <a:gd name="T15" fmla="*/ 6 h 6"/>
                <a:gd name="T16" fmla="*/ 0 w 5"/>
                <a:gd name="T17" fmla="*/ 6 h 6"/>
                <a:gd name="T18" fmla="*/ 0 w 5"/>
                <a:gd name="T19" fmla="*/ 6 h 6"/>
                <a:gd name="T20" fmla="*/ 0 w 5"/>
                <a:gd name="T21" fmla="*/ 6 h 6"/>
                <a:gd name="T22" fmla="*/ 0 w 5"/>
                <a:gd name="T23" fmla="*/ 6 h 6"/>
                <a:gd name="T24" fmla="*/ 0 w 5"/>
                <a:gd name="T25" fmla="*/ 6 h 6"/>
                <a:gd name="T26" fmla="*/ 0 w 5"/>
                <a:gd name="T27" fmla="*/ 6 h 6"/>
                <a:gd name="T28" fmla="*/ 0 w 5"/>
                <a:gd name="T29" fmla="*/ 6 h 6"/>
                <a:gd name="T30" fmla="*/ 0 w 5"/>
                <a:gd name="T31" fmla="*/ 6 h 6"/>
                <a:gd name="T32" fmla="*/ 0 w 5"/>
                <a:gd name="T33" fmla="*/ 6 h 6"/>
                <a:gd name="T34" fmla="*/ 0 w 5"/>
                <a:gd name="T35" fmla="*/ 6 h 6"/>
                <a:gd name="T36" fmla="*/ 0 w 5"/>
                <a:gd name="T37" fmla="*/ 6 h 6"/>
                <a:gd name="T38" fmla="*/ 0 w 5"/>
                <a:gd name="T39" fmla="*/ 6 h 6"/>
                <a:gd name="T40" fmla="*/ 0 w 5"/>
                <a:gd name="T41" fmla="*/ 6 h 6"/>
                <a:gd name="T42" fmla="*/ 0 w 5"/>
                <a:gd name="T43" fmla="*/ 6 h 6"/>
                <a:gd name="T44" fmla="*/ 0 w 5"/>
                <a:gd name="T45" fmla="*/ 6 h 6"/>
                <a:gd name="T46" fmla="*/ 0 w 5"/>
                <a:gd name="T47" fmla="*/ 6 h 6"/>
                <a:gd name="T48" fmla="*/ 0 w 5"/>
                <a:gd name="T49" fmla="*/ 6 h 6"/>
                <a:gd name="T50" fmla="*/ 0 w 5"/>
                <a:gd name="T51" fmla="*/ 6 h 6"/>
                <a:gd name="T52" fmla="*/ 0 w 5"/>
                <a:gd name="T53" fmla="*/ 6 h 6"/>
                <a:gd name="T54" fmla="*/ 0 w 5"/>
                <a:gd name="T55" fmla="*/ 6 h 6"/>
                <a:gd name="T56" fmla="*/ 0 w 5"/>
                <a:gd name="T57" fmla="*/ 6 h 6"/>
                <a:gd name="T58" fmla="*/ 0 w 5"/>
                <a:gd name="T59" fmla="*/ 6 h 6"/>
                <a:gd name="T60" fmla="*/ 0 w 5"/>
                <a:gd name="T61" fmla="*/ 6 h 6"/>
                <a:gd name="T62" fmla="*/ 0 w 5"/>
                <a:gd name="T63" fmla="*/ 6 h 6"/>
                <a:gd name="T64" fmla="*/ 0 w 5"/>
                <a:gd name="T65" fmla="*/ 6 h 6"/>
                <a:gd name="T66" fmla="*/ 0 w 5"/>
                <a:gd name="T67" fmla="*/ 6 h 6"/>
                <a:gd name="T68" fmla="*/ 0 w 5"/>
                <a:gd name="T69" fmla="*/ 6 h 6"/>
                <a:gd name="T70" fmla="*/ 0 w 5"/>
                <a:gd name="T71" fmla="*/ 6 h 6"/>
                <a:gd name="T72" fmla="*/ 0 w 5"/>
                <a:gd name="T73" fmla="*/ 6 h 6"/>
                <a:gd name="T74" fmla="*/ 5 w 5"/>
                <a:gd name="T75" fmla="*/ 6 h 6"/>
                <a:gd name="T76" fmla="*/ 5 w 5"/>
                <a:gd name="T77" fmla="*/ 6 h 6"/>
                <a:gd name="T78" fmla="*/ 5 w 5"/>
                <a:gd name="T79" fmla="*/ 6 h 6"/>
                <a:gd name="T80" fmla="*/ 5 w 5"/>
                <a:gd name="T81" fmla="*/ 6 h 6"/>
                <a:gd name="T82" fmla="*/ 5 w 5"/>
                <a:gd name="T83" fmla="*/ 6 h 6"/>
                <a:gd name="T84" fmla="*/ 5 w 5"/>
                <a:gd name="T85" fmla="*/ 0 h 6"/>
                <a:gd name="T86" fmla="*/ 5 w 5"/>
                <a:gd name="T87" fmla="*/ 0 h 6"/>
                <a:gd name="T88" fmla="*/ 5 w 5"/>
                <a:gd name="T89" fmla="*/ 0 h 6"/>
                <a:gd name="T90" fmla="*/ 5 w 5"/>
                <a:gd name="T91" fmla="*/ 0 h 6"/>
                <a:gd name="T92" fmla="*/ 5 w 5"/>
                <a:gd name="T93" fmla="*/ 0 h 6"/>
                <a:gd name="T94" fmla="*/ 5 w 5"/>
                <a:gd name="T95" fmla="*/ 0 h 6"/>
                <a:gd name="T96" fmla="*/ 5 w 5"/>
                <a:gd name="T97" fmla="*/ 0 h 6"/>
                <a:gd name="T98" fmla="*/ 5 w 5"/>
                <a:gd name="T99" fmla="*/ 0 h 6"/>
                <a:gd name="T100" fmla="*/ 5 w 5"/>
                <a:gd name="T101" fmla="*/ 0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6"/>
                <a:gd name="T155" fmla="*/ 5 w 5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6">
                  <a:moveTo>
                    <a:pt x="0" y="6"/>
                  </a:move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8" name="Freeform 185"/>
            <p:cNvSpPr>
              <a:spLocks/>
            </p:cNvSpPr>
            <p:nvPr/>
          </p:nvSpPr>
          <p:spPr bwMode="auto">
            <a:xfrm>
              <a:off x="5292" y="3301"/>
              <a:ext cx="5" cy="6"/>
            </a:xfrm>
            <a:custGeom>
              <a:avLst/>
              <a:gdLst>
                <a:gd name="T0" fmla="*/ 0 w 5"/>
                <a:gd name="T1" fmla="*/ 6 h 6"/>
                <a:gd name="T2" fmla="*/ 0 w 5"/>
                <a:gd name="T3" fmla="*/ 6 h 6"/>
                <a:gd name="T4" fmla="*/ 0 w 5"/>
                <a:gd name="T5" fmla="*/ 6 h 6"/>
                <a:gd name="T6" fmla="*/ 0 w 5"/>
                <a:gd name="T7" fmla="*/ 6 h 6"/>
                <a:gd name="T8" fmla="*/ 0 w 5"/>
                <a:gd name="T9" fmla="*/ 6 h 6"/>
                <a:gd name="T10" fmla="*/ 0 w 5"/>
                <a:gd name="T11" fmla="*/ 6 h 6"/>
                <a:gd name="T12" fmla="*/ 0 w 5"/>
                <a:gd name="T13" fmla="*/ 6 h 6"/>
                <a:gd name="T14" fmla="*/ 0 w 5"/>
                <a:gd name="T15" fmla="*/ 6 h 6"/>
                <a:gd name="T16" fmla="*/ 0 w 5"/>
                <a:gd name="T17" fmla="*/ 6 h 6"/>
                <a:gd name="T18" fmla="*/ 0 w 5"/>
                <a:gd name="T19" fmla="*/ 6 h 6"/>
                <a:gd name="T20" fmla="*/ 0 w 5"/>
                <a:gd name="T21" fmla="*/ 6 h 6"/>
                <a:gd name="T22" fmla="*/ 0 w 5"/>
                <a:gd name="T23" fmla="*/ 6 h 6"/>
                <a:gd name="T24" fmla="*/ 0 w 5"/>
                <a:gd name="T25" fmla="*/ 6 h 6"/>
                <a:gd name="T26" fmla="*/ 0 w 5"/>
                <a:gd name="T27" fmla="*/ 6 h 6"/>
                <a:gd name="T28" fmla="*/ 0 w 5"/>
                <a:gd name="T29" fmla="*/ 6 h 6"/>
                <a:gd name="T30" fmla="*/ 0 w 5"/>
                <a:gd name="T31" fmla="*/ 6 h 6"/>
                <a:gd name="T32" fmla="*/ 0 w 5"/>
                <a:gd name="T33" fmla="*/ 6 h 6"/>
                <a:gd name="T34" fmla="*/ 0 w 5"/>
                <a:gd name="T35" fmla="*/ 6 h 6"/>
                <a:gd name="T36" fmla="*/ 0 w 5"/>
                <a:gd name="T37" fmla="*/ 6 h 6"/>
                <a:gd name="T38" fmla="*/ 0 w 5"/>
                <a:gd name="T39" fmla="*/ 6 h 6"/>
                <a:gd name="T40" fmla="*/ 0 w 5"/>
                <a:gd name="T41" fmla="*/ 6 h 6"/>
                <a:gd name="T42" fmla="*/ 0 w 5"/>
                <a:gd name="T43" fmla="*/ 6 h 6"/>
                <a:gd name="T44" fmla="*/ 0 w 5"/>
                <a:gd name="T45" fmla="*/ 6 h 6"/>
                <a:gd name="T46" fmla="*/ 0 w 5"/>
                <a:gd name="T47" fmla="*/ 6 h 6"/>
                <a:gd name="T48" fmla="*/ 0 w 5"/>
                <a:gd name="T49" fmla="*/ 6 h 6"/>
                <a:gd name="T50" fmla="*/ 0 w 5"/>
                <a:gd name="T51" fmla="*/ 0 h 6"/>
                <a:gd name="T52" fmla="*/ 0 w 5"/>
                <a:gd name="T53" fmla="*/ 0 h 6"/>
                <a:gd name="T54" fmla="*/ 5 w 5"/>
                <a:gd name="T55" fmla="*/ 0 h 6"/>
                <a:gd name="T56" fmla="*/ 5 w 5"/>
                <a:gd name="T57" fmla="*/ 0 h 6"/>
                <a:gd name="T58" fmla="*/ 5 w 5"/>
                <a:gd name="T59" fmla="*/ 0 h 6"/>
                <a:gd name="T60" fmla="*/ 5 w 5"/>
                <a:gd name="T61" fmla="*/ 0 h 6"/>
                <a:gd name="T62" fmla="*/ 5 w 5"/>
                <a:gd name="T63" fmla="*/ 0 h 6"/>
                <a:gd name="T64" fmla="*/ 5 w 5"/>
                <a:gd name="T65" fmla="*/ 0 h 6"/>
                <a:gd name="T66" fmla="*/ 5 w 5"/>
                <a:gd name="T67" fmla="*/ 0 h 6"/>
                <a:gd name="T68" fmla="*/ 5 w 5"/>
                <a:gd name="T69" fmla="*/ 0 h 6"/>
                <a:gd name="T70" fmla="*/ 5 w 5"/>
                <a:gd name="T71" fmla="*/ 0 h 6"/>
                <a:gd name="T72" fmla="*/ 5 w 5"/>
                <a:gd name="T73" fmla="*/ 0 h 6"/>
                <a:gd name="T74" fmla="*/ 5 w 5"/>
                <a:gd name="T75" fmla="*/ 0 h 6"/>
                <a:gd name="T76" fmla="*/ 5 w 5"/>
                <a:gd name="T77" fmla="*/ 0 h 6"/>
                <a:gd name="T78" fmla="*/ 5 w 5"/>
                <a:gd name="T79" fmla="*/ 0 h 6"/>
                <a:gd name="T80" fmla="*/ 5 w 5"/>
                <a:gd name="T81" fmla="*/ 0 h 6"/>
                <a:gd name="T82" fmla="*/ 5 w 5"/>
                <a:gd name="T83" fmla="*/ 0 h 6"/>
                <a:gd name="T84" fmla="*/ 5 w 5"/>
                <a:gd name="T85" fmla="*/ 0 h 6"/>
                <a:gd name="T86" fmla="*/ 5 w 5"/>
                <a:gd name="T87" fmla="*/ 0 h 6"/>
                <a:gd name="T88" fmla="*/ 5 w 5"/>
                <a:gd name="T89" fmla="*/ 0 h 6"/>
                <a:gd name="T90" fmla="*/ 5 w 5"/>
                <a:gd name="T91" fmla="*/ 0 h 6"/>
                <a:gd name="T92" fmla="*/ 5 w 5"/>
                <a:gd name="T93" fmla="*/ 0 h 6"/>
                <a:gd name="T94" fmla="*/ 5 w 5"/>
                <a:gd name="T95" fmla="*/ 0 h 6"/>
                <a:gd name="T96" fmla="*/ 5 w 5"/>
                <a:gd name="T97" fmla="*/ 0 h 6"/>
                <a:gd name="T98" fmla="*/ 5 w 5"/>
                <a:gd name="T99" fmla="*/ 0 h 6"/>
                <a:gd name="T100" fmla="*/ 5 w 5"/>
                <a:gd name="T101" fmla="*/ 0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6"/>
                <a:gd name="T155" fmla="*/ 5 w 5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6">
                  <a:moveTo>
                    <a:pt x="0" y="6"/>
                  </a:moveTo>
                  <a:lnTo>
                    <a:pt x="0" y="6"/>
                  </a:ln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9" name="Freeform 186"/>
            <p:cNvSpPr>
              <a:spLocks/>
            </p:cNvSpPr>
            <p:nvPr/>
          </p:nvSpPr>
          <p:spPr bwMode="auto">
            <a:xfrm>
              <a:off x="5297" y="3284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2 h 17"/>
                <a:gd name="T6" fmla="*/ 0 w 5"/>
                <a:gd name="T7" fmla="*/ 12 h 17"/>
                <a:gd name="T8" fmla="*/ 0 w 5"/>
                <a:gd name="T9" fmla="*/ 12 h 17"/>
                <a:gd name="T10" fmla="*/ 0 w 5"/>
                <a:gd name="T11" fmla="*/ 12 h 17"/>
                <a:gd name="T12" fmla="*/ 0 w 5"/>
                <a:gd name="T13" fmla="*/ 12 h 17"/>
                <a:gd name="T14" fmla="*/ 0 w 5"/>
                <a:gd name="T15" fmla="*/ 12 h 17"/>
                <a:gd name="T16" fmla="*/ 0 w 5"/>
                <a:gd name="T17" fmla="*/ 12 h 17"/>
                <a:gd name="T18" fmla="*/ 0 w 5"/>
                <a:gd name="T19" fmla="*/ 12 h 17"/>
                <a:gd name="T20" fmla="*/ 0 w 5"/>
                <a:gd name="T21" fmla="*/ 12 h 17"/>
                <a:gd name="T22" fmla="*/ 0 w 5"/>
                <a:gd name="T23" fmla="*/ 12 h 17"/>
                <a:gd name="T24" fmla="*/ 0 w 5"/>
                <a:gd name="T25" fmla="*/ 12 h 17"/>
                <a:gd name="T26" fmla="*/ 0 w 5"/>
                <a:gd name="T27" fmla="*/ 12 h 17"/>
                <a:gd name="T28" fmla="*/ 0 w 5"/>
                <a:gd name="T29" fmla="*/ 12 h 17"/>
                <a:gd name="T30" fmla="*/ 0 w 5"/>
                <a:gd name="T31" fmla="*/ 12 h 17"/>
                <a:gd name="T32" fmla="*/ 0 w 5"/>
                <a:gd name="T33" fmla="*/ 12 h 17"/>
                <a:gd name="T34" fmla="*/ 0 w 5"/>
                <a:gd name="T35" fmla="*/ 12 h 17"/>
                <a:gd name="T36" fmla="*/ 5 w 5"/>
                <a:gd name="T37" fmla="*/ 12 h 17"/>
                <a:gd name="T38" fmla="*/ 5 w 5"/>
                <a:gd name="T39" fmla="*/ 12 h 17"/>
                <a:gd name="T40" fmla="*/ 5 w 5"/>
                <a:gd name="T41" fmla="*/ 12 h 17"/>
                <a:gd name="T42" fmla="*/ 5 w 5"/>
                <a:gd name="T43" fmla="*/ 12 h 17"/>
                <a:gd name="T44" fmla="*/ 5 w 5"/>
                <a:gd name="T45" fmla="*/ 12 h 17"/>
                <a:gd name="T46" fmla="*/ 5 w 5"/>
                <a:gd name="T47" fmla="*/ 12 h 17"/>
                <a:gd name="T48" fmla="*/ 5 w 5"/>
                <a:gd name="T49" fmla="*/ 12 h 17"/>
                <a:gd name="T50" fmla="*/ 5 w 5"/>
                <a:gd name="T51" fmla="*/ 12 h 17"/>
                <a:gd name="T52" fmla="*/ 5 w 5"/>
                <a:gd name="T53" fmla="*/ 12 h 17"/>
                <a:gd name="T54" fmla="*/ 5 w 5"/>
                <a:gd name="T55" fmla="*/ 6 h 17"/>
                <a:gd name="T56" fmla="*/ 5 w 5"/>
                <a:gd name="T57" fmla="*/ 6 h 17"/>
                <a:gd name="T58" fmla="*/ 5 w 5"/>
                <a:gd name="T59" fmla="*/ 6 h 17"/>
                <a:gd name="T60" fmla="*/ 5 w 5"/>
                <a:gd name="T61" fmla="*/ 6 h 17"/>
                <a:gd name="T62" fmla="*/ 5 w 5"/>
                <a:gd name="T63" fmla="*/ 6 h 17"/>
                <a:gd name="T64" fmla="*/ 5 w 5"/>
                <a:gd name="T65" fmla="*/ 6 h 17"/>
                <a:gd name="T66" fmla="*/ 5 w 5"/>
                <a:gd name="T67" fmla="*/ 6 h 17"/>
                <a:gd name="T68" fmla="*/ 5 w 5"/>
                <a:gd name="T69" fmla="*/ 6 h 17"/>
                <a:gd name="T70" fmla="*/ 5 w 5"/>
                <a:gd name="T71" fmla="*/ 6 h 17"/>
                <a:gd name="T72" fmla="*/ 5 w 5"/>
                <a:gd name="T73" fmla="*/ 6 h 17"/>
                <a:gd name="T74" fmla="*/ 5 w 5"/>
                <a:gd name="T75" fmla="*/ 6 h 17"/>
                <a:gd name="T76" fmla="*/ 5 w 5"/>
                <a:gd name="T77" fmla="*/ 6 h 17"/>
                <a:gd name="T78" fmla="*/ 5 w 5"/>
                <a:gd name="T79" fmla="*/ 6 h 17"/>
                <a:gd name="T80" fmla="*/ 5 w 5"/>
                <a:gd name="T81" fmla="*/ 6 h 17"/>
                <a:gd name="T82" fmla="*/ 5 w 5"/>
                <a:gd name="T83" fmla="*/ 6 h 17"/>
                <a:gd name="T84" fmla="*/ 5 w 5"/>
                <a:gd name="T85" fmla="*/ 6 h 17"/>
                <a:gd name="T86" fmla="*/ 5 w 5"/>
                <a:gd name="T87" fmla="*/ 6 h 17"/>
                <a:gd name="T88" fmla="*/ 5 w 5"/>
                <a:gd name="T89" fmla="*/ 6 h 17"/>
                <a:gd name="T90" fmla="*/ 5 w 5"/>
                <a:gd name="T91" fmla="*/ 6 h 17"/>
                <a:gd name="T92" fmla="*/ 5 w 5"/>
                <a:gd name="T93" fmla="*/ 6 h 17"/>
                <a:gd name="T94" fmla="*/ 5 w 5"/>
                <a:gd name="T95" fmla="*/ 6 h 17"/>
                <a:gd name="T96" fmla="*/ 5 w 5"/>
                <a:gd name="T97" fmla="*/ 6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0" name="Freeform 187"/>
            <p:cNvSpPr>
              <a:spLocks/>
            </p:cNvSpPr>
            <p:nvPr/>
          </p:nvSpPr>
          <p:spPr bwMode="auto">
            <a:xfrm>
              <a:off x="5302" y="3273"/>
              <a:ext cx="9" cy="11"/>
            </a:xfrm>
            <a:custGeom>
              <a:avLst/>
              <a:gdLst>
                <a:gd name="T0" fmla="*/ 0 w 9"/>
                <a:gd name="T1" fmla="*/ 11 h 11"/>
                <a:gd name="T2" fmla="*/ 0 w 9"/>
                <a:gd name="T3" fmla="*/ 11 h 11"/>
                <a:gd name="T4" fmla="*/ 0 w 9"/>
                <a:gd name="T5" fmla="*/ 11 h 11"/>
                <a:gd name="T6" fmla="*/ 0 w 9"/>
                <a:gd name="T7" fmla="*/ 11 h 11"/>
                <a:gd name="T8" fmla="*/ 0 w 9"/>
                <a:gd name="T9" fmla="*/ 11 h 11"/>
                <a:gd name="T10" fmla="*/ 0 w 9"/>
                <a:gd name="T11" fmla="*/ 11 h 11"/>
                <a:gd name="T12" fmla="*/ 0 w 9"/>
                <a:gd name="T13" fmla="*/ 11 h 11"/>
                <a:gd name="T14" fmla="*/ 0 w 9"/>
                <a:gd name="T15" fmla="*/ 11 h 11"/>
                <a:gd name="T16" fmla="*/ 4 w 9"/>
                <a:gd name="T17" fmla="*/ 11 h 11"/>
                <a:gd name="T18" fmla="*/ 4 w 9"/>
                <a:gd name="T19" fmla="*/ 11 h 11"/>
                <a:gd name="T20" fmla="*/ 4 w 9"/>
                <a:gd name="T21" fmla="*/ 11 h 11"/>
                <a:gd name="T22" fmla="*/ 4 w 9"/>
                <a:gd name="T23" fmla="*/ 11 h 11"/>
                <a:gd name="T24" fmla="*/ 4 w 9"/>
                <a:gd name="T25" fmla="*/ 11 h 11"/>
                <a:gd name="T26" fmla="*/ 4 w 9"/>
                <a:gd name="T27" fmla="*/ 11 h 11"/>
                <a:gd name="T28" fmla="*/ 4 w 9"/>
                <a:gd name="T29" fmla="*/ 11 h 11"/>
                <a:gd name="T30" fmla="*/ 4 w 9"/>
                <a:gd name="T31" fmla="*/ 11 h 11"/>
                <a:gd name="T32" fmla="*/ 4 w 9"/>
                <a:gd name="T33" fmla="*/ 11 h 11"/>
                <a:gd name="T34" fmla="*/ 4 w 9"/>
                <a:gd name="T35" fmla="*/ 11 h 11"/>
                <a:gd name="T36" fmla="*/ 4 w 9"/>
                <a:gd name="T37" fmla="*/ 11 h 11"/>
                <a:gd name="T38" fmla="*/ 4 w 9"/>
                <a:gd name="T39" fmla="*/ 5 h 11"/>
                <a:gd name="T40" fmla="*/ 4 w 9"/>
                <a:gd name="T41" fmla="*/ 5 h 11"/>
                <a:gd name="T42" fmla="*/ 4 w 9"/>
                <a:gd name="T43" fmla="*/ 5 h 11"/>
                <a:gd name="T44" fmla="*/ 4 w 9"/>
                <a:gd name="T45" fmla="*/ 5 h 11"/>
                <a:gd name="T46" fmla="*/ 4 w 9"/>
                <a:gd name="T47" fmla="*/ 5 h 11"/>
                <a:gd name="T48" fmla="*/ 4 w 9"/>
                <a:gd name="T49" fmla="*/ 5 h 11"/>
                <a:gd name="T50" fmla="*/ 4 w 9"/>
                <a:gd name="T51" fmla="*/ 5 h 11"/>
                <a:gd name="T52" fmla="*/ 4 w 9"/>
                <a:gd name="T53" fmla="*/ 5 h 11"/>
                <a:gd name="T54" fmla="*/ 4 w 9"/>
                <a:gd name="T55" fmla="*/ 5 h 11"/>
                <a:gd name="T56" fmla="*/ 4 w 9"/>
                <a:gd name="T57" fmla="*/ 5 h 11"/>
                <a:gd name="T58" fmla="*/ 4 w 9"/>
                <a:gd name="T59" fmla="*/ 5 h 11"/>
                <a:gd name="T60" fmla="*/ 4 w 9"/>
                <a:gd name="T61" fmla="*/ 5 h 11"/>
                <a:gd name="T62" fmla="*/ 4 w 9"/>
                <a:gd name="T63" fmla="*/ 5 h 11"/>
                <a:gd name="T64" fmla="*/ 4 w 9"/>
                <a:gd name="T65" fmla="*/ 5 h 11"/>
                <a:gd name="T66" fmla="*/ 4 w 9"/>
                <a:gd name="T67" fmla="*/ 5 h 11"/>
                <a:gd name="T68" fmla="*/ 4 w 9"/>
                <a:gd name="T69" fmla="*/ 5 h 11"/>
                <a:gd name="T70" fmla="*/ 4 w 9"/>
                <a:gd name="T71" fmla="*/ 5 h 11"/>
                <a:gd name="T72" fmla="*/ 4 w 9"/>
                <a:gd name="T73" fmla="*/ 5 h 11"/>
                <a:gd name="T74" fmla="*/ 4 w 9"/>
                <a:gd name="T75" fmla="*/ 5 h 11"/>
                <a:gd name="T76" fmla="*/ 4 w 9"/>
                <a:gd name="T77" fmla="*/ 0 h 11"/>
                <a:gd name="T78" fmla="*/ 4 w 9"/>
                <a:gd name="T79" fmla="*/ 0 h 11"/>
                <a:gd name="T80" fmla="*/ 4 w 9"/>
                <a:gd name="T81" fmla="*/ 0 h 11"/>
                <a:gd name="T82" fmla="*/ 4 w 9"/>
                <a:gd name="T83" fmla="*/ 0 h 11"/>
                <a:gd name="T84" fmla="*/ 4 w 9"/>
                <a:gd name="T85" fmla="*/ 0 h 11"/>
                <a:gd name="T86" fmla="*/ 4 w 9"/>
                <a:gd name="T87" fmla="*/ 0 h 11"/>
                <a:gd name="T88" fmla="*/ 4 w 9"/>
                <a:gd name="T89" fmla="*/ 0 h 11"/>
                <a:gd name="T90" fmla="*/ 4 w 9"/>
                <a:gd name="T91" fmla="*/ 0 h 11"/>
                <a:gd name="T92" fmla="*/ 4 w 9"/>
                <a:gd name="T93" fmla="*/ 0 h 11"/>
                <a:gd name="T94" fmla="*/ 4 w 9"/>
                <a:gd name="T95" fmla="*/ 0 h 11"/>
                <a:gd name="T96" fmla="*/ 4 w 9"/>
                <a:gd name="T97" fmla="*/ 0 h 11"/>
                <a:gd name="T98" fmla="*/ 9 w 9"/>
                <a:gd name="T99" fmla="*/ 0 h 11"/>
                <a:gd name="T100" fmla="*/ 9 w 9"/>
                <a:gd name="T101" fmla="*/ 0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1"/>
                <a:gd name="T155" fmla="*/ 9 w 9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1">
                  <a:moveTo>
                    <a:pt x="0" y="11"/>
                  </a:moveTo>
                  <a:lnTo>
                    <a:pt x="0" y="11"/>
                  </a:lnTo>
                  <a:lnTo>
                    <a:pt x="4" y="11"/>
                  </a:lnTo>
                  <a:lnTo>
                    <a:pt x="4" y="5"/>
                  </a:lnTo>
                  <a:lnTo>
                    <a:pt x="4" y="0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1" name="Freeform 188"/>
            <p:cNvSpPr>
              <a:spLocks/>
            </p:cNvSpPr>
            <p:nvPr/>
          </p:nvSpPr>
          <p:spPr bwMode="auto">
            <a:xfrm>
              <a:off x="5311" y="3256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7 h 17"/>
                <a:gd name="T12" fmla="*/ 0 w 5"/>
                <a:gd name="T13" fmla="*/ 11 h 17"/>
                <a:gd name="T14" fmla="*/ 0 w 5"/>
                <a:gd name="T15" fmla="*/ 11 h 17"/>
                <a:gd name="T16" fmla="*/ 0 w 5"/>
                <a:gd name="T17" fmla="*/ 11 h 17"/>
                <a:gd name="T18" fmla="*/ 0 w 5"/>
                <a:gd name="T19" fmla="*/ 11 h 17"/>
                <a:gd name="T20" fmla="*/ 0 w 5"/>
                <a:gd name="T21" fmla="*/ 11 h 17"/>
                <a:gd name="T22" fmla="*/ 0 w 5"/>
                <a:gd name="T23" fmla="*/ 11 h 17"/>
                <a:gd name="T24" fmla="*/ 0 w 5"/>
                <a:gd name="T25" fmla="*/ 11 h 17"/>
                <a:gd name="T26" fmla="*/ 0 w 5"/>
                <a:gd name="T27" fmla="*/ 11 h 17"/>
                <a:gd name="T28" fmla="*/ 0 w 5"/>
                <a:gd name="T29" fmla="*/ 11 h 17"/>
                <a:gd name="T30" fmla="*/ 0 w 5"/>
                <a:gd name="T31" fmla="*/ 11 h 17"/>
                <a:gd name="T32" fmla="*/ 0 w 5"/>
                <a:gd name="T33" fmla="*/ 11 h 17"/>
                <a:gd name="T34" fmla="*/ 0 w 5"/>
                <a:gd name="T35" fmla="*/ 11 h 17"/>
                <a:gd name="T36" fmla="*/ 0 w 5"/>
                <a:gd name="T37" fmla="*/ 11 h 17"/>
                <a:gd name="T38" fmla="*/ 0 w 5"/>
                <a:gd name="T39" fmla="*/ 11 h 17"/>
                <a:gd name="T40" fmla="*/ 0 w 5"/>
                <a:gd name="T41" fmla="*/ 11 h 17"/>
                <a:gd name="T42" fmla="*/ 0 w 5"/>
                <a:gd name="T43" fmla="*/ 11 h 17"/>
                <a:gd name="T44" fmla="*/ 0 w 5"/>
                <a:gd name="T45" fmla="*/ 11 h 17"/>
                <a:gd name="T46" fmla="*/ 0 w 5"/>
                <a:gd name="T47" fmla="*/ 5 h 17"/>
                <a:gd name="T48" fmla="*/ 0 w 5"/>
                <a:gd name="T49" fmla="*/ 5 h 17"/>
                <a:gd name="T50" fmla="*/ 0 w 5"/>
                <a:gd name="T51" fmla="*/ 5 h 17"/>
                <a:gd name="T52" fmla="*/ 0 w 5"/>
                <a:gd name="T53" fmla="*/ 5 h 17"/>
                <a:gd name="T54" fmla="*/ 0 w 5"/>
                <a:gd name="T55" fmla="*/ 5 h 17"/>
                <a:gd name="T56" fmla="*/ 0 w 5"/>
                <a:gd name="T57" fmla="*/ 5 h 17"/>
                <a:gd name="T58" fmla="*/ 0 w 5"/>
                <a:gd name="T59" fmla="*/ 5 h 17"/>
                <a:gd name="T60" fmla="*/ 0 w 5"/>
                <a:gd name="T61" fmla="*/ 5 h 17"/>
                <a:gd name="T62" fmla="*/ 0 w 5"/>
                <a:gd name="T63" fmla="*/ 5 h 17"/>
                <a:gd name="T64" fmla="*/ 0 w 5"/>
                <a:gd name="T65" fmla="*/ 5 h 17"/>
                <a:gd name="T66" fmla="*/ 0 w 5"/>
                <a:gd name="T67" fmla="*/ 5 h 17"/>
                <a:gd name="T68" fmla="*/ 0 w 5"/>
                <a:gd name="T69" fmla="*/ 5 h 17"/>
                <a:gd name="T70" fmla="*/ 0 w 5"/>
                <a:gd name="T71" fmla="*/ 5 h 17"/>
                <a:gd name="T72" fmla="*/ 0 w 5"/>
                <a:gd name="T73" fmla="*/ 5 h 17"/>
                <a:gd name="T74" fmla="*/ 0 w 5"/>
                <a:gd name="T75" fmla="*/ 5 h 17"/>
                <a:gd name="T76" fmla="*/ 0 w 5"/>
                <a:gd name="T77" fmla="*/ 5 h 17"/>
                <a:gd name="T78" fmla="*/ 5 w 5"/>
                <a:gd name="T79" fmla="*/ 0 h 17"/>
                <a:gd name="T80" fmla="*/ 5 w 5"/>
                <a:gd name="T81" fmla="*/ 0 h 17"/>
                <a:gd name="T82" fmla="*/ 5 w 5"/>
                <a:gd name="T83" fmla="*/ 0 h 17"/>
                <a:gd name="T84" fmla="*/ 5 w 5"/>
                <a:gd name="T85" fmla="*/ 0 h 17"/>
                <a:gd name="T86" fmla="*/ 5 w 5"/>
                <a:gd name="T87" fmla="*/ 0 h 17"/>
                <a:gd name="T88" fmla="*/ 5 w 5"/>
                <a:gd name="T89" fmla="*/ 0 h 17"/>
                <a:gd name="T90" fmla="*/ 5 w 5"/>
                <a:gd name="T91" fmla="*/ 0 h 17"/>
                <a:gd name="T92" fmla="*/ 5 w 5"/>
                <a:gd name="T93" fmla="*/ 0 h 17"/>
                <a:gd name="T94" fmla="*/ 5 w 5"/>
                <a:gd name="T95" fmla="*/ 0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0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2" name="Freeform 189"/>
            <p:cNvSpPr>
              <a:spLocks/>
            </p:cNvSpPr>
            <p:nvPr/>
          </p:nvSpPr>
          <p:spPr bwMode="auto">
            <a:xfrm>
              <a:off x="5316" y="3233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23 h 23"/>
                <a:gd name="T10" fmla="*/ 0 w 5"/>
                <a:gd name="T11" fmla="*/ 17 h 23"/>
                <a:gd name="T12" fmla="*/ 0 w 5"/>
                <a:gd name="T13" fmla="*/ 17 h 23"/>
                <a:gd name="T14" fmla="*/ 0 w 5"/>
                <a:gd name="T15" fmla="*/ 17 h 23"/>
                <a:gd name="T16" fmla="*/ 0 w 5"/>
                <a:gd name="T17" fmla="*/ 17 h 23"/>
                <a:gd name="T18" fmla="*/ 0 w 5"/>
                <a:gd name="T19" fmla="*/ 17 h 23"/>
                <a:gd name="T20" fmla="*/ 0 w 5"/>
                <a:gd name="T21" fmla="*/ 17 h 23"/>
                <a:gd name="T22" fmla="*/ 0 w 5"/>
                <a:gd name="T23" fmla="*/ 17 h 23"/>
                <a:gd name="T24" fmla="*/ 0 w 5"/>
                <a:gd name="T25" fmla="*/ 17 h 23"/>
                <a:gd name="T26" fmla="*/ 0 w 5"/>
                <a:gd name="T27" fmla="*/ 17 h 23"/>
                <a:gd name="T28" fmla="*/ 0 w 5"/>
                <a:gd name="T29" fmla="*/ 17 h 23"/>
                <a:gd name="T30" fmla="*/ 0 w 5"/>
                <a:gd name="T31" fmla="*/ 17 h 23"/>
                <a:gd name="T32" fmla="*/ 0 w 5"/>
                <a:gd name="T33" fmla="*/ 17 h 23"/>
                <a:gd name="T34" fmla="*/ 0 w 5"/>
                <a:gd name="T35" fmla="*/ 17 h 23"/>
                <a:gd name="T36" fmla="*/ 0 w 5"/>
                <a:gd name="T37" fmla="*/ 17 h 23"/>
                <a:gd name="T38" fmla="*/ 0 w 5"/>
                <a:gd name="T39" fmla="*/ 17 h 23"/>
                <a:gd name="T40" fmla="*/ 0 w 5"/>
                <a:gd name="T41" fmla="*/ 17 h 23"/>
                <a:gd name="T42" fmla="*/ 0 w 5"/>
                <a:gd name="T43" fmla="*/ 11 h 23"/>
                <a:gd name="T44" fmla="*/ 0 w 5"/>
                <a:gd name="T45" fmla="*/ 11 h 23"/>
                <a:gd name="T46" fmla="*/ 0 w 5"/>
                <a:gd name="T47" fmla="*/ 11 h 23"/>
                <a:gd name="T48" fmla="*/ 0 w 5"/>
                <a:gd name="T49" fmla="*/ 11 h 23"/>
                <a:gd name="T50" fmla="*/ 0 w 5"/>
                <a:gd name="T51" fmla="*/ 11 h 23"/>
                <a:gd name="T52" fmla="*/ 0 w 5"/>
                <a:gd name="T53" fmla="*/ 11 h 23"/>
                <a:gd name="T54" fmla="*/ 0 w 5"/>
                <a:gd name="T55" fmla="*/ 11 h 23"/>
                <a:gd name="T56" fmla="*/ 0 w 5"/>
                <a:gd name="T57" fmla="*/ 11 h 23"/>
                <a:gd name="T58" fmla="*/ 0 w 5"/>
                <a:gd name="T59" fmla="*/ 11 h 23"/>
                <a:gd name="T60" fmla="*/ 5 w 5"/>
                <a:gd name="T61" fmla="*/ 11 h 23"/>
                <a:gd name="T62" fmla="*/ 5 w 5"/>
                <a:gd name="T63" fmla="*/ 11 h 23"/>
                <a:gd name="T64" fmla="*/ 5 w 5"/>
                <a:gd name="T65" fmla="*/ 11 h 23"/>
                <a:gd name="T66" fmla="*/ 5 w 5"/>
                <a:gd name="T67" fmla="*/ 11 h 23"/>
                <a:gd name="T68" fmla="*/ 5 w 5"/>
                <a:gd name="T69" fmla="*/ 11 h 23"/>
                <a:gd name="T70" fmla="*/ 5 w 5"/>
                <a:gd name="T71" fmla="*/ 6 h 23"/>
                <a:gd name="T72" fmla="*/ 5 w 5"/>
                <a:gd name="T73" fmla="*/ 6 h 23"/>
                <a:gd name="T74" fmla="*/ 5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6 h 23"/>
                <a:gd name="T86" fmla="*/ 5 w 5"/>
                <a:gd name="T87" fmla="*/ 6 h 23"/>
                <a:gd name="T88" fmla="*/ 5 w 5"/>
                <a:gd name="T89" fmla="*/ 6 h 23"/>
                <a:gd name="T90" fmla="*/ 5 w 5"/>
                <a:gd name="T91" fmla="*/ 6 h 23"/>
                <a:gd name="T92" fmla="*/ 5 w 5"/>
                <a:gd name="T93" fmla="*/ 6 h 23"/>
                <a:gd name="T94" fmla="*/ 5 w 5"/>
                <a:gd name="T95" fmla="*/ 6 h 23"/>
                <a:gd name="T96" fmla="*/ 5 w 5"/>
                <a:gd name="T97" fmla="*/ 6 h 23"/>
                <a:gd name="T98" fmla="*/ 5 w 5"/>
                <a:gd name="T99" fmla="*/ 6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3" name="Freeform 190"/>
            <p:cNvSpPr>
              <a:spLocks/>
            </p:cNvSpPr>
            <p:nvPr/>
          </p:nvSpPr>
          <p:spPr bwMode="auto">
            <a:xfrm>
              <a:off x="5321" y="3216"/>
              <a:ext cx="4" cy="17"/>
            </a:xfrm>
            <a:custGeom>
              <a:avLst/>
              <a:gdLst>
                <a:gd name="T0" fmla="*/ 0 w 4"/>
                <a:gd name="T1" fmla="*/ 17 h 17"/>
                <a:gd name="T2" fmla="*/ 0 w 4"/>
                <a:gd name="T3" fmla="*/ 17 h 17"/>
                <a:gd name="T4" fmla="*/ 0 w 4"/>
                <a:gd name="T5" fmla="*/ 17 h 17"/>
                <a:gd name="T6" fmla="*/ 0 w 4"/>
                <a:gd name="T7" fmla="*/ 17 h 17"/>
                <a:gd name="T8" fmla="*/ 0 w 4"/>
                <a:gd name="T9" fmla="*/ 17 h 17"/>
                <a:gd name="T10" fmla="*/ 0 w 4"/>
                <a:gd name="T11" fmla="*/ 17 h 17"/>
                <a:gd name="T12" fmla="*/ 0 w 4"/>
                <a:gd name="T13" fmla="*/ 17 h 17"/>
                <a:gd name="T14" fmla="*/ 0 w 4"/>
                <a:gd name="T15" fmla="*/ 17 h 17"/>
                <a:gd name="T16" fmla="*/ 0 w 4"/>
                <a:gd name="T17" fmla="*/ 17 h 17"/>
                <a:gd name="T18" fmla="*/ 0 w 4"/>
                <a:gd name="T19" fmla="*/ 17 h 17"/>
                <a:gd name="T20" fmla="*/ 0 w 4"/>
                <a:gd name="T21" fmla="*/ 17 h 17"/>
                <a:gd name="T22" fmla="*/ 0 w 4"/>
                <a:gd name="T23" fmla="*/ 17 h 17"/>
                <a:gd name="T24" fmla="*/ 0 w 4"/>
                <a:gd name="T25" fmla="*/ 17 h 17"/>
                <a:gd name="T26" fmla="*/ 0 w 4"/>
                <a:gd name="T27" fmla="*/ 17 h 17"/>
                <a:gd name="T28" fmla="*/ 0 w 4"/>
                <a:gd name="T29" fmla="*/ 11 h 17"/>
                <a:gd name="T30" fmla="*/ 0 w 4"/>
                <a:gd name="T31" fmla="*/ 11 h 17"/>
                <a:gd name="T32" fmla="*/ 0 w 4"/>
                <a:gd name="T33" fmla="*/ 11 h 17"/>
                <a:gd name="T34" fmla="*/ 0 w 4"/>
                <a:gd name="T35" fmla="*/ 11 h 17"/>
                <a:gd name="T36" fmla="*/ 0 w 4"/>
                <a:gd name="T37" fmla="*/ 11 h 17"/>
                <a:gd name="T38" fmla="*/ 0 w 4"/>
                <a:gd name="T39" fmla="*/ 11 h 17"/>
                <a:gd name="T40" fmla="*/ 4 w 4"/>
                <a:gd name="T41" fmla="*/ 11 h 17"/>
                <a:gd name="T42" fmla="*/ 4 w 4"/>
                <a:gd name="T43" fmla="*/ 11 h 17"/>
                <a:gd name="T44" fmla="*/ 4 w 4"/>
                <a:gd name="T45" fmla="*/ 11 h 17"/>
                <a:gd name="T46" fmla="*/ 4 w 4"/>
                <a:gd name="T47" fmla="*/ 11 h 17"/>
                <a:gd name="T48" fmla="*/ 4 w 4"/>
                <a:gd name="T49" fmla="*/ 11 h 17"/>
                <a:gd name="T50" fmla="*/ 4 w 4"/>
                <a:gd name="T51" fmla="*/ 11 h 17"/>
                <a:gd name="T52" fmla="*/ 4 w 4"/>
                <a:gd name="T53" fmla="*/ 11 h 17"/>
                <a:gd name="T54" fmla="*/ 4 w 4"/>
                <a:gd name="T55" fmla="*/ 6 h 17"/>
                <a:gd name="T56" fmla="*/ 4 w 4"/>
                <a:gd name="T57" fmla="*/ 6 h 17"/>
                <a:gd name="T58" fmla="*/ 4 w 4"/>
                <a:gd name="T59" fmla="*/ 6 h 17"/>
                <a:gd name="T60" fmla="*/ 4 w 4"/>
                <a:gd name="T61" fmla="*/ 6 h 17"/>
                <a:gd name="T62" fmla="*/ 4 w 4"/>
                <a:gd name="T63" fmla="*/ 6 h 17"/>
                <a:gd name="T64" fmla="*/ 4 w 4"/>
                <a:gd name="T65" fmla="*/ 6 h 17"/>
                <a:gd name="T66" fmla="*/ 4 w 4"/>
                <a:gd name="T67" fmla="*/ 6 h 17"/>
                <a:gd name="T68" fmla="*/ 4 w 4"/>
                <a:gd name="T69" fmla="*/ 6 h 17"/>
                <a:gd name="T70" fmla="*/ 4 w 4"/>
                <a:gd name="T71" fmla="*/ 6 h 17"/>
                <a:gd name="T72" fmla="*/ 4 w 4"/>
                <a:gd name="T73" fmla="*/ 6 h 17"/>
                <a:gd name="T74" fmla="*/ 4 w 4"/>
                <a:gd name="T75" fmla="*/ 6 h 17"/>
                <a:gd name="T76" fmla="*/ 4 w 4"/>
                <a:gd name="T77" fmla="*/ 6 h 17"/>
                <a:gd name="T78" fmla="*/ 4 w 4"/>
                <a:gd name="T79" fmla="*/ 6 h 17"/>
                <a:gd name="T80" fmla="*/ 4 w 4"/>
                <a:gd name="T81" fmla="*/ 6 h 17"/>
                <a:gd name="T82" fmla="*/ 4 w 4"/>
                <a:gd name="T83" fmla="*/ 0 h 17"/>
                <a:gd name="T84" fmla="*/ 4 w 4"/>
                <a:gd name="T85" fmla="*/ 0 h 17"/>
                <a:gd name="T86" fmla="*/ 4 w 4"/>
                <a:gd name="T87" fmla="*/ 0 h 17"/>
                <a:gd name="T88" fmla="*/ 4 w 4"/>
                <a:gd name="T89" fmla="*/ 0 h 17"/>
                <a:gd name="T90" fmla="*/ 4 w 4"/>
                <a:gd name="T91" fmla="*/ 0 h 17"/>
                <a:gd name="T92" fmla="*/ 4 w 4"/>
                <a:gd name="T93" fmla="*/ 0 h 17"/>
                <a:gd name="T94" fmla="*/ 4 w 4"/>
                <a:gd name="T95" fmla="*/ 0 h 17"/>
                <a:gd name="T96" fmla="*/ 4 w 4"/>
                <a:gd name="T97" fmla="*/ 0 h 17"/>
                <a:gd name="T98" fmla="*/ 4 w 4"/>
                <a:gd name="T99" fmla="*/ 0 h 17"/>
                <a:gd name="T100" fmla="*/ 4 w 4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17"/>
                <a:gd name="T155" fmla="*/ 4 w 4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6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4" name="Freeform 191"/>
            <p:cNvSpPr>
              <a:spLocks/>
            </p:cNvSpPr>
            <p:nvPr/>
          </p:nvSpPr>
          <p:spPr bwMode="auto">
            <a:xfrm>
              <a:off x="5325" y="3193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17 h 23"/>
                <a:gd name="T10" fmla="*/ 0 w 5"/>
                <a:gd name="T11" fmla="*/ 17 h 23"/>
                <a:gd name="T12" fmla="*/ 0 w 5"/>
                <a:gd name="T13" fmla="*/ 17 h 23"/>
                <a:gd name="T14" fmla="*/ 0 w 5"/>
                <a:gd name="T15" fmla="*/ 17 h 23"/>
                <a:gd name="T16" fmla="*/ 0 w 5"/>
                <a:gd name="T17" fmla="*/ 17 h 23"/>
                <a:gd name="T18" fmla="*/ 0 w 5"/>
                <a:gd name="T19" fmla="*/ 17 h 23"/>
                <a:gd name="T20" fmla="*/ 0 w 5"/>
                <a:gd name="T21" fmla="*/ 17 h 23"/>
                <a:gd name="T22" fmla="*/ 5 w 5"/>
                <a:gd name="T23" fmla="*/ 17 h 23"/>
                <a:gd name="T24" fmla="*/ 5 w 5"/>
                <a:gd name="T25" fmla="*/ 17 h 23"/>
                <a:gd name="T26" fmla="*/ 5 w 5"/>
                <a:gd name="T27" fmla="*/ 17 h 23"/>
                <a:gd name="T28" fmla="*/ 5 w 5"/>
                <a:gd name="T29" fmla="*/ 17 h 23"/>
                <a:gd name="T30" fmla="*/ 5 w 5"/>
                <a:gd name="T31" fmla="*/ 17 h 23"/>
                <a:gd name="T32" fmla="*/ 5 w 5"/>
                <a:gd name="T33" fmla="*/ 17 h 23"/>
                <a:gd name="T34" fmla="*/ 5 w 5"/>
                <a:gd name="T35" fmla="*/ 11 h 23"/>
                <a:gd name="T36" fmla="*/ 5 w 5"/>
                <a:gd name="T37" fmla="*/ 11 h 23"/>
                <a:gd name="T38" fmla="*/ 5 w 5"/>
                <a:gd name="T39" fmla="*/ 11 h 23"/>
                <a:gd name="T40" fmla="*/ 5 w 5"/>
                <a:gd name="T41" fmla="*/ 11 h 23"/>
                <a:gd name="T42" fmla="*/ 5 w 5"/>
                <a:gd name="T43" fmla="*/ 11 h 23"/>
                <a:gd name="T44" fmla="*/ 5 w 5"/>
                <a:gd name="T45" fmla="*/ 11 h 23"/>
                <a:gd name="T46" fmla="*/ 5 w 5"/>
                <a:gd name="T47" fmla="*/ 11 h 23"/>
                <a:gd name="T48" fmla="*/ 5 w 5"/>
                <a:gd name="T49" fmla="*/ 11 h 23"/>
                <a:gd name="T50" fmla="*/ 5 w 5"/>
                <a:gd name="T51" fmla="*/ 11 h 23"/>
                <a:gd name="T52" fmla="*/ 5 w 5"/>
                <a:gd name="T53" fmla="*/ 11 h 23"/>
                <a:gd name="T54" fmla="*/ 5 w 5"/>
                <a:gd name="T55" fmla="*/ 11 h 23"/>
                <a:gd name="T56" fmla="*/ 5 w 5"/>
                <a:gd name="T57" fmla="*/ 11 h 23"/>
                <a:gd name="T58" fmla="*/ 5 w 5"/>
                <a:gd name="T59" fmla="*/ 11 h 23"/>
                <a:gd name="T60" fmla="*/ 5 w 5"/>
                <a:gd name="T61" fmla="*/ 6 h 23"/>
                <a:gd name="T62" fmla="*/ 5 w 5"/>
                <a:gd name="T63" fmla="*/ 6 h 23"/>
                <a:gd name="T64" fmla="*/ 5 w 5"/>
                <a:gd name="T65" fmla="*/ 6 h 23"/>
                <a:gd name="T66" fmla="*/ 5 w 5"/>
                <a:gd name="T67" fmla="*/ 6 h 23"/>
                <a:gd name="T68" fmla="*/ 5 w 5"/>
                <a:gd name="T69" fmla="*/ 6 h 23"/>
                <a:gd name="T70" fmla="*/ 5 w 5"/>
                <a:gd name="T71" fmla="*/ 6 h 23"/>
                <a:gd name="T72" fmla="*/ 5 w 5"/>
                <a:gd name="T73" fmla="*/ 6 h 23"/>
                <a:gd name="T74" fmla="*/ 5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0 h 23"/>
                <a:gd name="T86" fmla="*/ 5 w 5"/>
                <a:gd name="T87" fmla="*/ 0 h 23"/>
                <a:gd name="T88" fmla="*/ 5 w 5"/>
                <a:gd name="T89" fmla="*/ 0 h 23"/>
                <a:gd name="T90" fmla="*/ 5 w 5"/>
                <a:gd name="T91" fmla="*/ 0 h 23"/>
                <a:gd name="T92" fmla="*/ 5 w 5"/>
                <a:gd name="T93" fmla="*/ 0 h 23"/>
                <a:gd name="T94" fmla="*/ 5 w 5"/>
                <a:gd name="T95" fmla="*/ 0 h 23"/>
                <a:gd name="T96" fmla="*/ 5 w 5"/>
                <a:gd name="T97" fmla="*/ 0 h 23"/>
                <a:gd name="T98" fmla="*/ 5 w 5"/>
                <a:gd name="T99" fmla="*/ 0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5" name="Freeform 192"/>
            <p:cNvSpPr>
              <a:spLocks/>
            </p:cNvSpPr>
            <p:nvPr/>
          </p:nvSpPr>
          <p:spPr bwMode="auto">
            <a:xfrm>
              <a:off x="5330" y="3170"/>
              <a:ext cx="10" cy="23"/>
            </a:xfrm>
            <a:custGeom>
              <a:avLst/>
              <a:gdLst>
                <a:gd name="T0" fmla="*/ 0 w 10"/>
                <a:gd name="T1" fmla="*/ 23 h 23"/>
                <a:gd name="T2" fmla="*/ 5 w 10"/>
                <a:gd name="T3" fmla="*/ 23 h 23"/>
                <a:gd name="T4" fmla="*/ 5 w 10"/>
                <a:gd name="T5" fmla="*/ 23 h 23"/>
                <a:gd name="T6" fmla="*/ 5 w 10"/>
                <a:gd name="T7" fmla="*/ 23 h 23"/>
                <a:gd name="T8" fmla="*/ 5 w 10"/>
                <a:gd name="T9" fmla="*/ 23 h 23"/>
                <a:gd name="T10" fmla="*/ 5 w 10"/>
                <a:gd name="T11" fmla="*/ 17 h 23"/>
                <a:gd name="T12" fmla="*/ 5 w 10"/>
                <a:gd name="T13" fmla="*/ 17 h 23"/>
                <a:gd name="T14" fmla="*/ 5 w 10"/>
                <a:gd name="T15" fmla="*/ 17 h 23"/>
                <a:gd name="T16" fmla="*/ 5 w 10"/>
                <a:gd name="T17" fmla="*/ 17 h 23"/>
                <a:gd name="T18" fmla="*/ 5 w 10"/>
                <a:gd name="T19" fmla="*/ 17 h 23"/>
                <a:gd name="T20" fmla="*/ 5 w 10"/>
                <a:gd name="T21" fmla="*/ 17 h 23"/>
                <a:gd name="T22" fmla="*/ 5 w 10"/>
                <a:gd name="T23" fmla="*/ 17 h 23"/>
                <a:gd name="T24" fmla="*/ 5 w 10"/>
                <a:gd name="T25" fmla="*/ 17 h 23"/>
                <a:gd name="T26" fmla="*/ 5 w 10"/>
                <a:gd name="T27" fmla="*/ 17 h 23"/>
                <a:gd name="T28" fmla="*/ 5 w 10"/>
                <a:gd name="T29" fmla="*/ 17 h 23"/>
                <a:gd name="T30" fmla="*/ 5 w 10"/>
                <a:gd name="T31" fmla="*/ 17 h 23"/>
                <a:gd name="T32" fmla="*/ 5 w 10"/>
                <a:gd name="T33" fmla="*/ 17 h 23"/>
                <a:gd name="T34" fmla="*/ 5 w 10"/>
                <a:gd name="T35" fmla="*/ 12 h 23"/>
                <a:gd name="T36" fmla="*/ 5 w 10"/>
                <a:gd name="T37" fmla="*/ 12 h 23"/>
                <a:gd name="T38" fmla="*/ 5 w 10"/>
                <a:gd name="T39" fmla="*/ 12 h 23"/>
                <a:gd name="T40" fmla="*/ 5 w 10"/>
                <a:gd name="T41" fmla="*/ 12 h 23"/>
                <a:gd name="T42" fmla="*/ 5 w 10"/>
                <a:gd name="T43" fmla="*/ 12 h 23"/>
                <a:gd name="T44" fmla="*/ 5 w 10"/>
                <a:gd name="T45" fmla="*/ 12 h 23"/>
                <a:gd name="T46" fmla="*/ 5 w 10"/>
                <a:gd name="T47" fmla="*/ 12 h 23"/>
                <a:gd name="T48" fmla="*/ 5 w 10"/>
                <a:gd name="T49" fmla="*/ 12 h 23"/>
                <a:gd name="T50" fmla="*/ 5 w 10"/>
                <a:gd name="T51" fmla="*/ 12 h 23"/>
                <a:gd name="T52" fmla="*/ 5 w 10"/>
                <a:gd name="T53" fmla="*/ 12 h 23"/>
                <a:gd name="T54" fmla="*/ 5 w 10"/>
                <a:gd name="T55" fmla="*/ 12 h 23"/>
                <a:gd name="T56" fmla="*/ 5 w 10"/>
                <a:gd name="T57" fmla="*/ 12 h 23"/>
                <a:gd name="T58" fmla="*/ 5 w 10"/>
                <a:gd name="T59" fmla="*/ 6 h 23"/>
                <a:gd name="T60" fmla="*/ 5 w 10"/>
                <a:gd name="T61" fmla="*/ 6 h 23"/>
                <a:gd name="T62" fmla="*/ 5 w 10"/>
                <a:gd name="T63" fmla="*/ 6 h 23"/>
                <a:gd name="T64" fmla="*/ 5 w 10"/>
                <a:gd name="T65" fmla="*/ 6 h 23"/>
                <a:gd name="T66" fmla="*/ 5 w 10"/>
                <a:gd name="T67" fmla="*/ 6 h 23"/>
                <a:gd name="T68" fmla="*/ 5 w 10"/>
                <a:gd name="T69" fmla="*/ 6 h 23"/>
                <a:gd name="T70" fmla="*/ 5 w 10"/>
                <a:gd name="T71" fmla="*/ 6 h 23"/>
                <a:gd name="T72" fmla="*/ 5 w 10"/>
                <a:gd name="T73" fmla="*/ 6 h 23"/>
                <a:gd name="T74" fmla="*/ 5 w 10"/>
                <a:gd name="T75" fmla="*/ 6 h 23"/>
                <a:gd name="T76" fmla="*/ 5 w 10"/>
                <a:gd name="T77" fmla="*/ 6 h 23"/>
                <a:gd name="T78" fmla="*/ 5 w 10"/>
                <a:gd name="T79" fmla="*/ 6 h 23"/>
                <a:gd name="T80" fmla="*/ 5 w 10"/>
                <a:gd name="T81" fmla="*/ 6 h 23"/>
                <a:gd name="T82" fmla="*/ 5 w 10"/>
                <a:gd name="T83" fmla="*/ 0 h 23"/>
                <a:gd name="T84" fmla="*/ 10 w 10"/>
                <a:gd name="T85" fmla="*/ 0 h 23"/>
                <a:gd name="T86" fmla="*/ 10 w 10"/>
                <a:gd name="T87" fmla="*/ 0 h 23"/>
                <a:gd name="T88" fmla="*/ 10 w 10"/>
                <a:gd name="T89" fmla="*/ 0 h 23"/>
                <a:gd name="T90" fmla="*/ 10 w 10"/>
                <a:gd name="T91" fmla="*/ 0 h 23"/>
                <a:gd name="T92" fmla="*/ 10 w 10"/>
                <a:gd name="T93" fmla="*/ 0 h 23"/>
                <a:gd name="T94" fmla="*/ 10 w 10"/>
                <a:gd name="T95" fmla="*/ 0 h 23"/>
                <a:gd name="T96" fmla="*/ 10 w 10"/>
                <a:gd name="T97" fmla="*/ 0 h 23"/>
                <a:gd name="T98" fmla="*/ 10 w 10"/>
                <a:gd name="T99" fmla="*/ 0 h 23"/>
                <a:gd name="T100" fmla="*/ 10 w 10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3"/>
                <a:gd name="T155" fmla="*/ 10 w 10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3">
                  <a:moveTo>
                    <a:pt x="0" y="23"/>
                  </a:moveTo>
                  <a:lnTo>
                    <a:pt x="5" y="23"/>
                  </a:lnTo>
                  <a:lnTo>
                    <a:pt x="5" y="17"/>
                  </a:lnTo>
                  <a:lnTo>
                    <a:pt x="5" y="12"/>
                  </a:lnTo>
                  <a:lnTo>
                    <a:pt x="5" y="6"/>
                  </a:lnTo>
                  <a:lnTo>
                    <a:pt x="5" y="0"/>
                  </a:lnTo>
                  <a:lnTo>
                    <a:pt x="1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6" name="Freeform 193"/>
            <p:cNvSpPr>
              <a:spLocks/>
            </p:cNvSpPr>
            <p:nvPr/>
          </p:nvSpPr>
          <p:spPr bwMode="auto">
            <a:xfrm>
              <a:off x="5340" y="3142"/>
              <a:ext cx="4" cy="28"/>
            </a:xfrm>
            <a:custGeom>
              <a:avLst/>
              <a:gdLst>
                <a:gd name="T0" fmla="*/ 0 w 4"/>
                <a:gd name="T1" fmla="*/ 28 h 28"/>
                <a:gd name="T2" fmla="*/ 0 w 4"/>
                <a:gd name="T3" fmla="*/ 28 h 28"/>
                <a:gd name="T4" fmla="*/ 0 w 4"/>
                <a:gd name="T5" fmla="*/ 28 h 28"/>
                <a:gd name="T6" fmla="*/ 0 w 4"/>
                <a:gd name="T7" fmla="*/ 23 h 28"/>
                <a:gd name="T8" fmla="*/ 0 w 4"/>
                <a:gd name="T9" fmla="*/ 23 h 28"/>
                <a:gd name="T10" fmla="*/ 0 w 4"/>
                <a:gd name="T11" fmla="*/ 23 h 28"/>
                <a:gd name="T12" fmla="*/ 0 w 4"/>
                <a:gd name="T13" fmla="*/ 23 h 28"/>
                <a:gd name="T14" fmla="*/ 0 w 4"/>
                <a:gd name="T15" fmla="*/ 23 h 28"/>
                <a:gd name="T16" fmla="*/ 0 w 4"/>
                <a:gd name="T17" fmla="*/ 23 h 28"/>
                <a:gd name="T18" fmla="*/ 0 w 4"/>
                <a:gd name="T19" fmla="*/ 23 h 28"/>
                <a:gd name="T20" fmla="*/ 0 w 4"/>
                <a:gd name="T21" fmla="*/ 23 h 28"/>
                <a:gd name="T22" fmla="*/ 0 w 4"/>
                <a:gd name="T23" fmla="*/ 23 h 28"/>
                <a:gd name="T24" fmla="*/ 0 w 4"/>
                <a:gd name="T25" fmla="*/ 23 h 28"/>
                <a:gd name="T26" fmla="*/ 0 w 4"/>
                <a:gd name="T27" fmla="*/ 23 h 28"/>
                <a:gd name="T28" fmla="*/ 0 w 4"/>
                <a:gd name="T29" fmla="*/ 23 h 28"/>
                <a:gd name="T30" fmla="*/ 0 w 4"/>
                <a:gd name="T31" fmla="*/ 17 h 28"/>
                <a:gd name="T32" fmla="*/ 0 w 4"/>
                <a:gd name="T33" fmla="*/ 17 h 28"/>
                <a:gd name="T34" fmla="*/ 0 w 4"/>
                <a:gd name="T35" fmla="*/ 17 h 28"/>
                <a:gd name="T36" fmla="*/ 0 w 4"/>
                <a:gd name="T37" fmla="*/ 17 h 28"/>
                <a:gd name="T38" fmla="*/ 0 w 4"/>
                <a:gd name="T39" fmla="*/ 17 h 28"/>
                <a:gd name="T40" fmla="*/ 0 w 4"/>
                <a:gd name="T41" fmla="*/ 17 h 28"/>
                <a:gd name="T42" fmla="*/ 0 w 4"/>
                <a:gd name="T43" fmla="*/ 17 h 28"/>
                <a:gd name="T44" fmla="*/ 0 w 4"/>
                <a:gd name="T45" fmla="*/ 17 h 28"/>
                <a:gd name="T46" fmla="*/ 0 w 4"/>
                <a:gd name="T47" fmla="*/ 17 h 28"/>
                <a:gd name="T48" fmla="*/ 0 w 4"/>
                <a:gd name="T49" fmla="*/ 17 h 28"/>
                <a:gd name="T50" fmla="*/ 0 w 4"/>
                <a:gd name="T51" fmla="*/ 17 h 28"/>
                <a:gd name="T52" fmla="*/ 0 w 4"/>
                <a:gd name="T53" fmla="*/ 17 h 28"/>
                <a:gd name="T54" fmla="*/ 0 w 4"/>
                <a:gd name="T55" fmla="*/ 11 h 28"/>
                <a:gd name="T56" fmla="*/ 0 w 4"/>
                <a:gd name="T57" fmla="*/ 11 h 28"/>
                <a:gd name="T58" fmla="*/ 0 w 4"/>
                <a:gd name="T59" fmla="*/ 11 h 28"/>
                <a:gd name="T60" fmla="*/ 0 w 4"/>
                <a:gd name="T61" fmla="*/ 11 h 28"/>
                <a:gd name="T62" fmla="*/ 0 w 4"/>
                <a:gd name="T63" fmla="*/ 11 h 28"/>
                <a:gd name="T64" fmla="*/ 4 w 4"/>
                <a:gd name="T65" fmla="*/ 11 h 28"/>
                <a:gd name="T66" fmla="*/ 4 w 4"/>
                <a:gd name="T67" fmla="*/ 11 h 28"/>
                <a:gd name="T68" fmla="*/ 4 w 4"/>
                <a:gd name="T69" fmla="*/ 11 h 28"/>
                <a:gd name="T70" fmla="*/ 4 w 4"/>
                <a:gd name="T71" fmla="*/ 11 h 28"/>
                <a:gd name="T72" fmla="*/ 4 w 4"/>
                <a:gd name="T73" fmla="*/ 11 h 28"/>
                <a:gd name="T74" fmla="*/ 4 w 4"/>
                <a:gd name="T75" fmla="*/ 11 h 28"/>
                <a:gd name="T76" fmla="*/ 4 w 4"/>
                <a:gd name="T77" fmla="*/ 11 h 28"/>
                <a:gd name="T78" fmla="*/ 4 w 4"/>
                <a:gd name="T79" fmla="*/ 6 h 28"/>
                <a:gd name="T80" fmla="*/ 4 w 4"/>
                <a:gd name="T81" fmla="*/ 6 h 28"/>
                <a:gd name="T82" fmla="*/ 4 w 4"/>
                <a:gd name="T83" fmla="*/ 6 h 28"/>
                <a:gd name="T84" fmla="*/ 4 w 4"/>
                <a:gd name="T85" fmla="*/ 6 h 28"/>
                <a:gd name="T86" fmla="*/ 4 w 4"/>
                <a:gd name="T87" fmla="*/ 6 h 28"/>
                <a:gd name="T88" fmla="*/ 4 w 4"/>
                <a:gd name="T89" fmla="*/ 6 h 28"/>
                <a:gd name="T90" fmla="*/ 4 w 4"/>
                <a:gd name="T91" fmla="*/ 6 h 28"/>
                <a:gd name="T92" fmla="*/ 4 w 4"/>
                <a:gd name="T93" fmla="*/ 6 h 28"/>
                <a:gd name="T94" fmla="*/ 4 w 4"/>
                <a:gd name="T95" fmla="*/ 6 h 28"/>
                <a:gd name="T96" fmla="*/ 4 w 4"/>
                <a:gd name="T97" fmla="*/ 6 h 28"/>
                <a:gd name="T98" fmla="*/ 4 w 4"/>
                <a:gd name="T99" fmla="*/ 6 h 28"/>
                <a:gd name="T100" fmla="*/ 4 w 4"/>
                <a:gd name="T101" fmla="*/ 0 h 2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8"/>
                <a:gd name="T155" fmla="*/ 4 w 4"/>
                <a:gd name="T156" fmla="*/ 28 h 2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8">
                  <a:moveTo>
                    <a:pt x="0" y="28"/>
                  </a:moveTo>
                  <a:lnTo>
                    <a:pt x="0" y="28"/>
                  </a:lnTo>
                  <a:lnTo>
                    <a:pt x="0" y="23"/>
                  </a:lnTo>
                  <a:lnTo>
                    <a:pt x="0" y="17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6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7" name="Freeform 194"/>
            <p:cNvSpPr>
              <a:spLocks/>
            </p:cNvSpPr>
            <p:nvPr/>
          </p:nvSpPr>
          <p:spPr bwMode="auto">
            <a:xfrm>
              <a:off x="5344" y="3119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23 h 23"/>
                <a:gd name="T10" fmla="*/ 0 w 5"/>
                <a:gd name="T11" fmla="*/ 23 h 23"/>
                <a:gd name="T12" fmla="*/ 0 w 5"/>
                <a:gd name="T13" fmla="*/ 23 h 23"/>
                <a:gd name="T14" fmla="*/ 0 w 5"/>
                <a:gd name="T15" fmla="*/ 23 h 23"/>
                <a:gd name="T16" fmla="*/ 0 w 5"/>
                <a:gd name="T17" fmla="*/ 23 h 23"/>
                <a:gd name="T18" fmla="*/ 0 w 5"/>
                <a:gd name="T19" fmla="*/ 23 h 23"/>
                <a:gd name="T20" fmla="*/ 0 w 5"/>
                <a:gd name="T21" fmla="*/ 23 h 23"/>
                <a:gd name="T22" fmla="*/ 0 w 5"/>
                <a:gd name="T23" fmla="*/ 23 h 23"/>
                <a:gd name="T24" fmla="*/ 0 w 5"/>
                <a:gd name="T25" fmla="*/ 17 h 23"/>
                <a:gd name="T26" fmla="*/ 0 w 5"/>
                <a:gd name="T27" fmla="*/ 17 h 23"/>
                <a:gd name="T28" fmla="*/ 0 w 5"/>
                <a:gd name="T29" fmla="*/ 17 h 23"/>
                <a:gd name="T30" fmla="*/ 0 w 5"/>
                <a:gd name="T31" fmla="*/ 17 h 23"/>
                <a:gd name="T32" fmla="*/ 0 w 5"/>
                <a:gd name="T33" fmla="*/ 17 h 23"/>
                <a:gd name="T34" fmla="*/ 0 w 5"/>
                <a:gd name="T35" fmla="*/ 17 h 23"/>
                <a:gd name="T36" fmla="*/ 0 w 5"/>
                <a:gd name="T37" fmla="*/ 17 h 23"/>
                <a:gd name="T38" fmla="*/ 0 w 5"/>
                <a:gd name="T39" fmla="*/ 17 h 23"/>
                <a:gd name="T40" fmla="*/ 0 w 5"/>
                <a:gd name="T41" fmla="*/ 17 h 23"/>
                <a:gd name="T42" fmla="*/ 0 w 5"/>
                <a:gd name="T43" fmla="*/ 17 h 23"/>
                <a:gd name="T44" fmla="*/ 0 w 5"/>
                <a:gd name="T45" fmla="*/ 17 h 23"/>
                <a:gd name="T46" fmla="*/ 5 w 5"/>
                <a:gd name="T47" fmla="*/ 17 h 23"/>
                <a:gd name="T48" fmla="*/ 5 w 5"/>
                <a:gd name="T49" fmla="*/ 11 h 23"/>
                <a:gd name="T50" fmla="*/ 5 w 5"/>
                <a:gd name="T51" fmla="*/ 11 h 23"/>
                <a:gd name="T52" fmla="*/ 5 w 5"/>
                <a:gd name="T53" fmla="*/ 11 h 23"/>
                <a:gd name="T54" fmla="*/ 5 w 5"/>
                <a:gd name="T55" fmla="*/ 11 h 23"/>
                <a:gd name="T56" fmla="*/ 5 w 5"/>
                <a:gd name="T57" fmla="*/ 11 h 23"/>
                <a:gd name="T58" fmla="*/ 5 w 5"/>
                <a:gd name="T59" fmla="*/ 11 h 23"/>
                <a:gd name="T60" fmla="*/ 5 w 5"/>
                <a:gd name="T61" fmla="*/ 11 h 23"/>
                <a:gd name="T62" fmla="*/ 5 w 5"/>
                <a:gd name="T63" fmla="*/ 11 h 23"/>
                <a:gd name="T64" fmla="*/ 5 w 5"/>
                <a:gd name="T65" fmla="*/ 11 h 23"/>
                <a:gd name="T66" fmla="*/ 5 w 5"/>
                <a:gd name="T67" fmla="*/ 11 h 23"/>
                <a:gd name="T68" fmla="*/ 5 w 5"/>
                <a:gd name="T69" fmla="*/ 11 h 23"/>
                <a:gd name="T70" fmla="*/ 5 w 5"/>
                <a:gd name="T71" fmla="*/ 6 h 23"/>
                <a:gd name="T72" fmla="*/ 5 w 5"/>
                <a:gd name="T73" fmla="*/ 6 h 23"/>
                <a:gd name="T74" fmla="*/ 5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6 h 23"/>
                <a:gd name="T86" fmla="*/ 5 w 5"/>
                <a:gd name="T87" fmla="*/ 6 h 23"/>
                <a:gd name="T88" fmla="*/ 5 w 5"/>
                <a:gd name="T89" fmla="*/ 6 h 23"/>
                <a:gd name="T90" fmla="*/ 5 w 5"/>
                <a:gd name="T91" fmla="*/ 6 h 23"/>
                <a:gd name="T92" fmla="*/ 5 w 5"/>
                <a:gd name="T93" fmla="*/ 6 h 23"/>
                <a:gd name="T94" fmla="*/ 5 w 5"/>
                <a:gd name="T95" fmla="*/ 0 h 23"/>
                <a:gd name="T96" fmla="*/ 5 w 5"/>
                <a:gd name="T97" fmla="*/ 0 h 23"/>
                <a:gd name="T98" fmla="*/ 5 w 5"/>
                <a:gd name="T99" fmla="*/ 0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8" name="Freeform 195"/>
            <p:cNvSpPr>
              <a:spLocks/>
            </p:cNvSpPr>
            <p:nvPr/>
          </p:nvSpPr>
          <p:spPr bwMode="auto">
            <a:xfrm>
              <a:off x="5349" y="3096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23 h 23"/>
                <a:gd name="T10" fmla="*/ 0 w 5"/>
                <a:gd name="T11" fmla="*/ 23 h 23"/>
                <a:gd name="T12" fmla="*/ 0 w 5"/>
                <a:gd name="T13" fmla="*/ 23 h 23"/>
                <a:gd name="T14" fmla="*/ 0 w 5"/>
                <a:gd name="T15" fmla="*/ 23 h 23"/>
                <a:gd name="T16" fmla="*/ 0 w 5"/>
                <a:gd name="T17" fmla="*/ 17 h 23"/>
                <a:gd name="T18" fmla="*/ 0 w 5"/>
                <a:gd name="T19" fmla="*/ 17 h 23"/>
                <a:gd name="T20" fmla="*/ 0 w 5"/>
                <a:gd name="T21" fmla="*/ 17 h 23"/>
                <a:gd name="T22" fmla="*/ 0 w 5"/>
                <a:gd name="T23" fmla="*/ 17 h 23"/>
                <a:gd name="T24" fmla="*/ 0 w 5"/>
                <a:gd name="T25" fmla="*/ 17 h 23"/>
                <a:gd name="T26" fmla="*/ 5 w 5"/>
                <a:gd name="T27" fmla="*/ 17 h 23"/>
                <a:gd name="T28" fmla="*/ 5 w 5"/>
                <a:gd name="T29" fmla="*/ 17 h 23"/>
                <a:gd name="T30" fmla="*/ 5 w 5"/>
                <a:gd name="T31" fmla="*/ 17 h 23"/>
                <a:gd name="T32" fmla="*/ 5 w 5"/>
                <a:gd name="T33" fmla="*/ 17 h 23"/>
                <a:gd name="T34" fmla="*/ 5 w 5"/>
                <a:gd name="T35" fmla="*/ 17 h 23"/>
                <a:gd name="T36" fmla="*/ 5 w 5"/>
                <a:gd name="T37" fmla="*/ 17 h 23"/>
                <a:gd name="T38" fmla="*/ 5 w 5"/>
                <a:gd name="T39" fmla="*/ 17 h 23"/>
                <a:gd name="T40" fmla="*/ 5 w 5"/>
                <a:gd name="T41" fmla="*/ 12 h 23"/>
                <a:gd name="T42" fmla="*/ 5 w 5"/>
                <a:gd name="T43" fmla="*/ 12 h 23"/>
                <a:gd name="T44" fmla="*/ 5 w 5"/>
                <a:gd name="T45" fmla="*/ 12 h 23"/>
                <a:gd name="T46" fmla="*/ 5 w 5"/>
                <a:gd name="T47" fmla="*/ 12 h 23"/>
                <a:gd name="T48" fmla="*/ 5 w 5"/>
                <a:gd name="T49" fmla="*/ 12 h 23"/>
                <a:gd name="T50" fmla="*/ 5 w 5"/>
                <a:gd name="T51" fmla="*/ 12 h 23"/>
                <a:gd name="T52" fmla="*/ 5 w 5"/>
                <a:gd name="T53" fmla="*/ 12 h 23"/>
                <a:gd name="T54" fmla="*/ 5 w 5"/>
                <a:gd name="T55" fmla="*/ 12 h 23"/>
                <a:gd name="T56" fmla="*/ 5 w 5"/>
                <a:gd name="T57" fmla="*/ 12 h 23"/>
                <a:gd name="T58" fmla="*/ 5 w 5"/>
                <a:gd name="T59" fmla="*/ 12 h 23"/>
                <a:gd name="T60" fmla="*/ 5 w 5"/>
                <a:gd name="T61" fmla="*/ 12 h 23"/>
                <a:gd name="T62" fmla="*/ 5 w 5"/>
                <a:gd name="T63" fmla="*/ 6 h 23"/>
                <a:gd name="T64" fmla="*/ 5 w 5"/>
                <a:gd name="T65" fmla="*/ 6 h 23"/>
                <a:gd name="T66" fmla="*/ 5 w 5"/>
                <a:gd name="T67" fmla="*/ 6 h 23"/>
                <a:gd name="T68" fmla="*/ 5 w 5"/>
                <a:gd name="T69" fmla="*/ 6 h 23"/>
                <a:gd name="T70" fmla="*/ 5 w 5"/>
                <a:gd name="T71" fmla="*/ 6 h 23"/>
                <a:gd name="T72" fmla="*/ 5 w 5"/>
                <a:gd name="T73" fmla="*/ 6 h 23"/>
                <a:gd name="T74" fmla="*/ 5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6 h 23"/>
                <a:gd name="T86" fmla="*/ 5 w 5"/>
                <a:gd name="T87" fmla="*/ 0 h 23"/>
                <a:gd name="T88" fmla="*/ 5 w 5"/>
                <a:gd name="T89" fmla="*/ 0 h 23"/>
                <a:gd name="T90" fmla="*/ 5 w 5"/>
                <a:gd name="T91" fmla="*/ 0 h 23"/>
                <a:gd name="T92" fmla="*/ 5 w 5"/>
                <a:gd name="T93" fmla="*/ 0 h 23"/>
                <a:gd name="T94" fmla="*/ 5 w 5"/>
                <a:gd name="T95" fmla="*/ 0 h 23"/>
                <a:gd name="T96" fmla="*/ 5 w 5"/>
                <a:gd name="T97" fmla="*/ 0 h 23"/>
                <a:gd name="T98" fmla="*/ 5 w 5"/>
                <a:gd name="T99" fmla="*/ 0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12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9" name="Freeform 196"/>
            <p:cNvSpPr>
              <a:spLocks/>
            </p:cNvSpPr>
            <p:nvPr/>
          </p:nvSpPr>
          <p:spPr bwMode="auto">
            <a:xfrm>
              <a:off x="5354" y="3074"/>
              <a:ext cx="10" cy="22"/>
            </a:xfrm>
            <a:custGeom>
              <a:avLst/>
              <a:gdLst>
                <a:gd name="T0" fmla="*/ 0 w 10"/>
                <a:gd name="T1" fmla="*/ 22 h 22"/>
                <a:gd name="T2" fmla="*/ 0 w 10"/>
                <a:gd name="T3" fmla="*/ 22 h 22"/>
                <a:gd name="T4" fmla="*/ 0 w 10"/>
                <a:gd name="T5" fmla="*/ 22 h 22"/>
                <a:gd name="T6" fmla="*/ 0 w 10"/>
                <a:gd name="T7" fmla="*/ 22 h 22"/>
                <a:gd name="T8" fmla="*/ 5 w 10"/>
                <a:gd name="T9" fmla="*/ 22 h 22"/>
                <a:gd name="T10" fmla="*/ 5 w 10"/>
                <a:gd name="T11" fmla="*/ 17 h 22"/>
                <a:gd name="T12" fmla="*/ 5 w 10"/>
                <a:gd name="T13" fmla="*/ 17 h 22"/>
                <a:gd name="T14" fmla="*/ 5 w 10"/>
                <a:gd name="T15" fmla="*/ 17 h 22"/>
                <a:gd name="T16" fmla="*/ 5 w 10"/>
                <a:gd name="T17" fmla="*/ 17 h 22"/>
                <a:gd name="T18" fmla="*/ 5 w 10"/>
                <a:gd name="T19" fmla="*/ 17 h 22"/>
                <a:gd name="T20" fmla="*/ 5 w 10"/>
                <a:gd name="T21" fmla="*/ 17 h 22"/>
                <a:gd name="T22" fmla="*/ 5 w 10"/>
                <a:gd name="T23" fmla="*/ 17 h 22"/>
                <a:gd name="T24" fmla="*/ 5 w 10"/>
                <a:gd name="T25" fmla="*/ 17 h 22"/>
                <a:gd name="T26" fmla="*/ 5 w 10"/>
                <a:gd name="T27" fmla="*/ 17 h 22"/>
                <a:gd name="T28" fmla="*/ 5 w 10"/>
                <a:gd name="T29" fmla="*/ 17 h 22"/>
                <a:gd name="T30" fmla="*/ 5 w 10"/>
                <a:gd name="T31" fmla="*/ 17 h 22"/>
                <a:gd name="T32" fmla="*/ 5 w 10"/>
                <a:gd name="T33" fmla="*/ 11 h 22"/>
                <a:gd name="T34" fmla="*/ 5 w 10"/>
                <a:gd name="T35" fmla="*/ 11 h 22"/>
                <a:gd name="T36" fmla="*/ 5 w 10"/>
                <a:gd name="T37" fmla="*/ 11 h 22"/>
                <a:gd name="T38" fmla="*/ 5 w 10"/>
                <a:gd name="T39" fmla="*/ 11 h 22"/>
                <a:gd name="T40" fmla="*/ 5 w 10"/>
                <a:gd name="T41" fmla="*/ 11 h 22"/>
                <a:gd name="T42" fmla="*/ 5 w 10"/>
                <a:gd name="T43" fmla="*/ 11 h 22"/>
                <a:gd name="T44" fmla="*/ 5 w 10"/>
                <a:gd name="T45" fmla="*/ 11 h 22"/>
                <a:gd name="T46" fmla="*/ 5 w 10"/>
                <a:gd name="T47" fmla="*/ 11 h 22"/>
                <a:gd name="T48" fmla="*/ 5 w 10"/>
                <a:gd name="T49" fmla="*/ 11 h 22"/>
                <a:gd name="T50" fmla="*/ 5 w 10"/>
                <a:gd name="T51" fmla="*/ 11 h 22"/>
                <a:gd name="T52" fmla="*/ 5 w 10"/>
                <a:gd name="T53" fmla="*/ 11 h 22"/>
                <a:gd name="T54" fmla="*/ 5 w 10"/>
                <a:gd name="T55" fmla="*/ 11 h 22"/>
                <a:gd name="T56" fmla="*/ 5 w 10"/>
                <a:gd name="T57" fmla="*/ 5 h 22"/>
                <a:gd name="T58" fmla="*/ 5 w 10"/>
                <a:gd name="T59" fmla="*/ 5 h 22"/>
                <a:gd name="T60" fmla="*/ 5 w 10"/>
                <a:gd name="T61" fmla="*/ 5 h 22"/>
                <a:gd name="T62" fmla="*/ 5 w 10"/>
                <a:gd name="T63" fmla="*/ 5 h 22"/>
                <a:gd name="T64" fmla="*/ 5 w 10"/>
                <a:gd name="T65" fmla="*/ 5 h 22"/>
                <a:gd name="T66" fmla="*/ 5 w 10"/>
                <a:gd name="T67" fmla="*/ 5 h 22"/>
                <a:gd name="T68" fmla="*/ 5 w 10"/>
                <a:gd name="T69" fmla="*/ 5 h 22"/>
                <a:gd name="T70" fmla="*/ 5 w 10"/>
                <a:gd name="T71" fmla="*/ 5 h 22"/>
                <a:gd name="T72" fmla="*/ 5 w 10"/>
                <a:gd name="T73" fmla="*/ 5 h 22"/>
                <a:gd name="T74" fmla="*/ 5 w 10"/>
                <a:gd name="T75" fmla="*/ 5 h 22"/>
                <a:gd name="T76" fmla="*/ 5 w 10"/>
                <a:gd name="T77" fmla="*/ 5 h 22"/>
                <a:gd name="T78" fmla="*/ 5 w 10"/>
                <a:gd name="T79" fmla="*/ 5 h 22"/>
                <a:gd name="T80" fmla="*/ 5 w 10"/>
                <a:gd name="T81" fmla="*/ 0 h 22"/>
                <a:gd name="T82" fmla="*/ 5 w 10"/>
                <a:gd name="T83" fmla="*/ 0 h 22"/>
                <a:gd name="T84" fmla="*/ 5 w 10"/>
                <a:gd name="T85" fmla="*/ 0 h 22"/>
                <a:gd name="T86" fmla="*/ 5 w 10"/>
                <a:gd name="T87" fmla="*/ 0 h 22"/>
                <a:gd name="T88" fmla="*/ 10 w 10"/>
                <a:gd name="T89" fmla="*/ 0 h 22"/>
                <a:gd name="T90" fmla="*/ 10 w 10"/>
                <a:gd name="T91" fmla="*/ 0 h 22"/>
                <a:gd name="T92" fmla="*/ 10 w 10"/>
                <a:gd name="T93" fmla="*/ 0 h 22"/>
                <a:gd name="T94" fmla="*/ 10 w 10"/>
                <a:gd name="T95" fmla="*/ 0 h 22"/>
                <a:gd name="T96" fmla="*/ 10 w 10"/>
                <a:gd name="T97" fmla="*/ 0 h 22"/>
                <a:gd name="T98" fmla="*/ 10 w 10"/>
                <a:gd name="T99" fmla="*/ 0 h 22"/>
                <a:gd name="T100" fmla="*/ 10 w 10"/>
                <a:gd name="T101" fmla="*/ 0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2"/>
                <a:gd name="T155" fmla="*/ 10 w 10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2">
                  <a:moveTo>
                    <a:pt x="0" y="22"/>
                  </a:moveTo>
                  <a:lnTo>
                    <a:pt x="0" y="22"/>
                  </a:lnTo>
                  <a:lnTo>
                    <a:pt x="5" y="22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5"/>
                  </a:lnTo>
                  <a:lnTo>
                    <a:pt x="5" y="0"/>
                  </a:lnTo>
                  <a:lnTo>
                    <a:pt x="1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0" name="Freeform 197"/>
            <p:cNvSpPr>
              <a:spLocks/>
            </p:cNvSpPr>
            <p:nvPr/>
          </p:nvSpPr>
          <p:spPr bwMode="auto">
            <a:xfrm>
              <a:off x="5364" y="3045"/>
              <a:ext cx="4" cy="29"/>
            </a:xfrm>
            <a:custGeom>
              <a:avLst/>
              <a:gdLst>
                <a:gd name="T0" fmla="*/ 0 w 4"/>
                <a:gd name="T1" fmla="*/ 29 h 29"/>
                <a:gd name="T2" fmla="*/ 0 w 4"/>
                <a:gd name="T3" fmla="*/ 29 h 29"/>
                <a:gd name="T4" fmla="*/ 0 w 4"/>
                <a:gd name="T5" fmla="*/ 23 h 29"/>
                <a:gd name="T6" fmla="*/ 0 w 4"/>
                <a:gd name="T7" fmla="*/ 23 h 29"/>
                <a:gd name="T8" fmla="*/ 0 w 4"/>
                <a:gd name="T9" fmla="*/ 23 h 29"/>
                <a:gd name="T10" fmla="*/ 0 w 4"/>
                <a:gd name="T11" fmla="*/ 23 h 29"/>
                <a:gd name="T12" fmla="*/ 0 w 4"/>
                <a:gd name="T13" fmla="*/ 23 h 29"/>
                <a:gd name="T14" fmla="*/ 0 w 4"/>
                <a:gd name="T15" fmla="*/ 23 h 29"/>
                <a:gd name="T16" fmla="*/ 0 w 4"/>
                <a:gd name="T17" fmla="*/ 23 h 29"/>
                <a:gd name="T18" fmla="*/ 0 w 4"/>
                <a:gd name="T19" fmla="*/ 23 h 29"/>
                <a:gd name="T20" fmla="*/ 0 w 4"/>
                <a:gd name="T21" fmla="*/ 23 h 29"/>
                <a:gd name="T22" fmla="*/ 0 w 4"/>
                <a:gd name="T23" fmla="*/ 23 h 29"/>
                <a:gd name="T24" fmla="*/ 0 w 4"/>
                <a:gd name="T25" fmla="*/ 23 h 29"/>
                <a:gd name="T26" fmla="*/ 0 w 4"/>
                <a:gd name="T27" fmla="*/ 17 h 29"/>
                <a:gd name="T28" fmla="*/ 0 w 4"/>
                <a:gd name="T29" fmla="*/ 17 h 29"/>
                <a:gd name="T30" fmla="*/ 0 w 4"/>
                <a:gd name="T31" fmla="*/ 17 h 29"/>
                <a:gd name="T32" fmla="*/ 0 w 4"/>
                <a:gd name="T33" fmla="*/ 17 h 29"/>
                <a:gd name="T34" fmla="*/ 0 w 4"/>
                <a:gd name="T35" fmla="*/ 17 h 29"/>
                <a:gd name="T36" fmla="*/ 0 w 4"/>
                <a:gd name="T37" fmla="*/ 17 h 29"/>
                <a:gd name="T38" fmla="*/ 0 w 4"/>
                <a:gd name="T39" fmla="*/ 17 h 29"/>
                <a:gd name="T40" fmla="*/ 0 w 4"/>
                <a:gd name="T41" fmla="*/ 17 h 29"/>
                <a:gd name="T42" fmla="*/ 0 w 4"/>
                <a:gd name="T43" fmla="*/ 17 h 29"/>
                <a:gd name="T44" fmla="*/ 0 w 4"/>
                <a:gd name="T45" fmla="*/ 17 h 29"/>
                <a:gd name="T46" fmla="*/ 0 w 4"/>
                <a:gd name="T47" fmla="*/ 17 h 29"/>
                <a:gd name="T48" fmla="*/ 0 w 4"/>
                <a:gd name="T49" fmla="*/ 17 h 29"/>
                <a:gd name="T50" fmla="*/ 0 w 4"/>
                <a:gd name="T51" fmla="*/ 17 h 29"/>
                <a:gd name="T52" fmla="*/ 0 w 4"/>
                <a:gd name="T53" fmla="*/ 11 h 29"/>
                <a:gd name="T54" fmla="*/ 0 w 4"/>
                <a:gd name="T55" fmla="*/ 11 h 29"/>
                <a:gd name="T56" fmla="*/ 0 w 4"/>
                <a:gd name="T57" fmla="*/ 11 h 29"/>
                <a:gd name="T58" fmla="*/ 0 w 4"/>
                <a:gd name="T59" fmla="*/ 11 h 29"/>
                <a:gd name="T60" fmla="*/ 0 w 4"/>
                <a:gd name="T61" fmla="*/ 11 h 29"/>
                <a:gd name="T62" fmla="*/ 0 w 4"/>
                <a:gd name="T63" fmla="*/ 11 h 29"/>
                <a:gd name="T64" fmla="*/ 0 w 4"/>
                <a:gd name="T65" fmla="*/ 11 h 29"/>
                <a:gd name="T66" fmla="*/ 0 w 4"/>
                <a:gd name="T67" fmla="*/ 11 h 29"/>
                <a:gd name="T68" fmla="*/ 0 w 4"/>
                <a:gd name="T69" fmla="*/ 11 h 29"/>
                <a:gd name="T70" fmla="*/ 4 w 4"/>
                <a:gd name="T71" fmla="*/ 11 h 29"/>
                <a:gd name="T72" fmla="*/ 4 w 4"/>
                <a:gd name="T73" fmla="*/ 11 h 29"/>
                <a:gd name="T74" fmla="*/ 4 w 4"/>
                <a:gd name="T75" fmla="*/ 11 h 29"/>
                <a:gd name="T76" fmla="*/ 4 w 4"/>
                <a:gd name="T77" fmla="*/ 6 h 29"/>
                <a:gd name="T78" fmla="*/ 4 w 4"/>
                <a:gd name="T79" fmla="*/ 6 h 29"/>
                <a:gd name="T80" fmla="*/ 4 w 4"/>
                <a:gd name="T81" fmla="*/ 6 h 29"/>
                <a:gd name="T82" fmla="*/ 4 w 4"/>
                <a:gd name="T83" fmla="*/ 6 h 29"/>
                <a:gd name="T84" fmla="*/ 4 w 4"/>
                <a:gd name="T85" fmla="*/ 6 h 29"/>
                <a:gd name="T86" fmla="*/ 4 w 4"/>
                <a:gd name="T87" fmla="*/ 6 h 29"/>
                <a:gd name="T88" fmla="*/ 4 w 4"/>
                <a:gd name="T89" fmla="*/ 6 h 29"/>
                <a:gd name="T90" fmla="*/ 4 w 4"/>
                <a:gd name="T91" fmla="*/ 6 h 29"/>
                <a:gd name="T92" fmla="*/ 4 w 4"/>
                <a:gd name="T93" fmla="*/ 6 h 29"/>
                <a:gd name="T94" fmla="*/ 4 w 4"/>
                <a:gd name="T95" fmla="*/ 6 h 29"/>
                <a:gd name="T96" fmla="*/ 4 w 4"/>
                <a:gd name="T97" fmla="*/ 6 h 29"/>
                <a:gd name="T98" fmla="*/ 4 w 4"/>
                <a:gd name="T99" fmla="*/ 6 h 29"/>
                <a:gd name="T100" fmla="*/ 4 w 4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9"/>
                <a:gd name="T155" fmla="*/ 4 w 4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9">
                  <a:moveTo>
                    <a:pt x="0" y="29"/>
                  </a:moveTo>
                  <a:lnTo>
                    <a:pt x="0" y="29"/>
                  </a:lnTo>
                  <a:lnTo>
                    <a:pt x="0" y="23"/>
                  </a:lnTo>
                  <a:lnTo>
                    <a:pt x="0" y="17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6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1" name="Freeform 198"/>
            <p:cNvSpPr>
              <a:spLocks/>
            </p:cNvSpPr>
            <p:nvPr/>
          </p:nvSpPr>
          <p:spPr bwMode="auto">
            <a:xfrm>
              <a:off x="5368" y="3028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7 h 17"/>
                <a:gd name="T12" fmla="*/ 0 w 5"/>
                <a:gd name="T13" fmla="*/ 17 h 17"/>
                <a:gd name="T14" fmla="*/ 0 w 5"/>
                <a:gd name="T15" fmla="*/ 17 h 17"/>
                <a:gd name="T16" fmla="*/ 0 w 5"/>
                <a:gd name="T17" fmla="*/ 17 h 17"/>
                <a:gd name="T18" fmla="*/ 0 w 5"/>
                <a:gd name="T19" fmla="*/ 17 h 17"/>
                <a:gd name="T20" fmla="*/ 0 w 5"/>
                <a:gd name="T21" fmla="*/ 17 h 17"/>
                <a:gd name="T22" fmla="*/ 0 w 5"/>
                <a:gd name="T23" fmla="*/ 17 h 17"/>
                <a:gd name="T24" fmla="*/ 0 w 5"/>
                <a:gd name="T25" fmla="*/ 11 h 17"/>
                <a:gd name="T26" fmla="*/ 0 w 5"/>
                <a:gd name="T27" fmla="*/ 11 h 17"/>
                <a:gd name="T28" fmla="*/ 0 w 5"/>
                <a:gd name="T29" fmla="*/ 11 h 17"/>
                <a:gd name="T30" fmla="*/ 0 w 5"/>
                <a:gd name="T31" fmla="*/ 11 h 17"/>
                <a:gd name="T32" fmla="*/ 0 w 5"/>
                <a:gd name="T33" fmla="*/ 11 h 17"/>
                <a:gd name="T34" fmla="*/ 0 w 5"/>
                <a:gd name="T35" fmla="*/ 11 h 17"/>
                <a:gd name="T36" fmla="*/ 0 w 5"/>
                <a:gd name="T37" fmla="*/ 11 h 17"/>
                <a:gd name="T38" fmla="*/ 0 w 5"/>
                <a:gd name="T39" fmla="*/ 11 h 17"/>
                <a:gd name="T40" fmla="*/ 0 w 5"/>
                <a:gd name="T41" fmla="*/ 11 h 17"/>
                <a:gd name="T42" fmla="*/ 0 w 5"/>
                <a:gd name="T43" fmla="*/ 11 h 17"/>
                <a:gd name="T44" fmla="*/ 0 w 5"/>
                <a:gd name="T45" fmla="*/ 11 h 17"/>
                <a:gd name="T46" fmla="*/ 0 w 5"/>
                <a:gd name="T47" fmla="*/ 11 h 17"/>
                <a:gd name="T48" fmla="*/ 0 w 5"/>
                <a:gd name="T49" fmla="*/ 11 h 17"/>
                <a:gd name="T50" fmla="*/ 5 w 5"/>
                <a:gd name="T51" fmla="*/ 6 h 17"/>
                <a:gd name="T52" fmla="*/ 5 w 5"/>
                <a:gd name="T53" fmla="*/ 6 h 17"/>
                <a:gd name="T54" fmla="*/ 5 w 5"/>
                <a:gd name="T55" fmla="*/ 6 h 17"/>
                <a:gd name="T56" fmla="*/ 5 w 5"/>
                <a:gd name="T57" fmla="*/ 6 h 17"/>
                <a:gd name="T58" fmla="*/ 5 w 5"/>
                <a:gd name="T59" fmla="*/ 6 h 17"/>
                <a:gd name="T60" fmla="*/ 5 w 5"/>
                <a:gd name="T61" fmla="*/ 6 h 17"/>
                <a:gd name="T62" fmla="*/ 5 w 5"/>
                <a:gd name="T63" fmla="*/ 6 h 17"/>
                <a:gd name="T64" fmla="*/ 5 w 5"/>
                <a:gd name="T65" fmla="*/ 6 h 17"/>
                <a:gd name="T66" fmla="*/ 5 w 5"/>
                <a:gd name="T67" fmla="*/ 6 h 17"/>
                <a:gd name="T68" fmla="*/ 5 w 5"/>
                <a:gd name="T69" fmla="*/ 6 h 17"/>
                <a:gd name="T70" fmla="*/ 5 w 5"/>
                <a:gd name="T71" fmla="*/ 6 h 17"/>
                <a:gd name="T72" fmla="*/ 5 w 5"/>
                <a:gd name="T73" fmla="*/ 6 h 17"/>
                <a:gd name="T74" fmla="*/ 5 w 5"/>
                <a:gd name="T75" fmla="*/ 6 h 17"/>
                <a:gd name="T76" fmla="*/ 5 w 5"/>
                <a:gd name="T77" fmla="*/ 0 h 17"/>
                <a:gd name="T78" fmla="*/ 5 w 5"/>
                <a:gd name="T79" fmla="*/ 0 h 17"/>
                <a:gd name="T80" fmla="*/ 5 w 5"/>
                <a:gd name="T81" fmla="*/ 0 h 17"/>
                <a:gd name="T82" fmla="*/ 5 w 5"/>
                <a:gd name="T83" fmla="*/ 0 h 17"/>
                <a:gd name="T84" fmla="*/ 5 w 5"/>
                <a:gd name="T85" fmla="*/ 0 h 17"/>
                <a:gd name="T86" fmla="*/ 5 w 5"/>
                <a:gd name="T87" fmla="*/ 0 h 17"/>
                <a:gd name="T88" fmla="*/ 5 w 5"/>
                <a:gd name="T89" fmla="*/ 0 h 17"/>
                <a:gd name="T90" fmla="*/ 5 w 5"/>
                <a:gd name="T91" fmla="*/ 0 h 17"/>
                <a:gd name="T92" fmla="*/ 5 w 5"/>
                <a:gd name="T93" fmla="*/ 0 h 17"/>
                <a:gd name="T94" fmla="*/ 5 w 5"/>
                <a:gd name="T95" fmla="*/ 0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2" name="Freeform 199"/>
            <p:cNvSpPr>
              <a:spLocks/>
            </p:cNvSpPr>
            <p:nvPr/>
          </p:nvSpPr>
          <p:spPr bwMode="auto">
            <a:xfrm>
              <a:off x="5373" y="3005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17 h 23"/>
                <a:gd name="T4" fmla="*/ 0 w 5"/>
                <a:gd name="T5" fmla="*/ 17 h 23"/>
                <a:gd name="T6" fmla="*/ 0 w 5"/>
                <a:gd name="T7" fmla="*/ 17 h 23"/>
                <a:gd name="T8" fmla="*/ 0 w 5"/>
                <a:gd name="T9" fmla="*/ 17 h 23"/>
                <a:gd name="T10" fmla="*/ 0 w 5"/>
                <a:gd name="T11" fmla="*/ 17 h 23"/>
                <a:gd name="T12" fmla="*/ 0 w 5"/>
                <a:gd name="T13" fmla="*/ 17 h 23"/>
                <a:gd name="T14" fmla="*/ 0 w 5"/>
                <a:gd name="T15" fmla="*/ 17 h 23"/>
                <a:gd name="T16" fmla="*/ 0 w 5"/>
                <a:gd name="T17" fmla="*/ 17 h 23"/>
                <a:gd name="T18" fmla="*/ 0 w 5"/>
                <a:gd name="T19" fmla="*/ 17 h 23"/>
                <a:gd name="T20" fmla="*/ 0 w 5"/>
                <a:gd name="T21" fmla="*/ 17 h 23"/>
                <a:gd name="T22" fmla="*/ 0 w 5"/>
                <a:gd name="T23" fmla="*/ 17 h 23"/>
                <a:gd name="T24" fmla="*/ 0 w 5"/>
                <a:gd name="T25" fmla="*/ 17 h 23"/>
                <a:gd name="T26" fmla="*/ 0 w 5"/>
                <a:gd name="T27" fmla="*/ 17 h 23"/>
                <a:gd name="T28" fmla="*/ 0 w 5"/>
                <a:gd name="T29" fmla="*/ 12 h 23"/>
                <a:gd name="T30" fmla="*/ 0 w 5"/>
                <a:gd name="T31" fmla="*/ 12 h 23"/>
                <a:gd name="T32" fmla="*/ 5 w 5"/>
                <a:gd name="T33" fmla="*/ 12 h 23"/>
                <a:gd name="T34" fmla="*/ 5 w 5"/>
                <a:gd name="T35" fmla="*/ 12 h 23"/>
                <a:gd name="T36" fmla="*/ 5 w 5"/>
                <a:gd name="T37" fmla="*/ 12 h 23"/>
                <a:gd name="T38" fmla="*/ 5 w 5"/>
                <a:gd name="T39" fmla="*/ 12 h 23"/>
                <a:gd name="T40" fmla="*/ 5 w 5"/>
                <a:gd name="T41" fmla="*/ 12 h 23"/>
                <a:gd name="T42" fmla="*/ 5 w 5"/>
                <a:gd name="T43" fmla="*/ 12 h 23"/>
                <a:gd name="T44" fmla="*/ 5 w 5"/>
                <a:gd name="T45" fmla="*/ 12 h 23"/>
                <a:gd name="T46" fmla="*/ 5 w 5"/>
                <a:gd name="T47" fmla="*/ 12 h 23"/>
                <a:gd name="T48" fmla="*/ 5 w 5"/>
                <a:gd name="T49" fmla="*/ 12 h 23"/>
                <a:gd name="T50" fmla="*/ 5 w 5"/>
                <a:gd name="T51" fmla="*/ 12 h 23"/>
                <a:gd name="T52" fmla="*/ 5 w 5"/>
                <a:gd name="T53" fmla="*/ 12 h 23"/>
                <a:gd name="T54" fmla="*/ 5 w 5"/>
                <a:gd name="T55" fmla="*/ 6 h 23"/>
                <a:gd name="T56" fmla="*/ 5 w 5"/>
                <a:gd name="T57" fmla="*/ 6 h 23"/>
                <a:gd name="T58" fmla="*/ 5 w 5"/>
                <a:gd name="T59" fmla="*/ 6 h 23"/>
                <a:gd name="T60" fmla="*/ 5 w 5"/>
                <a:gd name="T61" fmla="*/ 6 h 23"/>
                <a:gd name="T62" fmla="*/ 5 w 5"/>
                <a:gd name="T63" fmla="*/ 6 h 23"/>
                <a:gd name="T64" fmla="*/ 5 w 5"/>
                <a:gd name="T65" fmla="*/ 6 h 23"/>
                <a:gd name="T66" fmla="*/ 5 w 5"/>
                <a:gd name="T67" fmla="*/ 6 h 23"/>
                <a:gd name="T68" fmla="*/ 5 w 5"/>
                <a:gd name="T69" fmla="*/ 6 h 23"/>
                <a:gd name="T70" fmla="*/ 5 w 5"/>
                <a:gd name="T71" fmla="*/ 6 h 23"/>
                <a:gd name="T72" fmla="*/ 5 w 5"/>
                <a:gd name="T73" fmla="*/ 6 h 23"/>
                <a:gd name="T74" fmla="*/ 5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0 h 23"/>
                <a:gd name="T84" fmla="*/ 5 w 5"/>
                <a:gd name="T85" fmla="*/ 0 h 23"/>
                <a:gd name="T86" fmla="*/ 5 w 5"/>
                <a:gd name="T87" fmla="*/ 0 h 23"/>
                <a:gd name="T88" fmla="*/ 5 w 5"/>
                <a:gd name="T89" fmla="*/ 0 h 23"/>
                <a:gd name="T90" fmla="*/ 5 w 5"/>
                <a:gd name="T91" fmla="*/ 0 h 23"/>
                <a:gd name="T92" fmla="*/ 5 w 5"/>
                <a:gd name="T93" fmla="*/ 0 h 23"/>
                <a:gd name="T94" fmla="*/ 5 w 5"/>
                <a:gd name="T95" fmla="*/ 0 h 23"/>
                <a:gd name="T96" fmla="*/ 5 w 5"/>
                <a:gd name="T97" fmla="*/ 0 h 23"/>
                <a:gd name="T98" fmla="*/ 5 w 5"/>
                <a:gd name="T99" fmla="*/ 0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17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3" name="Freeform 200"/>
            <p:cNvSpPr>
              <a:spLocks/>
            </p:cNvSpPr>
            <p:nvPr/>
          </p:nvSpPr>
          <p:spPr bwMode="auto">
            <a:xfrm>
              <a:off x="5378" y="2982"/>
              <a:ext cx="9" cy="23"/>
            </a:xfrm>
            <a:custGeom>
              <a:avLst/>
              <a:gdLst>
                <a:gd name="T0" fmla="*/ 0 w 9"/>
                <a:gd name="T1" fmla="*/ 23 h 23"/>
                <a:gd name="T2" fmla="*/ 0 w 9"/>
                <a:gd name="T3" fmla="*/ 23 h 23"/>
                <a:gd name="T4" fmla="*/ 0 w 9"/>
                <a:gd name="T5" fmla="*/ 23 h 23"/>
                <a:gd name="T6" fmla="*/ 0 w 9"/>
                <a:gd name="T7" fmla="*/ 23 h 23"/>
                <a:gd name="T8" fmla="*/ 0 w 9"/>
                <a:gd name="T9" fmla="*/ 23 h 23"/>
                <a:gd name="T10" fmla="*/ 0 w 9"/>
                <a:gd name="T11" fmla="*/ 18 h 23"/>
                <a:gd name="T12" fmla="*/ 5 w 9"/>
                <a:gd name="T13" fmla="*/ 18 h 23"/>
                <a:gd name="T14" fmla="*/ 5 w 9"/>
                <a:gd name="T15" fmla="*/ 18 h 23"/>
                <a:gd name="T16" fmla="*/ 5 w 9"/>
                <a:gd name="T17" fmla="*/ 18 h 23"/>
                <a:gd name="T18" fmla="*/ 5 w 9"/>
                <a:gd name="T19" fmla="*/ 18 h 23"/>
                <a:gd name="T20" fmla="*/ 5 w 9"/>
                <a:gd name="T21" fmla="*/ 18 h 23"/>
                <a:gd name="T22" fmla="*/ 5 w 9"/>
                <a:gd name="T23" fmla="*/ 18 h 23"/>
                <a:gd name="T24" fmla="*/ 5 w 9"/>
                <a:gd name="T25" fmla="*/ 18 h 23"/>
                <a:gd name="T26" fmla="*/ 5 w 9"/>
                <a:gd name="T27" fmla="*/ 18 h 23"/>
                <a:gd name="T28" fmla="*/ 5 w 9"/>
                <a:gd name="T29" fmla="*/ 18 h 23"/>
                <a:gd name="T30" fmla="*/ 5 w 9"/>
                <a:gd name="T31" fmla="*/ 18 h 23"/>
                <a:gd name="T32" fmla="*/ 5 w 9"/>
                <a:gd name="T33" fmla="*/ 18 h 23"/>
                <a:gd name="T34" fmla="*/ 5 w 9"/>
                <a:gd name="T35" fmla="*/ 18 h 23"/>
                <a:gd name="T36" fmla="*/ 5 w 9"/>
                <a:gd name="T37" fmla="*/ 18 h 23"/>
                <a:gd name="T38" fmla="*/ 5 w 9"/>
                <a:gd name="T39" fmla="*/ 12 h 23"/>
                <a:gd name="T40" fmla="*/ 5 w 9"/>
                <a:gd name="T41" fmla="*/ 12 h 23"/>
                <a:gd name="T42" fmla="*/ 5 w 9"/>
                <a:gd name="T43" fmla="*/ 12 h 23"/>
                <a:gd name="T44" fmla="*/ 5 w 9"/>
                <a:gd name="T45" fmla="*/ 12 h 23"/>
                <a:gd name="T46" fmla="*/ 5 w 9"/>
                <a:gd name="T47" fmla="*/ 12 h 23"/>
                <a:gd name="T48" fmla="*/ 5 w 9"/>
                <a:gd name="T49" fmla="*/ 12 h 23"/>
                <a:gd name="T50" fmla="*/ 5 w 9"/>
                <a:gd name="T51" fmla="*/ 12 h 23"/>
                <a:gd name="T52" fmla="*/ 5 w 9"/>
                <a:gd name="T53" fmla="*/ 12 h 23"/>
                <a:gd name="T54" fmla="*/ 5 w 9"/>
                <a:gd name="T55" fmla="*/ 12 h 23"/>
                <a:gd name="T56" fmla="*/ 5 w 9"/>
                <a:gd name="T57" fmla="*/ 12 h 23"/>
                <a:gd name="T58" fmla="*/ 5 w 9"/>
                <a:gd name="T59" fmla="*/ 12 h 23"/>
                <a:gd name="T60" fmla="*/ 5 w 9"/>
                <a:gd name="T61" fmla="*/ 12 h 23"/>
                <a:gd name="T62" fmla="*/ 5 w 9"/>
                <a:gd name="T63" fmla="*/ 12 h 23"/>
                <a:gd name="T64" fmla="*/ 5 w 9"/>
                <a:gd name="T65" fmla="*/ 12 h 23"/>
                <a:gd name="T66" fmla="*/ 5 w 9"/>
                <a:gd name="T67" fmla="*/ 12 h 23"/>
                <a:gd name="T68" fmla="*/ 5 w 9"/>
                <a:gd name="T69" fmla="*/ 6 h 23"/>
                <a:gd name="T70" fmla="*/ 5 w 9"/>
                <a:gd name="T71" fmla="*/ 6 h 23"/>
                <a:gd name="T72" fmla="*/ 5 w 9"/>
                <a:gd name="T73" fmla="*/ 6 h 23"/>
                <a:gd name="T74" fmla="*/ 5 w 9"/>
                <a:gd name="T75" fmla="*/ 6 h 23"/>
                <a:gd name="T76" fmla="*/ 5 w 9"/>
                <a:gd name="T77" fmla="*/ 6 h 23"/>
                <a:gd name="T78" fmla="*/ 5 w 9"/>
                <a:gd name="T79" fmla="*/ 6 h 23"/>
                <a:gd name="T80" fmla="*/ 5 w 9"/>
                <a:gd name="T81" fmla="*/ 6 h 23"/>
                <a:gd name="T82" fmla="*/ 5 w 9"/>
                <a:gd name="T83" fmla="*/ 6 h 23"/>
                <a:gd name="T84" fmla="*/ 5 w 9"/>
                <a:gd name="T85" fmla="*/ 6 h 23"/>
                <a:gd name="T86" fmla="*/ 5 w 9"/>
                <a:gd name="T87" fmla="*/ 6 h 23"/>
                <a:gd name="T88" fmla="*/ 5 w 9"/>
                <a:gd name="T89" fmla="*/ 6 h 23"/>
                <a:gd name="T90" fmla="*/ 5 w 9"/>
                <a:gd name="T91" fmla="*/ 6 h 23"/>
                <a:gd name="T92" fmla="*/ 5 w 9"/>
                <a:gd name="T93" fmla="*/ 6 h 23"/>
                <a:gd name="T94" fmla="*/ 9 w 9"/>
                <a:gd name="T95" fmla="*/ 6 h 23"/>
                <a:gd name="T96" fmla="*/ 9 w 9"/>
                <a:gd name="T97" fmla="*/ 6 h 23"/>
                <a:gd name="T98" fmla="*/ 9 w 9"/>
                <a:gd name="T99" fmla="*/ 0 h 23"/>
                <a:gd name="T100" fmla="*/ 9 w 9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23"/>
                <a:gd name="T155" fmla="*/ 9 w 9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23">
                  <a:moveTo>
                    <a:pt x="0" y="23"/>
                  </a:moveTo>
                  <a:lnTo>
                    <a:pt x="0" y="23"/>
                  </a:lnTo>
                  <a:lnTo>
                    <a:pt x="0" y="18"/>
                  </a:lnTo>
                  <a:lnTo>
                    <a:pt x="5" y="18"/>
                  </a:lnTo>
                  <a:lnTo>
                    <a:pt x="5" y="12"/>
                  </a:lnTo>
                  <a:lnTo>
                    <a:pt x="5" y="6"/>
                  </a:lnTo>
                  <a:lnTo>
                    <a:pt x="9" y="6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4" name="Freeform 201"/>
            <p:cNvSpPr>
              <a:spLocks/>
            </p:cNvSpPr>
            <p:nvPr/>
          </p:nvSpPr>
          <p:spPr bwMode="auto">
            <a:xfrm>
              <a:off x="5387" y="2965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7 h 17"/>
                <a:gd name="T12" fmla="*/ 0 w 5"/>
                <a:gd name="T13" fmla="*/ 17 h 17"/>
                <a:gd name="T14" fmla="*/ 0 w 5"/>
                <a:gd name="T15" fmla="*/ 17 h 17"/>
                <a:gd name="T16" fmla="*/ 0 w 5"/>
                <a:gd name="T17" fmla="*/ 17 h 17"/>
                <a:gd name="T18" fmla="*/ 0 w 5"/>
                <a:gd name="T19" fmla="*/ 17 h 17"/>
                <a:gd name="T20" fmla="*/ 0 w 5"/>
                <a:gd name="T21" fmla="*/ 17 h 17"/>
                <a:gd name="T22" fmla="*/ 0 w 5"/>
                <a:gd name="T23" fmla="*/ 17 h 17"/>
                <a:gd name="T24" fmla="*/ 0 w 5"/>
                <a:gd name="T25" fmla="*/ 17 h 17"/>
                <a:gd name="T26" fmla="*/ 0 w 5"/>
                <a:gd name="T27" fmla="*/ 17 h 17"/>
                <a:gd name="T28" fmla="*/ 0 w 5"/>
                <a:gd name="T29" fmla="*/ 17 h 17"/>
                <a:gd name="T30" fmla="*/ 0 w 5"/>
                <a:gd name="T31" fmla="*/ 12 h 17"/>
                <a:gd name="T32" fmla="*/ 0 w 5"/>
                <a:gd name="T33" fmla="*/ 12 h 17"/>
                <a:gd name="T34" fmla="*/ 0 w 5"/>
                <a:gd name="T35" fmla="*/ 12 h 17"/>
                <a:gd name="T36" fmla="*/ 0 w 5"/>
                <a:gd name="T37" fmla="*/ 12 h 17"/>
                <a:gd name="T38" fmla="*/ 0 w 5"/>
                <a:gd name="T39" fmla="*/ 12 h 17"/>
                <a:gd name="T40" fmla="*/ 0 w 5"/>
                <a:gd name="T41" fmla="*/ 12 h 17"/>
                <a:gd name="T42" fmla="*/ 0 w 5"/>
                <a:gd name="T43" fmla="*/ 12 h 17"/>
                <a:gd name="T44" fmla="*/ 0 w 5"/>
                <a:gd name="T45" fmla="*/ 12 h 17"/>
                <a:gd name="T46" fmla="*/ 0 w 5"/>
                <a:gd name="T47" fmla="*/ 12 h 17"/>
                <a:gd name="T48" fmla="*/ 0 w 5"/>
                <a:gd name="T49" fmla="*/ 12 h 17"/>
                <a:gd name="T50" fmla="*/ 0 w 5"/>
                <a:gd name="T51" fmla="*/ 12 h 17"/>
                <a:gd name="T52" fmla="*/ 0 w 5"/>
                <a:gd name="T53" fmla="*/ 12 h 17"/>
                <a:gd name="T54" fmla="*/ 0 w 5"/>
                <a:gd name="T55" fmla="*/ 12 h 17"/>
                <a:gd name="T56" fmla="*/ 0 w 5"/>
                <a:gd name="T57" fmla="*/ 12 h 17"/>
                <a:gd name="T58" fmla="*/ 0 w 5"/>
                <a:gd name="T59" fmla="*/ 12 h 17"/>
                <a:gd name="T60" fmla="*/ 0 w 5"/>
                <a:gd name="T61" fmla="*/ 12 h 17"/>
                <a:gd name="T62" fmla="*/ 0 w 5"/>
                <a:gd name="T63" fmla="*/ 6 h 17"/>
                <a:gd name="T64" fmla="*/ 0 w 5"/>
                <a:gd name="T65" fmla="*/ 6 h 17"/>
                <a:gd name="T66" fmla="*/ 0 w 5"/>
                <a:gd name="T67" fmla="*/ 6 h 17"/>
                <a:gd name="T68" fmla="*/ 0 w 5"/>
                <a:gd name="T69" fmla="*/ 6 h 17"/>
                <a:gd name="T70" fmla="*/ 0 w 5"/>
                <a:gd name="T71" fmla="*/ 6 h 17"/>
                <a:gd name="T72" fmla="*/ 0 w 5"/>
                <a:gd name="T73" fmla="*/ 6 h 17"/>
                <a:gd name="T74" fmla="*/ 5 w 5"/>
                <a:gd name="T75" fmla="*/ 6 h 17"/>
                <a:gd name="T76" fmla="*/ 5 w 5"/>
                <a:gd name="T77" fmla="*/ 6 h 17"/>
                <a:gd name="T78" fmla="*/ 5 w 5"/>
                <a:gd name="T79" fmla="*/ 6 h 17"/>
                <a:gd name="T80" fmla="*/ 5 w 5"/>
                <a:gd name="T81" fmla="*/ 6 h 17"/>
                <a:gd name="T82" fmla="*/ 5 w 5"/>
                <a:gd name="T83" fmla="*/ 6 h 17"/>
                <a:gd name="T84" fmla="*/ 5 w 5"/>
                <a:gd name="T85" fmla="*/ 6 h 17"/>
                <a:gd name="T86" fmla="*/ 5 w 5"/>
                <a:gd name="T87" fmla="*/ 6 h 17"/>
                <a:gd name="T88" fmla="*/ 5 w 5"/>
                <a:gd name="T89" fmla="*/ 6 h 17"/>
                <a:gd name="T90" fmla="*/ 5 w 5"/>
                <a:gd name="T91" fmla="*/ 6 h 17"/>
                <a:gd name="T92" fmla="*/ 5 w 5"/>
                <a:gd name="T93" fmla="*/ 6 h 17"/>
                <a:gd name="T94" fmla="*/ 5 w 5"/>
                <a:gd name="T95" fmla="*/ 6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2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5" name="Freeform 202"/>
            <p:cNvSpPr>
              <a:spLocks/>
            </p:cNvSpPr>
            <p:nvPr/>
          </p:nvSpPr>
          <p:spPr bwMode="auto">
            <a:xfrm>
              <a:off x="5392" y="2954"/>
              <a:ext cx="5" cy="11"/>
            </a:xfrm>
            <a:custGeom>
              <a:avLst/>
              <a:gdLst>
                <a:gd name="T0" fmla="*/ 0 w 5"/>
                <a:gd name="T1" fmla="*/ 11 h 11"/>
                <a:gd name="T2" fmla="*/ 0 w 5"/>
                <a:gd name="T3" fmla="*/ 11 h 11"/>
                <a:gd name="T4" fmla="*/ 0 w 5"/>
                <a:gd name="T5" fmla="*/ 11 h 11"/>
                <a:gd name="T6" fmla="*/ 0 w 5"/>
                <a:gd name="T7" fmla="*/ 11 h 11"/>
                <a:gd name="T8" fmla="*/ 0 w 5"/>
                <a:gd name="T9" fmla="*/ 11 h 11"/>
                <a:gd name="T10" fmla="*/ 0 w 5"/>
                <a:gd name="T11" fmla="*/ 11 h 11"/>
                <a:gd name="T12" fmla="*/ 0 w 5"/>
                <a:gd name="T13" fmla="*/ 11 h 11"/>
                <a:gd name="T14" fmla="*/ 0 w 5"/>
                <a:gd name="T15" fmla="*/ 11 h 11"/>
                <a:gd name="T16" fmla="*/ 0 w 5"/>
                <a:gd name="T17" fmla="*/ 11 h 11"/>
                <a:gd name="T18" fmla="*/ 0 w 5"/>
                <a:gd name="T19" fmla="*/ 11 h 11"/>
                <a:gd name="T20" fmla="*/ 0 w 5"/>
                <a:gd name="T21" fmla="*/ 11 h 11"/>
                <a:gd name="T22" fmla="*/ 0 w 5"/>
                <a:gd name="T23" fmla="*/ 11 h 11"/>
                <a:gd name="T24" fmla="*/ 0 w 5"/>
                <a:gd name="T25" fmla="*/ 11 h 11"/>
                <a:gd name="T26" fmla="*/ 0 w 5"/>
                <a:gd name="T27" fmla="*/ 11 h 11"/>
                <a:gd name="T28" fmla="*/ 0 w 5"/>
                <a:gd name="T29" fmla="*/ 11 h 11"/>
                <a:gd name="T30" fmla="*/ 0 w 5"/>
                <a:gd name="T31" fmla="*/ 11 h 11"/>
                <a:gd name="T32" fmla="*/ 0 w 5"/>
                <a:gd name="T33" fmla="*/ 6 h 11"/>
                <a:gd name="T34" fmla="*/ 0 w 5"/>
                <a:gd name="T35" fmla="*/ 6 h 11"/>
                <a:gd name="T36" fmla="*/ 0 w 5"/>
                <a:gd name="T37" fmla="*/ 6 h 11"/>
                <a:gd name="T38" fmla="*/ 0 w 5"/>
                <a:gd name="T39" fmla="*/ 6 h 11"/>
                <a:gd name="T40" fmla="*/ 0 w 5"/>
                <a:gd name="T41" fmla="*/ 6 h 11"/>
                <a:gd name="T42" fmla="*/ 0 w 5"/>
                <a:gd name="T43" fmla="*/ 6 h 11"/>
                <a:gd name="T44" fmla="*/ 0 w 5"/>
                <a:gd name="T45" fmla="*/ 6 h 11"/>
                <a:gd name="T46" fmla="*/ 0 w 5"/>
                <a:gd name="T47" fmla="*/ 6 h 11"/>
                <a:gd name="T48" fmla="*/ 0 w 5"/>
                <a:gd name="T49" fmla="*/ 6 h 11"/>
                <a:gd name="T50" fmla="*/ 0 w 5"/>
                <a:gd name="T51" fmla="*/ 6 h 11"/>
                <a:gd name="T52" fmla="*/ 0 w 5"/>
                <a:gd name="T53" fmla="*/ 6 h 11"/>
                <a:gd name="T54" fmla="*/ 0 w 5"/>
                <a:gd name="T55" fmla="*/ 6 h 11"/>
                <a:gd name="T56" fmla="*/ 5 w 5"/>
                <a:gd name="T57" fmla="*/ 6 h 11"/>
                <a:gd name="T58" fmla="*/ 5 w 5"/>
                <a:gd name="T59" fmla="*/ 6 h 11"/>
                <a:gd name="T60" fmla="*/ 5 w 5"/>
                <a:gd name="T61" fmla="*/ 6 h 11"/>
                <a:gd name="T62" fmla="*/ 5 w 5"/>
                <a:gd name="T63" fmla="*/ 6 h 11"/>
                <a:gd name="T64" fmla="*/ 5 w 5"/>
                <a:gd name="T65" fmla="*/ 6 h 11"/>
                <a:gd name="T66" fmla="*/ 5 w 5"/>
                <a:gd name="T67" fmla="*/ 6 h 11"/>
                <a:gd name="T68" fmla="*/ 5 w 5"/>
                <a:gd name="T69" fmla="*/ 6 h 11"/>
                <a:gd name="T70" fmla="*/ 5 w 5"/>
                <a:gd name="T71" fmla="*/ 0 h 11"/>
                <a:gd name="T72" fmla="*/ 5 w 5"/>
                <a:gd name="T73" fmla="*/ 0 h 11"/>
                <a:gd name="T74" fmla="*/ 5 w 5"/>
                <a:gd name="T75" fmla="*/ 0 h 11"/>
                <a:gd name="T76" fmla="*/ 5 w 5"/>
                <a:gd name="T77" fmla="*/ 0 h 11"/>
                <a:gd name="T78" fmla="*/ 5 w 5"/>
                <a:gd name="T79" fmla="*/ 0 h 11"/>
                <a:gd name="T80" fmla="*/ 5 w 5"/>
                <a:gd name="T81" fmla="*/ 0 h 11"/>
                <a:gd name="T82" fmla="*/ 5 w 5"/>
                <a:gd name="T83" fmla="*/ 0 h 11"/>
                <a:gd name="T84" fmla="*/ 5 w 5"/>
                <a:gd name="T85" fmla="*/ 0 h 11"/>
                <a:gd name="T86" fmla="*/ 5 w 5"/>
                <a:gd name="T87" fmla="*/ 0 h 11"/>
                <a:gd name="T88" fmla="*/ 5 w 5"/>
                <a:gd name="T89" fmla="*/ 0 h 11"/>
                <a:gd name="T90" fmla="*/ 5 w 5"/>
                <a:gd name="T91" fmla="*/ 0 h 11"/>
                <a:gd name="T92" fmla="*/ 5 w 5"/>
                <a:gd name="T93" fmla="*/ 0 h 11"/>
                <a:gd name="T94" fmla="*/ 5 w 5"/>
                <a:gd name="T95" fmla="*/ 0 h 11"/>
                <a:gd name="T96" fmla="*/ 5 w 5"/>
                <a:gd name="T97" fmla="*/ 0 h 11"/>
                <a:gd name="T98" fmla="*/ 5 w 5"/>
                <a:gd name="T99" fmla="*/ 0 h 11"/>
                <a:gd name="T100" fmla="*/ 5 w 5"/>
                <a:gd name="T101" fmla="*/ 0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1"/>
                <a:gd name="T155" fmla="*/ 5 w 5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1">
                  <a:moveTo>
                    <a:pt x="0" y="11"/>
                  </a:moveTo>
                  <a:lnTo>
                    <a:pt x="0" y="11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6" name="Freeform 203"/>
            <p:cNvSpPr>
              <a:spLocks/>
            </p:cNvSpPr>
            <p:nvPr/>
          </p:nvSpPr>
          <p:spPr bwMode="auto">
            <a:xfrm>
              <a:off x="5397" y="2937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1 h 17"/>
                <a:gd name="T12" fmla="*/ 0 w 5"/>
                <a:gd name="T13" fmla="*/ 11 h 17"/>
                <a:gd name="T14" fmla="*/ 0 w 5"/>
                <a:gd name="T15" fmla="*/ 11 h 17"/>
                <a:gd name="T16" fmla="*/ 0 w 5"/>
                <a:gd name="T17" fmla="*/ 11 h 17"/>
                <a:gd name="T18" fmla="*/ 0 w 5"/>
                <a:gd name="T19" fmla="*/ 11 h 17"/>
                <a:gd name="T20" fmla="*/ 0 w 5"/>
                <a:gd name="T21" fmla="*/ 11 h 17"/>
                <a:gd name="T22" fmla="*/ 0 w 5"/>
                <a:gd name="T23" fmla="*/ 11 h 17"/>
                <a:gd name="T24" fmla="*/ 0 w 5"/>
                <a:gd name="T25" fmla="*/ 11 h 17"/>
                <a:gd name="T26" fmla="*/ 0 w 5"/>
                <a:gd name="T27" fmla="*/ 11 h 17"/>
                <a:gd name="T28" fmla="*/ 0 w 5"/>
                <a:gd name="T29" fmla="*/ 11 h 17"/>
                <a:gd name="T30" fmla="*/ 0 w 5"/>
                <a:gd name="T31" fmla="*/ 11 h 17"/>
                <a:gd name="T32" fmla="*/ 0 w 5"/>
                <a:gd name="T33" fmla="*/ 11 h 17"/>
                <a:gd name="T34" fmla="*/ 0 w 5"/>
                <a:gd name="T35" fmla="*/ 11 h 17"/>
                <a:gd name="T36" fmla="*/ 5 w 5"/>
                <a:gd name="T37" fmla="*/ 11 h 17"/>
                <a:gd name="T38" fmla="*/ 5 w 5"/>
                <a:gd name="T39" fmla="*/ 11 h 17"/>
                <a:gd name="T40" fmla="*/ 5 w 5"/>
                <a:gd name="T41" fmla="*/ 11 h 17"/>
                <a:gd name="T42" fmla="*/ 5 w 5"/>
                <a:gd name="T43" fmla="*/ 11 h 17"/>
                <a:gd name="T44" fmla="*/ 5 w 5"/>
                <a:gd name="T45" fmla="*/ 11 h 17"/>
                <a:gd name="T46" fmla="*/ 5 w 5"/>
                <a:gd name="T47" fmla="*/ 11 h 17"/>
                <a:gd name="T48" fmla="*/ 5 w 5"/>
                <a:gd name="T49" fmla="*/ 11 h 17"/>
                <a:gd name="T50" fmla="*/ 5 w 5"/>
                <a:gd name="T51" fmla="*/ 11 h 17"/>
                <a:gd name="T52" fmla="*/ 5 w 5"/>
                <a:gd name="T53" fmla="*/ 6 h 17"/>
                <a:gd name="T54" fmla="*/ 5 w 5"/>
                <a:gd name="T55" fmla="*/ 6 h 17"/>
                <a:gd name="T56" fmla="*/ 5 w 5"/>
                <a:gd name="T57" fmla="*/ 6 h 17"/>
                <a:gd name="T58" fmla="*/ 5 w 5"/>
                <a:gd name="T59" fmla="*/ 6 h 17"/>
                <a:gd name="T60" fmla="*/ 5 w 5"/>
                <a:gd name="T61" fmla="*/ 6 h 17"/>
                <a:gd name="T62" fmla="*/ 5 w 5"/>
                <a:gd name="T63" fmla="*/ 6 h 17"/>
                <a:gd name="T64" fmla="*/ 5 w 5"/>
                <a:gd name="T65" fmla="*/ 6 h 17"/>
                <a:gd name="T66" fmla="*/ 5 w 5"/>
                <a:gd name="T67" fmla="*/ 6 h 17"/>
                <a:gd name="T68" fmla="*/ 5 w 5"/>
                <a:gd name="T69" fmla="*/ 6 h 17"/>
                <a:gd name="T70" fmla="*/ 5 w 5"/>
                <a:gd name="T71" fmla="*/ 6 h 17"/>
                <a:gd name="T72" fmla="*/ 5 w 5"/>
                <a:gd name="T73" fmla="*/ 6 h 17"/>
                <a:gd name="T74" fmla="*/ 5 w 5"/>
                <a:gd name="T75" fmla="*/ 6 h 17"/>
                <a:gd name="T76" fmla="*/ 5 w 5"/>
                <a:gd name="T77" fmla="*/ 6 h 17"/>
                <a:gd name="T78" fmla="*/ 5 w 5"/>
                <a:gd name="T79" fmla="*/ 6 h 17"/>
                <a:gd name="T80" fmla="*/ 5 w 5"/>
                <a:gd name="T81" fmla="*/ 6 h 17"/>
                <a:gd name="T82" fmla="*/ 5 w 5"/>
                <a:gd name="T83" fmla="*/ 6 h 17"/>
                <a:gd name="T84" fmla="*/ 5 w 5"/>
                <a:gd name="T85" fmla="*/ 6 h 17"/>
                <a:gd name="T86" fmla="*/ 5 w 5"/>
                <a:gd name="T87" fmla="*/ 6 h 17"/>
                <a:gd name="T88" fmla="*/ 5 w 5"/>
                <a:gd name="T89" fmla="*/ 6 h 17"/>
                <a:gd name="T90" fmla="*/ 5 w 5"/>
                <a:gd name="T91" fmla="*/ 6 h 17"/>
                <a:gd name="T92" fmla="*/ 5 w 5"/>
                <a:gd name="T93" fmla="*/ 6 h 17"/>
                <a:gd name="T94" fmla="*/ 5 w 5"/>
                <a:gd name="T95" fmla="*/ 6 h 17"/>
                <a:gd name="T96" fmla="*/ 5 w 5"/>
                <a:gd name="T97" fmla="*/ 6 h 17"/>
                <a:gd name="T98" fmla="*/ 5 w 5"/>
                <a:gd name="T99" fmla="*/ 6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7" name="Freeform 204"/>
            <p:cNvSpPr>
              <a:spLocks/>
            </p:cNvSpPr>
            <p:nvPr/>
          </p:nvSpPr>
          <p:spPr bwMode="auto">
            <a:xfrm>
              <a:off x="5402" y="2931"/>
              <a:ext cx="9" cy="6"/>
            </a:xfrm>
            <a:custGeom>
              <a:avLst/>
              <a:gdLst>
                <a:gd name="T0" fmla="*/ 0 w 9"/>
                <a:gd name="T1" fmla="*/ 6 h 6"/>
                <a:gd name="T2" fmla="*/ 0 w 9"/>
                <a:gd name="T3" fmla="*/ 6 h 6"/>
                <a:gd name="T4" fmla="*/ 0 w 9"/>
                <a:gd name="T5" fmla="*/ 6 h 6"/>
                <a:gd name="T6" fmla="*/ 0 w 9"/>
                <a:gd name="T7" fmla="*/ 6 h 6"/>
                <a:gd name="T8" fmla="*/ 0 w 9"/>
                <a:gd name="T9" fmla="*/ 6 h 6"/>
                <a:gd name="T10" fmla="*/ 0 w 9"/>
                <a:gd name="T11" fmla="*/ 6 h 6"/>
                <a:gd name="T12" fmla="*/ 0 w 9"/>
                <a:gd name="T13" fmla="*/ 6 h 6"/>
                <a:gd name="T14" fmla="*/ 0 w 9"/>
                <a:gd name="T15" fmla="*/ 6 h 6"/>
                <a:gd name="T16" fmla="*/ 0 w 9"/>
                <a:gd name="T17" fmla="*/ 6 h 6"/>
                <a:gd name="T18" fmla="*/ 4 w 9"/>
                <a:gd name="T19" fmla="*/ 6 h 6"/>
                <a:gd name="T20" fmla="*/ 4 w 9"/>
                <a:gd name="T21" fmla="*/ 6 h 6"/>
                <a:gd name="T22" fmla="*/ 4 w 9"/>
                <a:gd name="T23" fmla="*/ 6 h 6"/>
                <a:gd name="T24" fmla="*/ 4 w 9"/>
                <a:gd name="T25" fmla="*/ 6 h 6"/>
                <a:gd name="T26" fmla="*/ 4 w 9"/>
                <a:gd name="T27" fmla="*/ 6 h 6"/>
                <a:gd name="T28" fmla="*/ 4 w 9"/>
                <a:gd name="T29" fmla="*/ 6 h 6"/>
                <a:gd name="T30" fmla="*/ 4 w 9"/>
                <a:gd name="T31" fmla="*/ 6 h 6"/>
                <a:gd name="T32" fmla="*/ 4 w 9"/>
                <a:gd name="T33" fmla="*/ 6 h 6"/>
                <a:gd name="T34" fmla="*/ 4 w 9"/>
                <a:gd name="T35" fmla="*/ 6 h 6"/>
                <a:gd name="T36" fmla="*/ 4 w 9"/>
                <a:gd name="T37" fmla="*/ 6 h 6"/>
                <a:gd name="T38" fmla="*/ 4 w 9"/>
                <a:gd name="T39" fmla="*/ 6 h 6"/>
                <a:gd name="T40" fmla="*/ 4 w 9"/>
                <a:gd name="T41" fmla="*/ 6 h 6"/>
                <a:gd name="T42" fmla="*/ 4 w 9"/>
                <a:gd name="T43" fmla="*/ 6 h 6"/>
                <a:gd name="T44" fmla="*/ 4 w 9"/>
                <a:gd name="T45" fmla="*/ 6 h 6"/>
                <a:gd name="T46" fmla="*/ 4 w 9"/>
                <a:gd name="T47" fmla="*/ 6 h 6"/>
                <a:gd name="T48" fmla="*/ 4 w 9"/>
                <a:gd name="T49" fmla="*/ 6 h 6"/>
                <a:gd name="T50" fmla="*/ 4 w 9"/>
                <a:gd name="T51" fmla="*/ 6 h 6"/>
                <a:gd name="T52" fmla="*/ 4 w 9"/>
                <a:gd name="T53" fmla="*/ 6 h 6"/>
                <a:gd name="T54" fmla="*/ 4 w 9"/>
                <a:gd name="T55" fmla="*/ 0 h 6"/>
                <a:gd name="T56" fmla="*/ 4 w 9"/>
                <a:gd name="T57" fmla="*/ 0 h 6"/>
                <a:gd name="T58" fmla="*/ 4 w 9"/>
                <a:gd name="T59" fmla="*/ 0 h 6"/>
                <a:gd name="T60" fmla="*/ 4 w 9"/>
                <a:gd name="T61" fmla="*/ 0 h 6"/>
                <a:gd name="T62" fmla="*/ 4 w 9"/>
                <a:gd name="T63" fmla="*/ 0 h 6"/>
                <a:gd name="T64" fmla="*/ 4 w 9"/>
                <a:gd name="T65" fmla="*/ 0 h 6"/>
                <a:gd name="T66" fmla="*/ 4 w 9"/>
                <a:gd name="T67" fmla="*/ 0 h 6"/>
                <a:gd name="T68" fmla="*/ 4 w 9"/>
                <a:gd name="T69" fmla="*/ 0 h 6"/>
                <a:gd name="T70" fmla="*/ 4 w 9"/>
                <a:gd name="T71" fmla="*/ 0 h 6"/>
                <a:gd name="T72" fmla="*/ 4 w 9"/>
                <a:gd name="T73" fmla="*/ 0 h 6"/>
                <a:gd name="T74" fmla="*/ 4 w 9"/>
                <a:gd name="T75" fmla="*/ 0 h 6"/>
                <a:gd name="T76" fmla="*/ 4 w 9"/>
                <a:gd name="T77" fmla="*/ 0 h 6"/>
                <a:gd name="T78" fmla="*/ 4 w 9"/>
                <a:gd name="T79" fmla="*/ 0 h 6"/>
                <a:gd name="T80" fmla="*/ 4 w 9"/>
                <a:gd name="T81" fmla="*/ 0 h 6"/>
                <a:gd name="T82" fmla="*/ 4 w 9"/>
                <a:gd name="T83" fmla="*/ 0 h 6"/>
                <a:gd name="T84" fmla="*/ 4 w 9"/>
                <a:gd name="T85" fmla="*/ 0 h 6"/>
                <a:gd name="T86" fmla="*/ 4 w 9"/>
                <a:gd name="T87" fmla="*/ 0 h 6"/>
                <a:gd name="T88" fmla="*/ 4 w 9"/>
                <a:gd name="T89" fmla="*/ 0 h 6"/>
                <a:gd name="T90" fmla="*/ 4 w 9"/>
                <a:gd name="T91" fmla="*/ 0 h 6"/>
                <a:gd name="T92" fmla="*/ 4 w 9"/>
                <a:gd name="T93" fmla="*/ 0 h 6"/>
                <a:gd name="T94" fmla="*/ 4 w 9"/>
                <a:gd name="T95" fmla="*/ 0 h 6"/>
                <a:gd name="T96" fmla="*/ 4 w 9"/>
                <a:gd name="T97" fmla="*/ 0 h 6"/>
                <a:gd name="T98" fmla="*/ 9 w 9"/>
                <a:gd name="T99" fmla="*/ 0 h 6"/>
                <a:gd name="T100" fmla="*/ 9 w 9"/>
                <a:gd name="T101" fmla="*/ 0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6"/>
                <a:gd name="T155" fmla="*/ 9 w 9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6">
                  <a:moveTo>
                    <a:pt x="0" y="6"/>
                  </a:moveTo>
                  <a:lnTo>
                    <a:pt x="0" y="6"/>
                  </a:lnTo>
                  <a:lnTo>
                    <a:pt x="4" y="6"/>
                  </a:lnTo>
                  <a:lnTo>
                    <a:pt x="4" y="0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8" name="Freeform 205"/>
            <p:cNvSpPr>
              <a:spLocks/>
            </p:cNvSpPr>
            <p:nvPr/>
          </p:nvSpPr>
          <p:spPr bwMode="auto">
            <a:xfrm>
              <a:off x="5411" y="2926"/>
              <a:ext cx="5" cy="5"/>
            </a:xfrm>
            <a:custGeom>
              <a:avLst/>
              <a:gdLst>
                <a:gd name="T0" fmla="*/ 0 w 5"/>
                <a:gd name="T1" fmla="*/ 5 h 5"/>
                <a:gd name="T2" fmla="*/ 0 w 5"/>
                <a:gd name="T3" fmla="*/ 5 h 5"/>
                <a:gd name="T4" fmla="*/ 0 w 5"/>
                <a:gd name="T5" fmla="*/ 5 h 5"/>
                <a:gd name="T6" fmla="*/ 0 w 5"/>
                <a:gd name="T7" fmla="*/ 5 h 5"/>
                <a:gd name="T8" fmla="*/ 0 w 5"/>
                <a:gd name="T9" fmla="*/ 5 h 5"/>
                <a:gd name="T10" fmla="*/ 0 w 5"/>
                <a:gd name="T11" fmla="*/ 5 h 5"/>
                <a:gd name="T12" fmla="*/ 0 w 5"/>
                <a:gd name="T13" fmla="*/ 5 h 5"/>
                <a:gd name="T14" fmla="*/ 0 w 5"/>
                <a:gd name="T15" fmla="*/ 5 h 5"/>
                <a:gd name="T16" fmla="*/ 0 w 5"/>
                <a:gd name="T17" fmla="*/ 0 h 5"/>
                <a:gd name="T18" fmla="*/ 0 w 5"/>
                <a:gd name="T19" fmla="*/ 0 h 5"/>
                <a:gd name="T20" fmla="*/ 0 w 5"/>
                <a:gd name="T21" fmla="*/ 0 h 5"/>
                <a:gd name="T22" fmla="*/ 0 w 5"/>
                <a:gd name="T23" fmla="*/ 0 h 5"/>
                <a:gd name="T24" fmla="*/ 0 w 5"/>
                <a:gd name="T25" fmla="*/ 0 h 5"/>
                <a:gd name="T26" fmla="*/ 0 w 5"/>
                <a:gd name="T27" fmla="*/ 0 h 5"/>
                <a:gd name="T28" fmla="*/ 0 w 5"/>
                <a:gd name="T29" fmla="*/ 0 h 5"/>
                <a:gd name="T30" fmla="*/ 0 w 5"/>
                <a:gd name="T31" fmla="*/ 0 h 5"/>
                <a:gd name="T32" fmla="*/ 0 w 5"/>
                <a:gd name="T33" fmla="*/ 0 h 5"/>
                <a:gd name="T34" fmla="*/ 0 w 5"/>
                <a:gd name="T35" fmla="*/ 0 h 5"/>
                <a:gd name="T36" fmla="*/ 0 w 5"/>
                <a:gd name="T37" fmla="*/ 0 h 5"/>
                <a:gd name="T38" fmla="*/ 0 w 5"/>
                <a:gd name="T39" fmla="*/ 0 h 5"/>
                <a:gd name="T40" fmla="*/ 0 w 5"/>
                <a:gd name="T41" fmla="*/ 0 h 5"/>
                <a:gd name="T42" fmla="*/ 0 w 5"/>
                <a:gd name="T43" fmla="*/ 0 h 5"/>
                <a:gd name="T44" fmla="*/ 0 w 5"/>
                <a:gd name="T45" fmla="*/ 0 h 5"/>
                <a:gd name="T46" fmla="*/ 0 w 5"/>
                <a:gd name="T47" fmla="*/ 0 h 5"/>
                <a:gd name="T48" fmla="*/ 0 w 5"/>
                <a:gd name="T49" fmla="*/ 0 h 5"/>
                <a:gd name="T50" fmla="*/ 0 w 5"/>
                <a:gd name="T51" fmla="*/ 0 h 5"/>
                <a:gd name="T52" fmla="*/ 0 w 5"/>
                <a:gd name="T53" fmla="*/ 0 h 5"/>
                <a:gd name="T54" fmla="*/ 0 w 5"/>
                <a:gd name="T55" fmla="*/ 0 h 5"/>
                <a:gd name="T56" fmla="*/ 0 w 5"/>
                <a:gd name="T57" fmla="*/ 0 h 5"/>
                <a:gd name="T58" fmla="*/ 0 w 5"/>
                <a:gd name="T59" fmla="*/ 0 h 5"/>
                <a:gd name="T60" fmla="*/ 0 w 5"/>
                <a:gd name="T61" fmla="*/ 0 h 5"/>
                <a:gd name="T62" fmla="*/ 0 w 5"/>
                <a:gd name="T63" fmla="*/ 0 h 5"/>
                <a:gd name="T64" fmla="*/ 0 w 5"/>
                <a:gd name="T65" fmla="*/ 0 h 5"/>
                <a:gd name="T66" fmla="*/ 0 w 5"/>
                <a:gd name="T67" fmla="*/ 0 h 5"/>
                <a:gd name="T68" fmla="*/ 0 w 5"/>
                <a:gd name="T69" fmla="*/ 0 h 5"/>
                <a:gd name="T70" fmla="*/ 0 w 5"/>
                <a:gd name="T71" fmla="*/ 0 h 5"/>
                <a:gd name="T72" fmla="*/ 0 w 5"/>
                <a:gd name="T73" fmla="*/ 0 h 5"/>
                <a:gd name="T74" fmla="*/ 0 w 5"/>
                <a:gd name="T75" fmla="*/ 0 h 5"/>
                <a:gd name="T76" fmla="*/ 0 w 5"/>
                <a:gd name="T77" fmla="*/ 0 h 5"/>
                <a:gd name="T78" fmla="*/ 5 w 5"/>
                <a:gd name="T79" fmla="*/ 0 h 5"/>
                <a:gd name="T80" fmla="*/ 5 w 5"/>
                <a:gd name="T81" fmla="*/ 0 h 5"/>
                <a:gd name="T82" fmla="*/ 5 w 5"/>
                <a:gd name="T83" fmla="*/ 0 h 5"/>
                <a:gd name="T84" fmla="*/ 5 w 5"/>
                <a:gd name="T85" fmla="*/ 0 h 5"/>
                <a:gd name="T86" fmla="*/ 5 w 5"/>
                <a:gd name="T87" fmla="*/ 0 h 5"/>
                <a:gd name="T88" fmla="*/ 5 w 5"/>
                <a:gd name="T89" fmla="*/ 0 h 5"/>
                <a:gd name="T90" fmla="*/ 5 w 5"/>
                <a:gd name="T91" fmla="*/ 0 h 5"/>
                <a:gd name="T92" fmla="*/ 5 w 5"/>
                <a:gd name="T93" fmla="*/ 0 h 5"/>
                <a:gd name="T94" fmla="*/ 5 w 5"/>
                <a:gd name="T95" fmla="*/ 0 h 5"/>
                <a:gd name="T96" fmla="*/ 5 w 5"/>
                <a:gd name="T97" fmla="*/ 0 h 5"/>
                <a:gd name="T98" fmla="*/ 5 w 5"/>
                <a:gd name="T99" fmla="*/ 0 h 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5"/>
                <a:gd name="T152" fmla="*/ 5 w 5"/>
                <a:gd name="T153" fmla="*/ 5 h 5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5">
                  <a:moveTo>
                    <a:pt x="0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9" name="Freeform 206"/>
            <p:cNvSpPr>
              <a:spLocks/>
            </p:cNvSpPr>
            <p:nvPr/>
          </p:nvSpPr>
          <p:spPr bwMode="auto">
            <a:xfrm>
              <a:off x="5416" y="2920"/>
              <a:ext cx="5" cy="6"/>
            </a:xfrm>
            <a:custGeom>
              <a:avLst/>
              <a:gdLst>
                <a:gd name="T0" fmla="*/ 0 w 5"/>
                <a:gd name="T1" fmla="*/ 6 h 6"/>
                <a:gd name="T2" fmla="*/ 0 w 5"/>
                <a:gd name="T3" fmla="*/ 0 h 6"/>
                <a:gd name="T4" fmla="*/ 0 w 5"/>
                <a:gd name="T5" fmla="*/ 0 h 6"/>
                <a:gd name="T6" fmla="*/ 0 w 5"/>
                <a:gd name="T7" fmla="*/ 0 h 6"/>
                <a:gd name="T8" fmla="*/ 0 w 5"/>
                <a:gd name="T9" fmla="*/ 0 h 6"/>
                <a:gd name="T10" fmla="*/ 0 w 5"/>
                <a:gd name="T11" fmla="*/ 0 h 6"/>
                <a:gd name="T12" fmla="*/ 0 w 5"/>
                <a:gd name="T13" fmla="*/ 0 h 6"/>
                <a:gd name="T14" fmla="*/ 0 w 5"/>
                <a:gd name="T15" fmla="*/ 0 h 6"/>
                <a:gd name="T16" fmla="*/ 0 w 5"/>
                <a:gd name="T17" fmla="*/ 0 h 6"/>
                <a:gd name="T18" fmla="*/ 0 w 5"/>
                <a:gd name="T19" fmla="*/ 0 h 6"/>
                <a:gd name="T20" fmla="*/ 0 w 5"/>
                <a:gd name="T21" fmla="*/ 0 h 6"/>
                <a:gd name="T22" fmla="*/ 0 w 5"/>
                <a:gd name="T23" fmla="*/ 0 h 6"/>
                <a:gd name="T24" fmla="*/ 0 w 5"/>
                <a:gd name="T25" fmla="*/ 0 h 6"/>
                <a:gd name="T26" fmla="*/ 0 w 5"/>
                <a:gd name="T27" fmla="*/ 0 h 6"/>
                <a:gd name="T28" fmla="*/ 0 w 5"/>
                <a:gd name="T29" fmla="*/ 0 h 6"/>
                <a:gd name="T30" fmla="*/ 0 w 5"/>
                <a:gd name="T31" fmla="*/ 0 h 6"/>
                <a:gd name="T32" fmla="*/ 0 w 5"/>
                <a:gd name="T33" fmla="*/ 0 h 6"/>
                <a:gd name="T34" fmla="*/ 0 w 5"/>
                <a:gd name="T35" fmla="*/ 0 h 6"/>
                <a:gd name="T36" fmla="*/ 0 w 5"/>
                <a:gd name="T37" fmla="*/ 0 h 6"/>
                <a:gd name="T38" fmla="*/ 0 w 5"/>
                <a:gd name="T39" fmla="*/ 0 h 6"/>
                <a:gd name="T40" fmla="*/ 0 w 5"/>
                <a:gd name="T41" fmla="*/ 0 h 6"/>
                <a:gd name="T42" fmla="*/ 0 w 5"/>
                <a:gd name="T43" fmla="*/ 0 h 6"/>
                <a:gd name="T44" fmla="*/ 0 w 5"/>
                <a:gd name="T45" fmla="*/ 0 h 6"/>
                <a:gd name="T46" fmla="*/ 0 w 5"/>
                <a:gd name="T47" fmla="*/ 0 h 6"/>
                <a:gd name="T48" fmla="*/ 0 w 5"/>
                <a:gd name="T49" fmla="*/ 0 h 6"/>
                <a:gd name="T50" fmla="*/ 0 w 5"/>
                <a:gd name="T51" fmla="*/ 0 h 6"/>
                <a:gd name="T52" fmla="*/ 0 w 5"/>
                <a:gd name="T53" fmla="*/ 0 h 6"/>
                <a:gd name="T54" fmla="*/ 0 w 5"/>
                <a:gd name="T55" fmla="*/ 0 h 6"/>
                <a:gd name="T56" fmla="*/ 0 w 5"/>
                <a:gd name="T57" fmla="*/ 0 h 6"/>
                <a:gd name="T58" fmla="*/ 0 w 5"/>
                <a:gd name="T59" fmla="*/ 0 h 6"/>
                <a:gd name="T60" fmla="*/ 5 w 5"/>
                <a:gd name="T61" fmla="*/ 0 h 6"/>
                <a:gd name="T62" fmla="*/ 5 w 5"/>
                <a:gd name="T63" fmla="*/ 0 h 6"/>
                <a:gd name="T64" fmla="*/ 5 w 5"/>
                <a:gd name="T65" fmla="*/ 0 h 6"/>
                <a:gd name="T66" fmla="*/ 5 w 5"/>
                <a:gd name="T67" fmla="*/ 0 h 6"/>
                <a:gd name="T68" fmla="*/ 5 w 5"/>
                <a:gd name="T69" fmla="*/ 0 h 6"/>
                <a:gd name="T70" fmla="*/ 5 w 5"/>
                <a:gd name="T71" fmla="*/ 0 h 6"/>
                <a:gd name="T72" fmla="*/ 5 w 5"/>
                <a:gd name="T73" fmla="*/ 0 h 6"/>
                <a:gd name="T74" fmla="*/ 5 w 5"/>
                <a:gd name="T75" fmla="*/ 0 h 6"/>
                <a:gd name="T76" fmla="*/ 5 w 5"/>
                <a:gd name="T77" fmla="*/ 0 h 6"/>
                <a:gd name="T78" fmla="*/ 5 w 5"/>
                <a:gd name="T79" fmla="*/ 0 h 6"/>
                <a:gd name="T80" fmla="*/ 5 w 5"/>
                <a:gd name="T81" fmla="*/ 0 h 6"/>
                <a:gd name="T82" fmla="*/ 5 w 5"/>
                <a:gd name="T83" fmla="*/ 0 h 6"/>
                <a:gd name="T84" fmla="*/ 5 w 5"/>
                <a:gd name="T85" fmla="*/ 0 h 6"/>
                <a:gd name="T86" fmla="*/ 5 w 5"/>
                <a:gd name="T87" fmla="*/ 0 h 6"/>
                <a:gd name="T88" fmla="*/ 5 w 5"/>
                <a:gd name="T89" fmla="*/ 0 h 6"/>
                <a:gd name="T90" fmla="*/ 5 w 5"/>
                <a:gd name="T91" fmla="*/ 0 h 6"/>
                <a:gd name="T92" fmla="*/ 5 w 5"/>
                <a:gd name="T93" fmla="*/ 0 h 6"/>
                <a:gd name="T94" fmla="*/ 5 w 5"/>
                <a:gd name="T95" fmla="*/ 0 h 6"/>
                <a:gd name="T96" fmla="*/ 5 w 5"/>
                <a:gd name="T97" fmla="*/ 0 h 6"/>
                <a:gd name="T98" fmla="*/ 5 w 5"/>
                <a:gd name="T99" fmla="*/ 0 h 6"/>
                <a:gd name="T100" fmla="*/ 5 w 5"/>
                <a:gd name="T101" fmla="*/ 0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6"/>
                <a:gd name="T155" fmla="*/ 5 w 5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6">
                  <a:moveTo>
                    <a:pt x="0" y="6"/>
                  </a:move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90" name="Freeform 207"/>
            <p:cNvSpPr>
              <a:spLocks/>
            </p:cNvSpPr>
            <p:nvPr/>
          </p:nvSpPr>
          <p:spPr bwMode="auto">
            <a:xfrm>
              <a:off x="5421" y="2920"/>
              <a:ext cx="4" cy="1"/>
            </a:xfrm>
            <a:custGeom>
              <a:avLst/>
              <a:gdLst>
                <a:gd name="T0" fmla="*/ 0 w 4"/>
                <a:gd name="T1" fmla="*/ 0 h 1"/>
                <a:gd name="T2" fmla="*/ 0 w 4"/>
                <a:gd name="T3" fmla="*/ 0 h 1"/>
                <a:gd name="T4" fmla="*/ 0 w 4"/>
                <a:gd name="T5" fmla="*/ 0 h 1"/>
                <a:gd name="T6" fmla="*/ 0 w 4"/>
                <a:gd name="T7" fmla="*/ 0 h 1"/>
                <a:gd name="T8" fmla="*/ 0 w 4"/>
                <a:gd name="T9" fmla="*/ 0 h 1"/>
                <a:gd name="T10" fmla="*/ 0 w 4"/>
                <a:gd name="T11" fmla="*/ 0 h 1"/>
                <a:gd name="T12" fmla="*/ 0 w 4"/>
                <a:gd name="T13" fmla="*/ 0 h 1"/>
                <a:gd name="T14" fmla="*/ 0 w 4"/>
                <a:gd name="T15" fmla="*/ 0 h 1"/>
                <a:gd name="T16" fmla="*/ 0 w 4"/>
                <a:gd name="T17" fmla="*/ 0 h 1"/>
                <a:gd name="T18" fmla="*/ 0 w 4"/>
                <a:gd name="T19" fmla="*/ 0 h 1"/>
                <a:gd name="T20" fmla="*/ 0 w 4"/>
                <a:gd name="T21" fmla="*/ 0 h 1"/>
                <a:gd name="T22" fmla="*/ 0 w 4"/>
                <a:gd name="T23" fmla="*/ 0 h 1"/>
                <a:gd name="T24" fmla="*/ 0 w 4"/>
                <a:gd name="T25" fmla="*/ 0 h 1"/>
                <a:gd name="T26" fmla="*/ 0 w 4"/>
                <a:gd name="T27" fmla="*/ 0 h 1"/>
                <a:gd name="T28" fmla="*/ 0 w 4"/>
                <a:gd name="T29" fmla="*/ 0 h 1"/>
                <a:gd name="T30" fmla="*/ 0 w 4"/>
                <a:gd name="T31" fmla="*/ 0 h 1"/>
                <a:gd name="T32" fmla="*/ 0 w 4"/>
                <a:gd name="T33" fmla="*/ 0 h 1"/>
                <a:gd name="T34" fmla="*/ 0 w 4"/>
                <a:gd name="T35" fmla="*/ 0 h 1"/>
                <a:gd name="T36" fmla="*/ 0 w 4"/>
                <a:gd name="T37" fmla="*/ 0 h 1"/>
                <a:gd name="T38" fmla="*/ 0 w 4"/>
                <a:gd name="T39" fmla="*/ 0 h 1"/>
                <a:gd name="T40" fmla="*/ 0 w 4"/>
                <a:gd name="T41" fmla="*/ 0 h 1"/>
                <a:gd name="T42" fmla="*/ 4 w 4"/>
                <a:gd name="T43" fmla="*/ 0 h 1"/>
                <a:gd name="T44" fmla="*/ 4 w 4"/>
                <a:gd name="T45" fmla="*/ 0 h 1"/>
                <a:gd name="T46" fmla="*/ 4 w 4"/>
                <a:gd name="T47" fmla="*/ 0 h 1"/>
                <a:gd name="T48" fmla="*/ 4 w 4"/>
                <a:gd name="T49" fmla="*/ 0 h 1"/>
                <a:gd name="T50" fmla="*/ 4 w 4"/>
                <a:gd name="T51" fmla="*/ 0 h 1"/>
                <a:gd name="T52" fmla="*/ 4 w 4"/>
                <a:gd name="T53" fmla="*/ 0 h 1"/>
                <a:gd name="T54" fmla="*/ 4 w 4"/>
                <a:gd name="T55" fmla="*/ 0 h 1"/>
                <a:gd name="T56" fmla="*/ 4 w 4"/>
                <a:gd name="T57" fmla="*/ 0 h 1"/>
                <a:gd name="T58" fmla="*/ 4 w 4"/>
                <a:gd name="T59" fmla="*/ 0 h 1"/>
                <a:gd name="T60" fmla="*/ 4 w 4"/>
                <a:gd name="T61" fmla="*/ 0 h 1"/>
                <a:gd name="T62" fmla="*/ 4 w 4"/>
                <a:gd name="T63" fmla="*/ 0 h 1"/>
                <a:gd name="T64" fmla="*/ 4 w 4"/>
                <a:gd name="T65" fmla="*/ 0 h 1"/>
                <a:gd name="T66" fmla="*/ 4 w 4"/>
                <a:gd name="T67" fmla="*/ 0 h 1"/>
                <a:gd name="T68" fmla="*/ 4 w 4"/>
                <a:gd name="T69" fmla="*/ 0 h 1"/>
                <a:gd name="T70" fmla="*/ 4 w 4"/>
                <a:gd name="T71" fmla="*/ 0 h 1"/>
                <a:gd name="T72" fmla="*/ 4 w 4"/>
                <a:gd name="T73" fmla="*/ 0 h 1"/>
                <a:gd name="T74" fmla="*/ 4 w 4"/>
                <a:gd name="T75" fmla="*/ 0 h 1"/>
                <a:gd name="T76" fmla="*/ 4 w 4"/>
                <a:gd name="T77" fmla="*/ 0 h 1"/>
                <a:gd name="T78" fmla="*/ 4 w 4"/>
                <a:gd name="T79" fmla="*/ 0 h 1"/>
                <a:gd name="T80" fmla="*/ 4 w 4"/>
                <a:gd name="T81" fmla="*/ 0 h 1"/>
                <a:gd name="T82" fmla="*/ 4 w 4"/>
                <a:gd name="T83" fmla="*/ 0 h 1"/>
                <a:gd name="T84" fmla="*/ 4 w 4"/>
                <a:gd name="T85" fmla="*/ 0 h 1"/>
                <a:gd name="T86" fmla="*/ 4 w 4"/>
                <a:gd name="T87" fmla="*/ 0 h 1"/>
                <a:gd name="T88" fmla="*/ 4 w 4"/>
                <a:gd name="T89" fmla="*/ 0 h 1"/>
                <a:gd name="T90" fmla="*/ 4 w 4"/>
                <a:gd name="T91" fmla="*/ 0 h 1"/>
                <a:gd name="T92" fmla="*/ 4 w 4"/>
                <a:gd name="T93" fmla="*/ 0 h 1"/>
                <a:gd name="T94" fmla="*/ 4 w 4"/>
                <a:gd name="T95" fmla="*/ 0 h 1"/>
                <a:gd name="T96" fmla="*/ 4 w 4"/>
                <a:gd name="T97" fmla="*/ 0 h 1"/>
                <a:gd name="T98" fmla="*/ 4 w 4"/>
                <a:gd name="T99" fmla="*/ 0 h 1"/>
                <a:gd name="T100" fmla="*/ 4 w 4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1"/>
                <a:gd name="T155" fmla="*/ 4 w 4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1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91" name="Freeform 208"/>
            <p:cNvSpPr>
              <a:spLocks/>
            </p:cNvSpPr>
            <p:nvPr/>
          </p:nvSpPr>
          <p:spPr bwMode="auto">
            <a:xfrm>
              <a:off x="5425" y="2920"/>
              <a:ext cx="5" cy="1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0 w 5"/>
                <a:gd name="T5" fmla="*/ 0 h 1"/>
                <a:gd name="T6" fmla="*/ 0 w 5"/>
                <a:gd name="T7" fmla="*/ 0 h 1"/>
                <a:gd name="T8" fmla="*/ 0 w 5"/>
                <a:gd name="T9" fmla="*/ 0 h 1"/>
                <a:gd name="T10" fmla="*/ 0 w 5"/>
                <a:gd name="T11" fmla="*/ 0 h 1"/>
                <a:gd name="T12" fmla="*/ 0 w 5"/>
                <a:gd name="T13" fmla="*/ 0 h 1"/>
                <a:gd name="T14" fmla="*/ 0 w 5"/>
                <a:gd name="T15" fmla="*/ 0 h 1"/>
                <a:gd name="T16" fmla="*/ 0 w 5"/>
                <a:gd name="T17" fmla="*/ 0 h 1"/>
                <a:gd name="T18" fmla="*/ 0 w 5"/>
                <a:gd name="T19" fmla="*/ 0 h 1"/>
                <a:gd name="T20" fmla="*/ 0 w 5"/>
                <a:gd name="T21" fmla="*/ 0 h 1"/>
                <a:gd name="T22" fmla="*/ 0 w 5"/>
                <a:gd name="T23" fmla="*/ 0 h 1"/>
                <a:gd name="T24" fmla="*/ 0 w 5"/>
                <a:gd name="T25" fmla="*/ 0 h 1"/>
                <a:gd name="T26" fmla="*/ 0 w 5"/>
                <a:gd name="T27" fmla="*/ 0 h 1"/>
                <a:gd name="T28" fmla="*/ 0 w 5"/>
                <a:gd name="T29" fmla="*/ 0 h 1"/>
                <a:gd name="T30" fmla="*/ 0 w 5"/>
                <a:gd name="T31" fmla="*/ 0 h 1"/>
                <a:gd name="T32" fmla="*/ 5 w 5"/>
                <a:gd name="T33" fmla="*/ 0 h 1"/>
                <a:gd name="T34" fmla="*/ 5 w 5"/>
                <a:gd name="T35" fmla="*/ 0 h 1"/>
                <a:gd name="T36" fmla="*/ 5 w 5"/>
                <a:gd name="T37" fmla="*/ 0 h 1"/>
                <a:gd name="T38" fmla="*/ 5 w 5"/>
                <a:gd name="T39" fmla="*/ 0 h 1"/>
                <a:gd name="T40" fmla="*/ 5 w 5"/>
                <a:gd name="T41" fmla="*/ 0 h 1"/>
                <a:gd name="T42" fmla="*/ 5 w 5"/>
                <a:gd name="T43" fmla="*/ 0 h 1"/>
                <a:gd name="T44" fmla="*/ 5 w 5"/>
                <a:gd name="T45" fmla="*/ 0 h 1"/>
                <a:gd name="T46" fmla="*/ 5 w 5"/>
                <a:gd name="T47" fmla="*/ 0 h 1"/>
                <a:gd name="T48" fmla="*/ 5 w 5"/>
                <a:gd name="T49" fmla="*/ 0 h 1"/>
                <a:gd name="T50" fmla="*/ 5 w 5"/>
                <a:gd name="T51" fmla="*/ 0 h 1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5"/>
                <a:gd name="T79" fmla="*/ 0 h 1"/>
                <a:gd name="T80" fmla="*/ 5 w 5"/>
                <a:gd name="T81" fmla="*/ 1 h 1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92" name="Freeform 209"/>
            <p:cNvSpPr>
              <a:spLocks/>
            </p:cNvSpPr>
            <p:nvPr/>
          </p:nvSpPr>
          <p:spPr bwMode="auto">
            <a:xfrm>
              <a:off x="5430" y="2920"/>
              <a:ext cx="5" cy="1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0 w 5"/>
                <a:gd name="T5" fmla="*/ 0 h 1"/>
                <a:gd name="T6" fmla="*/ 0 w 5"/>
                <a:gd name="T7" fmla="*/ 0 h 1"/>
                <a:gd name="T8" fmla="*/ 0 w 5"/>
                <a:gd name="T9" fmla="*/ 0 h 1"/>
                <a:gd name="T10" fmla="*/ 0 w 5"/>
                <a:gd name="T11" fmla="*/ 0 h 1"/>
                <a:gd name="T12" fmla="*/ 0 w 5"/>
                <a:gd name="T13" fmla="*/ 0 h 1"/>
                <a:gd name="T14" fmla="*/ 0 w 5"/>
                <a:gd name="T15" fmla="*/ 0 h 1"/>
                <a:gd name="T16" fmla="*/ 0 w 5"/>
                <a:gd name="T17" fmla="*/ 0 h 1"/>
                <a:gd name="T18" fmla="*/ 0 w 5"/>
                <a:gd name="T19" fmla="*/ 0 h 1"/>
                <a:gd name="T20" fmla="*/ 0 w 5"/>
                <a:gd name="T21" fmla="*/ 0 h 1"/>
                <a:gd name="T22" fmla="*/ 0 w 5"/>
                <a:gd name="T23" fmla="*/ 0 h 1"/>
                <a:gd name="T24" fmla="*/ 0 w 5"/>
                <a:gd name="T25" fmla="*/ 0 h 1"/>
                <a:gd name="T26" fmla="*/ 0 w 5"/>
                <a:gd name="T27" fmla="*/ 0 h 1"/>
                <a:gd name="T28" fmla="*/ 0 w 5"/>
                <a:gd name="T29" fmla="*/ 0 h 1"/>
                <a:gd name="T30" fmla="*/ 0 w 5"/>
                <a:gd name="T31" fmla="*/ 0 h 1"/>
                <a:gd name="T32" fmla="*/ 0 w 5"/>
                <a:gd name="T33" fmla="*/ 0 h 1"/>
                <a:gd name="T34" fmla="*/ 0 w 5"/>
                <a:gd name="T35" fmla="*/ 0 h 1"/>
                <a:gd name="T36" fmla="*/ 0 w 5"/>
                <a:gd name="T37" fmla="*/ 0 h 1"/>
                <a:gd name="T38" fmla="*/ 0 w 5"/>
                <a:gd name="T39" fmla="*/ 0 h 1"/>
                <a:gd name="T40" fmla="*/ 0 w 5"/>
                <a:gd name="T41" fmla="*/ 0 h 1"/>
                <a:gd name="T42" fmla="*/ 0 w 5"/>
                <a:gd name="T43" fmla="*/ 0 h 1"/>
                <a:gd name="T44" fmla="*/ 0 w 5"/>
                <a:gd name="T45" fmla="*/ 0 h 1"/>
                <a:gd name="T46" fmla="*/ 0 w 5"/>
                <a:gd name="T47" fmla="*/ 0 h 1"/>
                <a:gd name="T48" fmla="*/ 0 w 5"/>
                <a:gd name="T49" fmla="*/ 0 h 1"/>
                <a:gd name="T50" fmla="*/ 0 w 5"/>
                <a:gd name="T51" fmla="*/ 0 h 1"/>
                <a:gd name="T52" fmla="*/ 0 w 5"/>
                <a:gd name="T53" fmla="*/ 0 h 1"/>
                <a:gd name="T54" fmla="*/ 0 w 5"/>
                <a:gd name="T55" fmla="*/ 0 h 1"/>
                <a:gd name="T56" fmla="*/ 0 w 5"/>
                <a:gd name="T57" fmla="*/ 0 h 1"/>
                <a:gd name="T58" fmla="*/ 0 w 5"/>
                <a:gd name="T59" fmla="*/ 0 h 1"/>
                <a:gd name="T60" fmla="*/ 0 w 5"/>
                <a:gd name="T61" fmla="*/ 0 h 1"/>
                <a:gd name="T62" fmla="*/ 0 w 5"/>
                <a:gd name="T63" fmla="*/ 0 h 1"/>
                <a:gd name="T64" fmla="*/ 5 w 5"/>
                <a:gd name="T65" fmla="*/ 0 h 1"/>
                <a:gd name="T66" fmla="*/ 5 w 5"/>
                <a:gd name="T67" fmla="*/ 0 h 1"/>
                <a:gd name="T68" fmla="*/ 5 w 5"/>
                <a:gd name="T69" fmla="*/ 0 h 1"/>
                <a:gd name="T70" fmla="*/ 5 w 5"/>
                <a:gd name="T71" fmla="*/ 0 h 1"/>
                <a:gd name="T72" fmla="*/ 5 w 5"/>
                <a:gd name="T73" fmla="*/ 0 h 1"/>
                <a:gd name="T74" fmla="*/ 5 w 5"/>
                <a:gd name="T75" fmla="*/ 0 h 1"/>
                <a:gd name="T76" fmla="*/ 5 w 5"/>
                <a:gd name="T77" fmla="*/ 0 h 1"/>
                <a:gd name="T78" fmla="*/ 5 w 5"/>
                <a:gd name="T79" fmla="*/ 0 h 1"/>
                <a:gd name="T80" fmla="*/ 5 w 5"/>
                <a:gd name="T81" fmla="*/ 0 h 1"/>
                <a:gd name="T82" fmla="*/ 5 w 5"/>
                <a:gd name="T83" fmla="*/ 0 h 1"/>
                <a:gd name="T84" fmla="*/ 5 w 5"/>
                <a:gd name="T85" fmla="*/ 0 h 1"/>
                <a:gd name="T86" fmla="*/ 5 w 5"/>
                <a:gd name="T87" fmla="*/ 0 h 1"/>
                <a:gd name="T88" fmla="*/ 5 w 5"/>
                <a:gd name="T89" fmla="*/ 0 h 1"/>
                <a:gd name="T90" fmla="*/ 5 w 5"/>
                <a:gd name="T91" fmla="*/ 0 h 1"/>
                <a:gd name="T92" fmla="*/ 5 w 5"/>
                <a:gd name="T93" fmla="*/ 0 h 1"/>
                <a:gd name="T94" fmla="*/ 5 w 5"/>
                <a:gd name="T95" fmla="*/ 0 h 1"/>
                <a:gd name="T96" fmla="*/ 5 w 5"/>
                <a:gd name="T97" fmla="*/ 0 h 1"/>
                <a:gd name="T98" fmla="*/ 5 w 5"/>
                <a:gd name="T99" fmla="*/ 0 h 1"/>
                <a:gd name="T100" fmla="*/ 5 w 5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"/>
                <a:gd name="T155" fmla="*/ 5 w 5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93" name="Freeform 210"/>
            <p:cNvSpPr>
              <a:spLocks/>
            </p:cNvSpPr>
            <p:nvPr/>
          </p:nvSpPr>
          <p:spPr bwMode="auto">
            <a:xfrm>
              <a:off x="5435" y="2920"/>
              <a:ext cx="5" cy="6"/>
            </a:xfrm>
            <a:custGeom>
              <a:avLst/>
              <a:gdLst>
                <a:gd name="T0" fmla="*/ 0 w 5"/>
                <a:gd name="T1" fmla="*/ 0 h 6"/>
                <a:gd name="T2" fmla="*/ 0 w 5"/>
                <a:gd name="T3" fmla="*/ 0 h 6"/>
                <a:gd name="T4" fmla="*/ 0 w 5"/>
                <a:gd name="T5" fmla="*/ 0 h 6"/>
                <a:gd name="T6" fmla="*/ 0 w 5"/>
                <a:gd name="T7" fmla="*/ 0 h 6"/>
                <a:gd name="T8" fmla="*/ 0 w 5"/>
                <a:gd name="T9" fmla="*/ 0 h 6"/>
                <a:gd name="T10" fmla="*/ 0 w 5"/>
                <a:gd name="T11" fmla="*/ 0 h 6"/>
                <a:gd name="T12" fmla="*/ 0 w 5"/>
                <a:gd name="T13" fmla="*/ 0 h 6"/>
                <a:gd name="T14" fmla="*/ 0 w 5"/>
                <a:gd name="T15" fmla="*/ 0 h 6"/>
                <a:gd name="T16" fmla="*/ 0 w 5"/>
                <a:gd name="T17" fmla="*/ 0 h 6"/>
                <a:gd name="T18" fmla="*/ 0 w 5"/>
                <a:gd name="T19" fmla="*/ 0 h 6"/>
                <a:gd name="T20" fmla="*/ 0 w 5"/>
                <a:gd name="T21" fmla="*/ 0 h 6"/>
                <a:gd name="T22" fmla="*/ 0 w 5"/>
                <a:gd name="T23" fmla="*/ 0 h 6"/>
                <a:gd name="T24" fmla="*/ 0 w 5"/>
                <a:gd name="T25" fmla="*/ 0 h 6"/>
                <a:gd name="T26" fmla="*/ 0 w 5"/>
                <a:gd name="T27" fmla="*/ 0 h 6"/>
                <a:gd name="T28" fmla="*/ 0 w 5"/>
                <a:gd name="T29" fmla="*/ 0 h 6"/>
                <a:gd name="T30" fmla="*/ 0 w 5"/>
                <a:gd name="T31" fmla="*/ 0 h 6"/>
                <a:gd name="T32" fmla="*/ 0 w 5"/>
                <a:gd name="T33" fmla="*/ 0 h 6"/>
                <a:gd name="T34" fmla="*/ 0 w 5"/>
                <a:gd name="T35" fmla="*/ 0 h 6"/>
                <a:gd name="T36" fmla="*/ 0 w 5"/>
                <a:gd name="T37" fmla="*/ 6 h 6"/>
                <a:gd name="T38" fmla="*/ 0 w 5"/>
                <a:gd name="T39" fmla="*/ 6 h 6"/>
                <a:gd name="T40" fmla="*/ 0 w 5"/>
                <a:gd name="T41" fmla="*/ 6 h 6"/>
                <a:gd name="T42" fmla="*/ 0 w 5"/>
                <a:gd name="T43" fmla="*/ 6 h 6"/>
                <a:gd name="T44" fmla="*/ 5 w 5"/>
                <a:gd name="T45" fmla="*/ 6 h 6"/>
                <a:gd name="T46" fmla="*/ 5 w 5"/>
                <a:gd name="T47" fmla="*/ 6 h 6"/>
                <a:gd name="T48" fmla="*/ 5 w 5"/>
                <a:gd name="T49" fmla="*/ 6 h 6"/>
                <a:gd name="T50" fmla="*/ 5 w 5"/>
                <a:gd name="T51" fmla="*/ 6 h 6"/>
                <a:gd name="T52" fmla="*/ 5 w 5"/>
                <a:gd name="T53" fmla="*/ 6 h 6"/>
                <a:gd name="T54" fmla="*/ 5 w 5"/>
                <a:gd name="T55" fmla="*/ 6 h 6"/>
                <a:gd name="T56" fmla="*/ 5 w 5"/>
                <a:gd name="T57" fmla="*/ 6 h 6"/>
                <a:gd name="T58" fmla="*/ 5 w 5"/>
                <a:gd name="T59" fmla="*/ 6 h 6"/>
                <a:gd name="T60" fmla="*/ 5 w 5"/>
                <a:gd name="T61" fmla="*/ 6 h 6"/>
                <a:gd name="T62" fmla="*/ 5 w 5"/>
                <a:gd name="T63" fmla="*/ 6 h 6"/>
                <a:gd name="T64" fmla="*/ 5 w 5"/>
                <a:gd name="T65" fmla="*/ 6 h 6"/>
                <a:gd name="T66" fmla="*/ 5 w 5"/>
                <a:gd name="T67" fmla="*/ 6 h 6"/>
                <a:gd name="T68" fmla="*/ 5 w 5"/>
                <a:gd name="T69" fmla="*/ 6 h 6"/>
                <a:gd name="T70" fmla="*/ 5 w 5"/>
                <a:gd name="T71" fmla="*/ 6 h 6"/>
                <a:gd name="T72" fmla="*/ 5 w 5"/>
                <a:gd name="T73" fmla="*/ 6 h 6"/>
                <a:gd name="T74" fmla="*/ 5 w 5"/>
                <a:gd name="T75" fmla="*/ 6 h 6"/>
                <a:gd name="T76" fmla="*/ 5 w 5"/>
                <a:gd name="T77" fmla="*/ 6 h 6"/>
                <a:gd name="T78" fmla="*/ 5 w 5"/>
                <a:gd name="T79" fmla="*/ 6 h 6"/>
                <a:gd name="T80" fmla="*/ 5 w 5"/>
                <a:gd name="T81" fmla="*/ 6 h 6"/>
                <a:gd name="T82" fmla="*/ 5 w 5"/>
                <a:gd name="T83" fmla="*/ 6 h 6"/>
                <a:gd name="T84" fmla="*/ 5 w 5"/>
                <a:gd name="T85" fmla="*/ 6 h 6"/>
                <a:gd name="T86" fmla="*/ 5 w 5"/>
                <a:gd name="T87" fmla="*/ 6 h 6"/>
                <a:gd name="T88" fmla="*/ 5 w 5"/>
                <a:gd name="T89" fmla="*/ 6 h 6"/>
                <a:gd name="T90" fmla="*/ 5 w 5"/>
                <a:gd name="T91" fmla="*/ 6 h 6"/>
                <a:gd name="T92" fmla="*/ 5 w 5"/>
                <a:gd name="T93" fmla="*/ 6 h 6"/>
                <a:gd name="T94" fmla="*/ 5 w 5"/>
                <a:gd name="T95" fmla="*/ 6 h 6"/>
                <a:gd name="T96" fmla="*/ 5 w 5"/>
                <a:gd name="T97" fmla="*/ 6 h 6"/>
                <a:gd name="T98" fmla="*/ 5 w 5"/>
                <a:gd name="T99" fmla="*/ 6 h 6"/>
                <a:gd name="T100" fmla="*/ 5 w 5"/>
                <a:gd name="T101" fmla="*/ 6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6"/>
                <a:gd name="T155" fmla="*/ 5 w 5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6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94" name="Freeform 211"/>
            <p:cNvSpPr>
              <a:spLocks/>
            </p:cNvSpPr>
            <p:nvPr/>
          </p:nvSpPr>
          <p:spPr bwMode="auto">
            <a:xfrm>
              <a:off x="5440" y="2926"/>
              <a:ext cx="5" cy="11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0 w 5"/>
                <a:gd name="T5" fmla="*/ 0 h 11"/>
                <a:gd name="T6" fmla="*/ 0 w 5"/>
                <a:gd name="T7" fmla="*/ 0 h 11"/>
                <a:gd name="T8" fmla="*/ 0 w 5"/>
                <a:gd name="T9" fmla="*/ 0 h 11"/>
                <a:gd name="T10" fmla="*/ 0 w 5"/>
                <a:gd name="T11" fmla="*/ 0 h 11"/>
                <a:gd name="T12" fmla="*/ 0 w 5"/>
                <a:gd name="T13" fmla="*/ 0 h 11"/>
                <a:gd name="T14" fmla="*/ 0 w 5"/>
                <a:gd name="T15" fmla="*/ 0 h 11"/>
                <a:gd name="T16" fmla="*/ 0 w 5"/>
                <a:gd name="T17" fmla="*/ 0 h 11"/>
                <a:gd name="T18" fmla="*/ 0 w 5"/>
                <a:gd name="T19" fmla="*/ 0 h 11"/>
                <a:gd name="T20" fmla="*/ 0 w 5"/>
                <a:gd name="T21" fmla="*/ 5 h 11"/>
                <a:gd name="T22" fmla="*/ 0 w 5"/>
                <a:gd name="T23" fmla="*/ 5 h 11"/>
                <a:gd name="T24" fmla="*/ 0 w 5"/>
                <a:gd name="T25" fmla="*/ 5 h 11"/>
                <a:gd name="T26" fmla="*/ 5 w 5"/>
                <a:gd name="T27" fmla="*/ 5 h 11"/>
                <a:gd name="T28" fmla="*/ 5 w 5"/>
                <a:gd name="T29" fmla="*/ 5 h 11"/>
                <a:gd name="T30" fmla="*/ 5 w 5"/>
                <a:gd name="T31" fmla="*/ 5 h 11"/>
                <a:gd name="T32" fmla="*/ 5 w 5"/>
                <a:gd name="T33" fmla="*/ 5 h 11"/>
                <a:gd name="T34" fmla="*/ 5 w 5"/>
                <a:gd name="T35" fmla="*/ 5 h 11"/>
                <a:gd name="T36" fmla="*/ 5 w 5"/>
                <a:gd name="T37" fmla="*/ 5 h 11"/>
                <a:gd name="T38" fmla="*/ 5 w 5"/>
                <a:gd name="T39" fmla="*/ 5 h 11"/>
                <a:gd name="T40" fmla="*/ 5 w 5"/>
                <a:gd name="T41" fmla="*/ 5 h 11"/>
                <a:gd name="T42" fmla="*/ 5 w 5"/>
                <a:gd name="T43" fmla="*/ 5 h 11"/>
                <a:gd name="T44" fmla="*/ 5 w 5"/>
                <a:gd name="T45" fmla="*/ 5 h 11"/>
                <a:gd name="T46" fmla="*/ 5 w 5"/>
                <a:gd name="T47" fmla="*/ 5 h 11"/>
                <a:gd name="T48" fmla="*/ 5 w 5"/>
                <a:gd name="T49" fmla="*/ 5 h 11"/>
                <a:gd name="T50" fmla="*/ 5 w 5"/>
                <a:gd name="T51" fmla="*/ 5 h 11"/>
                <a:gd name="T52" fmla="*/ 5 w 5"/>
                <a:gd name="T53" fmla="*/ 5 h 11"/>
                <a:gd name="T54" fmla="*/ 5 w 5"/>
                <a:gd name="T55" fmla="*/ 5 h 11"/>
                <a:gd name="T56" fmla="*/ 5 w 5"/>
                <a:gd name="T57" fmla="*/ 5 h 11"/>
                <a:gd name="T58" fmla="*/ 5 w 5"/>
                <a:gd name="T59" fmla="*/ 5 h 11"/>
                <a:gd name="T60" fmla="*/ 5 w 5"/>
                <a:gd name="T61" fmla="*/ 5 h 11"/>
                <a:gd name="T62" fmla="*/ 5 w 5"/>
                <a:gd name="T63" fmla="*/ 5 h 11"/>
                <a:gd name="T64" fmla="*/ 5 w 5"/>
                <a:gd name="T65" fmla="*/ 5 h 11"/>
                <a:gd name="T66" fmla="*/ 5 w 5"/>
                <a:gd name="T67" fmla="*/ 5 h 11"/>
                <a:gd name="T68" fmla="*/ 5 w 5"/>
                <a:gd name="T69" fmla="*/ 5 h 11"/>
                <a:gd name="T70" fmla="*/ 5 w 5"/>
                <a:gd name="T71" fmla="*/ 5 h 11"/>
                <a:gd name="T72" fmla="*/ 5 w 5"/>
                <a:gd name="T73" fmla="*/ 5 h 11"/>
                <a:gd name="T74" fmla="*/ 5 w 5"/>
                <a:gd name="T75" fmla="*/ 5 h 11"/>
                <a:gd name="T76" fmla="*/ 5 w 5"/>
                <a:gd name="T77" fmla="*/ 5 h 11"/>
                <a:gd name="T78" fmla="*/ 5 w 5"/>
                <a:gd name="T79" fmla="*/ 5 h 11"/>
                <a:gd name="T80" fmla="*/ 5 w 5"/>
                <a:gd name="T81" fmla="*/ 5 h 11"/>
                <a:gd name="T82" fmla="*/ 5 w 5"/>
                <a:gd name="T83" fmla="*/ 5 h 11"/>
                <a:gd name="T84" fmla="*/ 5 w 5"/>
                <a:gd name="T85" fmla="*/ 11 h 11"/>
                <a:gd name="T86" fmla="*/ 5 w 5"/>
                <a:gd name="T87" fmla="*/ 11 h 11"/>
                <a:gd name="T88" fmla="*/ 5 w 5"/>
                <a:gd name="T89" fmla="*/ 11 h 11"/>
                <a:gd name="T90" fmla="*/ 5 w 5"/>
                <a:gd name="T91" fmla="*/ 11 h 11"/>
                <a:gd name="T92" fmla="*/ 5 w 5"/>
                <a:gd name="T93" fmla="*/ 11 h 11"/>
                <a:gd name="T94" fmla="*/ 5 w 5"/>
                <a:gd name="T95" fmla="*/ 11 h 11"/>
                <a:gd name="T96" fmla="*/ 5 w 5"/>
                <a:gd name="T97" fmla="*/ 11 h 11"/>
                <a:gd name="T98" fmla="*/ 5 w 5"/>
                <a:gd name="T99" fmla="*/ 11 h 11"/>
                <a:gd name="T100" fmla="*/ 5 w 5"/>
                <a:gd name="T101" fmla="*/ 11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1"/>
                <a:gd name="T155" fmla="*/ 5 w 5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1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95" name="Freeform 212"/>
            <p:cNvSpPr>
              <a:spLocks/>
            </p:cNvSpPr>
            <p:nvPr/>
          </p:nvSpPr>
          <p:spPr bwMode="auto">
            <a:xfrm>
              <a:off x="5445" y="2937"/>
              <a:ext cx="9" cy="11"/>
            </a:xfrm>
            <a:custGeom>
              <a:avLst/>
              <a:gdLst>
                <a:gd name="T0" fmla="*/ 0 w 9"/>
                <a:gd name="T1" fmla="*/ 0 h 11"/>
                <a:gd name="T2" fmla="*/ 0 w 9"/>
                <a:gd name="T3" fmla="*/ 0 h 11"/>
                <a:gd name="T4" fmla="*/ 0 w 9"/>
                <a:gd name="T5" fmla="*/ 0 h 11"/>
                <a:gd name="T6" fmla="*/ 4 w 9"/>
                <a:gd name="T7" fmla="*/ 0 h 11"/>
                <a:gd name="T8" fmla="*/ 4 w 9"/>
                <a:gd name="T9" fmla="*/ 0 h 11"/>
                <a:gd name="T10" fmla="*/ 4 w 9"/>
                <a:gd name="T11" fmla="*/ 0 h 11"/>
                <a:gd name="T12" fmla="*/ 4 w 9"/>
                <a:gd name="T13" fmla="*/ 0 h 11"/>
                <a:gd name="T14" fmla="*/ 4 w 9"/>
                <a:gd name="T15" fmla="*/ 0 h 11"/>
                <a:gd name="T16" fmla="*/ 4 w 9"/>
                <a:gd name="T17" fmla="*/ 0 h 11"/>
                <a:gd name="T18" fmla="*/ 4 w 9"/>
                <a:gd name="T19" fmla="*/ 0 h 11"/>
                <a:gd name="T20" fmla="*/ 4 w 9"/>
                <a:gd name="T21" fmla="*/ 0 h 11"/>
                <a:gd name="T22" fmla="*/ 4 w 9"/>
                <a:gd name="T23" fmla="*/ 0 h 11"/>
                <a:gd name="T24" fmla="*/ 4 w 9"/>
                <a:gd name="T25" fmla="*/ 0 h 11"/>
                <a:gd name="T26" fmla="*/ 4 w 9"/>
                <a:gd name="T27" fmla="*/ 0 h 11"/>
                <a:gd name="T28" fmla="*/ 4 w 9"/>
                <a:gd name="T29" fmla="*/ 0 h 11"/>
                <a:gd name="T30" fmla="*/ 4 w 9"/>
                <a:gd name="T31" fmla="*/ 0 h 11"/>
                <a:gd name="T32" fmla="*/ 4 w 9"/>
                <a:gd name="T33" fmla="*/ 0 h 11"/>
                <a:gd name="T34" fmla="*/ 4 w 9"/>
                <a:gd name="T35" fmla="*/ 0 h 11"/>
                <a:gd name="T36" fmla="*/ 4 w 9"/>
                <a:gd name="T37" fmla="*/ 0 h 11"/>
                <a:gd name="T38" fmla="*/ 4 w 9"/>
                <a:gd name="T39" fmla="*/ 6 h 11"/>
                <a:gd name="T40" fmla="*/ 4 w 9"/>
                <a:gd name="T41" fmla="*/ 6 h 11"/>
                <a:gd name="T42" fmla="*/ 4 w 9"/>
                <a:gd name="T43" fmla="*/ 6 h 11"/>
                <a:gd name="T44" fmla="*/ 4 w 9"/>
                <a:gd name="T45" fmla="*/ 6 h 11"/>
                <a:gd name="T46" fmla="*/ 4 w 9"/>
                <a:gd name="T47" fmla="*/ 6 h 11"/>
                <a:gd name="T48" fmla="*/ 4 w 9"/>
                <a:gd name="T49" fmla="*/ 6 h 11"/>
                <a:gd name="T50" fmla="*/ 4 w 9"/>
                <a:gd name="T51" fmla="*/ 6 h 11"/>
                <a:gd name="T52" fmla="*/ 4 w 9"/>
                <a:gd name="T53" fmla="*/ 6 h 11"/>
                <a:gd name="T54" fmla="*/ 4 w 9"/>
                <a:gd name="T55" fmla="*/ 6 h 11"/>
                <a:gd name="T56" fmla="*/ 4 w 9"/>
                <a:gd name="T57" fmla="*/ 6 h 11"/>
                <a:gd name="T58" fmla="*/ 4 w 9"/>
                <a:gd name="T59" fmla="*/ 6 h 11"/>
                <a:gd name="T60" fmla="*/ 4 w 9"/>
                <a:gd name="T61" fmla="*/ 6 h 11"/>
                <a:gd name="T62" fmla="*/ 4 w 9"/>
                <a:gd name="T63" fmla="*/ 6 h 11"/>
                <a:gd name="T64" fmla="*/ 4 w 9"/>
                <a:gd name="T65" fmla="*/ 6 h 11"/>
                <a:gd name="T66" fmla="*/ 4 w 9"/>
                <a:gd name="T67" fmla="*/ 6 h 11"/>
                <a:gd name="T68" fmla="*/ 4 w 9"/>
                <a:gd name="T69" fmla="*/ 6 h 11"/>
                <a:gd name="T70" fmla="*/ 4 w 9"/>
                <a:gd name="T71" fmla="*/ 6 h 11"/>
                <a:gd name="T72" fmla="*/ 4 w 9"/>
                <a:gd name="T73" fmla="*/ 6 h 11"/>
                <a:gd name="T74" fmla="*/ 4 w 9"/>
                <a:gd name="T75" fmla="*/ 6 h 11"/>
                <a:gd name="T76" fmla="*/ 4 w 9"/>
                <a:gd name="T77" fmla="*/ 6 h 11"/>
                <a:gd name="T78" fmla="*/ 4 w 9"/>
                <a:gd name="T79" fmla="*/ 6 h 11"/>
                <a:gd name="T80" fmla="*/ 4 w 9"/>
                <a:gd name="T81" fmla="*/ 6 h 11"/>
                <a:gd name="T82" fmla="*/ 4 w 9"/>
                <a:gd name="T83" fmla="*/ 6 h 11"/>
                <a:gd name="T84" fmla="*/ 4 w 9"/>
                <a:gd name="T85" fmla="*/ 6 h 11"/>
                <a:gd name="T86" fmla="*/ 4 w 9"/>
                <a:gd name="T87" fmla="*/ 11 h 11"/>
                <a:gd name="T88" fmla="*/ 9 w 9"/>
                <a:gd name="T89" fmla="*/ 11 h 11"/>
                <a:gd name="T90" fmla="*/ 9 w 9"/>
                <a:gd name="T91" fmla="*/ 11 h 11"/>
                <a:gd name="T92" fmla="*/ 9 w 9"/>
                <a:gd name="T93" fmla="*/ 11 h 11"/>
                <a:gd name="T94" fmla="*/ 9 w 9"/>
                <a:gd name="T95" fmla="*/ 11 h 11"/>
                <a:gd name="T96" fmla="*/ 9 w 9"/>
                <a:gd name="T97" fmla="*/ 11 h 11"/>
                <a:gd name="T98" fmla="*/ 9 w 9"/>
                <a:gd name="T99" fmla="*/ 11 h 11"/>
                <a:gd name="T100" fmla="*/ 9 w 9"/>
                <a:gd name="T101" fmla="*/ 11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1"/>
                <a:gd name="T155" fmla="*/ 9 w 9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1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6"/>
                  </a:lnTo>
                  <a:lnTo>
                    <a:pt x="4" y="11"/>
                  </a:lnTo>
                  <a:lnTo>
                    <a:pt x="9" y="1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96" name="Freeform 213"/>
            <p:cNvSpPr>
              <a:spLocks/>
            </p:cNvSpPr>
            <p:nvPr/>
          </p:nvSpPr>
          <p:spPr bwMode="auto">
            <a:xfrm>
              <a:off x="5454" y="2948"/>
              <a:ext cx="5" cy="12"/>
            </a:xfrm>
            <a:custGeom>
              <a:avLst/>
              <a:gdLst>
                <a:gd name="T0" fmla="*/ 0 w 5"/>
                <a:gd name="T1" fmla="*/ 0 h 12"/>
                <a:gd name="T2" fmla="*/ 0 w 5"/>
                <a:gd name="T3" fmla="*/ 0 h 12"/>
                <a:gd name="T4" fmla="*/ 0 w 5"/>
                <a:gd name="T5" fmla="*/ 0 h 12"/>
                <a:gd name="T6" fmla="*/ 0 w 5"/>
                <a:gd name="T7" fmla="*/ 0 h 12"/>
                <a:gd name="T8" fmla="*/ 0 w 5"/>
                <a:gd name="T9" fmla="*/ 0 h 12"/>
                <a:gd name="T10" fmla="*/ 0 w 5"/>
                <a:gd name="T11" fmla="*/ 0 h 12"/>
                <a:gd name="T12" fmla="*/ 0 w 5"/>
                <a:gd name="T13" fmla="*/ 0 h 12"/>
                <a:gd name="T14" fmla="*/ 0 w 5"/>
                <a:gd name="T15" fmla="*/ 0 h 12"/>
                <a:gd name="T16" fmla="*/ 0 w 5"/>
                <a:gd name="T17" fmla="*/ 0 h 12"/>
                <a:gd name="T18" fmla="*/ 0 w 5"/>
                <a:gd name="T19" fmla="*/ 0 h 12"/>
                <a:gd name="T20" fmla="*/ 0 w 5"/>
                <a:gd name="T21" fmla="*/ 0 h 12"/>
                <a:gd name="T22" fmla="*/ 0 w 5"/>
                <a:gd name="T23" fmla="*/ 0 h 12"/>
                <a:gd name="T24" fmla="*/ 0 w 5"/>
                <a:gd name="T25" fmla="*/ 0 h 12"/>
                <a:gd name="T26" fmla="*/ 0 w 5"/>
                <a:gd name="T27" fmla="*/ 0 h 12"/>
                <a:gd name="T28" fmla="*/ 0 w 5"/>
                <a:gd name="T29" fmla="*/ 6 h 12"/>
                <a:gd name="T30" fmla="*/ 0 w 5"/>
                <a:gd name="T31" fmla="*/ 6 h 12"/>
                <a:gd name="T32" fmla="*/ 0 w 5"/>
                <a:gd name="T33" fmla="*/ 6 h 12"/>
                <a:gd name="T34" fmla="*/ 0 w 5"/>
                <a:gd name="T35" fmla="*/ 6 h 12"/>
                <a:gd name="T36" fmla="*/ 0 w 5"/>
                <a:gd name="T37" fmla="*/ 6 h 12"/>
                <a:gd name="T38" fmla="*/ 0 w 5"/>
                <a:gd name="T39" fmla="*/ 6 h 12"/>
                <a:gd name="T40" fmla="*/ 0 w 5"/>
                <a:gd name="T41" fmla="*/ 6 h 12"/>
                <a:gd name="T42" fmla="*/ 0 w 5"/>
                <a:gd name="T43" fmla="*/ 6 h 12"/>
                <a:gd name="T44" fmla="*/ 0 w 5"/>
                <a:gd name="T45" fmla="*/ 6 h 12"/>
                <a:gd name="T46" fmla="*/ 0 w 5"/>
                <a:gd name="T47" fmla="*/ 6 h 12"/>
                <a:gd name="T48" fmla="*/ 0 w 5"/>
                <a:gd name="T49" fmla="*/ 6 h 12"/>
                <a:gd name="T50" fmla="*/ 0 w 5"/>
                <a:gd name="T51" fmla="*/ 6 h 12"/>
                <a:gd name="T52" fmla="*/ 0 w 5"/>
                <a:gd name="T53" fmla="*/ 6 h 12"/>
                <a:gd name="T54" fmla="*/ 0 w 5"/>
                <a:gd name="T55" fmla="*/ 6 h 12"/>
                <a:gd name="T56" fmla="*/ 0 w 5"/>
                <a:gd name="T57" fmla="*/ 6 h 12"/>
                <a:gd name="T58" fmla="*/ 0 w 5"/>
                <a:gd name="T59" fmla="*/ 6 h 12"/>
                <a:gd name="T60" fmla="*/ 0 w 5"/>
                <a:gd name="T61" fmla="*/ 6 h 12"/>
                <a:gd name="T62" fmla="*/ 0 w 5"/>
                <a:gd name="T63" fmla="*/ 6 h 12"/>
                <a:gd name="T64" fmla="*/ 0 w 5"/>
                <a:gd name="T65" fmla="*/ 6 h 12"/>
                <a:gd name="T66" fmla="*/ 0 w 5"/>
                <a:gd name="T67" fmla="*/ 6 h 12"/>
                <a:gd name="T68" fmla="*/ 5 w 5"/>
                <a:gd name="T69" fmla="*/ 12 h 12"/>
                <a:gd name="T70" fmla="*/ 5 w 5"/>
                <a:gd name="T71" fmla="*/ 12 h 12"/>
                <a:gd name="T72" fmla="*/ 5 w 5"/>
                <a:gd name="T73" fmla="*/ 12 h 12"/>
                <a:gd name="T74" fmla="*/ 5 w 5"/>
                <a:gd name="T75" fmla="*/ 12 h 12"/>
                <a:gd name="T76" fmla="*/ 5 w 5"/>
                <a:gd name="T77" fmla="*/ 12 h 12"/>
                <a:gd name="T78" fmla="*/ 5 w 5"/>
                <a:gd name="T79" fmla="*/ 12 h 12"/>
                <a:gd name="T80" fmla="*/ 5 w 5"/>
                <a:gd name="T81" fmla="*/ 12 h 12"/>
                <a:gd name="T82" fmla="*/ 5 w 5"/>
                <a:gd name="T83" fmla="*/ 12 h 12"/>
                <a:gd name="T84" fmla="*/ 5 w 5"/>
                <a:gd name="T85" fmla="*/ 12 h 12"/>
                <a:gd name="T86" fmla="*/ 5 w 5"/>
                <a:gd name="T87" fmla="*/ 12 h 12"/>
                <a:gd name="T88" fmla="*/ 5 w 5"/>
                <a:gd name="T89" fmla="*/ 12 h 12"/>
                <a:gd name="T90" fmla="*/ 5 w 5"/>
                <a:gd name="T91" fmla="*/ 12 h 12"/>
                <a:gd name="T92" fmla="*/ 5 w 5"/>
                <a:gd name="T93" fmla="*/ 12 h 12"/>
                <a:gd name="T94" fmla="*/ 5 w 5"/>
                <a:gd name="T95" fmla="*/ 12 h 12"/>
                <a:gd name="T96" fmla="*/ 5 w 5"/>
                <a:gd name="T97" fmla="*/ 12 h 12"/>
                <a:gd name="T98" fmla="*/ 5 w 5"/>
                <a:gd name="T99" fmla="*/ 12 h 12"/>
                <a:gd name="T100" fmla="*/ 5 w 5"/>
                <a:gd name="T101" fmla="*/ 12 h 1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2"/>
                <a:gd name="T155" fmla="*/ 5 w 5"/>
                <a:gd name="T156" fmla="*/ 12 h 1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2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1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97" name="Freeform 214"/>
            <p:cNvSpPr>
              <a:spLocks/>
            </p:cNvSpPr>
            <p:nvPr/>
          </p:nvSpPr>
          <p:spPr bwMode="auto">
            <a:xfrm>
              <a:off x="5459" y="2960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5 h 17"/>
                <a:gd name="T8" fmla="*/ 0 w 5"/>
                <a:gd name="T9" fmla="*/ 5 h 17"/>
                <a:gd name="T10" fmla="*/ 0 w 5"/>
                <a:gd name="T11" fmla="*/ 5 h 17"/>
                <a:gd name="T12" fmla="*/ 0 w 5"/>
                <a:gd name="T13" fmla="*/ 5 h 17"/>
                <a:gd name="T14" fmla="*/ 0 w 5"/>
                <a:gd name="T15" fmla="*/ 5 h 17"/>
                <a:gd name="T16" fmla="*/ 0 w 5"/>
                <a:gd name="T17" fmla="*/ 5 h 17"/>
                <a:gd name="T18" fmla="*/ 0 w 5"/>
                <a:gd name="T19" fmla="*/ 5 h 17"/>
                <a:gd name="T20" fmla="*/ 0 w 5"/>
                <a:gd name="T21" fmla="*/ 5 h 17"/>
                <a:gd name="T22" fmla="*/ 0 w 5"/>
                <a:gd name="T23" fmla="*/ 5 h 17"/>
                <a:gd name="T24" fmla="*/ 0 w 5"/>
                <a:gd name="T25" fmla="*/ 5 h 17"/>
                <a:gd name="T26" fmla="*/ 0 w 5"/>
                <a:gd name="T27" fmla="*/ 5 h 17"/>
                <a:gd name="T28" fmla="*/ 0 w 5"/>
                <a:gd name="T29" fmla="*/ 5 h 17"/>
                <a:gd name="T30" fmla="*/ 0 w 5"/>
                <a:gd name="T31" fmla="*/ 5 h 17"/>
                <a:gd name="T32" fmla="*/ 0 w 5"/>
                <a:gd name="T33" fmla="*/ 5 h 17"/>
                <a:gd name="T34" fmla="*/ 0 w 5"/>
                <a:gd name="T35" fmla="*/ 5 h 17"/>
                <a:gd name="T36" fmla="*/ 0 w 5"/>
                <a:gd name="T37" fmla="*/ 5 h 17"/>
                <a:gd name="T38" fmla="*/ 0 w 5"/>
                <a:gd name="T39" fmla="*/ 5 h 17"/>
                <a:gd name="T40" fmla="*/ 0 w 5"/>
                <a:gd name="T41" fmla="*/ 5 h 17"/>
                <a:gd name="T42" fmla="*/ 0 w 5"/>
                <a:gd name="T43" fmla="*/ 11 h 17"/>
                <a:gd name="T44" fmla="*/ 0 w 5"/>
                <a:gd name="T45" fmla="*/ 11 h 17"/>
                <a:gd name="T46" fmla="*/ 0 w 5"/>
                <a:gd name="T47" fmla="*/ 11 h 17"/>
                <a:gd name="T48" fmla="*/ 0 w 5"/>
                <a:gd name="T49" fmla="*/ 11 h 17"/>
                <a:gd name="T50" fmla="*/ 5 w 5"/>
                <a:gd name="T51" fmla="*/ 11 h 17"/>
                <a:gd name="T52" fmla="*/ 5 w 5"/>
                <a:gd name="T53" fmla="*/ 11 h 17"/>
                <a:gd name="T54" fmla="*/ 5 w 5"/>
                <a:gd name="T55" fmla="*/ 11 h 17"/>
                <a:gd name="T56" fmla="*/ 5 w 5"/>
                <a:gd name="T57" fmla="*/ 11 h 17"/>
                <a:gd name="T58" fmla="*/ 5 w 5"/>
                <a:gd name="T59" fmla="*/ 11 h 17"/>
                <a:gd name="T60" fmla="*/ 5 w 5"/>
                <a:gd name="T61" fmla="*/ 11 h 17"/>
                <a:gd name="T62" fmla="*/ 5 w 5"/>
                <a:gd name="T63" fmla="*/ 11 h 17"/>
                <a:gd name="T64" fmla="*/ 5 w 5"/>
                <a:gd name="T65" fmla="*/ 11 h 17"/>
                <a:gd name="T66" fmla="*/ 5 w 5"/>
                <a:gd name="T67" fmla="*/ 11 h 17"/>
                <a:gd name="T68" fmla="*/ 5 w 5"/>
                <a:gd name="T69" fmla="*/ 11 h 17"/>
                <a:gd name="T70" fmla="*/ 5 w 5"/>
                <a:gd name="T71" fmla="*/ 11 h 17"/>
                <a:gd name="T72" fmla="*/ 5 w 5"/>
                <a:gd name="T73" fmla="*/ 11 h 17"/>
                <a:gd name="T74" fmla="*/ 5 w 5"/>
                <a:gd name="T75" fmla="*/ 11 h 17"/>
                <a:gd name="T76" fmla="*/ 5 w 5"/>
                <a:gd name="T77" fmla="*/ 17 h 17"/>
                <a:gd name="T78" fmla="*/ 5 w 5"/>
                <a:gd name="T79" fmla="*/ 17 h 17"/>
                <a:gd name="T80" fmla="*/ 5 w 5"/>
                <a:gd name="T81" fmla="*/ 17 h 17"/>
                <a:gd name="T82" fmla="*/ 5 w 5"/>
                <a:gd name="T83" fmla="*/ 17 h 17"/>
                <a:gd name="T84" fmla="*/ 5 w 5"/>
                <a:gd name="T85" fmla="*/ 17 h 17"/>
                <a:gd name="T86" fmla="*/ 5 w 5"/>
                <a:gd name="T87" fmla="*/ 17 h 17"/>
                <a:gd name="T88" fmla="*/ 5 w 5"/>
                <a:gd name="T89" fmla="*/ 17 h 17"/>
                <a:gd name="T90" fmla="*/ 5 w 5"/>
                <a:gd name="T91" fmla="*/ 17 h 17"/>
                <a:gd name="T92" fmla="*/ 5 w 5"/>
                <a:gd name="T93" fmla="*/ 17 h 17"/>
                <a:gd name="T94" fmla="*/ 5 w 5"/>
                <a:gd name="T95" fmla="*/ 17 h 17"/>
                <a:gd name="T96" fmla="*/ 5 w 5"/>
                <a:gd name="T97" fmla="*/ 17 h 17"/>
                <a:gd name="T98" fmla="*/ 5 w 5"/>
                <a:gd name="T99" fmla="*/ 17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98" name="Freeform 215"/>
            <p:cNvSpPr>
              <a:spLocks/>
            </p:cNvSpPr>
            <p:nvPr/>
          </p:nvSpPr>
          <p:spPr bwMode="auto">
            <a:xfrm>
              <a:off x="5464" y="2977"/>
              <a:ext cx="4" cy="23"/>
            </a:xfrm>
            <a:custGeom>
              <a:avLst/>
              <a:gdLst>
                <a:gd name="T0" fmla="*/ 0 w 4"/>
                <a:gd name="T1" fmla="*/ 0 h 23"/>
                <a:gd name="T2" fmla="*/ 0 w 4"/>
                <a:gd name="T3" fmla="*/ 0 h 23"/>
                <a:gd name="T4" fmla="*/ 0 w 4"/>
                <a:gd name="T5" fmla="*/ 0 h 23"/>
                <a:gd name="T6" fmla="*/ 0 w 4"/>
                <a:gd name="T7" fmla="*/ 0 h 23"/>
                <a:gd name="T8" fmla="*/ 0 w 4"/>
                <a:gd name="T9" fmla="*/ 5 h 23"/>
                <a:gd name="T10" fmla="*/ 0 w 4"/>
                <a:gd name="T11" fmla="*/ 5 h 23"/>
                <a:gd name="T12" fmla="*/ 0 w 4"/>
                <a:gd name="T13" fmla="*/ 5 h 23"/>
                <a:gd name="T14" fmla="*/ 0 w 4"/>
                <a:gd name="T15" fmla="*/ 5 h 23"/>
                <a:gd name="T16" fmla="*/ 0 w 4"/>
                <a:gd name="T17" fmla="*/ 5 h 23"/>
                <a:gd name="T18" fmla="*/ 0 w 4"/>
                <a:gd name="T19" fmla="*/ 5 h 23"/>
                <a:gd name="T20" fmla="*/ 0 w 4"/>
                <a:gd name="T21" fmla="*/ 5 h 23"/>
                <a:gd name="T22" fmla="*/ 0 w 4"/>
                <a:gd name="T23" fmla="*/ 5 h 23"/>
                <a:gd name="T24" fmla="*/ 0 w 4"/>
                <a:gd name="T25" fmla="*/ 5 h 23"/>
                <a:gd name="T26" fmla="*/ 0 w 4"/>
                <a:gd name="T27" fmla="*/ 5 h 23"/>
                <a:gd name="T28" fmla="*/ 0 w 4"/>
                <a:gd name="T29" fmla="*/ 5 h 23"/>
                <a:gd name="T30" fmla="*/ 4 w 4"/>
                <a:gd name="T31" fmla="*/ 5 h 23"/>
                <a:gd name="T32" fmla="*/ 4 w 4"/>
                <a:gd name="T33" fmla="*/ 5 h 23"/>
                <a:gd name="T34" fmla="*/ 4 w 4"/>
                <a:gd name="T35" fmla="*/ 5 h 23"/>
                <a:gd name="T36" fmla="*/ 4 w 4"/>
                <a:gd name="T37" fmla="*/ 5 h 23"/>
                <a:gd name="T38" fmla="*/ 4 w 4"/>
                <a:gd name="T39" fmla="*/ 5 h 23"/>
                <a:gd name="T40" fmla="*/ 4 w 4"/>
                <a:gd name="T41" fmla="*/ 11 h 23"/>
                <a:gd name="T42" fmla="*/ 4 w 4"/>
                <a:gd name="T43" fmla="*/ 11 h 23"/>
                <a:gd name="T44" fmla="*/ 4 w 4"/>
                <a:gd name="T45" fmla="*/ 11 h 23"/>
                <a:gd name="T46" fmla="*/ 4 w 4"/>
                <a:gd name="T47" fmla="*/ 11 h 23"/>
                <a:gd name="T48" fmla="*/ 4 w 4"/>
                <a:gd name="T49" fmla="*/ 11 h 23"/>
                <a:gd name="T50" fmla="*/ 4 w 4"/>
                <a:gd name="T51" fmla="*/ 11 h 23"/>
                <a:gd name="T52" fmla="*/ 4 w 4"/>
                <a:gd name="T53" fmla="*/ 11 h 23"/>
                <a:gd name="T54" fmla="*/ 4 w 4"/>
                <a:gd name="T55" fmla="*/ 11 h 23"/>
                <a:gd name="T56" fmla="*/ 4 w 4"/>
                <a:gd name="T57" fmla="*/ 11 h 23"/>
                <a:gd name="T58" fmla="*/ 4 w 4"/>
                <a:gd name="T59" fmla="*/ 11 h 23"/>
                <a:gd name="T60" fmla="*/ 4 w 4"/>
                <a:gd name="T61" fmla="*/ 11 h 23"/>
                <a:gd name="T62" fmla="*/ 4 w 4"/>
                <a:gd name="T63" fmla="*/ 11 h 23"/>
                <a:gd name="T64" fmla="*/ 4 w 4"/>
                <a:gd name="T65" fmla="*/ 11 h 23"/>
                <a:gd name="T66" fmla="*/ 4 w 4"/>
                <a:gd name="T67" fmla="*/ 11 h 23"/>
                <a:gd name="T68" fmla="*/ 4 w 4"/>
                <a:gd name="T69" fmla="*/ 11 h 23"/>
                <a:gd name="T70" fmla="*/ 4 w 4"/>
                <a:gd name="T71" fmla="*/ 17 h 23"/>
                <a:gd name="T72" fmla="*/ 4 w 4"/>
                <a:gd name="T73" fmla="*/ 17 h 23"/>
                <a:gd name="T74" fmla="*/ 4 w 4"/>
                <a:gd name="T75" fmla="*/ 17 h 23"/>
                <a:gd name="T76" fmla="*/ 4 w 4"/>
                <a:gd name="T77" fmla="*/ 17 h 23"/>
                <a:gd name="T78" fmla="*/ 4 w 4"/>
                <a:gd name="T79" fmla="*/ 17 h 23"/>
                <a:gd name="T80" fmla="*/ 4 w 4"/>
                <a:gd name="T81" fmla="*/ 17 h 23"/>
                <a:gd name="T82" fmla="*/ 4 w 4"/>
                <a:gd name="T83" fmla="*/ 17 h 23"/>
                <a:gd name="T84" fmla="*/ 4 w 4"/>
                <a:gd name="T85" fmla="*/ 17 h 23"/>
                <a:gd name="T86" fmla="*/ 4 w 4"/>
                <a:gd name="T87" fmla="*/ 17 h 23"/>
                <a:gd name="T88" fmla="*/ 4 w 4"/>
                <a:gd name="T89" fmla="*/ 17 h 23"/>
                <a:gd name="T90" fmla="*/ 4 w 4"/>
                <a:gd name="T91" fmla="*/ 17 h 23"/>
                <a:gd name="T92" fmla="*/ 4 w 4"/>
                <a:gd name="T93" fmla="*/ 17 h 23"/>
                <a:gd name="T94" fmla="*/ 4 w 4"/>
                <a:gd name="T95" fmla="*/ 17 h 23"/>
                <a:gd name="T96" fmla="*/ 4 w 4"/>
                <a:gd name="T97" fmla="*/ 17 h 23"/>
                <a:gd name="T98" fmla="*/ 4 w 4"/>
                <a:gd name="T99" fmla="*/ 17 h 23"/>
                <a:gd name="T100" fmla="*/ 4 w 4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4" y="5"/>
                  </a:lnTo>
                  <a:lnTo>
                    <a:pt x="4" y="11"/>
                  </a:lnTo>
                  <a:lnTo>
                    <a:pt x="4" y="17"/>
                  </a:lnTo>
                  <a:lnTo>
                    <a:pt x="4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99" name="Freeform 216"/>
            <p:cNvSpPr>
              <a:spLocks/>
            </p:cNvSpPr>
            <p:nvPr/>
          </p:nvSpPr>
          <p:spPr bwMode="auto">
            <a:xfrm>
              <a:off x="5468" y="3000"/>
              <a:ext cx="10" cy="17"/>
            </a:xfrm>
            <a:custGeom>
              <a:avLst/>
              <a:gdLst>
                <a:gd name="T0" fmla="*/ 0 w 10"/>
                <a:gd name="T1" fmla="*/ 0 h 17"/>
                <a:gd name="T2" fmla="*/ 0 w 10"/>
                <a:gd name="T3" fmla="*/ 0 h 17"/>
                <a:gd name="T4" fmla="*/ 0 w 10"/>
                <a:gd name="T5" fmla="*/ 0 h 17"/>
                <a:gd name="T6" fmla="*/ 0 w 10"/>
                <a:gd name="T7" fmla="*/ 0 h 17"/>
                <a:gd name="T8" fmla="*/ 0 w 10"/>
                <a:gd name="T9" fmla="*/ 0 h 17"/>
                <a:gd name="T10" fmla="*/ 0 w 10"/>
                <a:gd name="T11" fmla="*/ 0 h 17"/>
                <a:gd name="T12" fmla="*/ 5 w 10"/>
                <a:gd name="T13" fmla="*/ 0 h 17"/>
                <a:gd name="T14" fmla="*/ 5 w 10"/>
                <a:gd name="T15" fmla="*/ 0 h 17"/>
                <a:gd name="T16" fmla="*/ 5 w 10"/>
                <a:gd name="T17" fmla="*/ 0 h 17"/>
                <a:gd name="T18" fmla="*/ 5 w 10"/>
                <a:gd name="T19" fmla="*/ 0 h 17"/>
                <a:gd name="T20" fmla="*/ 5 w 10"/>
                <a:gd name="T21" fmla="*/ 0 h 17"/>
                <a:gd name="T22" fmla="*/ 5 w 10"/>
                <a:gd name="T23" fmla="*/ 0 h 17"/>
                <a:gd name="T24" fmla="*/ 5 w 10"/>
                <a:gd name="T25" fmla="*/ 0 h 17"/>
                <a:gd name="T26" fmla="*/ 5 w 10"/>
                <a:gd name="T27" fmla="*/ 0 h 17"/>
                <a:gd name="T28" fmla="*/ 5 w 10"/>
                <a:gd name="T29" fmla="*/ 5 h 17"/>
                <a:gd name="T30" fmla="*/ 5 w 10"/>
                <a:gd name="T31" fmla="*/ 5 h 17"/>
                <a:gd name="T32" fmla="*/ 5 w 10"/>
                <a:gd name="T33" fmla="*/ 5 h 17"/>
                <a:gd name="T34" fmla="*/ 5 w 10"/>
                <a:gd name="T35" fmla="*/ 5 h 17"/>
                <a:gd name="T36" fmla="*/ 5 w 10"/>
                <a:gd name="T37" fmla="*/ 5 h 17"/>
                <a:gd name="T38" fmla="*/ 5 w 10"/>
                <a:gd name="T39" fmla="*/ 5 h 17"/>
                <a:gd name="T40" fmla="*/ 5 w 10"/>
                <a:gd name="T41" fmla="*/ 5 h 17"/>
                <a:gd name="T42" fmla="*/ 5 w 10"/>
                <a:gd name="T43" fmla="*/ 5 h 17"/>
                <a:gd name="T44" fmla="*/ 5 w 10"/>
                <a:gd name="T45" fmla="*/ 5 h 17"/>
                <a:gd name="T46" fmla="*/ 5 w 10"/>
                <a:gd name="T47" fmla="*/ 5 h 17"/>
                <a:gd name="T48" fmla="*/ 5 w 10"/>
                <a:gd name="T49" fmla="*/ 5 h 17"/>
                <a:gd name="T50" fmla="*/ 5 w 10"/>
                <a:gd name="T51" fmla="*/ 5 h 17"/>
                <a:gd name="T52" fmla="*/ 5 w 10"/>
                <a:gd name="T53" fmla="*/ 5 h 17"/>
                <a:gd name="T54" fmla="*/ 5 w 10"/>
                <a:gd name="T55" fmla="*/ 5 h 17"/>
                <a:gd name="T56" fmla="*/ 5 w 10"/>
                <a:gd name="T57" fmla="*/ 11 h 17"/>
                <a:gd name="T58" fmla="*/ 5 w 10"/>
                <a:gd name="T59" fmla="*/ 11 h 17"/>
                <a:gd name="T60" fmla="*/ 5 w 10"/>
                <a:gd name="T61" fmla="*/ 11 h 17"/>
                <a:gd name="T62" fmla="*/ 5 w 10"/>
                <a:gd name="T63" fmla="*/ 11 h 17"/>
                <a:gd name="T64" fmla="*/ 5 w 10"/>
                <a:gd name="T65" fmla="*/ 11 h 17"/>
                <a:gd name="T66" fmla="*/ 5 w 10"/>
                <a:gd name="T67" fmla="*/ 11 h 17"/>
                <a:gd name="T68" fmla="*/ 5 w 10"/>
                <a:gd name="T69" fmla="*/ 11 h 17"/>
                <a:gd name="T70" fmla="*/ 5 w 10"/>
                <a:gd name="T71" fmla="*/ 11 h 17"/>
                <a:gd name="T72" fmla="*/ 5 w 10"/>
                <a:gd name="T73" fmla="*/ 11 h 17"/>
                <a:gd name="T74" fmla="*/ 5 w 10"/>
                <a:gd name="T75" fmla="*/ 11 h 17"/>
                <a:gd name="T76" fmla="*/ 5 w 10"/>
                <a:gd name="T77" fmla="*/ 11 h 17"/>
                <a:gd name="T78" fmla="*/ 5 w 10"/>
                <a:gd name="T79" fmla="*/ 11 h 17"/>
                <a:gd name="T80" fmla="*/ 5 w 10"/>
                <a:gd name="T81" fmla="*/ 11 h 17"/>
                <a:gd name="T82" fmla="*/ 5 w 10"/>
                <a:gd name="T83" fmla="*/ 11 h 17"/>
                <a:gd name="T84" fmla="*/ 5 w 10"/>
                <a:gd name="T85" fmla="*/ 17 h 17"/>
                <a:gd name="T86" fmla="*/ 5 w 10"/>
                <a:gd name="T87" fmla="*/ 17 h 17"/>
                <a:gd name="T88" fmla="*/ 5 w 10"/>
                <a:gd name="T89" fmla="*/ 17 h 17"/>
                <a:gd name="T90" fmla="*/ 5 w 10"/>
                <a:gd name="T91" fmla="*/ 17 h 17"/>
                <a:gd name="T92" fmla="*/ 10 w 10"/>
                <a:gd name="T93" fmla="*/ 17 h 17"/>
                <a:gd name="T94" fmla="*/ 10 w 10"/>
                <a:gd name="T95" fmla="*/ 17 h 17"/>
                <a:gd name="T96" fmla="*/ 10 w 10"/>
                <a:gd name="T97" fmla="*/ 17 h 17"/>
                <a:gd name="T98" fmla="*/ 10 w 10"/>
                <a:gd name="T99" fmla="*/ 17 h 17"/>
                <a:gd name="T100" fmla="*/ 10 w 10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17"/>
                <a:gd name="T155" fmla="*/ 10 w 10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17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10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0" name="Freeform 217"/>
            <p:cNvSpPr>
              <a:spLocks/>
            </p:cNvSpPr>
            <p:nvPr/>
          </p:nvSpPr>
          <p:spPr bwMode="auto">
            <a:xfrm>
              <a:off x="5478" y="3017"/>
              <a:ext cx="5" cy="22"/>
            </a:xfrm>
            <a:custGeom>
              <a:avLst/>
              <a:gdLst>
                <a:gd name="T0" fmla="*/ 0 w 5"/>
                <a:gd name="T1" fmla="*/ 0 h 22"/>
                <a:gd name="T2" fmla="*/ 0 w 5"/>
                <a:gd name="T3" fmla="*/ 0 h 22"/>
                <a:gd name="T4" fmla="*/ 0 w 5"/>
                <a:gd name="T5" fmla="*/ 0 h 22"/>
                <a:gd name="T6" fmla="*/ 0 w 5"/>
                <a:gd name="T7" fmla="*/ 0 h 22"/>
                <a:gd name="T8" fmla="*/ 0 w 5"/>
                <a:gd name="T9" fmla="*/ 0 h 22"/>
                <a:gd name="T10" fmla="*/ 0 w 5"/>
                <a:gd name="T11" fmla="*/ 5 h 22"/>
                <a:gd name="T12" fmla="*/ 0 w 5"/>
                <a:gd name="T13" fmla="*/ 5 h 22"/>
                <a:gd name="T14" fmla="*/ 0 w 5"/>
                <a:gd name="T15" fmla="*/ 5 h 22"/>
                <a:gd name="T16" fmla="*/ 0 w 5"/>
                <a:gd name="T17" fmla="*/ 5 h 22"/>
                <a:gd name="T18" fmla="*/ 0 w 5"/>
                <a:gd name="T19" fmla="*/ 5 h 22"/>
                <a:gd name="T20" fmla="*/ 0 w 5"/>
                <a:gd name="T21" fmla="*/ 5 h 22"/>
                <a:gd name="T22" fmla="*/ 0 w 5"/>
                <a:gd name="T23" fmla="*/ 5 h 22"/>
                <a:gd name="T24" fmla="*/ 0 w 5"/>
                <a:gd name="T25" fmla="*/ 5 h 22"/>
                <a:gd name="T26" fmla="*/ 0 w 5"/>
                <a:gd name="T27" fmla="*/ 5 h 22"/>
                <a:gd name="T28" fmla="*/ 0 w 5"/>
                <a:gd name="T29" fmla="*/ 5 h 22"/>
                <a:gd name="T30" fmla="*/ 0 w 5"/>
                <a:gd name="T31" fmla="*/ 5 h 22"/>
                <a:gd name="T32" fmla="*/ 0 w 5"/>
                <a:gd name="T33" fmla="*/ 5 h 22"/>
                <a:gd name="T34" fmla="*/ 0 w 5"/>
                <a:gd name="T35" fmla="*/ 5 h 22"/>
                <a:gd name="T36" fmla="*/ 0 w 5"/>
                <a:gd name="T37" fmla="*/ 11 h 22"/>
                <a:gd name="T38" fmla="*/ 0 w 5"/>
                <a:gd name="T39" fmla="*/ 11 h 22"/>
                <a:gd name="T40" fmla="*/ 0 w 5"/>
                <a:gd name="T41" fmla="*/ 11 h 22"/>
                <a:gd name="T42" fmla="*/ 0 w 5"/>
                <a:gd name="T43" fmla="*/ 11 h 22"/>
                <a:gd name="T44" fmla="*/ 0 w 5"/>
                <a:gd name="T45" fmla="*/ 11 h 22"/>
                <a:gd name="T46" fmla="*/ 0 w 5"/>
                <a:gd name="T47" fmla="*/ 11 h 22"/>
                <a:gd name="T48" fmla="*/ 0 w 5"/>
                <a:gd name="T49" fmla="*/ 11 h 22"/>
                <a:gd name="T50" fmla="*/ 0 w 5"/>
                <a:gd name="T51" fmla="*/ 11 h 22"/>
                <a:gd name="T52" fmla="*/ 0 w 5"/>
                <a:gd name="T53" fmla="*/ 11 h 22"/>
                <a:gd name="T54" fmla="*/ 0 w 5"/>
                <a:gd name="T55" fmla="*/ 11 h 22"/>
                <a:gd name="T56" fmla="*/ 0 w 5"/>
                <a:gd name="T57" fmla="*/ 11 h 22"/>
                <a:gd name="T58" fmla="*/ 0 w 5"/>
                <a:gd name="T59" fmla="*/ 11 h 22"/>
                <a:gd name="T60" fmla="*/ 0 w 5"/>
                <a:gd name="T61" fmla="*/ 11 h 22"/>
                <a:gd name="T62" fmla="*/ 0 w 5"/>
                <a:gd name="T63" fmla="*/ 17 h 22"/>
                <a:gd name="T64" fmla="*/ 0 w 5"/>
                <a:gd name="T65" fmla="*/ 17 h 22"/>
                <a:gd name="T66" fmla="*/ 0 w 5"/>
                <a:gd name="T67" fmla="*/ 17 h 22"/>
                <a:gd name="T68" fmla="*/ 0 w 5"/>
                <a:gd name="T69" fmla="*/ 17 h 22"/>
                <a:gd name="T70" fmla="*/ 0 w 5"/>
                <a:gd name="T71" fmla="*/ 17 h 22"/>
                <a:gd name="T72" fmla="*/ 0 w 5"/>
                <a:gd name="T73" fmla="*/ 17 h 22"/>
                <a:gd name="T74" fmla="*/ 5 w 5"/>
                <a:gd name="T75" fmla="*/ 17 h 22"/>
                <a:gd name="T76" fmla="*/ 5 w 5"/>
                <a:gd name="T77" fmla="*/ 17 h 22"/>
                <a:gd name="T78" fmla="*/ 5 w 5"/>
                <a:gd name="T79" fmla="*/ 17 h 22"/>
                <a:gd name="T80" fmla="*/ 5 w 5"/>
                <a:gd name="T81" fmla="*/ 17 h 22"/>
                <a:gd name="T82" fmla="*/ 5 w 5"/>
                <a:gd name="T83" fmla="*/ 17 h 22"/>
                <a:gd name="T84" fmla="*/ 5 w 5"/>
                <a:gd name="T85" fmla="*/ 17 h 22"/>
                <a:gd name="T86" fmla="*/ 5 w 5"/>
                <a:gd name="T87" fmla="*/ 17 h 22"/>
                <a:gd name="T88" fmla="*/ 5 w 5"/>
                <a:gd name="T89" fmla="*/ 22 h 22"/>
                <a:gd name="T90" fmla="*/ 5 w 5"/>
                <a:gd name="T91" fmla="*/ 22 h 22"/>
                <a:gd name="T92" fmla="*/ 5 w 5"/>
                <a:gd name="T93" fmla="*/ 22 h 22"/>
                <a:gd name="T94" fmla="*/ 5 w 5"/>
                <a:gd name="T95" fmla="*/ 22 h 22"/>
                <a:gd name="T96" fmla="*/ 5 w 5"/>
                <a:gd name="T97" fmla="*/ 22 h 22"/>
                <a:gd name="T98" fmla="*/ 5 w 5"/>
                <a:gd name="T99" fmla="*/ 22 h 22"/>
                <a:gd name="T100" fmla="*/ 5 w 5"/>
                <a:gd name="T101" fmla="*/ 22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2"/>
                <a:gd name="T155" fmla="*/ 5 w 5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2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2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1" name="Freeform 218"/>
            <p:cNvSpPr>
              <a:spLocks/>
            </p:cNvSpPr>
            <p:nvPr/>
          </p:nvSpPr>
          <p:spPr bwMode="auto">
            <a:xfrm>
              <a:off x="5483" y="3039"/>
              <a:ext cx="4" cy="23"/>
            </a:xfrm>
            <a:custGeom>
              <a:avLst/>
              <a:gdLst>
                <a:gd name="T0" fmla="*/ 0 w 4"/>
                <a:gd name="T1" fmla="*/ 0 h 23"/>
                <a:gd name="T2" fmla="*/ 0 w 4"/>
                <a:gd name="T3" fmla="*/ 0 h 23"/>
                <a:gd name="T4" fmla="*/ 0 w 4"/>
                <a:gd name="T5" fmla="*/ 0 h 23"/>
                <a:gd name="T6" fmla="*/ 0 w 4"/>
                <a:gd name="T7" fmla="*/ 0 h 23"/>
                <a:gd name="T8" fmla="*/ 0 w 4"/>
                <a:gd name="T9" fmla="*/ 0 h 23"/>
                <a:gd name="T10" fmla="*/ 0 w 4"/>
                <a:gd name="T11" fmla="*/ 0 h 23"/>
                <a:gd name="T12" fmla="*/ 0 w 4"/>
                <a:gd name="T13" fmla="*/ 6 h 23"/>
                <a:gd name="T14" fmla="*/ 0 w 4"/>
                <a:gd name="T15" fmla="*/ 6 h 23"/>
                <a:gd name="T16" fmla="*/ 0 w 4"/>
                <a:gd name="T17" fmla="*/ 6 h 23"/>
                <a:gd name="T18" fmla="*/ 0 w 4"/>
                <a:gd name="T19" fmla="*/ 6 h 23"/>
                <a:gd name="T20" fmla="*/ 0 w 4"/>
                <a:gd name="T21" fmla="*/ 6 h 23"/>
                <a:gd name="T22" fmla="*/ 0 w 4"/>
                <a:gd name="T23" fmla="*/ 6 h 23"/>
                <a:gd name="T24" fmla="*/ 0 w 4"/>
                <a:gd name="T25" fmla="*/ 6 h 23"/>
                <a:gd name="T26" fmla="*/ 0 w 4"/>
                <a:gd name="T27" fmla="*/ 6 h 23"/>
                <a:gd name="T28" fmla="*/ 0 w 4"/>
                <a:gd name="T29" fmla="*/ 6 h 23"/>
                <a:gd name="T30" fmla="*/ 0 w 4"/>
                <a:gd name="T31" fmla="*/ 6 h 23"/>
                <a:gd name="T32" fmla="*/ 0 w 4"/>
                <a:gd name="T33" fmla="*/ 6 h 23"/>
                <a:gd name="T34" fmla="*/ 0 w 4"/>
                <a:gd name="T35" fmla="*/ 6 h 23"/>
                <a:gd name="T36" fmla="*/ 0 w 4"/>
                <a:gd name="T37" fmla="*/ 6 h 23"/>
                <a:gd name="T38" fmla="*/ 0 w 4"/>
                <a:gd name="T39" fmla="*/ 12 h 23"/>
                <a:gd name="T40" fmla="*/ 0 w 4"/>
                <a:gd name="T41" fmla="*/ 12 h 23"/>
                <a:gd name="T42" fmla="*/ 0 w 4"/>
                <a:gd name="T43" fmla="*/ 12 h 23"/>
                <a:gd name="T44" fmla="*/ 0 w 4"/>
                <a:gd name="T45" fmla="*/ 12 h 23"/>
                <a:gd name="T46" fmla="*/ 0 w 4"/>
                <a:gd name="T47" fmla="*/ 12 h 23"/>
                <a:gd name="T48" fmla="*/ 0 w 4"/>
                <a:gd name="T49" fmla="*/ 12 h 23"/>
                <a:gd name="T50" fmla="*/ 0 w 4"/>
                <a:gd name="T51" fmla="*/ 12 h 23"/>
                <a:gd name="T52" fmla="*/ 0 w 4"/>
                <a:gd name="T53" fmla="*/ 12 h 23"/>
                <a:gd name="T54" fmla="*/ 4 w 4"/>
                <a:gd name="T55" fmla="*/ 12 h 23"/>
                <a:gd name="T56" fmla="*/ 4 w 4"/>
                <a:gd name="T57" fmla="*/ 12 h 23"/>
                <a:gd name="T58" fmla="*/ 4 w 4"/>
                <a:gd name="T59" fmla="*/ 12 h 23"/>
                <a:gd name="T60" fmla="*/ 4 w 4"/>
                <a:gd name="T61" fmla="*/ 12 h 23"/>
                <a:gd name="T62" fmla="*/ 4 w 4"/>
                <a:gd name="T63" fmla="*/ 17 h 23"/>
                <a:gd name="T64" fmla="*/ 4 w 4"/>
                <a:gd name="T65" fmla="*/ 17 h 23"/>
                <a:gd name="T66" fmla="*/ 4 w 4"/>
                <a:gd name="T67" fmla="*/ 17 h 23"/>
                <a:gd name="T68" fmla="*/ 4 w 4"/>
                <a:gd name="T69" fmla="*/ 17 h 23"/>
                <a:gd name="T70" fmla="*/ 4 w 4"/>
                <a:gd name="T71" fmla="*/ 17 h 23"/>
                <a:gd name="T72" fmla="*/ 4 w 4"/>
                <a:gd name="T73" fmla="*/ 17 h 23"/>
                <a:gd name="T74" fmla="*/ 4 w 4"/>
                <a:gd name="T75" fmla="*/ 17 h 23"/>
                <a:gd name="T76" fmla="*/ 4 w 4"/>
                <a:gd name="T77" fmla="*/ 17 h 23"/>
                <a:gd name="T78" fmla="*/ 4 w 4"/>
                <a:gd name="T79" fmla="*/ 17 h 23"/>
                <a:gd name="T80" fmla="*/ 4 w 4"/>
                <a:gd name="T81" fmla="*/ 17 h 23"/>
                <a:gd name="T82" fmla="*/ 4 w 4"/>
                <a:gd name="T83" fmla="*/ 17 h 23"/>
                <a:gd name="T84" fmla="*/ 4 w 4"/>
                <a:gd name="T85" fmla="*/ 17 h 23"/>
                <a:gd name="T86" fmla="*/ 4 w 4"/>
                <a:gd name="T87" fmla="*/ 23 h 23"/>
                <a:gd name="T88" fmla="*/ 4 w 4"/>
                <a:gd name="T89" fmla="*/ 23 h 23"/>
                <a:gd name="T90" fmla="*/ 4 w 4"/>
                <a:gd name="T91" fmla="*/ 23 h 23"/>
                <a:gd name="T92" fmla="*/ 4 w 4"/>
                <a:gd name="T93" fmla="*/ 23 h 23"/>
                <a:gd name="T94" fmla="*/ 4 w 4"/>
                <a:gd name="T95" fmla="*/ 23 h 23"/>
                <a:gd name="T96" fmla="*/ 4 w 4"/>
                <a:gd name="T97" fmla="*/ 23 h 23"/>
                <a:gd name="T98" fmla="*/ 4 w 4"/>
                <a:gd name="T99" fmla="*/ 23 h 23"/>
                <a:gd name="T100" fmla="*/ 4 w 4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4" y="17"/>
                  </a:lnTo>
                  <a:lnTo>
                    <a:pt x="4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2" name="Freeform 219"/>
            <p:cNvSpPr>
              <a:spLocks/>
            </p:cNvSpPr>
            <p:nvPr/>
          </p:nvSpPr>
          <p:spPr bwMode="auto">
            <a:xfrm>
              <a:off x="5487" y="3062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0 h 23"/>
                <a:gd name="T10" fmla="*/ 0 w 5"/>
                <a:gd name="T11" fmla="*/ 6 h 23"/>
                <a:gd name="T12" fmla="*/ 0 w 5"/>
                <a:gd name="T13" fmla="*/ 6 h 23"/>
                <a:gd name="T14" fmla="*/ 0 w 5"/>
                <a:gd name="T15" fmla="*/ 6 h 23"/>
                <a:gd name="T16" fmla="*/ 0 w 5"/>
                <a:gd name="T17" fmla="*/ 6 h 23"/>
                <a:gd name="T18" fmla="*/ 0 w 5"/>
                <a:gd name="T19" fmla="*/ 6 h 23"/>
                <a:gd name="T20" fmla="*/ 0 w 5"/>
                <a:gd name="T21" fmla="*/ 6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0 w 5"/>
                <a:gd name="T31" fmla="*/ 6 h 23"/>
                <a:gd name="T32" fmla="*/ 0 w 5"/>
                <a:gd name="T33" fmla="*/ 6 h 23"/>
                <a:gd name="T34" fmla="*/ 0 w 5"/>
                <a:gd name="T35" fmla="*/ 12 h 23"/>
                <a:gd name="T36" fmla="*/ 5 w 5"/>
                <a:gd name="T37" fmla="*/ 12 h 23"/>
                <a:gd name="T38" fmla="*/ 5 w 5"/>
                <a:gd name="T39" fmla="*/ 12 h 23"/>
                <a:gd name="T40" fmla="*/ 5 w 5"/>
                <a:gd name="T41" fmla="*/ 12 h 23"/>
                <a:gd name="T42" fmla="*/ 5 w 5"/>
                <a:gd name="T43" fmla="*/ 12 h 23"/>
                <a:gd name="T44" fmla="*/ 5 w 5"/>
                <a:gd name="T45" fmla="*/ 12 h 23"/>
                <a:gd name="T46" fmla="*/ 5 w 5"/>
                <a:gd name="T47" fmla="*/ 12 h 23"/>
                <a:gd name="T48" fmla="*/ 5 w 5"/>
                <a:gd name="T49" fmla="*/ 12 h 23"/>
                <a:gd name="T50" fmla="*/ 5 w 5"/>
                <a:gd name="T51" fmla="*/ 12 h 23"/>
                <a:gd name="T52" fmla="*/ 5 w 5"/>
                <a:gd name="T53" fmla="*/ 12 h 23"/>
                <a:gd name="T54" fmla="*/ 5 w 5"/>
                <a:gd name="T55" fmla="*/ 12 h 23"/>
                <a:gd name="T56" fmla="*/ 5 w 5"/>
                <a:gd name="T57" fmla="*/ 12 h 23"/>
                <a:gd name="T58" fmla="*/ 5 w 5"/>
                <a:gd name="T59" fmla="*/ 17 h 23"/>
                <a:gd name="T60" fmla="*/ 5 w 5"/>
                <a:gd name="T61" fmla="*/ 17 h 23"/>
                <a:gd name="T62" fmla="*/ 5 w 5"/>
                <a:gd name="T63" fmla="*/ 17 h 23"/>
                <a:gd name="T64" fmla="*/ 5 w 5"/>
                <a:gd name="T65" fmla="*/ 17 h 23"/>
                <a:gd name="T66" fmla="*/ 5 w 5"/>
                <a:gd name="T67" fmla="*/ 17 h 23"/>
                <a:gd name="T68" fmla="*/ 5 w 5"/>
                <a:gd name="T69" fmla="*/ 17 h 23"/>
                <a:gd name="T70" fmla="*/ 5 w 5"/>
                <a:gd name="T71" fmla="*/ 17 h 23"/>
                <a:gd name="T72" fmla="*/ 5 w 5"/>
                <a:gd name="T73" fmla="*/ 17 h 23"/>
                <a:gd name="T74" fmla="*/ 5 w 5"/>
                <a:gd name="T75" fmla="*/ 17 h 23"/>
                <a:gd name="T76" fmla="*/ 5 w 5"/>
                <a:gd name="T77" fmla="*/ 17 h 23"/>
                <a:gd name="T78" fmla="*/ 5 w 5"/>
                <a:gd name="T79" fmla="*/ 17 h 23"/>
                <a:gd name="T80" fmla="*/ 5 w 5"/>
                <a:gd name="T81" fmla="*/ 17 h 23"/>
                <a:gd name="T82" fmla="*/ 5 w 5"/>
                <a:gd name="T83" fmla="*/ 23 h 23"/>
                <a:gd name="T84" fmla="*/ 5 w 5"/>
                <a:gd name="T85" fmla="*/ 23 h 23"/>
                <a:gd name="T86" fmla="*/ 5 w 5"/>
                <a:gd name="T87" fmla="*/ 23 h 23"/>
                <a:gd name="T88" fmla="*/ 5 w 5"/>
                <a:gd name="T89" fmla="*/ 23 h 23"/>
                <a:gd name="T90" fmla="*/ 5 w 5"/>
                <a:gd name="T91" fmla="*/ 23 h 23"/>
                <a:gd name="T92" fmla="*/ 5 w 5"/>
                <a:gd name="T93" fmla="*/ 23 h 23"/>
                <a:gd name="T94" fmla="*/ 5 w 5"/>
                <a:gd name="T95" fmla="*/ 23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3" name="Freeform 220"/>
            <p:cNvSpPr>
              <a:spLocks/>
            </p:cNvSpPr>
            <p:nvPr/>
          </p:nvSpPr>
          <p:spPr bwMode="auto">
            <a:xfrm>
              <a:off x="5492" y="3085"/>
              <a:ext cx="10" cy="28"/>
            </a:xfrm>
            <a:custGeom>
              <a:avLst/>
              <a:gdLst>
                <a:gd name="T0" fmla="*/ 0 w 10"/>
                <a:gd name="T1" fmla="*/ 0 h 28"/>
                <a:gd name="T2" fmla="*/ 0 w 10"/>
                <a:gd name="T3" fmla="*/ 0 h 28"/>
                <a:gd name="T4" fmla="*/ 0 w 10"/>
                <a:gd name="T5" fmla="*/ 0 h 28"/>
                <a:gd name="T6" fmla="*/ 0 w 10"/>
                <a:gd name="T7" fmla="*/ 6 h 28"/>
                <a:gd name="T8" fmla="*/ 0 w 10"/>
                <a:gd name="T9" fmla="*/ 6 h 28"/>
                <a:gd name="T10" fmla="*/ 0 w 10"/>
                <a:gd name="T11" fmla="*/ 6 h 28"/>
                <a:gd name="T12" fmla="*/ 0 w 10"/>
                <a:gd name="T13" fmla="*/ 6 h 28"/>
                <a:gd name="T14" fmla="*/ 0 w 10"/>
                <a:gd name="T15" fmla="*/ 6 h 28"/>
                <a:gd name="T16" fmla="*/ 0 w 10"/>
                <a:gd name="T17" fmla="*/ 6 h 28"/>
                <a:gd name="T18" fmla="*/ 5 w 10"/>
                <a:gd name="T19" fmla="*/ 6 h 28"/>
                <a:gd name="T20" fmla="*/ 5 w 10"/>
                <a:gd name="T21" fmla="*/ 6 h 28"/>
                <a:gd name="T22" fmla="*/ 5 w 10"/>
                <a:gd name="T23" fmla="*/ 6 h 28"/>
                <a:gd name="T24" fmla="*/ 5 w 10"/>
                <a:gd name="T25" fmla="*/ 6 h 28"/>
                <a:gd name="T26" fmla="*/ 5 w 10"/>
                <a:gd name="T27" fmla="*/ 6 h 28"/>
                <a:gd name="T28" fmla="*/ 5 w 10"/>
                <a:gd name="T29" fmla="*/ 11 h 28"/>
                <a:gd name="T30" fmla="*/ 5 w 10"/>
                <a:gd name="T31" fmla="*/ 11 h 28"/>
                <a:gd name="T32" fmla="*/ 5 w 10"/>
                <a:gd name="T33" fmla="*/ 11 h 28"/>
                <a:gd name="T34" fmla="*/ 5 w 10"/>
                <a:gd name="T35" fmla="*/ 11 h 28"/>
                <a:gd name="T36" fmla="*/ 5 w 10"/>
                <a:gd name="T37" fmla="*/ 11 h 28"/>
                <a:gd name="T38" fmla="*/ 5 w 10"/>
                <a:gd name="T39" fmla="*/ 11 h 28"/>
                <a:gd name="T40" fmla="*/ 5 w 10"/>
                <a:gd name="T41" fmla="*/ 11 h 28"/>
                <a:gd name="T42" fmla="*/ 5 w 10"/>
                <a:gd name="T43" fmla="*/ 11 h 28"/>
                <a:gd name="T44" fmla="*/ 5 w 10"/>
                <a:gd name="T45" fmla="*/ 11 h 28"/>
                <a:gd name="T46" fmla="*/ 5 w 10"/>
                <a:gd name="T47" fmla="*/ 11 h 28"/>
                <a:gd name="T48" fmla="*/ 5 w 10"/>
                <a:gd name="T49" fmla="*/ 11 h 28"/>
                <a:gd name="T50" fmla="*/ 5 w 10"/>
                <a:gd name="T51" fmla="*/ 11 h 28"/>
                <a:gd name="T52" fmla="*/ 5 w 10"/>
                <a:gd name="T53" fmla="*/ 17 h 28"/>
                <a:gd name="T54" fmla="*/ 5 w 10"/>
                <a:gd name="T55" fmla="*/ 17 h 28"/>
                <a:gd name="T56" fmla="*/ 5 w 10"/>
                <a:gd name="T57" fmla="*/ 17 h 28"/>
                <a:gd name="T58" fmla="*/ 5 w 10"/>
                <a:gd name="T59" fmla="*/ 17 h 28"/>
                <a:gd name="T60" fmla="*/ 5 w 10"/>
                <a:gd name="T61" fmla="*/ 17 h 28"/>
                <a:gd name="T62" fmla="*/ 5 w 10"/>
                <a:gd name="T63" fmla="*/ 17 h 28"/>
                <a:gd name="T64" fmla="*/ 5 w 10"/>
                <a:gd name="T65" fmla="*/ 17 h 28"/>
                <a:gd name="T66" fmla="*/ 5 w 10"/>
                <a:gd name="T67" fmla="*/ 17 h 28"/>
                <a:gd name="T68" fmla="*/ 5 w 10"/>
                <a:gd name="T69" fmla="*/ 17 h 28"/>
                <a:gd name="T70" fmla="*/ 5 w 10"/>
                <a:gd name="T71" fmla="*/ 17 h 28"/>
                <a:gd name="T72" fmla="*/ 5 w 10"/>
                <a:gd name="T73" fmla="*/ 17 h 28"/>
                <a:gd name="T74" fmla="*/ 5 w 10"/>
                <a:gd name="T75" fmla="*/ 23 h 28"/>
                <a:gd name="T76" fmla="*/ 5 w 10"/>
                <a:gd name="T77" fmla="*/ 23 h 28"/>
                <a:gd name="T78" fmla="*/ 5 w 10"/>
                <a:gd name="T79" fmla="*/ 23 h 28"/>
                <a:gd name="T80" fmla="*/ 5 w 10"/>
                <a:gd name="T81" fmla="*/ 23 h 28"/>
                <a:gd name="T82" fmla="*/ 5 w 10"/>
                <a:gd name="T83" fmla="*/ 23 h 28"/>
                <a:gd name="T84" fmla="*/ 5 w 10"/>
                <a:gd name="T85" fmla="*/ 23 h 28"/>
                <a:gd name="T86" fmla="*/ 5 w 10"/>
                <a:gd name="T87" fmla="*/ 23 h 28"/>
                <a:gd name="T88" fmla="*/ 5 w 10"/>
                <a:gd name="T89" fmla="*/ 23 h 28"/>
                <a:gd name="T90" fmla="*/ 5 w 10"/>
                <a:gd name="T91" fmla="*/ 23 h 28"/>
                <a:gd name="T92" fmla="*/ 5 w 10"/>
                <a:gd name="T93" fmla="*/ 23 h 28"/>
                <a:gd name="T94" fmla="*/ 5 w 10"/>
                <a:gd name="T95" fmla="*/ 23 h 28"/>
                <a:gd name="T96" fmla="*/ 5 w 10"/>
                <a:gd name="T97" fmla="*/ 23 h 28"/>
                <a:gd name="T98" fmla="*/ 10 w 10"/>
                <a:gd name="T99" fmla="*/ 28 h 28"/>
                <a:gd name="T100" fmla="*/ 10 w 10"/>
                <a:gd name="T101" fmla="*/ 28 h 2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8"/>
                <a:gd name="T155" fmla="*/ 10 w 10"/>
                <a:gd name="T156" fmla="*/ 28 h 2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8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5" y="23"/>
                  </a:lnTo>
                  <a:lnTo>
                    <a:pt x="10" y="28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4" name="Freeform 221"/>
            <p:cNvSpPr>
              <a:spLocks/>
            </p:cNvSpPr>
            <p:nvPr/>
          </p:nvSpPr>
          <p:spPr bwMode="auto">
            <a:xfrm>
              <a:off x="5502" y="3113"/>
              <a:ext cx="4" cy="23"/>
            </a:xfrm>
            <a:custGeom>
              <a:avLst/>
              <a:gdLst>
                <a:gd name="T0" fmla="*/ 0 w 4"/>
                <a:gd name="T1" fmla="*/ 0 h 23"/>
                <a:gd name="T2" fmla="*/ 0 w 4"/>
                <a:gd name="T3" fmla="*/ 0 h 23"/>
                <a:gd name="T4" fmla="*/ 0 w 4"/>
                <a:gd name="T5" fmla="*/ 0 h 23"/>
                <a:gd name="T6" fmla="*/ 0 w 4"/>
                <a:gd name="T7" fmla="*/ 0 h 23"/>
                <a:gd name="T8" fmla="*/ 0 w 4"/>
                <a:gd name="T9" fmla="*/ 0 h 23"/>
                <a:gd name="T10" fmla="*/ 0 w 4"/>
                <a:gd name="T11" fmla="*/ 0 h 23"/>
                <a:gd name="T12" fmla="*/ 0 w 4"/>
                <a:gd name="T13" fmla="*/ 0 h 23"/>
                <a:gd name="T14" fmla="*/ 0 w 4"/>
                <a:gd name="T15" fmla="*/ 0 h 23"/>
                <a:gd name="T16" fmla="*/ 0 w 4"/>
                <a:gd name="T17" fmla="*/ 0 h 23"/>
                <a:gd name="T18" fmla="*/ 0 w 4"/>
                <a:gd name="T19" fmla="*/ 0 h 23"/>
                <a:gd name="T20" fmla="*/ 0 w 4"/>
                <a:gd name="T21" fmla="*/ 0 h 23"/>
                <a:gd name="T22" fmla="*/ 0 w 4"/>
                <a:gd name="T23" fmla="*/ 6 h 23"/>
                <a:gd name="T24" fmla="*/ 0 w 4"/>
                <a:gd name="T25" fmla="*/ 6 h 23"/>
                <a:gd name="T26" fmla="*/ 0 w 4"/>
                <a:gd name="T27" fmla="*/ 6 h 23"/>
                <a:gd name="T28" fmla="*/ 0 w 4"/>
                <a:gd name="T29" fmla="*/ 6 h 23"/>
                <a:gd name="T30" fmla="*/ 0 w 4"/>
                <a:gd name="T31" fmla="*/ 6 h 23"/>
                <a:gd name="T32" fmla="*/ 0 w 4"/>
                <a:gd name="T33" fmla="*/ 6 h 23"/>
                <a:gd name="T34" fmla="*/ 0 w 4"/>
                <a:gd name="T35" fmla="*/ 6 h 23"/>
                <a:gd name="T36" fmla="*/ 0 w 4"/>
                <a:gd name="T37" fmla="*/ 6 h 23"/>
                <a:gd name="T38" fmla="*/ 0 w 4"/>
                <a:gd name="T39" fmla="*/ 6 h 23"/>
                <a:gd name="T40" fmla="*/ 0 w 4"/>
                <a:gd name="T41" fmla="*/ 6 h 23"/>
                <a:gd name="T42" fmla="*/ 0 w 4"/>
                <a:gd name="T43" fmla="*/ 6 h 23"/>
                <a:gd name="T44" fmla="*/ 0 w 4"/>
                <a:gd name="T45" fmla="*/ 12 h 23"/>
                <a:gd name="T46" fmla="*/ 0 w 4"/>
                <a:gd name="T47" fmla="*/ 12 h 23"/>
                <a:gd name="T48" fmla="*/ 0 w 4"/>
                <a:gd name="T49" fmla="*/ 12 h 23"/>
                <a:gd name="T50" fmla="*/ 0 w 4"/>
                <a:gd name="T51" fmla="*/ 12 h 23"/>
                <a:gd name="T52" fmla="*/ 0 w 4"/>
                <a:gd name="T53" fmla="*/ 12 h 23"/>
                <a:gd name="T54" fmla="*/ 0 w 4"/>
                <a:gd name="T55" fmla="*/ 12 h 23"/>
                <a:gd name="T56" fmla="*/ 0 w 4"/>
                <a:gd name="T57" fmla="*/ 12 h 23"/>
                <a:gd name="T58" fmla="*/ 0 w 4"/>
                <a:gd name="T59" fmla="*/ 12 h 23"/>
                <a:gd name="T60" fmla="*/ 0 w 4"/>
                <a:gd name="T61" fmla="*/ 12 h 23"/>
                <a:gd name="T62" fmla="*/ 0 w 4"/>
                <a:gd name="T63" fmla="*/ 12 h 23"/>
                <a:gd name="T64" fmla="*/ 0 w 4"/>
                <a:gd name="T65" fmla="*/ 12 h 23"/>
                <a:gd name="T66" fmla="*/ 0 w 4"/>
                <a:gd name="T67" fmla="*/ 12 h 23"/>
                <a:gd name="T68" fmla="*/ 0 w 4"/>
                <a:gd name="T69" fmla="*/ 17 h 23"/>
                <a:gd name="T70" fmla="*/ 0 w 4"/>
                <a:gd name="T71" fmla="*/ 17 h 23"/>
                <a:gd name="T72" fmla="*/ 0 w 4"/>
                <a:gd name="T73" fmla="*/ 17 h 23"/>
                <a:gd name="T74" fmla="*/ 0 w 4"/>
                <a:gd name="T75" fmla="*/ 17 h 23"/>
                <a:gd name="T76" fmla="*/ 0 w 4"/>
                <a:gd name="T77" fmla="*/ 17 h 23"/>
                <a:gd name="T78" fmla="*/ 0 w 4"/>
                <a:gd name="T79" fmla="*/ 17 h 23"/>
                <a:gd name="T80" fmla="*/ 4 w 4"/>
                <a:gd name="T81" fmla="*/ 17 h 23"/>
                <a:gd name="T82" fmla="*/ 4 w 4"/>
                <a:gd name="T83" fmla="*/ 17 h 23"/>
                <a:gd name="T84" fmla="*/ 4 w 4"/>
                <a:gd name="T85" fmla="*/ 17 h 23"/>
                <a:gd name="T86" fmla="*/ 4 w 4"/>
                <a:gd name="T87" fmla="*/ 17 h 23"/>
                <a:gd name="T88" fmla="*/ 4 w 4"/>
                <a:gd name="T89" fmla="*/ 17 h 23"/>
                <a:gd name="T90" fmla="*/ 4 w 4"/>
                <a:gd name="T91" fmla="*/ 23 h 23"/>
                <a:gd name="T92" fmla="*/ 4 w 4"/>
                <a:gd name="T93" fmla="*/ 23 h 23"/>
                <a:gd name="T94" fmla="*/ 4 w 4"/>
                <a:gd name="T95" fmla="*/ 23 h 23"/>
                <a:gd name="T96" fmla="*/ 4 w 4"/>
                <a:gd name="T97" fmla="*/ 23 h 23"/>
                <a:gd name="T98" fmla="*/ 4 w 4"/>
                <a:gd name="T99" fmla="*/ 23 h 23"/>
                <a:gd name="T100" fmla="*/ 4 w 4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4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5" name="Freeform 222"/>
            <p:cNvSpPr>
              <a:spLocks/>
            </p:cNvSpPr>
            <p:nvPr/>
          </p:nvSpPr>
          <p:spPr bwMode="auto">
            <a:xfrm>
              <a:off x="5506" y="3136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0 h 23"/>
                <a:gd name="T10" fmla="*/ 0 w 5"/>
                <a:gd name="T11" fmla="*/ 0 h 23"/>
                <a:gd name="T12" fmla="*/ 0 w 5"/>
                <a:gd name="T13" fmla="*/ 0 h 23"/>
                <a:gd name="T14" fmla="*/ 0 w 5"/>
                <a:gd name="T15" fmla="*/ 6 h 23"/>
                <a:gd name="T16" fmla="*/ 0 w 5"/>
                <a:gd name="T17" fmla="*/ 6 h 23"/>
                <a:gd name="T18" fmla="*/ 0 w 5"/>
                <a:gd name="T19" fmla="*/ 6 h 23"/>
                <a:gd name="T20" fmla="*/ 0 w 5"/>
                <a:gd name="T21" fmla="*/ 6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0 w 5"/>
                <a:gd name="T31" fmla="*/ 6 h 23"/>
                <a:gd name="T32" fmla="*/ 0 w 5"/>
                <a:gd name="T33" fmla="*/ 6 h 23"/>
                <a:gd name="T34" fmla="*/ 0 w 5"/>
                <a:gd name="T35" fmla="*/ 6 h 23"/>
                <a:gd name="T36" fmla="*/ 0 w 5"/>
                <a:gd name="T37" fmla="*/ 6 h 23"/>
                <a:gd name="T38" fmla="*/ 0 w 5"/>
                <a:gd name="T39" fmla="*/ 12 h 23"/>
                <a:gd name="T40" fmla="*/ 0 w 5"/>
                <a:gd name="T41" fmla="*/ 12 h 23"/>
                <a:gd name="T42" fmla="*/ 0 w 5"/>
                <a:gd name="T43" fmla="*/ 12 h 23"/>
                <a:gd name="T44" fmla="*/ 0 w 5"/>
                <a:gd name="T45" fmla="*/ 12 h 23"/>
                <a:gd name="T46" fmla="*/ 0 w 5"/>
                <a:gd name="T47" fmla="*/ 12 h 23"/>
                <a:gd name="T48" fmla="*/ 0 w 5"/>
                <a:gd name="T49" fmla="*/ 12 h 23"/>
                <a:gd name="T50" fmla="*/ 0 w 5"/>
                <a:gd name="T51" fmla="*/ 12 h 23"/>
                <a:gd name="T52" fmla="*/ 0 w 5"/>
                <a:gd name="T53" fmla="*/ 12 h 23"/>
                <a:gd name="T54" fmla="*/ 0 w 5"/>
                <a:gd name="T55" fmla="*/ 12 h 23"/>
                <a:gd name="T56" fmla="*/ 0 w 5"/>
                <a:gd name="T57" fmla="*/ 12 h 23"/>
                <a:gd name="T58" fmla="*/ 0 w 5"/>
                <a:gd name="T59" fmla="*/ 12 h 23"/>
                <a:gd name="T60" fmla="*/ 5 w 5"/>
                <a:gd name="T61" fmla="*/ 17 h 23"/>
                <a:gd name="T62" fmla="*/ 5 w 5"/>
                <a:gd name="T63" fmla="*/ 17 h 23"/>
                <a:gd name="T64" fmla="*/ 5 w 5"/>
                <a:gd name="T65" fmla="*/ 17 h 23"/>
                <a:gd name="T66" fmla="*/ 5 w 5"/>
                <a:gd name="T67" fmla="*/ 17 h 23"/>
                <a:gd name="T68" fmla="*/ 5 w 5"/>
                <a:gd name="T69" fmla="*/ 17 h 23"/>
                <a:gd name="T70" fmla="*/ 5 w 5"/>
                <a:gd name="T71" fmla="*/ 17 h 23"/>
                <a:gd name="T72" fmla="*/ 5 w 5"/>
                <a:gd name="T73" fmla="*/ 17 h 23"/>
                <a:gd name="T74" fmla="*/ 5 w 5"/>
                <a:gd name="T75" fmla="*/ 17 h 23"/>
                <a:gd name="T76" fmla="*/ 5 w 5"/>
                <a:gd name="T77" fmla="*/ 17 h 23"/>
                <a:gd name="T78" fmla="*/ 5 w 5"/>
                <a:gd name="T79" fmla="*/ 17 h 23"/>
                <a:gd name="T80" fmla="*/ 5 w 5"/>
                <a:gd name="T81" fmla="*/ 17 h 23"/>
                <a:gd name="T82" fmla="*/ 5 w 5"/>
                <a:gd name="T83" fmla="*/ 17 h 23"/>
                <a:gd name="T84" fmla="*/ 5 w 5"/>
                <a:gd name="T85" fmla="*/ 23 h 23"/>
                <a:gd name="T86" fmla="*/ 5 w 5"/>
                <a:gd name="T87" fmla="*/ 23 h 23"/>
                <a:gd name="T88" fmla="*/ 5 w 5"/>
                <a:gd name="T89" fmla="*/ 23 h 23"/>
                <a:gd name="T90" fmla="*/ 5 w 5"/>
                <a:gd name="T91" fmla="*/ 23 h 23"/>
                <a:gd name="T92" fmla="*/ 5 w 5"/>
                <a:gd name="T93" fmla="*/ 23 h 23"/>
                <a:gd name="T94" fmla="*/ 5 w 5"/>
                <a:gd name="T95" fmla="*/ 23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6" name="Freeform 223"/>
            <p:cNvSpPr>
              <a:spLocks/>
            </p:cNvSpPr>
            <p:nvPr/>
          </p:nvSpPr>
          <p:spPr bwMode="auto">
            <a:xfrm>
              <a:off x="5511" y="3159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6 h 23"/>
                <a:gd name="T10" fmla="*/ 0 w 5"/>
                <a:gd name="T11" fmla="*/ 6 h 23"/>
                <a:gd name="T12" fmla="*/ 0 w 5"/>
                <a:gd name="T13" fmla="*/ 6 h 23"/>
                <a:gd name="T14" fmla="*/ 0 w 5"/>
                <a:gd name="T15" fmla="*/ 6 h 23"/>
                <a:gd name="T16" fmla="*/ 0 w 5"/>
                <a:gd name="T17" fmla="*/ 6 h 23"/>
                <a:gd name="T18" fmla="*/ 0 w 5"/>
                <a:gd name="T19" fmla="*/ 6 h 23"/>
                <a:gd name="T20" fmla="*/ 0 w 5"/>
                <a:gd name="T21" fmla="*/ 6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0 w 5"/>
                <a:gd name="T31" fmla="*/ 6 h 23"/>
                <a:gd name="T32" fmla="*/ 0 w 5"/>
                <a:gd name="T33" fmla="*/ 11 h 23"/>
                <a:gd name="T34" fmla="*/ 0 w 5"/>
                <a:gd name="T35" fmla="*/ 11 h 23"/>
                <a:gd name="T36" fmla="*/ 0 w 5"/>
                <a:gd name="T37" fmla="*/ 11 h 23"/>
                <a:gd name="T38" fmla="*/ 0 w 5"/>
                <a:gd name="T39" fmla="*/ 11 h 23"/>
                <a:gd name="T40" fmla="*/ 5 w 5"/>
                <a:gd name="T41" fmla="*/ 11 h 23"/>
                <a:gd name="T42" fmla="*/ 5 w 5"/>
                <a:gd name="T43" fmla="*/ 11 h 23"/>
                <a:gd name="T44" fmla="*/ 5 w 5"/>
                <a:gd name="T45" fmla="*/ 11 h 23"/>
                <a:gd name="T46" fmla="*/ 5 w 5"/>
                <a:gd name="T47" fmla="*/ 11 h 23"/>
                <a:gd name="T48" fmla="*/ 5 w 5"/>
                <a:gd name="T49" fmla="*/ 11 h 23"/>
                <a:gd name="T50" fmla="*/ 5 w 5"/>
                <a:gd name="T51" fmla="*/ 11 h 23"/>
                <a:gd name="T52" fmla="*/ 5 w 5"/>
                <a:gd name="T53" fmla="*/ 11 h 23"/>
                <a:gd name="T54" fmla="*/ 5 w 5"/>
                <a:gd name="T55" fmla="*/ 11 h 23"/>
                <a:gd name="T56" fmla="*/ 5 w 5"/>
                <a:gd name="T57" fmla="*/ 17 h 23"/>
                <a:gd name="T58" fmla="*/ 5 w 5"/>
                <a:gd name="T59" fmla="*/ 17 h 23"/>
                <a:gd name="T60" fmla="*/ 5 w 5"/>
                <a:gd name="T61" fmla="*/ 17 h 23"/>
                <a:gd name="T62" fmla="*/ 5 w 5"/>
                <a:gd name="T63" fmla="*/ 17 h 23"/>
                <a:gd name="T64" fmla="*/ 5 w 5"/>
                <a:gd name="T65" fmla="*/ 17 h 23"/>
                <a:gd name="T66" fmla="*/ 5 w 5"/>
                <a:gd name="T67" fmla="*/ 17 h 23"/>
                <a:gd name="T68" fmla="*/ 5 w 5"/>
                <a:gd name="T69" fmla="*/ 17 h 23"/>
                <a:gd name="T70" fmla="*/ 5 w 5"/>
                <a:gd name="T71" fmla="*/ 17 h 23"/>
                <a:gd name="T72" fmla="*/ 5 w 5"/>
                <a:gd name="T73" fmla="*/ 17 h 23"/>
                <a:gd name="T74" fmla="*/ 5 w 5"/>
                <a:gd name="T75" fmla="*/ 17 h 23"/>
                <a:gd name="T76" fmla="*/ 5 w 5"/>
                <a:gd name="T77" fmla="*/ 17 h 23"/>
                <a:gd name="T78" fmla="*/ 5 w 5"/>
                <a:gd name="T79" fmla="*/ 17 h 23"/>
                <a:gd name="T80" fmla="*/ 5 w 5"/>
                <a:gd name="T81" fmla="*/ 23 h 23"/>
                <a:gd name="T82" fmla="*/ 5 w 5"/>
                <a:gd name="T83" fmla="*/ 23 h 23"/>
                <a:gd name="T84" fmla="*/ 5 w 5"/>
                <a:gd name="T85" fmla="*/ 23 h 23"/>
                <a:gd name="T86" fmla="*/ 5 w 5"/>
                <a:gd name="T87" fmla="*/ 23 h 23"/>
                <a:gd name="T88" fmla="*/ 5 w 5"/>
                <a:gd name="T89" fmla="*/ 23 h 23"/>
                <a:gd name="T90" fmla="*/ 5 w 5"/>
                <a:gd name="T91" fmla="*/ 23 h 23"/>
                <a:gd name="T92" fmla="*/ 5 w 5"/>
                <a:gd name="T93" fmla="*/ 23 h 23"/>
                <a:gd name="T94" fmla="*/ 5 w 5"/>
                <a:gd name="T95" fmla="*/ 23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7" name="Freeform 224"/>
            <p:cNvSpPr>
              <a:spLocks/>
            </p:cNvSpPr>
            <p:nvPr/>
          </p:nvSpPr>
          <p:spPr bwMode="auto">
            <a:xfrm>
              <a:off x="5516" y="3182"/>
              <a:ext cx="5" cy="22"/>
            </a:xfrm>
            <a:custGeom>
              <a:avLst/>
              <a:gdLst>
                <a:gd name="T0" fmla="*/ 0 w 5"/>
                <a:gd name="T1" fmla="*/ 0 h 22"/>
                <a:gd name="T2" fmla="*/ 0 w 5"/>
                <a:gd name="T3" fmla="*/ 0 h 22"/>
                <a:gd name="T4" fmla="*/ 0 w 5"/>
                <a:gd name="T5" fmla="*/ 5 h 22"/>
                <a:gd name="T6" fmla="*/ 0 w 5"/>
                <a:gd name="T7" fmla="*/ 5 h 22"/>
                <a:gd name="T8" fmla="*/ 0 w 5"/>
                <a:gd name="T9" fmla="*/ 5 h 22"/>
                <a:gd name="T10" fmla="*/ 0 w 5"/>
                <a:gd name="T11" fmla="*/ 5 h 22"/>
                <a:gd name="T12" fmla="*/ 0 w 5"/>
                <a:gd name="T13" fmla="*/ 5 h 22"/>
                <a:gd name="T14" fmla="*/ 0 w 5"/>
                <a:gd name="T15" fmla="*/ 5 h 22"/>
                <a:gd name="T16" fmla="*/ 0 w 5"/>
                <a:gd name="T17" fmla="*/ 5 h 22"/>
                <a:gd name="T18" fmla="*/ 0 w 5"/>
                <a:gd name="T19" fmla="*/ 5 h 22"/>
                <a:gd name="T20" fmla="*/ 0 w 5"/>
                <a:gd name="T21" fmla="*/ 5 h 22"/>
                <a:gd name="T22" fmla="*/ 5 w 5"/>
                <a:gd name="T23" fmla="*/ 5 h 22"/>
                <a:gd name="T24" fmla="*/ 5 w 5"/>
                <a:gd name="T25" fmla="*/ 5 h 22"/>
                <a:gd name="T26" fmla="*/ 5 w 5"/>
                <a:gd name="T27" fmla="*/ 5 h 22"/>
                <a:gd name="T28" fmla="*/ 5 w 5"/>
                <a:gd name="T29" fmla="*/ 11 h 22"/>
                <a:gd name="T30" fmla="*/ 5 w 5"/>
                <a:gd name="T31" fmla="*/ 11 h 22"/>
                <a:gd name="T32" fmla="*/ 5 w 5"/>
                <a:gd name="T33" fmla="*/ 11 h 22"/>
                <a:gd name="T34" fmla="*/ 5 w 5"/>
                <a:gd name="T35" fmla="*/ 11 h 22"/>
                <a:gd name="T36" fmla="*/ 5 w 5"/>
                <a:gd name="T37" fmla="*/ 11 h 22"/>
                <a:gd name="T38" fmla="*/ 5 w 5"/>
                <a:gd name="T39" fmla="*/ 11 h 22"/>
                <a:gd name="T40" fmla="*/ 5 w 5"/>
                <a:gd name="T41" fmla="*/ 11 h 22"/>
                <a:gd name="T42" fmla="*/ 5 w 5"/>
                <a:gd name="T43" fmla="*/ 11 h 22"/>
                <a:gd name="T44" fmla="*/ 5 w 5"/>
                <a:gd name="T45" fmla="*/ 11 h 22"/>
                <a:gd name="T46" fmla="*/ 5 w 5"/>
                <a:gd name="T47" fmla="*/ 11 h 22"/>
                <a:gd name="T48" fmla="*/ 5 w 5"/>
                <a:gd name="T49" fmla="*/ 11 h 22"/>
                <a:gd name="T50" fmla="*/ 5 w 5"/>
                <a:gd name="T51" fmla="*/ 11 h 22"/>
                <a:gd name="T52" fmla="*/ 5 w 5"/>
                <a:gd name="T53" fmla="*/ 17 h 22"/>
                <a:gd name="T54" fmla="*/ 5 w 5"/>
                <a:gd name="T55" fmla="*/ 17 h 22"/>
                <a:gd name="T56" fmla="*/ 5 w 5"/>
                <a:gd name="T57" fmla="*/ 17 h 22"/>
                <a:gd name="T58" fmla="*/ 5 w 5"/>
                <a:gd name="T59" fmla="*/ 17 h 22"/>
                <a:gd name="T60" fmla="*/ 5 w 5"/>
                <a:gd name="T61" fmla="*/ 17 h 22"/>
                <a:gd name="T62" fmla="*/ 5 w 5"/>
                <a:gd name="T63" fmla="*/ 17 h 22"/>
                <a:gd name="T64" fmla="*/ 5 w 5"/>
                <a:gd name="T65" fmla="*/ 17 h 22"/>
                <a:gd name="T66" fmla="*/ 5 w 5"/>
                <a:gd name="T67" fmla="*/ 17 h 22"/>
                <a:gd name="T68" fmla="*/ 5 w 5"/>
                <a:gd name="T69" fmla="*/ 17 h 22"/>
                <a:gd name="T70" fmla="*/ 5 w 5"/>
                <a:gd name="T71" fmla="*/ 17 h 22"/>
                <a:gd name="T72" fmla="*/ 5 w 5"/>
                <a:gd name="T73" fmla="*/ 17 h 22"/>
                <a:gd name="T74" fmla="*/ 5 w 5"/>
                <a:gd name="T75" fmla="*/ 17 h 22"/>
                <a:gd name="T76" fmla="*/ 5 w 5"/>
                <a:gd name="T77" fmla="*/ 17 h 22"/>
                <a:gd name="T78" fmla="*/ 5 w 5"/>
                <a:gd name="T79" fmla="*/ 22 h 22"/>
                <a:gd name="T80" fmla="*/ 5 w 5"/>
                <a:gd name="T81" fmla="*/ 22 h 22"/>
                <a:gd name="T82" fmla="*/ 5 w 5"/>
                <a:gd name="T83" fmla="*/ 22 h 22"/>
                <a:gd name="T84" fmla="*/ 5 w 5"/>
                <a:gd name="T85" fmla="*/ 22 h 22"/>
                <a:gd name="T86" fmla="*/ 5 w 5"/>
                <a:gd name="T87" fmla="*/ 22 h 22"/>
                <a:gd name="T88" fmla="*/ 5 w 5"/>
                <a:gd name="T89" fmla="*/ 22 h 22"/>
                <a:gd name="T90" fmla="*/ 5 w 5"/>
                <a:gd name="T91" fmla="*/ 22 h 22"/>
                <a:gd name="T92" fmla="*/ 5 w 5"/>
                <a:gd name="T93" fmla="*/ 22 h 22"/>
                <a:gd name="T94" fmla="*/ 5 w 5"/>
                <a:gd name="T95" fmla="*/ 22 h 22"/>
                <a:gd name="T96" fmla="*/ 5 w 5"/>
                <a:gd name="T97" fmla="*/ 22 h 22"/>
                <a:gd name="T98" fmla="*/ 5 w 5"/>
                <a:gd name="T99" fmla="*/ 22 h 22"/>
                <a:gd name="T100" fmla="*/ 5 w 5"/>
                <a:gd name="T101" fmla="*/ 22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2"/>
                <a:gd name="T155" fmla="*/ 5 w 5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2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5" y="2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8" name="Freeform 225"/>
            <p:cNvSpPr>
              <a:spLocks/>
            </p:cNvSpPr>
            <p:nvPr/>
          </p:nvSpPr>
          <p:spPr bwMode="auto">
            <a:xfrm>
              <a:off x="5521" y="3204"/>
              <a:ext cx="9" cy="23"/>
            </a:xfrm>
            <a:custGeom>
              <a:avLst/>
              <a:gdLst>
                <a:gd name="T0" fmla="*/ 0 w 9"/>
                <a:gd name="T1" fmla="*/ 0 h 23"/>
                <a:gd name="T2" fmla="*/ 4 w 9"/>
                <a:gd name="T3" fmla="*/ 0 h 23"/>
                <a:gd name="T4" fmla="*/ 4 w 9"/>
                <a:gd name="T5" fmla="*/ 6 h 23"/>
                <a:gd name="T6" fmla="*/ 4 w 9"/>
                <a:gd name="T7" fmla="*/ 6 h 23"/>
                <a:gd name="T8" fmla="*/ 4 w 9"/>
                <a:gd name="T9" fmla="*/ 6 h 23"/>
                <a:gd name="T10" fmla="*/ 4 w 9"/>
                <a:gd name="T11" fmla="*/ 6 h 23"/>
                <a:gd name="T12" fmla="*/ 4 w 9"/>
                <a:gd name="T13" fmla="*/ 6 h 23"/>
                <a:gd name="T14" fmla="*/ 4 w 9"/>
                <a:gd name="T15" fmla="*/ 6 h 23"/>
                <a:gd name="T16" fmla="*/ 4 w 9"/>
                <a:gd name="T17" fmla="*/ 6 h 23"/>
                <a:gd name="T18" fmla="*/ 4 w 9"/>
                <a:gd name="T19" fmla="*/ 6 h 23"/>
                <a:gd name="T20" fmla="*/ 4 w 9"/>
                <a:gd name="T21" fmla="*/ 6 h 23"/>
                <a:gd name="T22" fmla="*/ 4 w 9"/>
                <a:gd name="T23" fmla="*/ 6 h 23"/>
                <a:gd name="T24" fmla="*/ 4 w 9"/>
                <a:gd name="T25" fmla="*/ 6 h 23"/>
                <a:gd name="T26" fmla="*/ 4 w 9"/>
                <a:gd name="T27" fmla="*/ 6 h 23"/>
                <a:gd name="T28" fmla="*/ 4 w 9"/>
                <a:gd name="T29" fmla="*/ 6 h 23"/>
                <a:gd name="T30" fmla="*/ 4 w 9"/>
                <a:gd name="T31" fmla="*/ 12 h 23"/>
                <a:gd name="T32" fmla="*/ 4 w 9"/>
                <a:gd name="T33" fmla="*/ 12 h 23"/>
                <a:gd name="T34" fmla="*/ 4 w 9"/>
                <a:gd name="T35" fmla="*/ 12 h 23"/>
                <a:gd name="T36" fmla="*/ 4 w 9"/>
                <a:gd name="T37" fmla="*/ 12 h 23"/>
                <a:gd name="T38" fmla="*/ 4 w 9"/>
                <a:gd name="T39" fmla="*/ 12 h 23"/>
                <a:gd name="T40" fmla="*/ 4 w 9"/>
                <a:gd name="T41" fmla="*/ 12 h 23"/>
                <a:gd name="T42" fmla="*/ 4 w 9"/>
                <a:gd name="T43" fmla="*/ 12 h 23"/>
                <a:gd name="T44" fmla="*/ 4 w 9"/>
                <a:gd name="T45" fmla="*/ 12 h 23"/>
                <a:gd name="T46" fmla="*/ 4 w 9"/>
                <a:gd name="T47" fmla="*/ 12 h 23"/>
                <a:gd name="T48" fmla="*/ 4 w 9"/>
                <a:gd name="T49" fmla="*/ 12 h 23"/>
                <a:gd name="T50" fmla="*/ 4 w 9"/>
                <a:gd name="T51" fmla="*/ 12 h 23"/>
                <a:gd name="T52" fmla="*/ 4 w 9"/>
                <a:gd name="T53" fmla="*/ 12 h 23"/>
                <a:gd name="T54" fmla="*/ 4 w 9"/>
                <a:gd name="T55" fmla="*/ 12 h 23"/>
                <a:gd name="T56" fmla="*/ 4 w 9"/>
                <a:gd name="T57" fmla="*/ 18 h 23"/>
                <a:gd name="T58" fmla="*/ 4 w 9"/>
                <a:gd name="T59" fmla="*/ 18 h 23"/>
                <a:gd name="T60" fmla="*/ 4 w 9"/>
                <a:gd name="T61" fmla="*/ 18 h 23"/>
                <a:gd name="T62" fmla="*/ 4 w 9"/>
                <a:gd name="T63" fmla="*/ 18 h 23"/>
                <a:gd name="T64" fmla="*/ 4 w 9"/>
                <a:gd name="T65" fmla="*/ 18 h 23"/>
                <a:gd name="T66" fmla="*/ 4 w 9"/>
                <a:gd name="T67" fmla="*/ 18 h 23"/>
                <a:gd name="T68" fmla="*/ 4 w 9"/>
                <a:gd name="T69" fmla="*/ 18 h 23"/>
                <a:gd name="T70" fmla="*/ 4 w 9"/>
                <a:gd name="T71" fmla="*/ 18 h 23"/>
                <a:gd name="T72" fmla="*/ 4 w 9"/>
                <a:gd name="T73" fmla="*/ 18 h 23"/>
                <a:gd name="T74" fmla="*/ 4 w 9"/>
                <a:gd name="T75" fmla="*/ 18 h 23"/>
                <a:gd name="T76" fmla="*/ 4 w 9"/>
                <a:gd name="T77" fmla="*/ 18 h 23"/>
                <a:gd name="T78" fmla="*/ 4 w 9"/>
                <a:gd name="T79" fmla="*/ 18 h 23"/>
                <a:gd name="T80" fmla="*/ 4 w 9"/>
                <a:gd name="T81" fmla="*/ 18 h 23"/>
                <a:gd name="T82" fmla="*/ 4 w 9"/>
                <a:gd name="T83" fmla="*/ 23 h 23"/>
                <a:gd name="T84" fmla="*/ 9 w 9"/>
                <a:gd name="T85" fmla="*/ 23 h 23"/>
                <a:gd name="T86" fmla="*/ 9 w 9"/>
                <a:gd name="T87" fmla="*/ 23 h 23"/>
                <a:gd name="T88" fmla="*/ 9 w 9"/>
                <a:gd name="T89" fmla="*/ 23 h 23"/>
                <a:gd name="T90" fmla="*/ 9 w 9"/>
                <a:gd name="T91" fmla="*/ 23 h 23"/>
                <a:gd name="T92" fmla="*/ 9 w 9"/>
                <a:gd name="T93" fmla="*/ 23 h 23"/>
                <a:gd name="T94" fmla="*/ 9 w 9"/>
                <a:gd name="T95" fmla="*/ 23 h 23"/>
                <a:gd name="T96" fmla="*/ 9 w 9"/>
                <a:gd name="T97" fmla="*/ 23 h 23"/>
                <a:gd name="T98" fmla="*/ 9 w 9"/>
                <a:gd name="T99" fmla="*/ 23 h 23"/>
                <a:gd name="T100" fmla="*/ 9 w 9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23"/>
                <a:gd name="T155" fmla="*/ 9 w 9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23">
                  <a:moveTo>
                    <a:pt x="0" y="0"/>
                  </a:moveTo>
                  <a:lnTo>
                    <a:pt x="4" y="0"/>
                  </a:lnTo>
                  <a:lnTo>
                    <a:pt x="4" y="6"/>
                  </a:lnTo>
                  <a:lnTo>
                    <a:pt x="4" y="12"/>
                  </a:lnTo>
                  <a:lnTo>
                    <a:pt x="4" y="18"/>
                  </a:lnTo>
                  <a:lnTo>
                    <a:pt x="4" y="23"/>
                  </a:lnTo>
                  <a:lnTo>
                    <a:pt x="9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9" name="Freeform 226"/>
            <p:cNvSpPr>
              <a:spLocks/>
            </p:cNvSpPr>
            <p:nvPr/>
          </p:nvSpPr>
          <p:spPr bwMode="auto">
            <a:xfrm>
              <a:off x="5530" y="3227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0 h 23"/>
                <a:gd name="T10" fmla="*/ 0 w 5"/>
                <a:gd name="T11" fmla="*/ 6 h 23"/>
                <a:gd name="T12" fmla="*/ 0 w 5"/>
                <a:gd name="T13" fmla="*/ 6 h 23"/>
                <a:gd name="T14" fmla="*/ 0 w 5"/>
                <a:gd name="T15" fmla="*/ 6 h 23"/>
                <a:gd name="T16" fmla="*/ 0 w 5"/>
                <a:gd name="T17" fmla="*/ 6 h 23"/>
                <a:gd name="T18" fmla="*/ 0 w 5"/>
                <a:gd name="T19" fmla="*/ 6 h 23"/>
                <a:gd name="T20" fmla="*/ 0 w 5"/>
                <a:gd name="T21" fmla="*/ 6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0 w 5"/>
                <a:gd name="T31" fmla="*/ 6 h 23"/>
                <a:gd name="T32" fmla="*/ 0 w 5"/>
                <a:gd name="T33" fmla="*/ 6 h 23"/>
                <a:gd name="T34" fmla="*/ 0 w 5"/>
                <a:gd name="T35" fmla="*/ 6 h 23"/>
                <a:gd name="T36" fmla="*/ 0 w 5"/>
                <a:gd name="T37" fmla="*/ 6 h 23"/>
                <a:gd name="T38" fmla="*/ 0 w 5"/>
                <a:gd name="T39" fmla="*/ 12 h 23"/>
                <a:gd name="T40" fmla="*/ 0 w 5"/>
                <a:gd name="T41" fmla="*/ 12 h 23"/>
                <a:gd name="T42" fmla="*/ 0 w 5"/>
                <a:gd name="T43" fmla="*/ 12 h 23"/>
                <a:gd name="T44" fmla="*/ 0 w 5"/>
                <a:gd name="T45" fmla="*/ 12 h 23"/>
                <a:gd name="T46" fmla="*/ 0 w 5"/>
                <a:gd name="T47" fmla="*/ 12 h 23"/>
                <a:gd name="T48" fmla="*/ 0 w 5"/>
                <a:gd name="T49" fmla="*/ 12 h 23"/>
                <a:gd name="T50" fmla="*/ 0 w 5"/>
                <a:gd name="T51" fmla="*/ 12 h 23"/>
                <a:gd name="T52" fmla="*/ 0 w 5"/>
                <a:gd name="T53" fmla="*/ 12 h 23"/>
                <a:gd name="T54" fmla="*/ 0 w 5"/>
                <a:gd name="T55" fmla="*/ 12 h 23"/>
                <a:gd name="T56" fmla="*/ 0 w 5"/>
                <a:gd name="T57" fmla="*/ 12 h 23"/>
                <a:gd name="T58" fmla="*/ 0 w 5"/>
                <a:gd name="T59" fmla="*/ 12 h 23"/>
                <a:gd name="T60" fmla="*/ 0 w 5"/>
                <a:gd name="T61" fmla="*/ 12 h 23"/>
                <a:gd name="T62" fmla="*/ 0 w 5"/>
                <a:gd name="T63" fmla="*/ 12 h 23"/>
                <a:gd name="T64" fmla="*/ 0 w 5"/>
                <a:gd name="T65" fmla="*/ 12 h 23"/>
                <a:gd name="T66" fmla="*/ 5 w 5"/>
                <a:gd name="T67" fmla="*/ 12 h 23"/>
                <a:gd name="T68" fmla="*/ 5 w 5"/>
                <a:gd name="T69" fmla="*/ 17 h 23"/>
                <a:gd name="T70" fmla="*/ 5 w 5"/>
                <a:gd name="T71" fmla="*/ 17 h 23"/>
                <a:gd name="T72" fmla="*/ 5 w 5"/>
                <a:gd name="T73" fmla="*/ 17 h 23"/>
                <a:gd name="T74" fmla="*/ 5 w 5"/>
                <a:gd name="T75" fmla="*/ 17 h 23"/>
                <a:gd name="T76" fmla="*/ 5 w 5"/>
                <a:gd name="T77" fmla="*/ 17 h 23"/>
                <a:gd name="T78" fmla="*/ 5 w 5"/>
                <a:gd name="T79" fmla="*/ 17 h 23"/>
                <a:gd name="T80" fmla="*/ 5 w 5"/>
                <a:gd name="T81" fmla="*/ 17 h 23"/>
                <a:gd name="T82" fmla="*/ 5 w 5"/>
                <a:gd name="T83" fmla="*/ 17 h 23"/>
                <a:gd name="T84" fmla="*/ 5 w 5"/>
                <a:gd name="T85" fmla="*/ 17 h 23"/>
                <a:gd name="T86" fmla="*/ 5 w 5"/>
                <a:gd name="T87" fmla="*/ 17 h 23"/>
                <a:gd name="T88" fmla="*/ 5 w 5"/>
                <a:gd name="T89" fmla="*/ 17 h 23"/>
                <a:gd name="T90" fmla="*/ 5 w 5"/>
                <a:gd name="T91" fmla="*/ 17 h 23"/>
                <a:gd name="T92" fmla="*/ 5 w 5"/>
                <a:gd name="T93" fmla="*/ 17 h 23"/>
                <a:gd name="T94" fmla="*/ 5 w 5"/>
                <a:gd name="T95" fmla="*/ 17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10" name="Freeform 227"/>
            <p:cNvSpPr>
              <a:spLocks/>
            </p:cNvSpPr>
            <p:nvPr/>
          </p:nvSpPr>
          <p:spPr bwMode="auto">
            <a:xfrm>
              <a:off x="5535" y="3250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0 h 17"/>
                <a:gd name="T14" fmla="*/ 0 w 5"/>
                <a:gd name="T15" fmla="*/ 0 h 17"/>
                <a:gd name="T16" fmla="*/ 0 w 5"/>
                <a:gd name="T17" fmla="*/ 0 h 17"/>
                <a:gd name="T18" fmla="*/ 0 w 5"/>
                <a:gd name="T19" fmla="*/ 0 h 17"/>
                <a:gd name="T20" fmla="*/ 0 w 5"/>
                <a:gd name="T21" fmla="*/ 0 h 17"/>
                <a:gd name="T22" fmla="*/ 0 w 5"/>
                <a:gd name="T23" fmla="*/ 0 h 17"/>
                <a:gd name="T24" fmla="*/ 0 w 5"/>
                <a:gd name="T25" fmla="*/ 0 h 17"/>
                <a:gd name="T26" fmla="*/ 0 w 5"/>
                <a:gd name="T27" fmla="*/ 0 h 17"/>
                <a:gd name="T28" fmla="*/ 0 w 5"/>
                <a:gd name="T29" fmla="*/ 6 h 17"/>
                <a:gd name="T30" fmla="*/ 0 w 5"/>
                <a:gd name="T31" fmla="*/ 6 h 17"/>
                <a:gd name="T32" fmla="*/ 0 w 5"/>
                <a:gd name="T33" fmla="*/ 6 h 17"/>
                <a:gd name="T34" fmla="*/ 0 w 5"/>
                <a:gd name="T35" fmla="*/ 6 h 17"/>
                <a:gd name="T36" fmla="*/ 0 w 5"/>
                <a:gd name="T37" fmla="*/ 6 h 17"/>
                <a:gd name="T38" fmla="*/ 0 w 5"/>
                <a:gd name="T39" fmla="*/ 6 h 17"/>
                <a:gd name="T40" fmla="*/ 0 w 5"/>
                <a:gd name="T41" fmla="*/ 6 h 17"/>
                <a:gd name="T42" fmla="*/ 0 w 5"/>
                <a:gd name="T43" fmla="*/ 6 h 17"/>
                <a:gd name="T44" fmla="*/ 0 w 5"/>
                <a:gd name="T45" fmla="*/ 6 h 17"/>
                <a:gd name="T46" fmla="*/ 5 w 5"/>
                <a:gd name="T47" fmla="*/ 6 h 17"/>
                <a:gd name="T48" fmla="*/ 5 w 5"/>
                <a:gd name="T49" fmla="*/ 6 h 17"/>
                <a:gd name="T50" fmla="*/ 5 w 5"/>
                <a:gd name="T51" fmla="*/ 6 h 17"/>
                <a:gd name="T52" fmla="*/ 5 w 5"/>
                <a:gd name="T53" fmla="*/ 6 h 17"/>
                <a:gd name="T54" fmla="*/ 5 w 5"/>
                <a:gd name="T55" fmla="*/ 6 h 17"/>
                <a:gd name="T56" fmla="*/ 5 w 5"/>
                <a:gd name="T57" fmla="*/ 6 h 17"/>
                <a:gd name="T58" fmla="*/ 5 w 5"/>
                <a:gd name="T59" fmla="*/ 11 h 17"/>
                <a:gd name="T60" fmla="*/ 5 w 5"/>
                <a:gd name="T61" fmla="*/ 11 h 17"/>
                <a:gd name="T62" fmla="*/ 5 w 5"/>
                <a:gd name="T63" fmla="*/ 11 h 17"/>
                <a:gd name="T64" fmla="*/ 5 w 5"/>
                <a:gd name="T65" fmla="*/ 11 h 17"/>
                <a:gd name="T66" fmla="*/ 5 w 5"/>
                <a:gd name="T67" fmla="*/ 11 h 17"/>
                <a:gd name="T68" fmla="*/ 5 w 5"/>
                <a:gd name="T69" fmla="*/ 11 h 17"/>
                <a:gd name="T70" fmla="*/ 5 w 5"/>
                <a:gd name="T71" fmla="*/ 11 h 17"/>
                <a:gd name="T72" fmla="*/ 5 w 5"/>
                <a:gd name="T73" fmla="*/ 11 h 17"/>
                <a:gd name="T74" fmla="*/ 5 w 5"/>
                <a:gd name="T75" fmla="*/ 11 h 17"/>
                <a:gd name="T76" fmla="*/ 5 w 5"/>
                <a:gd name="T77" fmla="*/ 11 h 17"/>
                <a:gd name="T78" fmla="*/ 5 w 5"/>
                <a:gd name="T79" fmla="*/ 11 h 17"/>
                <a:gd name="T80" fmla="*/ 5 w 5"/>
                <a:gd name="T81" fmla="*/ 11 h 17"/>
                <a:gd name="T82" fmla="*/ 5 w 5"/>
                <a:gd name="T83" fmla="*/ 11 h 17"/>
                <a:gd name="T84" fmla="*/ 5 w 5"/>
                <a:gd name="T85" fmla="*/ 11 h 17"/>
                <a:gd name="T86" fmla="*/ 5 w 5"/>
                <a:gd name="T87" fmla="*/ 11 h 17"/>
                <a:gd name="T88" fmla="*/ 5 w 5"/>
                <a:gd name="T89" fmla="*/ 11 h 17"/>
                <a:gd name="T90" fmla="*/ 5 w 5"/>
                <a:gd name="T91" fmla="*/ 11 h 17"/>
                <a:gd name="T92" fmla="*/ 5 w 5"/>
                <a:gd name="T93" fmla="*/ 17 h 17"/>
                <a:gd name="T94" fmla="*/ 5 w 5"/>
                <a:gd name="T95" fmla="*/ 17 h 17"/>
                <a:gd name="T96" fmla="*/ 5 w 5"/>
                <a:gd name="T97" fmla="*/ 17 h 17"/>
                <a:gd name="T98" fmla="*/ 5 w 5"/>
                <a:gd name="T99" fmla="*/ 17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1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11" name="Freeform 228"/>
            <p:cNvSpPr>
              <a:spLocks/>
            </p:cNvSpPr>
            <p:nvPr/>
          </p:nvSpPr>
          <p:spPr bwMode="auto">
            <a:xfrm>
              <a:off x="5540" y="3267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0 h 17"/>
                <a:gd name="T14" fmla="*/ 0 w 5"/>
                <a:gd name="T15" fmla="*/ 0 h 17"/>
                <a:gd name="T16" fmla="*/ 0 w 5"/>
                <a:gd name="T17" fmla="*/ 0 h 17"/>
                <a:gd name="T18" fmla="*/ 0 w 5"/>
                <a:gd name="T19" fmla="*/ 0 h 17"/>
                <a:gd name="T20" fmla="*/ 0 w 5"/>
                <a:gd name="T21" fmla="*/ 0 h 17"/>
                <a:gd name="T22" fmla="*/ 0 w 5"/>
                <a:gd name="T23" fmla="*/ 0 h 17"/>
                <a:gd name="T24" fmla="*/ 0 w 5"/>
                <a:gd name="T25" fmla="*/ 0 h 17"/>
                <a:gd name="T26" fmla="*/ 0 w 5"/>
                <a:gd name="T27" fmla="*/ 6 h 17"/>
                <a:gd name="T28" fmla="*/ 5 w 5"/>
                <a:gd name="T29" fmla="*/ 6 h 17"/>
                <a:gd name="T30" fmla="*/ 5 w 5"/>
                <a:gd name="T31" fmla="*/ 6 h 17"/>
                <a:gd name="T32" fmla="*/ 5 w 5"/>
                <a:gd name="T33" fmla="*/ 6 h 17"/>
                <a:gd name="T34" fmla="*/ 5 w 5"/>
                <a:gd name="T35" fmla="*/ 6 h 17"/>
                <a:gd name="T36" fmla="*/ 5 w 5"/>
                <a:gd name="T37" fmla="*/ 6 h 17"/>
                <a:gd name="T38" fmla="*/ 5 w 5"/>
                <a:gd name="T39" fmla="*/ 6 h 17"/>
                <a:gd name="T40" fmla="*/ 5 w 5"/>
                <a:gd name="T41" fmla="*/ 6 h 17"/>
                <a:gd name="T42" fmla="*/ 5 w 5"/>
                <a:gd name="T43" fmla="*/ 6 h 17"/>
                <a:gd name="T44" fmla="*/ 5 w 5"/>
                <a:gd name="T45" fmla="*/ 6 h 17"/>
                <a:gd name="T46" fmla="*/ 5 w 5"/>
                <a:gd name="T47" fmla="*/ 6 h 17"/>
                <a:gd name="T48" fmla="*/ 5 w 5"/>
                <a:gd name="T49" fmla="*/ 6 h 17"/>
                <a:gd name="T50" fmla="*/ 5 w 5"/>
                <a:gd name="T51" fmla="*/ 6 h 17"/>
                <a:gd name="T52" fmla="*/ 5 w 5"/>
                <a:gd name="T53" fmla="*/ 6 h 17"/>
                <a:gd name="T54" fmla="*/ 5 w 5"/>
                <a:gd name="T55" fmla="*/ 6 h 17"/>
                <a:gd name="T56" fmla="*/ 5 w 5"/>
                <a:gd name="T57" fmla="*/ 6 h 17"/>
                <a:gd name="T58" fmla="*/ 5 w 5"/>
                <a:gd name="T59" fmla="*/ 6 h 17"/>
                <a:gd name="T60" fmla="*/ 5 w 5"/>
                <a:gd name="T61" fmla="*/ 6 h 17"/>
                <a:gd name="T62" fmla="*/ 5 w 5"/>
                <a:gd name="T63" fmla="*/ 11 h 17"/>
                <a:gd name="T64" fmla="*/ 5 w 5"/>
                <a:gd name="T65" fmla="*/ 11 h 17"/>
                <a:gd name="T66" fmla="*/ 5 w 5"/>
                <a:gd name="T67" fmla="*/ 11 h 17"/>
                <a:gd name="T68" fmla="*/ 5 w 5"/>
                <a:gd name="T69" fmla="*/ 11 h 17"/>
                <a:gd name="T70" fmla="*/ 5 w 5"/>
                <a:gd name="T71" fmla="*/ 11 h 17"/>
                <a:gd name="T72" fmla="*/ 5 w 5"/>
                <a:gd name="T73" fmla="*/ 11 h 17"/>
                <a:gd name="T74" fmla="*/ 5 w 5"/>
                <a:gd name="T75" fmla="*/ 11 h 17"/>
                <a:gd name="T76" fmla="*/ 5 w 5"/>
                <a:gd name="T77" fmla="*/ 11 h 17"/>
                <a:gd name="T78" fmla="*/ 5 w 5"/>
                <a:gd name="T79" fmla="*/ 11 h 17"/>
                <a:gd name="T80" fmla="*/ 5 w 5"/>
                <a:gd name="T81" fmla="*/ 11 h 17"/>
                <a:gd name="T82" fmla="*/ 5 w 5"/>
                <a:gd name="T83" fmla="*/ 11 h 17"/>
                <a:gd name="T84" fmla="*/ 5 w 5"/>
                <a:gd name="T85" fmla="*/ 11 h 17"/>
                <a:gd name="T86" fmla="*/ 5 w 5"/>
                <a:gd name="T87" fmla="*/ 11 h 17"/>
                <a:gd name="T88" fmla="*/ 5 w 5"/>
                <a:gd name="T89" fmla="*/ 11 h 17"/>
                <a:gd name="T90" fmla="*/ 5 w 5"/>
                <a:gd name="T91" fmla="*/ 11 h 17"/>
                <a:gd name="T92" fmla="*/ 5 w 5"/>
                <a:gd name="T93" fmla="*/ 11 h 17"/>
                <a:gd name="T94" fmla="*/ 5 w 5"/>
                <a:gd name="T95" fmla="*/ 11 h 17"/>
                <a:gd name="T96" fmla="*/ 5 w 5"/>
                <a:gd name="T97" fmla="*/ 11 h 17"/>
                <a:gd name="T98" fmla="*/ 5 w 5"/>
                <a:gd name="T99" fmla="*/ 11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1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12" name="Freeform 229"/>
            <p:cNvSpPr>
              <a:spLocks/>
            </p:cNvSpPr>
            <p:nvPr/>
          </p:nvSpPr>
          <p:spPr bwMode="auto">
            <a:xfrm>
              <a:off x="5545" y="3284"/>
              <a:ext cx="9" cy="12"/>
            </a:xfrm>
            <a:custGeom>
              <a:avLst/>
              <a:gdLst>
                <a:gd name="T0" fmla="*/ 0 w 9"/>
                <a:gd name="T1" fmla="*/ 0 h 12"/>
                <a:gd name="T2" fmla="*/ 0 w 9"/>
                <a:gd name="T3" fmla="*/ 0 h 12"/>
                <a:gd name="T4" fmla="*/ 0 w 9"/>
                <a:gd name="T5" fmla="*/ 0 h 12"/>
                <a:gd name="T6" fmla="*/ 0 w 9"/>
                <a:gd name="T7" fmla="*/ 0 h 12"/>
                <a:gd name="T8" fmla="*/ 4 w 9"/>
                <a:gd name="T9" fmla="*/ 0 h 12"/>
                <a:gd name="T10" fmla="*/ 4 w 9"/>
                <a:gd name="T11" fmla="*/ 0 h 12"/>
                <a:gd name="T12" fmla="*/ 4 w 9"/>
                <a:gd name="T13" fmla="*/ 0 h 12"/>
                <a:gd name="T14" fmla="*/ 4 w 9"/>
                <a:gd name="T15" fmla="*/ 0 h 12"/>
                <a:gd name="T16" fmla="*/ 4 w 9"/>
                <a:gd name="T17" fmla="*/ 0 h 12"/>
                <a:gd name="T18" fmla="*/ 4 w 9"/>
                <a:gd name="T19" fmla="*/ 0 h 12"/>
                <a:gd name="T20" fmla="*/ 4 w 9"/>
                <a:gd name="T21" fmla="*/ 0 h 12"/>
                <a:gd name="T22" fmla="*/ 4 w 9"/>
                <a:gd name="T23" fmla="*/ 0 h 12"/>
                <a:gd name="T24" fmla="*/ 4 w 9"/>
                <a:gd name="T25" fmla="*/ 0 h 12"/>
                <a:gd name="T26" fmla="*/ 4 w 9"/>
                <a:gd name="T27" fmla="*/ 0 h 12"/>
                <a:gd name="T28" fmla="*/ 4 w 9"/>
                <a:gd name="T29" fmla="*/ 0 h 12"/>
                <a:gd name="T30" fmla="*/ 4 w 9"/>
                <a:gd name="T31" fmla="*/ 0 h 12"/>
                <a:gd name="T32" fmla="*/ 4 w 9"/>
                <a:gd name="T33" fmla="*/ 0 h 12"/>
                <a:gd name="T34" fmla="*/ 4 w 9"/>
                <a:gd name="T35" fmla="*/ 0 h 12"/>
                <a:gd name="T36" fmla="*/ 4 w 9"/>
                <a:gd name="T37" fmla="*/ 0 h 12"/>
                <a:gd name="T38" fmla="*/ 4 w 9"/>
                <a:gd name="T39" fmla="*/ 0 h 12"/>
                <a:gd name="T40" fmla="*/ 4 w 9"/>
                <a:gd name="T41" fmla="*/ 6 h 12"/>
                <a:gd name="T42" fmla="*/ 4 w 9"/>
                <a:gd name="T43" fmla="*/ 6 h 12"/>
                <a:gd name="T44" fmla="*/ 4 w 9"/>
                <a:gd name="T45" fmla="*/ 6 h 12"/>
                <a:gd name="T46" fmla="*/ 4 w 9"/>
                <a:gd name="T47" fmla="*/ 6 h 12"/>
                <a:gd name="T48" fmla="*/ 4 w 9"/>
                <a:gd name="T49" fmla="*/ 6 h 12"/>
                <a:gd name="T50" fmla="*/ 4 w 9"/>
                <a:gd name="T51" fmla="*/ 6 h 12"/>
                <a:gd name="T52" fmla="*/ 4 w 9"/>
                <a:gd name="T53" fmla="*/ 6 h 12"/>
                <a:gd name="T54" fmla="*/ 4 w 9"/>
                <a:gd name="T55" fmla="*/ 6 h 12"/>
                <a:gd name="T56" fmla="*/ 4 w 9"/>
                <a:gd name="T57" fmla="*/ 6 h 12"/>
                <a:gd name="T58" fmla="*/ 4 w 9"/>
                <a:gd name="T59" fmla="*/ 6 h 12"/>
                <a:gd name="T60" fmla="*/ 4 w 9"/>
                <a:gd name="T61" fmla="*/ 6 h 12"/>
                <a:gd name="T62" fmla="*/ 4 w 9"/>
                <a:gd name="T63" fmla="*/ 6 h 12"/>
                <a:gd name="T64" fmla="*/ 4 w 9"/>
                <a:gd name="T65" fmla="*/ 6 h 12"/>
                <a:gd name="T66" fmla="*/ 4 w 9"/>
                <a:gd name="T67" fmla="*/ 6 h 12"/>
                <a:gd name="T68" fmla="*/ 4 w 9"/>
                <a:gd name="T69" fmla="*/ 6 h 12"/>
                <a:gd name="T70" fmla="*/ 4 w 9"/>
                <a:gd name="T71" fmla="*/ 6 h 12"/>
                <a:gd name="T72" fmla="*/ 4 w 9"/>
                <a:gd name="T73" fmla="*/ 6 h 12"/>
                <a:gd name="T74" fmla="*/ 4 w 9"/>
                <a:gd name="T75" fmla="*/ 6 h 12"/>
                <a:gd name="T76" fmla="*/ 4 w 9"/>
                <a:gd name="T77" fmla="*/ 6 h 12"/>
                <a:gd name="T78" fmla="*/ 4 w 9"/>
                <a:gd name="T79" fmla="*/ 6 h 12"/>
                <a:gd name="T80" fmla="*/ 4 w 9"/>
                <a:gd name="T81" fmla="*/ 6 h 12"/>
                <a:gd name="T82" fmla="*/ 4 w 9"/>
                <a:gd name="T83" fmla="*/ 6 h 12"/>
                <a:gd name="T84" fmla="*/ 4 w 9"/>
                <a:gd name="T85" fmla="*/ 12 h 12"/>
                <a:gd name="T86" fmla="*/ 4 w 9"/>
                <a:gd name="T87" fmla="*/ 12 h 12"/>
                <a:gd name="T88" fmla="*/ 4 w 9"/>
                <a:gd name="T89" fmla="*/ 12 h 12"/>
                <a:gd name="T90" fmla="*/ 9 w 9"/>
                <a:gd name="T91" fmla="*/ 12 h 12"/>
                <a:gd name="T92" fmla="*/ 9 w 9"/>
                <a:gd name="T93" fmla="*/ 12 h 12"/>
                <a:gd name="T94" fmla="*/ 9 w 9"/>
                <a:gd name="T95" fmla="*/ 12 h 12"/>
                <a:gd name="T96" fmla="*/ 9 w 9"/>
                <a:gd name="T97" fmla="*/ 12 h 12"/>
                <a:gd name="T98" fmla="*/ 9 w 9"/>
                <a:gd name="T99" fmla="*/ 12 h 12"/>
                <a:gd name="T100" fmla="*/ 9 w 9"/>
                <a:gd name="T101" fmla="*/ 12 h 1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2"/>
                <a:gd name="T155" fmla="*/ 9 w 9"/>
                <a:gd name="T156" fmla="*/ 12 h 1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2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6"/>
                  </a:lnTo>
                  <a:lnTo>
                    <a:pt x="4" y="12"/>
                  </a:lnTo>
                  <a:lnTo>
                    <a:pt x="9" y="1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13" name="Freeform 230"/>
            <p:cNvSpPr>
              <a:spLocks/>
            </p:cNvSpPr>
            <p:nvPr/>
          </p:nvSpPr>
          <p:spPr bwMode="auto">
            <a:xfrm>
              <a:off x="5554" y="3296"/>
              <a:ext cx="5" cy="11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0 w 5"/>
                <a:gd name="T5" fmla="*/ 0 h 11"/>
                <a:gd name="T6" fmla="*/ 0 w 5"/>
                <a:gd name="T7" fmla="*/ 0 h 11"/>
                <a:gd name="T8" fmla="*/ 0 w 5"/>
                <a:gd name="T9" fmla="*/ 0 h 11"/>
                <a:gd name="T10" fmla="*/ 0 w 5"/>
                <a:gd name="T11" fmla="*/ 0 h 11"/>
                <a:gd name="T12" fmla="*/ 0 w 5"/>
                <a:gd name="T13" fmla="*/ 0 h 11"/>
                <a:gd name="T14" fmla="*/ 0 w 5"/>
                <a:gd name="T15" fmla="*/ 0 h 11"/>
                <a:gd name="T16" fmla="*/ 0 w 5"/>
                <a:gd name="T17" fmla="*/ 0 h 11"/>
                <a:gd name="T18" fmla="*/ 0 w 5"/>
                <a:gd name="T19" fmla="*/ 0 h 11"/>
                <a:gd name="T20" fmla="*/ 0 w 5"/>
                <a:gd name="T21" fmla="*/ 0 h 11"/>
                <a:gd name="T22" fmla="*/ 0 w 5"/>
                <a:gd name="T23" fmla="*/ 0 h 11"/>
                <a:gd name="T24" fmla="*/ 0 w 5"/>
                <a:gd name="T25" fmla="*/ 0 h 11"/>
                <a:gd name="T26" fmla="*/ 0 w 5"/>
                <a:gd name="T27" fmla="*/ 0 h 11"/>
                <a:gd name="T28" fmla="*/ 0 w 5"/>
                <a:gd name="T29" fmla="*/ 0 h 11"/>
                <a:gd name="T30" fmla="*/ 0 w 5"/>
                <a:gd name="T31" fmla="*/ 0 h 11"/>
                <a:gd name="T32" fmla="*/ 0 w 5"/>
                <a:gd name="T33" fmla="*/ 0 h 11"/>
                <a:gd name="T34" fmla="*/ 0 w 5"/>
                <a:gd name="T35" fmla="*/ 5 h 11"/>
                <a:gd name="T36" fmla="*/ 0 w 5"/>
                <a:gd name="T37" fmla="*/ 5 h 11"/>
                <a:gd name="T38" fmla="*/ 0 w 5"/>
                <a:gd name="T39" fmla="*/ 5 h 11"/>
                <a:gd name="T40" fmla="*/ 0 w 5"/>
                <a:gd name="T41" fmla="*/ 5 h 11"/>
                <a:gd name="T42" fmla="*/ 0 w 5"/>
                <a:gd name="T43" fmla="*/ 5 h 11"/>
                <a:gd name="T44" fmla="*/ 0 w 5"/>
                <a:gd name="T45" fmla="*/ 5 h 11"/>
                <a:gd name="T46" fmla="*/ 0 w 5"/>
                <a:gd name="T47" fmla="*/ 5 h 11"/>
                <a:gd name="T48" fmla="*/ 0 w 5"/>
                <a:gd name="T49" fmla="*/ 5 h 11"/>
                <a:gd name="T50" fmla="*/ 0 w 5"/>
                <a:gd name="T51" fmla="*/ 5 h 11"/>
                <a:gd name="T52" fmla="*/ 0 w 5"/>
                <a:gd name="T53" fmla="*/ 5 h 11"/>
                <a:gd name="T54" fmla="*/ 0 w 5"/>
                <a:gd name="T55" fmla="*/ 5 h 11"/>
                <a:gd name="T56" fmla="*/ 0 w 5"/>
                <a:gd name="T57" fmla="*/ 5 h 11"/>
                <a:gd name="T58" fmla="*/ 0 w 5"/>
                <a:gd name="T59" fmla="*/ 5 h 11"/>
                <a:gd name="T60" fmla="*/ 0 w 5"/>
                <a:gd name="T61" fmla="*/ 5 h 11"/>
                <a:gd name="T62" fmla="*/ 0 w 5"/>
                <a:gd name="T63" fmla="*/ 5 h 11"/>
                <a:gd name="T64" fmla="*/ 0 w 5"/>
                <a:gd name="T65" fmla="*/ 5 h 11"/>
                <a:gd name="T66" fmla="*/ 0 w 5"/>
                <a:gd name="T67" fmla="*/ 5 h 11"/>
                <a:gd name="T68" fmla="*/ 0 w 5"/>
                <a:gd name="T69" fmla="*/ 5 h 11"/>
                <a:gd name="T70" fmla="*/ 5 w 5"/>
                <a:gd name="T71" fmla="*/ 5 h 11"/>
                <a:gd name="T72" fmla="*/ 5 w 5"/>
                <a:gd name="T73" fmla="*/ 5 h 11"/>
                <a:gd name="T74" fmla="*/ 5 w 5"/>
                <a:gd name="T75" fmla="*/ 5 h 11"/>
                <a:gd name="T76" fmla="*/ 5 w 5"/>
                <a:gd name="T77" fmla="*/ 5 h 11"/>
                <a:gd name="T78" fmla="*/ 5 w 5"/>
                <a:gd name="T79" fmla="*/ 5 h 11"/>
                <a:gd name="T80" fmla="*/ 5 w 5"/>
                <a:gd name="T81" fmla="*/ 5 h 11"/>
                <a:gd name="T82" fmla="*/ 5 w 5"/>
                <a:gd name="T83" fmla="*/ 5 h 11"/>
                <a:gd name="T84" fmla="*/ 5 w 5"/>
                <a:gd name="T85" fmla="*/ 5 h 11"/>
                <a:gd name="T86" fmla="*/ 5 w 5"/>
                <a:gd name="T87" fmla="*/ 5 h 11"/>
                <a:gd name="T88" fmla="*/ 5 w 5"/>
                <a:gd name="T89" fmla="*/ 11 h 11"/>
                <a:gd name="T90" fmla="*/ 5 w 5"/>
                <a:gd name="T91" fmla="*/ 11 h 11"/>
                <a:gd name="T92" fmla="*/ 5 w 5"/>
                <a:gd name="T93" fmla="*/ 11 h 11"/>
                <a:gd name="T94" fmla="*/ 5 w 5"/>
                <a:gd name="T95" fmla="*/ 11 h 11"/>
                <a:gd name="T96" fmla="*/ 5 w 5"/>
                <a:gd name="T97" fmla="*/ 11 h 11"/>
                <a:gd name="T98" fmla="*/ 5 w 5"/>
                <a:gd name="T99" fmla="*/ 11 h 11"/>
                <a:gd name="T100" fmla="*/ 5 w 5"/>
                <a:gd name="T101" fmla="*/ 11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1"/>
                <a:gd name="T155" fmla="*/ 5 w 5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1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14" name="Freeform 231"/>
            <p:cNvSpPr>
              <a:spLocks/>
            </p:cNvSpPr>
            <p:nvPr/>
          </p:nvSpPr>
          <p:spPr bwMode="auto">
            <a:xfrm>
              <a:off x="5559" y="3307"/>
              <a:ext cx="5" cy="6"/>
            </a:xfrm>
            <a:custGeom>
              <a:avLst/>
              <a:gdLst>
                <a:gd name="T0" fmla="*/ 0 w 5"/>
                <a:gd name="T1" fmla="*/ 0 h 6"/>
                <a:gd name="T2" fmla="*/ 0 w 5"/>
                <a:gd name="T3" fmla="*/ 0 h 6"/>
                <a:gd name="T4" fmla="*/ 0 w 5"/>
                <a:gd name="T5" fmla="*/ 0 h 6"/>
                <a:gd name="T6" fmla="*/ 0 w 5"/>
                <a:gd name="T7" fmla="*/ 0 h 6"/>
                <a:gd name="T8" fmla="*/ 0 w 5"/>
                <a:gd name="T9" fmla="*/ 0 h 6"/>
                <a:gd name="T10" fmla="*/ 0 w 5"/>
                <a:gd name="T11" fmla="*/ 0 h 6"/>
                <a:gd name="T12" fmla="*/ 0 w 5"/>
                <a:gd name="T13" fmla="*/ 0 h 6"/>
                <a:gd name="T14" fmla="*/ 0 w 5"/>
                <a:gd name="T15" fmla="*/ 0 h 6"/>
                <a:gd name="T16" fmla="*/ 0 w 5"/>
                <a:gd name="T17" fmla="*/ 0 h 6"/>
                <a:gd name="T18" fmla="*/ 0 w 5"/>
                <a:gd name="T19" fmla="*/ 0 h 6"/>
                <a:gd name="T20" fmla="*/ 0 w 5"/>
                <a:gd name="T21" fmla="*/ 0 h 6"/>
                <a:gd name="T22" fmla="*/ 0 w 5"/>
                <a:gd name="T23" fmla="*/ 0 h 6"/>
                <a:gd name="T24" fmla="*/ 0 w 5"/>
                <a:gd name="T25" fmla="*/ 0 h 6"/>
                <a:gd name="T26" fmla="*/ 0 w 5"/>
                <a:gd name="T27" fmla="*/ 0 h 6"/>
                <a:gd name="T28" fmla="*/ 0 w 5"/>
                <a:gd name="T29" fmla="*/ 0 h 6"/>
                <a:gd name="T30" fmla="*/ 0 w 5"/>
                <a:gd name="T31" fmla="*/ 0 h 6"/>
                <a:gd name="T32" fmla="*/ 0 w 5"/>
                <a:gd name="T33" fmla="*/ 0 h 6"/>
                <a:gd name="T34" fmla="*/ 0 w 5"/>
                <a:gd name="T35" fmla="*/ 0 h 6"/>
                <a:gd name="T36" fmla="*/ 0 w 5"/>
                <a:gd name="T37" fmla="*/ 0 h 6"/>
                <a:gd name="T38" fmla="*/ 0 w 5"/>
                <a:gd name="T39" fmla="*/ 0 h 6"/>
                <a:gd name="T40" fmla="*/ 0 w 5"/>
                <a:gd name="T41" fmla="*/ 0 h 6"/>
                <a:gd name="T42" fmla="*/ 0 w 5"/>
                <a:gd name="T43" fmla="*/ 0 h 6"/>
                <a:gd name="T44" fmla="*/ 0 w 5"/>
                <a:gd name="T45" fmla="*/ 0 h 6"/>
                <a:gd name="T46" fmla="*/ 0 w 5"/>
                <a:gd name="T47" fmla="*/ 0 h 6"/>
                <a:gd name="T48" fmla="*/ 0 w 5"/>
                <a:gd name="T49" fmla="*/ 0 h 6"/>
                <a:gd name="T50" fmla="*/ 5 w 5"/>
                <a:gd name="T51" fmla="*/ 0 h 6"/>
                <a:gd name="T52" fmla="*/ 5 w 5"/>
                <a:gd name="T53" fmla="*/ 6 h 6"/>
                <a:gd name="T54" fmla="*/ 5 w 5"/>
                <a:gd name="T55" fmla="*/ 6 h 6"/>
                <a:gd name="T56" fmla="*/ 5 w 5"/>
                <a:gd name="T57" fmla="*/ 6 h 6"/>
                <a:gd name="T58" fmla="*/ 5 w 5"/>
                <a:gd name="T59" fmla="*/ 6 h 6"/>
                <a:gd name="T60" fmla="*/ 5 w 5"/>
                <a:gd name="T61" fmla="*/ 6 h 6"/>
                <a:gd name="T62" fmla="*/ 5 w 5"/>
                <a:gd name="T63" fmla="*/ 6 h 6"/>
                <a:gd name="T64" fmla="*/ 5 w 5"/>
                <a:gd name="T65" fmla="*/ 6 h 6"/>
                <a:gd name="T66" fmla="*/ 5 w 5"/>
                <a:gd name="T67" fmla="*/ 6 h 6"/>
                <a:gd name="T68" fmla="*/ 5 w 5"/>
                <a:gd name="T69" fmla="*/ 6 h 6"/>
                <a:gd name="T70" fmla="*/ 5 w 5"/>
                <a:gd name="T71" fmla="*/ 6 h 6"/>
                <a:gd name="T72" fmla="*/ 5 w 5"/>
                <a:gd name="T73" fmla="*/ 6 h 6"/>
                <a:gd name="T74" fmla="*/ 5 w 5"/>
                <a:gd name="T75" fmla="*/ 6 h 6"/>
                <a:gd name="T76" fmla="*/ 5 w 5"/>
                <a:gd name="T77" fmla="*/ 6 h 6"/>
                <a:gd name="T78" fmla="*/ 5 w 5"/>
                <a:gd name="T79" fmla="*/ 6 h 6"/>
                <a:gd name="T80" fmla="*/ 5 w 5"/>
                <a:gd name="T81" fmla="*/ 6 h 6"/>
                <a:gd name="T82" fmla="*/ 5 w 5"/>
                <a:gd name="T83" fmla="*/ 6 h 6"/>
                <a:gd name="T84" fmla="*/ 5 w 5"/>
                <a:gd name="T85" fmla="*/ 6 h 6"/>
                <a:gd name="T86" fmla="*/ 5 w 5"/>
                <a:gd name="T87" fmla="*/ 6 h 6"/>
                <a:gd name="T88" fmla="*/ 5 w 5"/>
                <a:gd name="T89" fmla="*/ 6 h 6"/>
                <a:gd name="T90" fmla="*/ 5 w 5"/>
                <a:gd name="T91" fmla="*/ 6 h 6"/>
                <a:gd name="T92" fmla="*/ 5 w 5"/>
                <a:gd name="T93" fmla="*/ 6 h 6"/>
                <a:gd name="T94" fmla="*/ 5 w 5"/>
                <a:gd name="T95" fmla="*/ 6 h 6"/>
                <a:gd name="T96" fmla="*/ 5 w 5"/>
                <a:gd name="T97" fmla="*/ 6 h 6"/>
                <a:gd name="T98" fmla="*/ 5 w 5"/>
                <a:gd name="T99" fmla="*/ 6 h 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6"/>
                <a:gd name="T152" fmla="*/ 5 w 5"/>
                <a:gd name="T153" fmla="*/ 6 h 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6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15" name="Freeform 232"/>
            <p:cNvSpPr>
              <a:spLocks/>
            </p:cNvSpPr>
            <p:nvPr/>
          </p:nvSpPr>
          <p:spPr bwMode="auto">
            <a:xfrm>
              <a:off x="5564" y="3313"/>
              <a:ext cx="4" cy="5"/>
            </a:xfrm>
            <a:custGeom>
              <a:avLst/>
              <a:gdLst>
                <a:gd name="T0" fmla="*/ 0 w 4"/>
                <a:gd name="T1" fmla="*/ 0 h 5"/>
                <a:gd name="T2" fmla="*/ 0 w 4"/>
                <a:gd name="T3" fmla="*/ 0 h 5"/>
                <a:gd name="T4" fmla="*/ 0 w 4"/>
                <a:gd name="T5" fmla="*/ 0 h 5"/>
                <a:gd name="T6" fmla="*/ 0 w 4"/>
                <a:gd name="T7" fmla="*/ 0 h 5"/>
                <a:gd name="T8" fmla="*/ 0 w 4"/>
                <a:gd name="T9" fmla="*/ 0 h 5"/>
                <a:gd name="T10" fmla="*/ 0 w 4"/>
                <a:gd name="T11" fmla="*/ 0 h 5"/>
                <a:gd name="T12" fmla="*/ 0 w 4"/>
                <a:gd name="T13" fmla="*/ 0 h 5"/>
                <a:gd name="T14" fmla="*/ 0 w 4"/>
                <a:gd name="T15" fmla="*/ 0 h 5"/>
                <a:gd name="T16" fmla="*/ 0 w 4"/>
                <a:gd name="T17" fmla="*/ 0 h 5"/>
                <a:gd name="T18" fmla="*/ 0 w 4"/>
                <a:gd name="T19" fmla="*/ 0 h 5"/>
                <a:gd name="T20" fmla="*/ 0 w 4"/>
                <a:gd name="T21" fmla="*/ 0 h 5"/>
                <a:gd name="T22" fmla="*/ 0 w 4"/>
                <a:gd name="T23" fmla="*/ 0 h 5"/>
                <a:gd name="T24" fmla="*/ 0 w 4"/>
                <a:gd name="T25" fmla="*/ 0 h 5"/>
                <a:gd name="T26" fmla="*/ 0 w 4"/>
                <a:gd name="T27" fmla="*/ 0 h 5"/>
                <a:gd name="T28" fmla="*/ 0 w 4"/>
                <a:gd name="T29" fmla="*/ 0 h 5"/>
                <a:gd name="T30" fmla="*/ 0 w 4"/>
                <a:gd name="T31" fmla="*/ 0 h 5"/>
                <a:gd name="T32" fmla="*/ 4 w 4"/>
                <a:gd name="T33" fmla="*/ 0 h 5"/>
                <a:gd name="T34" fmla="*/ 4 w 4"/>
                <a:gd name="T35" fmla="*/ 0 h 5"/>
                <a:gd name="T36" fmla="*/ 4 w 4"/>
                <a:gd name="T37" fmla="*/ 0 h 5"/>
                <a:gd name="T38" fmla="*/ 4 w 4"/>
                <a:gd name="T39" fmla="*/ 0 h 5"/>
                <a:gd name="T40" fmla="*/ 4 w 4"/>
                <a:gd name="T41" fmla="*/ 0 h 5"/>
                <a:gd name="T42" fmla="*/ 4 w 4"/>
                <a:gd name="T43" fmla="*/ 0 h 5"/>
                <a:gd name="T44" fmla="*/ 4 w 4"/>
                <a:gd name="T45" fmla="*/ 5 h 5"/>
                <a:gd name="T46" fmla="*/ 4 w 4"/>
                <a:gd name="T47" fmla="*/ 5 h 5"/>
                <a:gd name="T48" fmla="*/ 4 w 4"/>
                <a:gd name="T49" fmla="*/ 5 h 5"/>
                <a:gd name="T50" fmla="*/ 4 w 4"/>
                <a:gd name="T51" fmla="*/ 5 h 5"/>
                <a:gd name="T52" fmla="*/ 4 w 4"/>
                <a:gd name="T53" fmla="*/ 5 h 5"/>
                <a:gd name="T54" fmla="*/ 4 w 4"/>
                <a:gd name="T55" fmla="*/ 5 h 5"/>
                <a:gd name="T56" fmla="*/ 4 w 4"/>
                <a:gd name="T57" fmla="*/ 5 h 5"/>
                <a:gd name="T58" fmla="*/ 4 w 4"/>
                <a:gd name="T59" fmla="*/ 5 h 5"/>
                <a:gd name="T60" fmla="*/ 4 w 4"/>
                <a:gd name="T61" fmla="*/ 5 h 5"/>
                <a:gd name="T62" fmla="*/ 4 w 4"/>
                <a:gd name="T63" fmla="*/ 5 h 5"/>
                <a:gd name="T64" fmla="*/ 4 w 4"/>
                <a:gd name="T65" fmla="*/ 5 h 5"/>
                <a:gd name="T66" fmla="*/ 4 w 4"/>
                <a:gd name="T67" fmla="*/ 5 h 5"/>
                <a:gd name="T68" fmla="*/ 4 w 4"/>
                <a:gd name="T69" fmla="*/ 5 h 5"/>
                <a:gd name="T70" fmla="*/ 4 w 4"/>
                <a:gd name="T71" fmla="*/ 5 h 5"/>
                <a:gd name="T72" fmla="*/ 4 w 4"/>
                <a:gd name="T73" fmla="*/ 5 h 5"/>
                <a:gd name="T74" fmla="*/ 4 w 4"/>
                <a:gd name="T75" fmla="*/ 5 h 5"/>
                <a:gd name="T76" fmla="*/ 4 w 4"/>
                <a:gd name="T77" fmla="*/ 5 h 5"/>
                <a:gd name="T78" fmla="*/ 4 w 4"/>
                <a:gd name="T79" fmla="*/ 5 h 5"/>
                <a:gd name="T80" fmla="*/ 4 w 4"/>
                <a:gd name="T81" fmla="*/ 5 h 5"/>
                <a:gd name="T82" fmla="*/ 4 w 4"/>
                <a:gd name="T83" fmla="*/ 5 h 5"/>
                <a:gd name="T84" fmla="*/ 4 w 4"/>
                <a:gd name="T85" fmla="*/ 5 h 5"/>
                <a:gd name="T86" fmla="*/ 4 w 4"/>
                <a:gd name="T87" fmla="*/ 5 h 5"/>
                <a:gd name="T88" fmla="*/ 4 w 4"/>
                <a:gd name="T89" fmla="*/ 5 h 5"/>
                <a:gd name="T90" fmla="*/ 4 w 4"/>
                <a:gd name="T91" fmla="*/ 5 h 5"/>
                <a:gd name="T92" fmla="*/ 4 w 4"/>
                <a:gd name="T93" fmla="*/ 5 h 5"/>
                <a:gd name="T94" fmla="*/ 4 w 4"/>
                <a:gd name="T95" fmla="*/ 5 h 5"/>
                <a:gd name="T96" fmla="*/ 4 w 4"/>
                <a:gd name="T97" fmla="*/ 5 h 5"/>
                <a:gd name="T98" fmla="*/ 4 w 4"/>
                <a:gd name="T99" fmla="*/ 5 h 5"/>
                <a:gd name="T100" fmla="*/ 4 w 4"/>
                <a:gd name="T101" fmla="*/ 5 h 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5"/>
                <a:gd name="T155" fmla="*/ 4 w 4"/>
                <a:gd name="T156" fmla="*/ 5 h 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5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16" name="Freeform 233"/>
            <p:cNvSpPr>
              <a:spLocks/>
            </p:cNvSpPr>
            <p:nvPr/>
          </p:nvSpPr>
          <p:spPr bwMode="auto">
            <a:xfrm>
              <a:off x="5568" y="3318"/>
              <a:ext cx="10" cy="1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0 w 10"/>
                <a:gd name="T5" fmla="*/ 0 h 1"/>
                <a:gd name="T6" fmla="*/ 0 w 10"/>
                <a:gd name="T7" fmla="*/ 0 h 1"/>
                <a:gd name="T8" fmla="*/ 0 w 10"/>
                <a:gd name="T9" fmla="*/ 0 h 1"/>
                <a:gd name="T10" fmla="*/ 0 w 10"/>
                <a:gd name="T11" fmla="*/ 0 h 1"/>
                <a:gd name="T12" fmla="*/ 5 w 10"/>
                <a:gd name="T13" fmla="*/ 0 h 1"/>
                <a:gd name="T14" fmla="*/ 5 w 10"/>
                <a:gd name="T15" fmla="*/ 0 h 1"/>
                <a:gd name="T16" fmla="*/ 5 w 10"/>
                <a:gd name="T17" fmla="*/ 0 h 1"/>
                <a:gd name="T18" fmla="*/ 5 w 10"/>
                <a:gd name="T19" fmla="*/ 0 h 1"/>
                <a:gd name="T20" fmla="*/ 5 w 10"/>
                <a:gd name="T21" fmla="*/ 0 h 1"/>
                <a:gd name="T22" fmla="*/ 5 w 10"/>
                <a:gd name="T23" fmla="*/ 0 h 1"/>
                <a:gd name="T24" fmla="*/ 5 w 10"/>
                <a:gd name="T25" fmla="*/ 0 h 1"/>
                <a:gd name="T26" fmla="*/ 5 w 10"/>
                <a:gd name="T27" fmla="*/ 0 h 1"/>
                <a:gd name="T28" fmla="*/ 5 w 10"/>
                <a:gd name="T29" fmla="*/ 0 h 1"/>
                <a:gd name="T30" fmla="*/ 5 w 10"/>
                <a:gd name="T31" fmla="*/ 0 h 1"/>
                <a:gd name="T32" fmla="*/ 5 w 10"/>
                <a:gd name="T33" fmla="*/ 0 h 1"/>
                <a:gd name="T34" fmla="*/ 5 w 10"/>
                <a:gd name="T35" fmla="*/ 0 h 1"/>
                <a:gd name="T36" fmla="*/ 5 w 10"/>
                <a:gd name="T37" fmla="*/ 0 h 1"/>
                <a:gd name="T38" fmla="*/ 5 w 10"/>
                <a:gd name="T39" fmla="*/ 0 h 1"/>
                <a:gd name="T40" fmla="*/ 5 w 10"/>
                <a:gd name="T41" fmla="*/ 0 h 1"/>
                <a:gd name="T42" fmla="*/ 5 w 10"/>
                <a:gd name="T43" fmla="*/ 0 h 1"/>
                <a:gd name="T44" fmla="*/ 5 w 10"/>
                <a:gd name="T45" fmla="*/ 0 h 1"/>
                <a:gd name="T46" fmla="*/ 5 w 10"/>
                <a:gd name="T47" fmla="*/ 0 h 1"/>
                <a:gd name="T48" fmla="*/ 5 w 10"/>
                <a:gd name="T49" fmla="*/ 0 h 1"/>
                <a:gd name="T50" fmla="*/ 5 w 10"/>
                <a:gd name="T51" fmla="*/ 0 h 1"/>
                <a:gd name="T52" fmla="*/ 5 w 10"/>
                <a:gd name="T53" fmla="*/ 0 h 1"/>
                <a:gd name="T54" fmla="*/ 5 w 10"/>
                <a:gd name="T55" fmla="*/ 0 h 1"/>
                <a:gd name="T56" fmla="*/ 5 w 10"/>
                <a:gd name="T57" fmla="*/ 0 h 1"/>
                <a:gd name="T58" fmla="*/ 5 w 10"/>
                <a:gd name="T59" fmla="*/ 0 h 1"/>
                <a:gd name="T60" fmla="*/ 5 w 10"/>
                <a:gd name="T61" fmla="*/ 0 h 1"/>
                <a:gd name="T62" fmla="*/ 5 w 10"/>
                <a:gd name="T63" fmla="*/ 0 h 1"/>
                <a:gd name="T64" fmla="*/ 5 w 10"/>
                <a:gd name="T65" fmla="*/ 0 h 1"/>
                <a:gd name="T66" fmla="*/ 5 w 10"/>
                <a:gd name="T67" fmla="*/ 0 h 1"/>
                <a:gd name="T68" fmla="*/ 5 w 10"/>
                <a:gd name="T69" fmla="*/ 0 h 1"/>
                <a:gd name="T70" fmla="*/ 5 w 10"/>
                <a:gd name="T71" fmla="*/ 0 h 1"/>
                <a:gd name="T72" fmla="*/ 5 w 10"/>
                <a:gd name="T73" fmla="*/ 0 h 1"/>
                <a:gd name="T74" fmla="*/ 5 w 10"/>
                <a:gd name="T75" fmla="*/ 0 h 1"/>
                <a:gd name="T76" fmla="*/ 5 w 10"/>
                <a:gd name="T77" fmla="*/ 0 h 1"/>
                <a:gd name="T78" fmla="*/ 5 w 10"/>
                <a:gd name="T79" fmla="*/ 0 h 1"/>
                <a:gd name="T80" fmla="*/ 5 w 10"/>
                <a:gd name="T81" fmla="*/ 0 h 1"/>
                <a:gd name="T82" fmla="*/ 5 w 10"/>
                <a:gd name="T83" fmla="*/ 0 h 1"/>
                <a:gd name="T84" fmla="*/ 5 w 10"/>
                <a:gd name="T85" fmla="*/ 0 h 1"/>
                <a:gd name="T86" fmla="*/ 5 w 10"/>
                <a:gd name="T87" fmla="*/ 0 h 1"/>
                <a:gd name="T88" fmla="*/ 5 w 10"/>
                <a:gd name="T89" fmla="*/ 0 h 1"/>
                <a:gd name="T90" fmla="*/ 5 w 10"/>
                <a:gd name="T91" fmla="*/ 0 h 1"/>
                <a:gd name="T92" fmla="*/ 10 w 10"/>
                <a:gd name="T93" fmla="*/ 0 h 1"/>
                <a:gd name="T94" fmla="*/ 10 w 10"/>
                <a:gd name="T95" fmla="*/ 0 h 1"/>
                <a:gd name="T96" fmla="*/ 10 w 10"/>
                <a:gd name="T97" fmla="*/ 0 h 1"/>
                <a:gd name="T98" fmla="*/ 10 w 10"/>
                <a:gd name="T99" fmla="*/ 0 h 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0"/>
                <a:gd name="T151" fmla="*/ 0 h 1"/>
                <a:gd name="T152" fmla="*/ 10 w 10"/>
                <a:gd name="T153" fmla="*/ 1 h 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1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17" name="Freeform 234"/>
            <p:cNvSpPr>
              <a:spLocks/>
            </p:cNvSpPr>
            <p:nvPr/>
          </p:nvSpPr>
          <p:spPr bwMode="auto">
            <a:xfrm>
              <a:off x="5578" y="3318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"/>
                <a:gd name="T67" fmla="*/ 0 h 1"/>
                <a:gd name="T68" fmla="*/ 1 w 1"/>
                <a:gd name="T69" fmla="*/ 1 h 1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18" name="Line 235"/>
            <p:cNvSpPr>
              <a:spLocks noChangeShapeType="1"/>
            </p:cNvSpPr>
            <p:nvPr/>
          </p:nvSpPr>
          <p:spPr bwMode="auto">
            <a:xfrm>
              <a:off x="4272" y="3312"/>
              <a:ext cx="1488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19" name="Line 236"/>
            <p:cNvSpPr>
              <a:spLocks noChangeShapeType="1"/>
            </p:cNvSpPr>
            <p:nvPr/>
          </p:nvSpPr>
          <p:spPr bwMode="auto">
            <a:xfrm flipV="1">
              <a:off x="4368" y="2688"/>
              <a:ext cx="0" cy="624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9720" name="Object 237"/>
            <p:cNvGraphicFramePr>
              <a:graphicFrameLocks noChangeAspect="1"/>
            </p:cNvGraphicFramePr>
            <p:nvPr/>
          </p:nvGraphicFramePr>
          <p:xfrm>
            <a:off x="4400" y="2552"/>
            <a:ext cx="19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07" name="Equation" r:id="rId13" imgW="152268" imgH="215713" progId="Equation.DSMT4">
                    <p:embed/>
                  </p:oleObj>
                </mc:Choice>
                <mc:Fallback>
                  <p:oleObj name="Equation" r:id="rId13" imgW="152268" imgH="215713" progId="Equation.DSMT4">
                    <p:embed/>
                    <p:pic>
                      <p:nvPicPr>
                        <p:cNvPr id="0" name="Object 2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0" y="2552"/>
                          <a:ext cx="19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721" name="Object 238"/>
            <p:cNvGraphicFramePr>
              <a:graphicFrameLocks noChangeAspect="1"/>
            </p:cNvGraphicFramePr>
            <p:nvPr/>
          </p:nvGraphicFramePr>
          <p:xfrm>
            <a:off x="5448" y="3320"/>
            <a:ext cx="2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08" name="Equation" r:id="rId15" imgW="190335" imgH="215713" progId="Equation.DSMT4">
                    <p:embed/>
                  </p:oleObj>
                </mc:Choice>
                <mc:Fallback>
                  <p:oleObj name="Equation" r:id="rId15" imgW="190335" imgH="215713" progId="Equation.DSMT4">
                    <p:embed/>
                    <p:pic>
                      <p:nvPicPr>
                        <p:cNvPr id="0" name="Object 2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8" y="3320"/>
                          <a:ext cx="24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722" name="Object 239"/>
            <p:cNvGraphicFramePr>
              <a:graphicFrameLocks noChangeAspect="1"/>
            </p:cNvGraphicFramePr>
            <p:nvPr/>
          </p:nvGraphicFramePr>
          <p:xfrm>
            <a:off x="5636" y="3050"/>
            <a:ext cx="13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09" name="Equation" r:id="rId17" imgW="114201" imgH="203024" progId="Equation.DSMT4">
                    <p:embed/>
                  </p:oleObj>
                </mc:Choice>
                <mc:Fallback>
                  <p:oleObj name="Equation" r:id="rId17" imgW="114201" imgH="203024" progId="Equation.DSMT4">
                    <p:embed/>
                    <p:pic>
                      <p:nvPicPr>
                        <p:cNvPr id="0" name="Object 2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36" y="3050"/>
                          <a:ext cx="13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723" name="Line 240"/>
            <p:cNvSpPr>
              <a:spLocks noChangeShapeType="1"/>
            </p:cNvSpPr>
            <p:nvPr/>
          </p:nvSpPr>
          <p:spPr bwMode="auto">
            <a:xfrm>
              <a:off x="4416" y="2928"/>
              <a:ext cx="1008" cy="0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9724" name="Object 241"/>
            <p:cNvGraphicFramePr>
              <a:graphicFrameLocks noChangeAspect="1"/>
            </p:cNvGraphicFramePr>
            <p:nvPr/>
          </p:nvGraphicFramePr>
          <p:xfrm>
            <a:off x="4131" y="2716"/>
            <a:ext cx="191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10" name="Equation" r:id="rId19" imgW="295255" imgH="676350" progId="Equation.DSMT4">
                    <p:embed/>
                  </p:oleObj>
                </mc:Choice>
                <mc:Fallback>
                  <p:oleObj name="Equation" r:id="rId19" imgW="295255" imgH="676350" progId="Equation.DSMT4">
                    <p:embed/>
                    <p:pic>
                      <p:nvPicPr>
                        <p:cNvPr id="0" name="Object 2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1" y="2716"/>
                          <a:ext cx="191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725" name="Object 242"/>
            <p:cNvGraphicFramePr>
              <a:graphicFrameLocks noChangeAspect="1"/>
            </p:cNvGraphicFramePr>
            <p:nvPr/>
          </p:nvGraphicFramePr>
          <p:xfrm>
            <a:off x="4606" y="3406"/>
            <a:ext cx="140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11" name="Equation" r:id="rId21" imgW="330057" imgH="672808" progId="Equation.DSMT4">
                    <p:embed/>
                  </p:oleObj>
                </mc:Choice>
                <mc:Fallback>
                  <p:oleObj name="Equation" r:id="rId21" imgW="330057" imgH="672808" progId="Equation.DSMT4">
                    <p:embed/>
                    <p:pic>
                      <p:nvPicPr>
                        <p:cNvPr id="0" name="Object 2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6" y="3406"/>
                          <a:ext cx="140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726" name="Object 243"/>
            <p:cNvGraphicFramePr>
              <a:graphicFrameLocks noChangeAspect="1"/>
            </p:cNvGraphicFramePr>
            <p:nvPr/>
          </p:nvGraphicFramePr>
          <p:xfrm>
            <a:off x="4306" y="3285"/>
            <a:ext cx="165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12" name="Equation" r:id="rId23" imgW="152334" imgH="228501" progId="Equation.DSMT4">
                    <p:embed/>
                  </p:oleObj>
                </mc:Choice>
                <mc:Fallback>
                  <p:oleObj name="Equation" r:id="rId23" imgW="152334" imgH="228501" progId="Equation.DSMT4">
                    <p:embed/>
                    <p:pic>
                      <p:nvPicPr>
                        <p:cNvPr id="0" name="Object 2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6" y="3285"/>
                          <a:ext cx="165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44"/>
          <p:cNvGrpSpPr>
            <a:grpSpLocks/>
          </p:cNvGrpSpPr>
          <p:nvPr/>
        </p:nvGrpSpPr>
        <p:grpSpPr bwMode="auto">
          <a:xfrm>
            <a:off x="4202113" y="1493838"/>
            <a:ext cx="4495800" cy="1720850"/>
            <a:chOff x="2832" y="840"/>
            <a:chExt cx="2832" cy="1084"/>
          </a:xfrm>
        </p:grpSpPr>
        <p:grpSp>
          <p:nvGrpSpPr>
            <p:cNvPr id="19474" name="Group 245"/>
            <p:cNvGrpSpPr>
              <a:grpSpLocks/>
            </p:cNvGrpSpPr>
            <p:nvPr/>
          </p:nvGrpSpPr>
          <p:grpSpPr bwMode="auto">
            <a:xfrm>
              <a:off x="3840" y="1296"/>
              <a:ext cx="240" cy="259"/>
              <a:chOff x="3408" y="2880"/>
              <a:chExt cx="240" cy="259"/>
            </a:xfrm>
          </p:grpSpPr>
          <p:sp>
            <p:nvSpPr>
              <p:cNvPr id="19511" name="Line 246"/>
              <p:cNvSpPr>
                <a:spLocks noChangeShapeType="1"/>
              </p:cNvSpPr>
              <p:nvPr/>
            </p:nvSpPr>
            <p:spPr bwMode="auto">
              <a:xfrm>
                <a:off x="3408" y="2880"/>
                <a:ext cx="0" cy="259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512" name="Line 247"/>
              <p:cNvSpPr>
                <a:spLocks noChangeShapeType="1"/>
              </p:cNvSpPr>
              <p:nvPr/>
            </p:nvSpPr>
            <p:spPr bwMode="auto">
              <a:xfrm>
                <a:off x="3648" y="2880"/>
                <a:ext cx="0" cy="259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9475" name="Group 248"/>
            <p:cNvGrpSpPr>
              <a:grpSpLocks/>
            </p:cNvGrpSpPr>
            <p:nvPr/>
          </p:nvGrpSpPr>
          <p:grpSpPr bwMode="auto">
            <a:xfrm>
              <a:off x="4560" y="1344"/>
              <a:ext cx="314" cy="173"/>
              <a:chOff x="2784" y="3984"/>
              <a:chExt cx="314" cy="173"/>
            </a:xfrm>
          </p:grpSpPr>
          <p:sp>
            <p:nvSpPr>
              <p:cNvPr id="19509" name="Line 249"/>
              <p:cNvSpPr>
                <a:spLocks noChangeShapeType="1"/>
              </p:cNvSpPr>
              <p:nvPr/>
            </p:nvSpPr>
            <p:spPr bwMode="auto">
              <a:xfrm flipH="1">
                <a:off x="2784" y="3984"/>
                <a:ext cx="121" cy="173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510" name="Line 250"/>
              <p:cNvSpPr>
                <a:spLocks noChangeShapeType="1"/>
              </p:cNvSpPr>
              <p:nvPr/>
            </p:nvSpPr>
            <p:spPr bwMode="auto">
              <a:xfrm flipH="1">
                <a:off x="2976" y="3984"/>
                <a:ext cx="122" cy="173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19476" name="Object 251"/>
            <p:cNvGraphicFramePr>
              <a:graphicFrameLocks noChangeAspect="1"/>
            </p:cNvGraphicFramePr>
            <p:nvPr/>
          </p:nvGraphicFramePr>
          <p:xfrm>
            <a:off x="3840" y="1527"/>
            <a:ext cx="217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13" name="Equation" r:id="rId25" imgW="165028" imgH="228501" progId="Equation.DSMT4">
                    <p:embed/>
                  </p:oleObj>
                </mc:Choice>
                <mc:Fallback>
                  <p:oleObj name="Equation" r:id="rId25" imgW="165028" imgH="228501" progId="Equation.DSMT4">
                    <p:embed/>
                    <p:pic>
                      <p:nvPicPr>
                        <p:cNvPr id="0" name="Object 2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527"/>
                          <a:ext cx="217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7" name="Object 252"/>
            <p:cNvGraphicFramePr>
              <a:graphicFrameLocks noChangeAspect="1"/>
            </p:cNvGraphicFramePr>
            <p:nvPr/>
          </p:nvGraphicFramePr>
          <p:xfrm>
            <a:off x="4608" y="1527"/>
            <a:ext cx="236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14" name="Equation" r:id="rId27" imgW="177646" imgH="228402" progId="Equation.DSMT4">
                    <p:embed/>
                  </p:oleObj>
                </mc:Choice>
                <mc:Fallback>
                  <p:oleObj name="Equation" r:id="rId27" imgW="177646" imgH="228402" progId="Equation.DSMT4">
                    <p:embed/>
                    <p:pic>
                      <p:nvPicPr>
                        <p:cNvPr id="0" name="Object 2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527"/>
                          <a:ext cx="236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478" name="Group 253"/>
            <p:cNvGrpSpPr>
              <a:grpSpLocks/>
            </p:cNvGrpSpPr>
            <p:nvPr/>
          </p:nvGrpSpPr>
          <p:grpSpPr bwMode="auto">
            <a:xfrm>
              <a:off x="5232" y="1344"/>
              <a:ext cx="347" cy="173"/>
              <a:chOff x="4416" y="3888"/>
              <a:chExt cx="347" cy="173"/>
            </a:xfrm>
          </p:grpSpPr>
          <p:sp>
            <p:nvSpPr>
              <p:cNvPr id="19507" name="Line 254"/>
              <p:cNvSpPr>
                <a:spLocks noChangeShapeType="1"/>
              </p:cNvSpPr>
              <p:nvPr/>
            </p:nvSpPr>
            <p:spPr bwMode="auto">
              <a:xfrm>
                <a:off x="4416" y="3888"/>
                <a:ext cx="203" cy="173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508" name="Line 255"/>
              <p:cNvSpPr>
                <a:spLocks noChangeShapeType="1"/>
              </p:cNvSpPr>
              <p:nvPr/>
            </p:nvSpPr>
            <p:spPr bwMode="auto">
              <a:xfrm>
                <a:off x="4560" y="3888"/>
                <a:ext cx="203" cy="173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9479" name="Group 256"/>
            <p:cNvGrpSpPr>
              <a:grpSpLocks/>
            </p:cNvGrpSpPr>
            <p:nvPr/>
          </p:nvGrpSpPr>
          <p:grpSpPr bwMode="auto">
            <a:xfrm>
              <a:off x="4936" y="1176"/>
              <a:ext cx="283" cy="517"/>
              <a:chOff x="1680" y="3408"/>
              <a:chExt cx="336" cy="576"/>
            </a:xfrm>
          </p:grpSpPr>
          <p:sp>
            <p:nvSpPr>
              <p:cNvPr id="19505" name="Oval 257"/>
              <p:cNvSpPr>
                <a:spLocks noChangeArrowheads="1"/>
              </p:cNvSpPr>
              <p:nvPr/>
            </p:nvSpPr>
            <p:spPr bwMode="auto">
              <a:xfrm>
                <a:off x="1728" y="3408"/>
                <a:ext cx="288" cy="576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9506" name="Oval 258"/>
              <p:cNvSpPr>
                <a:spLocks noChangeArrowheads="1"/>
              </p:cNvSpPr>
              <p:nvPr/>
            </p:nvSpPr>
            <p:spPr bwMode="auto">
              <a:xfrm>
                <a:off x="1680" y="3408"/>
                <a:ext cx="288" cy="576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grpSp>
          <p:nvGrpSpPr>
            <p:cNvPr id="19480" name="Group 259"/>
            <p:cNvGrpSpPr>
              <a:grpSpLocks/>
            </p:cNvGrpSpPr>
            <p:nvPr/>
          </p:nvGrpSpPr>
          <p:grpSpPr bwMode="auto">
            <a:xfrm>
              <a:off x="4208" y="1176"/>
              <a:ext cx="283" cy="517"/>
              <a:chOff x="1680" y="3408"/>
              <a:chExt cx="336" cy="576"/>
            </a:xfrm>
          </p:grpSpPr>
          <p:sp>
            <p:nvSpPr>
              <p:cNvPr id="19503" name="Oval 260"/>
              <p:cNvSpPr>
                <a:spLocks noChangeArrowheads="1"/>
              </p:cNvSpPr>
              <p:nvPr/>
            </p:nvSpPr>
            <p:spPr bwMode="auto">
              <a:xfrm>
                <a:off x="1728" y="3408"/>
                <a:ext cx="288" cy="576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9504" name="Oval 261"/>
              <p:cNvSpPr>
                <a:spLocks noChangeArrowheads="1"/>
              </p:cNvSpPr>
              <p:nvPr/>
            </p:nvSpPr>
            <p:spPr bwMode="auto">
              <a:xfrm>
                <a:off x="1680" y="3408"/>
                <a:ext cx="288" cy="576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19481" name="Line 262"/>
            <p:cNvSpPr>
              <a:spLocks noChangeShapeType="1"/>
            </p:cNvSpPr>
            <p:nvPr/>
          </p:nvSpPr>
          <p:spPr bwMode="auto">
            <a:xfrm>
              <a:off x="3682" y="1435"/>
              <a:ext cx="647" cy="0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2" name="Line 263"/>
            <p:cNvSpPr>
              <a:spLocks noChangeShapeType="1"/>
            </p:cNvSpPr>
            <p:nvPr/>
          </p:nvSpPr>
          <p:spPr bwMode="auto">
            <a:xfrm>
              <a:off x="4491" y="1435"/>
              <a:ext cx="566" cy="0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3" name="Line 264"/>
            <p:cNvSpPr>
              <a:spLocks noChangeShapeType="1"/>
            </p:cNvSpPr>
            <p:nvPr/>
          </p:nvSpPr>
          <p:spPr bwMode="auto">
            <a:xfrm>
              <a:off x="4329" y="1003"/>
              <a:ext cx="0" cy="820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4" name="Line 265"/>
            <p:cNvSpPr>
              <a:spLocks noChangeShapeType="1"/>
            </p:cNvSpPr>
            <p:nvPr/>
          </p:nvSpPr>
          <p:spPr bwMode="auto">
            <a:xfrm flipH="1">
              <a:off x="4127" y="1133"/>
              <a:ext cx="404" cy="604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5" name="Arc 266"/>
            <p:cNvSpPr>
              <a:spLocks/>
            </p:cNvSpPr>
            <p:nvPr/>
          </p:nvSpPr>
          <p:spPr bwMode="auto">
            <a:xfrm>
              <a:off x="4329" y="1134"/>
              <a:ext cx="158" cy="302"/>
            </a:xfrm>
            <a:custGeom>
              <a:avLst/>
              <a:gdLst>
                <a:gd name="T0" fmla="*/ 0 w 14044"/>
                <a:gd name="T1" fmla="*/ 0 h 21591"/>
                <a:gd name="T2" fmla="*/ 0 w 14044"/>
                <a:gd name="T3" fmla="*/ 0 h 21591"/>
                <a:gd name="T4" fmla="*/ 0 w 14044"/>
                <a:gd name="T5" fmla="*/ 0 h 21591"/>
                <a:gd name="T6" fmla="*/ 0 60000 65536"/>
                <a:gd name="T7" fmla="*/ 0 60000 65536"/>
                <a:gd name="T8" fmla="*/ 0 60000 65536"/>
                <a:gd name="T9" fmla="*/ 0 w 14044"/>
                <a:gd name="T10" fmla="*/ 0 h 21591"/>
                <a:gd name="T11" fmla="*/ 14044 w 14044"/>
                <a:gd name="T12" fmla="*/ 21591 h 215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44" h="21591" fill="none" extrusionOk="0">
                  <a:moveTo>
                    <a:pt x="614" y="-1"/>
                  </a:moveTo>
                  <a:cubicBezTo>
                    <a:pt x="5551" y="140"/>
                    <a:pt x="10290" y="1968"/>
                    <a:pt x="14043" y="5179"/>
                  </a:cubicBezTo>
                </a:path>
                <a:path w="14044" h="21591" stroke="0" extrusionOk="0">
                  <a:moveTo>
                    <a:pt x="614" y="-1"/>
                  </a:moveTo>
                  <a:cubicBezTo>
                    <a:pt x="5551" y="140"/>
                    <a:pt x="10290" y="1968"/>
                    <a:pt x="14043" y="5179"/>
                  </a:cubicBezTo>
                  <a:lnTo>
                    <a:pt x="0" y="21591"/>
                  </a:lnTo>
                  <a:lnTo>
                    <a:pt x="614" y="-1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486" name="Group 267"/>
            <p:cNvGrpSpPr>
              <a:grpSpLocks/>
            </p:cNvGrpSpPr>
            <p:nvPr/>
          </p:nvGrpSpPr>
          <p:grpSpPr bwMode="auto">
            <a:xfrm>
              <a:off x="3399" y="1176"/>
              <a:ext cx="283" cy="517"/>
              <a:chOff x="1680" y="3408"/>
              <a:chExt cx="336" cy="576"/>
            </a:xfrm>
          </p:grpSpPr>
          <p:sp>
            <p:nvSpPr>
              <p:cNvPr id="19501" name="Oval 268"/>
              <p:cNvSpPr>
                <a:spLocks noChangeArrowheads="1"/>
              </p:cNvSpPr>
              <p:nvPr/>
            </p:nvSpPr>
            <p:spPr bwMode="auto">
              <a:xfrm>
                <a:off x="1728" y="3408"/>
                <a:ext cx="288" cy="576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9502" name="Oval 269"/>
              <p:cNvSpPr>
                <a:spLocks noChangeArrowheads="1"/>
              </p:cNvSpPr>
              <p:nvPr/>
            </p:nvSpPr>
            <p:spPr bwMode="auto">
              <a:xfrm>
                <a:off x="1680" y="3408"/>
                <a:ext cx="288" cy="576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19487" name="Line 270"/>
            <p:cNvSpPr>
              <a:spLocks noChangeShapeType="1"/>
            </p:cNvSpPr>
            <p:nvPr/>
          </p:nvSpPr>
          <p:spPr bwMode="auto">
            <a:xfrm>
              <a:off x="2832" y="1434"/>
              <a:ext cx="688" cy="0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8" name="Line 271"/>
            <p:cNvSpPr>
              <a:spLocks noChangeShapeType="1"/>
            </p:cNvSpPr>
            <p:nvPr/>
          </p:nvSpPr>
          <p:spPr bwMode="auto">
            <a:xfrm>
              <a:off x="3520" y="1003"/>
              <a:ext cx="0" cy="820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9" name="Line 272"/>
            <p:cNvSpPr>
              <a:spLocks noChangeShapeType="1"/>
            </p:cNvSpPr>
            <p:nvPr/>
          </p:nvSpPr>
          <p:spPr bwMode="auto">
            <a:xfrm>
              <a:off x="2953" y="1305"/>
              <a:ext cx="0" cy="259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0" name="Line 273"/>
            <p:cNvSpPr>
              <a:spLocks noChangeShapeType="1"/>
            </p:cNvSpPr>
            <p:nvPr/>
          </p:nvSpPr>
          <p:spPr bwMode="auto">
            <a:xfrm>
              <a:off x="3156" y="1305"/>
              <a:ext cx="0" cy="259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1" name="Oval 274"/>
            <p:cNvSpPr>
              <a:spLocks noChangeArrowheads="1"/>
            </p:cNvSpPr>
            <p:nvPr/>
          </p:nvSpPr>
          <p:spPr bwMode="auto">
            <a:xfrm>
              <a:off x="2994" y="1391"/>
              <a:ext cx="81" cy="87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9492" name="Oval 275"/>
            <p:cNvSpPr>
              <a:spLocks noChangeArrowheads="1"/>
            </p:cNvSpPr>
            <p:nvPr/>
          </p:nvSpPr>
          <p:spPr bwMode="auto">
            <a:xfrm>
              <a:off x="3237" y="1391"/>
              <a:ext cx="81" cy="87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19493" name="Object 276"/>
            <p:cNvGraphicFramePr>
              <a:graphicFrameLocks noChangeAspect="1"/>
            </p:cNvGraphicFramePr>
            <p:nvPr/>
          </p:nvGraphicFramePr>
          <p:xfrm>
            <a:off x="3109" y="1599"/>
            <a:ext cx="226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15" name="Equation" r:id="rId29" imgW="215713" imgH="291847" progId="Equation.DSMT4">
                    <p:embed/>
                  </p:oleObj>
                </mc:Choice>
                <mc:Fallback>
                  <p:oleObj name="Equation" r:id="rId29" imgW="215713" imgH="291847" progId="Equation.DSMT4">
                    <p:embed/>
                    <p:pic>
                      <p:nvPicPr>
                        <p:cNvPr id="0" name="Object 2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9" y="1599"/>
                          <a:ext cx="226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4" name="Line 277"/>
            <p:cNvSpPr>
              <a:spLocks noChangeShapeType="1"/>
            </p:cNvSpPr>
            <p:nvPr/>
          </p:nvSpPr>
          <p:spPr bwMode="auto">
            <a:xfrm>
              <a:off x="5057" y="960"/>
              <a:ext cx="0" cy="863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5" name="Line 278"/>
            <p:cNvSpPr>
              <a:spLocks noChangeShapeType="1"/>
            </p:cNvSpPr>
            <p:nvPr/>
          </p:nvSpPr>
          <p:spPr bwMode="auto">
            <a:xfrm>
              <a:off x="4855" y="1262"/>
              <a:ext cx="445" cy="431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6" name="Line 279"/>
            <p:cNvSpPr>
              <a:spLocks noChangeShapeType="1"/>
            </p:cNvSpPr>
            <p:nvPr/>
          </p:nvSpPr>
          <p:spPr bwMode="auto">
            <a:xfrm>
              <a:off x="5219" y="1435"/>
              <a:ext cx="445" cy="0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9497" name="Object 280"/>
            <p:cNvGraphicFramePr>
              <a:graphicFrameLocks noChangeAspect="1"/>
            </p:cNvGraphicFramePr>
            <p:nvPr/>
          </p:nvGraphicFramePr>
          <p:xfrm>
            <a:off x="5455" y="1491"/>
            <a:ext cx="20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16" name="Equation" r:id="rId31" imgW="152268" imgH="215713" progId="Equation.DSMT4">
                    <p:embed/>
                  </p:oleObj>
                </mc:Choice>
                <mc:Fallback>
                  <p:oleObj name="Equation" r:id="rId31" imgW="152268" imgH="215713" progId="Equation.DSMT4">
                    <p:embed/>
                    <p:pic>
                      <p:nvPicPr>
                        <p:cNvPr id="0" name="Object 2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55" y="1491"/>
                          <a:ext cx="202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98" name="Object 281"/>
            <p:cNvGraphicFramePr>
              <a:graphicFrameLocks noChangeAspect="1"/>
            </p:cNvGraphicFramePr>
            <p:nvPr/>
          </p:nvGraphicFramePr>
          <p:xfrm>
            <a:off x="3480" y="840"/>
            <a:ext cx="104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17" name="Equation" r:id="rId33" imgW="164814" imgH="177492" progId="Equation.DSMT4">
                    <p:embed/>
                  </p:oleObj>
                </mc:Choice>
                <mc:Fallback>
                  <p:oleObj name="Equation" r:id="rId33" imgW="164814" imgH="177492" progId="Equation.DSMT4">
                    <p:embed/>
                    <p:pic>
                      <p:nvPicPr>
                        <p:cNvPr id="0" name="Object 2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0" y="840"/>
                          <a:ext cx="104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99" name="Object 282"/>
            <p:cNvGraphicFramePr>
              <a:graphicFrameLocks noChangeAspect="1"/>
            </p:cNvGraphicFramePr>
            <p:nvPr/>
          </p:nvGraphicFramePr>
          <p:xfrm>
            <a:off x="4536" y="944"/>
            <a:ext cx="9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18" name="Equation" r:id="rId35" imgW="152334" imgH="228501" progId="Equation.DSMT4">
                    <p:embed/>
                  </p:oleObj>
                </mc:Choice>
                <mc:Fallback>
                  <p:oleObj name="Equation" r:id="rId35" imgW="152334" imgH="228501" progId="Equation.DSMT4">
                    <p:embed/>
                    <p:pic>
                      <p:nvPicPr>
                        <p:cNvPr id="0" name="Object 2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6" y="944"/>
                          <a:ext cx="9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00" name="Object 283"/>
            <p:cNvGraphicFramePr>
              <a:graphicFrameLocks noChangeAspect="1"/>
            </p:cNvGraphicFramePr>
            <p:nvPr/>
          </p:nvGraphicFramePr>
          <p:xfrm>
            <a:off x="5300" y="1752"/>
            <a:ext cx="96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19" name="Equation" r:id="rId37" imgW="152202" imgH="177569" progId="Equation.DSMT4">
                    <p:embed/>
                  </p:oleObj>
                </mc:Choice>
                <mc:Fallback>
                  <p:oleObj name="Equation" r:id="rId37" imgW="152202" imgH="177569" progId="Equation.DSMT4">
                    <p:embed/>
                    <p:pic>
                      <p:nvPicPr>
                        <p:cNvPr id="0" name="Object 2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0" y="1752"/>
                          <a:ext cx="96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548" name="Object 284"/>
          <p:cNvGraphicFramePr>
            <a:graphicFrameLocks noChangeAspect="1"/>
          </p:cNvGraphicFramePr>
          <p:nvPr/>
        </p:nvGraphicFramePr>
        <p:xfrm>
          <a:off x="1687513" y="4238625"/>
          <a:ext cx="4071937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20" name="Equation" r:id="rId39" imgW="3898900" imgH="774700" progId="Equation.DSMT4">
                  <p:embed/>
                </p:oleObj>
              </mc:Choice>
              <mc:Fallback>
                <p:oleObj name="Equation" r:id="rId39" imgW="3898900" imgH="774700" progId="Equation.DSMT4">
                  <p:embed/>
                  <p:pic>
                    <p:nvPicPr>
                      <p:cNvPr id="0" name="Object 2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513" y="4238625"/>
                        <a:ext cx="4071937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49" name="Object 285"/>
          <p:cNvGraphicFramePr>
            <a:graphicFrameLocks noChangeAspect="1"/>
          </p:cNvGraphicFramePr>
          <p:nvPr/>
        </p:nvGraphicFramePr>
        <p:xfrm>
          <a:off x="1687513" y="5119688"/>
          <a:ext cx="277812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21" name="Equation" r:id="rId41" imgW="2578100" imgH="774700" progId="Equation.DSMT4">
                  <p:embed/>
                </p:oleObj>
              </mc:Choice>
              <mc:Fallback>
                <p:oleObj name="Equation" r:id="rId41" imgW="2578100" imgH="774700" progId="Equation.DSMT4">
                  <p:embed/>
                  <p:pic>
                    <p:nvPicPr>
                      <p:cNvPr id="0" name="Object 2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513" y="5119688"/>
                        <a:ext cx="2778125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53" name="Object 289"/>
          <p:cNvGraphicFramePr>
            <a:graphicFrameLocks noChangeAspect="1"/>
          </p:cNvGraphicFramePr>
          <p:nvPr/>
        </p:nvGraphicFramePr>
        <p:xfrm>
          <a:off x="1733550" y="2670175"/>
          <a:ext cx="1743075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22" name="Equation" r:id="rId43" imgW="1637589" imgH="774364" progId="Equation.DSMT4">
                  <p:embed/>
                </p:oleObj>
              </mc:Choice>
              <mc:Fallback>
                <p:oleObj name="Equation" r:id="rId43" imgW="1637589" imgH="774364" progId="Equation.DSMT4">
                  <p:embed/>
                  <p:pic>
                    <p:nvPicPr>
                      <p:cNvPr id="0" name="Object 2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2670175"/>
                        <a:ext cx="1743075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3" name="TextBox 270"/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1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1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1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11267" grpId="0"/>
      <p:bldP spid="11281" grpId="0" autoUpdateAnimBg="0"/>
      <p:bldP spid="1129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/>
          <p:cNvSpPr txBox="1">
            <a:spLocks noChangeArrowheads="1"/>
          </p:cNvSpPr>
          <p:nvPr/>
        </p:nvSpPr>
        <p:spPr bwMode="auto">
          <a:xfrm>
            <a:off x="611188" y="404813"/>
            <a:ext cx="7777162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defRPr/>
            </a:pPr>
            <a:r>
              <a:rPr lang="zh-CN" altLang="en-US" sz="2800" b="1" dirty="0">
                <a:latin typeface="+mn-ea"/>
                <a:ea typeface="+mn-ea"/>
              </a:rPr>
              <a:t>例</a:t>
            </a:r>
            <a:r>
              <a:rPr lang="en-US" altLang="zh-CN" sz="2800" b="1" dirty="0">
                <a:latin typeface="+mn-ea"/>
                <a:ea typeface="+mn-ea"/>
              </a:rPr>
              <a:t>2</a:t>
            </a:r>
            <a:r>
              <a:rPr lang="zh-CN" altLang="en-US" sz="2800" b="1" dirty="0">
                <a:latin typeface="+mn-ea"/>
                <a:ea typeface="+mn-ea"/>
              </a:rPr>
              <a:t>：一束光由</a:t>
            </a:r>
            <a:r>
              <a:rPr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  <a:t>线偏振光和自然光</a:t>
            </a:r>
            <a:r>
              <a:rPr lang="zh-CN" altLang="en-US" sz="2800" b="1" dirty="0">
                <a:latin typeface="+mn-ea"/>
                <a:ea typeface="+mn-ea"/>
              </a:rPr>
              <a:t>混合而成，当它通过一理想偏振片时发现光强随着偏振片偏振化方向旋转而</a:t>
            </a:r>
            <a:r>
              <a:rPr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  <a:t>出现 </a:t>
            </a:r>
            <a:r>
              <a:rPr lang="en-US" altLang="zh-CN" sz="2800" b="1" dirty="0">
                <a:solidFill>
                  <a:srgbClr val="0000CC"/>
                </a:solidFill>
                <a:latin typeface="+mn-ea"/>
                <a:ea typeface="+mn-ea"/>
              </a:rPr>
              <a:t>4 </a:t>
            </a:r>
            <a:r>
              <a:rPr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  <a:t>倍的变化</a:t>
            </a:r>
            <a:r>
              <a:rPr lang="zh-CN" altLang="en-US" sz="2800" b="1" dirty="0">
                <a:latin typeface="+mn-ea"/>
                <a:ea typeface="+mn-ea"/>
              </a:rPr>
              <a:t>，求这两种光各占几分之几？</a:t>
            </a: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1019175" y="2636838"/>
            <a:ext cx="8001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</a:rPr>
              <a:t>解：</a:t>
            </a:r>
          </a:p>
        </p:txBody>
      </p:sp>
      <p:graphicFrame>
        <p:nvGraphicFramePr>
          <p:cNvPr id="63492" name="Object 4"/>
          <p:cNvGraphicFramePr>
            <a:graphicFrameLocks noChangeAspect="1"/>
          </p:cNvGraphicFramePr>
          <p:nvPr/>
        </p:nvGraphicFramePr>
        <p:xfrm>
          <a:off x="1938338" y="2435225"/>
          <a:ext cx="3392487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3" name="Equation" r:id="rId3" imgW="1381190" imgH="390420" progId="Equation.DSMT4">
                  <p:embed/>
                </p:oleObj>
              </mc:Choice>
              <mc:Fallback>
                <p:oleObj name="Equation" r:id="rId3" imgW="1381190" imgH="3904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8338" y="2435225"/>
                        <a:ext cx="3392487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4" name="Object 6"/>
          <p:cNvGraphicFramePr>
            <a:graphicFrameLocks noChangeAspect="1"/>
          </p:cNvGraphicFramePr>
          <p:nvPr/>
        </p:nvGraphicFramePr>
        <p:xfrm>
          <a:off x="2517775" y="3516313"/>
          <a:ext cx="166052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4" name="Equation" r:id="rId5" imgW="552422" imgH="323730" progId="Equation.DSMT4">
                  <p:embed/>
                </p:oleObj>
              </mc:Choice>
              <mc:Fallback>
                <p:oleObj name="Equation" r:id="rId5" imgW="552422" imgH="32373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775" y="3516313"/>
                        <a:ext cx="1660525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5" name="AutoShape 7"/>
          <p:cNvSpPr>
            <a:spLocks noChangeArrowheads="1"/>
          </p:cNvSpPr>
          <p:nvPr/>
        </p:nvSpPr>
        <p:spPr bwMode="auto">
          <a:xfrm>
            <a:off x="1908175" y="3933825"/>
            <a:ext cx="503238" cy="287338"/>
          </a:xfrm>
          <a:prstGeom prst="rightArrow">
            <a:avLst>
              <a:gd name="adj1" fmla="val 50000"/>
              <a:gd name="adj2" fmla="val 43784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graphicFrame>
        <p:nvGraphicFramePr>
          <p:cNvPr id="63498" name="Object 10"/>
          <p:cNvGraphicFramePr>
            <a:graphicFrameLocks noChangeAspect="1"/>
          </p:cNvGraphicFramePr>
          <p:nvPr/>
        </p:nvGraphicFramePr>
        <p:xfrm>
          <a:off x="2516188" y="4667250"/>
          <a:ext cx="1233487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5" name="Equation" r:id="rId7" imgW="428701" imgH="390420" progId="Equation.DSMT4">
                  <p:embed/>
                </p:oleObj>
              </mc:Choice>
              <mc:Fallback>
                <p:oleObj name="Equation" r:id="rId7" imgW="428701" imgH="39042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188" y="4667250"/>
                        <a:ext cx="1233487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9" name="Object 11"/>
          <p:cNvGraphicFramePr>
            <a:graphicFrameLocks noChangeAspect="1"/>
          </p:cNvGraphicFramePr>
          <p:nvPr/>
        </p:nvGraphicFramePr>
        <p:xfrm>
          <a:off x="4083050" y="4667250"/>
          <a:ext cx="1265238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6" name="Equation" r:id="rId9" imgW="428701" imgH="390420" progId="Equation.DSMT4">
                  <p:embed/>
                </p:oleObj>
              </mc:Choice>
              <mc:Fallback>
                <p:oleObj name="Equation" r:id="rId9" imgW="428701" imgH="39042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050" y="4667250"/>
                        <a:ext cx="1265238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3" name="AutoShape 15"/>
          <p:cNvSpPr>
            <a:spLocks noChangeArrowheads="1"/>
          </p:cNvSpPr>
          <p:nvPr/>
        </p:nvSpPr>
        <p:spPr bwMode="auto">
          <a:xfrm>
            <a:off x="1908175" y="5084763"/>
            <a:ext cx="503238" cy="287337"/>
          </a:xfrm>
          <a:prstGeom prst="rightArrow">
            <a:avLst>
              <a:gd name="adj1" fmla="val 50000"/>
              <a:gd name="adj2" fmla="val 43785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0490" name="TextBox 3"/>
          <p:cNvSpPr txBox="1">
            <a:spLocks noChangeArrowheads="1"/>
          </p:cNvSpPr>
          <p:nvPr/>
        </p:nvSpPr>
        <p:spPr bwMode="auto">
          <a:xfrm>
            <a:off x="8675688" y="6394450"/>
            <a:ext cx="4683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" grpId="0"/>
      <p:bldP spid="63491" grpId="0"/>
      <p:bldP spid="63495" grpId="0" animBg="1"/>
      <p:bldP spid="6350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0825" y="3357563"/>
            <a:ext cx="8556625" cy="33559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030288" y="252413"/>
            <a:ext cx="7496175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3200" b="1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1"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第</a:t>
            </a:r>
            <a:r>
              <a:rPr kumimoji="1" lang="en-US" altLang="zh-CN" sz="3200" b="1" dirty="0">
                <a:latin typeface="Times New Roman" pitchFamily="18" charset="0"/>
                <a:ea typeface="+mn-ea"/>
                <a:cs typeface="Times New Roman" pitchFamily="18" charset="0"/>
              </a:rPr>
              <a:t>3</a:t>
            </a:r>
            <a:r>
              <a:rPr kumimoji="1"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节  由反射产生偏振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Polarization by Reflection 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44463" y="1339850"/>
            <a:ext cx="3076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反射光的偏振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356100" y="3468688"/>
            <a:ext cx="3505200" cy="3244850"/>
            <a:chOff x="2016" y="864"/>
            <a:chExt cx="2208" cy="2208"/>
          </a:xfrm>
        </p:grpSpPr>
        <p:sp>
          <p:nvSpPr>
            <p:cNvPr id="21539" name="Line 6"/>
            <p:cNvSpPr>
              <a:spLocks noChangeShapeType="1"/>
            </p:cNvSpPr>
            <p:nvPr/>
          </p:nvSpPr>
          <p:spPr bwMode="auto">
            <a:xfrm>
              <a:off x="2016" y="2112"/>
              <a:ext cx="2208" cy="0"/>
            </a:xfrm>
            <a:prstGeom prst="line">
              <a:avLst/>
            </a:prstGeom>
            <a:noFill/>
            <a:ln w="57150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0" name="Line 7"/>
            <p:cNvSpPr>
              <a:spLocks noChangeShapeType="1"/>
            </p:cNvSpPr>
            <p:nvPr/>
          </p:nvSpPr>
          <p:spPr bwMode="auto">
            <a:xfrm>
              <a:off x="2016" y="1008"/>
              <a:ext cx="1104" cy="1104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1" name="Line 8"/>
            <p:cNvSpPr>
              <a:spLocks noChangeShapeType="1"/>
            </p:cNvSpPr>
            <p:nvPr/>
          </p:nvSpPr>
          <p:spPr bwMode="auto">
            <a:xfrm flipV="1">
              <a:off x="3120" y="1104"/>
              <a:ext cx="1008" cy="100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2" name="Line 9"/>
            <p:cNvSpPr>
              <a:spLocks noChangeShapeType="1"/>
            </p:cNvSpPr>
            <p:nvPr/>
          </p:nvSpPr>
          <p:spPr bwMode="auto">
            <a:xfrm>
              <a:off x="3120" y="2112"/>
              <a:ext cx="960" cy="96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3" name="Line 10"/>
            <p:cNvSpPr>
              <a:spLocks noChangeShapeType="1"/>
            </p:cNvSpPr>
            <p:nvPr/>
          </p:nvSpPr>
          <p:spPr bwMode="auto">
            <a:xfrm flipH="1">
              <a:off x="3264" y="2208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4" name="Line 11"/>
            <p:cNvSpPr>
              <a:spLocks noChangeShapeType="1"/>
            </p:cNvSpPr>
            <p:nvPr/>
          </p:nvSpPr>
          <p:spPr bwMode="auto">
            <a:xfrm flipH="1">
              <a:off x="2016" y="1008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5" name="Line 12"/>
            <p:cNvSpPr>
              <a:spLocks noChangeShapeType="1"/>
            </p:cNvSpPr>
            <p:nvPr/>
          </p:nvSpPr>
          <p:spPr bwMode="auto">
            <a:xfrm flipH="1">
              <a:off x="2256" y="120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6" name="Line 13"/>
            <p:cNvSpPr>
              <a:spLocks noChangeShapeType="1"/>
            </p:cNvSpPr>
            <p:nvPr/>
          </p:nvSpPr>
          <p:spPr bwMode="auto">
            <a:xfrm flipH="1">
              <a:off x="2496" y="144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7" name="Line 14"/>
            <p:cNvSpPr>
              <a:spLocks noChangeShapeType="1"/>
            </p:cNvSpPr>
            <p:nvPr/>
          </p:nvSpPr>
          <p:spPr bwMode="auto">
            <a:xfrm flipH="1">
              <a:off x="2736" y="1728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8" name="Line 15"/>
            <p:cNvSpPr>
              <a:spLocks noChangeShapeType="1"/>
            </p:cNvSpPr>
            <p:nvPr/>
          </p:nvSpPr>
          <p:spPr bwMode="auto">
            <a:xfrm flipH="1">
              <a:off x="3456" y="240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9" name="Line 16"/>
            <p:cNvSpPr>
              <a:spLocks noChangeShapeType="1"/>
            </p:cNvSpPr>
            <p:nvPr/>
          </p:nvSpPr>
          <p:spPr bwMode="auto">
            <a:xfrm flipH="1">
              <a:off x="3696" y="264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0" name="Oval 17"/>
            <p:cNvSpPr>
              <a:spLocks noChangeArrowheads="1"/>
            </p:cNvSpPr>
            <p:nvPr/>
          </p:nvSpPr>
          <p:spPr bwMode="auto">
            <a:xfrm>
              <a:off x="2160" y="1152"/>
              <a:ext cx="96" cy="96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51" name="Oval 18"/>
            <p:cNvSpPr>
              <a:spLocks noChangeArrowheads="1"/>
            </p:cNvSpPr>
            <p:nvPr/>
          </p:nvSpPr>
          <p:spPr bwMode="auto">
            <a:xfrm>
              <a:off x="3504" y="1632"/>
              <a:ext cx="96" cy="96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52" name="Oval 19"/>
            <p:cNvSpPr>
              <a:spLocks noChangeArrowheads="1"/>
            </p:cNvSpPr>
            <p:nvPr/>
          </p:nvSpPr>
          <p:spPr bwMode="auto">
            <a:xfrm>
              <a:off x="2400" y="1392"/>
              <a:ext cx="96" cy="96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53" name="Oval 20"/>
            <p:cNvSpPr>
              <a:spLocks noChangeArrowheads="1"/>
            </p:cNvSpPr>
            <p:nvPr/>
          </p:nvSpPr>
          <p:spPr bwMode="auto">
            <a:xfrm>
              <a:off x="2640" y="1632"/>
              <a:ext cx="96" cy="96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54" name="Oval 21"/>
            <p:cNvSpPr>
              <a:spLocks noChangeArrowheads="1"/>
            </p:cNvSpPr>
            <p:nvPr/>
          </p:nvSpPr>
          <p:spPr bwMode="auto">
            <a:xfrm>
              <a:off x="3600" y="2592"/>
              <a:ext cx="96" cy="96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55" name="Oval 22"/>
            <p:cNvSpPr>
              <a:spLocks noChangeArrowheads="1"/>
            </p:cNvSpPr>
            <p:nvPr/>
          </p:nvSpPr>
          <p:spPr bwMode="auto">
            <a:xfrm>
              <a:off x="2880" y="187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56" name="Oval 23"/>
            <p:cNvSpPr>
              <a:spLocks noChangeArrowheads="1"/>
            </p:cNvSpPr>
            <p:nvPr/>
          </p:nvSpPr>
          <p:spPr bwMode="auto">
            <a:xfrm>
              <a:off x="3312" y="1824"/>
              <a:ext cx="96" cy="96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57" name="Arc 24"/>
            <p:cNvSpPr>
              <a:spLocks/>
            </p:cNvSpPr>
            <p:nvPr/>
          </p:nvSpPr>
          <p:spPr bwMode="auto">
            <a:xfrm>
              <a:off x="2779" y="1633"/>
              <a:ext cx="341" cy="423"/>
            </a:xfrm>
            <a:custGeom>
              <a:avLst/>
              <a:gdLst>
                <a:gd name="T0" fmla="*/ 0 w 19699"/>
                <a:gd name="T1" fmla="*/ 0 h 21600"/>
                <a:gd name="T2" fmla="*/ 0 w 19699"/>
                <a:gd name="T3" fmla="*/ 0 h 21600"/>
                <a:gd name="T4" fmla="*/ 0 w 19699"/>
                <a:gd name="T5" fmla="*/ 0 h 21600"/>
                <a:gd name="T6" fmla="*/ 0 60000 65536"/>
                <a:gd name="T7" fmla="*/ 0 60000 65536"/>
                <a:gd name="T8" fmla="*/ 0 60000 65536"/>
                <a:gd name="T9" fmla="*/ 0 w 19699"/>
                <a:gd name="T10" fmla="*/ 0 h 21600"/>
                <a:gd name="T11" fmla="*/ 19699 w 196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99" h="21600" fill="none" extrusionOk="0">
                  <a:moveTo>
                    <a:pt x="-1" y="5337"/>
                  </a:moveTo>
                  <a:cubicBezTo>
                    <a:pt x="3936" y="1896"/>
                    <a:pt x="8987" y="-1"/>
                    <a:pt x="14216" y="0"/>
                  </a:cubicBezTo>
                  <a:cubicBezTo>
                    <a:pt x="16066" y="0"/>
                    <a:pt x="17909" y="237"/>
                    <a:pt x="19698" y="707"/>
                  </a:cubicBezTo>
                </a:path>
                <a:path w="19699" h="21600" stroke="0" extrusionOk="0">
                  <a:moveTo>
                    <a:pt x="-1" y="5337"/>
                  </a:moveTo>
                  <a:cubicBezTo>
                    <a:pt x="3936" y="1896"/>
                    <a:pt x="8987" y="-1"/>
                    <a:pt x="14216" y="0"/>
                  </a:cubicBezTo>
                  <a:cubicBezTo>
                    <a:pt x="16066" y="0"/>
                    <a:pt x="17909" y="237"/>
                    <a:pt x="19698" y="707"/>
                  </a:cubicBezTo>
                  <a:lnTo>
                    <a:pt x="14216" y="21600"/>
                  </a:lnTo>
                  <a:lnTo>
                    <a:pt x="-1" y="5337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8" name="Line 25"/>
            <p:cNvSpPr>
              <a:spLocks noChangeShapeType="1"/>
            </p:cNvSpPr>
            <p:nvPr/>
          </p:nvSpPr>
          <p:spPr bwMode="auto">
            <a:xfrm>
              <a:off x="3120" y="864"/>
              <a:ext cx="0" cy="1968"/>
            </a:xfrm>
            <a:prstGeom prst="line">
              <a:avLst/>
            </a:prstGeom>
            <a:noFill/>
            <a:ln w="28575">
              <a:solidFill>
                <a:srgbClr val="CC99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9" name="Arc 26"/>
            <p:cNvSpPr>
              <a:spLocks/>
            </p:cNvSpPr>
            <p:nvPr/>
          </p:nvSpPr>
          <p:spPr bwMode="auto">
            <a:xfrm>
              <a:off x="3121" y="1442"/>
              <a:ext cx="469" cy="384"/>
            </a:xfrm>
            <a:custGeom>
              <a:avLst/>
              <a:gdLst>
                <a:gd name="T0" fmla="*/ 0 w 26414"/>
                <a:gd name="T1" fmla="*/ 0 h 21600"/>
                <a:gd name="T2" fmla="*/ 0 w 26414"/>
                <a:gd name="T3" fmla="*/ 0 h 21600"/>
                <a:gd name="T4" fmla="*/ 0 w 26414"/>
                <a:gd name="T5" fmla="*/ 0 h 21600"/>
                <a:gd name="T6" fmla="*/ 0 60000 65536"/>
                <a:gd name="T7" fmla="*/ 0 60000 65536"/>
                <a:gd name="T8" fmla="*/ 0 60000 65536"/>
                <a:gd name="T9" fmla="*/ 0 w 26414"/>
                <a:gd name="T10" fmla="*/ 0 h 21600"/>
                <a:gd name="T11" fmla="*/ 26414 w 2641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414" h="21600" fill="none" extrusionOk="0">
                  <a:moveTo>
                    <a:pt x="0" y="1558"/>
                  </a:moveTo>
                  <a:cubicBezTo>
                    <a:pt x="2560" y="528"/>
                    <a:pt x="5295" y="-1"/>
                    <a:pt x="8055" y="0"/>
                  </a:cubicBezTo>
                  <a:cubicBezTo>
                    <a:pt x="15530" y="0"/>
                    <a:pt x="22475" y="3865"/>
                    <a:pt x="26414" y="10219"/>
                  </a:cubicBezTo>
                </a:path>
                <a:path w="26414" h="21600" stroke="0" extrusionOk="0">
                  <a:moveTo>
                    <a:pt x="0" y="1558"/>
                  </a:moveTo>
                  <a:cubicBezTo>
                    <a:pt x="2560" y="528"/>
                    <a:pt x="5295" y="-1"/>
                    <a:pt x="8055" y="0"/>
                  </a:cubicBezTo>
                  <a:cubicBezTo>
                    <a:pt x="15530" y="0"/>
                    <a:pt x="22475" y="3865"/>
                    <a:pt x="26414" y="10219"/>
                  </a:cubicBezTo>
                  <a:lnTo>
                    <a:pt x="8055" y="21600"/>
                  </a:lnTo>
                  <a:lnTo>
                    <a:pt x="0" y="1558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1560" name="Object 27"/>
            <p:cNvGraphicFramePr>
              <a:graphicFrameLocks noChangeAspect="1"/>
            </p:cNvGraphicFramePr>
            <p:nvPr/>
          </p:nvGraphicFramePr>
          <p:xfrm>
            <a:off x="2880" y="1632"/>
            <a:ext cx="1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43" name="Equation" r:id="rId3" imgW="180989" imgH="362070" progId="Equation.DSMT4">
                    <p:embed/>
                  </p:oleObj>
                </mc:Choice>
                <mc:Fallback>
                  <p:oleObj name="Equation" r:id="rId3" imgW="180989" imgH="36207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1632"/>
                          <a:ext cx="1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61" name="Object 28"/>
            <p:cNvGraphicFramePr>
              <a:graphicFrameLocks noChangeAspect="1"/>
            </p:cNvGraphicFramePr>
            <p:nvPr/>
          </p:nvGraphicFramePr>
          <p:xfrm>
            <a:off x="3228" y="1496"/>
            <a:ext cx="1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44" name="Equation" r:id="rId5" imgW="180989" imgH="362070" progId="Equation.3">
                    <p:embed/>
                  </p:oleObj>
                </mc:Choice>
                <mc:Fallback>
                  <p:oleObj name="Equation" r:id="rId5" imgW="180989" imgH="36207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8" y="1496"/>
                          <a:ext cx="1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62" name="Object 29"/>
            <p:cNvGraphicFramePr>
              <a:graphicFrameLocks noChangeAspect="1"/>
            </p:cNvGraphicFramePr>
            <p:nvPr/>
          </p:nvGraphicFramePr>
          <p:xfrm>
            <a:off x="3140" y="2387"/>
            <a:ext cx="104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45" name="Equation" r:id="rId7" imgW="66723" imgH="123930" progId="Equation.DSMT4">
                    <p:embed/>
                  </p:oleObj>
                </mc:Choice>
                <mc:Fallback>
                  <p:oleObj name="Equation" r:id="rId7" imgW="66723" imgH="12393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0" y="2387"/>
                          <a:ext cx="104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63" name="Arc 30"/>
            <p:cNvSpPr>
              <a:spLocks/>
            </p:cNvSpPr>
            <p:nvPr/>
          </p:nvSpPr>
          <p:spPr bwMode="auto">
            <a:xfrm>
              <a:off x="3120" y="2304"/>
              <a:ext cx="347" cy="326"/>
            </a:xfrm>
            <a:custGeom>
              <a:avLst/>
              <a:gdLst>
                <a:gd name="T0" fmla="*/ 0 w 29596"/>
                <a:gd name="T1" fmla="*/ 0 h 21600"/>
                <a:gd name="T2" fmla="*/ 0 w 29596"/>
                <a:gd name="T3" fmla="*/ 0 h 21600"/>
                <a:gd name="T4" fmla="*/ 0 w 29596"/>
                <a:gd name="T5" fmla="*/ 0 h 21600"/>
                <a:gd name="T6" fmla="*/ 0 60000 65536"/>
                <a:gd name="T7" fmla="*/ 0 60000 65536"/>
                <a:gd name="T8" fmla="*/ 0 60000 65536"/>
                <a:gd name="T9" fmla="*/ 0 w 29596"/>
                <a:gd name="T10" fmla="*/ 0 h 21600"/>
                <a:gd name="T11" fmla="*/ 29596 w 2959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596" h="21600" fill="none" extrusionOk="0">
                  <a:moveTo>
                    <a:pt x="29596" y="11187"/>
                  </a:moveTo>
                  <a:cubicBezTo>
                    <a:pt x="25682" y="17651"/>
                    <a:pt x="18675" y="21599"/>
                    <a:pt x="11119" y="21600"/>
                  </a:cubicBezTo>
                  <a:cubicBezTo>
                    <a:pt x="7201" y="21600"/>
                    <a:pt x="3358" y="20534"/>
                    <a:pt x="-1" y="18518"/>
                  </a:cubicBezTo>
                </a:path>
                <a:path w="29596" h="21600" stroke="0" extrusionOk="0">
                  <a:moveTo>
                    <a:pt x="29596" y="11187"/>
                  </a:moveTo>
                  <a:cubicBezTo>
                    <a:pt x="25682" y="17651"/>
                    <a:pt x="18675" y="21599"/>
                    <a:pt x="11119" y="21600"/>
                  </a:cubicBezTo>
                  <a:cubicBezTo>
                    <a:pt x="7201" y="21600"/>
                    <a:pt x="3358" y="20534"/>
                    <a:pt x="-1" y="18518"/>
                  </a:cubicBezTo>
                  <a:lnTo>
                    <a:pt x="11119" y="0"/>
                  </a:lnTo>
                  <a:lnTo>
                    <a:pt x="29596" y="11187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64" name="Oval 31"/>
            <p:cNvSpPr>
              <a:spLocks noChangeArrowheads="1"/>
            </p:cNvSpPr>
            <p:nvPr/>
          </p:nvSpPr>
          <p:spPr bwMode="auto">
            <a:xfrm>
              <a:off x="3696" y="1440"/>
              <a:ext cx="96" cy="96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755650" y="3608388"/>
            <a:ext cx="3360738" cy="2771775"/>
            <a:chOff x="192" y="2112"/>
            <a:chExt cx="2208" cy="2064"/>
          </a:xfrm>
        </p:grpSpPr>
        <p:sp>
          <p:nvSpPr>
            <p:cNvPr id="21516" name="Line 33"/>
            <p:cNvSpPr>
              <a:spLocks noChangeShapeType="1"/>
            </p:cNvSpPr>
            <p:nvPr/>
          </p:nvSpPr>
          <p:spPr bwMode="auto">
            <a:xfrm>
              <a:off x="192" y="3360"/>
              <a:ext cx="2208" cy="0"/>
            </a:xfrm>
            <a:prstGeom prst="line">
              <a:avLst/>
            </a:prstGeom>
            <a:noFill/>
            <a:ln w="57150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7" name="Line 34"/>
            <p:cNvSpPr>
              <a:spLocks noChangeShapeType="1"/>
            </p:cNvSpPr>
            <p:nvPr/>
          </p:nvSpPr>
          <p:spPr bwMode="auto">
            <a:xfrm>
              <a:off x="384" y="2208"/>
              <a:ext cx="912" cy="115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8" name="Line 35"/>
            <p:cNvSpPr>
              <a:spLocks noChangeShapeType="1"/>
            </p:cNvSpPr>
            <p:nvPr/>
          </p:nvSpPr>
          <p:spPr bwMode="auto">
            <a:xfrm flipV="1">
              <a:off x="1296" y="2256"/>
              <a:ext cx="720" cy="1104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9" name="Line 36"/>
            <p:cNvSpPr>
              <a:spLocks noChangeShapeType="1"/>
            </p:cNvSpPr>
            <p:nvPr/>
          </p:nvSpPr>
          <p:spPr bwMode="auto">
            <a:xfrm>
              <a:off x="1296" y="3360"/>
              <a:ext cx="480" cy="816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0" name="Line 37"/>
            <p:cNvSpPr>
              <a:spLocks noChangeShapeType="1"/>
            </p:cNvSpPr>
            <p:nvPr/>
          </p:nvSpPr>
          <p:spPr bwMode="auto">
            <a:xfrm flipH="1">
              <a:off x="1344" y="3504"/>
              <a:ext cx="192" cy="144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1" name="Line 38"/>
            <p:cNvSpPr>
              <a:spLocks noChangeShapeType="1"/>
            </p:cNvSpPr>
            <p:nvPr/>
          </p:nvSpPr>
          <p:spPr bwMode="auto">
            <a:xfrm flipH="1">
              <a:off x="384" y="216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2" name="Line 39"/>
            <p:cNvSpPr>
              <a:spLocks noChangeShapeType="1"/>
            </p:cNvSpPr>
            <p:nvPr/>
          </p:nvSpPr>
          <p:spPr bwMode="auto">
            <a:xfrm flipH="1">
              <a:off x="528" y="240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3" name="Line 40"/>
            <p:cNvSpPr>
              <a:spLocks noChangeShapeType="1"/>
            </p:cNvSpPr>
            <p:nvPr/>
          </p:nvSpPr>
          <p:spPr bwMode="auto">
            <a:xfrm flipH="1">
              <a:off x="720" y="264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4" name="Line 41"/>
            <p:cNvSpPr>
              <a:spLocks noChangeShapeType="1"/>
            </p:cNvSpPr>
            <p:nvPr/>
          </p:nvSpPr>
          <p:spPr bwMode="auto">
            <a:xfrm flipH="1">
              <a:off x="1536" y="3792"/>
              <a:ext cx="192" cy="144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5" name="Line 42"/>
            <p:cNvSpPr>
              <a:spLocks noChangeShapeType="1"/>
            </p:cNvSpPr>
            <p:nvPr/>
          </p:nvSpPr>
          <p:spPr bwMode="auto">
            <a:xfrm>
              <a:off x="1632" y="2592"/>
              <a:ext cx="192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6" name="Oval 43"/>
            <p:cNvSpPr>
              <a:spLocks noChangeArrowheads="1"/>
            </p:cNvSpPr>
            <p:nvPr/>
          </p:nvSpPr>
          <p:spPr bwMode="auto">
            <a:xfrm>
              <a:off x="480" y="235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27" name="Oval 44"/>
            <p:cNvSpPr>
              <a:spLocks noChangeArrowheads="1"/>
            </p:cNvSpPr>
            <p:nvPr/>
          </p:nvSpPr>
          <p:spPr bwMode="auto">
            <a:xfrm>
              <a:off x="1584" y="283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28" name="Oval 45"/>
            <p:cNvSpPr>
              <a:spLocks noChangeArrowheads="1"/>
            </p:cNvSpPr>
            <p:nvPr/>
          </p:nvSpPr>
          <p:spPr bwMode="auto">
            <a:xfrm>
              <a:off x="624" y="2544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29" name="Oval 46"/>
            <p:cNvSpPr>
              <a:spLocks noChangeArrowheads="1"/>
            </p:cNvSpPr>
            <p:nvPr/>
          </p:nvSpPr>
          <p:spPr bwMode="auto">
            <a:xfrm>
              <a:off x="816" y="2784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30" name="Oval 47"/>
            <p:cNvSpPr>
              <a:spLocks noChangeArrowheads="1"/>
            </p:cNvSpPr>
            <p:nvPr/>
          </p:nvSpPr>
          <p:spPr bwMode="auto">
            <a:xfrm>
              <a:off x="1632" y="3936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31" name="Oval 48"/>
            <p:cNvSpPr>
              <a:spLocks noChangeArrowheads="1"/>
            </p:cNvSpPr>
            <p:nvPr/>
          </p:nvSpPr>
          <p:spPr bwMode="auto">
            <a:xfrm>
              <a:off x="1440" y="3024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32" name="Arc 49"/>
            <p:cNvSpPr>
              <a:spLocks/>
            </p:cNvSpPr>
            <p:nvPr/>
          </p:nvSpPr>
          <p:spPr bwMode="auto">
            <a:xfrm>
              <a:off x="955" y="2881"/>
              <a:ext cx="341" cy="423"/>
            </a:xfrm>
            <a:custGeom>
              <a:avLst/>
              <a:gdLst>
                <a:gd name="T0" fmla="*/ 0 w 19699"/>
                <a:gd name="T1" fmla="*/ 0 h 21600"/>
                <a:gd name="T2" fmla="*/ 0 w 19699"/>
                <a:gd name="T3" fmla="*/ 0 h 21600"/>
                <a:gd name="T4" fmla="*/ 0 w 19699"/>
                <a:gd name="T5" fmla="*/ 0 h 21600"/>
                <a:gd name="T6" fmla="*/ 0 60000 65536"/>
                <a:gd name="T7" fmla="*/ 0 60000 65536"/>
                <a:gd name="T8" fmla="*/ 0 60000 65536"/>
                <a:gd name="T9" fmla="*/ 0 w 19699"/>
                <a:gd name="T10" fmla="*/ 0 h 21600"/>
                <a:gd name="T11" fmla="*/ 19699 w 196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99" h="21600" fill="none" extrusionOk="0">
                  <a:moveTo>
                    <a:pt x="-1" y="5337"/>
                  </a:moveTo>
                  <a:cubicBezTo>
                    <a:pt x="3936" y="1896"/>
                    <a:pt x="8987" y="-1"/>
                    <a:pt x="14216" y="0"/>
                  </a:cubicBezTo>
                  <a:cubicBezTo>
                    <a:pt x="16066" y="0"/>
                    <a:pt x="17909" y="237"/>
                    <a:pt x="19698" y="707"/>
                  </a:cubicBezTo>
                </a:path>
                <a:path w="19699" h="21600" stroke="0" extrusionOk="0">
                  <a:moveTo>
                    <a:pt x="-1" y="5337"/>
                  </a:moveTo>
                  <a:cubicBezTo>
                    <a:pt x="3936" y="1896"/>
                    <a:pt x="8987" y="-1"/>
                    <a:pt x="14216" y="0"/>
                  </a:cubicBezTo>
                  <a:cubicBezTo>
                    <a:pt x="16066" y="0"/>
                    <a:pt x="17909" y="237"/>
                    <a:pt x="19698" y="707"/>
                  </a:cubicBezTo>
                  <a:lnTo>
                    <a:pt x="14216" y="21600"/>
                  </a:lnTo>
                  <a:lnTo>
                    <a:pt x="-1" y="5337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3" name="Line 50"/>
            <p:cNvSpPr>
              <a:spLocks noChangeShapeType="1"/>
            </p:cNvSpPr>
            <p:nvPr/>
          </p:nvSpPr>
          <p:spPr bwMode="auto">
            <a:xfrm>
              <a:off x="1296" y="2112"/>
              <a:ext cx="0" cy="1968"/>
            </a:xfrm>
            <a:prstGeom prst="line">
              <a:avLst/>
            </a:prstGeom>
            <a:noFill/>
            <a:ln w="28575">
              <a:solidFill>
                <a:srgbClr val="CC99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4" name="Arc 51"/>
            <p:cNvSpPr>
              <a:spLocks/>
            </p:cNvSpPr>
            <p:nvPr/>
          </p:nvSpPr>
          <p:spPr bwMode="auto">
            <a:xfrm>
              <a:off x="1299" y="2692"/>
              <a:ext cx="362" cy="384"/>
            </a:xfrm>
            <a:custGeom>
              <a:avLst/>
              <a:gdLst>
                <a:gd name="T0" fmla="*/ 0 w 20408"/>
                <a:gd name="T1" fmla="*/ 0 h 21600"/>
                <a:gd name="T2" fmla="*/ 0 w 20408"/>
                <a:gd name="T3" fmla="*/ 0 h 21600"/>
                <a:gd name="T4" fmla="*/ 0 w 20408"/>
                <a:gd name="T5" fmla="*/ 0 h 21600"/>
                <a:gd name="T6" fmla="*/ 0 60000 65536"/>
                <a:gd name="T7" fmla="*/ 0 60000 65536"/>
                <a:gd name="T8" fmla="*/ 0 60000 65536"/>
                <a:gd name="T9" fmla="*/ 0 w 20408"/>
                <a:gd name="T10" fmla="*/ 0 h 21600"/>
                <a:gd name="T11" fmla="*/ 20408 w 2040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08" h="21600" fill="none" extrusionOk="0">
                  <a:moveTo>
                    <a:pt x="0" y="1558"/>
                  </a:moveTo>
                  <a:cubicBezTo>
                    <a:pt x="2560" y="528"/>
                    <a:pt x="5295" y="-1"/>
                    <a:pt x="8055" y="0"/>
                  </a:cubicBezTo>
                  <a:cubicBezTo>
                    <a:pt x="12472" y="0"/>
                    <a:pt x="16784" y="1354"/>
                    <a:pt x="20408" y="3880"/>
                  </a:cubicBezTo>
                </a:path>
                <a:path w="20408" h="21600" stroke="0" extrusionOk="0">
                  <a:moveTo>
                    <a:pt x="0" y="1558"/>
                  </a:moveTo>
                  <a:cubicBezTo>
                    <a:pt x="2560" y="528"/>
                    <a:pt x="5295" y="-1"/>
                    <a:pt x="8055" y="0"/>
                  </a:cubicBezTo>
                  <a:cubicBezTo>
                    <a:pt x="12472" y="0"/>
                    <a:pt x="16784" y="1354"/>
                    <a:pt x="20408" y="3880"/>
                  </a:cubicBezTo>
                  <a:lnTo>
                    <a:pt x="8055" y="21600"/>
                  </a:lnTo>
                  <a:lnTo>
                    <a:pt x="0" y="1558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1535" name="Object 52"/>
            <p:cNvGraphicFramePr>
              <a:graphicFrameLocks noChangeAspect="1"/>
            </p:cNvGraphicFramePr>
            <p:nvPr/>
          </p:nvGraphicFramePr>
          <p:xfrm>
            <a:off x="1171" y="2963"/>
            <a:ext cx="65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46" name="Equation" r:id="rId9" imgW="9455" imgH="123930" progId="Equation.DSMT4">
                    <p:embed/>
                  </p:oleObj>
                </mc:Choice>
                <mc:Fallback>
                  <p:oleObj name="Equation" r:id="rId9" imgW="9455" imgH="123930" progId="Equation.DSMT4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1" y="2963"/>
                          <a:ext cx="65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6" name="Object 53"/>
            <p:cNvGraphicFramePr>
              <a:graphicFrameLocks noChangeAspect="1"/>
            </p:cNvGraphicFramePr>
            <p:nvPr/>
          </p:nvGraphicFramePr>
          <p:xfrm>
            <a:off x="1412" y="2819"/>
            <a:ext cx="64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47" name="Equation" r:id="rId11" imgW="9455" imgH="123930" progId="Equation.DSMT4">
                    <p:embed/>
                  </p:oleObj>
                </mc:Choice>
                <mc:Fallback>
                  <p:oleObj name="Equation" r:id="rId11" imgW="9455" imgH="123930" progId="Equation.DSMT4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2" y="2819"/>
                          <a:ext cx="64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7" name="Object 54"/>
            <p:cNvGraphicFramePr>
              <a:graphicFrameLocks noChangeAspect="1"/>
            </p:cNvGraphicFramePr>
            <p:nvPr/>
          </p:nvGraphicFramePr>
          <p:xfrm>
            <a:off x="1364" y="3683"/>
            <a:ext cx="105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48" name="Equation" r:id="rId12" imgW="66723" imgH="123930" progId="Equation.DSMT4">
                    <p:embed/>
                  </p:oleObj>
                </mc:Choice>
                <mc:Fallback>
                  <p:oleObj name="Equation" r:id="rId12" imgW="66723" imgH="123930" progId="Equation.DSMT4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4" y="3683"/>
                          <a:ext cx="105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38" name="Arc 55"/>
            <p:cNvSpPr>
              <a:spLocks/>
            </p:cNvSpPr>
            <p:nvPr/>
          </p:nvSpPr>
          <p:spPr bwMode="auto">
            <a:xfrm>
              <a:off x="1296" y="3552"/>
              <a:ext cx="276" cy="326"/>
            </a:xfrm>
            <a:custGeom>
              <a:avLst/>
              <a:gdLst>
                <a:gd name="T0" fmla="*/ 0 w 23551"/>
                <a:gd name="T1" fmla="*/ 0 h 21600"/>
                <a:gd name="T2" fmla="*/ 0 w 23551"/>
                <a:gd name="T3" fmla="*/ 0 h 21600"/>
                <a:gd name="T4" fmla="*/ 0 w 23551"/>
                <a:gd name="T5" fmla="*/ 0 h 21600"/>
                <a:gd name="T6" fmla="*/ 0 60000 65536"/>
                <a:gd name="T7" fmla="*/ 0 60000 65536"/>
                <a:gd name="T8" fmla="*/ 0 60000 65536"/>
                <a:gd name="T9" fmla="*/ 0 w 23551"/>
                <a:gd name="T10" fmla="*/ 0 h 21600"/>
                <a:gd name="T11" fmla="*/ 23551 w 2355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551" h="21600" fill="none" extrusionOk="0">
                  <a:moveTo>
                    <a:pt x="23550" y="17663"/>
                  </a:moveTo>
                  <a:cubicBezTo>
                    <a:pt x="19911" y="20225"/>
                    <a:pt x="15569" y="21599"/>
                    <a:pt x="11119" y="21600"/>
                  </a:cubicBezTo>
                  <a:cubicBezTo>
                    <a:pt x="7201" y="21600"/>
                    <a:pt x="3358" y="20534"/>
                    <a:pt x="-1" y="18518"/>
                  </a:cubicBezTo>
                </a:path>
                <a:path w="23551" h="21600" stroke="0" extrusionOk="0">
                  <a:moveTo>
                    <a:pt x="23550" y="17663"/>
                  </a:moveTo>
                  <a:cubicBezTo>
                    <a:pt x="19911" y="20225"/>
                    <a:pt x="15569" y="21599"/>
                    <a:pt x="11119" y="21600"/>
                  </a:cubicBezTo>
                  <a:cubicBezTo>
                    <a:pt x="7201" y="21600"/>
                    <a:pt x="3358" y="20534"/>
                    <a:pt x="-1" y="18518"/>
                  </a:cubicBezTo>
                  <a:lnTo>
                    <a:pt x="11119" y="0"/>
                  </a:lnTo>
                  <a:lnTo>
                    <a:pt x="23550" y="17663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344" name="AutoShape 56"/>
          <p:cNvSpPr>
            <a:spLocks noChangeArrowheads="1"/>
          </p:cNvSpPr>
          <p:nvPr/>
        </p:nvSpPr>
        <p:spPr bwMode="auto">
          <a:xfrm>
            <a:off x="3563938" y="4324350"/>
            <a:ext cx="609600" cy="2057400"/>
          </a:xfrm>
          <a:prstGeom prst="wedgeRoundRectCallout">
            <a:avLst>
              <a:gd name="adj1" fmla="val -125486"/>
              <a:gd name="adj2" fmla="val -35870"/>
              <a:gd name="adj3" fmla="val 16667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ea typeface="楷体_GB2312"/>
                <a:cs typeface="楷体_GB2312"/>
              </a:rPr>
              <a:t>部分偏振光</a:t>
            </a:r>
          </a:p>
        </p:txBody>
      </p:sp>
      <p:sp>
        <p:nvSpPr>
          <p:cNvPr id="12345" name="AutoShape 57"/>
          <p:cNvSpPr>
            <a:spLocks noChangeArrowheads="1"/>
          </p:cNvSpPr>
          <p:nvPr/>
        </p:nvSpPr>
        <p:spPr bwMode="auto">
          <a:xfrm>
            <a:off x="7740650" y="3429000"/>
            <a:ext cx="609600" cy="2057400"/>
          </a:xfrm>
          <a:prstGeom prst="wedgeRoundRectCallout">
            <a:avLst>
              <a:gd name="adj1" fmla="val -145574"/>
              <a:gd name="adj2" fmla="val 153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ea typeface="楷体_GB2312"/>
                <a:cs typeface="楷体_GB2312"/>
              </a:rPr>
              <a:t>完全偏振光</a:t>
            </a:r>
          </a:p>
        </p:txBody>
      </p:sp>
      <p:sp>
        <p:nvSpPr>
          <p:cNvPr id="12346" name="Rectangle 58"/>
          <p:cNvSpPr>
            <a:spLocks noChangeArrowheads="1"/>
          </p:cNvSpPr>
          <p:nvPr/>
        </p:nvSpPr>
        <p:spPr bwMode="auto">
          <a:xfrm>
            <a:off x="592138" y="1931988"/>
            <a:ext cx="81057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马吕斯发现：</a:t>
            </a:r>
            <a:r>
              <a:rPr kumimoji="1" lang="zh-CN" altLang="en-US" sz="2800" b="1">
                <a:solidFill>
                  <a:srgbClr val="0000CC"/>
                </a:solidFill>
              </a:rPr>
              <a:t>自然光反射时，可以</a:t>
            </a:r>
            <a:r>
              <a:rPr kumimoji="1" lang="zh-CN" altLang="en-US" sz="2800" b="1">
                <a:solidFill>
                  <a:srgbClr val="0000CC"/>
                </a:solidFill>
                <a:latin typeface="Arial" panose="020B0604020202020204" pitchFamily="34" charset="0"/>
              </a:rPr>
              <a:t>产生部分偏振光或完全偏振光</a:t>
            </a:r>
            <a:r>
              <a:rPr kumimoji="1" lang="zh-CN" altLang="en-US" sz="2800" b="1">
                <a:latin typeface="Arial" panose="020B0604020202020204" pitchFamily="34" charset="0"/>
              </a:rPr>
              <a:t>。</a:t>
            </a:r>
          </a:p>
        </p:txBody>
      </p:sp>
      <p:sp>
        <p:nvSpPr>
          <p:cNvPr id="12347" name="Text Box 59"/>
          <p:cNvSpPr txBox="1">
            <a:spLocks noChangeArrowheads="1"/>
          </p:cNvSpPr>
          <p:nvPr/>
        </p:nvSpPr>
        <p:spPr bwMode="auto">
          <a:xfrm>
            <a:off x="665163" y="2833688"/>
            <a:ext cx="8142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时，反射光为完全偏振光，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叫“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起偏角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21515" name="TextBox 59"/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12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12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2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290" grpId="0" autoUpdateAnimBg="0"/>
      <p:bldP spid="12291" grpId="0" autoUpdateAnimBg="0"/>
      <p:bldP spid="12344" grpId="0" animBg="1" autoUpdateAnimBg="0"/>
      <p:bldP spid="12345" grpId="0" animBg="1" autoUpdateAnimBg="0"/>
      <p:bldP spid="12346" grpId="0" autoUpdateAnimBg="0"/>
      <p:bldP spid="1234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19-n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438884"/>
            <a:ext cx="4368000" cy="3276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2531" name="TextBox 3"/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19-n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3438" y="1500174"/>
            <a:ext cx="4248000" cy="3186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932363" y="0"/>
            <a:ext cx="4032250" cy="366553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07950" y="134938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布儒斯特定律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957263" y="4865688"/>
            <a:ext cx="14112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起偏角</a:t>
            </a:r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4584491"/>
              </p:ext>
            </p:extLst>
          </p:nvPr>
        </p:nvGraphicFramePr>
        <p:xfrm>
          <a:off x="687664" y="1348351"/>
          <a:ext cx="147637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18" name="Equation" r:id="rId3" imgW="1459866" imgH="672808" progId="Equation.DSMT4">
                  <p:embed/>
                </p:oleObj>
              </mc:Choice>
              <mc:Fallback>
                <p:oleObj name="Equation" r:id="rId3" imgW="1459866" imgH="67280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664" y="1348351"/>
                        <a:ext cx="147637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1835150" y="3875088"/>
          <a:ext cx="2212975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19" name="Equation" r:id="rId5" imgW="2070100" imgH="850900" progId="Equation.DSMT4">
                  <p:embed/>
                </p:oleObj>
              </mc:Choice>
              <mc:Fallback>
                <p:oleObj name="Equation" r:id="rId5" imgW="2070100" imgH="850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875088"/>
                        <a:ext cx="2212975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3666820"/>
              </p:ext>
            </p:extLst>
          </p:nvPr>
        </p:nvGraphicFramePr>
        <p:xfrm>
          <a:off x="573088" y="2564904"/>
          <a:ext cx="2741612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0" name="Equation" r:id="rId7" imgW="2336800" imgH="431800" progId="Equation.DSMT4">
                  <p:embed/>
                </p:oleObj>
              </mc:Choice>
              <mc:Fallback>
                <p:oleObj name="Equation" r:id="rId7" imgW="23368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8" y="2564904"/>
                        <a:ext cx="2741612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7"/>
          <p:cNvGraphicFramePr>
            <a:graphicFrameLocks noChangeAspect="1"/>
          </p:cNvGraphicFramePr>
          <p:nvPr/>
        </p:nvGraphicFramePr>
        <p:xfrm>
          <a:off x="2849563" y="3208338"/>
          <a:ext cx="151447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1" name="Equation" r:id="rId9" imgW="1333500" imgH="431800" progId="Equation.DSMT4">
                  <p:embed/>
                </p:oleObj>
              </mc:Choice>
              <mc:Fallback>
                <p:oleObj name="Equation" r:id="rId9" imgW="1333500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9563" y="3208338"/>
                        <a:ext cx="151447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565943" y="596900"/>
            <a:ext cx="39798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/>
              <a:t>反射光是</a:t>
            </a:r>
            <a:r>
              <a:rPr kumimoji="1" lang="zh-CN" altLang="en-US" sz="2800" b="1" dirty="0">
                <a:solidFill>
                  <a:srgbClr val="FF0000"/>
                </a:solidFill>
              </a:rPr>
              <a:t>完全偏振光</a:t>
            </a:r>
            <a:r>
              <a:rPr kumimoji="1" lang="zh-CN" altLang="en-US" sz="2800" b="1" dirty="0"/>
              <a:t>时， </a:t>
            </a:r>
            <a:br>
              <a:rPr kumimoji="1" lang="zh-CN" altLang="en-US" sz="2800" b="1" dirty="0"/>
            </a:br>
            <a:r>
              <a:rPr kumimoji="1" lang="zh-CN" altLang="en-US" sz="2800" b="1" dirty="0"/>
              <a:t>实验证明：</a:t>
            </a:r>
          </a:p>
        </p:txBody>
      </p:sp>
      <p:sp>
        <p:nvSpPr>
          <p:cNvPr id="15370" name="Line 10"/>
          <p:cNvSpPr>
            <a:spLocks noChangeShapeType="1"/>
          </p:cNvSpPr>
          <p:nvPr/>
        </p:nvSpPr>
        <p:spPr bwMode="auto">
          <a:xfrm>
            <a:off x="465138" y="3142754"/>
            <a:ext cx="1447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1" name="Line 11"/>
          <p:cNvSpPr>
            <a:spLocks noChangeShapeType="1"/>
          </p:cNvSpPr>
          <p:nvPr/>
        </p:nvSpPr>
        <p:spPr bwMode="auto">
          <a:xfrm>
            <a:off x="2995613" y="3798888"/>
            <a:ext cx="1447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372" name="Object 12"/>
          <p:cNvGraphicFramePr>
            <a:graphicFrameLocks noChangeAspect="1"/>
          </p:cNvGraphicFramePr>
          <p:nvPr/>
        </p:nvGraphicFramePr>
        <p:xfrm>
          <a:off x="584200" y="3065463"/>
          <a:ext cx="2268538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2" name="Equation" r:id="rId11" imgW="2133600" imgH="673100" progId="Equation.DSMT4">
                  <p:embed/>
                </p:oleObj>
              </mc:Choice>
              <mc:Fallback>
                <p:oleObj name="Equation" r:id="rId11" imgW="2133600" imgH="6731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" y="3065463"/>
                        <a:ext cx="2268538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3" name="Rectangle 13"/>
          <p:cNvSpPr>
            <a:spLocks noChangeArrowheads="1"/>
          </p:cNvSpPr>
          <p:nvPr/>
        </p:nvSpPr>
        <p:spPr bwMode="auto">
          <a:xfrm>
            <a:off x="4462463" y="4916488"/>
            <a:ext cx="3190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ea typeface="楷体_GB2312"/>
                <a:cs typeface="楷体_GB2312"/>
              </a:rPr>
              <a:t>—— </a:t>
            </a:r>
            <a:r>
              <a:rPr kumimoji="1" lang="zh-CN" altLang="en-US" sz="2800" b="1">
                <a:solidFill>
                  <a:srgbClr val="0000CC"/>
                </a:solidFill>
                <a:ea typeface="楷体_GB2312"/>
                <a:cs typeface="楷体_GB2312"/>
              </a:rPr>
              <a:t>布儒斯特定律</a:t>
            </a:r>
          </a:p>
        </p:txBody>
      </p:sp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5119688" y="361950"/>
            <a:ext cx="3505200" cy="3244850"/>
            <a:chOff x="2016" y="864"/>
            <a:chExt cx="2208" cy="2208"/>
          </a:xfrm>
        </p:grpSpPr>
        <p:sp>
          <p:nvSpPr>
            <p:cNvPr id="23575" name="Line 45"/>
            <p:cNvSpPr>
              <a:spLocks noChangeShapeType="1"/>
            </p:cNvSpPr>
            <p:nvPr/>
          </p:nvSpPr>
          <p:spPr bwMode="auto">
            <a:xfrm>
              <a:off x="2016" y="2112"/>
              <a:ext cx="2208" cy="0"/>
            </a:xfrm>
            <a:prstGeom prst="line">
              <a:avLst/>
            </a:prstGeom>
            <a:noFill/>
            <a:ln w="57150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6" name="Line 46"/>
            <p:cNvSpPr>
              <a:spLocks noChangeShapeType="1"/>
            </p:cNvSpPr>
            <p:nvPr/>
          </p:nvSpPr>
          <p:spPr bwMode="auto">
            <a:xfrm>
              <a:off x="2016" y="1008"/>
              <a:ext cx="1104" cy="1104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7" name="Line 47"/>
            <p:cNvSpPr>
              <a:spLocks noChangeShapeType="1"/>
            </p:cNvSpPr>
            <p:nvPr/>
          </p:nvSpPr>
          <p:spPr bwMode="auto">
            <a:xfrm flipV="1">
              <a:off x="3120" y="1104"/>
              <a:ext cx="1008" cy="100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8" name="Line 48"/>
            <p:cNvSpPr>
              <a:spLocks noChangeShapeType="1"/>
            </p:cNvSpPr>
            <p:nvPr/>
          </p:nvSpPr>
          <p:spPr bwMode="auto">
            <a:xfrm>
              <a:off x="3120" y="2112"/>
              <a:ext cx="960" cy="96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9" name="Line 49"/>
            <p:cNvSpPr>
              <a:spLocks noChangeShapeType="1"/>
            </p:cNvSpPr>
            <p:nvPr/>
          </p:nvSpPr>
          <p:spPr bwMode="auto">
            <a:xfrm flipH="1">
              <a:off x="3264" y="2208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0" name="Line 50"/>
            <p:cNvSpPr>
              <a:spLocks noChangeShapeType="1"/>
            </p:cNvSpPr>
            <p:nvPr/>
          </p:nvSpPr>
          <p:spPr bwMode="auto">
            <a:xfrm flipH="1">
              <a:off x="2016" y="1008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1" name="Line 51"/>
            <p:cNvSpPr>
              <a:spLocks noChangeShapeType="1"/>
            </p:cNvSpPr>
            <p:nvPr/>
          </p:nvSpPr>
          <p:spPr bwMode="auto">
            <a:xfrm flipH="1">
              <a:off x="2256" y="120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2" name="Line 52"/>
            <p:cNvSpPr>
              <a:spLocks noChangeShapeType="1"/>
            </p:cNvSpPr>
            <p:nvPr/>
          </p:nvSpPr>
          <p:spPr bwMode="auto">
            <a:xfrm flipH="1">
              <a:off x="2496" y="144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3" name="Line 53"/>
            <p:cNvSpPr>
              <a:spLocks noChangeShapeType="1"/>
            </p:cNvSpPr>
            <p:nvPr/>
          </p:nvSpPr>
          <p:spPr bwMode="auto">
            <a:xfrm flipH="1">
              <a:off x="2736" y="1728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4" name="Line 54"/>
            <p:cNvSpPr>
              <a:spLocks noChangeShapeType="1"/>
            </p:cNvSpPr>
            <p:nvPr/>
          </p:nvSpPr>
          <p:spPr bwMode="auto">
            <a:xfrm flipH="1">
              <a:off x="3456" y="240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5" name="Line 55"/>
            <p:cNvSpPr>
              <a:spLocks noChangeShapeType="1"/>
            </p:cNvSpPr>
            <p:nvPr/>
          </p:nvSpPr>
          <p:spPr bwMode="auto">
            <a:xfrm flipH="1">
              <a:off x="3696" y="264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6" name="Oval 56"/>
            <p:cNvSpPr>
              <a:spLocks noChangeArrowheads="1"/>
            </p:cNvSpPr>
            <p:nvPr/>
          </p:nvSpPr>
          <p:spPr bwMode="auto">
            <a:xfrm>
              <a:off x="2160" y="115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587" name="Oval 57"/>
            <p:cNvSpPr>
              <a:spLocks noChangeArrowheads="1"/>
            </p:cNvSpPr>
            <p:nvPr/>
          </p:nvSpPr>
          <p:spPr bwMode="auto">
            <a:xfrm>
              <a:off x="3504" y="163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588" name="Oval 58"/>
            <p:cNvSpPr>
              <a:spLocks noChangeArrowheads="1"/>
            </p:cNvSpPr>
            <p:nvPr/>
          </p:nvSpPr>
          <p:spPr bwMode="auto">
            <a:xfrm>
              <a:off x="2400" y="139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589" name="Oval 59"/>
            <p:cNvSpPr>
              <a:spLocks noChangeArrowheads="1"/>
            </p:cNvSpPr>
            <p:nvPr/>
          </p:nvSpPr>
          <p:spPr bwMode="auto">
            <a:xfrm>
              <a:off x="2640" y="163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590" name="Oval 60"/>
            <p:cNvSpPr>
              <a:spLocks noChangeArrowheads="1"/>
            </p:cNvSpPr>
            <p:nvPr/>
          </p:nvSpPr>
          <p:spPr bwMode="auto">
            <a:xfrm>
              <a:off x="3600" y="259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591" name="Oval 61"/>
            <p:cNvSpPr>
              <a:spLocks noChangeArrowheads="1"/>
            </p:cNvSpPr>
            <p:nvPr/>
          </p:nvSpPr>
          <p:spPr bwMode="auto">
            <a:xfrm>
              <a:off x="2880" y="187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592" name="Oval 62"/>
            <p:cNvSpPr>
              <a:spLocks noChangeArrowheads="1"/>
            </p:cNvSpPr>
            <p:nvPr/>
          </p:nvSpPr>
          <p:spPr bwMode="auto">
            <a:xfrm>
              <a:off x="3312" y="1824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593" name="Arc 63"/>
            <p:cNvSpPr>
              <a:spLocks/>
            </p:cNvSpPr>
            <p:nvPr/>
          </p:nvSpPr>
          <p:spPr bwMode="auto">
            <a:xfrm>
              <a:off x="2779" y="1633"/>
              <a:ext cx="341" cy="423"/>
            </a:xfrm>
            <a:custGeom>
              <a:avLst/>
              <a:gdLst>
                <a:gd name="T0" fmla="*/ 0 w 19699"/>
                <a:gd name="T1" fmla="*/ 0 h 21600"/>
                <a:gd name="T2" fmla="*/ 0 w 19699"/>
                <a:gd name="T3" fmla="*/ 0 h 21600"/>
                <a:gd name="T4" fmla="*/ 0 w 19699"/>
                <a:gd name="T5" fmla="*/ 0 h 21600"/>
                <a:gd name="T6" fmla="*/ 0 60000 65536"/>
                <a:gd name="T7" fmla="*/ 0 60000 65536"/>
                <a:gd name="T8" fmla="*/ 0 60000 65536"/>
                <a:gd name="T9" fmla="*/ 0 w 19699"/>
                <a:gd name="T10" fmla="*/ 0 h 21600"/>
                <a:gd name="T11" fmla="*/ 19699 w 196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99" h="21600" fill="none" extrusionOk="0">
                  <a:moveTo>
                    <a:pt x="-1" y="5337"/>
                  </a:moveTo>
                  <a:cubicBezTo>
                    <a:pt x="3936" y="1896"/>
                    <a:pt x="8987" y="-1"/>
                    <a:pt x="14216" y="0"/>
                  </a:cubicBezTo>
                  <a:cubicBezTo>
                    <a:pt x="16066" y="0"/>
                    <a:pt x="17909" y="237"/>
                    <a:pt x="19698" y="707"/>
                  </a:cubicBezTo>
                </a:path>
                <a:path w="19699" h="21600" stroke="0" extrusionOk="0">
                  <a:moveTo>
                    <a:pt x="-1" y="5337"/>
                  </a:moveTo>
                  <a:cubicBezTo>
                    <a:pt x="3936" y="1896"/>
                    <a:pt x="8987" y="-1"/>
                    <a:pt x="14216" y="0"/>
                  </a:cubicBezTo>
                  <a:cubicBezTo>
                    <a:pt x="16066" y="0"/>
                    <a:pt x="17909" y="237"/>
                    <a:pt x="19698" y="707"/>
                  </a:cubicBezTo>
                  <a:lnTo>
                    <a:pt x="14216" y="21600"/>
                  </a:lnTo>
                  <a:lnTo>
                    <a:pt x="-1" y="5337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4" name="Line 64"/>
            <p:cNvSpPr>
              <a:spLocks noChangeShapeType="1"/>
            </p:cNvSpPr>
            <p:nvPr/>
          </p:nvSpPr>
          <p:spPr bwMode="auto">
            <a:xfrm>
              <a:off x="3120" y="864"/>
              <a:ext cx="0" cy="1968"/>
            </a:xfrm>
            <a:prstGeom prst="line">
              <a:avLst/>
            </a:prstGeom>
            <a:noFill/>
            <a:ln w="28575">
              <a:solidFill>
                <a:srgbClr val="CC99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5" name="Arc 65"/>
            <p:cNvSpPr>
              <a:spLocks/>
            </p:cNvSpPr>
            <p:nvPr/>
          </p:nvSpPr>
          <p:spPr bwMode="auto">
            <a:xfrm>
              <a:off x="3121" y="1442"/>
              <a:ext cx="469" cy="384"/>
            </a:xfrm>
            <a:custGeom>
              <a:avLst/>
              <a:gdLst>
                <a:gd name="T0" fmla="*/ 0 w 26414"/>
                <a:gd name="T1" fmla="*/ 0 h 21600"/>
                <a:gd name="T2" fmla="*/ 0 w 26414"/>
                <a:gd name="T3" fmla="*/ 0 h 21600"/>
                <a:gd name="T4" fmla="*/ 0 w 26414"/>
                <a:gd name="T5" fmla="*/ 0 h 21600"/>
                <a:gd name="T6" fmla="*/ 0 60000 65536"/>
                <a:gd name="T7" fmla="*/ 0 60000 65536"/>
                <a:gd name="T8" fmla="*/ 0 60000 65536"/>
                <a:gd name="T9" fmla="*/ 0 w 26414"/>
                <a:gd name="T10" fmla="*/ 0 h 21600"/>
                <a:gd name="T11" fmla="*/ 26414 w 2641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414" h="21600" fill="none" extrusionOk="0">
                  <a:moveTo>
                    <a:pt x="0" y="1558"/>
                  </a:moveTo>
                  <a:cubicBezTo>
                    <a:pt x="2560" y="528"/>
                    <a:pt x="5295" y="-1"/>
                    <a:pt x="8055" y="0"/>
                  </a:cubicBezTo>
                  <a:cubicBezTo>
                    <a:pt x="15530" y="0"/>
                    <a:pt x="22475" y="3865"/>
                    <a:pt x="26414" y="10219"/>
                  </a:cubicBezTo>
                </a:path>
                <a:path w="26414" h="21600" stroke="0" extrusionOk="0">
                  <a:moveTo>
                    <a:pt x="0" y="1558"/>
                  </a:moveTo>
                  <a:cubicBezTo>
                    <a:pt x="2560" y="528"/>
                    <a:pt x="5295" y="-1"/>
                    <a:pt x="8055" y="0"/>
                  </a:cubicBezTo>
                  <a:cubicBezTo>
                    <a:pt x="15530" y="0"/>
                    <a:pt x="22475" y="3865"/>
                    <a:pt x="26414" y="10219"/>
                  </a:cubicBezTo>
                  <a:lnTo>
                    <a:pt x="8055" y="21600"/>
                  </a:lnTo>
                  <a:lnTo>
                    <a:pt x="0" y="1558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3596" name="Object 66"/>
            <p:cNvGraphicFramePr>
              <a:graphicFrameLocks noChangeAspect="1"/>
            </p:cNvGraphicFramePr>
            <p:nvPr/>
          </p:nvGraphicFramePr>
          <p:xfrm>
            <a:off x="2880" y="1632"/>
            <a:ext cx="1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23" name="Equation" r:id="rId13" imgW="180989" imgH="362070" progId="Equation.DSMT4">
                    <p:embed/>
                  </p:oleObj>
                </mc:Choice>
                <mc:Fallback>
                  <p:oleObj name="Equation" r:id="rId13" imgW="180989" imgH="362070" progId="Equation.DSMT4">
                    <p:embed/>
                    <p:pic>
                      <p:nvPicPr>
                        <p:cNvPr id="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1632"/>
                          <a:ext cx="1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7" name="Object 67"/>
            <p:cNvGraphicFramePr>
              <a:graphicFrameLocks noChangeAspect="1"/>
            </p:cNvGraphicFramePr>
            <p:nvPr/>
          </p:nvGraphicFramePr>
          <p:xfrm>
            <a:off x="3228" y="1496"/>
            <a:ext cx="1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24" name="公式" r:id="rId15" imgW="180989" imgH="362070" progId="Equation.3">
                    <p:embed/>
                  </p:oleObj>
                </mc:Choice>
                <mc:Fallback>
                  <p:oleObj name="公式" r:id="rId15" imgW="180989" imgH="362070" progId="Equation.3">
                    <p:embed/>
                    <p:pic>
                      <p:nvPicPr>
                        <p:cNvPr id="0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8" y="1496"/>
                          <a:ext cx="1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8" name="Object 68"/>
            <p:cNvGraphicFramePr>
              <a:graphicFrameLocks noChangeAspect="1"/>
            </p:cNvGraphicFramePr>
            <p:nvPr/>
          </p:nvGraphicFramePr>
          <p:xfrm>
            <a:off x="3136" y="2387"/>
            <a:ext cx="11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25" name="Equation" r:id="rId17" imgW="85632" imgH="123930" progId="Equation.DSMT4">
                    <p:embed/>
                  </p:oleObj>
                </mc:Choice>
                <mc:Fallback>
                  <p:oleObj name="Equation" r:id="rId17" imgW="85632" imgH="123930" progId="Equation.DSMT4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6" y="2387"/>
                          <a:ext cx="112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9" name="Arc 69"/>
            <p:cNvSpPr>
              <a:spLocks/>
            </p:cNvSpPr>
            <p:nvPr/>
          </p:nvSpPr>
          <p:spPr bwMode="auto">
            <a:xfrm>
              <a:off x="3120" y="2304"/>
              <a:ext cx="347" cy="326"/>
            </a:xfrm>
            <a:custGeom>
              <a:avLst/>
              <a:gdLst>
                <a:gd name="T0" fmla="*/ 0 w 29596"/>
                <a:gd name="T1" fmla="*/ 0 h 21600"/>
                <a:gd name="T2" fmla="*/ 0 w 29596"/>
                <a:gd name="T3" fmla="*/ 0 h 21600"/>
                <a:gd name="T4" fmla="*/ 0 w 29596"/>
                <a:gd name="T5" fmla="*/ 0 h 21600"/>
                <a:gd name="T6" fmla="*/ 0 60000 65536"/>
                <a:gd name="T7" fmla="*/ 0 60000 65536"/>
                <a:gd name="T8" fmla="*/ 0 60000 65536"/>
                <a:gd name="T9" fmla="*/ 0 w 29596"/>
                <a:gd name="T10" fmla="*/ 0 h 21600"/>
                <a:gd name="T11" fmla="*/ 29596 w 2959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596" h="21600" fill="none" extrusionOk="0">
                  <a:moveTo>
                    <a:pt x="29596" y="11187"/>
                  </a:moveTo>
                  <a:cubicBezTo>
                    <a:pt x="25682" y="17651"/>
                    <a:pt x="18675" y="21599"/>
                    <a:pt x="11119" y="21600"/>
                  </a:cubicBezTo>
                  <a:cubicBezTo>
                    <a:pt x="7201" y="21600"/>
                    <a:pt x="3358" y="20534"/>
                    <a:pt x="-1" y="18518"/>
                  </a:cubicBezTo>
                </a:path>
                <a:path w="29596" h="21600" stroke="0" extrusionOk="0">
                  <a:moveTo>
                    <a:pt x="29596" y="11187"/>
                  </a:moveTo>
                  <a:cubicBezTo>
                    <a:pt x="25682" y="17651"/>
                    <a:pt x="18675" y="21599"/>
                    <a:pt x="11119" y="21600"/>
                  </a:cubicBezTo>
                  <a:cubicBezTo>
                    <a:pt x="7201" y="21600"/>
                    <a:pt x="3358" y="20534"/>
                    <a:pt x="-1" y="18518"/>
                  </a:cubicBezTo>
                  <a:lnTo>
                    <a:pt x="11119" y="0"/>
                  </a:lnTo>
                  <a:lnTo>
                    <a:pt x="29596" y="11187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0" name="Oval 70"/>
            <p:cNvSpPr>
              <a:spLocks noChangeArrowheads="1"/>
            </p:cNvSpPr>
            <p:nvPr/>
          </p:nvSpPr>
          <p:spPr bwMode="auto">
            <a:xfrm>
              <a:off x="3696" y="1440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5401" name="Line 41"/>
          <p:cNvSpPr>
            <a:spLocks noChangeShapeType="1"/>
          </p:cNvSpPr>
          <p:nvPr/>
        </p:nvSpPr>
        <p:spPr bwMode="auto">
          <a:xfrm>
            <a:off x="7121525" y="1952625"/>
            <a:ext cx="228600" cy="228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02" name="Line 42"/>
          <p:cNvSpPr>
            <a:spLocks noChangeShapeType="1"/>
          </p:cNvSpPr>
          <p:nvPr/>
        </p:nvSpPr>
        <p:spPr bwMode="auto">
          <a:xfrm flipV="1">
            <a:off x="7121525" y="2181225"/>
            <a:ext cx="228600" cy="228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4" name="Object 11"/>
          <p:cNvGraphicFramePr>
            <a:graphicFrameLocks noChangeAspect="1"/>
          </p:cNvGraphicFramePr>
          <p:nvPr/>
        </p:nvGraphicFramePr>
        <p:xfrm>
          <a:off x="2500313" y="4797425"/>
          <a:ext cx="1873250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6" name="Equation" r:id="rId19" imgW="1752600" imgH="850900" progId="Equation.DSMT4">
                  <p:embed/>
                </p:oleObj>
              </mc:Choice>
              <mc:Fallback>
                <p:oleObj name="Equation" r:id="rId19" imgW="1752600" imgH="8509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4797425"/>
                        <a:ext cx="1873250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0" name="TextBox 44"/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8216900" y="1568450"/>
            <a:ext cx="504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i="1" baseline="-25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 i="1" baseline="-25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>
            <a:spLocks noChangeArrowheads="1"/>
          </p:cNvSpPr>
          <p:nvPr/>
        </p:nvSpPr>
        <p:spPr bwMode="auto">
          <a:xfrm>
            <a:off x="8215313" y="2205038"/>
            <a:ext cx="5048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i="1" baseline="-25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800" b="1" i="1" baseline="-25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498475" y="5805488"/>
            <a:ext cx="836453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Arial" panose="020B0604020202020204" pitchFamily="34" charset="0"/>
              </a:rPr>
              <a:t>此时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反射光为完全线偏振光</a:t>
            </a:r>
            <a:r>
              <a:rPr lang="zh-CN" altLang="en-US" sz="2800" b="1">
                <a:latin typeface="Arial" panose="020B0604020202020204" pitchFamily="34" charset="0"/>
              </a:rPr>
              <a:t>，光矢量振动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垂直入射面</a:t>
            </a:r>
            <a:r>
              <a:rPr lang="zh-CN" altLang="en-US" sz="2800" b="1">
                <a:latin typeface="Arial" panose="020B0604020202020204" pitchFamily="34" charset="0"/>
              </a:rPr>
              <a:t>，折射光仍为部分偏振光。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19125" y="5268913"/>
            <a:ext cx="1936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Arial" panose="020B0604020202020204" pitchFamily="34" charset="0"/>
                <a:ea typeface="楷体_GB2312"/>
                <a:cs typeface="楷体_GB2312"/>
              </a:rPr>
              <a:t>(</a:t>
            </a:r>
            <a:r>
              <a:rPr kumimoji="1" lang="zh-CN" altLang="en-US" sz="2400" b="1">
                <a:latin typeface="Arial" panose="020B0604020202020204" pitchFamily="34" charset="0"/>
                <a:ea typeface="楷体_GB2312"/>
                <a:cs typeface="楷体_GB2312"/>
              </a:rPr>
              <a:t>布儒斯特角</a:t>
            </a:r>
            <a:r>
              <a:rPr kumimoji="1" lang="en-US" altLang="zh-CN" sz="2400" b="1">
                <a:latin typeface="Arial" panose="020B0604020202020204" pitchFamily="34" charset="0"/>
                <a:ea typeface="楷体_GB2312"/>
                <a:cs typeface="楷体_GB2312"/>
              </a:rPr>
              <a:t>)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49" name="Text Box 9">
            <a:extLst>
              <a:ext uri="{FF2B5EF4-FFF2-40B4-BE49-F238E27FC236}">
                <a16:creationId xmlns:a16="http://schemas.microsoft.com/office/drawing/2014/main" id="{0E1E4BC8-41FA-41AF-AB8A-8DED4DD2A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231" y="2041684"/>
            <a:ext cx="47807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/>
              <a:t>(</a:t>
            </a:r>
            <a:r>
              <a:rPr kumimoji="1" lang="zh-CN" altLang="en-US" sz="2800" b="1" dirty="0"/>
              <a:t>反射光与折射光相互垂直</a:t>
            </a:r>
            <a:r>
              <a:rPr kumimoji="1" lang="en-US" altLang="zh-CN" sz="2800" b="1" dirty="0"/>
              <a:t>)</a:t>
            </a:r>
            <a:endParaRPr kumimoji="1" lang="zh-CN" altLang="en-US" sz="2800" b="1" dirty="0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75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725"/>
                            </p:stCondLst>
                            <p:childTnLst>
                              <p:par>
                                <p:cTn id="8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75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362" grpId="0" autoUpdateAnimBg="0"/>
      <p:bldP spid="15363" grpId="0" autoUpdateAnimBg="0"/>
      <p:bldP spid="15369" grpId="0" autoUpdateAnimBg="0"/>
      <p:bldP spid="15370" grpId="0" animBg="1"/>
      <p:bldP spid="15371" grpId="0" animBg="1"/>
      <p:bldP spid="15373" grpId="0" autoUpdateAnimBg="0"/>
      <p:bldP spid="15401" grpId="0" animBg="1"/>
      <p:bldP spid="15402" grpId="0" animBg="1"/>
      <p:bldP spid="3" grpId="0"/>
      <p:bldP spid="45" grpId="0"/>
      <p:bldP spid="4" grpId="0"/>
      <p:bldP spid="5" grpId="0"/>
      <p:bldP spid="4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291263" y="2786063"/>
            <a:ext cx="2457450" cy="1828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508375" y="623888"/>
            <a:ext cx="5470525" cy="2089150"/>
            <a:chOff x="2352" y="96"/>
            <a:chExt cx="3114" cy="1479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3024" y="768"/>
              <a:ext cx="1680" cy="76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1800"/>
            </a:p>
          </p:txBody>
        </p:sp>
        <p:sp>
          <p:nvSpPr>
            <p:cNvPr id="27682" name="Rectangle 6"/>
            <p:cNvSpPr>
              <a:spLocks noChangeArrowheads="1"/>
            </p:cNvSpPr>
            <p:nvPr/>
          </p:nvSpPr>
          <p:spPr bwMode="auto">
            <a:xfrm>
              <a:off x="3024" y="96"/>
              <a:ext cx="1680" cy="7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1800"/>
            </a:p>
          </p:txBody>
        </p:sp>
        <p:sp>
          <p:nvSpPr>
            <p:cNvPr id="24612" name="Line 7"/>
            <p:cNvSpPr>
              <a:spLocks noChangeShapeType="1"/>
            </p:cNvSpPr>
            <p:nvPr/>
          </p:nvSpPr>
          <p:spPr bwMode="auto">
            <a:xfrm>
              <a:off x="3840" y="240"/>
              <a:ext cx="0" cy="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3" name="Line 8"/>
            <p:cNvSpPr>
              <a:spLocks noChangeShapeType="1"/>
            </p:cNvSpPr>
            <p:nvPr/>
          </p:nvSpPr>
          <p:spPr bwMode="auto">
            <a:xfrm>
              <a:off x="3120" y="240"/>
              <a:ext cx="720" cy="57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4" name="Line 9"/>
            <p:cNvSpPr>
              <a:spLocks noChangeShapeType="1"/>
            </p:cNvSpPr>
            <p:nvPr/>
          </p:nvSpPr>
          <p:spPr bwMode="auto">
            <a:xfrm flipV="1">
              <a:off x="3840" y="240"/>
              <a:ext cx="816" cy="57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5" name="Line 10"/>
            <p:cNvSpPr>
              <a:spLocks noChangeShapeType="1"/>
            </p:cNvSpPr>
            <p:nvPr/>
          </p:nvSpPr>
          <p:spPr bwMode="auto">
            <a:xfrm>
              <a:off x="3840" y="816"/>
              <a:ext cx="384" cy="62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6" name="Oval 11"/>
            <p:cNvSpPr>
              <a:spLocks noChangeArrowheads="1"/>
            </p:cNvSpPr>
            <p:nvPr/>
          </p:nvSpPr>
          <p:spPr bwMode="auto">
            <a:xfrm>
              <a:off x="3408" y="432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4617" name="Oval 12"/>
            <p:cNvSpPr>
              <a:spLocks noChangeArrowheads="1"/>
            </p:cNvSpPr>
            <p:nvPr/>
          </p:nvSpPr>
          <p:spPr bwMode="auto">
            <a:xfrm>
              <a:off x="3600" y="624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4618" name="Oval 13"/>
            <p:cNvSpPr>
              <a:spLocks noChangeArrowheads="1"/>
            </p:cNvSpPr>
            <p:nvPr/>
          </p:nvSpPr>
          <p:spPr bwMode="auto">
            <a:xfrm>
              <a:off x="3216" y="288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4619" name="Oval 14"/>
            <p:cNvSpPr>
              <a:spLocks noChangeArrowheads="1"/>
            </p:cNvSpPr>
            <p:nvPr/>
          </p:nvSpPr>
          <p:spPr bwMode="auto">
            <a:xfrm>
              <a:off x="4272" y="432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4620" name="Oval 15"/>
            <p:cNvSpPr>
              <a:spLocks noChangeArrowheads="1"/>
            </p:cNvSpPr>
            <p:nvPr/>
          </p:nvSpPr>
          <p:spPr bwMode="auto">
            <a:xfrm>
              <a:off x="4128" y="528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4621" name="Oval 16"/>
            <p:cNvSpPr>
              <a:spLocks noChangeArrowheads="1"/>
            </p:cNvSpPr>
            <p:nvPr/>
          </p:nvSpPr>
          <p:spPr bwMode="auto">
            <a:xfrm>
              <a:off x="3984" y="624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4622" name="Line 17"/>
            <p:cNvSpPr>
              <a:spLocks noChangeShapeType="1"/>
            </p:cNvSpPr>
            <p:nvPr/>
          </p:nvSpPr>
          <p:spPr bwMode="auto">
            <a:xfrm flipH="1">
              <a:off x="3840" y="864"/>
              <a:ext cx="192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3" name="Line 18"/>
            <p:cNvSpPr>
              <a:spLocks noChangeShapeType="1"/>
            </p:cNvSpPr>
            <p:nvPr/>
          </p:nvSpPr>
          <p:spPr bwMode="auto">
            <a:xfrm flipH="1">
              <a:off x="3888" y="960"/>
              <a:ext cx="192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4" name="Line 19"/>
            <p:cNvSpPr>
              <a:spLocks noChangeShapeType="1"/>
            </p:cNvSpPr>
            <p:nvPr/>
          </p:nvSpPr>
          <p:spPr bwMode="auto">
            <a:xfrm flipH="1">
              <a:off x="3984" y="1152"/>
              <a:ext cx="192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5" name="Line 20"/>
            <p:cNvSpPr>
              <a:spLocks noChangeShapeType="1"/>
            </p:cNvSpPr>
            <p:nvPr/>
          </p:nvSpPr>
          <p:spPr bwMode="auto">
            <a:xfrm flipH="1">
              <a:off x="4032" y="1248"/>
              <a:ext cx="192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6" name="Oval 21"/>
            <p:cNvSpPr>
              <a:spLocks noChangeArrowheads="1"/>
            </p:cNvSpPr>
            <p:nvPr/>
          </p:nvSpPr>
          <p:spPr bwMode="auto">
            <a:xfrm>
              <a:off x="3984" y="1056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24627" name="Object 22"/>
            <p:cNvGraphicFramePr>
              <a:graphicFrameLocks noChangeAspect="1"/>
            </p:cNvGraphicFramePr>
            <p:nvPr/>
          </p:nvGraphicFramePr>
          <p:xfrm>
            <a:off x="3552" y="144"/>
            <a:ext cx="295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98" name="公式" r:id="rId3" imgW="152268" imgH="215713" progId="Equation.3">
                    <p:embed/>
                  </p:oleObj>
                </mc:Choice>
                <mc:Fallback>
                  <p:oleObj name="公式" r:id="rId3" imgW="152268" imgH="215713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144"/>
                          <a:ext cx="295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28" name="Arc 23"/>
            <p:cNvSpPr>
              <a:spLocks/>
            </p:cNvSpPr>
            <p:nvPr/>
          </p:nvSpPr>
          <p:spPr bwMode="auto">
            <a:xfrm flipH="1">
              <a:off x="3600" y="528"/>
              <a:ext cx="241" cy="288"/>
            </a:xfrm>
            <a:custGeom>
              <a:avLst/>
              <a:gdLst>
                <a:gd name="T0" fmla="*/ 0 w 13562"/>
                <a:gd name="T1" fmla="*/ 0 h 21600"/>
                <a:gd name="T2" fmla="*/ 0 w 13562"/>
                <a:gd name="T3" fmla="*/ 0 h 21600"/>
                <a:gd name="T4" fmla="*/ 0 w 13562"/>
                <a:gd name="T5" fmla="*/ 0 h 21600"/>
                <a:gd name="T6" fmla="*/ 0 60000 65536"/>
                <a:gd name="T7" fmla="*/ 0 60000 65536"/>
                <a:gd name="T8" fmla="*/ 0 60000 65536"/>
                <a:gd name="T9" fmla="*/ 0 w 13562"/>
                <a:gd name="T10" fmla="*/ 0 h 21600"/>
                <a:gd name="T11" fmla="*/ 13562 w 1356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562" h="21600" fill="none" extrusionOk="0">
                  <a:moveTo>
                    <a:pt x="-1" y="0"/>
                  </a:moveTo>
                  <a:cubicBezTo>
                    <a:pt x="4935" y="0"/>
                    <a:pt x="9721" y="1689"/>
                    <a:pt x="13562" y="4788"/>
                  </a:cubicBezTo>
                </a:path>
                <a:path w="13562" h="21600" stroke="0" extrusionOk="0">
                  <a:moveTo>
                    <a:pt x="-1" y="0"/>
                  </a:moveTo>
                  <a:cubicBezTo>
                    <a:pt x="4935" y="0"/>
                    <a:pt x="9721" y="1689"/>
                    <a:pt x="13562" y="4788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4629" name="Object 24"/>
            <p:cNvGraphicFramePr>
              <a:graphicFrameLocks noChangeAspect="1"/>
            </p:cNvGraphicFramePr>
            <p:nvPr/>
          </p:nvGraphicFramePr>
          <p:xfrm>
            <a:off x="3072" y="432"/>
            <a:ext cx="272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99" name="公式" r:id="rId5" imgW="164885" imgH="215619" progId="Equation.3">
                    <p:embed/>
                  </p:oleObj>
                </mc:Choice>
                <mc:Fallback>
                  <p:oleObj name="公式" r:id="rId5" imgW="164885" imgH="215619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432"/>
                          <a:ext cx="272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30" name="Object 25"/>
            <p:cNvGraphicFramePr>
              <a:graphicFrameLocks noChangeAspect="1"/>
            </p:cNvGraphicFramePr>
            <p:nvPr/>
          </p:nvGraphicFramePr>
          <p:xfrm>
            <a:off x="3072" y="816"/>
            <a:ext cx="293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0" name="公式" r:id="rId7" imgW="177569" imgH="215619" progId="Equation.3">
                    <p:embed/>
                  </p:oleObj>
                </mc:Choice>
                <mc:Fallback>
                  <p:oleObj name="公式" r:id="rId7" imgW="177569" imgH="215619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816"/>
                          <a:ext cx="293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31" name="Line 26"/>
            <p:cNvSpPr>
              <a:spLocks noChangeShapeType="1"/>
            </p:cNvSpPr>
            <p:nvPr/>
          </p:nvSpPr>
          <p:spPr bwMode="auto">
            <a:xfrm flipH="1">
              <a:off x="3072" y="192"/>
              <a:ext cx="144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32" name="Line 27"/>
            <p:cNvSpPr>
              <a:spLocks noChangeShapeType="1"/>
            </p:cNvSpPr>
            <p:nvPr/>
          </p:nvSpPr>
          <p:spPr bwMode="auto">
            <a:xfrm flipH="1">
              <a:off x="3264" y="336"/>
              <a:ext cx="144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33" name="Line 28"/>
            <p:cNvSpPr>
              <a:spLocks noChangeShapeType="1"/>
            </p:cNvSpPr>
            <p:nvPr/>
          </p:nvSpPr>
          <p:spPr bwMode="auto">
            <a:xfrm flipH="1">
              <a:off x="3456" y="480"/>
              <a:ext cx="144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34" name="Arc 29"/>
            <p:cNvSpPr>
              <a:spLocks/>
            </p:cNvSpPr>
            <p:nvPr/>
          </p:nvSpPr>
          <p:spPr bwMode="auto">
            <a:xfrm flipV="1">
              <a:off x="3840" y="912"/>
              <a:ext cx="173" cy="288"/>
            </a:xfrm>
            <a:custGeom>
              <a:avLst/>
              <a:gdLst>
                <a:gd name="T0" fmla="*/ 0 w 15526"/>
                <a:gd name="T1" fmla="*/ 0 h 21600"/>
                <a:gd name="T2" fmla="*/ 0 w 15526"/>
                <a:gd name="T3" fmla="*/ 0 h 21600"/>
                <a:gd name="T4" fmla="*/ 0 w 15526"/>
                <a:gd name="T5" fmla="*/ 0 h 21600"/>
                <a:gd name="T6" fmla="*/ 0 60000 65536"/>
                <a:gd name="T7" fmla="*/ 0 60000 65536"/>
                <a:gd name="T8" fmla="*/ 0 60000 65536"/>
                <a:gd name="T9" fmla="*/ 0 w 15526"/>
                <a:gd name="T10" fmla="*/ 0 h 21600"/>
                <a:gd name="T11" fmla="*/ 15526 w 1552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526" h="21600" fill="none" extrusionOk="0">
                  <a:moveTo>
                    <a:pt x="-1" y="0"/>
                  </a:moveTo>
                  <a:cubicBezTo>
                    <a:pt x="5853" y="0"/>
                    <a:pt x="11456" y="2375"/>
                    <a:pt x="15526" y="6583"/>
                  </a:cubicBezTo>
                </a:path>
                <a:path w="15526" h="21600" stroke="0" extrusionOk="0">
                  <a:moveTo>
                    <a:pt x="-1" y="0"/>
                  </a:moveTo>
                  <a:cubicBezTo>
                    <a:pt x="5853" y="0"/>
                    <a:pt x="11456" y="2375"/>
                    <a:pt x="15526" y="6583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4635" name="Object 30"/>
            <p:cNvGraphicFramePr>
              <a:graphicFrameLocks noChangeAspect="1"/>
            </p:cNvGraphicFramePr>
            <p:nvPr/>
          </p:nvGraphicFramePr>
          <p:xfrm>
            <a:off x="3840" y="1200"/>
            <a:ext cx="209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1" name="公式" r:id="rId9" imgW="114102" imgH="126780" progId="Equation.3">
                    <p:embed/>
                  </p:oleObj>
                </mc:Choice>
                <mc:Fallback>
                  <p:oleObj name="公式" r:id="rId9" imgW="114102" imgH="12678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200"/>
                          <a:ext cx="209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36" name="Line 31"/>
            <p:cNvSpPr>
              <a:spLocks noChangeShapeType="1"/>
            </p:cNvSpPr>
            <p:nvPr/>
          </p:nvSpPr>
          <p:spPr bwMode="auto">
            <a:xfrm>
              <a:off x="3936" y="720"/>
              <a:ext cx="48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37" name="Line 32"/>
            <p:cNvSpPr>
              <a:spLocks noChangeShapeType="1"/>
            </p:cNvSpPr>
            <p:nvPr/>
          </p:nvSpPr>
          <p:spPr bwMode="auto">
            <a:xfrm flipH="1">
              <a:off x="3888" y="816"/>
              <a:ext cx="96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38" name="Rectangle 33"/>
            <p:cNvSpPr>
              <a:spLocks noChangeArrowheads="1"/>
            </p:cNvSpPr>
            <p:nvPr/>
          </p:nvSpPr>
          <p:spPr bwMode="auto">
            <a:xfrm>
              <a:off x="4656" y="177"/>
              <a:ext cx="81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楷体_GB2312"/>
                  <a:ea typeface="楷体_GB2312"/>
                  <a:cs typeface="楷体_GB2312"/>
                </a:rPr>
                <a:t>线偏振光</a:t>
              </a:r>
              <a:endParaRPr kumimoji="1" lang="zh-CN" altLang="en-US" sz="1800" b="1"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24639" name="Rectangle 34"/>
            <p:cNvSpPr>
              <a:spLocks noChangeArrowheads="1"/>
            </p:cNvSpPr>
            <p:nvPr/>
          </p:nvSpPr>
          <p:spPr bwMode="auto">
            <a:xfrm>
              <a:off x="4272" y="1248"/>
              <a:ext cx="98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楷体_GB2312"/>
                  <a:ea typeface="楷体_GB2312"/>
                  <a:cs typeface="楷体_GB2312"/>
                </a:rPr>
                <a:t>部分偏振光</a:t>
              </a:r>
            </a:p>
          </p:txBody>
        </p:sp>
        <p:sp>
          <p:nvSpPr>
            <p:cNvPr id="24640" name="Text Box 35"/>
            <p:cNvSpPr txBox="1">
              <a:spLocks noChangeArrowheads="1"/>
            </p:cNvSpPr>
            <p:nvPr/>
          </p:nvSpPr>
          <p:spPr bwMode="auto">
            <a:xfrm>
              <a:off x="2352" y="192"/>
              <a:ext cx="68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楷体_GB2312"/>
                  <a:ea typeface="楷体_GB2312"/>
                  <a:cs typeface="楷体_GB2312"/>
                </a:rPr>
                <a:t>自然光</a:t>
              </a:r>
              <a:endParaRPr kumimoji="1" lang="zh-CN" altLang="en-US" sz="1800" b="1"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24641" name="Oval 36"/>
            <p:cNvSpPr>
              <a:spLocks noChangeArrowheads="1"/>
            </p:cNvSpPr>
            <p:nvPr/>
          </p:nvSpPr>
          <p:spPr bwMode="auto">
            <a:xfrm>
              <a:off x="4416" y="336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6422" name="Text Box 38"/>
          <p:cNvSpPr txBox="1">
            <a:spLocks noChangeArrowheads="1"/>
          </p:cNvSpPr>
          <p:nvPr/>
        </p:nvSpPr>
        <p:spPr bwMode="auto">
          <a:xfrm>
            <a:off x="541338" y="3911600"/>
            <a:ext cx="59658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讨论：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当光以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入射时，无反射光，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你能对入射光作出什么结论？</a:t>
            </a:r>
          </a:p>
        </p:txBody>
      </p:sp>
      <p:grpSp>
        <p:nvGrpSpPr>
          <p:cNvPr id="3" name="Group 41"/>
          <p:cNvGrpSpPr>
            <a:grpSpLocks/>
          </p:cNvGrpSpPr>
          <p:nvPr/>
        </p:nvGrpSpPr>
        <p:grpSpPr bwMode="auto">
          <a:xfrm>
            <a:off x="7623175" y="4038600"/>
            <a:ext cx="304800" cy="304800"/>
            <a:chOff x="4896" y="2496"/>
            <a:chExt cx="192" cy="192"/>
          </a:xfrm>
        </p:grpSpPr>
        <p:sp>
          <p:nvSpPr>
            <p:cNvPr id="24608" name="Line 42"/>
            <p:cNvSpPr>
              <a:spLocks noChangeShapeType="1"/>
            </p:cNvSpPr>
            <p:nvPr/>
          </p:nvSpPr>
          <p:spPr bwMode="auto">
            <a:xfrm flipH="1">
              <a:off x="4944" y="2592"/>
              <a:ext cx="144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9" name="Line 43"/>
            <p:cNvSpPr>
              <a:spLocks noChangeShapeType="1"/>
            </p:cNvSpPr>
            <p:nvPr/>
          </p:nvSpPr>
          <p:spPr bwMode="auto">
            <a:xfrm flipH="1">
              <a:off x="4896" y="2496"/>
              <a:ext cx="144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6428" name="Text Box 44"/>
          <p:cNvSpPr txBox="1">
            <a:spLocks noChangeArrowheads="1"/>
          </p:cNvSpPr>
          <p:nvPr/>
        </p:nvSpPr>
        <p:spPr bwMode="auto">
          <a:xfrm>
            <a:off x="647700" y="1412875"/>
            <a:ext cx="5219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：求玻璃的起偏角？</a:t>
            </a:r>
          </a:p>
        </p:txBody>
      </p:sp>
      <p:graphicFrame>
        <p:nvGraphicFramePr>
          <p:cNvPr id="16430" name="Object 46"/>
          <p:cNvGraphicFramePr>
            <a:graphicFrameLocks noChangeAspect="1"/>
          </p:cNvGraphicFramePr>
          <p:nvPr/>
        </p:nvGraphicFramePr>
        <p:xfrm>
          <a:off x="2147888" y="2447925"/>
          <a:ext cx="1566862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2" name="Equation" r:id="rId11" imgW="1524000" imgH="850900" progId="Equation.DSMT4">
                  <p:embed/>
                </p:oleObj>
              </mc:Choice>
              <mc:Fallback>
                <p:oleObj name="Equation" r:id="rId11" imgW="1524000" imgH="8509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888" y="2447925"/>
                        <a:ext cx="1566862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34" name="Rectangle 50"/>
          <p:cNvSpPr>
            <a:spLocks noChangeArrowheads="1"/>
          </p:cNvSpPr>
          <p:nvPr/>
        </p:nvSpPr>
        <p:spPr bwMode="auto">
          <a:xfrm>
            <a:off x="576263" y="5430838"/>
            <a:ext cx="4783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</a:rPr>
              <a:t>布儒斯特定律的实质：</a:t>
            </a:r>
          </a:p>
        </p:txBody>
      </p:sp>
      <p:grpSp>
        <p:nvGrpSpPr>
          <p:cNvPr id="4" name="Group 89"/>
          <p:cNvGrpSpPr>
            <a:grpSpLocks/>
          </p:cNvGrpSpPr>
          <p:nvPr/>
        </p:nvGrpSpPr>
        <p:grpSpPr bwMode="auto">
          <a:xfrm>
            <a:off x="1619250" y="4838700"/>
            <a:ext cx="6048375" cy="519113"/>
            <a:chOff x="1020" y="3022"/>
            <a:chExt cx="3810" cy="327"/>
          </a:xfrm>
        </p:grpSpPr>
        <p:sp>
          <p:nvSpPr>
            <p:cNvPr id="24606" name="Rectangle 52"/>
            <p:cNvSpPr>
              <a:spLocks noChangeArrowheads="1"/>
            </p:cNvSpPr>
            <p:nvPr/>
          </p:nvSpPr>
          <p:spPr bwMode="auto">
            <a:xfrm>
              <a:off x="1020" y="3022"/>
              <a:ext cx="381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rgbClr val="0000CC"/>
                  </a:solidFill>
                  <a:latin typeface="楷体_GB2312"/>
                  <a:ea typeface="楷体_GB2312"/>
                  <a:cs typeface="楷体_GB2312"/>
                </a:rPr>
                <a:t>是线偏振光，且    平行入射面。</a:t>
              </a:r>
            </a:p>
          </p:txBody>
        </p:sp>
        <p:graphicFrame>
          <p:nvGraphicFramePr>
            <p:cNvPr id="24607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0465956"/>
                </p:ext>
              </p:extLst>
            </p:nvPr>
          </p:nvGraphicFramePr>
          <p:xfrm>
            <a:off x="2671" y="3047"/>
            <a:ext cx="272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3" name="Equation" r:id="rId13" imgW="317225" imgH="393359" progId="Equation.DSMT4">
                    <p:embed/>
                  </p:oleObj>
                </mc:Choice>
                <mc:Fallback>
                  <p:oleObj name="Equation" r:id="rId13" imgW="317225" imgH="393359" progId="Equation.DSMT4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1" y="3047"/>
                          <a:ext cx="272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446" name="Text Box 62"/>
          <p:cNvSpPr txBox="1">
            <a:spLocks noChangeArrowheads="1"/>
          </p:cNvSpPr>
          <p:nvPr/>
        </p:nvSpPr>
        <p:spPr bwMode="auto">
          <a:xfrm>
            <a:off x="1008063" y="6005513"/>
            <a:ext cx="75072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的平行分量在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角入射时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不反射全部透射。</a:t>
            </a:r>
          </a:p>
        </p:txBody>
      </p:sp>
      <p:grpSp>
        <p:nvGrpSpPr>
          <p:cNvPr id="5" name="Group 65"/>
          <p:cNvGrpSpPr>
            <a:grpSpLocks/>
          </p:cNvGrpSpPr>
          <p:nvPr/>
        </p:nvGrpSpPr>
        <p:grpSpPr bwMode="auto">
          <a:xfrm>
            <a:off x="6480175" y="2895600"/>
            <a:ext cx="2057400" cy="1676400"/>
            <a:chOff x="4176" y="1824"/>
            <a:chExt cx="1296" cy="1056"/>
          </a:xfrm>
        </p:grpSpPr>
        <p:sp>
          <p:nvSpPr>
            <p:cNvPr id="24598" name="Line 66"/>
            <p:cNvSpPr>
              <a:spLocks noChangeShapeType="1"/>
            </p:cNvSpPr>
            <p:nvPr/>
          </p:nvSpPr>
          <p:spPr bwMode="auto">
            <a:xfrm>
              <a:off x="4176" y="2400"/>
              <a:ext cx="1296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9" name="Line 67"/>
            <p:cNvSpPr>
              <a:spLocks noChangeShapeType="1"/>
            </p:cNvSpPr>
            <p:nvPr/>
          </p:nvSpPr>
          <p:spPr bwMode="auto">
            <a:xfrm>
              <a:off x="4848" y="2400"/>
              <a:ext cx="288" cy="480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4600" name="Object 68"/>
            <p:cNvGraphicFramePr>
              <a:graphicFrameLocks noChangeAspect="1"/>
            </p:cNvGraphicFramePr>
            <p:nvPr/>
          </p:nvGraphicFramePr>
          <p:xfrm>
            <a:off x="4176" y="2112"/>
            <a:ext cx="19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4" name="公式" r:id="rId15" imgW="164885" imgH="215619" progId="Equation.3">
                    <p:embed/>
                  </p:oleObj>
                </mc:Choice>
                <mc:Fallback>
                  <p:oleObj name="公式" r:id="rId15" imgW="164885" imgH="215619" progId="Equation.3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2112"/>
                          <a:ext cx="199" cy="26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1" name="Object 69"/>
            <p:cNvGraphicFramePr>
              <a:graphicFrameLocks noChangeAspect="1"/>
            </p:cNvGraphicFramePr>
            <p:nvPr/>
          </p:nvGraphicFramePr>
          <p:xfrm>
            <a:off x="4176" y="2400"/>
            <a:ext cx="213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5" name="公式" r:id="rId16" imgW="177569" imgH="215619" progId="Equation.3">
                    <p:embed/>
                  </p:oleObj>
                </mc:Choice>
                <mc:Fallback>
                  <p:oleObj name="公式" r:id="rId16" imgW="177569" imgH="215619" progId="Equation.3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2400"/>
                          <a:ext cx="213" cy="26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2" name="Object 70"/>
            <p:cNvGraphicFramePr>
              <a:graphicFrameLocks noChangeAspect="1"/>
            </p:cNvGraphicFramePr>
            <p:nvPr/>
          </p:nvGraphicFramePr>
          <p:xfrm>
            <a:off x="4608" y="1824"/>
            <a:ext cx="251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6" name="公式" r:id="rId17" imgW="152268" imgH="215713" progId="Equation.3">
                    <p:embed/>
                  </p:oleObj>
                </mc:Choice>
                <mc:Fallback>
                  <p:oleObj name="公式" r:id="rId17" imgW="152268" imgH="215713" progId="Equation.3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824"/>
                          <a:ext cx="251" cy="35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3" name="Arc 71"/>
            <p:cNvSpPr>
              <a:spLocks/>
            </p:cNvSpPr>
            <p:nvPr/>
          </p:nvSpPr>
          <p:spPr bwMode="auto">
            <a:xfrm flipH="1">
              <a:off x="4648" y="2205"/>
              <a:ext cx="241" cy="286"/>
            </a:xfrm>
            <a:custGeom>
              <a:avLst/>
              <a:gdLst>
                <a:gd name="T0" fmla="*/ 0 w 13562"/>
                <a:gd name="T1" fmla="*/ 0 h 21479"/>
                <a:gd name="T2" fmla="*/ 0 w 13562"/>
                <a:gd name="T3" fmla="*/ 0 h 21479"/>
                <a:gd name="T4" fmla="*/ 0 w 13562"/>
                <a:gd name="T5" fmla="*/ 0 h 21479"/>
                <a:gd name="T6" fmla="*/ 0 60000 65536"/>
                <a:gd name="T7" fmla="*/ 0 60000 65536"/>
                <a:gd name="T8" fmla="*/ 0 60000 65536"/>
                <a:gd name="T9" fmla="*/ 0 w 13562"/>
                <a:gd name="T10" fmla="*/ 0 h 21479"/>
                <a:gd name="T11" fmla="*/ 13562 w 13562"/>
                <a:gd name="T12" fmla="*/ 21479 h 214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562" h="21479" fill="none" extrusionOk="0">
                  <a:moveTo>
                    <a:pt x="2285" y="0"/>
                  </a:moveTo>
                  <a:cubicBezTo>
                    <a:pt x="6415" y="439"/>
                    <a:pt x="10330" y="2060"/>
                    <a:pt x="13562" y="4667"/>
                  </a:cubicBezTo>
                </a:path>
                <a:path w="13562" h="21479" stroke="0" extrusionOk="0">
                  <a:moveTo>
                    <a:pt x="2285" y="0"/>
                  </a:moveTo>
                  <a:cubicBezTo>
                    <a:pt x="6415" y="439"/>
                    <a:pt x="10330" y="2060"/>
                    <a:pt x="13562" y="4667"/>
                  </a:cubicBezTo>
                  <a:lnTo>
                    <a:pt x="0" y="21479"/>
                  </a:lnTo>
                  <a:lnTo>
                    <a:pt x="2285" y="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4" name="Line 72"/>
            <p:cNvSpPr>
              <a:spLocks noChangeShapeType="1"/>
            </p:cNvSpPr>
            <p:nvPr/>
          </p:nvSpPr>
          <p:spPr bwMode="auto">
            <a:xfrm>
              <a:off x="4848" y="1968"/>
              <a:ext cx="0" cy="816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5" name="Line 73"/>
            <p:cNvSpPr>
              <a:spLocks noChangeShapeType="1"/>
            </p:cNvSpPr>
            <p:nvPr/>
          </p:nvSpPr>
          <p:spPr bwMode="auto">
            <a:xfrm>
              <a:off x="4416" y="2064"/>
              <a:ext cx="432" cy="336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74"/>
          <p:cNvGrpSpPr>
            <a:grpSpLocks/>
          </p:cNvGrpSpPr>
          <p:nvPr/>
        </p:nvGrpSpPr>
        <p:grpSpPr bwMode="auto">
          <a:xfrm>
            <a:off x="6784975" y="3200400"/>
            <a:ext cx="457200" cy="457200"/>
            <a:chOff x="3792" y="2592"/>
            <a:chExt cx="288" cy="288"/>
          </a:xfrm>
        </p:grpSpPr>
        <p:sp>
          <p:nvSpPr>
            <p:cNvPr id="24596" name="Line 75"/>
            <p:cNvSpPr>
              <a:spLocks noChangeShapeType="1"/>
            </p:cNvSpPr>
            <p:nvPr/>
          </p:nvSpPr>
          <p:spPr bwMode="auto">
            <a:xfrm flipH="1">
              <a:off x="3792" y="2592"/>
              <a:ext cx="144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7" name="Line 76"/>
            <p:cNvSpPr>
              <a:spLocks noChangeShapeType="1"/>
            </p:cNvSpPr>
            <p:nvPr/>
          </p:nvSpPr>
          <p:spPr bwMode="auto">
            <a:xfrm flipH="1">
              <a:off x="3936" y="2688"/>
              <a:ext cx="144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6466" name="Text Box 82"/>
          <p:cNvSpPr txBox="1">
            <a:spLocks noChangeArrowheads="1"/>
          </p:cNvSpPr>
          <p:nvPr/>
        </p:nvSpPr>
        <p:spPr bwMode="auto">
          <a:xfrm>
            <a:off x="1403350" y="1973263"/>
            <a:ext cx="3889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baseline="-250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=1,  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baseline="-250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=1.5</a:t>
            </a:r>
          </a:p>
        </p:txBody>
      </p:sp>
      <p:sp>
        <p:nvSpPr>
          <p:cNvPr id="16467" name="Text Box 83"/>
          <p:cNvSpPr txBox="1">
            <a:spLocks noChangeArrowheads="1"/>
          </p:cNvSpPr>
          <p:nvPr/>
        </p:nvSpPr>
        <p:spPr bwMode="auto">
          <a:xfrm>
            <a:off x="1428750" y="2586038"/>
            <a:ext cx="16208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则</a:t>
            </a:r>
          </a:p>
        </p:txBody>
      </p:sp>
      <p:grpSp>
        <p:nvGrpSpPr>
          <p:cNvPr id="7" name="Group 86"/>
          <p:cNvGrpSpPr>
            <a:grpSpLocks/>
          </p:cNvGrpSpPr>
          <p:nvPr/>
        </p:nvGrpSpPr>
        <p:grpSpPr bwMode="auto">
          <a:xfrm>
            <a:off x="895350" y="476250"/>
            <a:ext cx="2165350" cy="920750"/>
            <a:chOff x="564" y="300"/>
            <a:chExt cx="1364" cy="580"/>
          </a:xfrm>
        </p:grpSpPr>
        <p:graphicFrame>
          <p:nvGraphicFramePr>
            <p:cNvPr id="24594" name="Object 3"/>
            <p:cNvGraphicFramePr>
              <a:graphicFrameLocks noChangeAspect="1"/>
            </p:cNvGraphicFramePr>
            <p:nvPr/>
          </p:nvGraphicFramePr>
          <p:xfrm>
            <a:off x="998" y="300"/>
            <a:ext cx="930" cy="5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7" name="Equation" r:id="rId19" imgW="1346200" imgH="850900" progId="Equation.DSMT4">
                    <p:embed/>
                  </p:oleObj>
                </mc:Choice>
                <mc:Fallback>
                  <p:oleObj name="Equation" r:id="rId19" imgW="1346200" imgH="8509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300"/>
                          <a:ext cx="930" cy="580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5" name="Object 85"/>
            <p:cNvGraphicFramePr>
              <a:graphicFrameLocks noChangeAspect="1"/>
            </p:cNvGraphicFramePr>
            <p:nvPr/>
          </p:nvGraphicFramePr>
          <p:xfrm>
            <a:off x="564" y="345"/>
            <a:ext cx="443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8" name="Clip" r:id="rId21" imgW="3190810" imgH="2943270" progId="">
                    <p:embed/>
                  </p:oleObj>
                </mc:Choice>
                <mc:Fallback>
                  <p:oleObj name="Clip" r:id="rId21" imgW="3190810" imgH="2943270" progId="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4" y="345"/>
                          <a:ext cx="443" cy="4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471" name="Object 87"/>
          <p:cNvGraphicFramePr>
            <a:graphicFrameLocks noChangeAspect="1"/>
          </p:cNvGraphicFramePr>
          <p:nvPr/>
        </p:nvGraphicFramePr>
        <p:xfrm>
          <a:off x="2428875" y="3271838"/>
          <a:ext cx="23876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9" name="Equation" r:id="rId23" imgW="2324100" imgH="469900" progId="Equation.DSMT4">
                  <p:embed/>
                </p:oleObj>
              </mc:Choice>
              <mc:Fallback>
                <p:oleObj name="Equation" r:id="rId23" imgW="2324100" imgH="469900" progId="Equation.DSMT4">
                  <p:embed/>
                  <p:pic>
                    <p:nvPicPr>
                      <p:cNvPr id="0" name="Object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3271838"/>
                        <a:ext cx="238760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3" name="TextBox 64"/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 tmFilter="0,0; .5, 1; 1, 1"/>
                                        <p:tgtEl>
                                          <p:spTgt spid="1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950"/>
                            </p:stCondLst>
                            <p:childTnLst>
                              <p:par>
                                <p:cTn id="51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16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422" grpId="0"/>
      <p:bldP spid="16428" grpId="0" autoUpdateAnimBg="0"/>
      <p:bldP spid="16434" grpId="0" autoUpdateAnimBg="0"/>
      <p:bldP spid="16446" grpId="0"/>
      <p:bldP spid="16466" grpId="0" autoUpdateAnimBg="0"/>
      <p:bldP spid="16467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/>
          <p:cNvSpPr/>
          <p:nvPr/>
        </p:nvSpPr>
        <p:spPr>
          <a:xfrm>
            <a:off x="5183188" y="4433888"/>
            <a:ext cx="3175000" cy="210185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00113" y="1844675"/>
            <a:ext cx="7704137" cy="146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482600" y="252413"/>
            <a:ext cx="2603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应用：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1511300" y="1325563"/>
            <a:ext cx="6445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例如激光器中的布儒斯特窗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712788" y="3881438"/>
            <a:ext cx="601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</a:rPr>
              <a:t>2</a:t>
            </a:r>
            <a:r>
              <a:rPr lang="en-US" altLang="zh-CN" sz="2800" b="1" baseline="30000">
                <a:solidFill>
                  <a:srgbClr val="0000CC"/>
                </a:solidFill>
              </a:rPr>
              <a:t>0  </a:t>
            </a:r>
            <a:r>
              <a:rPr lang="zh-CN" altLang="en-US" sz="2800" b="1">
                <a:solidFill>
                  <a:srgbClr val="0000CC"/>
                </a:solidFill>
              </a:rPr>
              <a:t>可测不透明媒质折射率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545138" y="4473575"/>
            <a:ext cx="2590800" cy="1828800"/>
            <a:chOff x="3648" y="2016"/>
            <a:chExt cx="1632" cy="1152"/>
          </a:xfrm>
        </p:grpSpPr>
        <p:sp>
          <p:nvSpPr>
            <p:cNvPr id="25653" name="Line 6"/>
            <p:cNvSpPr>
              <a:spLocks noChangeShapeType="1"/>
            </p:cNvSpPr>
            <p:nvPr/>
          </p:nvSpPr>
          <p:spPr bwMode="auto">
            <a:xfrm flipH="1">
              <a:off x="4176" y="2352"/>
              <a:ext cx="144" cy="192"/>
            </a:xfrm>
            <a:prstGeom prst="line">
              <a:avLst/>
            </a:prstGeom>
            <a:noFill/>
            <a:ln w="28575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54" name="Line 7"/>
            <p:cNvSpPr>
              <a:spLocks noChangeShapeType="1"/>
            </p:cNvSpPr>
            <p:nvPr/>
          </p:nvSpPr>
          <p:spPr bwMode="auto">
            <a:xfrm flipV="1">
              <a:off x="4656" y="2160"/>
              <a:ext cx="624" cy="624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5655" name="Object 8"/>
            <p:cNvGraphicFramePr>
              <a:graphicFrameLocks noChangeAspect="1"/>
            </p:cNvGraphicFramePr>
            <p:nvPr/>
          </p:nvGraphicFramePr>
          <p:xfrm>
            <a:off x="3648" y="2496"/>
            <a:ext cx="480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58" name="Equation" r:id="rId3" imgW="927100" imgH="457200" progId="Equation.3">
                    <p:embed/>
                  </p:oleObj>
                </mc:Choice>
                <mc:Fallback>
                  <p:oleObj name="Equation" r:id="rId3" imgW="927100" imgH="4572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2496"/>
                          <a:ext cx="480" cy="236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56" name="Object 9"/>
            <p:cNvGraphicFramePr>
              <a:graphicFrameLocks noChangeAspect="1"/>
            </p:cNvGraphicFramePr>
            <p:nvPr/>
          </p:nvGraphicFramePr>
          <p:xfrm>
            <a:off x="3744" y="2880"/>
            <a:ext cx="605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59" name="Equation" r:id="rId5" imgW="1002865" imgH="457002" progId="Equation.3">
                    <p:embed/>
                  </p:oleObj>
                </mc:Choice>
                <mc:Fallback>
                  <p:oleObj name="Equation" r:id="rId5" imgW="1002865" imgH="457002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880"/>
                          <a:ext cx="605" cy="276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57" name="Object 10"/>
            <p:cNvGraphicFramePr>
              <a:graphicFrameLocks noChangeAspect="1"/>
            </p:cNvGraphicFramePr>
            <p:nvPr/>
          </p:nvGraphicFramePr>
          <p:xfrm>
            <a:off x="4406" y="2198"/>
            <a:ext cx="271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60" name="Equation" r:id="rId7" imgW="165028" imgH="228501" progId="Equation.DSMT4">
                    <p:embed/>
                  </p:oleObj>
                </mc:Choice>
                <mc:Fallback>
                  <p:oleObj name="Equation" r:id="rId7" imgW="165028" imgH="228501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6" y="2198"/>
                          <a:ext cx="271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58" name="Arc 11"/>
            <p:cNvSpPr>
              <a:spLocks/>
            </p:cNvSpPr>
            <p:nvPr/>
          </p:nvSpPr>
          <p:spPr bwMode="auto">
            <a:xfrm flipH="1">
              <a:off x="4464" y="2546"/>
              <a:ext cx="241" cy="286"/>
            </a:xfrm>
            <a:custGeom>
              <a:avLst/>
              <a:gdLst>
                <a:gd name="T0" fmla="*/ 0 w 13562"/>
                <a:gd name="T1" fmla="*/ 0 h 21479"/>
                <a:gd name="T2" fmla="*/ 0 w 13562"/>
                <a:gd name="T3" fmla="*/ 0 h 21479"/>
                <a:gd name="T4" fmla="*/ 0 w 13562"/>
                <a:gd name="T5" fmla="*/ 0 h 21479"/>
                <a:gd name="T6" fmla="*/ 0 60000 65536"/>
                <a:gd name="T7" fmla="*/ 0 60000 65536"/>
                <a:gd name="T8" fmla="*/ 0 60000 65536"/>
                <a:gd name="T9" fmla="*/ 0 w 13562"/>
                <a:gd name="T10" fmla="*/ 0 h 21479"/>
                <a:gd name="T11" fmla="*/ 13562 w 13562"/>
                <a:gd name="T12" fmla="*/ 21479 h 214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562" h="21479" fill="none" extrusionOk="0">
                  <a:moveTo>
                    <a:pt x="2285" y="0"/>
                  </a:moveTo>
                  <a:cubicBezTo>
                    <a:pt x="6415" y="439"/>
                    <a:pt x="10330" y="2060"/>
                    <a:pt x="13562" y="4667"/>
                  </a:cubicBezTo>
                </a:path>
                <a:path w="13562" h="21479" stroke="0" extrusionOk="0">
                  <a:moveTo>
                    <a:pt x="2285" y="0"/>
                  </a:moveTo>
                  <a:cubicBezTo>
                    <a:pt x="6415" y="439"/>
                    <a:pt x="10330" y="2060"/>
                    <a:pt x="13562" y="4667"/>
                  </a:cubicBezTo>
                  <a:lnTo>
                    <a:pt x="0" y="21479"/>
                  </a:lnTo>
                  <a:lnTo>
                    <a:pt x="2285" y="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59" name="Line 12"/>
            <p:cNvSpPr>
              <a:spLocks noChangeShapeType="1"/>
            </p:cNvSpPr>
            <p:nvPr/>
          </p:nvSpPr>
          <p:spPr bwMode="auto">
            <a:xfrm>
              <a:off x="4656" y="2016"/>
              <a:ext cx="0" cy="115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60" name="Line 13"/>
            <p:cNvSpPr>
              <a:spLocks noChangeShapeType="1"/>
            </p:cNvSpPr>
            <p:nvPr/>
          </p:nvSpPr>
          <p:spPr bwMode="auto">
            <a:xfrm>
              <a:off x="3936" y="2208"/>
              <a:ext cx="720" cy="576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61" name="Line 14"/>
            <p:cNvSpPr>
              <a:spLocks noChangeShapeType="1"/>
            </p:cNvSpPr>
            <p:nvPr/>
          </p:nvSpPr>
          <p:spPr bwMode="auto">
            <a:xfrm flipH="1">
              <a:off x="4320" y="2496"/>
              <a:ext cx="144" cy="192"/>
            </a:xfrm>
            <a:prstGeom prst="line">
              <a:avLst/>
            </a:prstGeom>
            <a:noFill/>
            <a:ln w="28575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62" name="Oval 15"/>
            <p:cNvSpPr>
              <a:spLocks noChangeArrowheads="1"/>
            </p:cNvSpPr>
            <p:nvPr/>
          </p:nvSpPr>
          <p:spPr bwMode="auto">
            <a:xfrm>
              <a:off x="4272" y="2496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63" name="Oval 16"/>
            <p:cNvSpPr>
              <a:spLocks noChangeArrowheads="1"/>
            </p:cNvSpPr>
            <p:nvPr/>
          </p:nvSpPr>
          <p:spPr bwMode="auto">
            <a:xfrm>
              <a:off x="4464" y="2640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64" name="Oval 17"/>
            <p:cNvSpPr>
              <a:spLocks noChangeArrowheads="1"/>
            </p:cNvSpPr>
            <p:nvPr/>
          </p:nvSpPr>
          <p:spPr bwMode="auto">
            <a:xfrm>
              <a:off x="4896" y="2448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65" name="Oval 18"/>
            <p:cNvSpPr>
              <a:spLocks noChangeArrowheads="1"/>
            </p:cNvSpPr>
            <p:nvPr/>
          </p:nvSpPr>
          <p:spPr bwMode="auto">
            <a:xfrm>
              <a:off x="4752" y="259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66" name="Line 19"/>
            <p:cNvSpPr>
              <a:spLocks noChangeShapeType="1"/>
            </p:cNvSpPr>
            <p:nvPr/>
          </p:nvSpPr>
          <p:spPr bwMode="auto">
            <a:xfrm>
              <a:off x="3840" y="2784"/>
              <a:ext cx="1392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7428" name="Object 20"/>
          <p:cNvGraphicFramePr>
            <a:graphicFrameLocks noChangeAspect="1"/>
          </p:cNvGraphicFramePr>
          <p:nvPr/>
        </p:nvGraphicFramePr>
        <p:xfrm>
          <a:off x="5065713" y="3933825"/>
          <a:ext cx="2135187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61" name="Equation" r:id="rId9" imgW="2032000" imgH="431800" progId="Equation.DSMT4">
                  <p:embed/>
                </p:oleObj>
              </mc:Choice>
              <mc:Fallback>
                <p:oleObj name="Equation" r:id="rId9" imgW="2032000" imgH="4318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5713" y="3933825"/>
                        <a:ext cx="2135187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9" name="Text Box 21"/>
          <p:cNvSpPr txBox="1">
            <a:spLocks noChangeArrowheads="1"/>
          </p:cNvSpPr>
          <p:nvPr/>
        </p:nvSpPr>
        <p:spPr bwMode="auto">
          <a:xfrm>
            <a:off x="719138" y="4581525"/>
            <a:ext cx="571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/>
              <a:t>3</a:t>
            </a:r>
            <a:r>
              <a:rPr lang="en-US" altLang="zh-CN" sz="2800" b="1" baseline="30000"/>
              <a:t>0 </a:t>
            </a:r>
            <a:r>
              <a:rPr lang="zh-CN" altLang="en-US" sz="2800" b="1"/>
              <a:t>若反射光是部分偏振光，</a:t>
            </a:r>
          </a:p>
        </p:txBody>
      </p:sp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1073150" y="5151438"/>
            <a:ext cx="4513263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利用偏振片可消去大部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分反射光</a:t>
            </a:r>
            <a:r>
              <a:rPr lang="zh-CN" altLang="en-US" sz="2800" b="1"/>
              <a:t>（如镜头前加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偏振片、偏光望远镜等）。</a:t>
            </a:r>
          </a:p>
        </p:txBody>
      </p: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1144588" y="2024063"/>
            <a:ext cx="6991350" cy="1219200"/>
            <a:chOff x="672" y="768"/>
            <a:chExt cx="4404" cy="768"/>
          </a:xfrm>
        </p:grpSpPr>
        <p:sp>
          <p:nvSpPr>
            <p:cNvPr id="25624" name="AutoShape 24"/>
            <p:cNvSpPr>
              <a:spLocks noChangeArrowheads="1"/>
            </p:cNvSpPr>
            <p:nvPr/>
          </p:nvSpPr>
          <p:spPr bwMode="auto">
            <a:xfrm flipV="1">
              <a:off x="1392" y="912"/>
              <a:ext cx="2832" cy="3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608 w 21600"/>
                <a:gd name="T13" fmla="*/ 3600 h 21600"/>
                <a:gd name="T14" fmla="*/ 17992 w 21600"/>
                <a:gd name="T15" fmla="*/ 180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3617" y="21600"/>
                  </a:lnTo>
                  <a:lnTo>
                    <a:pt x="17983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5" name="Line 25"/>
            <p:cNvSpPr>
              <a:spLocks noChangeShapeType="1"/>
            </p:cNvSpPr>
            <p:nvPr/>
          </p:nvSpPr>
          <p:spPr bwMode="auto">
            <a:xfrm>
              <a:off x="3744" y="912"/>
              <a:ext cx="480" cy="384"/>
            </a:xfrm>
            <a:prstGeom prst="line">
              <a:avLst/>
            </a:prstGeom>
            <a:noFill/>
            <a:ln w="57150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6" name="Line 26"/>
            <p:cNvSpPr>
              <a:spLocks noChangeShapeType="1"/>
            </p:cNvSpPr>
            <p:nvPr/>
          </p:nvSpPr>
          <p:spPr bwMode="auto">
            <a:xfrm flipH="1">
              <a:off x="1392" y="912"/>
              <a:ext cx="480" cy="384"/>
            </a:xfrm>
            <a:prstGeom prst="line">
              <a:avLst/>
            </a:prstGeom>
            <a:noFill/>
            <a:ln w="57150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7" name="Line 27"/>
            <p:cNvSpPr>
              <a:spLocks noChangeShapeType="1"/>
            </p:cNvSpPr>
            <p:nvPr/>
          </p:nvSpPr>
          <p:spPr bwMode="auto">
            <a:xfrm>
              <a:off x="768" y="1104"/>
              <a:ext cx="4224" cy="0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8" name="Line 28"/>
            <p:cNvSpPr>
              <a:spLocks noChangeShapeType="1"/>
            </p:cNvSpPr>
            <p:nvPr/>
          </p:nvSpPr>
          <p:spPr bwMode="auto">
            <a:xfrm>
              <a:off x="2352" y="1008"/>
              <a:ext cx="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9" name="Line 29"/>
            <p:cNvSpPr>
              <a:spLocks noChangeShapeType="1"/>
            </p:cNvSpPr>
            <p:nvPr/>
          </p:nvSpPr>
          <p:spPr bwMode="auto">
            <a:xfrm>
              <a:off x="2640" y="1008"/>
              <a:ext cx="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0" name="Line 30"/>
            <p:cNvSpPr>
              <a:spLocks noChangeShapeType="1"/>
            </p:cNvSpPr>
            <p:nvPr/>
          </p:nvSpPr>
          <p:spPr bwMode="auto">
            <a:xfrm>
              <a:off x="3216" y="1008"/>
              <a:ext cx="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1" name="Line 31"/>
            <p:cNvSpPr>
              <a:spLocks noChangeShapeType="1"/>
            </p:cNvSpPr>
            <p:nvPr/>
          </p:nvSpPr>
          <p:spPr bwMode="auto">
            <a:xfrm>
              <a:off x="2928" y="1008"/>
              <a:ext cx="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2" name="Line 32"/>
            <p:cNvSpPr>
              <a:spLocks noChangeShapeType="1"/>
            </p:cNvSpPr>
            <p:nvPr/>
          </p:nvSpPr>
          <p:spPr bwMode="auto">
            <a:xfrm>
              <a:off x="4224" y="1008"/>
              <a:ext cx="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3" name="Line 33"/>
            <p:cNvSpPr>
              <a:spLocks noChangeShapeType="1"/>
            </p:cNvSpPr>
            <p:nvPr/>
          </p:nvSpPr>
          <p:spPr bwMode="auto">
            <a:xfrm>
              <a:off x="4368" y="1008"/>
              <a:ext cx="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4" name="Oval 34"/>
            <p:cNvSpPr>
              <a:spLocks noChangeArrowheads="1"/>
            </p:cNvSpPr>
            <p:nvPr/>
          </p:nvSpPr>
          <p:spPr bwMode="auto">
            <a:xfrm>
              <a:off x="2448" y="1056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35" name="Oval 35"/>
            <p:cNvSpPr>
              <a:spLocks noChangeArrowheads="1"/>
            </p:cNvSpPr>
            <p:nvPr/>
          </p:nvSpPr>
          <p:spPr bwMode="auto">
            <a:xfrm>
              <a:off x="2736" y="1056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36" name="Oval 36"/>
            <p:cNvSpPr>
              <a:spLocks noChangeArrowheads="1"/>
            </p:cNvSpPr>
            <p:nvPr/>
          </p:nvSpPr>
          <p:spPr bwMode="auto">
            <a:xfrm>
              <a:off x="3024" y="1056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37" name="Oval 37"/>
            <p:cNvSpPr>
              <a:spLocks noChangeArrowheads="1"/>
            </p:cNvSpPr>
            <p:nvPr/>
          </p:nvSpPr>
          <p:spPr bwMode="auto">
            <a:xfrm>
              <a:off x="3312" y="1056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38" name="Oval 38"/>
            <p:cNvSpPr>
              <a:spLocks noChangeArrowheads="1"/>
            </p:cNvSpPr>
            <p:nvPr/>
          </p:nvSpPr>
          <p:spPr bwMode="auto">
            <a:xfrm>
              <a:off x="4416" y="1056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39" name="Line 39"/>
            <p:cNvSpPr>
              <a:spLocks noChangeShapeType="1"/>
            </p:cNvSpPr>
            <p:nvPr/>
          </p:nvSpPr>
          <p:spPr bwMode="auto">
            <a:xfrm flipH="1">
              <a:off x="3696" y="912"/>
              <a:ext cx="432" cy="576"/>
            </a:xfrm>
            <a:prstGeom prst="line">
              <a:avLst/>
            </a:prstGeom>
            <a:noFill/>
            <a:ln w="19050">
              <a:solidFill>
                <a:srgbClr val="CC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0" name="Line 40"/>
            <p:cNvSpPr>
              <a:spLocks noChangeShapeType="1"/>
            </p:cNvSpPr>
            <p:nvPr/>
          </p:nvSpPr>
          <p:spPr bwMode="auto">
            <a:xfrm>
              <a:off x="3984" y="1104"/>
              <a:ext cx="96" cy="432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1" name="Oval 41"/>
            <p:cNvSpPr>
              <a:spLocks noChangeArrowheads="1"/>
            </p:cNvSpPr>
            <p:nvPr/>
          </p:nvSpPr>
          <p:spPr bwMode="auto">
            <a:xfrm>
              <a:off x="3984" y="1296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42" name="Line 42"/>
            <p:cNvSpPr>
              <a:spLocks noChangeShapeType="1"/>
            </p:cNvSpPr>
            <p:nvPr/>
          </p:nvSpPr>
          <p:spPr bwMode="auto">
            <a:xfrm flipH="1" flipV="1">
              <a:off x="3888" y="768"/>
              <a:ext cx="96" cy="336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3" name="Oval 43"/>
            <p:cNvSpPr>
              <a:spLocks noChangeArrowheads="1"/>
            </p:cNvSpPr>
            <p:nvPr/>
          </p:nvSpPr>
          <p:spPr bwMode="auto">
            <a:xfrm>
              <a:off x="3888" y="912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44" name="Line 44"/>
            <p:cNvSpPr>
              <a:spLocks noChangeShapeType="1"/>
            </p:cNvSpPr>
            <p:nvPr/>
          </p:nvSpPr>
          <p:spPr bwMode="auto">
            <a:xfrm>
              <a:off x="1488" y="912"/>
              <a:ext cx="384" cy="528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5" name="Line 45"/>
            <p:cNvSpPr>
              <a:spLocks noChangeShapeType="1"/>
            </p:cNvSpPr>
            <p:nvPr/>
          </p:nvSpPr>
          <p:spPr bwMode="auto">
            <a:xfrm flipH="1">
              <a:off x="1536" y="1104"/>
              <a:ext cx="96" cy="384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6" name="Line 46"/>
            <p:cNvSpPr>
              <a:spLocks noChangeShapeType="1"/>
            </p:cNvSpPr>
            <p:nvPr/>
          </p:nvSpPr>
          <p:spPr bwMode="auto">
            <a:xfrm flipV="1">
              <a:off x="1632" y="768"/>
              <a:ext cx="96" cy="336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7" name="Oval 47"/>
            <p:cNvSpPr>
              <a:spLocks noChangeArrowheads="1"/>
            </p:cNvSpPr>
            <p:nvPr/>
          </p:nvSpPr>
          <p:spPr bwMode="auto">
            <a:xfrm>
              <a:off x="1536" y="1248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48" name="Oval 48"/>
            <p:cNvSpPr>
              <a:spLocks noChangeArrowheads="1"/>
            </p:cNvSpPr>
            <p:nvPr/>
          </p:nvSpPr>
          <p:spPr bwMode="auto">
            <a:xfrm>
              <a:off x="1632" y="912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25649" name="Object 49"/>
            <p:cNvGraphicFramePr>
              <a:graphicFrameLocks noChangeAspect="1"/>
            </p:cNvGraphicFramePr>
            <p:nvPr/>
          </p:nvGraphicFramePr>
          <p:xfrm>
            <a:off x="3498" y="1089"/>
            <a:ext cx="325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62" name="Equation" r:id="rId11" imgW="228501" imgH="304668" progId="Equation.DSMT4">
                    <p:embed/>
                  </p:oleObj>
                </mc:Choice>
                <mc:Fallback>
                  <p:oleObj name="Equation" r:id="rId11" imgW="228501" imgH="304668" progId="Equation.DSMT4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8" y="1089"/>
                          <a:ext cx="325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50" name="Arc 50"/>
            <p:cNvSpPr>
              <a:spLocks/>
            </p:cNvSpPr>
            <p:nvPr/>
          </p:nvSpPr>
          <p:spPr bwMode="auto">
            <a:xfrm flipH="1" flipV="1">
              <a:off x="3744" y="1104"/>
              <a:ext cx="240" cy="170"/>
            </a:xfrm>
            <a:custGeom>
              <a:avLst/>
              <a:gdLst>
                <a:gd name="T0" fmla="*/ 0 w 21600"/>
                <a:gd name="T1" fmla="*/ 0 h 19150"/>
                <a:gd name="T2" fmla="*/ 0 w 21600"/>
                <a:gd name="T3" fmla="*/ 0 h 19150"/>
                <a:gd name="T4" fmla="*/ 0 w 21600"/>
                <a:gd name="T5" fmla="*/ 0 h 19150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150"/>
                <a:gd name="T11" fmla="*/ 21600 w 21600"/>
                <a:gd name="T12" fmla="*/ 19150 h 191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150" fill="none" extrusionOk="0">
                  <a:moveTo>
                    <a:pt x="9991" y="-1"/>
                  </a:moveTo>
                  <a:cubicBezTo>
                    <a:pt x="17126" y="3722"/>
                    <a:pt x="21600" y="11102"/>
                    <a:pt x="21600" y="19150"/>
                  </a:cubicBezTo>
                </a:path>
                <a:path w="21600" h="19150" stroke="0" extrusionOk="0">
                  <a:moveTo>
                    <a:pt x="9991" y="-1"/>
                  </a:moveTo>
                  <a:cubicBezTo>
                    <a:pt x="17126" y="3722"/>
                    <a:pt x="21600" y="11102"/>
                    <a:pt x="21600" y="19150"/>
                  </a:cubicBezTo>
                  <a:lnTo>
                    <a:pt x="0" y="19150"/>
                  </a:lnTo>
                  <a:lnTo>
                    <a:pt x="9991" y="-1"/>
                  </a:lnTo>
                  <a:close/>
                </a:path>
              </a:pathLst>
            </a:custGeom>
            <a:noFill/>
            <a:ln w="28575">
              <a:solidFill>
                <a:srgbClr val="FF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5651" name="Object 51"/>
            <p:cNvGraphicFramePr>
              <a:graphicFrameLocks noChangeAspect="1"/>
            </p:cNvGraphicFramePr>
            <p:nvPr/>
          </p:nvGraphicFramePr>
          <p:xfrm>
            <a:off x="4848" y="768"/>
            <a:ext cx="228" cy="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63" name="位图图像" r:id="rId13" imgW="361809" imgH="1028844" progId="PBrush">
                    <p:embed/>
                  </p:oleObj>
                </mc:Choice>
                <mc:Fallback>
                  <p:oleObj name="位图图像" r:id="rId13" imgW="361809" imgH="1028844" progId="PBrush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768"/>
                          <a:ext cx="228" cy="6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52" name="Object 52"/>
            <p:cNvGraphicFramePr>
              <a:graphicFrameLocks noChangeAspect="1"/>
            </p:cNvGraphicFramePr>
            <p:nvPr/>
          </p:nvGraphicFramePr>
          <p:xfrm>
            <a:off x="672" y="768"/>
            <a:ext cx="228" cy="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64" name="BMP 图象" r:id="rId15" imgW="361809" imgH="1028844" progId="PBrush">
                    <p:embed/>
                  </p:oleObj>
                </mc:Choice>
                <mc:Fallback>
                  <p:oleObj name="BMP 图象" r:id="rId15" imgW="361809" imgH="1028844" progId="PBrush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768"/>
                          <a:ext cx="228" cy="6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67"/>
          <p:cNvGrpSpPr>
            <a:grpSpLocks/>
          </p:cNvGrpSpPr>
          <p:nvPr/>
        </p:nvGrpSpPr>
        <p:grpSpPr bwMode="auto">
          <a:xfrm>
            <a:off x="1547813" y="3305175"/>
            <a:ext cx="5624512" cy="519113"/>
            <a:chOff x="1628" y="1913"/>
            <a:chExt cx="3543" cy="327"/>
          </a:xfrm>
        </p:grpSpPr>
        <p:grpSp>
          <p:nvGrpSpPr>
            <p:cNvPr id="25618" name="Group 66"/>
            <p:cNvGrpSpPr>
              <a:grpSpLocks/>
            </p:cNvGrpSpPr>
            <p:nvPr/>
          </p:nvGrpSpPr>
          <p:grpSpPr bwMode="auto">
            <a:xfrm>
              <a:off x="2684" y="1979"/>
              <a:ext cx="536" cy="192"/>
              <a:chOff x="2684" y="1979"/>
              <a:chExt cx="536" cy="192"/>
            </a:xfrm>
          </p:grpSpPr>
          <p:sp>
            <p:nvSpPr>
              <p:cNvPr id="25620" name="Line 55"/>
              <p:cNvSpPr>
                <a:spLocks noChangeShapeType="1"/>
              </p:cNvSpPr>
              <p:nvPr/>
            </p:nvSpPr>
            <p:spPr bwMode="auto">
              <a:xfrm>
                <a:off x="2684" y="1979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21" name="Line 56"/>
              <p:cNvSpPr>
                <a:spLocks noChangeShapeType="1"/>
              </p:cNvSpPr>
              <p:nvPr/>
            </p:nvSpPr>
            <p:spPr bwMode="auto">
              <a:xfrm>
                <a:off x="2857" y="1979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22" name="Line 57"/>
              <p:cNvSpPr>
                <a:spLocks noChangeShapeType="1"/>
              </p:cNvSpPr>
              <p:nvPr/>
            </p:nvSpPr>
            <p:spPr bwMode="auto">
              <a:xfrm>
                <a:off x="3039" y="1979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23" name="Line 58"/>
              <p:cNvSpPr>
                <a:spLocks noChangeShapeType="1"/>
              </p:cNvSpPr>
              <p:nvPr/>
            </p:nvSpPr>
            <p:spPr bwMode="auto">
              <a:xfrm>
                <a:off x="3220" y="1979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5619" name="Text Box 60"/>
            <p:cNvSpPr txBox="1">
              <a:spLocks noChangeArrowheads="1"/>
            </p:cNvSpPr>
            <p:nvPr/>
          </p:nvSpPr>
          <p:spPr bwMode="auto">
            <a:xfrm>
              <a:off x="1628" y="1913"/>
              <a:ext cx="354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/>
                <a:t>最后得到             的</a:t>
              </a:r>
              <a:r>
                <a:rPr lang="zh-CN" altLang="en-US" sz="2800" b="1">
                  <a:latin typeface="Arial" panose="020B0604020202020204" pitchFamily="34" charset="0"/>
                  <a:ea typeface="楷体_GB2312"/>
                  <a:cs typeface="楷体_GB2312"/>
                </a:rPr>
                <a:t>线偏振光</a:t>
              </a:r>
              <a:endParaRPr kumimoji="1" lang="zh-CN" altLang="en-US" sz="2800" b="1">
                <a:ea typeface="楷体_GB2312"/>
                <a:cs typeface="楷体_GB2312"/>
              </a:endParaRPr>
            </a:p>
          </p:txBody>
        </p:sp>
      </p:grpSp>
      <p:sp>
        <p:nvSpPr>
          <p:cNvPr id="17469" name="AutoShape 61"/>
          <p:cNvSpPr>
            <a:spLocks noChangeArrowheads="1"/>
          </p:cNvSpPr>
          <p:nvPr/>
        </p:nvSpPr>
        <p:spPr bwMode="auto">
          <a:xfrm>
            <a:off x="6300788" y="1376363"/>
            <a:ext cx="2057400" cy="503237"/>
          </a:xfrm>
          <a:prstGeom prst="wedgeRoundRectCallout">
            <a:avLst>
              <a:gd name="adj1" fmla="val -60338"/>
              <a:gd name="adj2" fmla="val 132968"/>
              <a:gd name="adj3" fmla="val 16667"/>
            </a:avLst>
          </a:prstGeom>
          <a:solidFill>
            <a:srgbClr val="CCFFFF"/>
          </a:solidFill>
          <a:ln w="190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+mn-lt"/>
                <a:ea typeface="楷体_GB2312" pitchFamily="49" charset="-122"/>
              </a:rPr>
              <a:t>布儒斯特窗</a:t>
            </a:r>
          </a:p>
        </p:txBody>
      </p:sp>
      <p:sp>
        <p:nvSpPr>
          <p:cNvPr id="17476" name="Text Box 68"/>
          <p:cNvSpPr txBox="1">
            <a:spLocks noChangeArrowheads="1"/>
          </p:cNvSpPr>
          <p:nvPr/>
        </p:nvSpPr>
        <p:spPr bwMode="auto">
          <a:xfrm>
            <a:off x="738188" y="763588"/>
            <a:ext cx="609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</a:rPr>
              <a:t>1</a:t>
            </a:r>
            <a:r>
              <a:rPr lang="en-US" altLang="zh-CN" sz="2800" b="1" baseline="30000">
                <a:solidFill>
                  <a:srgbClr val="0000CC"/>
                </a:solidFill>
              </a:rPr>
              <a:t>0  </a:t>
            </a:r>
            <a:r>
              <a:rPr lang="zh-CN" altLang="en-US" sz="2800" b="1">
                <a:solidFill>
                  <a:srgbClr val="0000CC"/>
                </a:solidFill>
              </a:rPr>
              <a:t>可由反射获得线偏振光</a:t>
            </a:r>
          </a:p>
        </p:txBody>
      </p:sp>
      <p:sp>
        <p:nvSpPr>
          <p:cNvPr id="25617" name="TextBox 62"/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7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7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75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75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5" grpId="0" animBg="1"/>
      <p:bldP spid="17410" grpId="0" autoUpdateAnimBg="0"/>
      <p:bldP spid="17411" grpId="0" autoUpdateAnimBg="0"/>
      <p:bldP spid="17412" grpId="0" autoUpdateAnimBg="0"/>
      <p:bldP spid="17429" grpId="0" autoUpdateAnimBg="0"/>
      <p:bldP spid="17430" grpId="0" autoUpdateAnimBg="0"/>
      <p:bldP spid="17476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26" name="Text Box 22"/>
          <p:cNvSpPr txBox="1">
            <a:spLocks noChangeArrowheads="1"/>
          </p:cNvSpPr>
          <p:nvPr/>
        </p:nvSpPr>
        <p:spPr bwMode="auto">
          <a:xfrm>
            <a:off x="539750" y="422275"/>
            <a:ext cx="39608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偏振太阳眼镜</a:t>
            </a:r>
          </a:p>
        </p:txBody>
      </p:sp>
      <p:grpSp>
        <p:nvGrpSpPr>
          <p:cNvPr id="149531" name="Group 27"/>
          <p:cNvGrpSpPr>
            <a:grpSpLocks/>
          </p:cNvGrpSpPr>
          <p:nvPr/>
        </p:nvGrpSpPr>
        <p:grpSpPr bwMode="auto">
          <a:xfrm>
            <a:off x="539750" y="1700213"/>
            <a:ext cx="5256213" cy="3598862"/>
            <a:chOff x="204" y="1298"/>
            <a:chExt cx="3311" cy="2267"/>
          </a:xfrm>
        </p:grpSpPr>
        <p:grpSp>
          <p:nvGrpSpPr>
            <p:cNvPr id="26635" name="Group 10"/>
            <p:cNvGrpSpPr>
              <a:grpSpLocks/>
            </p:cNvGrpSpPr>
            <p:nvPr/>
          </p:nvGrpSpPr>
          <p:grpSpPr bwMode="auto">
            <a:xfrm>
              <a:off x="249" y="1561"/>
              <a:ext cx="3085" cy="1868"/>
              <a:chOff x="2000232" y="4000504"/>
              <a:chExt cx="5254625" cy="2684462"/>
            </a:xfrm>
          </p:grpSpPr>
          <p:pic>
            <p:nvPicPr>
              <p:cNvPr id="26646" name="Picture 2" descr="http://www.district196.org/avhs/dept/science/acc_physics/polarizationfigure2.jpg">
                <a:hlinkClick r:id="rId3"/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00232" y="4000504"/>
                <a:ext cx="5254625" cy="26844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" name="Rectangle 43"/>
              <p:cNvSpPr/>
              <p:nvPr/>
            </p:nvSpPr>
            <p:spPr>
              <a:xfrm>
                <a:off x="4216201" y="6398988"/>
                <a:ext cx="855047" cy="2859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3" name="直接连接符 32"/>
            <p:cNvCxnSpPr/>
            <p:nvPr/>
          </p:nvCxnSpPr>
          <p:spPr>
            <a:xfrm>
              <a:off x="2417" y="2118"/>
              <a:ext cx="0" cy="377"/>
            </a:xfrm>
            <a:prstGeom prst="line">
              <a:avLst/>
            </a:prstGeom>
            <a:ln w="38100">
              <a:solidFill>
                <a:srgbClr val="0000CC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43"/>
            <p:cNvSpPr/>
            <p:nvPr/>
          </p:nvSpPr>
          <p:spPr bwMode="auto">
            <a:xfrm>
              <a:off x="2653" y="2250"/>
              <a:ext cx="681" cy="5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Rectangle 43"/>
            <p:cNvSpPr/>
            <p:nvPr/>
          </p:nvSpPr>
          <p:spPr bwMode="auto">
            <a:xfrm>
              <a:off x="2563" y="2636"/>
              <a:ext cx="141" cy="1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6639" name="Rectangle 43"/>
            <p:cNvSpPr>
              <a:spLocks noChangeArrowheads="1"/>
            </p:cNvSpPr>
            <p:nvPr/>
          </p:nvSpPr>
          <p:spPr bwMode="auto">
            <a:xfrm>
              <a:off x="2653" y="1888"/>
              <a:ext cx="862" cy="994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光矢量振动方向平行于公路</a:t>
              </a:r>
            </a:p>
          </p:txBody>
        </p:sp>
        <p:cxnSp>
          <p:nvCxnSpPr>
            <p:cNvPr id="26640" name="直接连接符 3"/>
            <p:cNvCxnSpPr>
              <a:cxnSpLocks noChangeShapeType="1"/>
            </p:cNvCxnSpPr>
            <p:nvPr/>
          </p:nvCxnSpPr>
          <p:spPr bwMode="auto">
            <a:xfrm flipH="1">
              <a:off x="2712" y="2840"/>
              <a:ext cx="213" cy="347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641" name="TextBox 30"/>
            <p:cNvSpPr txBox="1">
              <a:spLocks noChangeArrowheads="1"/>
            </p:cNvSpPr>
            <p:nvPr/>
          </p:nvSpPr>
          <p:spPr bwMode="auto">
            <a:xfrm>
              <a:off x="225" y="3119"/>
              <a:ext cx="14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华文琥珀" panose="02010800040101010101" pitchFamily="2" charset="-122"/>
                  <a:ea typeface="华文琥珀" panose="02010800040101010101" pitchFamily="2" charset="-122"/>
                </a:rPr>
                <a:t>偏振太阳眼镜</a:t>
              </a:r>
            </a:p>
          </p:txBody>
        </p:sp>
        <p:sp>
          <p:nvSpPr>
            <p:cNvPr id="2" name="矩形 1"/>
            <p:cNvSpPr>
              <a:spLocks noChangeArrowheads="1"/>
            </p:cNvSpPr>
            <p:nvPr/>
          </p:nvSpPr>
          <p:spPr bwMode="auto">
            <a:xfrm>
              <a:off x="204" y="1298"/>
              <a:ext cx="3266" cy="2267"/>
            </a:xfrm>
            <a:prstGeom prst="rect">
              <a:avLst/>
            </a:prstGeom>
            <a:noFill/>
            <a:ln w="25400" algn="ctr">
              <a:solidFill>
                <a:srgbClr val="0000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6643" name="Rectangle 43"/>
            <p:cNvSpPr>
              <a:spLocks noChangeArrowheads="1"/>
            </p:cNvSpPr>
            <p:nvPr/>
          </p:nvSpPr>
          <p:spPr bwMode="auto">
            <a:xfrm>
              <a:off x="249" y="1622"/>
              <a:ext cx="1134" cy="314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 </a:t>
              </a:r>
            </a:p>
          </p:txBody>
        </p:sp>
        <p:sp>
          <p:nvSpPr>
            <p:cNvPr id="26644" name="Rectangle 43"/>
            <p:cNvSpPr>
              <a:spLocks noChangeArrowheads="1"/>
            </p:cNvSpPr>
            <p:nvPr/>
          </p:nvSpPr>
          <p:spPr bwMode="auto">
            <a:xfrm>
              <a:off x="249" y="1367"/>
              <a:ext cx="1379" cy="534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光矢量振动方向垂直于公路</a:t>
              </a:r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1111" y="1842"/>
              <a:ext cx="136" cy="182"/>
            </a:xfrm>
            <a:prstGeom prst="line">
              <a:avLst/>
            </a:prstGeom>
            <a:ln w="38100">
              <a:solidFill>
                <a:srgbClr val="0000CC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9534" name="Group 30"/>
          <p:cNvGrpSpPr>
            <a:grpSpLocks/>
          </p:cNvGrpSpPr>
          <p:nvPr/>
        </p:nvGrpSpPr>
        <p:grpSpPr bwMode="auto">
          <a:xfrm>
            <a:off x="4932363" y="4221163"/>
            <a:ext cx="3673475" cy="2159000"/>
            <a:chOff x="3106" y="3294"/>
            <a:chExt cx="2314" cy="1360"/>
          </a:xfrm>
        </p:grpSpPr>
        <p:sp>
          <p:nvSpPr>
            <p:cNvPr id="5" name="矩形 13"/>
            <p:cNvSpPr/>
            <p:nvPr/>
          </p:nvSpPr>
          <p:spPr>
            <a:xfrm>
              <a:off x="3106" y="3294"/>
              <a:ext cx="2314" cy="13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pic>
          <p:nvPicPr>
            <p:cNvPr id="26634" name="Picture 35" descr="C:\Documents and Settings\Administrator\桌面\polarised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388" t="48709" b="9657"/>
            <a:stretch>
              <a:fillRect/>
            </a:stretch>
          </p:blipFill>
          <p:spPr bwMode="auto">
            <a:xfrm>
              <a:off x="3152" y="3339"/>
              <a:ext cx="2227" cy="1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9535" name="Group 31"/>
          <p:cNvGrpSpPr>
            <a:grpSpLocks/>
          </p:cNvGrpSpPr>
          <p:nvPr/>
        </p:nvGrpSpPr>
        <p:grpSpPr bwMode="auto">
          <a:xfrm>
            <a:off x="4932363" y="476250"/>
            <a:ext cx="3671887" cy="2087563"/>
            <a:chOff x="3198" y="300"/>
            <a:chExt cx="2268" cy="1315"/>
          </a:xfrm>
        </p:grpSpPr>
        <p:sp>
          <p:nvSpPr>
            <p:cNvPr id="14" name="矩形 13"/>
            <p:cNvSpPr/>
            <p:nvPr/>
          </p:nvSpPr>
          <p:spPr>
            <a:xfrm>
              <a:off x="3198" y="300"/>
              <a:ext cx="2268" cy="131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pic>
          <p:nvPicPr>
            <p:cNvPr id="26632" name="Picture 35" descr="C:\Documents and Settings\Administrator\桌面\polarised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388" b="59843"/>
            <a:stretch>
              <a:fillRect/>
            </a:stretch>
          </p:blipFill>
          <p:spPr bwMode="auto">
            <a:xfrm>
              <a:off x="3243" y="345"/>
              <a:ext cx="2178" cy="1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6630" name="TextBox 3"/>
          <p:cNvSpPr txBox="1">
            <a:spLocks noChangeArrowheads="1"/>
          </p:cNvSpPr>
          <p:nvPr/>
        </p:nvSpPr>
        <p:spPr bwMode="auto">
          <a:xfrm>
            <a:off x="8604250" y="6380163"/>
            <a:ext cx="504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/>
          <p:cNvCxnSpPr>
            <a:cxnSpLocks/>
          </p:cNvCxnSpPr>
          <p:nvPr/>
        </p:nvCxnSpPr>
        <p:spPr>
          <a:xfrm flipH="1">
            <a:off x="6941856" y="547688"/>
            <a:ext cx="1086528" cy="1041002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cxnSpLocks/>
          </p:cNvCxnSpPr>
          <p:nvPr/>
        </p:nvCxnSpPr>
        <p:spPr>
          <a:xfrm flipH="1" flipV="1">
            <a:off x="5580112" y="1103667"/>
            <a:ext cx="1361744" cy="493096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941855" y="381298"/>
            <a:ext cx="0" cy="2182515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6040115" y="1116134"/>
            <a:ext cx="121295" cy="308854"/>
          </a:xfrm>
          <a:prstGeom prst="line">
            <a:avLst/>
          </a:prstGeom>
          <a:ln w="2222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V="1">
            <a:off x="6261976" y="1196752"/>
            <a:ext cx="121295" cy="308854"/>
          </a:xfrm>
          <a:prstGeom prst="line">
            <a:avLst/>
          </a:prstGeom>
          <a:ln w="2222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V="1">
            <a:off x="6466929" y="1300378"/>
            <a:ext cx="121295" cy="308854"/>
          </a:xfrm>
          <a:prstGeom prst="line">
            <a:avLst/>
          </a:prstGeom>
          <a:ln w="2222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D8ED1CB7-451D-4441-8299-E59E09DD009E}"/>
              </a:ext>
            </a:extLst>
          </p:cNvPr>
          <p:cNvSpPr/>
          <p:nvPr/>
        </p:nvSpPr>
        <p:spPr>
          <a:xfrm>
            <a:off x="6040257" y="1219584"/>
            <a:ext cx="108000" cy="108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6ED8C940-24A8-4E58-8EDB-2E85FA7321D1}"/>
              </a:ext>
            </a:extLst>
          </p:cNvPr>
          <p:cNvSpPr/>
          <p:nvPr/>
        </p:nvSpPr>
        <p:spPr>
          <a:xfrm>
            <a:off x="6257699" y="1309155"/>
            <a:ext cx="108000" cy="108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4A21C383-D2D0-4758-B053-D0CE05C49231}"/>
              </a:ext>
            </a:extLst>
          </p:cNvPr>
          <p:cNvSpPr/>
          <p:nvPr/>
        </p:nvSpPr>
        <p:spPr>
          <a:xfrm>
            <a:off x="6473576" y="1397606"/>
            <a:ext cx="108000" cy="108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855D5351-D93F-40C2-9326-E73E45CAD227}"/>
              </a:ext>
            </a:extLst>
          </p:cNvPr>
          <p:cNvSpPr/>
          <p:nvPr/>
        </p:nvSpPr>
        <p:spPr>
          <a:xfrm>
            <a:off x="6661079" y="1472555"/>
            <a:ext cx="108000" cy="108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1DB2F86D-8126-42FA-9970-99F10402B076}"/>
              </a:ext>
            </a:extLst>
          </p:cNvPr>
          <p:cNvSpPr/>
          <p:nvPr/>
        </p:nvSpPr>
        <p:spPr>
          <a:xfrm>
            <a:off x="5868144" y="1160760"/>
            <a:ext cx="108000" cy="108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9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9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9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49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26" grpId="0" autoUpdateAnimBg="0"/>
      <p:bldP spid="10" grpId="0" animBg="1"/>
      <p:bldP spid="44" grpId="0" animBg="1"/>
      <p:bldP spid="45" grpId="0" animBg="1"/>
      <p:bldP spid="46" grpId="0" animBg="1"/>
      <p:bldP spid="4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55" name="Group 3"/>
          <p:cNvGrpSpPr>
            <a:grpSpLocks/>
          </p:cNvGrpSpPr>
          <p:nvPr/>
        </p:nvGrpSpPr>
        <p:grpSpPr bwMode="auto">
          <a:xfrm>
            <a:off x="4389438" y="4221163"/>
            <a:ext cx="3814762" cy="1879600"/>
            <a:chOff x="2580" y="2581"/>
            <a:chExt cx="2403" cy="1184"/>
          </a:xfrm>
        </p:grpSpPr>
        <p:sp>
          <p:nvSpPr>
            <p:cNvPr id="28810" name="Rectangle 4"/>
            <p:cNvSpPr>
              <a:spLocks noChangeArrowheads="1"/>
            </p:cNvSpPr>
            <p:nvPr/>
          </p:nvSpPr>
          <p:spPr bwMode="auto">
            <a:xfrm rot="-1390237">
              <a:off x="2580" y="2581"/>
              <a:ext cx="2403" cy="1035"/>
            </a:xfrm>
            <a:prstGeom prst="rect">
              <a:avLst/>
            </a:prstGeom>
            <a:solidFill>
              <a:srgbClr val="D1FFFF"/>
            </a:solidFill>
            <a:ln w="28575">
              <a:solidFill>
                <a:srgbClr val="6666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28811" name="Group 5"/>
            <p:cNvGrpSpPr>
              <a:grpSpLocks/>
            </p:cNvGrpSpPr>
            <p:nvPr/>
          </p:nvGrpSpPr>
          <p:grpSpPr bwMode="auto">
            <a:xfrm>
              <a:off x="3518" y="2950"/>
              <a:ext cx="85" cy="238"/>
              <a:chOff x="315" y="2358"/>
              <a:chExt cx="85" cy="238"/>
            </a:xfrm>
          </p:grpSpPr>
          <p:sp>
            <p:nvSpPr>
              <p:cNvPr id="28821" name="Line 6"/>
              <p:cNvSpPr>
                <a:spLocks noChangeShapeType="1"/>
              </p:cNvSpPr>
              <p:nvPr/>
            </p:nvSpPr>
            <p:spPr bwMode="auto">
              <a:xfrm flipH="1">
                <a:off x="315" y="2358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2" name="Line 7"/>
              <p:cNvSpPr>
                <a:spLocks noChangeShapeType="1"/>
              </p:cNvSpPr>
              <p:nvPr/>
            </p:nvSpPr>
            <p:spPr bwMode="auto">
              <a:xfrm flipH="1">
                <a:off x="335" y="2400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812" name="Group 8"/>
            <p:cNvGrpSpPr>
              <a:grpSpLocks/>
            </p:cNvGrpSpPr>
            <p:nvPr/>
          </p:nvGrpSpPr>
          <p:grpSpPr bwMode="auto">
            <a:xfrm>
              <a:off x="3103" y="3505"/>
              <a:ext cx="129" cy="260"/>
              <a:chOff x="315" y="2358"/>
              <a:chExt cx="85" cy="238"/>
            </a:xfrm>
          </p:grpSpPr>
          <p:sp>
            <p:nvSpPr>
              <p:cNvPr id="28819" name="Line 9"/>
              <p:cNvSpPr>
                <a:spLocks noChangeShapeType="1"/>
              </p:cNvSpPr>
              <p:nvPr/>
            </p:nvSpPr>
            <p:spPr bwMode="auto">
              <a:xfrm flipH="1">
                <a:off x="315" y="2358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0" name="Line 10"/>
              <p:cNvSpPr>
                <a:spLocks noChangeShapeType="1"/>
              </p:cNvSpPr>
              <p:nvPr/>
            </p:nvSpPr>
            <p:spPr bwMode="auto">
              <a:xfrm flipH="1">
                <a:off x="335" y="2400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813" name="Group 11"/>
            <p:cNvGrpSpPr>
              <a:grpSpLocks/>
            </p:cNvGrpSpPr>
            <p:nvPr/>
          </p:nvGrpSpPr>
          <p:grpSpPr bwMode="auto">
            <a:xfrm>
              <a:off x="4666" y="2720"/>
              <a:ext cx="85" cy="238"/>
              <a:chOff x="315" y="2358"/>
              <a:chExt cx="85" cy="238"/>
            </a:xfrm>
          </p:grpSpPr>
          <p:sp>
            <p:nvSpPr>
              <p:cNvPr id="28817" name="Line 12"/>
              <p:cNvSpPr>
                <a:spLocks noChangeShapeType="1"/>
              </p:cNvSpPr>
              <p:nvPr/>
            </p:nvSpPr>
            <p:spPr bwMode="auto">
              <a:xfrm flipH="1">
                <a:off x="315" y="2358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8" name="Line 13"/>
              <p:cNvSpPr>
                <a:spLocks noChangeShapeType="1"/>
              </p:cNvSpPr>
              <p:nvPr/>
            </p:nvSpPr>
            <p:spPr bwMode="auto">
              <a:xfrm flipH="1">
                <a:off x="335" y="2400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814" name="Group 14"/>
            <p:cNvGrpSpPr>
              <a:grpSpLocks/>
            </p:cNvGrpSpPr>
            <p:nvPr/>
          </p:nvGrpSpPr>
          <p:grpSpPr bwMode="auto">
            <a:xfrm>
              <a:off x="2806" y="3065"/>
              <a:ext cx="85" cy="238"/>
              <a:chOff x="315" y="2358"/>
              <a:chExt cx="85" cy="238"/>
            </a:xfrm>
          </p:grpSpPr>
          <p:sp>
            <p:nvSpPr>
              <p:cNvPr id="28815" name="Line 15"/>
              <p:cNvSpPr>
                <a:spLocks noChangeShapeType="1"/>
              </p:cNvSpPr>
              <p:nvPr/>
            </p:nvSpPr>
            <p:spPr bwMode="auto">
              <a:xfrm flipH="1">
                <a:off x="315" y="2358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6" name="Line 16"/>
              <p:cNvSpPr>
                <a:spLocks noChangeShapeType="1"/>
              </p:cNvSpPr>
              <p:nvPr/>
            </p:nvSpPr>
            <p:spPr bwMode="auto">
              <a:xfrm flipH="1">
                <a:off x="335" y="2400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4772" name="Group 20"/>
          <p:cNvGrpSpPr>
            <a:grpSpLocks/>
          </p:cNvGrpSpPr>
          <p:nvPr/>
        </p:nvGrpSpPr>
        <p:grpSpPr bwMode="auto">
          <a:xfrm>
            <a:off x="4592638" y="1779588"/>
            <a:ext cx="3079750" cy="736600"/>
            <a:chOff x="2752" y="916"/>
            <a:chExt cx="1940" cy="580"/>
          </a:xfrm>
        </p:grpSpPr>
        <p:sp>
          <p:nvSpPr>
            <p:cNvPr id="28808" name="WordArt 21"/>
            <p:cNvSpPr>
              <a:spLocks noChangeArrowheads="1" noChangeShapeType="1" noTextEdit="1"/>
            </p:cNvSpPr>
            <p:nvPr/>
          </p:nvSpPr>
          <p:spPr bwMode="auto">
            <a:xfrm>
              <a:off x="2855" y="916"/>
              <a:ext cx="177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latin typeface="华文中宋" panose="02010600040101010101" pitchFamily="2" charset="-122"/>
                  <a:ea typeface="华文中宋" panose="02010600040101010101" pitchFamily="2" charset="-122"/>
                </a:rPr>
                <a:t>反射光都是光振动垂</a:t>
              </a:r>
              <a:endParaRPr lang="en-US" sz="3600" kern="1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8809" name="WordArt 22"/>
            <p:cNvSpPr>
              <a:spLocks noChangeArrowheads="1" noChangeShapeType="1" noTextEdit="1"/>
            </p:cNvSpPr>
            <p:nvPr/>
          </p:nvSpPr>
          <p:spPr bwMode="auto">
            <a:xfrm>
              <a:off x="2752" y="1242"/>
              <a:ext cx="1940" cy="25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latin typeface="华文中宋" panose="02010600040101010101" pitchFamily="2" charset="-122"/>
                  <a:ea typeface="华文中宋" panose="02010600040101010101" pitchFamily="2" charset="-122"/>
                </a:rPr>
                <a:t>直于入射面的完全偏振光</a:t>
              </a:r>
              <a:endParaRPr lang="en-US" sz="3600" kern="1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74775" name="Group 23"/>
          <p:cNvGrpSpPr>
            <a:grpSpLocks/>
          </p:cNvGrpSpPr>
          <p:nvPr/>
        </p:nvGrpSpPr>
        <p:grpSpPr bwMode="auto">
          <a:xfrm>
            <a:off x="900113" y="5589588"/>
            <a:ext cx="7978775" cy="657225"/>
            <a:chOff x="314" y="3222"/>
            <a:chExt cx="5174" cy="749"/>
          </a:xfrm>
        </p:grpSpPr>
        <p:grpSp>
          <p:nvGrpSpPr>
            <p:cNvPr id="28802" name="Group 24"/>
            <p:cNvGrpSpPr>
              <a:grpSpLocks/>
            </p:cNvGrpSpPr>
            <p:nvPr/>
          </p:nvGrpSpPr>
          <p:grpSpPr bwMode="auto">
            <a:xfrm>
              <a:off x="319" y="3222"/>
              <a:ext cx="3365" cy="301"/>
              <a:chOff x="417" y="3222"/>
              <a:chExt cx="3365" cy="301"/>
            </a:xfrm>
          </p:grpSpPr>
          <p:sp>
            <p:nvSpPr>
              <p:cNvPr id="28806" name="WordArt 25"/>
              <p:cNvSpPr>
                <a:spLocks noChangeArrowheads="1" noChangeShapeType="1" noTextEdit="1"/>
              </p:cNvSpPr>
              <p:nvPr/>
            </p:nvSpPr>
            <p:spPr bwMode="auto">
              <a:xfrm>
                <a:off x="419" y="3222"/>
                <a:ext cx="3363" cy="29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1270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ffectLst>
                      <a:outerShdw dist="35921" dir="2700000" algn="ctr" rotWithShape="0">
                        <a:srgbClr val="868686"/>
                      </a:outerShdw>
                    </a:effectLst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透射光中垂直于入射面的光振动成分越来越少。</a:t>
                </a:r>
                <a:endParaRPr lang="en-US" sz="3600" kern="10">
                  <a:ln w="127000">
                    <a:solidFill>
                      <a:schemeClr val="bg1"/>
                    </a:solidFill>
                    <a:round/>
                    <a:headEnd/>
                    <a:tailEnd/>
                  </a:ln>
                  <a:effectLst>
                    <a:outerShdw dist="35921" dir="2700000" algn="ctr" rotWithShape="0">
                      <a:srgbClr val="868686"/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28807" name="WordArt 26"/>
              <p:cNvSpPr>
                <a:spLocks noChangeArrowheads="1" noChangeShapeType="1" noTextEdit="1"/>
              </p:cNvSpPr>
              <p:nvPr/>
            </p:nvSpPr>
            <p:spPr bwMode="auto">
              <a:xfrm>
                <a:off x="417" y="3225"/>
                <a:ext cx="3363" cy="29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9525">
                      <a:solidFill>
                        <a:srgbClr val="008000"/>
                      </a:solidFill>
                      <a:round/>
                      <a:headEnd/>
                      <a:tailEnd/>
                    </a:ln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透射光中垂直于入射面的光振动成分越来越少。</a:t>
                </a:r>
                <a:endParaRPr lang="en-US" sz="36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28803" name="Group 27"/>
            <p:cNvGrpSpPr>
              <a:grpSpLocks/>
            </p:cNvGrpSpPr>
            <p:nvPr/>
          </p:nvGrpSpPr>
          <p:grpSpPr bwMode="auto">
            <a:xfrm>
              <a:off x="314" y="3669"/>
              <a:ext cx="5174" cy="302"/>
              <a:chOff x="303" y="3658"/>
              <a:chExt cx="4946" cy="291"/>
            </a:xfrm>
          </p:grpSpPr>
          <p:sp>
            <p:nvSpPr>
              <p:cNvPr id="28804" name="WordArt 28"/>
              <p:cNvSpPr>
                <a:spLocks noChangeArrowheads="1" noChangeShapeType="1" noTextEdit="1"/>
              </p:cNvSpPr>
              <p:nvPr/>
            </p:nvSpPr>
            <p:spPr bwMode="auto">
              <a:xfrm>
                <a:off x="307" y="3663"/>
                <a:ext cx="4942" cy="28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1270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ffectLst>
                      <a:outerShdw dist="35921" dir="2700000" algn="ctr" rotWithShape="0">
                        <a:srgbClr val="868686"/>
                      </a:outerShdw>
                    </a:effectLst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若玻璃平板足够多，透射光成为光振动在入射面内的完全偏振光。</a:t>
                </a:r>
                <a:endParaRPr lang="en-US" sz="3600" kern="10">
                  <a:ln w="127000">
                    <a:solidFill>
                      <a:schemeClr val="bg1"/>
                    </a:solidFill>
                    <a:round/>
                    <a:headEnd/>
                    <a:tailEnd/>
                  </a:ln>
                  <a:effectLst>
                    <a:outerShdw dist="35921" dir="2700000" algn="ctr" rotWithShape="0">
                      <a:srgbClr val="868686"/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28805" name="WordArt 29"/>
              <p:cNvSpPr>
                <a:spLocks noChangeArrowheads="1" noChangeShapeType="1" noTextEdit="1"/>
              </p:cNvSpPr>
              <p:nvPr/>
            </p:nvSpPr>
            <p:spPr bwMode="auto">
              <a:xfrm>
                <a:off x="303" y="3658"/>
                <a:ext cx="4942" cy="28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9525">
                      <a:solidFill>
                        <a:srgbClr val="CC0000"/>
                      </a:solidFill>
                      <a:round/>
                      <a:headEnd/>
                      <a:tailEnd/>
                    </a:ln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若玻璃平板足够多，透射光成为光振动在入射面内的完全偏振光。</a:t>
                </a:r>
                <a:endParaRPr lang="en-US" sz="3600" kern="10"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</p:grpSp>
      <p:grpSp>
        <p:nvGrpSpPr>
          <p:cNvPr id="74782" name="Group 30"/>
          <p:cNvGrpSpPr>
            <a:grpSpLocks/>
          </p:cNvGrpSpPr>
          <p:nvPr/>
        </p:nvGrpSpPr>
        <p:grpSpPr bwMode="auto">
          <a:xfrm>
            <a:off x="522288" y="3067050"/>
            <a:ext cx="3736975" cy="1793875"/>
            <a:chOff x="188" y="1854"/>
            <a:chExt cx="2354" cy="1130"/>
          </a:xfrm>
        </p:grpSpPr>
        <p:sp>
          <p:nvSpPr>
            <p:cNvPr id="28789" name="Rectangle 31"/>
            <p:cNvSpPr>
              <a:spLocks noChangeArrowheads="1"/>
            </p:cNvSpPr>
            <p:nvPr/>
          </p:nvSpPr>
          <p:spPr bwMode="auto">
            <a:xfrm rot="-1390237">
              <a:off x="188" y="1854"/>
              <a:ext cx="2354" cy="993"/>
            </a:xfrm>
            <a:prstGeom prst="rect">
              <a:avLst/>
            </a:prstGeom>
            <a:solidFill>
              <a:srgbClr val="D1FFFF"/>
            </a:solidFill>
            <a:ln w="28575">
              <a:solidFill>
                <a:srgbClr val="6666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28790" name="Group 32"/>
            <p:cNvGrpSpPr>
              <a:grpSpLocks/>
            </p:cNvGrpSpPr>
            <p:nvPr/>
          </p:nvGrpSpPr>
          <p:grpSpPr bwMode="auto">
            <a:xfrm>
              <a:off x="410" y="2344"/>
              <a:ext cx="85" cy="238"/>
              <a:chOff x="315" y="2358"/>
              <a:chExt cx="85" cy="238"/>
            </a:xfrm>
          </p:grpSpPr>
          <p:sp>
            <p:nvSpPr>
              <p:cNvPr id="28800" name="Line 33"/>
              <p:cNvSpPr>
                <a:spLocks noChangeShapeType="1"/>
              </p:cNvSpPr>
              <p:nvPr/>
            </p:nvSpPr>
            <p:spPr bwMode="auto">
              <a:xfrm flipH="1">
                <a:off x="315" y="2358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1" name="Line 34"/>
              <p:cNvSpPr>
                <a:spLocks noChangeShapeType="1"/>
              </p:cNvSpPr>
              <p:nvPr/>
            </p:nvSpPr>
            <p:spPr bwMode="auto">
              <a:xfrm flipH="1">
                <a:off x="335" y="2400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791" name="Group 35"/>
            <p:cNvGrpSpPr>
              <a:grpSpLocks/>
            </p:cNvGrpSpPr>
            <p:nvPr/>
          </p:nvGrpSpPr>
          <p:grpSpPr bwMode="auto">
            <a:xfrm>
              <a:off x="801" y="2746"/>
              <a:ext cx="85" cy="238"/>
              <a:chOff x="315" y="2358"/>
              <a:chExt cx="85" cy="238"/>
            </a:xfrm>
          </p:grpSpPr>
          <p:sp>
            <p:nvSpPr>
              <p:cNvPr id="28798" name="Line 36"/>
              <p:cNvSpPr>
                <a:spLocks noChangeShapeType="1"/>
              </p:cNvSpPr>
              <p:nvPr/>
            </p:nvSpPr>
            <p:spPr bwMode="auto">
              <a:xfrm flipH="1">
                <a:off x="315" y="2358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9" name="Line 37"/>
              <p:cNvSpPr>
                <a:spLocks noChangeShapeType="1"/>
              </p:cNvSpPr>
              <p:nvPr/>
            </p:nvSpPr>
            <p:spPr bwMode="auto">
              <a:xfrm flipH="1">
                <a:off x="335" y="2400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792" name="Group 38"/>
            <p:cNvGrpSpPr>
              <a:grpSpLocks/>
            </p:cNvGrpSpPr>
            <p:nvPr/>
          </p:nvGrpSpPr>
          <p:grpSpPr bwMode="auto">
            <a:xfrm>
              <a:off x="1192" y="2288"/>
              <a:ext cx="85" cy="238"/>
              <a:chOff x="315" y="2358"/>
              <a:chExt cx="85" cy="238"/>
            </a:xfrm>
          </p:grpSpPr>
          <p:sp>
            <p:nvSpPr>
              <p:cNvPr id="28796" name="Line 39"/>
              <p:cNvSpPr>
                <a:spLocks noChangeShapeType="1"/>
              </p:cNvSpPr>
              <p:nvPr/>
            </p:nvSpPr>
            <p:spPr bwMode="auto">
              <a:xfrm flipH="1">
                <a:off x="315" y="2358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7" name="Line 40"/>
              <p:cNvSpPr>
                <a:spLocks noChangeShapeType="1"/>
              </p:cNvSpPr>
              <p:nvPr/>
            </p:nvSpPr>
            <p:spPr bwMode="auto">
              <a:xfrm flipH="1">
                <a:off x="335" y="2400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793" name="Group 41"/>
            <p:cNvGrpSpPr>
              <a:grpSpLocks/>
            </p:cNvGrpSpPr>
            <p:nvPr/>
          </p:nvGrpSpPr>
          <p:grpSpPr bwMode="auto">
            <a:xfrm>
              <a:off x="2212" y="1982"/>
              <a:ext cx="85" cy="238"/>
              <a:chOff x="315" y="2358"/>
              <a:chExt cx="85" cy="238"/>
            </a:xfrm>
          </p:grpSpPr>
          <p:sp>
            <p:nvSpPr>
              <p:cNvPr id="28794" name="Line 42"/>
              <p:cNvSpPr>
                <a:spLocks noChangeShapeType="1"/>
              </p:cNvSpPr>
              <p:nvPr/>
            </p:nvSpPr>
            <p:spPr bwMode="auto">
              <a:xfrm flipH="1">
                <a:off x="315" y="2358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5" name="Line 43"/>
              <p:cNvSpPr>
                <a:spLocks noChangeShapeType="1"/>
              </p:cNvSpPr>
              <p:nvPr/>
            </p:nvSpPr>
            <p:spPr bwMode="auto">
              <a:xfrm flipH="1">
                <a:off x="335" y="2400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4796" name="Group 44"/>
          <p:cNvGrpSpPr>
            <a:grpSpLocks/>
          </p:cNvGrpSpPr>
          <p:nvPr/>
        </p:nvGrpSpPr>
        <p:grpSpPr bwMode="auto">
          <a:xfrm>
            <a:off x="0" y="1420813"/>
            <a:ext cx="5975350" cy="2990850"/>
            <a:chOff x="0" y="802"/>
            <a:chExt cx="3764" cy="1884"/>
          </a:xfrm>
        </p:grpSpPr>
        <p:sp>
          <p:nvSpPr>
            <p:cNvPr id="28727" name="Line 45"/>
            <p:cNvSpPr>
              <a:spLocks noChangeShapeType="1"/>
            </p:cNvSpPr>
            <p:nvPr/>
          </p:nvSpPr>
          <p:spPr bwMode="auto">
            <a:xfrm rot="20209763" flipH="1">
              <a:off x="1334" y="1179"/>
              <a:ext cx="2" cy="11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8" name="Line 46"/>
            <p:cNvSpPr>
              <a:spLocks noChangeShapeType="1"/>
            </p:cNvSpPr>
            <p:nvPr/>
          </p:nvSpPr>
          <p:spPr bwMode="auto">
            <a:xfrm>
              <a:off x="1815" y="1751"/>
              <a:ext cx="369" cy="8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9" name="Line 47"/>
            <p:cNvSpPr>
              <a:spLocks noChangeShapeType="1"/>
            </p:cNvSpPr>
            <p:nvPr/>
          </p:nvSpPr>
          <p:spPr bwMode="auto">
            <a:xfrm flipV="1">
              <a:off x="2161" y="802"/>
              <a:ext cx="609" cy="7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0" name="Oval 48"/>
            <p:cNvSpPr>
              <a:spLocks noChangeArrowheads="1"/>
            </p:cNvSpPr>
            <p:nvPr/>
          </p:nvSpPr>
          <p:spPr bwMode="auto">
            <a:xfrm>
              <a:off x="2558" y="985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31" name="Line 49"/>
            <p:cNvSpPr>
              <a:spLocks noChangeShapeType="1"/>
            </p:cNvSpPr>
            <p:nvPr/>
          </p:nvSpPr>
          <p:spPr bwMode="auto">
            <a:xfrm flipV="1">
              <a:off x="1374" y="942"/>
              <a:ext cx="740" cy="9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2" name="Oval 50"/>
            <p:cNvSpPr>
              <a:spLocks noChangeArrowheads="1"/>
            </p:cNvSpPr>
            <p:nvPr/>
          </p:nvSpPr>
          <p:spPr bwMode="auto">
            <a:xfrm>
              <a:off x="1811" y="1241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33" name="Line 51"/>
            <p:cNvSpPr>
              <a:spLocks noChangeShapeType="1"/>
            </p:cNvSpPr>
            <p:nvPr/>
          </p:nvSpPr>
          <p:spPr bwMode="auto">
            <a:xfrm flipH="1" flipV="1">
              <a:off x="2174" y="1518"/>
              <a:ext cx="0" cy="1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4" name="Oval 52"/>
            <p:cNvSpPr>
              <a:spLocks noChangeArrowheads="1"/>
            </p:cNvSpPr>
            <p:nvPr/>
          </p:nvSpPr>
          <p:spPr bwMode="auto">
            <a:xfrm>
              <a:off x="2141" y="1799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35" name="Line 53"/>
            <p:cNvSpPr>
              <a:spLocks noChangeShapeType="1"/>
            </p:cNvSpPr>
            <p:nvPr/>
          </p:nvSpPr>
          <p:spPr bwMode="auto">
            <a:xfrm>
              <a:off x="0" y="1845"/>
              <a:ext cx="1380" cy="1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6" name="Oval 54"/>
            <p:cNvSpPr>
              <a:spLocks noChangeArrowheads="1"/>
            </p:cNvSpPr>
            <p:nvPr/>
          </p:nvSpPr>
          <p:spPr bwMode="auto">
            <a:xfrm>
              <a:off x="513" y="1817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37" name="Oval 55"/>
            <p:cNvSpPr>
              <a:spLocks noChangeArrowheads="1"/>
            </p:cNvSpPr>
            <p:nvPr/>
          </p:nvSpPr>
          <p:spPr bwMode="auto">
            <a:xfrm>
              <a:off x="684" y="1813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38" name="Oval 56"/>
            <p:cNvSpPr>
              <a:spLocks noChangeArrowheads="1"/>
            </p:cNvSpPr>
            <p:nvPr/>
          </p:nvSpPr>
          <p:spPr bwMode="auto">
            <a:xfrm>
              <a:off x="860" y="1817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39" name="Line 57"/>
            <p:cNvSpPr>
              <a:spLocks noChangeShapeType="1"/>
            </p:cNvSpPr>
            <p:nvPr/>
          </p:nvSpPr>
          <p:spPr bwMode="auto">
            <a:xfrm flipV="1">
              <a:off x="1138" y="1856"/>
              <a:ext cx="1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0" name="Line 58"/>
            <p:cNvSpPr>
              <a:spLocks noChangeShapeType="1"/>
            </p:cNvSpPr>
            <p:nvPr/>
          </p:nvSpPr>
          <p:spPr bwMode="auto">
            <a:xfrm>
              <a:off x="472" y="1757"/>
              <a:ext cx="0" cy="18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1" name="Line 59"/>
            <p:cNvSpPr>
              <a:spLocks noChangeShapeType="1"/>
            </p:cNvSpPr>
            <p:nvPr/>
          </p:nvSpPr>
          <p:spPr bwMode="auto">
            <a:xfrm>
              <a:off x="627" y="1765"/>
              <a:ext cx="0" cy="18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2" name="Line 60"/>
            <p:cNvSpPr>
              <a:spLocks noChangeShapeType="1"/>
            </p:cNvSpPr>
            <p:nvPr/>
          </p:nvSpPr>
          <p:spPr bwMode="auto">
            <a:xfrm>
              <a:off x="791" y="1760"/>
              <a:ext cx="0" cy="18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3" name="Oval 61"/>
            <p:cNvSpPr>
              <a:spLocks noChangeArrowheads="1"/>
            </p:cNvSpPr>
            <p:nvPr/>
          </p:nvSpPr>
          <p:spPr bwMode="auto">
            <a:xfrm>
              <a:off x="347" y="1812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44" name="Line 62"/>
            <p:cNvSpPr>
              <a:spLocks noChangeShapeType="1"/>
            </p:cNvSpPr>
            <p:nvPr/>
          </p:nvSpPr>
          <p:spPr bwMode="auto">
            <a:xfrm>
              <a:off x="296" y="1756"/>
              <a:ext cx="0" cy="18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8745" name="Group 63"/>
            <p:cNvGrpSpPr>
              <a:grpSpLocks/>
            </p:cNvGrpSpPr>
            <p:nvPr/>
          </p:nvGrpSpPr>
          <p:grpSpPr bwMode="auto">
            <a:xfrm>
              <a:off x="870" y="1418"/>
              <a:ext cx="205" cy="233"/>
              <a:chOff x="3074" y="3382"/>
              <a:chExt cx="271" cy="265"/>
            </a:xfrm>
          </p:grpSpPr>
          <p:sp>
            <p:nvSpPr>
              <p:cNvPr id="28787" name="WordArt 64"/>
              <p:cNvSpPr>
                <a:spLocks noChangeArrowheads="1" noChangeShapeType="1" noTextEdit="1"/>
              </p:cNvSpPr>
              <p:nvPr/>
            </p:nvSpPr>
            <p:spPr bwMode="auto">
              <a:xfrm>
                <a:off x="3074" y="3382"/>
                <a:ext cx="156" cy="2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7051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cs typeface="Arial" panose="020B0604020202020204" pitchFamily="34" charset="0"/>
                  </a:rPr>
                  <a:t>i</a:t>
                </a:r>
              </a:p>
            </p:txBody>
          </p:sp>
          <p:sp>
            <p:nvSpPr>
              <p:cNvPr id="28788" name="WordArt 65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33" y="3479"/>
                <a:ext cx="112" cy="16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cs typeface="Arial" panose="020B0604020202020204" pitchFamily="34" charset="0"/>
                  </a:rPr>
                  <a:t>B</a:t>
                </a:r>
              </a:p>
            </p:txBody>
          </p:sp>
        </p:grpSp>
        <p:sp>
          <p:nvSpPr>
            <p:cNvPr id="28746" name="Line 66"/>
            <p:cNvSpPr>
              <a:spLocks noChangeShapeType="1"/>
            </p:cNvSpPr>
            <p:nvPr/>
          </p:nvSpPr>
          <p:spPr bwMode="auto">
            <a:xfrm>
              <a:off x="1356" y="1824"/>
              <a:ext cx="815" cy="7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7" name="Line 67"/>
            <p:cNvSpPr>
              <a:spLocks noChangeShapeType="1"/>
            </p:cNvSpPr>
            <p:nvPr/>
          </p:nvSpPr>
          <p:spPr bwMode="auto">
            <a:xfrm rot="-34520">
              <a:off x="1361" y="1830"/>
              <a:ext cx="816" cy="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8748" name="Group 68"/>
            <p:cNvGrpSpPr>
              <a:grpSpLocks/>
            </p:cNvGrpSpPr>
            <p:nvPr/>
          </p:nvGrpSpPr>
          <p:grpSpPr bwMode="auto">
            <a:xfrm>
              <a:off x="1444" y="1910"/>
              <a:ext cx="155" cy="226"/>
              <a:chOff x="1318" y="1942"/>
              <a:chExt cx="155" cy="226"/>
            </a:xfrm>
          </p:grpSpPr>
          <p:sp>
            <p:nvSpPr>
              <p:cNvPr id="28784" name="Line 69"/>
              <p:cNvSpPr>
                <a:spLocks noChangeShapeType="1"/>
              </p:cNvSpPr>
              <p:nvPr/>
            </p:nvSpPr>
            <p:spPr bwMode="auto">
              <a:xfrm rot="2567713" flipH="1">
                <a:off x="1416" y="1944"/>
                <a:ext cx="5" cy="18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5" name="Line 70"/>
              <p:cNvSpPr>
                <a:spLocks noChangeShapeType="1"/>
              </p:cNvSpPr>
              <p:nvPr/>
            </p:nvSpPr>
            <p:spPr bwMode="auto">
              <a:xfrm rot="2567713" flipH="1">
                <a:off x="1466" y="1989"/>
                <a:ext cx="7" cy="179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6" name="Oval 71"/>
              <p:cNvSpPr>
                <a:spLocks noChangeArrowheads="1"/>
              </p:cNvSpPr>
              <p:nvPr/>
            </p:nvSpPr>
            <p:spPr bwMode="auto">
              <a:xfrm rot="2567713">
                <a:off x="1318" y="1942"/>
                <a:ext cx="69" cy="7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8749" name="Group 72"/>
            <p:cNvGrpSpPr>
              <a:grpSpLocks/>
            </p:cNvGrpSpPr>
            <p:nvPr/>
          </p:nvGrpSpPr>
          <p:grpSpPr bwMode="auto">
            <a:xfrm rot="-2256751">
              <a:off x="1646" y="1811"/>
              <a:ext cx="202" cy="203"/>
              <a:chOff x="2121" y="2944"/>
              <a:chExt cx="229" cy="202"/>
            </a:xfrm>
          </p:grpSpPr>
          <p:grpSp>
            <p:nvGrpSpPr>
              <p:cNvPr id="28780" name="Group 73"/>
              <p:cNvGrpSpPr>
                <a:grpSpLocks/>
              </p:cNvGrpSpPr>
              <p:nvPr/>
            </p:nvGrpSpPr>
            <p:grpSpPr bwMode="auto">
              <a:xfrm>
                <a:off x="2121" y="2972"/>
                <a:ext cx="164" cy="174"/>
                <a:chOff x="3074" y="3382"/>
                <a:chExt cx="271" cy="265"/>
              </a:xfrm>
            </p:grpSpPr>
            <p:sp>
              <p:nvSpPr>
                <p:cNvPr id="28782" name="WordArt 74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074" y="3382"/>
                  <a:ext cx="156" cy="2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7051"/>
                    </a:avLst>
                  </a:prstTxWarp>
                </a:bodyPr>
                <a:lstStyle/>
                <a:p>
                  <a:pPr algn="ctr"/>
                  <a:r>
                    <a:rPr lang="en-US" sz="3600" i="1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cs typeface="Arial" panose="020B0604020202020204" pitchFamily="34" charset="0"/>
                    </a:rPr>
                    <a:t>i</a:t>
                  </a:r>
                </a:p>
              </p:txBody>
            </p:sp>
            <p:sp>
              <p:nvSpPr>
                <p:cNvPr id="28783" name="WordArt 75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233" y="3479"/>
                  <a:ext cx="112" cy="16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sz="3600" i="1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cs typeface="Arial" panose="020B0604020202020204" pitchFamily="34" charset="0"/>
                    </a:rPr>
                    <a:t>B</a:t>
                  </a:r>
                </a:p>
              </p:txBody>
            </p:sp>
          </p:grpSp>
          <p:sp>
            <p:nvSpPr>
              <p:cNvPr id="28781" name="Freeform 76"/>
              <p:cNvSpPr>
                <a:spLocks/>
              </p:cNvSpPr>
              <p:nvPr/>
            </p:nvSpPr>
            <p:spPr bwMode="auto">
              <a:xfrm>
                <a:off x="2285" y="2944"/>
                <a:ext cx="65" cy="72"/>
              </a:xfrm>
              <a:custGeom>
                <a:avLst/>
                <a:gdLst>
                  <a:gd name="T0" fmla="*/ 0 w 271"/>
                  <a:gd name="T1" fmla="*/ 0 h 305"/>
                  <a:gd name="T2" fmla="*/ 0 w 271"/>
                  <a:gd name="T3" fmla="*/ 0 h 305"/>
                  <a:gd name="T4" fmla="*/ 0 w 271"/>
                  <a:gd name="T5" fmla="*/ 0 h 305"/>
                  <a:gd name="T6" fmla="*/ 0 w 271"/>
                  <a:gd name="T7" fmla="*/ 0 h 30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1" h="305">
                    <a:moveTo>
                      <a:pt x="147" y="0"/>
                    </a:moveTo>
                    <a:lnTo>
                      <a:pt x="0" y="305"/>
                    </a:lnTo>
                    <a:lnTo>
                      <a:pt x="271" y="57"/>
                    </a:lnTo>
                    <a:lnTo>
                      <a:pt x="147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750" name="Line 77"/>
            <p:cNvSpPr>
              <a:spLocks noChangeShapeType="1"/>
            </p:cNvSpPr>
            <p:nvPr/>
          </p:nvSpPr>
          <p:spPr bwMode="auto">
            <a:xfrm>
              <a:off x="1962" y="2395"/>
              <a:ext cx="108" cy="1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1" name="Arc 78"/>
            <p:cNvSpPr>
              <a:spLocks/>
            </p:cNvSpPr>
            <p:nvPr/>
          </p:nvSpPr>
          <p:spPr bwMode="auto">
            <a:xfrm rot="590267">
              <a:off x="1669" y="1992"/>
              <a:ext cx="446" cy="521"/>
            </a:xfrm>
            <a:custGeom>
              <a:avLst/>
              <a:gdLst>
                <a:gd name="T0" fmla="*/ 0 w 17218"/>
                <a:gd name="T1" fmla="*/ 0 h 19085"/>
                <a:gd name="T2" fmla="*/ 0 w 17218"/>
                <a:gd name="T3" fmla="*/ 0 h 19085"/>
                <a:gd name="T4" fmla="*/ 0 w 17218"/>
                <a:gd name="T5" fmla="*/ 0 h 190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218" h="19085" fill="none" extrusionOk="0">
                  <a:moveTo>
                    <a:pt x="0" y="6042"/>
                  </a:moveTo>
                  <a:cubicBezTo>
                    <a:pt x="1899" y="3535"/>
                    <a:pt x="4323" y="1473"/>
                    <a:pt x="7102" y="0"/>
                  </a:cubicBezTo>
                </a:path>
                <a:path w="17218" h="19085" stroke="0" extrusionOk="0">
                  <a:moveTo>
                    <a:pt x="0" y="6042"/>
                  </a:moveTo>
                  <a:cubicBezTo>
                    <a:pt x="1899" y="3535"/>
                    <a:pt x="4323" y="1473"/>
                    <a:pt x="7102" y="0"/>
                  </a:cubicBezTo>
                  <a:lnTo>
                    <a:pt x="17218" y="19085"/>
                  </a:lnTo>
                  <a:lnTo>
                    <a:pt x="0" y="6042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52" name="Arc 79"/>
            <p:cNvSpPr>
              <a:spLocks/>
            </p:cNvSpPr>
            <p:nvPr/>
          </p:nvSpPr>
          <p:spPr bwMode="auto">
            <a:xfrm rot="-325014">
              <a:off x="1044" y="1582"/>
              <a:ext cx="321" cy="332"/>
            </a:xfrm>
            <a:custGeom>
              <a:avLst/>
              <a:gdLst>
                <a:gd name="T0" fmla="*/ 0 w 20681"/>
                <a:gd name="T1" fmla="*/ 0 h 20756"/>
                <a:gd name="T2" fmla="*/ 0 w 20681"/>
                <a:gd name="T3" fmla="*/ 0 h 20756"/>
                <a:gd name="T4" fmla="*/ 0 w 20681"/>
                <a:gd name="T5" fmla="*/ 0 h 207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681" h="20756" fill="none" extrusionOk="0">
                  <a:moveTo>
                    <a:pt x="0" y="14521"/>
                  </a:moveTo>
                  <a:cubicBezTo>
                    <a:pt x="2117" y="7498"/>
                    <a:pt x="7653" y="2030"/>
                    <a:pt x="14701" y="-1"/>
                  </a:cubicBezTo>
                </a:path>
                <a:path w="20681" h="20756" stroke="0" extrusionOk="0">
                  <a:moveTo>
                    <a:pt x="0" y="14521"/>
                  </a:moveTo>
                  <a:cubicBezTo>
                    <a:pt x="2117" y="7498"/>
                    <a:pt x="7653" y="2030"/>
                    <a:pt x="14701" y="-1"/>
                  </a:cubicBezTo>
                  <a:lnTo>
                    <a:pt x="20681" y="20756"/>
                  </a:lnTo>
                  <a:lnTo>
                    <a:pt x="0" y="14521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53" name="Line 80"/>
            <p:cNvSpPr>
              <a:spLocks noChangeShapeType="1"/>
            </p:cNvSpPr>
            <p:nvPr/>
          </p:nvSpPr>
          <p:spPr bwMode="auto">
            <a:xfrm>
              <a:off x="2185" y="2597"/>
              <a:ext cx="157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4" name="Oval 81"/>
            <p:cNvSpPr>
              <a:spLocks noChangeArrowheads="1"/>
            </p:cNvSpPr>
            <p:nvPr/>
          </p:nvSpPr>
          <p:spPr bwMode="auto">
            <a:xfrm>
              <a:off x="2500" y="2551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55" name="Line 82"/>
            <p:cNvSpPr>
              <a:spLocks noChangeShapeType="1"/>
            </p:cNvSpPr>
            <p:nvPr/>
          </p:nvSpPr>
          <p:spPr bwMode="auto">
            <a:xfrm>
              <a:off x="2783" y="2499"/>
              <a:ext cx="0" cy="18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6" name="Oval 83"/>
            <p:cNvSpPr>
              <a:spLocks noChangeArrowheads="1"/>
            </p:cNvSpPr>
            <p:nvPr/>
          </p:nvSpPr>
          <p:spPr bwMode="auto">
            <a:xfrm>
              <a:off x="2874" y="2555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57" name="Line 84"/>
            <p:cNvSpPr>
              <a:spLocks noChangeShapeType="1"/>
            </p:cNvSpPr>
            <p:nvPr/>
          </p:nvSpPr>
          <p:spPr bwMode="auto">
            <a:xfrm>
              <a:off x="3108" y="2497"/>
              <a:ext cx="0" cy="18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8" name="Line 85"/>
            <p:cNvSpPr>
              <a:spLocks noChangeShapeType="1"/>
            </p:cNvSpPr>
            <p:nvPr/>
          </p:nvSpPr>
          <p:spPr bwMode="auto">
            <a:xfrm>
              <a:off x="3035" y="2494"/>
              <a:ext cx="0" cy="18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9" name="Line 86"/>
            <p:cNvSpPr>
              <a:spLocks noChangeShapeType="1"/>
            </p:cNvSpPr>
            <p:nvPr/>
          </p:nvSpPr>
          <p:spPr bwMode="auto">
            <a:xfrm>
              <a:off x="3182" y="2498"/>
              <a:ext cx="0" cy="18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0" name="Line 87"/>
            <p:cNvSpPr>
              <a:spLocks noChangeShapeType="1"/>
            </p:cNvSpPr>
            <p:nvPr/>
          </p:nvSpPr>
          <p:spPr bwMode="auto">
            <a:xfrm>
              <a:off x="3364" y="2597"/>
              <a:ext cx="2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8761" name="Group 88"/>
            <p:cNvGrpSpPr>
              <a:grpSpLocks/>
            </p:cNvGrpSpPr>
            <p:nvPr/>
          </p:nvGrpSpPr>
          <p:grpSpPr bwMode="auto">
            <a:xfrm>
              <a:off x="1788" y="2228"/>
              <a:ext cx="155" cy="226"/>
              <a:chOff x="1318" y="1942"/>
              <a:chExt cx="155" cy="226"/>
            </a:xfrm>
          </p:grpSpPr>
          <p:sp>
            <p:nvSpPr>
              <p:cNvPr id="28777" name="Line 89"/>
              <p:cNvSpPr>
                <a:spLocks noChangeShapeType="1"/>
              </p:cNvSpPr>
              <p:nvPr/>
            </p:nvSpPr>
            <p:spPr bwMode="auto">
              <a:xfrm rot="2567713" flipH="1">
                <a:off x="1416" y="1944"/>
                <a:ext cx="5" cy="18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8" name="Line 90"/>
              <p:cNvSpPr>
                <a:spLocks noChangeShapeType="1"/>
              </p:cNvSpPr>
              <p:nvPr/>
            </p:nvSpPr>
            <p:spPr bwMode="auto">
              <a:xfrm rot="2567713" flipH="1">
                <a:off x="1466" y="1989"/>
                <a:ext cx="7" cy="179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9" name="Oval 91"/>
              <p:cNvSpPr>
                <a:spLocks noChangeArrowheads="1"/>
              </p:cNvSpPr>
              <p:nvPr/>
            </p:nvSpPr>
            <p:spPr bwMode="auto">
              <a:xfrm rot="2567713">
                <a:off x="1318" y="1942"/>
                <a:ext cx="69" cy="7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8762" name="Group 92"/>
            <p:cNvGrpSpPr>
              <a:grpSpLocks/>
            </p:cNvGrpSpPr>
            <p:nvPr/>
          </p:nvGrpSpPr>
          <p:grpSpPr bwMode="auto">
            <a:xfrm>
              <a:off x="1615" y="2072"/>
              <a:ext cx="155" cy="226"/>
              <a:chOff x="1318" y="1942"/>
              <a:chExt cx="155" cy="226"/>
            </a:xfrm>
          </p:grpSpPr>
          <p:sp>
            <p:nvSpPr>
              <p:cNvPr id="28774" name="Line 93"/>
              <p:cNvSpPr>
                <a:spLocks noChangeShapeType="1"/>
              </p:cNvSpPr>
              <p:nvPr/>
            </p:nvSpPr>
            <p:spPr bwMode="auto">
              <a:xfrm rot="2567713" flipH="1">
                <a:off x="1416" y="1944"/>
                <a:ext cx="5" cy="18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5" name="Line 94"/>
              <p:cNvSpPr>
                <a:spLocks noChangeShapeType="1"/>
              </p:cNvSpPr>
              <p:nvPr/>
            </p:nvSpPr>
            <p:spPr bwMode="auto">
              <a:xfrm rot="2567713" flipH="1">
                <a:off x="1466" y="1989"/>
                <a:ext cx="7" cy="179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6" name="Oval 95"/>
              <p:cNvSpPr>
                <a:spLocks noChangeArrowheads="1"/>
              </p:cNvSpPr>
              <p:nvPr/>
            </p:nvSpPr>
            <p:spPr bwMode="auto">
              <a:xfrm rot="2567713">
                <a:off x="1318" y="1942"/>
                <a:ext cx="69" cy="7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8763" name="Line 96"/>
            <p:cNvSpPr>
              <a:spLocks noChangeShapeType="1"/>
            </p:cNvSpPr>
            <p:nvPr/>
          </p:nvSpPr>
          <p:spPr bwMode="auto">
            <a:xfrm>
              <a:off x="2635" y="2498"/>
              <a:ext cx="0" cy="18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4" name="Line 97"/>
            <p:cNvSpPr>
              <a:spLocks noChangeShapeType="1"/>
            </p:cNvSpPr>
            <p:nvPr/>
          </p:nvSpPr>
          <p:spPr bwMode="auto">
            <a:xfrm>
              <a:off x="2711" y="2498"/>
              <a:ext cx="0" cy="18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5" name="Freeform 98"/>
            <p:cNvSpPr>
              <a:spLocks/>
            </p:cNvSpPr>
            <p:nvPr/>
          </p:nvSpPr>
          <p:spPr bwMode="auto">
            <a:xfrm>
              <a:off x="2173" y="2380"/>
              <a:ext cx="229" cy="217"/>
            </a:xfrm>
            <a:custGeom>
              <a:avLst/>
              <a:gdLst>
                <a:gd name="T0" fmla="*/ 0 w 229"/>
                <a:gd name="T1" fmla="*/ 0 h 217"/>
                <a:gd name="T2" fmla="*/ 229 w 229"/>
                <a:gd name="T3" fmla="*/ 0 h 217"/>
                <a:gd name="T4" fmla="*/ 218 w 229"/>
                <a:gd name="T5" fmla="*/ 217 h 2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9" h="217">
                  <a:moveTo>
                    <a:pt x="0" y="0"/>
                  </a:moveTo>
                  <a:lnTo>
                    <a:pt x="229" y="0"/>
                  </a:lnTo>
                  <a:lnTo>
                    <a:pt x="218" y="217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6" name="Freeform 99"/>
            <p:cNvSpPr>
              <a:spLocks/>
            </p:cNvSpPr>
            <p:nvPr/>
          </p:nvSpPr>
          <p:spPr bwMode="auto">
            <a:xfrm rot="2341880">
              <a:off x="1412" y="1727"/>
              <a:ext cx="229" cy="217"/>
            </a:xfrm>
            <a:custGeom>
              <a:avLst/>
              <a:gdLst>
                <a:gd name="T0" fmla="*/ 0 w 229"/>
                <a:gd name="T1" fmla="*/ 0 h 217"/>
                <a:gd name="T2" fmla="*/ 229 w 229"/>
                <a:gd name="T3" fmla="*/ 0 h 217"/>
                <a:gd name="T4" fmla="*/ 218 w 229"/>
                <a:gd name="T5" fmla="*/ 217 h 2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9" h="217">
                  <a:moveTo>
                    <a:pt x="0" y="0"/>
                  </a:moveTo>
                  <a:lnTo>
                    <a:pt x="229" y="0"/>
                  </a:lnTo>
                  <a:lnTo>
                    <a:pt x="218" y="217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7" name="Line 100"/>
            <p:cNvSpPr>
              <a:spLocks noChangeShapeType="1"/>
            </p:cNvSpPr>
            <p:nvPr/>
          </p:nvSpPr>
          <p:spPr bwMode="auto">
            <a:xfrm>
              <a:off x="131" y="1755"/>
              <a:ext cx="0" cy="18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8" name="Oval 101"/>
            <p:cNvSpPr>
              <a:spLocks noChangeArrowheads="1"/>
            </p:cNvSpPr>
            <p:nvPr/>
          </p:nvSpPr>
          <p:spPr bwMode="auto">
            <a:xfrm>
              <a:off x="182" y="1810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69" name="Oval 102"/>
            <p:cNvSpPr>
              <a:spLocks noChangeArrowheads="1"/>
            </p:cNvSpPr>
            <p:nvPr/>
          </p:nvSpPr>
          <p:spPr bwMode="auto">
            <a:xfrm>
              <a:off x="1032" y="1815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70" name="Line 103"/>
            <p:cNvSpPr>
              <a:spLocks noChangeShapeType="1"/>
            </p:cNvSpPr>
            <p:nvPr/>
          </p:nvSpPr>
          <p:spPr bwMode="auto">
            <a:xfrm>
              <a:off x="963" y="1758"/>
              <a:ext cx="0" cy="18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1" name="Oval 104"/>
            <p:cNvSpPr>
              <a:spLocks noChangeArrowheads="1"/>
            </p:cNvSpPr>
            <p:nvPr/>
          </p:nvSpPr>
          <p:spPr bwMode="auto">
            <a:xfrm>
              <a:off x="1607" y="1494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72" name="Oval 105"/>
            <p:cNvSpPr>
              <a:spLocks noChangeArrowheads="1"/>
            </p:cNvSpPr>
            <p:nvPr/>
          </p:nvSpPr>
          <p:spPr bwMode="auto">
            <a:xfrm>
              <a:off x="2372" y="1212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73" name="Oval 106"/>
            <p:cNvSpPr>
              <a:spLocks noChangeArrowheads="1"/>
            </p:cNvSpPr>
            <p:nvPr/>
          </p:nvSpPr>
          <p:spPr bwMode="auto">
            <a:xfrm>
              <a:off x="2129" y="2145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74859" name="Group 107"/>
          <p:cNvGrpSpPr>
            <a:grpSpLocks/>
          </p:cNvGrpSpPr>
          <p:nvPr/>
        </p:nvGrpSpPr>
        <p:grpSpPr bwMode="auto">
          <a:xfrm>
            <a:off x="5156200" y="2286000"/>
            <a:ext cx="3709988" cy="3790950"/>
            <a:chOff x="3248" y="1351"/>
            <a:chExt cx="2337" cy="2388"/>
          </a:xfrm>
        </p:grpSpPr>
        <p:grpSp>
          <p:nvGrpSpPr>
            <p:cNvPr id="28683" name="Group 108"/>
            <p:cNvGrpSpPr>
              <a:grpSpLocks/>
            </p:cNvGrpSpPr>
            <p:nvPr/>
          </p:nvGrpSpPr>
          <p:grpSpPr bwMode="auto">
            <a:xfrm>
              <a:off x="3248" y="2187"/>
              <a:ext cx="205" cy="233"/>
              <a:chOff x="3074" y="3382"/>
              <a:chExt cx="271" cy="265"/>
            </a:xfrm>
          </p:grpSpPr>
          <p:sp>
            <p:nvSpPr>
              <p:cNvPr id="28725" name="WordArt 109"/>
              <p:cNvSpPr>
                <a:spLocks noChangeArrowheads="1" noChangeShapeType="1" noTextEdit="1"/>
              </p:cNvSpPr>
              <p:nvPr/>
            </p:nvSpPr>
            <p:spPr bwMode="auto">
              <a:xfrm>
                <a:off x="3074" y="3382"/>
                <a:ext cx="156" cy="2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7051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cs typeface="Arial" panose="020B0604020202020204" pitchFamily="34" charset="0"/>
                  </a:rPr>
                  <a:t>i</a:t>
                </a:r>
              </a:p>
            </p:txBody>
          </p:sp>
          <p:sp>
            <p:nvSpPr>
              <p:cNvPr id="28726" name="WordArt 110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33" y="3479"/>
                <a:ext cx="112" cy="16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cs typeface="Arial" panose="020B0604020202020204" pitchFamily="34" charset="0"/>
                  </a:rPr>
                  <a:t>B</a:t>
                </a:r>
              </a:p>
            </p:txBody>
          </p:sp>
        </p:grpSp>
        <p:sp>
          <p:nvSpPr>
            <p:cNvPr id="28684" name="Line 111"/>
            <p:cNvSpPr>
              <a:spLocks noChangeShapeType="1"/>
            </p:cNvSpPr>
            <p:nvPr/>
          </p:nvSpPr>
          <p:spPr bwMode="auto">
            <a:xfrm rot="20209763" flipH="1">
              <a:off x="3806" y="2030"/>
              <a:ext cx="2" cy="1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5" name="Arc 112"/>
            <p:cNvSpPr>
              <a:spLocks/>
            </p:cNvSpPr>
            <p:nvPr/>
          </p:nvSpPr>
          <p:spPr bwMode="auto">
            <a:xfrm rot="-325014">
              <a:off x="3448" y="2341"/>
              <a:ext cx="321" cy="332"/>
            </a:xfrm>
            <a:custGeom>
              <a:avLst/>
              <a:gdLst>
                <a:gd name="T0" fmla="*/ 0 w 20681"/>
                <a:gd name="T1" fmla="*/ 0 h 20756"/>
                <a:gd name="T2" fmla="*/ 0 w 20681"/>
                <a:gd name="T3" fmla="*/ 0 h 20756"/>
                <a:gd name="T4" fmla="*/ 0 w 20681"/>
                <a:gd name="T5" fmla="*/ 0 h 207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681" h="20756" fill="none" extrusionOk="0">
                  <a:moveTo>
                    <a:pt x="0" y="14521"/>
                  </a:moveTo>
                  <a:cubicBezTo>
                    <a:pt x="2117" y="7498"/>
                    <a:pt x="7653" y="2030"/>
                    <a:pt x="14701" y="-1"/>
                  </a:cubicBezTo>
                </a:path>
                <a:path w="20681" h="20756" stroke="0" extrusionOk="0">
                  <a:moveTo>
                    <a:pt x="0" y="14521"/>
                  </a:moveTo>
                  <a:cubicBezTo>
                    <a:pt x="2117" y="7498"/>
                    <a:pt x="7653" y="2030"/>
                    <a:pt x="14701" y="-1"/>
                  </a:cubicBezTo>
                  <a:lnTo>
                    <a:pt x="20681" y="20756"/>
                  </a:lnTo>
                  <a:lnTo>
                    <a:pt x="0" y="14521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6" name="Line 113"/>
            <p:cNvSpPr>
              <a:spLocks noChangeShapeType="1"/>
            </p:cNvSpPr>
            <p:nvPr/>
          </p:nvSpPr>
          <p:spPr bwMode="auto">
            <a:xfrm flipH="1" flipV="1">
              <a:off x="4631" y="2225"/>
              <a:ext cx="0" cy="11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7" name="Oval 114"/>
            <p:cNvSpPr>
              <a:spLocks noChangeArrowheads="1"/>
            </p:cNvSpPr>
            <p:nvPr/>
          </p:nvSpPr>
          <p:spPr bwMode="auto">
            <a:xfrm>
              <a:off x="4592" y="2569"/>
              <a:ext cx="72" cy="7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688" name="Line 115"/>
            <p:cNvSpPr>
              <a:spLocks noChangeShapeType="1"/>
            </p:cNvSpPr>
            <p:nvPr/>
          </p:nvSpPr>
          <p:spPr bwMode="auto">
            <a:xfrm>
              <a:off x="4261" y="2482"/>
              <a:ext cx="369" cy="8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8689" name="Group 116"/>
            <p:cNvGrpSpPr>
              <a:grpSpLocks/>
            </p:cNvGrpSpPr>
            <p:nvPr/>
          </p:nvGrpSpPr>
          <p:grpSpPr bwMode="auto">
            <a:xfrm rot="-2256751">
              <a:off x="4113" y="2578"/>
              <a:ext cx="202" cy="203"/>
              <a:chOff x="2121" y="2944"/>
              <a:chExt cx="229" cy="202"/>
            </a:xfrm>
          </p:grpSpPr>
          <p:grpSp>
            <p:nvGrpSpPr>
              <p:cNvPr id="28721" name="Group 117"/>
              <p:cNvGrpSpPr>
                <a:grpSpLocks/>
              </p:cNvGrpSpPr>
              <p:nvPr/>
            </p:nvGrpSpPr>
            <p:grpSpPr bwMode="auto">
              <a:xfrm>
                <a:off x="2121" y="2972"/>
                <a:ext cx="164" cy="174"/>
                <a:chOff x="3074" y="3382"/>
                <a:chExt cx="271" cy="265"/>
              </a:xfrm>
            </p:grpSpPr>
            <p:sp>
              <p:nvSpPr>
                <p:cNvPr id="28723" name="WordArt 118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074" y="3382"/>
                  <a:ext cx="156" cy="2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7051"/>
                    </a:avLst>
                  </a:prstTxWarp>
                </a:bodyPr>
                <a:lstStyle/>
                <a:p>
                  <a:pPr algn="ctr"/>
                  <a:r>
                    <a:rPr lang="en-US" sz="3600" i="1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cs typeface="Arial" panose="020B0604020202020204" pitchFamily="34" charset="0"/>
                    </a:rPr>
                    <a:t>i</a:t>
                  </a:r>
                </a:p>
              </p:txBody>
            </p:sp>
            <p:sp>
              <p:nvSpPr>
                <p:cNvPr id="28724" name="WordArt 11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233" y="3479"/>
                  <a:ext cx="112" cy="16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sz="3600" i="1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cs typeface="Arial" panose="020B0604020202020204" pitchFamily="34" charset="0"/>
                    </a:rPr>
                    <a:t>B</a:t>
                  </a:r>
                </a:p>
              </p:txBody>
            </p:sp>
          </p:grpSp>
          <p:sp>
            <p:nvSpPr>
              <p:cNvPr id="28722" name="Freeform 120"/>
              <p:cNvSpPr>
                <a:spLocks/>
              </p:cNvSpPr>
              <p:nvPr/>
            </p:nvSpPr>
            <p:spPr bwMode="auto">
              <a:xfrm>
                <a:off x="2285" y="2944"/>
                <a:ext cx="65" cy="72"/>
              </a:xfrm>
              <a:custGeom>
                <a:avLst/>
                <a:gdLst>
                  <a:gd name="T0" fmla="*/ 0 w 271"/>
                  <a:gd name="T1" fmla="*/ 0 h 305"/>
                  <a:gd name="T2" fmla="*/ 0 w 271"/>
                  <a:gd name="T3" fmla="*/ 0 h 305"/>
                  <a:gd name="T4" fmla="*/ 0 w 271"/>
                  <a:gd name="T5" fmla="*/ 0 h 305"/>
                  <a:gd name="T6" fmla="*/ 0 w 271"/>
                  <a:gd name="T7" fmla="*/ 0 h 30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1" h="305">
                    <a:moveTo>
                      <a:pt x="147" y="0"/>
                    </a:moveTo>
                    <a:lnTo>
                      <a:pt x="0" y="305"/>
                    </a:lnTo>
                    <a:lnTo>
                      <a:pt x="271" y="57"/>
                    </a:lnTo>
                    <a:lnTo>
                      <a:pt x="147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690" name="Arc 121"/>
            <p:cNvSpPr>
              <a:spLocks/>
            </p:cNvSpPr>
            <p:nvPr/>
          </p:nvSpPr>
          <p:spPr bwMode="auto">
            <a:xfrm rot="414284">
              <a:off x="4153" y="2799"/>
              <a:ext cx="446" cy="533"/>
            </a:xfrm>
            <a:custGeom>
              <a:avLst/>
              <a:gdLst>
                <a:gd name="T0" fmla="*/ 0 w 17218"/>
                <a:gd name="T1" fmla="*/ 0 h 19535"/>
                <a:gd name="T2" fmla="*/ 0 w 17218"/>
                <a:gd name="T3" fmla="*/ 0 h 19535"/>
                <a:gd name="T4" fmla="*/ 0 w 17218"/>
                <a:gd name="T5" fmla="*/ 0 h 195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218" h="19535" fill="none" extrusionOk="0">
                  <a:moveTo>
                    <a:pt x="0" y="6492"/>
                  </a:moveTo>
                  <a:cubicBezTo>
                    <a:pt x="2104" y="3714"/>
                    <a:pt x="4850" y="1486"/>
                    <a:pt x="8001" y="-1"/>
                  </a:cubicBezTo>
                </a:path>
                <a:path w="17218" h="19535" stroke="0" extrusionOk="0">
                  <a:moveTo>
                    <a:pt x="0" y="6492"/>
                  </a:moveTo>
                  <a:cubicBezTo>
                    <a:pt x="2104" y="3714"/>
                    <a:pt x="4850" y="1486"/>
                    <a:pt x="8001" y="-1"/>
                  </a:cubicBezTo>
                  <a:lnTo>
                    <a:pt x="17218" y="19535"/>
                  </a:lnTo>
                  <a:lnTo>
                    <a:pt x="0" y="6492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8691" name="Group 122"/>
            <p:cNvGrpSpPr>
              <a:grpSpLocks/>
            </p:cNvGrpSpPr>
            <p:nvPr/>
          </p:nvGrpSpPr>
          <p:grpSpPr bwMode="auto">
            <a:xfrm rot="-94961">
              <a:off x="3799" y="2586"/>
              <a:ext cx="821" cy="778"/>
              <a:chOff x="3616" y="2593"/>
              <a:chExt cx="821" cy="778"/>
            </a:xfrm>
          </p:grpSpPr>
          <p:sp>
            <p:nvSpPr>
              <p:cNvPr id="28710" name="Line 123"/>
              <p:cNvSpPr>
                <a:spLocks noChangeShapeType="1"/>
              </p:cNvSpPr>
              <p:nvPr/>
            </p:nvSpPr>
            <p:spPr bwMode="auto">
              <a:xfrm>
                <a:off x="3616" y="2593"/>
                <a:ext cx="815" cy="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1" name="Line 124"/>
              <p:cNvSpPr>
                <a:spLocks noChangeShapeType="1"/>
              </p:cNvSpPr>
              <p:nvPr/>
            </p:nvSpPr>
            <p:spPr bwMode="auto">
              <a:xfrm rot="-34520">
                <a:off x="3621" y="2599"/>
                <a:ext cx="816" cy="7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2" name="Oval 125"/>
              <p:cNvSpPr>
                <a:spLocks noChangeArrowheads="1"/>
              </p:cNvSpPr>
              <p:nvPr/>
            </p:nvSpPr>
            <p:spPr bwMode="auto">
              <a:xfrm rot="2567713">
                <a:off x="3737" y="2711"/>
                <a:ext cx="69" cy="7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713" name="Line 126"/>
              <p:cNvSpPr>
                <a:spLocks noChangeShapeType="1"/>
              </p:cNvSpPr>
              <p:nvPr/>
            </p:nvSpPr>
            <p:spPr bwMode="auto">
              <a:xfrm rot="2567713" flipH="1">
                <a:off x="3846" y="2729"/>
                <a:ext cx="6" cy="18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4" name="Oval 127"/>
              <p:cNvSpPr>
                <a:spLocks noChangeArrowheads="1"/>
              </p:cNvSpPr>
              <p:nvPr/>
            </p:nvSpPr>
            <p:spPr bwMode="auto">
              <a:xfrm rot="2567713">
                <a:off x="3998" y="2949"/>
                <a:ext cx="69" cy="7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715" name="Line 128"/>
              <p:cNvSpPr>
                <a:spLocks noChangeShapeType="1"/>
              </p:cNvSpPr>
              <p:nvPr/>
            </p:nvSpPr>
            <p:spPr bwMode="auto">
              <a:xfrm rot="2567713" flipH="1">
                <a:off x="3902" y="2778"/>
                <a:ext cx="8" cy="18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6" name="Line 129"/>
              <p:cNvSpPr>
                <a:spLocks noChangeShapeType="1"/>
              </p:cNvSpPr>
              <p:nvPr/>
            </p:nvSpPr>
            <p:spPr bwMode="auto">
              <a:xfrm rot="2567713" flipH="1">
                <a:off x="3958" y="2832"/>
                <a:ext cx="5" cy="18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7" name="Line 130"/>
              <p:cNvSpPr>
                <a:spLocks noChangeShapeType="1"/>
              </p:cNvSpPr>
              <p:nvPr/>
            </p:nvSpPr>
            <p:spPr bwMode="auto">
              <a:xfrm rot="2567713" flipH="1">
                <a:off x="4100" y="2959"/>
                <a:ext cx="7" cy="1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8" name="Line 131"/>
              <p:cNvSpPr>
                <a:spLocks noChangeShapeType="1"/>
              </p:cNvSpPr>
              <p:nvPr/>
            </p:nvSpPr>
            <p:spPr bwMode="auto">
              <a:xfrm>
                <a:off x="4273" y="3209"/>
                <a:ext cx="108" cy="10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9" name="Line 132"/>
              <p:cNvSpPr>
                <a:spLocks noChangeShapeType="1"/>
              </p:cNvSpPr>
              <p:nvPr/>
            </p:nvSpPr>
            <p:spPr bwMode="auto">
              <a:xfrm rot="2567713" flipH="1">
                <a:off x="4157" y="3010"/>
                <a:ext cx="7" cy="1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0" name="Line 133"/>
              <p:cNvSpPr>
                <a:spLocks noChangeShapeType="1"/>
              </p:cNvSpPr>
              <p:nvPr/>
            </p:nvSpPr>
            <p:spPr bwMode="auto">
              <a:xfrm rot="2567713" flipH="1">
                <a:off x="4214" y="3064"/>
                <a:ext cx="7" cy="1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692" name="Group 134"/>
            <p:cNvGrpSpPr>
              <a:grpSpLocks/>
            </p:cNvGrpSpPr>
            <p:nvPr/>
          </p:nvGrpSpPr>
          <p:grpSpPr bwMode="auto">
            <a:xfrm>
              <a:off x="4769" y="2967"/>
              <a:ext cx="816" cy="772"/>
              <a:chOff x="4607" y="2989"/>
              <a:chExt cx="816" cy="772"/>
            </a:xfrm>
          </p:grpSpPr>
          <p:sp>
            <p:nvSpPr>
              <p:cNvPr id="28702" name="Line 135"/>
              <p:cNvSpPr>
                <a:spLocks noChangeShapeType="1"/>
              </p:cNvSpPr>
              <p:nvPr/>
            </p:nvSpPr>
            <p:spPr bwMode="auto">
              <a:xfrm rot="-2602233">
                <a:off x="4607" y="2989"/>
                <a:ext cx="816" cy="7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3" name="Oval 136"/>
              <p:cNvSpPr>
                <a:spLocks noChangeArrowheads="1"/>
              </p:cNvSpPr>
              <p:nvPr/>
            </p:nvSpPr>
            <p:spPr bwMode="auto">
              <a:xfrm>
                <a:off x="4740" y="3339"/>
                <a:ext cx="69" cy="7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704" name="Line 137"/>
              <p:cNvSpPr>
                <a:spLocks noChangeShapeType="1"/>
              </p:cNvSpPr>
              <p:nvPr/>
            </p:nvSpPr>
            <p:spPr bwMode="auto">
              <a:xfrm>
                <a:off x="4903" y="3278"/>
                <a:ext cx="0" cy="18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5" name="Line 138"/>
              <p:cNvSpPr>
                <a:spLocks noChangeShapeType="1"/>
              </p:cNvSpPr>
              <p:nvPr/>
            </p:nvSpPr>
            <p:spPr bwMode="auto">
              <a:xfrm>
                <a:off x="4989" y="3277"/>
                <a:ext cx="0" cy="18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6" name="Line 139"/>
              <p:cNvSpPr>
                <a:spLocks noChangeShapeType="1"/>
              </p:cNvSpPr>
              <p:nvPr/>
            </p:nvSpPr>
            <p:spPr bwMode="auto">
              <a:xfrm>
                <a:off x="5077" y="3279"/>
                <a:ext cx="0" cy="18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7" name="Line 140"/>
              <p:cNvSpPr>
                <a:spLocks noChangeShapeType="1"/>
              </p:cNvSpPr>
              <p:nvPr/>
            </p:nvSpPr>
            <p:spPr bwMode="auto">
              <a:xfrm>
                <a:off x="5155" y="3282"/>
                <a:ext cx="0" cy="18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8" name="Line 141"/>
              <p:cNvSpPr>
                <a:spLocks noChangeShapeType="1"/>
              </p:cNvSpPr>
              <p:nvPr/>
            </p:nvSpPr>
            <p:spPr bwMode="auto">
              <a:xfrm>
                <a:off x="5236" y="3282"/>
                <a:ext cx="0" cy="18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9" name="Line 142"/>
              <p:cNvSpPr>
                <a:spLocks noChangeShapeType="1"/>
              </p:cNvSpPr>
              <p:nvPr/>
            </p:nvSpPr>
            <p:spPr bwMode="auto">
              <a:xfrm>
                <a:off x="5317" y="3285"/>
                <a:ext cx="0" cy="18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693" name="Freeform 143"/>
            <p:cNvSpPr>
              <a:spLocks/>
            </p:cNvSpPr>
            <p:nvPr/>
          </p:nvSpPr>
          <p:spPr bwMode="auto">
            <a:xfrm>
              <a:off x="4638" y="3139"/>
              <a:ext cx="229" cy="217"/>
            </a:xfrm>
            <a:custGeom>
              <a:avLst/>
              <a:gdLst>
                <a:gd name="T0" fmla="*/ 0 w 229"/>
                <a:gd name="T1" fmla="*/ 0 h 217"/>
                <a:gd name="T2" fmla="*/ 229 w 229"/>
                <a:gd name="T3" fmla="*/ 0 h 217"/>
                <a:gd name="T4" fmla="*/ 218 w 229"/>
                <a:gd name="T5" fmla="*/ 217 h 2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9" h="217">
                  <a:moveTo>
                    <a:pt x="0" y="0"/>
                  </a:moveTo>
                  <a:lnTo>
                    <a:pt x="229" y="0"/>
                  </a:lnTo>
                  <a:lnTo>
                    <a:pt x="218" y="217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4" name="Freeform 144"/>
            <p:cNvSpPr>
              <a:spLocks/>
            </p:cNvSpPr>
            <p:nvPr/>
          </p:nvSpPr>
          <p:spPr bwMode="auto">
            <a:xfrm rot="2137371">
              <a:off x="3836" y="2476"/>
              <a:ext cx="229" cy="217"/>
            </a:xfrm>
            <a:custGeom>
              <a:avLst/>
              <a:gdLst>
                <a:gd name="T0" fmla="*/ 0 w 229"/>
                <a:gd name="T1" fmla="*/ 0 h 217"/>
                <a:gd name="T2" fmla="*/ 229 w 229"/>
                <a:gd name="T3" fmla="*/ 0 h 217"/>
                <a:gd name="T4" fmla="*/ 218 w 229"/>
                <a:gd name="T5" fmla="*/ 217 h 2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9" h="217">
                  <a:moveTo>
                    <a:pt x="0" y="0"/>
                  </a:moveTo>
                  <a:lnTo>
                    <a:pt x="229" y="0"/>
                  </a:lnTo>
                  <a:lnTo>
                    <a:pt x="218" y="217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5" name="Line 145"/>
            <p:cNvSpPr>
              <a:spLocks noChangeShapeType="1"/>
            </p:cNvSpPr>
            <p:nvPr/>
          </p:nvSpPr>
          <p:spPr bwMode="auto">
            <a:xfrm flipV="1">
              <a:off x="3774" y="1712"/>
              <a:ext cx="740" cy="9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6" name="Oval 146"/>
            <p:cNvSpPr>
              <a:spLocks noChangeArrowheads="1"/>
            </p:cNvSpPr>
            <p:nvPr/>
          </p:nvSpPr>
          <p:spPr bwMode="auto">
            <a:xfrm>
              <a:off x="4245" y="1958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697" name="Line 147"/>
            <p:cNvSpPr>
              <a:spLocks noChangeShapeType="1"/>
            </p:cNvSpPr>
            <p:nvPr/>
          </p:nvSpPr>
          <p:spPr bwMode="auto">
            <a:xfrm flipV="1">
              <a:off x="4620" y="1351"/>
              <a:ext cx="740" cy="9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8" name="Oval 148"/>
            <p:cNvSpPr>
              <a:spLocks noChangeArrowheads="1"/>
            </p:cNvSpPr>
            <p:nvPr/>
          </p:nvSpPr>
          <p:spPr bwMode="auto">
            <a:xfrm>
              <a:off x="5101" y="1585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699" name="Oval 149"/>
            <p:cNvSpPr>
              <a:spLocks noChangeArrowheads="1"/>
            </p:cNvSpPr>
            <p:nvPr/>
          </p:nvSpPr>
          <p:spPr bwMode="auto">
            <a:xfrm>
              <a:off x="4026" y="2239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00" name="Oval 150"/>
            <p:cNvSpPr>
              <a:spLocks noChangeArrowheads="1"/>
            </p:cNvSpPr>
            <p:nvPr/>
          </p:nvSpPr>
          <p:spPr bwMode="auto">
            <a:xfrm>
              <a:off x="4601" y="2893"/>
              <a:ext cx="72" cy="7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01" name="Oval 151"/>
            <p:cNvSpPr>
              <a:spLocks noChangeArrowheads="1"/>
            </p:cNvSpPr>
            <p:nvPr/>
          </p:nvSpPr>
          <p:spPr bwMode="auto">
            <a:xfrm>
              <a:off x="4861" y="1877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28680" name="Rectangle 2"/>
          <p:cNvSpPr>
            <a:spLocks noChangeArrowheads="1"/>
          </p:cNvSpPr>
          <p:nvPr/>
        </p:nvSpPr>
        <p:spPr bwMode="auto">
          <a:xfrm>
            <a:off x="117475" y="106363"/>
            <a:ext cx="4954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折射光的偏振</a:t>
            </a:r>
          </a:p>
        </p:txBody>
      </p:sp>
      <p:sp>
        <p:nvSpPr>
          <p:cNvPr id="28681" name="TextBox 3"/>
          <p:cNvSpPr txBox="1">
            <a:spLocks noChangeArrowheads="1"/>
          </p:cNvSpPr>
          <p:nvPr/>
        </p:nvSpPr>
        <p:spPr bwMode="auto">
          <a:xfrm>
            <a:off x="8569325" y="6448425"/>
            <a:ext cx="5349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82" name="矩形 2"/>
          <p:cNvSpPr>
            <a:spLocks noChangeArrowheads="1"/>
          </p:cNvSpPr>
          <p:nvPr/>
        </p:nvSpPr>
        <p:spPr bwMode="auto">
          <a:xfrm>
            <a:off x="338138" y="725488"/>
            <a:ext cx="8248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在平行玻璃板的上、下界面上，入射角都满足布儒斯特角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4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4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4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7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4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549275"/>
            <a:ext cx="5892800" cy="597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TextBox 3"/>
          <p:cNvSpPr txBox="1">
            <a:spLocks noChangeArrowheads="1"/>
          </p:cNvSpPr>
          <p:nvPr/>
        </p:nvSpPr>
        <p:spPr bwMode="auto">
          <a:xfrm>
            <a:off x="8653463" y="6457950"/>
            <a:ext cx="465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4">
            <a:extLst>
              <a:ext uri="{FF2B5EF4-FFF2-40B4-BE49-F238E27FC236}">
                <a16:creationId xmlns:a16="http://schemas.microsoft.com/office/drawing/2014/main" id="{59F2F2E7-536C-40E3-A345-6465FBB5A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0763" y="171489"/>
            <a:ext cx="2844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/>
              <a:t>内容回顾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FC87848-C415-46E1-9C42-766ED3202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969963"/>
            <a:ext cx="26654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121DFA"/>
                </a:solidFill>
                <a:cs typeface="Times New Roman" panose="02020603050405020304" pitchFamily="18" charset="0"/>
              </a:rPr>
              <a:t>  光的偏振</a:t>
            </a:r>
          </a:p>
        </p:txBody>
      </p:sp>
      <p:sp>
        <p:nvSpPr>
          <p:cNvPr id="81" name="Text Box 12">
            <a:extLst>
              <a:ext uri="{FF2B5EF4-FFF2-40B4-BE49-F238E27FC236}">
                <a16:creationId xmlns:a16="http://schemas.microsoft.com/office/drawing/2014/main" id="{69B6201C-F71C-40C3-83F2-F7822493F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1547813"/>
            <a:ext cx="2071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偏振光</a:t>
            </a:r>
          </a:p>
        </p:txBody>
      </p:sp>
      <p:sp>
        <p:nvSpPr>
          <p:cNvPr id="82" name="AutoShape 4">
            <a:extLst>
              <a:ext uri="{FF2B5EF4-FFF2-40B4-BE49-F238E27FC236}">
                <a16:creationId xmlns:a16="http://schemas.microsoft.com/office/drawing/2014/main" id="{0D098302-E114-4B70-86DB-F82118EBB482}"/>
              </a:ext>
            </a:extLst>
          </p:cNvPr>
          <p:cNvSpPr>
            <a:spLocks/>
          </p:cNvSpPr>
          <p:nvPr/>
        </p:nvSpPr>
        <p:spPr bwMode="auto">
          <a:xfrm>
            <a:off x="3492500" y="1300163"/>
            <a:ext cx="357188" cy="1136650"/>
          </a:xfrm>
          <a:prstGeom prst="leftBrace">
            <a:avLst>
              <a:gd name="adj1" fmla="val 38835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400"/>
          </a:p>
        </p:txBody>
      </p:sp>
      <p:sp>
        <p:nvSpPr>
          <p:cNvPr id="83" name="Rectangle 5">
            <a:extLst>
              <a:ext uri="{FF2B5EF4-FFF2-40B4-BE49-F238E27FC236}">
                <a16:creationId xmlns:a16="http://schemas.microsoft.com/office/drawing/2014/main" id="{30C4254F-A788-4E2B-8743-63429254A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1125538"/>
            <a:ext cx="3349625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latin typeface="+mn-ea"/>
                <a:ea typeface="+mn-ea"/>
              </a:rPr>
              <a:t>完全偏振（线偏振）</a:t>
            </a:r>
            <a:endParaRPr kumimoji="1" lang="en-US" altLang="zh-CN" sz="2800" b="1" dirty="0">
              <a:latin typeface="+mn-ea"/>
              <a:ea typeface="+mn-ea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latin typeface="+mn-ea"/>
                <a:ea typeface="+mn-ea"/>
              </a:rPr>
              <a:t>部分偏振 </a:t>
            </a:r>
            <a:br>
              <a:rPr kumimoji="1" lang="zh-CN" altLang="en-US" sz="2800" b="1" dirty="0">
                <a:latin typeface="+mn-ea"/>
                <a:ea typeface="+mn-ea"/>
              </a:rPr>
            </a:br>
            <a:r>
              <a:rPr kumimoji="1" lang="zh-CN" altLang="en-US" sz="2800" b="1" dirty="0">
                <a:latin typeface="+mn-ea"/>
                <a:ea typeface="+mn-ea"/>
              </a:rPr>
              <a:t>椭圆（圆）偏振</a:t>
            </a:r>
          </a:p>
        </p:txBody>
      </p:sp>
      <p:sp>
        <p:nvSpPr>
          <p:cNvPr id="84" name="矩形 32">
            <a:extLst>
              <a:ext uri="{FF2B5EF4-FFF2-40B4-BE49-F238E27FC236}">
                <a16:creationId xmlns:a16="http://schemas.microsoft.com/office/drawing/2014/main" id="{C63405B5-7C06-4181-A6E2-F76470C4A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38" y="1965325"/>
            <a:ext cx="2903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光的偏振态</a:t>
            </a:r>
            <a:endParaRPr lang="en-US" altLang="zh-CN" sz="2800" b="1">
              <a:solidFill>
                <a:srgbClr val="121DFA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5" name="AutoShape 4">
            <a:extLst>
              <a:ext uri="{FF2B5EF4-FFF2-40B4-BE49-F238E27FC236}">
                <a16:creationId xmlns:a16="http://schemas.microsoft.com/office/drawing/2014/main" id="{0DBDCE2E-182C-446C-8183-05FD58AA0518}"/>
              </a:ext>
            </a:extLst>
          </p:cNvPr>
          <p:cNvSpPr>
            <a:spLocks/>
          </p:cNvSpPr>
          <p:nvPr/>
        </p:nvSpPr>
        <p:spPr bwMode="auto">
          <a:xfrm>
            <a:off x="2070100" y="1835150"/>
            <a:ext cx="125413" cy="865188"/>
          </a:xfrm>
          <a:prstGeom prst="leftBrace">
            <a:avLst>
              <a:gd name="adj1" fmla="val 3877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400"/>
          </a:p>
        </p:txBody>
      </p:sp>
      <p:sp>
        <p:nvSpPr>
          <p:cNvPr id="86" name="Text Box 12">
            <a:extLst>
              <a:ext uri="{FF2B5EF4-FFF2-40B4-BE49-F238E27FC236}">
                <a16:creationId xmlns:a16="http://schemas.microsoft.com/office/drawing/2014/main" id="{7E188A6D-5723-4EDC-A43B-03FAC1158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2436813"/>
            <a:ext cx="2071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自然光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BDB588D-E7E5-4244-82CA-FCDE6CA9DA93}"/>
              </a:ext>
            </a:extLst>
          </p:cNvPr>
          <p:cNvGrpSpPr>
            <a:grpSpLocks/>
          </p:cNvGrpSpPr>
          <p:nvPr/>
        </p:nvGrpSpPr>
        <p:grpSpPr bwMode="auto">
          <a:xfrm>
            <a:off x="7151688" y="1147763"/>
            <a:ext cx="1812925" cy="304800"/>
            <a:chOff x="1355700" y="4149080"/>
            <a:chExt cx="2700338" cy="304800"/>
          </a:xfrm>
        </p:grpSpPr>
        <p:sp>
          <p:nvSpPr>
            <p:cNvPr id="41060" name="Line 19">
              <a:extLst>
                <a:ext uri="{FF2B5EF4-FFF2-40B4-BE49-F238E27FC236}">
                  <a16:creationId xmlns:a16="http://schemas.microsoft.com/office/drawing/2014/main" id="{82972DE0-A38F-424D-9722-C39B8C097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5700" y="4298305"/>
              <a:ext cx="27003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061" name="组合 28">
              <a:extLst>
                <a:ext uri="{FF2B5EF4-FFF2-40B4-BE49-F238E27FC236}">
                  <a16:creationId xmlns:a16="http://schemas.microsoft.com/office/drawing/2014/main" id="{DC1F01FC-1538-4C1F-8D88-9E70B2D5B7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63688" y="4149080"/>
              <a:ext cx="1795462" cy="304800"/>
              <a:chOff x="1841588" y="2631307"/>
              <a:chExt cx="1795463" cy="304800"/>
            </a:xfrm>
          </p:grpSpPr>
          <p:sp>
            <p:nvSpPr>
              <p:cNvPr id="41062" name="Line 20">
                <a:extLst>
                  <a:ext uri="{FF2B5EF4-FFF2-40B4-BE49-F238E27FC236}">
                    <a16:creationId xmlns:a16="http://schemas.microsoft.com/office/drawing/2014/main" id="{92FFC2C9-4DB3-47B0-B30C-A5B062EA76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841588" y="2631307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3" name="Line 21">
                <a:extLst>
                  <a:ext uri="{FF2B5EF4-FFF2-40B4-BE49-F238E27FC236}">
                    <a16:creationId xmlns:a16="http://schemas.microsoft.com/office/drawing/2014/main" id="{80347815-D278-450F-B9CA-A03D12E8F0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562313" y="2631307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4" name="Line 22">
                <a:extLst>
                  <a:ext uri="{FF2B5EF4-FFF2-40B4-BE49-F238E27FC236}">
                    <a16:creationId xmlns:a16="http://schemas.microsoft.com/office/drawing/2014/main" id="{874E3258-409A-4683-95F8-08E63F611D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201951" y="2631307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5" name="Line 23">
                <a:extLst>
                  <a:ext uri="{FF2B5EF4-FFF2-40B4-BE49-F238E27FC236}">
                    <a16:creationId xmlns:a16="http://schemas.microsoft.com/office/drawing/2014/main" id="{73EE5BE3-0525-4469-A37F-5A72149B8F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22676" y="2631307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6" name="Line 24">
                <a:extLst>
                  <a:ext uri="{FF2B5EF4-FFF2-40B4-BE49-F238E27FC236}">
                    <a16:creationId xmlns:a16="http://schemas.microsoft.com/office/drawing/2014/main" id="{903E04F2-228F-489A-B73E-28BCFADEEE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81451" y="2631307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7" name="Line 25">
                <a:extLst>
                  <a:ext uri="{FF2B5EF4-FFF2-40B4-BE49-F238E27FC236}">
                    <a16:creationId xmlns:a16="http://schemas.microsoft.com/office/drawing/2014/main" id="{5F32C080-555C-4E5A-98E1-03106FCD4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37051" y="2631307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9BD07AE-F84F-4C9A-8F4F-8DD127F1B6C4}"/>
              </a:ext>
            </a:extLst>
          </p:cNvPr>
          <p:cNvGrpSpPr>
            <a:grpSpLocks/>
          </p:cNvGrpSpPr>
          <p:nvPr/>
        </p:nvGrpSpPr>
        <p:grpSpPr bwMode="auto">
          <a:xfrm>
            <a:off x="7129463" y="1524000"/>
            <a:ext cx="1835150" cy="77788"/>
            <a:chOff x="4933925" y="4210992"/>
            <a:chExt cx="3060700" cy="128588"/>
          </a:xfrm>
        </p:grpSpPr>
        <p:sp>
          <p:nvSpPr>
            <p:cNvPr id="41052" name="Line 65">
              <a:extLst>
                <a:ext uri="{FF2B5EF4-FFF2-40B4-BE49-F238E27FC236}">
                  <a16:creationId xmlns:a16="http://schemas.microsoft.com/office/drawing/2014/main" id="{33331A83-F294-4575-BF25-8588F9E609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3925" y="4282430"/>
              <a:ext cx="3060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053" name="组合 29">
              <a:extLst>
                <a:ext uri="{FF2B5EF4-FFF2-40B4-BE49-F238E27FC236}">
                  <a16:creationId xmlns:a16="http://schemas.microsoft.com/office/drawing/2014/main" id="{687C67AD-89C3-41A1-AE22-FD1367B496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22863" y="4210992"/>
              <a:ext cx="2144712" cy="128588"/>
              <a:chOff x="5329262" y="2714620"/>
              <a:chExt cx="2144708" cy="128587"/>
            </a:xfrm>
          </p:grpSpPr>
          <p:sp>
            <p:nvSpPr>
              <p:cNvPr id="41054" name="Oval 28">
                <a:extLst>
                  <a:ext uri="{FF2B5EF4-FFF2-40B4-BE49-F238E27FC236}">
                    <a16:creationId xmlns:a16="http://schemas.microsoft.com/office/drawing/2014/main" id="{9960A3D5-AEF9-413A-9CD3-753906410D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9262" y="2714620"/>
                <a:ext cx="115888" cy="12858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55" name="Oval 66">
                <a:extLst>
                  <a:ext uri="{FF2B5EF4-FFF2-40B4-BE49-F238E27FC236}">
                    <a16:creationId xmlns:a16="http://schemas.microsoft.com/office/drawing/2014/main" id="{9AA454A3-4D3E-4F27-8DB7-D9189B8BF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32487" y="2714620"/>
                <a:ext cx="115888" cy="12858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56" name="Oval 67">
                <a:extLst>
                  <a:ext uri="{FF2B5EF4-FFF2-40B4-BE49-F238E27FC236}">
                    <a16:creationId xmlns:a16="http://schemas.microsoft.com/office/drawing/2014/main" id="{35B5DDCF-4883-4B5D-8E74-1D2F7D603C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3487" y="2714620"/>
                <a:ext cx="115888" cy="12858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57" name="Oval 68">
                <a:extLst>
                  <a:ext uri="{FF2B5EF4-FFF2-40B4-BE49-F238E27FC236}">
                    <a16:creationId xmlns:a16="http://schemas.microsoft.com/office/drawing/2014/main" id="{647810B5-95D9-4FC6-AD77-AF1E7FE0A8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16712" y="2714620"/>
                <a:ext cx="115888" cy="12858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58" name="Oval 69">
                <a:extLst>
                  <a:ext uri="{FF2B5EF4-FFF2-40B4-BE49-F238E27FC236}">
                    <a16:creationId xmlns:a16="http://schemas.microsoft.com/office/drawing/2014/main" id="{46D9534E-22F1-4694-91A4-08DC2A361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19937" y="2714620"/>
                <a:ext cx="115888" cy="12858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59" name="Oval 70">
                <a:extLst>
                  <a:ext uri="{FF2B5EF4-FFF2-40B4-BE49-F238E27FC236}">
                    <a16:creationId xmlns:a16="http://schemas.microsoft.com/office/drawing/2014/main" id="{CD4E3558-2DCE-4D33-98CF-00089E78AA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58082" y="2714620"/>
                <a:ext cx="115888" cy="12858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9B8A0C8-0309-439E-B656-6874F402D6DD}"/>
              </a:ext>
            </a:extLst>
          </p:cNvPr>
          <p:cNvGrpSpPr>
            <a:grpSpLocks/>
          </p:cNvGrpSpPr>
          <p:nvPr/>
        </p:nvGrpSpPr>
        <p:grpSpPr bwMode="auto">
          <a:xfrm>
            <a:off x="5962650" y="1690688"/>
            <a:ext cx="3001963" cy="214312"/>
            <a:chOff x="1870830" y="3425101"/>
            <a:chExt cx="3870790" cy="213066"/>
          </a:xfrm>
        </p:grpSpPr>
        <p:sp>
          <p:nvSpPr>
            <p:cNvPr id="41034" name="Line 36">
              <a:extLst>
                <a:ext uri="{FF2B5EF4-FFF2-40B4-BE49-F238E27FC236}">
                  <a16:creationId xmlns:a16="http://schemas.microsoft.com/office/drawing/2014/main" id="{D9C41069-1372-4F0D-8E26-686FF915E1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1600" y="3531634"/>
              <a:ext cx="1880020" cy="66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35" name="Line 41">
              <a:extLst>
                <a:ext uri="{FF2B5EF4-FFF2-40B4-BE49-F238E27FC236}">
                  <a16:creationId xmlns:a16="http://schemas.microsoft.com/office/drawing/2014/main" id="{AF3DE331-CFC8-4852-9C6C-CAABDEEE8B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0830" y="3531634"/>
              <a:ext cx="1892553" cy="55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036" name="组合 70">
              <a:extLst>
                <a:ext uri="{FF2B5EF4-FFF2-40B4-BE49-F238E27FC236}">
                  <a16:creationId xmlns:a16="http://schemas.microsoft.com/office/drawing/2014/main" id="{FEC3C41E-45BE-4E54-AA17-ECA19E7559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5736" y="3425101"/>
              <a:ext cx="1251418" cy="213066"/>
              <a:chOff x="4964815" y="6124596"/>
              <a:chExt cx="2059827" cy="304800"/>
            </a:xfrm>
          </p:grpSpPr>
          <p:sp>
            <p:nvSpPr>
              <p:cNvPr id="41045" name="Line 49">
                <a:extLst>
                  <a:ext uri="{FF2B5EF4-FFF2-40B4-BE49-F238E27FC236}">
                    <a16:creationId xmlns:a16="http://schemas.microsoft.com/office/drawing/2014/main" id="{A60D22AA-A704-40D2-832F-2979B60E19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964815" y="6124596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6" name="Line 50">
                <a:extLst>
                  <a:ext uri="{FF2B5EF4-FFF2-40B4-BE49-F238E27FC236}">
                    <a16:creationId xmlns:a16="http://schemas.microsoft.com/office/drawing/2014/main" id="{A1F60BF5-02F0-4A9A-B9E1-9FA9149539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988052" y="6124596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7" name="Oval 57">
                <a:extLst>
                  <a:ext uri="{FF2B5EF4-FFF2-40B4-BE49-F238E27FC236}">
                    <a16:creationId xmlns:a16="http://schemas.microsoft.com/office/drawing/2014/main" id="{1ED8BD94-6A81-489E-A871-5B4D18DDB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3390" y="6225371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48" name="Oval 58">
                <a:extLst>
                  <a:ext uri="{FF2B5EF4-FFF2-40B4-BE49-F238E27FC236}">
                    <a16:creationId xmlns:a16="http://schemas.microsoft.com/office/drawing/2014/main" id="{9FC19F8F-6232-4D6E-8A58-F2526A5C3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0002" y="6225371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49" name="Line 59">
                <a:extLst>
                  <a:ext uri="{FF2B5EF4-FFF2-40B4-BE49-F238E27FC236}">
                    <a16:creationId xmlns:a16="http://schemas.microsoft.com/office/drawing/2014/main" id="{32048805-341A-45C8-9A20-A50713586F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024642" y="6124596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50" name="Oval 60">
                <a:extLst>
                  <a:ext uri="{FF2B5EF4-FFF2-40B4-BE49-F238E27FC236}">
                    <a16:creationId xmlns:a16="http://schemas.microsoft.com/office/drawing/2014/main" id="{C1EF1BD3-ED49-4FE4-BC49-AD13E93EF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8852" y="6225371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51" name="Oval 61">
                <a:extLst>
                  <a:ext uri="{FF2B5EF4-FFF2-40B4-BE49-F238E27FC236}">
                    <a16:creationId xmlns:a16="http://schemas.microsoft.com/office/drawing/2014/main" id="{1258769C-8159-4644-9AF5-EE393D973B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9215" y="6225371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grpSp>
          <p:nvGrpSpPr>
            <p:cNvPr id="41037" name="组合 69">
              <a:extLst>
                <a:ext uri="{FF2B5EF4-FFF2-40B4-BE49-F238E27FC236}">
                  <a16:creationId xmlns:a16="http://schemas.microsoft.com/office/drawing/2014/main" id="{110B9E73-C486-44B6-A9E3-A5DD346088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6014" y="3425101"/>
              <a:ext cx="1312157" cy="213066"/>
              <a:chOff x="4918074" y="5429264"/>
              <a:chExt cx="2160588" cy="304800"/>
            </a:xfrm>
          </p:grpSpPr>
          <p:sp>
            <p:nvSpPr>
              <p:cNvPr id="41038" name="Line 37">
                <a:extLst>
                  <a:ext uri="{FF2B5EF4-FFF2-40B4-BE49-F238E27FC236}">
                    <a16:creationId xmlns:a16="http://schemas.microsoft.com/office/drawing/2014/main" id="{AD74B320-CF28-48A6-8D9A-153B1DF3EE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629274" y="542926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39" name="Line 38">
                <a:extLst>
                  <a:ext uri="{FF2B5EF4-FFF2-40B4-BE49-F238E27FC236}">
                    <a16:creationId xmlns:a16="http://schemas.microsoft.com/office/drawing/2014/main" id="{990E3CE8-D5BA-4EB4-8ED0-78FCDC156A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313362" y="542926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0" name="Line 39">
                <a:extLst>
                  <a:ext uri="{FF2B5EF4-FFF2-40B4-BE49-F238E27FC236}">
                    <a16:creationId xmlns:a16="http://schemas.microsoft.com/office/drawing/2014/main" id="{64232387-175F-4E7D-976C-EFAB625013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357937" y="542926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1" name="Line 40">
                <a:extLst>
                  <a:ext uri="{FF2B5EF4-FFF2-40B4-BE49-F238E27FC236}">
                    <a16:creationId xmlns:a16="http://schemas.microsoft.com/office/drawing/2014/main" id="{99312D06-A331-496A-8C33-6407CC9B9D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681787" y="542926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2" name="Oval 46">
                <a:extLst>
                  <a:ext uri="{FF2B5EF4-FFF2-40B4-BE49-F238E27FC236}">
                    <a16:creationId xmlns:a16="http://schemas.microsoft.com/office/drawing/2014/main" id="{4E8BCCF6-7E42-4C5E-A797-12472983D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8074" y="5518164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43" name="Oval 56">
                <a:extLst>
                  <a:ext uri="{FF2B5EF4-FFF2-40B4-BE49-F238E27FC236}">
                    <a16:creationId xmlns:a16="http://schemas.microsoft.com/office/drawing/2014/main" id="{FEA3EF99-3A1A-457D-9375-683A2E181E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26137" y="5518164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44" name="Oval 62">
                <a:extLst>
                  <a:ext uri="{FF2B5EF4-FFF2-40B4-BE49-F238E27FC236}">
                    <a16:creationId xmlns:a16="http://schemas.microsoft.com/office/drawing/2014/main" id="{3282F307-5021-4EFC-B3A5-D10595A37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70712" y="5518164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210C1D8-6604-44FF-A61A-2989AE3CE257}"/>
              </a:ext>
            </a:extLst>
          </p:cNvPr>
          <p:cNvGrpSpPr>
            <a:grpSpLocks/>
          </p:cNvGrpSpPr>
          <p:nvPr/>
        </p:nvGrpSpPr>
        <p:grpSpPr bwMode="auto">
          <a:xfrm>
            <a:off x="6405563" y="1971675"/>
            <a:ext cx="1727200" cy="622300"/>
            <a:chOff x="6528801" y="2203522"/>
            <a:chExt cx="1728016" cy="622812"/>
          </a:xfrm>
        </p:grpSpPr>
        <p:grpSp>
          <p:nvGrpSpPr>
            <p:cNvPr id="41015" name="组合 149">
              <a:extLst>
                <a:ext uri="{FF2B5EF4-FFF2-40B4-BE49-F238E27FC236}">
                  <a16:creationId xmlns:a16="http://schemas.microsoft.com/office/drawing/2014/main" id="{423090D9-1C69-484F-AB90-7E069FF1CC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34597" y="2203522"/>
              <a:ext cx="1722220" cy="287499"/>
              <a:chOff x="1828464" y="1382528"/>
              <a:chExt cx="1722220" cy="473075"/>
            </a:xfrm>
          </p:grpSpPr>
          <p:sp>
            <p:nvSpPr>
              <p:cNvPr id="41027" name="Line 82">
                <a:extLst>
                  <a:ext uri="{FF2B5EF4-FFF2-40B4-BE49-F238E27FC236}">
                    <a16:creationId xmlns:a16="http://schemas.microsoft.com/office/drawing/2014/main" id="{51BC8E20-8346-497A-AAB2-88AE021D36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8464" y="1641291"/>
                <a:ext cx="1722220" cy="1588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8" name="Line 83">
                <a:extLst>
                  <a:ext uri="{FF2B5EF4-FFF2-40B4-BE49-F238E27FC236}">
                    <a16:creationId xmlns:a16="http://schemas.microsoft.com/office/drawing/2014/main" id="{BAD1A984-0C84-4B90-9010-89E42B877B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09569" y="1382528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9" name="Line 84">
                <a:extLst>
                  <a:ext uri="{FF2B5EF4-FFF2-40B4-BE49-F238E27FC236}">
                    <a16:creationId xmlns:a16="http://schemas.microsoft.com/office/drawing/2014/main" id="{6B86DA5F-B262-46D8-B582-00BAB30B4D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887" y="1382528"/>
                <a:ext cx="996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30" name="Line 85">
                <a:extLst>
                  <a:ext uri="{FF2B5EF4-FFF2-40B4-BE49-F238E27FC236}">
                    <a16:creationId xmlns:a16="http://schemas.microsoft.com/office/drawing/2014/main" id="{4180397B-961D-4EE5-AE60-99A1D6B1DB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46275" y="1382528"/>
                <a:ext cx="4980" cy="473075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椭圆 133">
                <a:extLst>
                  <a:ext uri="{FF2B5EF4-FFF2-40B4-BE49-F238E27FC236}">
                    <a16:creationId xmlns:a16="http://schemas.microsoft.com/office/drawing/2014/main" id="{6CDC0098-D24F-4737-BE3E-4B54BAA8FE54}"/>
                  </a:ext>
                </a:extLst>
              </p:cNvPr>
              <p:cNvSpPr/>
              <p:nvPr/>
            </p:nvSpPr>
            <p:spPr>
              <a:xfrm>
                <a:off x="2072023" y="1589063"/>
                <a:ext cx="111177" cy="1124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5" name="椭圆 134">
                <a:extLst>
                  <a:ext uri="{FF2B5EF4-FFF2-40B4-BE49-F238E27FC236}">
                    <a16:creationId xmlns:a16="http://schemas.microsoft.com/office/drawing/2014/main" id="{5FB2806D-E9F3-439C-858C-6AFE366D3081}"/>
                  </a:ext>
                </a:extLst>
              </p:cNvPr>
              <p:cNvSpPr/>
              <p:nvPr/>
            </p:nvSpPr>
            <p:spPr>
              <a:xfrm>
                <a:off x="2475438" y="1586447"/>
                <a:ext cx="111177" cy="11241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8343A024-38F9-4213-8FE1-BD6B4DEFDC69}"/>
                  </a:ext>
                </a:extLst>
              </p:cNvPr>
              <p:cNvSpPr/>
              <p:nvPr/>
            </p:nvSpPr>
            <p:spPr>
              <a:xfrm>
                <a:off x="2874090" y="1586447"/>
                <a:ext cx="111177" cy="11241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1016" name="组合 159">
              <a:extLst>
                <a:ext uri="{FF2B5EF4-FFF2-40B4-BE49-F238E27FC236}">
                  <a16:creationId xmlns:a16="http://schemas.microsoft.com/office/drawing/2014/main" id="{B3965201-7CE4-4732-9EB0-C995C1C81E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28801" y="2510575"/>
              <a:ext cx="1722609" cy="315759"/>
              <a:chOff x="4139952" y="1381967"/>
              <a:chExt cx="1722220" cy="473075"/>
            </a:xfrm>
          </p:grpSpPr>
          <p:sp>
            <p:nvSpPr>
              <p:cNvPr id="41017" name="Line 82">
                <a:extLst>
                  <a:ext uri="{FF2B5EF4-FFF2-40B4-BE49-F238E27FC236}">
                    <a16:creationId xmlns:a16="http://schemas.microsoft.com/office/drawing/2014/main" id="{A0F9EA16-3B89-495A-A8A9-D666F4E04F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39952" y="1640730"/>
                <a:ext cx="1722220" cy="1588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8" name="Line 83">
                <a:extLst>
                  <a:ext uri="{FF2B5EF4-FFF2-40B4-BE49-F238E27FC236}">
                    <a16:creationId xmlns:a16="http://schemas.microsoft.com/office/drawing/2014/main" id="{11EECE72-60D9-41B6-86AB-C744947A65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90106" y="1381967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9" name="Line 84">
                <a:extLst>
                  <a:ext uri="{FF2B5EF4-FFF2-40B4-BE49-F238E27FC236}">
                    <a16:creationId xmlns:a16="http://schemas.microsoft.com/office/drawing/2014/main" id="{571DC179-B5F0-4611-8E0E-4C461B4FFA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04048" y="1381967"/>
                <a:ext cx="996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0" name="Line 85">
                <a:extLst>
                  <a:ext uri="{FF2B5EF4-FFF2-40B4-BE49-F238E27FC236}">
                    <a16:creationId xmlns:a16="http://schemas.microsoft.com/office/drawing/2014/main" id="{9BFFCD67-EBA7-4021-8367-EE003380C5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97862" y="1381967"/>
                <a:ext cx="4980" cy="473075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" name="椭圆 143">
                <a:extLst>
                  <a:ext uri="{FF2B5EF4-FFF2-40B4-BE49-F238E27FC236}">
                    <a16:creationId xmlns:a16="http://schemas.microsoft.com/office/drawing/2014/main" id="{6D5F5447-8EBE-4FEB-A980-9C3845322E76}"/>
                  </a:ext>
                </a:extLst>
              </p:cNvPr>
              <p:cNvSpPr/>
              <p:nvPr/>
            </p:nvSpPr>
            <p:spPr>
              <a:xfrm>
                <a:off x="4382899" y="1588440"/>
                <a:ext cx="111152" cy="11187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5" name="椭圆 144">
                <a:extLst>
                  <a:ext uri="{FF2B5EF4-FFF2-40B4-BE49-F238E27FC236}">
                    <a16:creationId xmlns:a16="http://schemas.microsoft.com/office/drawing/2014/main" id="{67DDF92E-BBFF-46E6-9B9E-C09426B6AC2E}"/>
                  </a:ext>
                </a:extLst>
              </p:cNvPr>
              <p:cNvSpPr/>
              <p:nvPr/>
            </p:nvSpPr>
            <p:spPr>
              <a:xfrm>
                <a:off x="4786223" y="1586060"/>
                <a:ext cx="111152" cy="11187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A17C4903-5E32-4128-9428-5973B39EB021}"/>
                  </a:ext>
                </a:extLst>
              </p:cNvPr>
              <p:cNvSpPr/>
              <p:nvPr/>
            </p:nvSpPr>
            <p:spPr>
              <a:xfrm>
                <a:off x="5186372" y="1586060"/>
                <a:ext cx="111152" cy="11187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024" name="Line 83">
                <a:extLst>
                  <a:ext uri="{FF2B5EF4-FFF2-40B4-BE49-F238E27FC236}">
                    <a16:creationId xmlns:a16="http://schemas.microsoft.com/office/drawing/2014/main" id="{8860D515-1D03-4CD1-890A-A7F5163B05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79751" y="1389633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5" name="Line 83">
                <a:extLst>
                  <a:ext uri="{FF2B5EF4-FFF2-40B4-BE49-F238E27FC236}">
                    <a16:creationId xmlns:a16="http://schemas.microsoft.com/office/drawing/2014/main" id="{D1F78738-ED06-4E2A-AEB2-A6C814DF37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3605" y="1381967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6" name="Line 83">
                <a:extLst>
                  <a:ext uri="{FF2B5EF4-FFF2-40B4-BE49-F238E27FC236}">
                    <a16:creationId xmlns:a16="http://schemas.microsoft.com/office/drawing/2014/main" id="{BC596331-F3A0-4867-B436-72C27DEABB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03124" y="1390327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CC68D9B-1CC8-4462-B478-2D20F5238B97}"/>
              </a:ext>
            </a:extLst>
          </p:cNvPr>
          <p:cNvGrpSpPr>
            <a:grpSpLocks/>
          </p:cNvGrpSpPr>
          <p:nvPr/>
        </p:nvGrpSpPr>
        <p:grpSpPr bwMode="auto">
          <a:xfrm>
            <a:off x="3551238" y="2586038"/>
            <a:ext cx="2978150" cy="309562"/>
            <a:chOff x="871877" y="4612042"/>
            <a:chExt cx="6450084" cy="309563"/>
          </a:xfrm>
        </p:grpSpPr>
        <p:sp>
          <p:nvSpPr>
            <p:cNvPr id="40987" name="Line 65">
              <a:extLst>
                <a:ext uri="{FF2B5EF4-FFF2-40B4-BE49-F238E27FC236}">
                  <a16:creationId xmlns:a16="http://schemas.microsoft.com/office/drawing/2014/main" id="{495A4857-4566-496B-ABB8-DE9F83CEC4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877" y="4769205"/>
              <a:ext cx="3095625" cy="95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8" name="Line 67">
              <a:extLst>
                <a:ext uri="{FF2B5EF4-FFF2-40B4-BE49-F238E27FC236}">
                  <a16:creationId xmlns:a16="http://schemas.microsoft.com/office/drawing/2014/main" id="{55D61CD2-E08B-4015-804F-E5B8434B71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56052" y="4616805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9" name="Line 70">
              <a:extLst>
                <a:ext uri="{FF2B5EF4-FFF2-40B4-BE49-F238E27FC236}">
                  <a16:creationId xmlns:a16="http://schemas.microsoft.com/office/drawing/2014/main" id="{BC662332-5CBD-4A9E-B018-45B36FDBD5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5698" y="4766030"/>
              <a:ext cx="3116263" cy="79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0" name="Oval 71">
              <a:extLst>
                <a:ext uri="{FF2B5EF4-FFF2-40B4-BE49-F238E27FC236}">
                  <a16:creationId xmlns:a16="http://schemas.microsoft.com/office/drawing/2014/main" id="{3E1D0114-38A1-4C06-9C85-B07C0B362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8152" y="4724755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0991" name="Line 82">
              <a:extLst>
                <a:ext uri="{FF2B5EF4-FFF2-40B4-BE49-F238E27FC236}">
                  <a16:creationId xmlns:a16="http://schemas.microsoft.com/office/drawing/2014/main" id="{34CFF3FD-B4AC-4258-8124-D7F2543411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97811" y="4612042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2" name="Oval 83">
              <a:extLst>
                <a:ext uri="{FF2B5EF4-FFF2-40B4-BE49-F238E27FC236}">
                  <a16:creationId xmlns:a16="http://schemas.microsoft.com/office/drawing/2014/main" id="{2C9EB14E-50FB-44F5-898D-88F0FB4E3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5423" y="4702530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pSp>
          <p:nvGrpSpPr>
            <p:cNvPr id="40993" name="组合 58">
              <a:extLst>
                <a:ext uri="{FF2B5EF4-FFF2-40B4-BE49-F238E27FC236}">
                  <a16:creationId xmlns:a16="http://schemas.microsoft.com/office/drawing/2014/main" id="{982F91CB-2D65-4EDF-B7F4-148B807A5D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6614" y="4616805"/>
              <a:ext cx="1676400" cy="304800"/>
              <a:chOff x="5932393" y="2571744"/>
              <a:chExt cx="1675816" cy="304800"/>
            </a:xfrm>
          </p:grpSpPr>
          <p:sp>
            <p:nvSpPr>
              <p:cNvPr id="41009" name="Line 66">
                <a:extLst>
                  <a:ext uri="{FF2B5EF4-FFF2-40B4-BE49-F238E27FC236}">
                    <a16:creationId xmlns:a16="http://schemas.microsoft.com/office/drawing/2014/main" id="{2E120FBF-2A25-45F3-9282-4FFA9B072E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932393" y="257174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0" name="Line 68">
                <a:extLst>
                  <a:ext uri="{FF2B5EF4-FFF2-40B4-BE49-F238E27FC236}">
                    <a16:creationId xmlns:a16="http://schemas.microsoft.com/office/drawing/2014/main" id="{68191052-65B8-4A9C-9FB4-7FCDD5AA07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589756" y="257174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1" name="Line 69">
                <a:extLst>
                  <a:ext uri="{FF2B5EF4-FFF2-40B4-BE49-F238E27FC236}">
                    <a16:creationId xmlns:a16="http://schemas.microsoft.com/office/drawing/2014/main" id="{C6C84EEE-9321-4ABA-8E37-131521B951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226281" y="257174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2" name="Oval 75">
                <a:extLst>
                  <a:ext uri="{FF2B5EF4-FFF2-40B4-BE49-F238E27FC236}">
                    <a16:creationId xmlns:a16="http://schemas.microsoft.com/office/drawing/2014/main" id="{3BB5AD8C-5254-45BF-8820-43636F8480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4469" y="2679694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13" name="Oval 81">
                <a:extLst>
                  <a:ext uri="{FF2B5EF4-FFF2-40B4-BE49-F238E27FC236}">
                    <a16:creationId xmlns:a16="http://schemas.microsoft.com/office/drawing/2014/main" id="{0F4D25BD-219C-43E3-B491-1B410ED10B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43056" y="2679694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14" name="Oval 81">
                <a:extLst>
                  <a:ext uri="{FF2B5EF4-FFF2-40B4-BE49-F238E27FC236}">
                    <a16:creationId xmlns:a16="http://schemas.microsoft.com/office/drawing/2014/main" id="{C179EB95-BFB0-4E75-B116-F4DA08E680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0259" y="2678807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grpSp>
          <p:nvGrpSpPr>
            <p:cNvPr id="40994" name="组合 59">
              <a:extLst>
                <a:ext uri="{FF2B5EF4-FFF2-40B4-BE49-F238E27FC236}">
                  <a16:creationId xmlns:a16="http://schemas.microsoft.com/office/drawing/2014/main" id="{221916B7-06D1-4490-96C0-5444AA06E1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4198" y="4612042"/>
              <a:ext cx="2074863" cy="309563"/>
              <a:chOff x="5545181" y="3055932"/>
              <a:chExt cx="2074903" cy="308803"/>
            </a:xfrm>
          </p:grpSpPr>
          <p:sp>
            <p:nvSpPr>
              <p:cNvPr id="40995" name="Line 73">
                <a:extLst>
                  <a:ext uri="{FF2B5EF4-FFF2-40B4-BE49-F238E27FC236}">
                    <a16:creationId xmlns:a16="http://schemas.microsoft.com/office/drawing/2014/main" id="{6AFC7FEF-6BD2-4471-B379-EEF14AA8D4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923006" y="3055932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6" name="Oval 77">
                <a:extLst>
                  <a:ext uri="{FF2B5EF4-FFF2-40B4-BE49-F238E27FC236}">
                    <a16:creationId xmlns:a16="http://schemas.microsoft.com/office/drawing/2014/main" id="{53BBF618-7827-4492-AEBB-A9551C4F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70619" y="3146419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0997" name="Line 84">
                <a:extLst>
                  <a:ext uri="{FF2B5EF4-FFF2-40B4-BE49-F238E27FC236}">
                    <a16:creationId xmlns:a16="http://schemas.microsoft.com/office/drawing/2014/main" id="{CD17FC24-DA27-473B-AE43-485770C4A2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597569" y="3055932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8" name="Oval 85">
                <a:extLst>
                  <a:ext uri="{FF2B5EF4-FFF2-40B4-BE49-F238E27FC236}">
                    <a16:creationId xmlns:a16="http://schemas.microsoft.com/office/drawing/2014/main" id="{CB6F06BB-D759-4FB9-A3BB-578C7DDCF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5181" y="3146419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0999" name="Line 86">
                <a:extLst>
                  <a:ext uri="{FF2B5EF4-FFF2-40B4-BE49-F238E27FC236}">
                    <a16:creationId xmlns:a16="http://schemas.microsoft.com/office/drawing/2014/main" id="{6E1A5378-F3FA-4577-8B26-F91F19FF73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246856" y="3055932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0" name="Oval 87">
                <a:extLst>
                  <a:ext uri="{FF2B5EF4-FFF2-40B4-BE49-F238E27FC236}">
                    <a16:creationId xmlns:a16="http://schemas.microsoft.com/office/drawing/2014/main" id="{B6B119A6-B4DF-4FD7-974F-6027059ACC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4469" y="3146419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01" name="Line 88">
                <a:extLst>
                  <a:ext uri="{FF2B5EF4-FFF2-40B4-BE49-F238E27FC236}">
                    <a16:creationId xmlns:a16="http://schemas.microsoft.com/office/drawing/2014/main" id="{E7B3C63C-1235-4C40-8711-EBC9FDF658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589756" y="3055932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2" name="Oval 89">
                <a:extLst>
                  <a:ext uri="{FF2B5EF4-FFF2-40B4-BE49-F238E27FC236}">
                    <a16:creationId xmlns:a16="http://schemas.microsoft.com/office/drawing/2014/main" id="{3D3C974D-0A67-4528-B298-84E8B4CAE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37369" y="3146419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03" name="Line 90">
                <a:extLst>
                  <a:ext uri="{FF2B5EF4-FFF2-40B4-BE49-F238E27FC236}">
                    <a16:creationId xmlns:a16="http://schemas.microsoft.com/office/drawing/2014/main" id="{408FCD38-0F89-4361-969E-2A19E1B30B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894556" y="3055932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4" name="Oval 91">
                <a:extLst>
                  <a:ext uri="{FF2B5EF4-FFF2-40B4-BE49-F238E27FC236}">
                    <a16:creationId xmlns:a16="http://schemas.microsoft.com/office/drawing/2014/main" id="{664972A1-DC8C-428B-917D-A48A3071AA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42169" y="3146419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05" name="Line 92">
                <a:extLst>
                  <a:ext uri="{FF2B5EF4-FFF2-40B4-BE49-F238E27FC236}">
                    <a16:creationId xmlns:a16="http://schemas.microsoft.com/office/drawing/2014/main" id="{2D44D6AB-8730-4F2D-8932-3A5AF7BC3B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218406" y="3055932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6" name="Oval 93">
                <a:extLst>
                  <a:ext uri="{FF2B5EF4-FFF2-40B4-BE49-F238E27FC236}">
                    <a16:creationId xmlns:a16="http://schemas.microsoft.com/office/drawing/2014/main" id="{2DB9EA78-C8D6-41C7-A0CD-A4B07A71D8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6019" y="3146419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07" name="Line 92">
                <a:extLst>
                  <a:ext uri="{FF2B5EF4-FFF2-40B4-BE49-F238E27FC236}">
                    <a16:creationId xmlns:a16="http://schemas.microsoft.com/office/drawing/2014/main" id="{93FBDD5C-7AFD-4657-83B7-0A925DBA13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564521" y="3059935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8" name="Oval 93">
                <a:extLst>
                  <a:ext uri="{FF2B5EF4-FFF2-40B4-BE49-F238E27FC236}">
                    <a16:creationId xmlns:a16="http://schemas.microsoft.com/office/drawing/2014/main" id="{FEEF6E80-B263-4509-AF7B-EB4F9765B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12134" y="3150422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</p:grpSp>
      <p:sp>
        <p:nvSpPr>
          <p:cNvPr id="181" name="Text Box 30">
            <a:extLst>
              <a:ext uri="{FF2B5EF4-FFF2-40B4-BE49-F238E27FC236}">
                <a16:creationId xmlns:a16="http://schemas.microsoft.com/office/drawing/2014/main" id="{7597C8CA-F554-4C85-85D6-2C21C5F47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141663"/>
            <a:ext cx="5329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121DFA"/>
                </a:solidFill>
                <a:cs typeface="Times New Roman" panose="02020603050405020304" pitchFamily="18" charset="0"/>
              </a:rPr>
              <a:t>马吕斯定律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608311"/>
            <a:ext cx="8872707" cy="321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218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1" grpId="0"/>
      <p:bldP spid="82" grpId="0" animBg="1"/>
      <p:bldP spid="83" grpId="0"/>
      <p:bldP spid="84" grpId="0"/>
      <p:bldP spid="85" grpId="0" animBg="1"/>
      <p:bldP spid="86" grpId="0"/>
      <p:bldP spid="181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2835</TotalTime>
  <Words>1056</Words>
  <Application>Microsoft Office PowerPoint</Application>
  <PresentationFormat>全屏显示(4:3)</PresentationFormat>
  <Paragraphs>229</Paragraphs>
  <Slides>27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27</vt:i4>
      </vt:variant>
    </vt:vector>
  </HeadingPairs>
  <TitlesOfParts>
    <vt:vector size="47" baseType="lpstr">
      <vt:lpstr>方正书宋简体</vt:lpstr>
      <vt:lpstr>黑体</vt:lpstr>
      <vt:lpstr>华文琥珀</vt:lpstr>
      <vt:lpstr>华文楷体</vt:lpstr>
      <vt:lpstr>华文中宋</vt:lpstr>
      <vt:lpstr>楷体_GB2312</vt:lpstr>
      <vt:lpstr>隶书</vt:lpstr>
      <vt:lpstr>宋体</vt:lpstr>
      <vt:lpstr>Arial</vt:lpstr>
      <vt:lpstr>Calibri</vt:lpstr>
      <vt:lpstr>Symbol</vt:lpstr>
      <vt:lpstr>Times New Roman</vt:lpstr>
      <vt:lpstr>Wingdings</vt:lpstr>
      <vt:lpstr>Office 主题</vt:lpstr>
      <vt:lpstr>Equation</vt:lpstr>
      <vt:lpstr>BMP 图象</vt:lpstr>
      <vt:lpstr>MathType 6.0 Equation</vt:lpstr>
      <vt:lpstr>公式</vt:lpstr>
      <vt:lpstr>位图图像</vt:lpstr>
      <vt:lpstr>Clip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YinLY</cp:lastModifiedBy>
  <cp:revision>336</cp:revision>
  <cp:lastPrinted>2020-12-07T10:44:10Z</cp:lastPrinted>
  <dcterms:modified xsi:type="dcterms:W3CDTF">2025-11-24T11:00:11Z</dcterms:modified>
</cp:coreProperties>
</file>