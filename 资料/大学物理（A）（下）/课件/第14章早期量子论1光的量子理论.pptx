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8"/>
  </p:notesMasterIdLst>
  <p:handoutMasterIdLst>
    <p:handoutMasterId r:id="rId39"/>
  </p:handoutMasterIdLst>
  <p:sldIdLst>
    <p:sldId id="330" r:id="rId2"/>
    <p:sldId id="290" r:id="rId3"/>
    <p:sldId id="283" r:id="rId4"/>
    <p:sldId id="288" r:id="rId5"/>
    <p:sldId id="297" r:id="rId6"/>
    <p:sldId id="294" r:id="rId7"/>
    <p:sldId id="295" r:id="rId8"/>
    <p:sldId id="296" r:id="rId9"/>
    <p:sldId id="289" r:id="rId10"/>
    <p:sldId id="287" r:id="rId11"/>
    <p:sldId id="291" r:id="rId12"/>
    <p:sldId id="305" r:id="rId13"/>
    <p:sldId id="271" r:id="rId14"/>
    <p:sldId id="306" r:id="rId15"/>
    <p:sldId id="258" r:id="rId16"/>
    <p:sldId id="307" r:id="rId17"/>
    <p:sldId id="260" r:id="rId18"/>
    <p:sldId id="262" r:id="rId19"/>
    <p:sldId id="293" r:id="rId20"/>
    <p:sldId id="263" r:id="rId21"/>
    <p:sldId id="264" r:id="rId22"/>
    <p:sldId id="308" r:id="rId23"/>
    <p:sldId id="309" r:id="rId24"/>
    <p:sldId id="274" r:id="rId25"/>
    <p:sldId id="265" r:id="rId26"/>
    <p:sldId id="275" r:id="rId27"/>
    <p:sldId id="266" r:id="rId28"/>
    <p:sldId id="312" r:id="rId29"/>
    <p:sldId id="310" r:id="rId30"/>
    <p:sldId id="311" r:id="rId31"/>
    <p:sldId id="313" r:id="rId32"/>
    <p:sldId id="314" r:id="rId33"/>
    <p:sldId id="315" r:id="rId34"/>
    <p:sldId id="285" r:id="rId35"/>
    <p:sldId id="325" r:id="rId36"/>
    <p:sldId id="316" r:id="rId37"/>
  </p:sldIdLst>
  <p:sldSz cx="9144000" cy="6858000" type="screen4x3"/>
  <p:notesSz cx="9874250" cy="67976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6600"/>
    <a:srgbClr val="660066"/>
    <a:srgbClr val="00FF00"/>
    <a:srgbClr val="9900FF"/>
    <a:srgbClr val="42006E"/>
    <a:srgbClr val="CCFFFF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40" autoAdjust="0"/>
  </p:normalViewPr>
  <p:slideViewPr>
    <p:cSldViewPr>
      <p:cViewPr varScale="1">
        <p:scale>
          <a:sx n="107" d="100"/>
          <a:sy n="107" d="100"/>
        </p:scale>
        <p:origin x="117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e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Relationship Id="rId9" Type="http://schemas.openxmlformats.org/officeDocument/2006/relationships/image" Target="../media/image20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image" Target="../media/image48.wmf"/><Relationship Id="rId7" Type="http://schemas.openxmlformats.org/officeDocument/2006/relationships/image" Target="../media/image52.emf"/><Relationship Id="rId2" Type="http://schemas.openxmlformats.org/officeDocument/2006/relationships/image" Target="../media/image47.wmf"/><Relationship Id="rId1" Type="http://schemas.openxmlformats.org/officeDocument/2006/relationships/image" Target="../media/image46.emf"/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openxmlformats.org/officeDocument/2006/relationships/image" Target="../media/image4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image" Target="../media/image55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4" Type="http://schemas.openxmlformats.org/officeDocument/2006/relationships/image" Target="../media/image6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image" Target="../media/image69.emf"/><Relationship Id="rId4" Type="http://schemas.openxmlformats.org/officeDocument/2006/relationships/image" Target="../media/image7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image" Target="../media/image78.wmf"/><Relationship Id="rId7" Type="http://schemas.openxmlformats.org/officeDocument/2006/relationships/image" Target="../media/image82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image" Target="../media/image86.wmf"/><Relationship Id="rId7" Type="http://schemas.openxmlformats.org/officeDocument/2006/relationships/image" Target="../media/image90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6" Type="http://schemas.openxmlformats.org/officeDocument/2006/relationships/image" Target="../media/image89.wmf"/><Relationship Id="rId11" Type="http://schemas.openxmlformats.org/officeDocument/2006/relationships/image" Target="../media/image94.emf"/><Relationship Id="rId5" Type="http://schemas.openxmlformats.org/officeDocument/2006/relationships/image" Target="../media/image88.wmf"/><Relationship Id="rId10" Type="http://schemas.openxmlformats.org/officeDocument/2006/relationships/image" Target="../media/image93.emf"/><Relationship Id="rId4" Type="http://schemas.openxmlformats.org/officeDocument/2006/relationships/image" Target="../media/image87.wmf"/><Relationship Id="rId9" Type="http://schemas.openxmlformats.org/officeDocument/2006/relationships/image" Target="../media/image92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emf"/><Relationship Id="rId3" Type="http://schemas.openxmlformats.org/officeDocument/2006/relationships/image" Target="../media/image98.emf"/><Relationship Id="rId7" Type="http://schemas.openxmlformats.org/officeDocument/2006/relationships/image" Target="../media/image102.emf"/><Relationship Id="rId2" Type="http://schemas.openxmlformats.org/officeDocument/2006/relationships/image" Target="../media/image97.emf"/><Relationship Id="rId1" Type="http://schemas.openxmlformats.org/officeDocument/2006/relationships/image" Target="../media/image96.emf"/><Relationship Id="rId6" Type="http://schemas.openxmlformats.org/officeDocument/2006/relationships/image" Target="../media/image101.wmf"/><Relationship Id="rId5" Type="http://schemas.openxmlformats.org/officeDocument/2006/relationships/image" Target="../media/image100.emf"/><Relationship Id="rId10" Type="http://schemas.openxmlformats.org/officeDocument/2006/relationships/image" Target="../media/image105.emf"/><Relationship Id="rId4" Type="http://schemas.openxmlformats.org/officeDocument/2006/relationships/image" Target="../media/image99.wmf"/><Relationship Id="rId9" Type="http://schemas.openxmlformats.org/officeDocument/2006/relationships/image" Target="../media/image104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emf"/><Relationship Id="rId7" Type="http://schemas.openxmlformats.org/officeDocument/2006/relationships/image" Target="../media/image112.emf"/><Relationship Id="rId2" Type="http://schemas.openxmlformats.org/officeDocument/2006/relationships/image" Target="../media/image107.emf"/><Relationship Id="rId1" Type="http://schemas.openxmlformats.org/officeDocument/2006/relationships/image" Target="../media/image106.emf"/><Relationship Id="rId6" Type="http://schemas.openxmlformats.org/officeDocument/2006/relationships/image" Target="../media/image111.emf"/><Relationship Id="rId5" Type="http://schemas.openxmlformats.org/officeDocument/2006/relationships/image" Target="../media/image110.emf"/><Relationship Id="rId4" Type="http://schemas.openxmlformats.org/officeDocument/2006/relationships/image" Target="../media/image109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4" Type="http://schemas.openxmlformats.org/officeDocument/2006/relationships/image" Target="../media/image11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emf"/><Relationship Id="rId2" Type="http://schemas.openxmlformats.org/officeDocument/2006/relationships/image" Target="../media/image118.emf"/><Relationship Id="rId1" Type="http://schemas.openxmlformats.org/officeDocument/2006/relationships/image" Target="../media/image117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2" Type="http://schemas.openxmlformats.org/officeDocument/2006/relationships/image" Target="../media/image121.emf"/><Relationship Id="rId1" Type="http://schemas.openxmlformats.org/officeDocument/2006/relationships/image" Target="../media/image120.emf"/><Relationship Id="rId6" Type="http://schemas.openxmlformats.org/officeDocument/2006/relationships/image" Target="../media/image125.wmf"/><Relationship Id="rId5" Type="http://schemas.openxmlformats.org/officeDocument/2006/relationships/image" Target="../media/image124.wmf"/><Relationship Id="rId4" Type="http://schemas.openxmlformats.org/officeDocument/2006/relationships/image" Target="../media/image123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8.wmf"/><Relationship Id="rId1" Type="http://schemas.openxmlformats.org/officeDocument/2006/relationships/image" Target="../media/image12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92600" cy="314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49913" y="0"/>
            <a:ext cx="4179887" cy="314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4775"/>
            <a:ext cx="4292600" cy="368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49913" y="6454775"/>
            <a:ext cx="4179887" cy="368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AB397EA-22C8-4D87-A141-8924429D15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58786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92600" cy="314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49913" y="0"/>
            <a:ext cx="4179887" cy="314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90888" y="523875"/>
            <a:ext cx="3360737" cy="25193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55725" y="3254375"/>
            <a:ext cx="7231063" cy="30432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4775"/>
            <a:ext cx="4292600" cy="368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49913" y="6454775"/>
            <a:ext cx="4179887" cy="368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45926C3-182D-4273-9E7D-5B97F6D625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82201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9300" indent="-2873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52525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12900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74863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D551B3A-41BA-47FB-88DF-874088C16C58}" type="slidenum">
              <a:rPr lang="en-US" altLang="zh-CN" smtClean="0"/>
              <a:pPr>
                <a:spcBef>
                  <a:spcPct val="0"/>
                </a:spcBef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0506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9300" indent="-2873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52525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12900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74863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B157993-2F6C-43EE-9BA1-AD180193D419}" type="slidenum">
              <a:rPr lang="en-US" altLang="zh-CN" smtClean="0"/>
              <a:pPr>
                <a:spcBef>
                  <a:spcPct val="0"/>
                </a:spcBef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8554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9300" indent="-2873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52525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12900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74863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E36A427-D905-41B3-8C54-3B1CF0489742}" type="slidenum">
              <a:rPr lang="en-US" altLang="zh-CN" smtClean="0"/>
              <a:pPr>
                <a:spcBef>
                  <a:spcPct val="0"/>
                </a:spcBef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459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9300" indent="-2873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52525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12900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74863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2B81624-9670-445B-B556-69587A96F621}" type="slidenum">
              <a:rPr lang="en-US" altLang="zh-CN" smtClean="0"/>
              <a:pPr>
                <a:spcBef>
                  <a:spcPct val="0"/>
                </a:spcBef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9942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9300" indent="-2873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52525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12900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74863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BD64E2E-3797-4CDA-BEE5-7A80C353FAA5}" type="slidenum">
              <a:rPr lang="en-US" altLang="zh-CN" smtClean="0"/>
              <a:pPr>
                <a:spcBef>
                  <a:spcPct val="0"/>
                </a:spcBef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940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9300" indent="-2873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52525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12900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74863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4180140-7E5D-4BB4-B0AD-EC38F15153DA}" type="slidenum">
              <a:rPr lang="en-US" altLang="zh-CN" smtClean="0"/>
              <a:pPr>
                <a:spcBef>
                  <a:spcPct val="0"/>
                </a:spcBef>
              </a:pPr>
              <a:t>24</a:t>
            </a:fld>
            <a:endParaRPr lang="en-US" altLang="zh-CN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1934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9300" indent="-2873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52525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12900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74863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4C2672D-F2A2-47E2-8689-986D42298A13}" type="slidenum">
              <a:rPr lang="en-US" altLang="zh-CN" smtClean="0"/>
              <a:pPr>
                <a:spcBef>
                  <a:spcPct val="0"/>
                </a:spcBef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2724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9300" indent="-2873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52525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12900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74863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F0974A3-856F-4393-8C6C-DC0A1D5F1C04}" type="slidenum">
              <a:rPr lang="en-US" altLang="zh-CN" smtClean="0"/>
              <a:pPr>
                <a:spcBef>
                  <a:spcPct val="0"/>
                </a:spcBef>
              </a:pPr>
              <a:t>26</a:t>
            </a:fld>
            <a:endParaRPr lang="en-US" altLang="zh-CN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光电效应是光子和金属表面密集排列的“束缚电荷”的相互作用，而康普顿是光子和自由电子的相互作用。</a:t>
            </a:r>
          </a:p>
        </p:txBody>
      </p:sp>
    </p:spTree>
    <p:extLst>
      <p:ext uri="{BB962C8B-B14F-4D97-AF65-F5344CB8AC3E}">
        <p14:creationId xmlns:p14="http://schemas.microsoft.com/office/powerpoint/2010/main" val="2731430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9300" indent="-2873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52525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12900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74863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C09133D-8332-4743-A1CE-B8D1425451A7}" type="slidenum">
              <a:rPr lang="en-US" altLang="zh-CN" smtClean="0"/>
              <a:pPr>
                <a:spcBef>
                  <a:spcPct val="0"/>
                </a:spcBef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6801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4D3B00-72C3-42EE-9D63-2B45306159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0042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977299-8A42-4D2F-BF5D-E4358829E4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0765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601A2F-84DE-4B2C-BDDE-433745D5DC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2307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6B054A-1AB6-4755-B955-D65082E320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8312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EA44D2-9ABF-4DA8-9A26-1648F9C334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00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872AC1-B6FD-450F-88B0-1271BD483A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785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D5199-4BAE-4D19-981B-EB26FADD99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2261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D5089E-ABC2-4D71-ADFE-773B61CEB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384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8FB932-CB76-4E03-87C4-45D4D053B7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0952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6A2008-1561-45D7-AB7B-5B5B5EE998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2087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CBCC0D-E4B5-4133-B6D0-AA680A5760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5313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171534-AF12-4E7E-8521-66F4A962F8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2564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49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49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AA919EEA-E03D-4EDB-B89A-7BB03EF14D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3" Type="http://schemas.openxmlformats.org/officeDocument/2006/relationships/image" Target="../media/image10.png"/><Relationship Id="rId21" Type="http://schemas.openxmlformats.org/officeDocument/2006/relationships/image" Target="../media/image9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Relationship Id="rId22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6.wmf"/><Relationship Id="rId18" Type="http://schemas.openxmlformats.org/officeDocument/2006/relationships/image" Target="../media/image18.wmf"/><Relationship Id="rId3" Type="http://schemas.openxmlformats.org/officeDocument/2006/relationships/image" Target="../media/image21.png"/><Relationship Id="rId21" Type="http://schemas.openxmlformats.org/officeDocument/2006/relationships/oleObject" Target="../embeddings/oleObject18.bin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4.bin"/><Relationship Id="rId1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.wmf"/><Relationship Id="rId20" Type="http://schemas.openxmlformats.org/officeDocument/2006/relationships/image" Target="../media/image19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5.wmf"/><Relationship Id="rId24" Type="http://schemas.openxmlformats.org/officeDocument/2006/relationships/image" Target="../media/image24.png"/><Relationship Id="rId5" Type="http://schemas.openxmlformats.org/officeDocument/2006/relationships/image" Target="../media/image12.wmf"/><Relationship Id="rId15" Type="http://schemas.openxmlformats.org/officeDocument/2006/relationships/oleObject" Target="../embeddings/oleObject15.bin"/><Relationship Id="rId23" Type="http://schemas.openxmlformats.org/officeDocument/2006/relationships/image" Target="../media/image23.png"/><Relationship Id="rId10" Type="http://schemas.openxmlformats.org/officeDocument/2006/relationships/oleObject" Target="../embeddings/oleObject13.bin"/><Relationship Id="rId19" Type="http://schemas.openxmlformats.org/officeDocument/2006/relationships/oleObject" Target="../embeddings/oleObject17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4.emf"/><Relationship Id="rId14" Type="http://schemas.openxmlformats.org/officeDocument/2006/relationships/image" Target="../media/image22.png"/><Relationship Id="rId22" Type="http://schemas.openxmlformats.org/officeDocument/2006/relationships/image" Target="../media/image20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1.wmf"/><Relationship Id="rId11" Type="http://schemas.openxmlformats.org/officeDocument/2006/relationships/image" Target="../media/image45.jpeg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44.jpeg"/><Relationship Id="rId4" Type="http://schemas.openxmlformats.org/officeDocument/2006/relationships/image" Target="../media/image40.wmf"/><Relationship Id="rId9" Type="http://schemas.openxmlformats.org/officeDocument/2006/relationships/image" Target="../media/image43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53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50.emf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2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49.wmf"/><Relationship Id="rId19" Type="http://schemas.openxmlformats.org/officeDocument/2006/relationships/image" Target="../media/image54.png"/><Relationship Id="rId4" Type="http://schemas.openxmlformats.org/officeDocument/2006/relationships/image" Target="../media/image46.e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5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6.e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55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60.wmf"/><Relationship Id="rId5" Type="http://schemas.openxmlformats.org/officeDocument/2006/relationships/image" Target="../media/image57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5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61.wmf"/><Relationship Id="rId4" Type="http://schemas.openxmlformats.org/officeDocument/2006/relationships/oleObject" Target="../embeddings/oleObject36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6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63.wmf"/><Relationship Id="rId4" Type="http://schemas.openxmlformats.org/officeDocument/2006/relationships/oleObject" Target="../embeddings/oleObject37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6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66.wmf"/><Relationship Id="rId4" Type="http://schemas.openxmlformats.org/officeDocument/2006/relationships/oleObject" Target="../embeddings/oleObject39.bin"/><Relationship Id="rId9" Type="http://schemas.openxmlformats.org/officeDocument/2006/relationships/image" Target="../media/image68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0.emf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72.emf"/><Relationship Id="rId4" Type="http://schemas.openxmlformats.org/officeDocument/2006/relationships/image" Target="../media/image69.emf"/><Relationship Id="rId9" Type="http://schemas.openxmlformats.org/officeDocument/2006/relationships/oleObject" Target="../embeddings/oleObject45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73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0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4.e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75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80.wmf"/><Relationship Id="rId18" Type="http://schemas.openxmlformats.org/officeDocument/2006/relationships/oleObject" Target="../embeddings/oleObject55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52.bin"/><Relationship Id="rId17" Type="http://schemas.openxmlformats.org/officeDocument/2006/relationships/image" Target="../media/image8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4.bin"/><Relationship Id="rId20" Type="http://schemas.openxmlformats.org/officeDocument/2006/relationships/hyperlink" Target="&#24247;&#26222;&#39039;&#25928;&#24212;.exe" TargetMode="Externa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79.wmf"/><Relationship Id="rId5" Type="http://schemas.openxmlformats.org/officeDocument/2006/relationships/image" Target="../media/image76.wmf"/><Relationship Id="rId15" Type="http://schemas.openxmlformats.org/officeDocument/2006/relationships/image" Target="../media/image81.wmf"/><Relationship Id="rId10" Type="http://schemas.openxmlformats.org/officeDocument/2006/relationships/oleObject" Target="../embeddings/oleObject51.bin"/><Relationship Id="rId19" Type="http://schemas.openxmlformats.org/officeDocument/2006/relationships/image" Target="../media/image83.e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78.wmf"/><Relationship Id="rId14" Type="http://schemas.openxmlformats.org/officeDocument/2006/relationships/oleObject" Target="../embeddings/oleObject53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image" Target="../media/image88.wmf"/><Relationship Id="rId18" Type="http://schemas.openxmlformats.org/officeDocument/2006/relationships/oleObject" Target="../embeddings/oleObject63.bin"/><Relationship Id="rId3" Type="http://schemas.openxmlformats.org/officeDocument/2006/relationships/notesSlide" Target="../notesSlides/notesSlide9.xml"/><Relationship Id="rId21" Type="http://schemas.openxmlformats.org/officeDocument/2006/relationships/image" Target="../media/image92.wmf"/><Relationship Id="rId7" Type="http://schemas.openxmlformats.org/officeDocument/2006/relationships/image" Target="../media/image85.wmf"/><Relationship Id="rId12" Type="http://schemas.openxmlformats.org/officeDocument/2006/relationships/oleObject" Target="../embeddings/oleObject60.bin"/><Relationship Id="rId17" Type="http://schemas.openxmlformats.org/officeDocument/2006/relationships/image" Target="../media/image90.wmf"/><Relationship Id="rId25" Type="http://schemas.openxmlformats.org/officeDocument/2006/relationships/image" Target="../media/image9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2.bin"/><Relationship Id="rId20" Type="http://schemas.openxmlformats.org/officeDocument/2006/relationships/oleObject" Target="../embeddings/oleObject64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87.wmf"/><Relationship Id="rId24" Type="http://schemas.openxmlformats.org/officeDocument/2006/relationships/oleObject" Target="../embeddings/oleObject66.bin"/><Relationship Id="rId5" Type="http://schemas.openxmlformats.org/officeDocument/2006/relationships/image" Target="../media/image84.wmf"/><Relationship Id="rId15" Type="http://schemas.openxmlformats.org/officeDocument/2006/relationships/image" Target="../media/image89.wmf"/><Relationship Id="rId23" Type="http://schemas.openxmlformats.org/officeDocument/2006/relationships/image" Target="../media/image93.emf"/><Relationship Id="rId10" Type="http://schemas.openxmlformats.org/officeDocument/2006/relationships/oleObject" Target="../embeddings/oleObject59.bin"/><Relationship Id="rId19" Type="http://schemas.openxmlformats.org/officeDocument/2006/relationships/image" Target="../media/image91.w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86.wmf"/><Relationship Id="rId14" Type="http://schemas.openxmlformats.org/officeDocument/2006/relationships/oleObject" Target="../embeddings/oleObject61.bin"/><Relationship Id="rId22" Type="http://schemas.openxmlformats.org/officeDocument/2006/relationships/oleObject" Target="../embeddings/oleObject65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95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13" Type="http://schemas.openxmlformats.org/officeDocument/2006/relationships/oleObject" Target="../embeddings/oleObject73.bin"/><Relationship Id="rId18" Type="http://schemas.openxmlformats.org/officeDocument/2006/relationships/image" Target="../media/image103.emf"/><Relationship Id="rId3" Type="http://schemas.openxmlformats.org/officeDocument/2006/relationships/oleObject" Target="../embeddings/oleObject68.bin"/><Relationship Id="rId21" Type="http://schemas.openxmlformats.org/officeDocument/2006/relationships/oleObject" Target="../embeddings/oleObject77.bin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100.emf"/><Relationship Id="rId17" Type="http://schemas.openxmlformats.org/officeDocument/2006/relationships/oleObject" Target="../embeddings/oleObject7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2.emf"/><Relationship Id="rId20" Type="http://schemas.openxmlformats.org/officeDocument/2006/relationships/image" Target="../media/image104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7.emf"/><Relationship Id="rId11" Type="http://schemas.openxmlformats.org/officeDocument/2006/relationships/oleObject" Target="../embeddings/oleObject72.bin"/><Relationship Id="rId5" Type="http://schemas.openxmlformats.org/officeDocument/2006/relationships/oleObject" Target="../embeddings/oleObject69.bin"/><Relationship Id="rId15" Type="http://schemas.openxmlformats.org/officeDocument/2006/relationships/oleObject" Target="../embeddings/oleObject74.bin"/><Relationship Id="rId10" Type="http://schemas.openxmlformats.org/officeDocument/2006/relationships/image" Target="../media/image99.wmf"/><Relationship Id="rId19" Type="http://schemas.openxmlformats.org/officeDocument/2006/relationships/oleObject" Target="../embeddings/oleObject76.bin"/><Relationship Id="rId4" Type="http://schemas.openxmlformats.org/officeDocument/2006/relationships/image" Target="../media/image96.emf"/><Relationship Id="rId9" Type="http://schemas.openxmlformats.org/officeDocument/2006/relationships/oleObject" Target="../embeddings/oleObject71.bin"/><Relationship Id="rId14" Type="http://schemas.openxmlformats.org/officeDocument/2006/relationships/image" Target="../media/image101.wmf"/><Relationship Id="rId22" Type="http://schemas.openxmlformats.org/officeDocument/2006/relationships/image" Target="../media/image105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emf"/><Relationship Id="rId13" Type="http://schemas.openxmlformats.org/officeDocument/2006/relationships/oleObject" Target="../embeddings/oleObject83.bin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110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2.e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7.e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4.bin"/><Relationship Id="rId10" Type="http://schemas.openxmlformats.org/officeDocument/2006/relationships/image" Target="../media/image109.emf"/><Relationship Id="rId4" Type="http://schemas.openxmlformats.org/officeDocument/2006/relationships/image" Target="../media/image106.e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111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116.w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88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emf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8.e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117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emf"/><Relationship Id="rId13" Type="http://schemas.openxmlformats.org/officeDocument/2006/relationships/oleObject" Target="../embeddings/oleObject97.bin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12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1.e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123.emf"/><Relationship Id="rId4" Type="http://schemas.openxmlformats.org/officeDocument/2006/relationships/image" Target="../media/image120.e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125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61.wmf"/><Relationship Id="rId4" Type="http://schemas.openxmlformats.org/officeDocument/2006/relationships/oleObject" Target="../embeddings/oleObject98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12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7D514E1-BEB4-4AB3-AECA-0F04FF893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44" y="2914622"/>
            <a:ext cx="2961498" cy="1461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Text Box 4">
            <a:extLst>
              <a:ext uri="{FF2B5EF4-FFF2-40B4-BE49-F238E27FC236}">
                <a16:creationId xmlns:a16="http://schemas.microsoft.com/office/drawing/2014/main" id="{E5B8B9C7-6CA4-4E39-9186-64F85B63D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0587" y="118417"/>
            <a:ext cx="2844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3300"/>
                </a:solidFill>
              </a:rPr>
              <a:t>内容回顾</a:t>
            </a:r>
          </a:p>
        </p:txBody>
      </p:sp>
      <p:sp>
        <p:nvSpPr>
          <p:cNvPr id="46084" name="矩形 1">
            <a:extLst>
              <a:ext uri="{FF2B5EF4-FFF2-40B4-BE49-F238E27FC236}">
                <a16:creationId xmlns:a16="http://schemas.microsoft.com/office/drawing/2014/main" id="{C9BF08DC-EBDB-48A8-B356-3656D81C4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692150"/>
            <a:ext cx="53355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121DFA"/>
                </a:solidFill>
                <a:cs typeface="Times New Roman" panose="02020603050405020304" pitchFamily="18" charset="0"/>
              </a:rPr>
              <a:t>椭圆偏振光与圆偏振光的产生</a:t>
            </a:r>
          </a:p>
        </p:txBody>
      </p:sp>
      <p:sp>
        <p:nvSpPr>
          <p:cNvPr id="68" name="Text Box 2">
            <a:extLst>
              <a:ext uri="{FF2B5EF4-FFF2-40B4-BE49-F238E27FC236}">
                <a16:creationId xmlns:a16="http://schemas.microsoft.com/office/drawing/2014/main" id="{D813C40F-867B-4417-ADFE-0D2052C46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9675" y="1330325"/>
            <a:ext cx="36004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</a:rPr>
              <a:t>两垂直光振动的合成</a:t>
            </a:r>
          </a:p>
        </p:txBody>
      </p:sp>
      <p:graphicFrame>
        <p:nvGraphicFramePr>
          <p:cNvPr id="69" name="Object 9">
            <a:extLst>
              <a:ext uri="{FF2B5EF4-FFF2-40B4-BE49-F238E27FC236}">
                <a16:creationId xmlns:a16="http://schemas.microsoft.com/office/drawing/2014/main" id="{53A96519-460D-4C4D-8040-BE85A2B917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30700" y="2492375"/>
          <a:ext cx="10445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7" name="Equation" r:id="rId4" imgW="1028700" imgH="381000" progId="Equation.DSMT4">
                  <p:embed/>
                </p:oleObj>
              </mc:Choice>
              <mc:Fallback>
                <p:oleObj name="Equation" r:id="rId4" imgW="1028700" imgH="381000" progId="Equation.DSMT4">
                  <p:embed/>
                  <p:pic>
                    <p:nvPicPr>
                      <p:cNvPr id="69" name="Object 9">
                        <a:extLst>
                          <a:ext uri="{FF2B5EF4-FFF2-40B4-BE49-F238E27FC236}">
                            <a16:creationId xmlns:a16="http://schemas.microsoft.com/office/drawing/2014/main" id="{53A96519-460D-4C4D-8040-BE85A2B917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700" y="2492375"/>
                        <a:ext cx="10445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AutoShape 10">
            <a:extLst>
              <a:ext uri="{FF2B5EF4-FFF2-40B4-BE49-F238E27FC236}">
                <a16:creationId xmlns:a16="http://schemas.microsoft.com/office/drawing/2014/main" id="{295C7DB4-AE50-4D28-B96B-9C57C24505D2}"/>
              </a:ext>
            </a:extLst>
          </p:cNvPr>
          <p:cNvSpPr>
            <a:spLocks/>
          </p:cNvSpPr>
          <p:nvPr/>
        </p:nvSpPr>
        <p:spPr bwMode="auto">
          <a:xfrm>
            <a:off x="4025900" y="2139950"/>
            <a:ext cx="287338" cy="668338"/>
          </a:xfrm>
          <a:prstGeom prst="leftBrace">
            <a:avLst>
              <a:gd name="adj1" fmla="val 22786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3300"/>
              </a:solidFill>
            </a:endParaRPr>
          </a:p>
        </p:txBody>
      </p:sp>
      <p:sp>
        <p:nvSpPr>
          <p:cNvPr id="71" name="Text Box 11">
            <a:extLst>
              <a:ext uri="{FF2B5EF4-FFF2-40B4-BE49-F238E27FC236}">
                <a16:creationId xmlns:a16="http://schemas.microsoft.com/office/drawing/2014/main" id="{A4E80A0C-8C30-4AA5-A828-C9A75FEB0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5063" y="2030413"/>
            <a:ext cx="19812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合振动为</a:t>
            </a:r>
            <a:endParaRPr kumimoji="1" lang="en-US" altLang="zh-CN" sz="2400" b="1">
              <a:solidFill>
                <a:srgbClr val="00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任一椭圆</a:t>
            </a:r>
          </a:p>
        </p:txBody>
      </p:sp>
      <p:sp>
        <p:nvSpPr>
          <p:cNvPr id="72" name="Text Box 12">
            <a:extLst>
              <a:ext uri="{FF2B5EF4-FFF2-40B4-BE49-F238E27FC236}">
                <a16:creationId xmlns:a16="http://schemas.microsoft.com/office/drawing/2014/main" id="{C2C7AC65-D44D-4C09-B00B-E6F6747E0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4288" y="2038350"/>
            <a:ext cx="13509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</a:rPr>
              <a:t>正椭圆</a:t>
            </a:r>
          </a:p>
        </p:txBody>
      </p:sp>
      <p:sp>
        <p:nvSpPr>
          <p:cNvPr id="73" name="Text Box 13">
            <a:extLst>
              <a:ext uri="{FF2B5EF4-FFF2-40B4-BE49-F238E27FC236}">
                <a16:creationId xmlns:a16="http://schemas.microsoft.com/office/drawing/2014/main" id="{8F7FFE98-0F51-4DAA-ADED-5538E8415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4288" y="2586038"/>
            <a:ext cx="12938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</a:rPr>
              <a:t>圆</a:t>
            </a:r>
          </a:p>
        </p:txBody>
      </p:sp>
      <p:graphicFrame>
        <p:nvGraphicFramePr>
          <p:cNvPr id="74" name="Object 16">
            <a:extLst>
              <a:ext uri="{FF2B5EF4-FFF2-40B4-BE49-F238E27FC236}">
                <a16:creationId xmlns:a16="http://schemas.microsoft.com/office/drawing/2014/main" id="{C7308237-EBA9-437D-81EB-E40477DE3F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1125538"/>
          <a:ext cx="243840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8" name="Equation" r:id="rId6" imgW="2933700" imgH="1054100" progId="Equation.DSMT4">
                  <p:embed/>
                </p:oleObj>
              </mc:Choice>
              <mc:Fallback>
                <p:oleObj name="Equation" r:id="rId6" imgW="2933700" imgH="1054100" progId="Equation.DSMT4">
                  <p:embed/>
                  <p:pic>
                    <p:nvPicPr>
                      <p:cNvPr id="74" name="Object 16">
                        <a:extLst>
                          <a:ext uri="{FF2B5EF4-FFF2-40B4-BE49-F238E27FC236}">
                            <a16:creationId xmlns:a16="http://schemas.microsoft.com/office/drawing/2014/main" id="{C7308237-EBA9-437D-81EB-E40477DE3F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125538"/>
                        <a:ext cx="2438400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AutoShape 17">
            <a:extLst>
              <a:ext uri="{FF2B5EF4-FFF2-40B4-BE49-F238E27FC236}">
                <a16:creationId xmlns:a16="http://schemas.microsoft.com/office/drawing/2014/main" id="{6F4D1468-1DCC-480B-BB1A-F049D29FC06D}"/>
              </a:ext>
            </a:extLst>
          </p:cNvPr>
          <p:cNvSpPr>
            <a:spLocks/>
          </p:cNvSpPr>
          <p:nvPr/>
        </p:nvSpPr>
        <p:spPr bwMode="auto">
          <a:xfrm>
            <a:off x="1868488" y="1244600"/>
            <a:ext cx="260350" cy="647700"/>
          </a:xfrm>
          <a:prstGeom prst="leftBrace">
            <a:avLst>
              <a:gd name="adj1" fmla="val 2463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3300"/>
              </a:solidFill>
            </a:endParaRPr>
          </a:p>
        </p:txBody>
      </p:sp>
      <p:graphicFrame>
        <p:nvGraphicFramePr>
          <p:cNvPr id="76" name="Object 18">
            <a:extLst>
              <a:ext uri="{FF2B5EF4-FFF2-40B4-BE49-F238E27FC236}">
                <a16:creationId xmlns:a16="http://schemas.microsoft.com/office/drawing/2014/main" id="{9410FC82-E4E1-48FD-811E-53373981EC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2125" y="1844675"/>
          <a:ext cx="195262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9" name="Equation" r:id="rId8" imgW="1993900" imgH="736600" progId="Equation.DSMT4">
                  <p:embed/>
                </p:oleObj>
              </mc:Choice>
              <mc:Fallback>
                <p:oleObj name="Equation" r:id="rId8" imgW="1993900" imgH="736600" progId="Equation.DSMT4">
                  <p:embed/>
                  <p:pic>
                    <p:nvPicPr>
                      <p:cNvPr id="76" name="Object 18">
                        <a:extLst>
                          <a:ext uri="{FF2B5EF4-FFF2-40B4-BE49-F238E27FC236}">
                            <a16:creationId xmlns:a16="http://schemas.microsoft.com/office/drawing/2014/main" id="{9410FC82-E4E1-48FD-811E-53373981EC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25" y="1844675"/>
                        <a:ext cx="1952625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19">
            <a:extLst>
              <a:ext uri="{FF2B5EF4-FFF2-40B4-BE49-F238E27FC236}">
                <a16:creationId xmlns:a16="http://schemas.microsoft.com/office/drawing/2014/main" id="{33F27679-6A15-430F-8334-F080CA3099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4063" y="2417763"/>
          <a:ext cx="342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0" name="Equation" r:id="rId10" imgW="342603" imgH="215713" progId="Equation.DSMT4">
                  <p:embed/>
                </p:oleObj>
              </mc:Choice>
              <mc:Fallback>
                <p:oleObj name="Equation" r:id="rId10" imgW="342603" imgH="215713" progId="Equation.DSMT4">
                  <p:embed/>
                  <p:pic>
                    <p:nvPicPr>
                      <p:cNvPr id="77" name="Object 19">
                        <a:extLst>
                          <a:ext uri="{FF2B5EF4-FFF2-40B4-BE49-F238E27FC236}">
                            <a16:creationId xmlns:a16="http://schemas.microsoft.com/office/drawing/2014/main" id="{33F27679-6A15-430F-8334-F080CA3099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3" y="2417763"/>
                        <a:ext cx="3429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Rectangle 20">
            <a:extLst>
              <a:ext uri="{FF2B5EF4-FFF2-40B4-BE49-F238E27FC236}">
                <a16:creationId xmlns:a16="http://schemas.microsoft.com/office/drawing/2014/main" id="{A7C6C582-4CDF-43E4-96FF-FC955BE1E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303338"/>
            <a:ext cx="3168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</a:rPr>
              <a:t>光振动：</a:t>
            </a:r>
          </a:p>
        </p:txBody>
      </p:sp>
      <p:graphicFrame>
        <p:nvGraphicFramePr>
          <p:cNvPr id="79" name="Object 46">
            <a:extLst>
              <a:ext uri="{FF2B5EF4-FFF2-40B4-BE49-F238E27FC236}">
                <a16:creationId xmlns:a16="http://schemas.microsoft.com/office/drawing/2014/main" id="{7790CCB0-D704-4144-993C-9A4F597391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2287588"/>
          <a:ext cx="120015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1" name="Equation" r:id="rId12" imgW="1129810" imgH="330057" progId="Equation.DSMT4">
                  <p:embed/>
                </p:oleObj>
              </mc:Choice>
              <mc:Fallback>
                <p:oleObj name="Equation" r:id="rId12" imgW="1129810" imgH="330057" progId="Equation.DSMT4">
                  <p:embed/>
                  <p:pic>
                    <p:nvPicPr>
                      <p:cNvPr id="79" name="Object 46">
                        <a:extLst>
                          <a:ext uri="{FF2B5EF4-FFF2-40B4-BE49-F238E27FC236}">
                            <a16:creationId xmlns:a16="http://schemas.microsoft.com/office/drawing/2014/main" id="{7790CCB0-D704-4144-993C-9A4F597391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2287588"/>
                        <a:ext cx="120015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5">
            <a:extLst>
              <a:ext uri="{FF2B5EF4-FFF2-40B4-BE49-F238E27FC236}">
                <a16:creationId xmlns:a16="http://schemas.microsoft.com/office/drawing/2014/main" id="{85A0C958-18B0-4587-83F7-25266915A5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0174" y="4514850"/>
          <a:ext cx="442912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2" name="Equation" r:id="rId14" imgW="545626" imgH="317225" progId="Equation.DSMT4">
                  <p:embed/>
                </p:oleObj>
              </mc:Choice>
              <mc:Fallback>
                <p:oleObj name="Equation" r:id="rId14" imgW="545626" imgH="317225" progId="Equation.DSMT4">
                  <p:embed/>
                  <p:pic>
                    <p:nvPicPr>
                      <p:cNvPr id="106" name="Object 5">
                        <a:extLst>
                          <a:ext uri="{FF2B5EF4-FFF2-40B4-BE49-F238E27FC236}">
                            <a16:creationId xmlns:a16="http://schemas.microsoft.com/office/drawing/2014/main" id="{85A0C958-18B0-4587-83F7-25266915A5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0174" y="4514850"/>
                        <a:ext cx="442912" cy="30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6">
            <a:extLst>
              <a:ext uri="{FF2B5EF4-FFF2-40B4-BE49-F238E27FC236}">
                <a16:creationId xmlns:a16="http://schemas.microsoft.com/office/drawing/2014/main" id="{94A7BA0B-79AB-47E9-B9E2-4637A7010F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6986" y="4870450"/>
          <a:ext cx="15494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3" name="Equation" r:id="rId16" imgW="1676400" imgH="673100" progId="Equation.DSMT4">
                  <p:embed/>
                </p:oleObj>
              </mc:Choice>
              <mc:Fallback>
                <p:oleObj name="Equation" r:id="rId16" imgW="1676400" imgH="673100" progId="Equation.DSMT4">
                  <p:embed/>
                  <p:pic>
                    <p:nvPicPr>
                      <p:cNvPr id="107" name="Object 6">
                        <a:extLst>
                          <a:ext uri="{FF2B5EF4-FFF2-40B4-BE49-F238E27FC236}">
                            <a16:creationId xmlns:a16="http://schemas.microsoft.com/office/drawing/2014/main" id="{94A7BA0B-79AB-47E9-B9E2-4637A7010F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986" y="4870450"/>
                        <a:ext cx="15494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AutoShape 7">
            <a:extLst>
              <a:ext uri="{FF2B5EF4-FFF2-40B4-BE49-F238E27FC236}">
                <a16:creationId xmlns:a16="http://schemas.microsoft.com/office/drawing/2014/main" id="{A927B432-21A6-4C31-A2D3-1D59B1D10A1F}"/>
              </a:ext>
            </a:extLst>
          </p:cNvPr>
          <p:cNvSpPr>
            <a:spLocks/>
          </p:cNvSpPr>
          <p:nvPr/>
        </p:nvSpPr>
        <p:spPr bwMode="auto">
          <a:xfrm>
            <a:off x="1586161" y="4618037"/>
            <a:ext cx="250825" cy="684213"/>
          </a:xfrm>
          <a:prstGeom prst="leftBrace">
            <a:avLst>
              <a:gd name="adj1" fmla="val 22732"/>
              <a:gd name="adj2" fmla="val 50000"/>
            </a:avLst>
          </a:prstGeom>
          <a:noFill/>
          <a:ln w="3810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rgbClr val="00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 Box 10">
            <a:extLst>
              <a:ext uri="{FF2B5EF4-FFF2-40B4-BE49-F238E27FC236}">
                <a16:creationId xmlns:a16="http://schemas.microsoft.com/office/drawing/2014/main" id="{17F77734-81BC-4385-A6B7-6581810F1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086" y="5517232"/>
            <a:ext cx="7580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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</a:t>
            </a:r>
            <a:r>
              <a:rPr kumimoji="1"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时晶片出来的光是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椭圆偏振光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	</a:t>
            </a:r>
          </a:p>
        </p:txBody>
      </p:sp>
      <p:sp>
        <p:nvSpPr>
          <p:cNvPr id="112" name="Text Box 11">
            <a:extLst>
              <a:ext uri="{FF2B5EF4-FFF2-40B4-BE49-F238E27FC236}">
                <a16:creationId xmlns:a16="http://schemas.microsoft.com/office/drawing/2014/main" id="{2CB626CA-C24B-40D2-A0F4-DD0CDFB6D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6309320"/>
            <a:ext cx="84969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kumimoji="1"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 = k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=1,2…)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或者</a:t>
            </a:r>
            <a:r>
              <a:rPr kumimoji="1" lang="en-US" altLang="zh-CN" sz="2400" b="1" i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kumimoji="1" lang="en-US" altLang="zh-CN" sz="24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=0,90°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时，仍为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线偏振光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16" name="Rectangle 43">
            <a:extLst>
              <a:ext uri="{FF2B5EF4-FFF2-40B4-BE49-F238E27FC236}">
                <a16:creationId xmlns:a16="http://schemas.microsoft.com/office/drawing/2014/main" id="{C91D62A7-A132-4D42-AD91-D24F84508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6099" y="5877272"/>
            <a:ext cx="5664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=45°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kumimoji="1" lang="en-US" altLang="zh-CN" sz="2400" b="1" i="1" dirty="0" err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i="1" baseline="-25000" dirty="0" err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400" b="1" i="1" dirty="0" err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 err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CN" sz="2400" b="1" baseline="-250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，是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圆偏振光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117" name="Object 44">
            <a:extLst>
              <a:ext uri="{FF2B5EF4-FFF2-40B4-BE49-F238E27FC236}">
                <a16:creationId xmlns:a16="http://schemas.microsoft.com/office/drawing/2014/main" id="{49452FAD-8289-42FB-AE78-7F23B3364C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2149" y="4402137"/>
          <a:ext cx="138747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4" name="Equation" r:id="rId18" imgW="1358310" imgH="431613" progId="Equation.DSMT4">
                  <p:embed/>
                </p:oleObj>
              </mc:Choice>
              <mc:Fallback>
                <p:oleObj name="Equation" r:id="rId18" imgW="1358310" imgH="431613" progId="Equation.DSMT4">
                  <p:embed/>
                  <p:pic>
                    <p:nvPicPr>
                      <p:cNvPr id="117" name="Object 44">
                        <a:extLst>
                          <a:ext uri="{FF2B5EF4-FFF2-40B4-BE49-F238E27FC236}">
                            <a16:creationId xmlns:a16="http://schemas.microsoft.com/office/drawing/2014/main" id="{49452FAD-8289-42FB-AE78-7F23B3364C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2149" y="4402137"/>
                        <a:ext cx="138747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46">
            <a:extLst>
              <a:ext uri="{FF2B5EF4-FFF2-40B4-BE49-F238E27FC236}">
                <a16:creationId xmlns:a16="http://schemas.microsoft.com/office/drawing/2014/main" id="{D3CA3706-6EEE-4549-B051-5FF2C3D669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286" y="4870450"/>
          <a:ext cx="1901825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5" name="Equation" r:id="rId20" imgW="2057400" imgH="673100" progId="Equation.DSMT4">
                  <p:embed/>
                </p:oleObj>
              </mc:Choice>
              <mc:Fallback>
                <p:oleObj name="Equation" r:id="rId20" imgW="2057400" imgH="673100" progId="Equation.DSMT4">
                  <p:embed/>
                  <p:pic>
                    <p:nvPicPr>
                      <p:cNvPr id="118" name="Object 46">
                        <a:extLst>
                          <a:ext uri="{FF2B5EF4-FFF2-40B4-BE49-F238E27FC236}">
                            <a16:creationId xmlns:a16="http://schemas.microsoft.com/office/drawing/2014/main" id="{D3CA3706-6EEE-4549-B051-5FF2C3D669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286" y="4870450"/>
                        <a:ext cx="1901825" cy="65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D3D0CB4A-2185-4D8D-96A4-CD15E878C9E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269" y="2994023"/>
            <a:ext cx="1991411" cy="1461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 Box 2">
            <a:extLst>
              <a:ext uri="{FF2B5EF4-FFF2-40B4-BE49-F238E27FC236}">
                <a16:creationId xmlns:a16="http://schemas.microsoft.com/office/drawing/2014/main" id="{349BCA3D-7F5C-4C71-B610-8C60DA3AA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436" y="4527550"/>
            <a:ext cx="134778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</a:rPr>
              <a:t>双折射晶体</a:t>
            </a:r>
          </a:p>
        </p:txBody>
      </p:sp>
    </p:spTree>
    <p:extLst>
      <p:ext uri="{BB962C8B-B14F-4D97-AF65-F5344CB8AC3E}">
        <p14:creationId xmlns:p14="http://schemas.microsoft.com/office/powerpoint/2010/main" val="592064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75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75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75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utoUpdateAnimBg="0"/>
      <p:bldP spid="70" grpId="0" animBg="1"/>
      <p:bldP spid="71" grpId="0" autoUpdateAnimBg="0"/>
      <p:bldP spid="72" grpId="0" autoUpdateAnimBg="0"/>
      <p:bldP spid="73" grpId="0" autoUpdateAnimBg="0"/>
      <p:bldP spid="75" grpId="0" animBg="1"/>
      <p:bldP spid="78" grpId="0" autoUpdateAnimBg="0"/>
      <p:bldP spid="108" grpId="0" animBg="1"/>
      <p:bldP spid="111" grpId="0" autoUpdateAnimBg="0"/>
      <p:bldP spid="112" grpId="0" autoUpdateAnimBg="0"/>
      <p:bldP spid="116" grpId="0" autoUpdateAnimBg="0"/>
      <p:bldP spid="35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41EDB0B-126B-4512-BD24-C0F808978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592" y="1611512"/>
            <a:ext cx="2153317" cy="1209673"/>
          </a:xfrm>
          <a:prstGeom prst="rect">
            <a:avLst/>
          </a:prstGeom>
        </p:spPr>
      </p:pic>
      <p:sp>
        <p:nvSpPr>
          <p:cNvPr id="29699" name="Text Box 3">
            <a:extLst>
              <a:ext uri="{FF2B5EF4-FFF2-40B4-BE49-F238E27FC236}">
                <a16:creationId xmlns:a16="http://schemas.microsoft.com/office/drawing/2014/main" id="{DE99597F-9870-4EA5-B29D-E18F537F1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548680"/>
            <a:ext cx="489609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波片，</a:t>
            </a:r>
            <a:r>
              <a:rPr kumimoji="1" lang="zh-CN" altLang="en-US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/4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波片</a:t>
            </a:r>
            <a:endParaRPr kumimoji="1" lang="en-US" altLang="zh-CN" sz="2800" b="1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endParaRPr kumimoji="1" lang="en-US" altLang="zh-CN" sz="2800" b="1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9700" name="Object 4">
            <a:extLst>
              <a:ext uri="{FF2B5EF4-FFF2-40B4-BE49-F238E27FC236}">
                <a16:creationId xmlns:a16="http://schemas.microsoft.com/office/drawing/2014/main" id="{D8EAB2A3-5506-4A99-98C8-702FC2DD43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062968"/>
              </p:ext>
            </p:extLst>
          </p:nvPr>
        </p:nvGraphicFramePr>
        <p:xfrm>
          <a:off x="546475" y="1115418"/>
          <a:ext cx="210026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2" name="Equation" r:id="rId4" imgW="1892300" imgH="673100" progId="Equation.DSMT4">
                  <p:embed/>
                </p:oleObj>
              </mc:Choice>
              <mc:Fallback>
                <p:oleObj name="Equation" r:id="rId4" imgW="1892300" imgH="673100" progId="Equation.DSMT4">
                  <p:embed/>
                  <p:pic>
                    <p:nvPicPr>
                      <p:cNvPr id="29700" name="Object 4">
                        <a:extLst>
                          <a:ext uri="{FF2B5EF4-FFF2-40B4-BE49-F238E27FC236}">
                            <a16:creationId xmlns:a16="http://schemas.microsoft.com/office/drawing/2014/main" id="{D8EAB2A3-5506-4A99-98C8-702FC2DD43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475" y="1115418"/>
                        <a:ext cx="2100263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5">
            <a:extLst>
              <a:ext uri="{FF2B5EF4-FFF2-40B4-BE49-F238E27FC236}">
                <a16:creationId xmlns:a16="http://schemas.microsoft.com/office/drawing/2014/main" id="{86949C21-8ECB-4D1C-A869-4D7A322079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23024"/>
              </p:ext>
            </p:extLst>
          </p:nvPr>
        </p:nvGraphicFramePr>
        <p:xfrm>
          <a:off x="546475" y="1818681"/>
          <a:ext cx="2557463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3" name="Equation" r:id="rId6" imgW="2730500" imgH="774700" progId="Equation.DSMT4">
                  <p:embed/>
                </p:oleObj>
              </mc:Choice>
              <mc:Fallback>
                <p:oleObj name="Equation" r:id="rId6" imgW="2730500" imgH="774700" progId="Equation.DSMT4">
                  <p:embed/>
                  <p:pic>
                    <p:nvPicPr>
                      <p:cNvPr id="29701" name="Object 5">
                        <a:extLst>
                          <a:ext uri="{FF2B5EF4-FFF2-40B4-BE49-F238E27FC236}">
                            <a16:creationId xmlns:a16="http://schemas.microsoft.com/office/drawing/2014/main" id="{86949C21-8ECB-4D1C-A869-4D7A322079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475" y="1818681"/>
                        <a:ext cx="2557463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Text Box 6">
            <a:extLst>
              <a:ext uri="{FF2B5EF4-FFF2-40B4-BE49-F238E27FC236}">
                <a16:creationId xmlns:a16="http://schemas.microsoft.com/office/drawing/2014/main" id="{6C0012F4-E172-4703-8CB7-BA8DD919E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375" y="1985368"/>
            <a:ext cx="2301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符合</a:t>
            </a:r>
          </a:p>
        </p:txBody>
      </p:sp>
      <p:graphicFrame>
        <p:nvGraphicFramePr>
          <p:cNvPr id="29703" name="Object 7">
            <a:extLst>
              <a:ext uri="{FF2B5EF4-FFF2-40B4-BE49-F238E27FC236}">
                <a16:creationId xmlns:a16="http://schemas.microsoft.com/office/drawing/2014/main" id="{79497DF0-EC7F-48C0-A0BF-ACDCFF5551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091023"/>
              </p:ext>
            </p:extLst>
          </p:nvPr>
        </p:nvGraphicFramePr>
        <p:xfrm>
          <a:off x="4820025" y="2021881"/>
          <a:ext cx="130968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4" name="公式" r:id="rId8" imgW="866857" imgH="209520" progId="Equation.3">
                  <p:embed/>
                </p:oleObj>
              </mc:Choice>
              <mc:Fallback>
                <p:oleObj name="公式" r:id="rId8" imgW="866857" imgH="209520" progId="Equation.3">
                  <p:embed/>
                  <p:pic>
                    <p:nvPicPr>
                      <p:cNvPr id="29703" name="Object 7">
                        <a:extLst>
                          <a:ext uri="{FF2B5EF4-FFF2-40B4-BE49-F238E27FC236}">
                            <a16:creationId xmlns:a16="http://schemas.microsoft.com/office/drawing/2014/main" id="{79497DF0-EC7F-48C0-A0BF-ACDCFF5551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0025" y="2021881"/>
                        <a:ext cx="1309688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Text Box 8">
            <a:extLst>
              <a:ext uri="{FF2B5EF4-FFF2-40B4-BE49-F238E27FC236}">
                <a16:creationId xmlns:a16="http://schemas.microsoft.com/office/drawing/2014/main" id="{D4553B43-3D61-447E-B884-BB0238D21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2564904"/>
            <a:ext cx="685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线偏振光入射</a:t>
            </a:r>
            <a:r>
              <a:rPr kumimoji="1"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波片时，出来</a:t>
            </a:r>
          </a:p>
        </p:txBody>
      </p:sp>
      <p:graphicFrame>
        <p:nvGraphicFramePr>
          <p:cNvPr id="29706" name="Object 10">
            <a:extLst>
              <a:ext uri="{FF2B5EF4-FFF2-40B4-BE49-F238E27FC236}">
                <a16:creationId xmlns:a16="http://schemas.microsoft.com/office/drawing/2014/main" id="{9DBDD4EA-76D2-4799-917A-C0519C9180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2495358"/>
              </p:ext>
            </p:extLst>
          </p:nvPr>
        </p:nvGraphicFramePr>
        <p:xfrm>
          <a:off x="2930900" y="1115418"/>
          <a:ext cx="257651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5" name="Equation" r:id="rId10" imgW="2273300" imgH="774700" progId="Equation.DSMT4">
                  <p:embed/>
                </p:oleObj>
              </mc:Choice>
              <mc:Fallback>
                <p:oleObj name="Equation" r:id="rId10" imgW="2273300" imgH="774700" progId="Equation.DSMT4">
                  <p:embed/>
                  <p:pic>
                    <p:nvPicPr>
                      <p:cNvPr id="29706" name="Object 10">
                        <a:extLst>
                          <a:ext uri="{FF2B5EF4-FFF2-40B4-BE49-F238E27FC236}">
                            <a16:creationId xmlns:a16="http://schemas.microsoft.com/office/drawing/2014/main" id="{9DBDD4EA-76D2-4799-917A-C0519C9180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900" y="1115418"/>
                        <a:ext cx="2576513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4" name="Rectangle 18">
            <a:extLst>
              <a:ext uri="{FF2B5EF4-FFF2-40B4-BE49-F238E27FC236}">
                <a16:creationId xmlns:a16="http://schemas.microsoft.com/office/drawing/2014/main" id="{6DC1C497-0590-4C51-83BB-47537772C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1399" y="2605815"/>
            <a:ext cx="2628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121DFA"/>
                </a:solidFill>
                <a:ea typeface="楷体_GB2312"/>
                <a:cs typeface="楷体_GB2312"/>
              </a:rPr>
              <a:t>仍是线偏振光</a:t>
            </a:r>
            <a:endParaRPr kumimoji="1" lang="zh-CN" altLang="en-US" sz="2800" b="1" dirty="0">
              <a:solidFill>
                <a:srgbClr val="121DFA"/>
              </a:solidFill>
            </a:endParaRPr>
          </a:p>
        </p:txBody>
      </p:sp>
      <p:graphicFrame>
        <p:nvGraphicFramePr>
          <p:cNvPr id="29716" name="Object 20">
            <a:extLst>
              <a:ext uri="{FF2B5EF4-FFF2-40B4-BE49-F238E27FC236}">
                <a16:creationId xmlns:a16="http://schemas.microsoft.com/office/drawing/2014/main" id="{3C156812-9F14-4EF2-9AA9-179852F5D7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107477"/>
              </p:ext>
            </p:extLst>
          </p:nvPr>
        </p:nvGraphicFramePr>
        <p:xfrm>
          <a:off x="3180138" y="2113956"/>
          <a:ext cx="649287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6" name="Equation" r:id="rId12" imgW="482391" imgH="203112" progId="Equation.DSMT4">
                  <p:embed/>
                </p:oleObj>
              </mc:Choice>
              <mc:Fallback>
                <p:oleObj name="Equation" r:id="rId12" imgW="482391" imgH="203112" progId="Equation.DSMT4">
                  <p:embed/>
                  <p:pic>
                    <p:nvPicPr>
                      <p:cNvPr id="29716" name="Object 20">
                        <a:extLst>
                          <a:ext uri="{FF2B5EF4-FFF2-40B4-BE49-F238E27FC236}">
                            <a16:creationId xmlns:a16="http://schemas.microsoft.com/office/drawing/2014/main" id="{3C156812-9F14-4EF2-9AA9-179852F5D7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0138" y="2113956"/>
                        <a:ext cx="649287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5" name="TextBox 22">
            <a:extLst>
              <a:ext uri="{FF2B5EF4-FFF2-40B4-BE49-F238E27FC236}">
                <a16:creationId xmlns:a16="http://schemas.microsoft.com/office/drawing/2014/main" id="{5E059304-5AC4-49FE-A19A-7C0F0CDF3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Box 8">
            <a:extLst>
              <a:ext uri="{FF2B5EF4-FFF2-40B4-BE49-F238E27FC236}">
                <a16:creationId xmlns:a16="http://schemas.microsoft.com/office/drawing/2014/main" id="{2459D835-C86B-466E-AC22-9678126E0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450" y="3068960"/>
            <a:ext cx="84264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圆偏振光入射</a:t>
            </a:r>
            <a:r>
              <a:rPr kumimoji="1"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波片时，</a:t>
            </a:r>
            <a:r>
              <a:rPr kumimoji="1" lang="zh-CN" altLang="en-US" sz="2800" b="1" dirty="0">
                <a:solidFill>
                  <a:srgbClr val="121DFA"/>
                </a:solidFill>
                <a:ea typeface="楷体_GB2312"/>
                <a:cs typeface="楷体_GB2312"/>
              </a:rPr>
              <a:t>左旋</a:t>
            </a:r>
            <a:r>
              <a:rPr kumimoji="1" lang="en-US" altLang="zh-CN" sz="2800" b="1" dirty="0">
                <a:solidFill>
                  <a:srgbClr val="121DFA"/>
                </a:solidFill>
                <a:ea typeface="楷体_GB2312"/>
                <a:cs typeface="楷体_GB2312"/>
              </a:rPr>
              <a:t>(</a:t>
            </a:r>
            <a:r>
              <a:rPr kumimoji="1" lang="zh-CN" altLang="en-US" sz="2800" b="1" dirty="0">
                <a:solidFill>
                  <a:srgbClr val="121DFA"/>
                </a:solidFill>
                <a:ea typeface="楷体_GB2312"/>
                <a:cs typeface="楷体_GB2312"/>
              </a:rPr>
              <a:t>右旋</a:t>
            </a:r>
            <a:r>
              <a:rPr kumimoji="1" lang="en-US" altLang="zh-CN" sz="2800" b="1" dirty="0">
                <a:solidFill>
                  <a:srgbClr val="121DFA"/>
                </a:solidFill>
                <a:ea typeface="楷体_GB2312"/>
                <a:cs typeface="楷体_GB2312"/>
              </a:rPr>
              <a:t>)</a:t>
            </a:r>
            <a:r>
              <a:rPr kumimoji="1" lang="zh-CN" altLang="en-US" sz="2800" b="1" dirty="0">
                <a:solidFill>
                  <a:srgbClr val="121DFA"/>
                </a:solidFill>
                <a:ea typeface="楷体_GB2312"/>
                <a:cs typeface="楷体_GB2312"/>
              </a:rPr>
              <a:t>变右旋</a:t>
            </a:r>
            <a:r>
              <a:rPr kumimoji="1" lang="en-US" altLang="zh-CN" sz="2800" b="1" dirty="0">
                <a:solidFill>
                  <a:srgbClr val="121DFA"/>
                </a:solidFill>
                <a:ea typeface="楷体_GB2312"/>
                <a:cs typeface="楷体_GB2312"/>
              </a:rPr>
              <a:t>(</a:t>
            </a:r>
            <a:r>
              <a:rPr kumimoji="1" lang="zh-CN" altLang="en-US" sz="2800" b="1" dirty="0">
                <a:solidFill>
                  <a:srgbClr val="121DFA"/>
                </a:solidFill>
                <a:ea typeface="楷体_GB2312"/>
                <a:cs typeface="楷体_GB2312"/>
              </a:rPr>
              <a:t>左旋</a:t>
            </a:r>
            <a:r>
              <a:rPr kumimoji="1" lang="en-US" altLang="zh-CN" sz="2800" b="1" dirty="0">
                <a:solidFill>
                  <a:srgbClr val="121DFA"/>
                </a:solidFill>
                <a:ea typeface="楷体_GB2312"/>
                <a:cs typeface="楷体_GB2312"/>
              </a:rPr>
              <a:t>)</a:t>
            </a:r>
            <a:endParaRPr kumimoji="1" lang="zh-CN" altLang="en-US" sz="2800" b="1" dirty="0">
              <a:solidFill>
                <a:srgbClr val="121DFA"/>
              </a:solidFill>
              <a:ea typeface="楷体_GB2312"/>
              <a:cs typeface="楷体_GB2312"/>
            </a:endParaRPr>
          </a:p>
        </p:txBody>
      </p:sp>
      <p:pic>
        <p:nvPicPr>
          <p:cNvPr id="18471" name="图片 1">
            <a:extLst>
              <a:ext uri="{FF2B5EF4-FFF2-40B4-BE49-F238E27FC236}">
                <a16:creationId xmlns:a16="http://schemas.microsoft.com/office/drawing/2014/main" id="{25D81EC3-8A45-4643-AF4B-39FBC1C042F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57150"/>
            <a:ext cx="3203575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3" name="Object 11">
            <a:extLst>
              <a:ext uri="{FF2B5EF4-FFF2-40B4-BE49-F238E27FC236}">
                <a16:creationId xmlns:a16="http://schemas.microsoft.com/office/drawing/2014/main" id="{9C51599F-1057-4BBC-9E27-F1FDC6184D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9893993"/>
              </p:ext>
            </p:extLst>
          </p:nvPr>
        </p:nvGraphicFramePr>
        <p:xfrm>
          <a:off x="454025" y="3501008"/>
          <a:ext cx="2071687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7" name="Equation" r:id="rId15" imgW="1968500" imgH="673100" progId="Equation.DSMT4">
                  <p:embed/>
                </p:oleObj>
              </mc:Choice>
              <mc:Fallback>
                <p:oleObj name="Equation" r:id="rId15" imgW="1968500" imgH="673100" progId="Equation.DSMT4">
                  <p:embed/>
                  <p:pic>
                    <p:nvPicPr>
                      <p:cNvPr id="29707" name="Object 11">
                        <a:extLst>
                          <a:ext uri="{FF2B5EF4-FFF2-40B4-BE49-F238E27FC236}">
                            <a16:creationId xmlns:a16="http://schemas.microsoft.com/office/drawing/2014/main" id="{FFE24B1C-E68F-4BC1-9403-32D7117A45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025" y="3501008"/>
                        <a:ext cx="2071687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2">
            <a:extLst>
              <a:ext uri="{FF2B5EF4-FFF2-40B4-BE49-F238E27FC236}">
                <a16:creationId xmlns:a16="http://schemas.microsoft.com/office/drawing/2014/main" id="{C61C6EC4-7297-4EB9-BB00-2BD0A95B01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91473"/>
              </p:ext>
            </p:extLst>
          </p:nvPr>
        </p:nvGraphicFramePr>
        <p:xfrm>
          <a:off x="2690813" y="3538484"/>
          <a:ext cx="2584450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8" name="Equation" r:id="rId17" imgW="2361960" imgH="774360" progId="Equation.DSMT4">
                  <p:embed/>
                </p:oleObj>
              </mc:Choice>
              <mc:Fallback>
                <p:oleObj name="Equation" r:id="rId17" imgW="2361960" imgH="774360" progId="Equation.DSMT4">
                  <p:embed/>
                  <p:pic>
                    <p:nvPicPr>
                      <p:cNvPr id="29708" name="Object 12">
                        <a:extLst>
                          <a:ext uri="{FF2B5EF4-FFF2-40B4-BE49-F238E27FC236}">
                            <a16:creationId xmlns:a16="http://schemas.microsoft.com/office/drawing/2014/main" id="{F7A6BEBC-E14A-41E3-9EAC-DAB6CE6566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0813" y="3538484"/>
                        <a:ext cx="2584450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13">
            <a:extLst>
              <a:ext uri="{FF2B5EF4-FFF2-40B4-BE49-F238E27FC236}">
                <a16:creationId xmlns:a16="http://schemas.microsoft.com/office/drawing/2014/main" id="{6059E024-81CD-488C-AA9E-FB520D5D7F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927102"/>
              </p:ext>
            </p:extLst>
          </p:nvPr>
        </p:nvGraphicFramePr>
        <p:xfrm>
          <a:off x="5579555" y="3560876"/>
          <a:ext cx="1058863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9" name="Equation" r:id="rId19" imgW="1168200" imgH="672840" progId="Equation.DSMT4">
                  <p:embed/>
                </p:oleObj>
              </mc:Choice>
              <mc:Fallback>
                <p:oleObj name="Equation" r:id="rId19" imgW="1168200" imgH="672840" progId="Equation.DSMT4">
                  <p:embed/>
                  <p:pic>
                    <p:nvPicPr>
                      <p:cNvPr id="29709" name="Object 13">
                        <a:extLst>
                          <a:ext uri="{FF2B5EF4-FFF2-40B4-BE49-F238E27FC236}">
                            <a16:creationId xmlns:a16="http://schemas.microsoft.com/office/drawing/2014/main" id="{7A2A0C5B-DE8D-4318-96F5-FD9D0EAD95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9555" y="3560876"/>
                        <a:ext cx="1058863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14">
            <a:extLst>
              <a:ext uri="{FF2B5EF4-FFF2-40B4-BE49-F238E27FC236}">
                <a16:creationId xmlns:a16="http://schemas.microsoft.com/office/drawing/2014/main" id="{B67D3FDA-62E8-445F-96B2-438328EBC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5391" y="3696060"/>
            <a:ext cx="1719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符合</a:t>
            </a:r>
          </a:p>
        </p:txBody>
      </p:sp>
      <p:graphicFrame>
        <p:nvGraphicFramePr>
          <p:cNvPr id="49" name="Object 15">
            <a:extLst>
              <a:ext uri="{FF2B5EF4-FFF2-40B4-BE49-F238E27FC236}">
                <a16:creationId xmlns:a16="http://schemas.microsoft.com/office/drawing/2014/main" id="{965959B9-CF7C-40D9-B63E-9EDB59465A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869236"/>
              </p:ext>
            </p:extLst>
          </p:nvPr>
        </p:nvGraphicFramePr>
        <p:xfrm>
          <a:off x="7522491" y="3751622"/>
          <a:ext cx="136683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0" name="公式" r:id="rId21" imgW="866857" imgH="209520" progId="Equation.3">
                  <p:embed/>
                </p:oleObj>
              </mc:Choice>
              <mc:Fallback>
                <p:oleObj name="公式" r:id="rId21" imgW="866857" imgH="209520" progId="Equation.3">
                  <p:embed/>
                  <p:pic>
                    <p:nvPicPr>
                      <p:cNvPr id="29711" name="Object 15">
                        <a:extLst>
                          <a:ext uri="{FF2B5EF4-FFF2-40B4-BE49-F238E27FC236}">
                            <a16:creationId xmlns:a16="http://schemas.microsoft.com/office/drawing/2014/main" id="{C893FD29-6A85-4B2E-9FDA-B2540924E0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2491" y="3751622"/>
                        <a:ext cx="1366837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CC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Rectangle 16">
            <a:extLst>
              <a:ext uri="{FF2B5EF4-FFF2-40B4-BE49-F238E27FC236}">
                <a16:creationId xmlns:a16="http://schemas.microsoft.com/office/drawing/2014/main" id="{C0F8EAAB-EA5B-4F3B-BB99-D0A05B009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4293096"/>
            <a:ext cx="83121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线偏振光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垂直入射</a:t>
            </a:r>
            <a:r>
              <a:rPr kumimoji="1" lang="zh-CN" altLang="en-US" sz="2800" b="1" i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/4</a:t>
            </a:r>
            <a:r>
              <a:rPr kumimoji="1" lang="en-US" altLang="zh-CN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波片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(α≠0,90</a:t>
            </a:r>
            <a:r>
              <a:rPr kumimoji="1" lang="en-US" altLang="zh-CN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°) 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，出来</a:t>
            </a:r>
          </a:p>
        </p:txBody>
      </p:sp>
      <p:sp>
        <p:nvSpPr>
          <p:cNvPr id="56" name="Rectangle 19">
            <a:extLst>
              <a:ext uri="{FF2B5EF4-FFF2-40B4-BE49-F238E27FC236}">
                <a16:creationId xmlns:a16="http://schemas.microsoft.com/office/drawing/2014/main" id="{F8009099-6447-403C-AE40-ABF53FD4C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4044" y="4316425"/>
            <a:ext cx="14012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121DFA"/>
                </a:solidFill>
                <a:ea typeface="楷体_GB2312"/>
                <a:cs typeface="楷体_GB2312"/>
              </a:rPr>
              <a:t>椭偏光</a:t>
            </a:r>
            <a:endParaRPr kumimoji="1" lang="zh-CN" altLang="en-US" sz="2800" b="1" dirty="0">
              <a:solidFill>
                <a:srgbClr val="121DFA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07718E4-B3C8-4897-92A1-94F036DBEB0C}"/>
              </a:ext>
            </a:extLst>
          </p:cNvPr>
          <p:cNvSpPr txBox="1"/>
          <p:nvPr/>
        </p:nvSpPr>
        <p:spPr>
          <a:xfrm>
            <a:off x="251520" y="4853852"/>
            <a:ext cx="9361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椭偏光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长短轴平行于光轴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经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1/4 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波片，出来</a:t>
            </a:r>
            <a:endParaRPr lang="zh-CN" altLang="en-US" sz="2800" dirty="0"/>
          </a:p>
        </p:txBody>
      </p:sp>
      <p:sp>
        <p:nvSpPr>
          <p:cNvPr id="61" name="Rectangle 19">
            <a:extLst>
              <a:ext uri="{FF2B5EF4-FFF2-40B4-BE49-F238E27FC236}">
                <a16:creationId xmlns:a16="http://schemas.microsoft.com/office/drawing/2014/main" id="{F00E0EDF-7877-4637-BFD8-6A302564C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6533" y="4894759"/>
            <a:ext cx="14012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121DFA"/>
                </a:solidFill>
                <a:ea typeface="楷体_GB2312"/>
                <a:cs typeface="楷体_GB2312"/>
              </a:rPr>
              <a:t>线偏光</a:t>
            </a:r>
            <a:endParaRPr kumimoji="1" lang="zh-CN" altLang="en-US" sz="2800" b="1" dirty="0">
              <a:solidFill>
                <a:srgbClr val="121DFA"/>
              </a:solidFill>
            </a:endParaRPr>
          </a:p>
        </p:txBody>
      </p:sp>
      <p:sp>
        <p:nvSpPr>
          <p:cNvPr id="64" name="Text Box 4">
            <a:extLst>
              <a:ext uri="{FF2B5EF4-FFF2-40B4-BE49-F238E27FC236}">
                <a16:creationId xmlns:a16="http://schemas.microsoft.com/office/drawing/2014/main" id="{C564517B-91B3-4422-9119-DDEC3103A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0587" y="118417"/>
            <a:ext cx="2844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3300"/>
                </a:solidFill>
              </a:rPr>
              <a:t>内容回顾</a:t>
            </a:r>
          </a:p>
        </p:txBody>
      </p:sp>
      <p:sp>
        <p:nvSpPr>
          <p:cNvPr id="65" name="Text Box 3">
            <a:extLst>
              <a:ext uri="{FF2B5EF4-FFF2-40B4-BE49-F238E27FC236}">
                <a16:creationId xmlns:a16="http://schemas.microsoft.com/office/drawing/2014/main" id="{65532F5E-AC51-48F5-9B3B-05EFC9569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5552024"/>
            <a:ext cx="30238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偏振光的干涉</a:t>
            </a:r>
            <a:endParaRPr kumimoji="1" lang="en-US" altLang="zh-CN" sz="2800" b="1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B7C5E5B-98F2-4804-A77C-7A63772334B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31839" y="5346321"/>
            <a:ext cx="1144325" cy="150099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87D4036-F8C8-4609-AB4B-1AF9EABDBED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09942" y="5346033"/>
            <a:ext cx="1269613" cy="15004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75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75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75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autoUpdateAnimBg="0"/>
      <p:bldP spid="29702" grpId="0" autoUpdateAnimBg="0"/>
      <p:bldP spid="29704" grpId="0" autoUpdateAnimBg="0"/>
      <p:bldP spid="29714" grpId="0" autoUpdateAnimBg="0"/>
      <p:bldP spid="38" grpId="0" autoUpdateAnimBg="0"/>
      <p:bldP spid="47" grpId="0" autoUpdateAnimBg="0"/>
      <p:bldP spid="53" grpId="0" autoUpdateAnimBg="0"/>
      <p:bldP spid="56" grpId="0" autoUpdateAnimBg="0"/>
      <p:bldP spid="60" grpId="0"/>
      <p:bldP spid="61" grpId="0" autoUpdateAnimBg="0"/>
      <p:bldP spid="6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9" descr="PP_2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7"/>
          <p:cNvSpPr>
            <a:spLocks noChangeArrowheads="1"/>
          </p:cNvSpPr>
          <p:nvPr/>
        </p:nvSpPr>
        <p:spPr bwMode="auto">
          <a:xfrm>
            <a:off x="2928938" y="2500313"/>
            <a:ext cx="3471862" cy="1736725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5400" b="1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第六篇</a:t>
            </a:r>
            <a:br>
              <a:rPr kumimoji="1" lang="zh-CN" altLang="en-US" sz="5400" b="1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</a:br>
            <a:r>
              <a:rPr kumimoji="1" lang="zh-CN" altLang="en-US" sz="540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量子物理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5"/>
          <p:cNvSpPr txBox="1">
            <a:spLocks noChangeArrowheads="1"/>
          </p:cNvSpPr>
          <p:nvPr/>
        </p:nvSpPr>
        <p:spPr bwMode="auto">
          <a:xfrm>
            <a:off x="2136775" y="2349500"/>
            <a:ext cx="43799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章  早期量子论</a:t>
            </a:r>
          </a:p>
        </p:txBody>
      </p:sp>
      <p:sp>
        <p:nvSpPr>
          <p:cNvPr id="8195" name="Text Box 6"/>
          <p:cNvSpPr txBox="1">
            <a:spLocks noChangeArrowheads="1"/>
          </p:cNvSpPr>
          <p:nvPr/>
        </p:nvSpPr>
        <p:spPr bwMode="auto">
          <a:xfrm>
            <a:off x="2143125" y="2995613"/>
            <a:ext cx="47371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章  量子力学基础</a:t>
            </a:r>
          </a:p>
        </p:txBody>
      </p:sp>
      <p:sp>
        <p:nvSpPr>
          <p:cNvPr id="8196" name="Text Box 7"/>
          <p:cNvSpPr txBox="1">
            <a:spLocks noChangeArrowheads="1"/>
          </p:cNvSpPr>
          <p:nvPr/>
        </p:nvSpPr>
        <p:spPr bwMode="auto">
          <a:xfrm>
            <a:off x="2143125" y="3643313"/>
            <a:ext cx="53482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章  激光与半导体简介</a:t>
            </a:r>
          </a:p>
        </p:txBody>
      </p:sp>
      <p:sp>
        <p:nvSpPr>
          <p:cNvPr id="8197" name="Text Box 9"/>
          <p:cNvSpPr txBox="1">
            <a:spLocks noChangeArrowheads="1"/>
          </p:cNvSpPr>
          <p:nvPr/>
        </p:nvSpPr>
        <p:spPr bwMode="auto">
          <a:xfrm>
            <a:off x="1857375" y="1000125"/>
            <a:ext cx="5143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3600" b="1"/>
              <a:t>第六篇    量子物理</a:t>
            </a:r>
          </a:p>
        </p:txBody>
      </p:sp>
      <p:sp>
        <p:nvSpPr>
          <p:cNvPr id="8198" name="Text Box 7"/>
          <p:cNvSpPr txBox="1">
            <a:spLocks noChangeArrowheads="1"/>
          </p:cNvSpPr>
          <p:nvPr/>
        </p:nvSpPr>
        <p:spPr bwMode="auto">
          <a:xfrm>
            <a:off x="2173288" y="4294188"/>
            <a:ext cx="53482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章  原子核物理简介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1927年第五届索尔维会议29（17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46785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9" descr="http://imgsrc.baidu.com/forum/pic/item/037859da81cb39db371b3c32d6160924aa18303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2"/>
          <a:stretch>
            <a:fillRect/>
          </a:stretch>
        </p:blipFill>
        <p:spPr bwMode="auto">
          <a:xfrm>
            <a:off x="0" y="1792288"/>
            <a:ext cx="9466263" cy="508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Text Box 3"/>
          <p:cNvSpPr txBox="1">
            <a:spLocks noChangeArrowheads="1"/>
          </p:cNvSpPr>
          <p:nvPr/>
        </p:nvSpPr>
        <p:spPr bwMode="auto">
          <a:xfrm>
            <a:off x="4716463" y="4581525"/>
            <a:ext cx="776287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爱因斯坦</a:t>
            </a:r>
          </a:p>
        </p:txBody>
      </p:sp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5580063" y="4724400"/>
            <a:ext cx="77628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朗之万</a:t>
            </a:r>
          </a:p>
        </p:txBody>
      </p:sp>
      <p:sp>
        <p:nvSpPr>
          <p:cNvPr id="9222" name="Text Box 5"/>
          <p:cNvSpPr txBox="1">
            <a:spLocks noChangeArrowheads="1"/>
          </p:cNvSpPr>
          <p:nvPr/>
        </p:nvSpPr>
        <p:spPr bwMode="auto">
          <a:xfrm>
            <a:off x="3563938" y="4724400"/>
            <a:ext cx="77628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洛仑兹</a:t>
            </a:r>
          </a:p>
        </p:txBody>
      </p:sp>
      <p:sp>
        <p:nvSpPr>
          <p:cNvPr id="9223" name="Text Box 6"/>
          <p:cNvSpPr txBox="1">
            <a:spLocks noChangeArrowheads="1"/>
          </p:cNvSpPr>
          <p:nvPr/>
        </p:nvSpPr>
        <p:spPr bwMode="auto">
          <a:xfrm>
            <a:off x="2484438" y="4581525"/>
            <a:ext cx="776287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居里夫人</a:t>
            </a:r>
          </a:p>
        </p:txBody>
      </p:sp>
      <p:sp>
        <p:nvSpPr>
          <p:cNvPr id="9224" name="Text Box 7"/>
          <p:cNvSpPr txBox="1">
            <a:spLocks noChangeArrowheads="1"/>
          </p:cNvSpPr>
          <p:nvPr/>
        </p:nvSpPr>
        <p:spPr bwMode="auto">
          <a:xfrm>
            <a:off x="1403350" y="4724400"/>
            <a:ext cx="7762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普朗克</a:t>
            </a:r>
          </a:p>
        </p:txBody>
      </p:sp>
      <p:sp>
        <p:nvSpPr>
          <p:cNvPr id="9225" name="Text Box 8"/>
          <p:cNvSpPr txBox="1">
            <a:spLocks noChangeArrowheads="1"/>
          </p:cNvSpPr>
          <p:nvPr/>
        </p:nvSpPr>
        <p:spPr bwMode="auto">
          <a:xfrm>
            <a:off x="250825" y="1989138"/>
            <a:ext cx="7762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德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拜</a:t>
            </a:r>
          </a:p>
        </p:txBody>
      </p:sp>
      <p:sp>
        <p:nvSpPr>
          <p:cNvPr id="9226" name="Text Box 9"/>
          <p:cNvSpPr txBox="1">
            <a:spLocks noChangeArrowheads="1"/>
          </p:cNvSpPr>
          <p:nvPr/>
        </p:nvSpPr>
        <p:spPr bwMode="auto">
          <a:xfrm>
            <a:off x="2411413" y="836613"/>
            <a:ext cx="776287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埃伦费斯特</a:t>
            </a:r>
          </a:p>
        </p:txBody>
      </p:sp>
      <p:sp>
        <p:nvSpPr>
          <p:cNvPr id="9227" name="Text Box 10"/>
          <p:cNvSpPr txBox="1">
            <a:spLocks noChangeArrowheads="1"/>
          </p:cNvSpPr>
          <p:nvPr/>
        </p:nvSpPr>
        <p:spPr bwMode="auto">
          <a:xfrm>
            <a:off x="1619250" y="1341438"/>
            <a:ext cx="7762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布喇格</a:t>
            </a:r>
          </a:p>
        </p:txBody>
      </p:sp>
      <p:sp>
        <p:nvSpPr>
          <p:cNvPr id="9228" name="Text Box 11"/>
          <p:cNvSpPr txBox="1">
            <a:spLocks noChangeArrowheads="1"/>
          </p:cNvSpPr>
          <p:nvPr/>
        </p:nvSpPr>
        <p:spPr bwMode="auto">
          <a:xfrm>
            <a:off x="4140200" y="1341438"/>
            <a:ext cx="7762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狄拉克</a:t>
            </a:r>
          </a:p>
        </p:txBody>
      </p:sp>
      <p:sp>
        <p:nvSpPr>
          <p:cNvPr id="9229" name="Text Box 12"/>
          <p:cNvSpPr txBox="1">
            <a:spLocks noChangeArrowheads="1"/>
          </p:cNvSpPr>
          <p:nvPr/>
        </p:nvSpPr>
        <p:spPr bwMode="auto">
          <a:xfrm>
            <a:off x="4787900" y="1341438"/>
            <a:ext cx="7762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薛定谔</a:t>
            </a:r>
          </a:p>
        </p:txBody>
      </p:sp>
      <p:sp>
        <p:nvSpPr>
          <p:cNvPr id="9230" name="Text Box 13"/>
          <p:cNvSpPr txBox="1">
            <a:spLocks noChangeArrowheads="1"/>
          </p:cNvSpPr>
          <p:nvPr/>
        </p:nvSpPr>
        <p:spPr bwMode="auto">
          <a:xfrm>
            <a:off x="5292725" y="1341438"/>
            <a:ext cx="7762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康普顿</a:t>
            </a:r>
          </a:p>
        </p:txBody>
      </p:sp>
      <p:sp>
        <p:nvSpPr>
          <p:cNvPr id="9231" name="Text Box 14"/>
          <p:cNvSpPr txBox="1">
            <a:spLocks noChangeArrowheads="1"/>
          </p:cNvSpPr>
          <p:nvPr/>
        </p:nvSpPr>
        <p:spPr bwMode="auto">
          <a:xfrm>
            <a:off x="6372225" y="1341438"/>
            <a:ext cx="7762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泡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利</a:t>
            </a:r>
          </a:p>
        </p:txBody>
      </p:sp>
      <p:sp>
        <p:nvSpPr>
          <p:cNvPr id="9232" name="Text Box 15"/>
          <p:cNvSpPr txBox="1">
            <a:spLocks noChangeArrowheads="1"/>
          </p:cNvSpPr>
          <p:nvPr/>
        </p:nvSpPr>
        <p:spPr bwMode="auto">
          <a:xfrm>
            <a:off x="7019925" y="1341438"/>
            <a:ext cx="7762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海森堡</a:t>
            </a:r>
          </a:p>
        </p:txBody>
      </p:sp>
      <p:sp>
        <p:nvSpPr>
          <p:cNvPr id="9233" name="Text Box 16"/>
          <p:cNvSpPr txBox="1">
            <a:spLocks noChangeArrowheads="1"/>
          </p:cNvSpPr>
          <p:nvPr/>
        </p:nvSpPr>
        <p:spPr bwMode="auto">
          <a:xfrm>
            <a:off x="8604250" y="1989138"/>
            <a:ext cx="7762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玻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尔</a:t>
            </a:r>
          </a:p>
        </p:txBody>
      </p:sp>
      <p:sp>
        <p:nvSpPr>
          <p:cNvPr id="9234" name="Text Box 17"/>
          <p:cNvSpPr txBox="1">
            <a:spLocks noChangeArrowheads="1"/>
          </p:cNvSpPr>
          <p:nvPr/>
        </p:nvSpPr>
        <p:spPr bwMode="auto">
          <a:xfrm>
            <a:off x="7885113" y="1341438"/>
            <a:ext cx="77628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玻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恩</a:t>
            </a:r>
          </a:p>
        </p:txBody>
      </p:sp>
      <p:sp>
        <p:nvSpPr>
          <p:cNvPr id="9235" name="Line 18"/>
          <p:cNvSpPr>
            <a:spLocks noChangeShapeType="1"/>
          </p:cNvSpPr>
          <p:nvPr/>
        </p:nvSpPr>
        <p:spPr bwMode="auto">
          <a:xfrm>
            <a:off x="1979613" y="2492375"/>
            <a:ext cx="288925" cy="7921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6" name="Line 19"/>
          <p:cNvSpPr>
            <a:spLocks noChangeShapeType="1"/>
          </p:cNvSpPr>
          <p:nvPr/>
        </p:nvSpPr>
        <p:spPr bwMode="auto">
          <a:xfrm>
            <a:off x="4572000" y="2492375"/>
            <a:ext cx="0" cy="6492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7" name="Line 20"/>
          <p:cNvSpPr>
            <a:spLocks noChangeShapeType="1"/>
          </p:cNvSpPr>
          <p:nvPr/>
        </p:nvSpPr>
        <p:spPr bwMode="auto">
          <a:xfrm flipH="1">
            <a:off x="5508625" y="2492375"/>
            <a:ext cx="142875" cy="6492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8" name="Line 21"/>
          <p:cNvSpPr>
            <a:spLocks noChangeShapeType="1"/>
          </p:cNvSpPr>
          <p:nvPr/>
        </p:nvSpPr>
        <p:spPr bwMode="auto">
          <a:xfrm flipH="1">
            <a:off x="8459788" y="3141663"/>
            <a:ext cx="433387" cy="3587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9" name="Line 22"/>
          <p:cNvSpPr>
            <a:spLocks noChangeShapeType="1"/>
          </p:cNvSpPr>
          <p:nvPr/>
        </p:nvSpPr>
        <p:spPr bwMode="auto">
          <a:xfrm flipH="1">
            <a:off x="7596188" y="2492375"/>
            <a:ext cx="647700" cy="8651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0" name="Text Box 23"/>
          <p:cNvSpPr txBox="1">
            <a:spLocks noChangeArrowheads="1"/>
          </p:cNvSpPr>
          <p:nvPr/>
        </p:nvSpPr>
        <p:spPr bwMode="auto">
          <a:xfrm>
            <a:off x="1311275" y="1158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241" name="Text Box 24"/>
          <p:cNvSpPr txBox="1">
            <a:spLocks noChangeArrowheads="1"/>
          </p:cNvSpPr>
          <p:nvPr/>
        </p:nvSpPr>
        <p:spPr bwMode="auto">
          <a:xfrm>
            <a:off x="454025" y="188913"/>
            <a:ext cx="8610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ea typeface="黑体" panose="02010609060101010101" pitchFamily="49" charset="-122"/>
              </a:rPr>
              <a:t>1927</a:t>
            </a:r>
            <a:r>
              <a:rPr lang="zh-CN" altLang="en-US" sz="2800">
                <a:solidFill>
                  <a:srgbClr val="FF0000"/>
                </a:solidFill>
                <a:ea typeface="黑体" panose="02010609060101010101" pitchFamily="49" charset="-122"/>
              </a:rPr>
              <a:t>年第五届索尔维会议（</a:t>
            </a:r>
            <a:r>
              <a:rPr lang="en-US" altLang="zh-CN" sz="2800">
                <a:solidFill>
                  <a:srgbClr val="FF0000"/>
                </a:solidFill>
                <a:ea typeface="黑体" panose="02010609060101010101" pitchFamily="49" charset="-122"/>
              </a:rPr>
              <a:t>29</a:t>
            </a:r>
            <a:r>
              <a:rPr lang="zh-CN" altLang="en-US" sz="2800">
                <a:solidFill>
                  <a:srgbClr val="FF0000"/>
                </a:solidFill>
                <a:ea typeface="黑体" panose="02010609060101010101" pitchFamily="49" charset="-122"/>
              </a:rPr>
              <a:t>人中先后获诺奖</a:t>
            </a:r>
            <a:r>
              <a:rPr lang="en-US" altLang="zh-CN" sz="2800">
                <a:solidFill>
                  <a:srgbClr val="FF0000"/>
                </a:solidFill>
                <a:ea typeface="黑体" panose="02010609060101010101" pitchFamily="49" charset="-122"/>
              </a:rPr>
              <a:t>17</a:t>
            </a:r>
            <a:r>
              <a:rPr lang="zh-CN" altLang="en-US" sz="2800">
                <a:solidFill>
                  <a:srgbClr val="FF0000"/>
                </a:solidFill>
                <a:ea typeface="黑体" panose="02010609060101010101" pitchFamily="49" charset="-122"/>
              </a:rPr>
              <a:t>人）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Text Box 2"/>
          <p:cNvSpPr txBox="1">
            <a:spLocks noChangeArrowheads="1"/>
          </p:cNvSpPr>
          <p:nvPr/>
        </p:nvSpPr>
        <p:spPr bwMode="auto">
          <a:xfrm>
            <a:off x="1914525" y="422275"/>
            <a:ext cx="50006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ea typeface="黑体" panose="02010609060101010101" pitchFamily="49" charset="-122"/>
              </a:rPr>
              <a:t>量子力学的诞生与发展</a:t>
            </a:r>
          </a:p>
        </p:txBody>
      </p:sp>
      <p:sp>
        <p:nvSpPr>
          <p:cNvPr id="173059" name="Text Box 3"/>
          <p:cNvSpPr txBox="1">
            <a:spLocks noChangeArrowheads="1"/>
          </p:cNvSpPr>
          <p:nvPr/>
        </p:nvSpPr>
        <p:spPr bwMode="auto">
          <a:xfrm>
            <a:off x="-31750" y="1581150"/>
            <a:ext cx="256857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普朗克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能量子假说</a:t>
            </a:r>
            <a:endParaRPr lang="en-US" altLang="zh-CN" sz="240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(1900)</a:t>
            </a:r>
            <a:endParaRPr lang="zh-CN" altLang="en-US" sz="2400">
              <a:solidFill>
                <a:srgbClr val="FF0000"/>
              </a:solidFill>
            </a:endParaRPr>
          </a:p>
        </p:txBody>
      </p:sp>
      <p:pic>
        <p:nvPicPr>
          <p:cNvPr id="173060" name="Picture 4" descr="Planck_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22563"/>
            <a:ext cx="2133600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3061" name="Picture 5" descr="einstein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722563"/>
            <a:ext cx="2432050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3062" name="Text Box 6"/>
          <p:cNvSpPr txBox="1">
            <a:spLocks noChangeArrowheads="1"/>
          </p:cNvSpPr>
          <p:nvPr/>
        </p:nvSpPr>
        <p:spPr bwMode="auto">
          <a:xfrm>
            <a:off x="2243138" y="1573213"/>
            <a:ext cx="267335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爱因斯坦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光量子假说</a:t>
            </a:r>
            <a:endParaRPr lang="en-US" altLang="zh-CN" sz="240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(1905)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73063" name="Text Box 7"/>
          <p:cNvSpPr txBox="1">
            <a:spLocks noChangeArrowheads="1"/>
          </p:cNvSpPr>
          <p:nvPr/>
        </p:nvSpPr>
        <p:spPr bwMode="auto">
          <a:xfrm>
            <a:off x="104775" y="5627688"/>
            <a:ext cx="2133600" cy="86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10000"/>
              </a:spcBef>
              <a:buFontTx/>
              <a:buNone/>
            </a:pPr>
            <a:r>
              <a:rPr lang="zh-CN" altLang="en-US" sz="2400"/>
              <a:t>1918</a:t>
            </a:r>
          </a:p>
          <a:p>
            <a:pPr algn="ctr" eaLnBrk="1" hangingPunct="1">
              <a:spcBef>
                <a:spcPct val="10000"/>
              </a:spcBef>
              <a:buFontTx/>
              <a:buNone/>
            </a:pPr>
            <a:r>
              <a:rPr lang="zh-CN" altLang="en-US" sz="2400"/>
              <a:t> </a:t>
            </a:r>
            <a:r>
              <a:rPr lang="en-US" altLang="zh-CN" sz="2400"/>
              <a:t>Nobel Price</a:t>
            </a:r>
          </a:p>
        </p:txBody>
      </p:sp>
      <p:sp>
        <p:nvSpPr>
          <p:cNvPr id="173064" name="Text Box 8"/>
          <p:cNvSpPr txBox="1">
            <a:spLocks noChangeArrowheads="1"/>
          </p:cNvSpPr>
          <p:nvPr/>
        </p:nvSpPr>
        <p:spPr bwMode="auto">
          <a:xfrm>
            <a:off x="2617788" y="5627688"/>
            <a:ext cx="2122487" cy="86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10000"/>
              </a:spcBef>
              <a:buFontTx/>
              <a:buNone/>
            </a:pPr>
            <a:r>
              <a:rPr lang="zh-CN" altLang="en-US" sz="2400"/>
              <a:t>1921</a:t>
            </a:r>
          </a:p>
          <a:p>
            <a:pPr algn="ctr" eaLnBrk="1" hangingPunct="1">
              <a:spcBef>
                <a:spcPct val="10000"/>
              </a:spcBef>
              <a:buFontTx/>
              <a:buNone/>
            </a:pPr>
            <a:r>
              <a:rPr lang="en-US" altLang="zh-CN" sz="2400"/>
              <a:t>Nobel Price</a:t>
            </a:r>
          </a:p>
        </p:txBody>
      </p:sp>
      <p:sp>
        <p:nvSpPr>
          <p:cNvPr id="173067" name="Text Box 11"/>
          <p:cNvSpPr txBox="1">
            <a:spLocks noChangeArrowheads="1"/>
          </p:cNvSpPr>
          <p:nvPr/>
        </p:nvSpPr>
        <p:spPr bwMode="auto">
          <a:xfrm>
            <a:off x="6978650" y="1490663"/>
            <a:ext cx="19954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康普顿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康普顿效应</a:t>
            </a:r>
            <a:endParaRPr lang="en-US" altLang="zh-CN" sz="240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(1922)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73068" name="Text Box 12"/>
          <p:cNvSpPr txBox="1">
            <a:spLocks noChangeArrowheads="1"/>
          </p:cNvSpPr>
          <p:nvPr/>
        </p:nvSpPr>
        <p:spPr bwMode="auto">
          <a:xfrm>
            <a:off x="269875" y="1146175"/>
            <a:ext cx="37258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黑体" panose="02010609060101010101" pitchFamily="49" charset="-122"/>
              </a:rPr>
              <a:t> 量子概念的形成</a:t>
            </a:r>
          </a:p>
        </p:txBody>
      </p:sp>
      <p:pic>
        <p:nvPicPr>
          <p:cNvPr id="173069" name="Picture 13" descr="compt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2722563"/>
            <a:ext cx="24098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3071" name="Text Box 15"/>
          <p:cNvSpPr txBox="1">
            <a:spLocks noChangeArrowheads="1"/>
          </p:cNvSpPr>
          <p:nvPr/>
        </p:nvSpPr>
        <p:spPr bwMode="auto">
          <a:xfrm>
            <a:off x="7146925" y="5627688"/>
            <a:ext cx="1935163" cy="86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10000"/>
              </a:spcBef>
              <a:buFontTx/>
              <a:buNone/>
            </a:pPr>
            <a:r>
              <a:rPr lang="zh-CN" altLang="en-US" sz="2400"/>
              <a:t>1927</a:t>
            </a:r>
          </a:p>
          <a:p>
            <a:pPr algn="ctr" eaLnBrk="1" hangingPunct="1">
              <a:spcBef>
                <a:spcPct val="10000"/>
              </a:spcBef>
              <a:buFontTx/>
              <a:buNone/>
            </a:pPr>
            <a:r>
              <a:rPr lang="en-US" altLang="zh-CN" sz="2400"/>
              <a:t>Nobel Price</a:t>
            </a:r>
          </a:p>
        </p:txBody>
      </p:sp>
      <p:pic>
        <p:nvPicPr>
          <p:cNvPr id="16" name="Picture 9" descr="nboh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063" y="2722563"/>
            <a:ext cx="21685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4827588" y="5627688"/>
            <a:ext cx="1905000" cy="86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10000"/>
              </a:spcBef>
              <a:buFontTx/>
              <a:buNone/>
            </a:pPr>
            <a:r>
              <a:rPr lang="zh-CN" altLang="en-US" sz="2400"/>
              <a:t>1922</a:t>
            </a:r>
          </a:p>
          <a:p>
            <a:pPr algn="ctr" eaLnBrk="1" hangingPunct="1">
              <a:spcBef>
                <a:spcPct val="10000"/>
              </a:spcBef>
              <a:buFontTx/>
              <a:buNone/>
            </a:pPr>
            <a:r>
              <a:rPr lang="en-US" altLang="zh-CN" sz="2400"/>
              <a:t>Nobel Price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4827588" y="1484313"/>
            <a:ext cx="153193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玻尔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原子结构</a:t>
            </a:r>
            <a:endParaRPr lang="en-US" altLang="zh-CN" sz="240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(1913)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advTm="624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7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7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8" grpId="0"/>
      <p:bldP spid="173059" grpId="0" autoUpdateAnimBg="0"/>
      <p:bldP spid="173062" grpId="0" autoUpdateAnimBg="0"/>
      <p:bldP spid="173063" grpId="0" autoUpdateAnimBg="0"/>
      <p:bldP spid="173064" grpId="0" autoUpdateAnimBg="0"/>
      <p:bldP spid="173067" grpId="0" autoUpdateAnimBg="0"/>
      <p:bldP spid="173068" grpId="0" autoUpdateAnimBg="0"/>
      <p:bldP spid="173071" grpId="0" autoUpdateAnimBg="0"/>
      <p:bldP spid="17" grpId="0" autoUpdateAnimBg="0"/>
      <p:bldP spid="1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65125" y="476250"/>
            <a:ext cx="33226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黑体" panose="02010609060101010101" pitchFamily="49" charset="-122"/>
              </a:rPr>
              <a:t>量子力学的诞生</a:t>
            </a:r>
          </a:p>
        </p:txBody>
      </p:sp>
      <p:sp>
        <p:nvSpPr>
          <p:cNvPr id="174083" name="Text Box 3"/>
          <p:cNvSpPr txBox="1">
            <a:spLocks noChangeArrowheads="1"/>
          </p:cNvSpPr>
          <p:nvPr/>
        </p:nvSpPr>
        <p:spPr bwMode="auto">
          <a:xfrm>
            <a:off x="163513" y="1049338"/>
            <a:ext cx="190817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海森堡创立</a:t>
            </a:r>
            <a:r>
              <a:rPr lang="zh-CN" altLang="en-US" sz="2400">
                <a:solidFill>
                  <a:srgbClr val="FF0000"/>
                </a:solidFill>
              </a:rPr>
              <a:t>量子力学</a:t>
            </a:r>
            <a:endParaRPr lang="en-US" altLang="zh-CN" sz="240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(1925)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74084" name="Text Box 4"/>
          <p:cNvSpPr txBox="1">
            <a:spLocks noChangeArrowheads="1"/>
          </p:cNvSpPr>
          <p:nvPr/>
        </p:nvSpPr>
        <p:spPr bwMode="auto">
          <a:xfrm>
            <a:off x="90488" y="5661025"/>
            <a:ext cx="2195512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1932 </a:t>
            </a:r>
            <a:endParaRPr lang="en-US" altLang="zh-CN" sz="240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Nobel Price</a:t>
            </a:r>
          </a:p>
        </p:txBody>
      </p:sp>
      <p:sp>
        <p:nvSpPr>
          <p:cNvPr id="174085" name="Text Box 5"/>
          <p:cNvSpPr txBox="1">
            <a:spLocks noChangeArrowheads="1"/>
          </p:cNvSpPr>
          <p:nvPr/>
        </p:nvSpPr>
        <p:spPr bwMode="auto">
          <a:xfrm>
            <a:off x="3228975" y="5661025"/>
            <a:ext cx="2697163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1933</a:t>
            </a:r>
            <a:endParaRPr lang="en-US" altLang="zh-CN" sz="240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Nobel Price</a:t>
            </a:r>
          </a:p>
        </p:txBody>
      </p:sp>
      <p:pic>
        <p:nvPicPr>
          <p:cNvPr id="174086" name="Picture 6" descr="heis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49488"/>
            <a:ext cx="2286000" cy="330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4087" name="Group 7"/>
          <p:cNvGrpSpPr>
            <a:grpSpLocks/>
          </p:cNvGrpSpPr>
          <p:nvPr/>
        </p:nvGrpSpPr>
        <p:grpSpPr bwMode="auto">
          <a:xfrm>
            <a:off x="2286000" y="2249488"/>
            <a:ext cx="4572000" cy="3308350"/>
            <a:chOff x="1440" y="1417"/>
            <a:chExt cx="2880" cy="2084"/>
          </a:xfrm>
        </p:grpSpPr>
        <p:pic>
          <p:nvPicPr>
            <p:cNvPr id="11276" name="Picture 8" descr="Schrodinge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0" y="1417"/>
              <a:ext cx="1444" cy="2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77" name="Picture 9" descr="dirac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4" y="1417"/>
              <a:ext cx="1496" cy="2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4090" name="Picture 10" descr="born-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249488"/>
            <a:ext cx="2338388" cy="330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091" name="Text Box 11"/>
          <p:cNvSpPr txBox="1">
            <a:spLocks noChangeArrowheads="1"/>
          </p:cNvSpPr>
          <p:nvPr/>
        </p:nvSpPr>
        <p:spPr bwMode="auto">
          <a:xfrm>
            <a:off x="2386013" y="1079500"/>
            <a:ext cx="415925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薛定谔、狄拉克引入量子力学</a:t>
            </a:r>
            <a:r>
              <a:rPr lang="zh-CN" altLang="en-US" sz="2400">
                <a:solidFill>
                  <a:srgbClr val="FF0000"/>
                </a:solidFill>
              </a:rPr>
              <a:t>波动方程</a:t>
            </a:r>
            <a:endParaRPr lang="en-US" altLang="zh-CN" sz="240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(1925,1927)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74092" name="Text Box 12"/>
          <p:cNvSpPr txBox="1">
            <a:spLocks noChangeArrowheads="1"/>
          </p:cNvSpPr>
          <p:nvPr/>
        </p:nvSpPr>
        <p:spPr bwMode="auto">
          <a:xfrm>
            <a:off x="6864350" y="1079500"/>
            <a:ext cx="2119313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波恩</a:t>
            </a:r>
            <a:endParaRPr lang="en-US" altLang="zh-CN" sz="240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统计解释</a:t>
            </a:r>
            <a:endParaRPr lang="en-US" altLang="zh-CN" sz="240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(1926)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74093" name="Text Box 13"/>
          <p:cNvSpPr txBox="1">
            <a:spLocks noChangeArrowheads="1"/>
          </p:cNvSpPr>
          <p:nvPr/>
        </p:nvSpPr>
        <p:spPr bwMode="auto">
          <a:xfrm>
            <a:off x="6740525" y="5686425"/>
            <a:ext cx="2794000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1954 </a:t>
            </a:r>
            <a:endParaRPr lang="en-US" altLang="zh-CN" sz="240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Nobel Price</a:t>
            </a:r>
          </a:p>
        </p:txBody>
      </p:sp>
    </p:spTree>
  </p:cSld>
  <p:clrMapOvr>
    <a:masterClrMapping/>
  </p:clrMapOvr>
  <p:transition advTm="4931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4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4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4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4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/>
      <p:bldP spid="174084" grpId="0" autoUpdateAnimBg="0"/>
      <p:bldP spid="174085" grpId="0" autoUpdateAnimBg="0"/>
      <p:bldP spid="174091" grpId="0"/>
      <p:bldP spid="174092" grpId="0"/>
      <p:bldP spid="17409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Text Box 2"/>
          <p:cNvSpPr txBox="1">
            <a:spLocks noChangeArrowheads="1"/>
          </p:cNvSpPr>
          <p:nvPr/>
        </p:nvSpPr>
        <p:spPr bwMode="auto">
          <a:xfrm>
            <a:off x="250825" y="827088"/>
            <a:ext cx="8629650" cy="533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1918</a:t>
            </a:r>
            <a:r>
              <a:rPr lang="zh-CN" altLang="en-US" sz="2400"/>
              <a:t>年 </a:t>
            </a:r>
            <a:r>
              <a:rPr lang="zh-CN" altLang="en-US" sz="2400">
                <a:solidFill>
                  <a:srgbClr val="FF0000"/>
                </a:solidFill>
              </a:rPr>
              <a:t>普朗克</a:t>
            </a:r>
            <a:r>
              <a:rPr lang="en-US" altLang="zh-CN" sz="2400">
                <a:solidFill>
                  <a:srgbClr val="FF0000"/>
                </a:solidFill>
                <a:cs typeface="Times New Roman" panose="02020603050405020304" pitchFamily="18" charset="0"/>
              </a:rPr>
              <a:t>—</a:t>
            </a:r>
            <a:r>
              <a:rPr lang="en-US" altLang="zh-CN" sz="2400">
                <a:solidFill>
                  <a:srgbClr val="FF0000"/>
                </a:solidFill>
              </a:rPr>
              <a:t> </a:t>
            </a:r>
            <a:r>
              <a:rPr lang="zh-CN" altLang="en-US" sz="2400">
                <a:solidFill>
                  <a:srgbClr val="FF0000"/>
                </a:solidFill>
              </a:rPr>
              <a:t>能量子  </a:t>
            </a:r>
            <a:r>
              <a:rPr lang="zh-CN" altLang="en-US" sz="2400"/>
              <a:t>（</a:t>
            </a:r>
            <a:r>
              <a:rPr lang="en-US" altLang="zh-CN" sz="2400"/>
              <a:t>1900</a:t>
            </a:r>
            <a:r>
              <a:rPr lang="zh-CN" altLang="en-US" sz="2400"/>
              <a:t>）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1921</a:t>
            </a:r>
            <a:r>
              <a:rPr lang="zh-CN" altLang="en-US" sz="2400"/>
              <a:t>年 </a:t>
            </a:r>
            <a:r>
              <a:rPr lang="zh-CN" altLang="en-US" sz="2400">
                <a:solidFill>
                  <a:srgbClr val="FF0000"/>
                </a:solidFill>
              </a:rPr>
              <a:t>爱因斯坦</a:t>
            </a:r>
            <a:r>
              <a:rPr lang="en-US" altLang="zh-CN" sz="2400">
                <a:solidFill>
                  <a:srgbClr val="FF0000"/>
                </a:solidFill>
              </a:rPr>
              <a:t>—</a:t>
            </a:r>
            <a:r>
              <a:rPr lang="zh-CN" altLang="en-US" sz="2400">
                <a:solidFill>
                  <a:srgbClr val="FF0000"/>
                </a:solidFill>
              </a:rPr>
              <a:t>光子说和光电效应解释  </a:t>
            </a:r>
            <a:r>
              <a:rPr lang="zh-CN" altLang="en-US" sz="2400"/>
              <a:t>（</a:t>
            </a:r>
            <a:r>
              <a:rPr lang="en-US" altLang="zh-CN" sz="2400"/>
              <a:t>1905</a:t>
            </a:r>
            <a:r>
              <a:rPr lang="zh-CN" altLang="en-US" sz="2400"/>
              <a:t>）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1922</a:t>
            </a:r>
            <a:r>
              <a:rPr lang="zh-CN" altLang="en-US" sz="2400"/>
              <a:t>年 </a:t>
            </a:r>
            <a:r>
              <a:rPr lang="zh-CN" altLang="en-US" sz="2400">
                <a:solidFill>
                  <a:srgbClr val="FF0000"/>
                </a:solidFill>
              </a:rPr>
              <a:t>玻尔</a:t>
            </a:r>
            <a:r>
              <a:rPr lang="en-US" altLang="zh-CN" sz="2400">
                <a:solidFill>
                  <a:srgbClr val="FF0000"/>
                </a:solidFill>
              </a:rPr>
              <a:t>—</a:t>
            </a:r>
            <a:r>
              <a:rPr lang="zh-CN" altLang="en-US" sz="2400">
                <a:solidFill>
                  <a:srgbClr val="FF0000"/>
                </a:solidFill>
              </a:rPr>
              <a:t>原子模型及其发光 </a:t>
            </a:r>
            <a:r>
              <a:rPr lang="zh-CN" altLang="en-US" sz="2400"/>
              <a:t>（</a:t>
            </a:r>
            <a:r>
              <a:rPr lang="en-US" altLang="zh-CN" sz="2400"/>
              <a:t>1913</a:t>
            </a:r>
            <a:r>
              <a:rPr lang="zh-CN" altLang="en-US" sz="2400"/>
              <a:t>）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1923</a:t>
            </a:r>
            <a:r>
              <a:rPr lang="zh-CN" altLang="en-US" sz="2400"/>
              <a:t>年 密立根</a:t>
            </a:r>
            <a:r>
              <a:rPr lang="en-US" altLang="zh-CN" sz="2400"/>
              <a:t>—</a:t>
            </a:r>
            <a:r>
              <a:rPr lang="zh-CN" altLang="en-US" sz="2400"/>
              <a:t>电子电量测量</a:t>
            </a:r>
            <a:r>
              <a:rPr lang="en-US" altLang="zh-CN" sz="2400"/>
              <a:t>(1911)</a:t>
            </a:r>
            <a:r>
              <a:rPr lang="zh-CN" altLang="en-US" sz="2400"/>
              <a:t>和</a:t>
            </a:r>
            <a:r>
              <a:rPr lang="en-US" altLang="zh-CN" sz="2400" i="1"/>
              <a:t>h</a:t>
            </a:r>
            <a:r>
              <a:rPr lang="zh-CN" altLang="en-US" sz="2400"/>
              <a:t>的测量</a:t>
            </a:r>
            <a:r>
              <a:rPr lang="en-US" altLang="zh-CN" sz="2400"/>
              <a:t>(1914)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1925</a:t>
            </a:r>
            <a:r>
              <a:rPr lang="zh-CN" altLang="en-US" sz="2400"/>
              <a:t>年 弗兰克和赫兹</a:t>
            </a:r>
            <a:r>
              <a:rPr lang="en-US" altLang="zh-CN" sz="2400"/>
              <a:t>—</a:t>
            </a:r>
            <a:r>
              <a:rPr lang="zh-CN" altLang="en-US" sz="2400"/>
              <a:t>电子原子碰撞实验  （</a:t>
            </a:r>
            <a:r>
              <a:rPr lang="en-US" altLang="zh-CN" sz="2400"/>
              <a:t>1914</a:t>
            </a:r>
            <a:r>
              <a:rPr lang="zh-CN" altLang="en-US" sz="2400"/>
              <a:t>）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1927</a:t>
            </a:r>
            <a:r>
              <a:rPr lang="zh-CN" altLang="en-US" sz="2400"/>
              <a:t>年 </a:t>
            </a:r>
            <a:r>
              <a:rPr lang="zh-CN" altLang="en-US" sz="2400">
                <a:solidFill>
                  <a:srgbClr val="FF0000"/>
                </a:solidFill>
              </a:rPr>
              <a:t>康普顿和威尔逊</a:t>
            </a:r>
            <a:r>
              <a:rPr lang="en-US" altLang="zh-CN" sz="2400">
                <a:solidFill>
                  <a:srgbClr val="FF0000"/>
                </a:solidFill>
              </a:rPr>
              <a:t>—</a:t>
            </a:r>
            <a:r>
              <a:rPr lang="zh-CN" altLang="en-US" sz="2400">
                <a:solidFill>
                  <a:srgbClr val="FF0000"/>
                </a:solidFill>
              </a:rPr>
              <a:t>康普顿效应 </a:t>
            </a:r>
            <a:r>
              <a:rPr lang="en-US" altLang="zh-CN" sz="2400"/>
              <a:t>(1922)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1929</a:t>
            </a:r>
            <a:r>
              <a:rPr lang="zh-CN" altLang="en-US" sz="2400"/>
              <a:t>年 </a:t>
            </a:r>
            <a:r>
              <a:rPr lang="zh-CN" altLang="en-US" sz="2400">
                <a:solidFill>
                  <a:srgbClr val="FF0000"/>
                </a:solidFill>
              </a:rPr>
              <a:t>德布罗意</a:t>
            </a:r>
            <a:r>
              <a:rPr lang="en-US" altLang="zh-CN" sz="2400">
                <a:solidFill>
                  <a:srgbClr val="FF0000"/>
                </a:solidFill>
              </a:rPr>
              <a:t>—</a:t>
            </a:r>
            <a:r>
              <a:rPr lang="zh-CN" altLang="en-US" sz="2400">
                <a:solidFill>
                  <a:srgbClr val="FF0000"/>
                </a:solidFill>
              </a:rPr>
              <a:t>物质波（</a:t>
            </a:r>
            <a:r>
              <a:rPr lang="en-US" altLang="zh-CN" sz="2400">
                <a:solidFill>
                  <a:srgbClr val="FF0000"/>
                </a:solidFill>
              </a:rPr>
              <a:t>1924</a:t>
            </a:r>
            <a:r>
              <a:rPr lang="zh-CN" altLang="en-US" sz="2400">
                <a:solidFill>
                  <a:srgbClr val="FF0000"/>
                </a:solidFill>
              </a:rPr>
              <a:t>）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1932</a:t>
            </a:r>
            <a:r>
              <a:rPr lang="zh-CN" altLang="en-US" sz="2400"/>
              <a:t>年 海森伯</a:t>
            </a:r>
            <a:r>
              <a:rPr lang="en-US" altLang="zh-CN" sz="2400"/>
              <a:t>—</a:t>
            </a:r>
            <a:r>
              <a:rPr lang="zh-CN" altLang="en-US" sz="2400"/>
              <a:t>量子力学（</a:t>
            </a:r>
            <a:r>
              <a:rPr lang="en-US" altLang="zh-CN" sz="2400"/>
              <a:t>1925</a:t>
            </a:r>
            <a:r>
              <a:rPr lang="zh-CN" altLang="en-US" sz="2400"/>
              <a:t>）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1933</a:t>
            </a:r>
            <a:r>
              <a:rPr lang="zh-CN" altLang="en-US" sz="2400"/>
              <a:t>年 </a:t>
            </a:r>
            <a:r>
              <a:rPr lang="zh-CN" altLang="en-US" sz="2400">
                <a:solidFill>
                  <a:srgbClr val="FF0000"/>
                </a:solidFill>
              </a:rPr>
              <a:t>薛定谔和狄拉克</a:t>
            </a:r>
            <a:r>
              <a:rPr lang="en-US" altLang="zh-CN" sz="2400">
                <a:solidFill>
                  <a:srgbClr val="FF0000"/>
                </a:solidFill>
              </a:rPr>
              <a:t>—</a:t>
            </a:r>
            <a:r>
              <a:rPr lang="zh-CN" altLang="en-US" sz="2400">
                <a:solidFill>
                  <a:srgbClr val="FF0000"/>
                </a:solidFill>
              </a:rPr>
              <a:t>量子波动力学</a:t>
            </a:r>
            <a:r>
              <a:rPr lang="en-US" altLang="zh-CN" sz="2400"/>
              <a:t>(1925</a:t>
            </a:r>
            <a:r>
              <a:rPr lang="zh-CN" altLang="en-US" sz="2400"/>
              <a:t>、</a:t>
            </a:r>
            <a:r>
              <a:rPr lang="en-US" altLang="zh-CN" sz="2400"/>
              <a:t>1927)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1937</a:t>
            </a:r>
            <a:r>
              <a:rPr lang="zh-CN" altLang="en-US" sz="2400"/>
              <a:t>年 戴维逊和汤姆逊</a:t>
            </a:r>
            <a:r>
              <a:rPr lang="en-US" altLang="zh-CN" sz="2400"/>
              <a:t>—</a:t>
            </a:r>
            <a:r>
              <a:rPr lang="zh-CN" altLang="en-US" sz="2400"/>
              <a:t>电子衍射实验 （</a:t>
            </a:r>
            <a:r>
              <a:rPr lang="en-US" altLang="zh-CN" sz="2400"/>
              <a:t>1927</a:t>
            </a:r>
            <a:r>
              <a:rPr lang="zh-CN" altLang="en-US" sz="2400"/>
              <a:t>）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1945</a:t>
            </a:r>
            <a:r>
              <a:rPr lang="zh-CN" altLang="en-US" sz="2400"/>
              <a:t>年 泡利</a:t>
            </a:r>
            <a:r>
              <a:rPr lang="en-US" altLang="zh-CN" sz="2400"/>
              <a:t>—</a:t>
            </a:r>
            <a:r>
              <a:rPr lang="zh-CN" altLang="en-US" sz="2400"/>
              <a:t>泡利不相容原理 （</a:t>
            </a:r>
            <a:r>
              <a:rPr lang="en-US" altLang="zh-CN" sz="2400"/>
              <a:t>1924</a:t>
            </a:r>
            <a:r>
              <a:rPr lang="zh-CN" altLang="en-US" sz="2400"/>
              <a:t>）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1954</a:t>
            </a:r>
            <a:r>
              <a:rPr lang="zh-CN" altLang="en-US" sz="2400"/>
              <a:t>年 </a:t>
            </a:r>
            <a:r>
              <a:rPr lang="zh-CN" altLang="en-US" sz="2400">
                <a:solidFill>
                  <a:srgbClr val="FF0000"/>
                </a:solidFill>
              </a:rPr>
              <a:t>玻恩</a:t>
            </a:r>
            <a:r>
              <a:rPr lang="en-US" altLang="zh-CN" sz="2400">
                <a:solidFill>
                  <a:srgbClr val="FF0000"/>
                </a:solidFill>
              </a:rPr>
              <a:t>—</a:t>
            </a:r>
            <a:r>
              <a:rPr lang="zh-CN" altLang="en-US" sz="2400">
                <a:solidFill>
                  <a:srgbClr val="FF0000"/>
                </a:solidFill>
              </a:rPr>
              <a:t>波函数统计解释（</a:t>
            </a:r>
            <a:r>
              <a:rPr lang="en-US" altLang="zh-CN" sz="2400">
                <a:solidFill>
                  <a:srgbClr val="FF0000"/>
                </a:solidFill>
              </a:rPr>
              <a:t>1926</a:t>
            </a:r>
            <a:r>
              <a:rPr lang="zh-CN" altLang="en-US" sz="2400">
                <a:solidFill>
                  <a:srgbClr val="FF0000"/>
                </a:solidFill>
              </a:rPr>
              <a:t>）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1986</a:t>
            </a:r>
            <a:r>
              <a:rPr lang="zh-CN" altLang="en-US" sz="2400"/>
              <a:t>年 毕宁和罗尔</a:t>
            </a:r>
            <a:r>
              <a:rPr lang="en-US" altLang="zh-CN" sz="2400"/>
              <a:t>—</a:t>
            </a:r>
            <a:r>
              <a:rPr lang="zh-CN" altLang="en-US" sz="2400"/>
              <a:t>扫描隧道显微镜（</a:t>
            </a:r>
            <a:r>
              <a:rPr lang="en-US" altLang="zh-CN" sz="2400"/>
              <a:t>1981</a:t>
            </a:r>
            <a:r>
              <a:rPr lang="zh-CN" altLang="en-US" sz="2400"/>
              <a:t>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4" descr="PP_228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00438" y="0"/>
            <a:ext cx="5643562" cy="6858000"/>
          </a:xfrm>
          <a:noFill/>
        </p:spPr>
      </p:pic>
      <p:sp>
        <p:nvSpPr>
          <p:cNvPr id="13315" name="Rectangle 6"/>
          <p:cNvSpPr>
            <a:spLocks noChangeArrowheads="1"/>
          </p:cNvSpPr>
          <p:nvPr/>
        </p:nvSpPr>
        <p:spPr bwMode="auto">
          <a:xfrm>
            <a:off x="500063" y="1143000"/>
            <a:ext cx="271462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b="1">
                <a:ea typeface="隶书" panose="02010509060101010101" pitchFamily="49" charset="-122"/>
              </a:rPr>
              <a:t>  </a:t>
            </a:r>
            <a:r>
              <a:rPr kumimoji="1" lang="zh-CN" altLang="en-US" sz="4800" b="1">
                <a:ea typeface="隶书" panose="02010509060101010101" pitchFamily="49" charset="-122"/>
              </a:rPr>
              <a:t>第六篇</a:t>
            </a:r>
            <a:br>
              <a:rPr kumimoji="1" lang="zh-CN" altLang="en-US" sz="4800" b="1">
                <a:ea typeface="隶书" panose="02010509060101010101" pitchFamily="49" charset="-122"/>
              </a:rPr>
            </a:br>
            <a:r>
              <a:rPr kumimoji="1" lang="zh-CN" altLang="en-US" sz="4800">
                <a:ea typeface="隶书" panose="02010509060101010101" pitchFamily="49" charset="-122"/>
              </a:rPr>
              <a:t>量子物理</a:t>
            </a:r>
          </a:p>
        </p:txBody>
      </p:sp>
      <p:sp>
        <p:nvSpPr>
          <p:cNvPr id="132103" name="Text Box 7"/>
          <p:cNvSpPr txBox="1">
            <a:spLocks noChangeArrowheads="1"/>
          </p:cNvSpPr>
          <p:nvPr/>
        </p:nvSpPr>
        <p:spPr bwMode="auto">
          <a:xfrm>
            <a:off x="214313" y="3929063"/>
            <a:ext cx="32146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第</a:t>
            </a:r>
            <a:r>
              <a:rPr kumimoji="1"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14</a:t>
            </a:r>
            <a:r>
              <a:rPr kumimoji="1"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章 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早期量子理论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3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3" name="Text Box 5"/>
          <p:cNvSpPr txBox="1">
            <a:spLocks noChangeArrowheads="1"/>
          </p:cNvSpPr>
          <p:nvPr/>
        </p:nvSpPr>
        <p:spPr bwMode="auto">
          <a:xfrm>
            <a:off x="1976438" y="2500313"/>
            <a:ext cx="43100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第</a:t>
            </a:r>
            <a:r>
              <a:rPr kumimoji="1" lang="en-US" altLang="zh-CN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1</a:t>
            </a:r>
            <a:r>
              <a:rPr kumimoji="1" lang="zh-CN" altLang="en-US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节   普朗克能量子理论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隶书" pitchFamily="49" charset="-122"/>
              </a:rPr>
              <a:t>          </a:t>
            </a:r>
          </a:p>
        </p:txBody>
      </p:sp>
      <p:sp>
        <p:nvSpPr>
          <p:cNvPr id="130054" name="Text Box 6"/>
          <p:cNvSpPr txBox="1">
            <a:spLocks noChangeArrowheads="1"/>
          </p:cNvSpPr>
          <p:nvPr/>
        </p:nvSpPr>
        <p:spPr bwMode="auto">
          <a:xfrm>
            <a:off x="1974850" y="3119438"/>
            <a:ext cx="28114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第</a:t>
            </a:r>
            <a:r>
              <a:rPr kumimoji="1" lang="en-US" altLang="zh-CN" sz="2800" b="1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2</a:t>
            </a:r>
            <a:r>
              <a:rPr kumimoji="1" lang="zh-CN" altLang="en-US" sz="2800" b="1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节   光电效应</a:t>
            </a:r>
            <a:endParaRPr kumimoji="1" lang="zh-CN" altLang="en-US" sz="2800" b="1">
              <a:solidFill>
                <a:srgbClr val="0033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30055" name="Text Box 7"/>
          <p:cNvSpPr txBox="1">
            <a:spLocks noChangeArrowheads="1"/>
          </p:cNvSpPr>
          <p:nvPr/>
        </p:nvSpPr>
        <p:spPr bwMode="auto">
          <a:xfrm>
            <a:off x="1974850" y="3679825"/>
            <a:ext cx="52403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1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第</a:t>
            </a:r>
            <a:r>
              <a:rPr kumimoji="1" lang="en-US" altLang="zh-CN" sz="2800" b="1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3</a:t>
            </a:r>
            <a:r>
              <a:rPr kumimoji="1" lang="zh-CN" altLang="en-US" sz="2800" b="1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节   光子 爱因斯坦光电方程</a:t>
            </a:r>
            <a:endParaRPr kumimoji="1" lang="zh-CN" altLang="en-US" sz="2800" b="1">
              <a:solidFill>
                <a:srgbClr val="0033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30056" name="Text Box 8"/>
          <p:cNvSpPr txBox="1">
            <a:spLocks noChangeArrowheads="1"/>
          </p:cNvSpPr>
          <p:nvPr/>
        </p:nvSpPr>
        <p:spPr bwMode="auto">
          <a:xfrm>
            <a:off x="1974850" y="4278313"/>
            <a:ext cx="43116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第</a:t>
            </a:r>
            <a:r>
              <a:rPr kumimoji="1" lang="en-US" altLang="zh-CN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4</a:t>
            </a:r>
            <a:r>
              <a:rPr kumimoji="1" lang="zh-CN" altLang="en-US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节   </a:t>
            </a:r>
            <a:r>
              <a:rPr lang="zh-CN" altLang="en-US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光子</a:t>
            </a:r>
            <a:r>
              <a:rPr kumimoji="1" lang="zh-CN" altLang="en-US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的波粒二象性</a:t>
            </a:r>
            <a:endParaRPr kumimoji="1" lang="zh-CN" altLang="en-US" sz="2800" b="1" dirty="0">
              <a:solidFill>
                <a:srgbClr val="0033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30057" name="Rectangle 9"/>
          <p:cNvSpPr>
            <a:spLocks noChangeArrowheads="1"/>
          </p:cNvSpPr>
          <p:nvPr/>
        </p:nvSpPr>
        <p:spPr bwMode="auto">
          <a:xfrm>
            <a:off x="1962150" y="4857750"/>
            <a:ext cx="4452938" cy="523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第</a:t>
            </a:r>
            <a:r>
              <a:rPr lang="en-US" altLang="zh-CN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5</a:t>
            </a:r>
            <a:r>
              <a:rPr lang="zh-CN" altLang="en-US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节   </a:t>
            </a:r>
            <a:r>
              <a:rPr kumimoji="1" lang="zh-CN" altLang="en-US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康普顿效应</a:t>
            </a:r>
            <a:r>
              <a:rPr lang="en-US" altLang="zh-CN" sz="2800" b="1" dirty="0">
                <a:solidFill>
                  <a:srgbClr val="003300"/>
                </a:solidFill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重点</a:t>
            </a:r>
            <a:r>
              <a:rPr lang="en-US" altLang="zh-CN" sz="2800" b="1" dirty="0">
                <a:solidFill>
                  <a:srgbClr val="003300"/>
                </a:solidFill>
              </a:rPr>
              <a:t>)</a:t>
            </a:r>
            <a:endParaRPr lang="en-US" altLang="zh-CN" sz="2800" b="1" dirty="0">
              <a:solidFill>
                <a:srgbClr val="00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14343" name="矩形 7"/>
          <p:cNvSpPr>
            <a:spLocks noChangeArrowheads="1"/>
          </p:cNvSpPr>
          <p:nvPr/>
        </p:nvSpPr>
        <p:spPr bwMode="auto">
          <a:xfrm>
            <a:off x="1436688" y="841375"/>
            <a:ext cx="6316662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3600" b="1">
                <a:solidFill>
                  <a:srgbClr val="003300"/>
                </a:solidFill>
                <a:latin typeface="宋体" panose="02010600030101010101" pitchFamily="2" charset="-122"/>
              </a:rPr>
              <a:t>第</a:t>
            </a:r>
            <a:r>
              <a:rPr kumimoji="1" lang="en-US" altLang="zh-CN" sz="3600" b="1">
                <a:solidFill>
                  <a:srgbClr val="003300"/>
                </a:solidFill>
                <a:latin typeface="宋体" panose="02010600030101010101" pitchFamily="2" charset="-122"/>
              </a:rPr>
              <a:t>14</a:t>
            </a:r>
            <a:r>
              <a:rPr kumimoji="1" lang="zh-CN" altLang="en-US" sz="3600" b="1">
                <a:solidFill>
                  <a:srgbClr val="003300"/>
                </a:solidFill>
                <a:latin typeface="宋体" panose="02010600030101010101" pitchFamily="2" charset="-122"/>
              </a:rPr>
              <a:t>章</a:t>
            </a:r>
            <a:r>
              <a:rPr kumimoji="1" lang="en-US" altLang="zh-CN" sz="3600" b="1">
                <a:solidFill>
                  <a:srgbClr val="0033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3600" b="1">
                <a:solidFill>
                  <a:srgbClr val="003300"/>
                </a:solidFill>
                <a:latin typeface="宋体" panose="02010600030101010101" pitchFamily="2" charset="-122"/>
              </a:rPr>
              <a:t>一</a:t>
            </a:r>
            <a:r>
              <a:rPr kumimoji="1" lang="en-US" altLang="zh-CN" sz="3600" b="1">
                <a:solidFill>
                  <a:srgbClr val="003300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3600" b="1">
                <a:solidFill>
                  <a:srgbClr val="003300"/>
                </a:solidFill>
                <a:latin typeface="宋体" panose="02010600030101010101" pitchFamily="2" charset="-122"/>
              </a:rPr>
              <a:t>  光的量子理论</a:t>
            </a:r>
            <a:endParaRPr kumimoji="1" lang="en-US" altLang="zh-CN" sz="3600" b="1">
              <a:solidFill>
                <a:srgbClr val="00330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i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1" lang="en-US" altLang="zh-CN" sz="2800" b="1" i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Theory of Light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3" grpId="0"/>
      <p:bldP spid="130054" grpId="0"/>
      <p:bldP spid="130055" grpId="0"/>
      <p:bldP spid="130056" grpId="0"/>
      <p:bldP spid="13005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7" name="Picture 7" descr="C:\Documents and Settings\Administrator\桌面\5467534520100217204909041_640.jpg"/>
          <p:cNvPicPr>
            <a:picLocks noChangeAspect="1" noChangeArrowheads="1"/>
          </p:cNvPicPr>
          <p:nvPr/>
        </p:nvPicPr>
        <p:blipFill>
          <a:blip r:embed="rId2"/>
          <a:srcRect b="16843"/>
          <a:stretch>
            <a:fillRect/>
          </a:stretch>
        </p:blipFill>
        <p:spPr bwMode="auto">
          <a:xfrm>
            <a:off x="4713512" y="2066015"/>
            <a:ext cx="3571650" cy="20834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Box 24"/>
          <p:cNvSpPr txBox="1">
            <a:spLocks noChangeArrowheads="1"/>
          </p:cNvSpPr>
          <p:nvPr/>
        </p:nvSpPr>
        <p:spPr bwMode="auto">
          <a:xfrm>
            <a:off x="1500188" y="142875"/>
            <a:ext cx="561657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  第</a:t>
            </a:r>
            <a:r>
              <a:rPr kumimoji="1" lang="en-US" altLang="zh-CN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</a:t>
            </a:r>
            <a:r>
              <a:rPr kumimoji="1"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节 普朗克能量子理论</a:t>
            </a:r>
          </a:p>
          <a:p>
            <a:pPr eaLnBrk="1" hangingPunct="1">
              <a:defRPr/>
            </a:pPr>
            <a:r>
              <a:rPr kumimoji="1" lang="zh-CN" altLang="en-US" sz="3200" b="1" dirty="0">
                <a:solidFill>
                  <a:srgbClr val="003300"/>
                </a:solidFill>
                <a:latin typeface="Times New Roman" pitchFamily="18" charset="0"/>
                <a:ea typeface="隶书" pitchFamily="49" charset="-122"/>
              </a:rPr>
              <a:t>            </a:t>
            </a:r>
            <a:r>
              <a:rPr kumimoji="1" lang="en-US" altLang="zh-CN" sz="2400" b="1" i="1" dirty="0">
                <a:solidFill>
                  <a:srgbClr val="003300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Quantum Theory of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 </a:t>
            </a:r>
            <a:r>
              <a:rPr kumimoji="1" lang="en-US" altLang="zh-CN" sz="2400" b="1" i="1" dirty="0">
                <a:solidFill>
                  <a:srgbClr val="003300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Planck</a:t>
            </a:r>
            <a:endParaRPr kumimoji="1" lang="en-US" altLang="zh-CN" sz="2400" b="1" dirty="0">
              <a:solidFill>
                <a:srgbClr val="003300"/>
              </a:solidFill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8" y="1125538"/>
            <a:ext cx="3786187" cy="519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1.1 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热辐射与黑体辐射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17500" y="1557338"/>
            <a:ext cx="8286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热辐射</a:t>
            </a:r>
            <a:r>
              <a:rPr lang="zh-CN" altLang="en-US" sz="2800" b="1">
                <a:solidFill>
                  <a:srgbClr val="003300"/>
                </a:solidFill>
              </a:rPr>
              <a:t>：物体由于具有温度而辐射出电磁波的现象</a:t>
            </a:r>
          </a:p>
        </p:txBody>
      </p:sp>
      <p:pic>
        <p:nvPicPr>
          <p:cNvPr id="46082" name="Picture 2" descr="C:\Documents and Settings\Administrator\桌面\09350619C-7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3" y="2157413"/>
            <a:ext cx="1547812" cy="204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4" name="Picture 4" descr="C:\Documents and Settings\Administrator\桌面\1412106_062339357029_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358"/>
          <a:stretch>
            <a:fillRect/>
          </a:stretch>
        </p:blipFill>
        <p:spPr bwMode="auto">
          <a:xfrm>
            <a:off x="2663825" y="2155825"/>
            <a:ext cx="1692275" cy="211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5" name="Picture 5" descr="C:\Documents and Settings\Administrator\桌面\led_sewenduizhao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89138"/>
            <a:ext cx="38433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331788" y="5867400"/>
            <a:ext cx="84883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温度越高</a:t>
            </a:r>
            <a:r>
              <a:rPr lang="zh-CN" altLang="en-US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，单位时间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辐射能增多</a:t>
            </a:r>
            <a:r>
              <a:rPr lang="zh-CN" altLang="en-US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，辐射能的分布逐渐向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短波部分移动（蓝移）</a:t>
            </a:r>
          </a:p>
        </p:txBody>
      </p:sp>
      <p:sp>
        <p:nvSpPr>
          <p:cNvPr id="15370" name="Text Box 41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</a:t>
            </a:r>
            <a:endParaRPr lang="en-US" altLang="zh-CN" sz="1800">
              <a:solidFill>
                <a:srgbClr val="003300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3175" y="2319338"/>
            <a:ext cx="12144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6500 K</a:t>
            </a:r>
            <a:endParaRPr lang="zh-CN" altLang="en-US" sz="2400" b="1" dirty="0">
              <a:solidFill>
                <a:srgbClr val="00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121525" y="2311400"/>
            <a:ext cx="1214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3500 K</a:t>
            </a:r>
            <a:endParaRPr lang="zh-CN" altLang="en-US" sz="2400" b="1">
              <a:solidFill>
                <a:srgbClr val="00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12738" y="4995863"/>
            <a:ext cx="878681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rgbClr val="003300"/>
                </a:solidFill>
              </a:rPr>
              <a:t>色温：如果某一光源发出的光，与</a:t>
            </a:r>
            <a:r>
              <a:rPr lang="en-US" altLang="zh-CN" sz="2800" b="1" dirty="0">
                <a:solidFill>
                  <a:srgbClr val="003300"/>
                </a:solidFill>
              </a:rPr>
              <a:t>T</a:t>
            </a:r>
            <a:r>
              <a:rPr lang="zh-CN" altLang="en-US" sz="2800" b="1" dirty="0">
                <a:solidFill>
                  <a:srgbClr val="003300"/>
                </a:solidFill>
              </a:rPr>
              <a:t>温度下黑体发出的光所含的光谱成分相同．则称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光源的色温为</a:t>
            </a: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 (K)</a:t>
            </a:r>
            <a:endParaRPr lang="zh-CN" altLang="en-US" sz="2800" b="1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3"/>
          <p:cNvSpPr txBox="1">
            <a:spLocks noChangeArrowheads="1"/>
          </p:cNvSpPr>
          <p:nvPr/>
        </p:nvSpPr>
        <p:spPr bwMode="auto">
          <a:xfrm>
            <a:off x="323850" y="4168775"/>
            <a:ext cx="815181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黑体</a:t>
            </a:r>
            <a:r>
              <a:rPr lang="zh-CN" altLang="en-US" sz="2800" b="1">
                <a:solidFill>
                  <a:srgbClr val="003300"/>
                </a:solidFill>
              </a:rPr>
              <a:t>：任意温度下，对任何波长</a:t>
            </a:r>
            <a:r>
              <a:rPr lang="zh-CN" altLang="en-US" sz="2800" b="1">
                <a:solidFill>
                  <a:srgbClr val="FF0000"/>
                </a:solidFill>
              </a:rPr>
              <a:t>全部吸收</a:t>
            </a:r>
            <a:r>
              <a:rPr lang="zh-CN" altLang="en-US" sz="2800" b="1">
                <a:solidFill>
                  <a:srgbClr val="003300"/>
                </a:solidFill>
              </a:rPr>
              <a:t>的物体，叫绝对黑体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5" grpId="0"/>
      <p:bldP spid="13" grpId="0"/>
      <p:bldP spid="14" grpId="0"/>
      <p:bldP spid="2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971550" y="1697038"/>
          <a:ext cx="17716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2" name="Equation" r:id="rId3" imgW="1600200" imgH="393700" progId="Equation.DSMT4">
                  <p:embed/>
                </p:oleObj>
              </mc:Choice>
              <mc:Fallback>
                <p:oleObj name="Equation" r:id="rId3" imgW="16002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697038"/>
                        <a:ext cx="177165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11"/>
          <p:cNvSpPr txBox="1">
            <a:spLocks noChangeArrowheads="1"/>
          </p:cNvSpPr>
          <p:nvPr/>
        </p:nvSpPr>
        <p:spPr bwMode="auto">
          <a:xfrm>
            <a:off x="265113" y="141288"/>
            <a:ext cx="85550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辐射出射度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：单位时间，温度为</a:t>
            </a:r>
            <a:r>
              <a:rPr lang="en-US" altLang="zh-CN" sz="2800" b="1" i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的物体表面，单位面积发射出的各种波长的电磁波能量之和</a:t>
            </a: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4459288" y="1136650"/>
          <a:ext cx="215423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3" name="Equation" r:id="rId5" imgW="2387600" imgH="749300" progId="Equation.DSMT4">
                  <p:embed/>
                </p:oleObj>
              </mc:Choice>
              <mc:Fallback>
                <p:oleObj name="Equation" r:id="rId5" imgW="2387600" imgH="749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9288" y="1136650"/>
                        <a:ext cx="215423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右箭头 6"/>
          <p:cNvSpPr>
            <a:spLocks noChangeArrowheads="1"/>
          </p:cNvSpPr>
          <p:nvPr/>
        </p:nvSpPr>
        <p:spPr bwMode="auto">
          <a:xfrm>
            <a:off x="3179763" y="1768475"/>
            <a:ext cx="714375" cy="4286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3300"/>
              </a:solidFill>
            </a:endParaRPr>
          </a:p>
        </p:txBody>
      </p:sp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2708275" y="1357313"/>
            <a:ext cx="1727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单色辐出度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400550" y="2073275"/>
          <a:ext cx="27447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4" name="Equation" r:id="rId7" imgW="2946400" imgH="622300" progId="Equation.DSMT4">
                  <p:embed/>
                </p:oleObj>
              </mc:Choice>
              <mc:Fallback>
                <p:oleObj name="Equation" r:id="rId7" imgW="2946400" imgH="622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550" y="2073275"/>
                        <a:ext cx="274478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3"/>
          <p:cNvSpPr txBox="1">
            <a:spLocks noChangeArrowheads="1"/>
          </p:cNvSpPr>
          <p:nvPr/>
        </p:nvSpPr>
        <p:spPr bwMode="auto">
          <a:xfrm>
            <a:off x="265113" y="3289300"/>
            <a:ext cx="78581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黑体</a:t>
            </a:r>
            <a:r>
              <a:rPr lang="zh-CN" altLang="en-US" sz="2800" b="1">
                <a:solidFill>
                  <a:srgbClr val="003300"/>
                </a:solidFill>
              </a:rPr>
              <a:t>：任意温度下，对任何波长</a:t>
            </a:r>
            <a:r>
              <a:rPr lang="zh-CN" altLang="en-US" sz="2800" b="1">
                <a:solidFill>
                  <a:srgbClr val="FF0000"/>
                </a:solidFill>
              </a:rPr>
              <a:t>全部吸收</a:t>
            </a:r>
            <a:r>
              <a:rPr lang="zh-CN" altLang="en-US" sz="2800" b="1">
                <a:solidFill>
                  <a:srgbClr val="003300"/>
                </a:solidFill>
              </a:rPr>
              <a:t>的物体，叫绝对黑体</a:t>
            </a:r>
          </a:p>
        </p:txBody>
      </p:sp>
      <p:pic>
        <p:nvPicPr>
          <p:cNvPr id="11" name="Picture 2" descr="C:\Documents and Settings\Administrator\桌面\c75c10385343fbf2c03262c8b07eca8065388f3b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8" y="4289425"/>
            <a:ext cx="2274887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 descr="C:\Documents and Settings\Administrator\桌面\00e93901213fb80e1a6f49d836d12f2eb9389406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800" y="4289425"/>
            <a:ext cx="2255838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 descr="C:\Documents and Settings\Administrator\桌面\0bd162d9f2.jp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788" y="4289425"/>
            <a:ext cx="157162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圆角矩形 13"/>
          <p:cNvSpPr>
            <a:spLocks noChangeArrowheads="1"/>
          </p:cNvSpPr>
          <p:nvPr/>
        </p:nvSpPr>
        <p:spPr bwMode="auto">
          <a:xfrm>
            <a:off x="4765675" y="4003675"/>
            <a:ext cx="2214563" cy="571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空腔小孔模型</a:t>
            </a:r>
          </a:p>
        </p:txBody>
      </p:sp>
      <p:sp>
        <p:nvSpPr>
          <p:cNvPr id="15" name="Text Box 54"/>
          <p:cNvSpPr txBox="1">
            <a:spLocks noChangeArrowheads="1"/>
          </p:cNvSpPr>
          <p:nvPr/>
        </p:nvSpPr>
        <p:spPr bwMode="auto">
          <a:xfrm>
            <a:off x="301625" y="2759075"/>
            <a:ext cx="88090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实验表明，辐射能力越强的物体，其吸收能力也越强</a:t>
            </a:r>
            <a:r>
              <a:rPr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398" name="Text Box 41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2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/>
      <p:bldP spid="10" grpId="0"/>
      <p:bldP spid="14" grpId="0" animBg="1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C8A5F90-5B46-4C73-8979-D36BA238F4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349437"/>
              </p:ext>
            </p:extLst>
          </p:nvPr>
        </p:nvGraphicFramePr>
        <p:xfrm>
          <a:off x="1132647" y="4125394"/>
          <a:ext cx="1432770" cy="630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1" name="Equation" r:id="rId3" imgW="501792" imgH="220684" progId="Equation.DSMT4">
                  <p:embed/>
                </p:oleObj>
              </mc:Choice>
              <mc:Fallback>
                <p:oleObj name="Equation" r:id="rId3" imgW="501792" imgH="22068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32647" y="4125394"/>
                        <a:ext cx="1432770" cy="630239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 bwMode="auto">
          <a:xfrm>
            <a:off x="4495800" y="1649413"/>
            <a:ext cx="4540250" cy="3571875"/>
          </a:xfrm>
          <a:prstGeom prst="rect">
            <a:avLst/>
          </a:prstGeom>
          <a:solidFill>
            <a:schemeClr val="accent6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4500563" y="1700213"/>
            <a:ext cx="4071937" cy="3122612"/>
            <a:chOff x="3327" y="2418"/>
            <a:chExt cx="2121" cy="1729"/>
          </a:xfrm>
        </p:grpSpPr>
        <p:sp>
          <p:nvSpPr>
            <p:cNvPr id="17430" name="Line 27"/>
            <p:cNvSpPr>
              <a:spLocks noChangeShapeType="1"/>
            </p:cNvSpPr>
            <p:nvPr/>
          </p:nvSpPr>
          <p:spPr bwMode="auto">
            <a:xfrm>
              <a:off x="3513" y="2666"/>
              <a:ext cx="0" cy="1433"/>
            </a:xfrm>
            <a:prstGeom prst="line">
              <a:avLst/>
            </a:prstGeom>
            <a:noFill/>
            <a:ln w="444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1" name="Line 28"/>
            <p:cNvSpPr>
              <a:spLocks noChangeShapeType="1"/>
            </p:cNvSpPr>
            <p:nvPr/>
          </p:nvSpPr>
          <p:spPr bwMode="auto">
            <a:xfrm>
              <a:off x="3513" y="4099"/>
              <a:ext cx="1619" cy="0"/>
            </a:xfrm>
            <a:prstGeom prst="line">
              <a:avLst/>
            </a:prstGeom>
            <a:noFill/>
            <a:ln w="444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2" name="Freeform 29"/>
            <p:cNvSpPr>
              <a:spLocks/>
            </p:cNvSpPr>
            <p:nvPr/>
          </p:nvSpPr>
          <p:spPr bwMode="auto">
            <a:xfrm>
              <a:off x="3617" y="2719"/>
              <a:ext cx="1831" cy="1250"/>
            </a:xfrm>
            <a:custGeom>
              <a:avLst/>
              <a:gdLst>
                <a:gd name="T0" fmla="*/ 0 w 1954"/>
                <a:gd name="T1" fmla="*/ 177 h 1381"/>
                <a:gd name="T2" fmla="*/ 112 w 1954"/>
                <a:gd name="T3" fmla="*/ 5 h 1381"/>
                <a:gd name="T4" fmla="*/ 533 w 1954"/>
                <a:gd name="T5" fmla="*/ 188 h 1381"/>
                <a:gd name="T6" fmla="*/ 0 60000 65536"/>
                <a:gd name="T7" fmla="*/ 0 60000 65536"/>
                <a:gd name="T8" fmla="*/ 0 60000 65536"/>
                <a:gd name="T9" fmla="*/ 0 w 1954"/>
                <a:gd name="T10" fmla="*/ 0 h 1381"/>
                <a:gd name="T11" fmla="*/ 1954 w 1954"/>
                <a:gd name="T12" fmla="*/ 1381 h 13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54" h="1381">
                  <a:moveTo>
                    <a:pt x="0" y="1297"/>
                  </a:moveTo>
                  <a:cubicBezTo>
                    <a:pt x="205" y="776"/>
                    <a:pt x="79" y="0"/>
                    <a:pt x="405" y="14"/>
                  </a:cubicBezTo>
                  <a:cubicBezTo>
                    <a:pt x="731" y="28"/>
                    <a:pt x="1089" y="1367"/>
                    <a:pt x="1954" y="1381"/>
                  </a:cubicBezTo>
                </a:path>
              </a:pathLst>
            </a:custGeom>
            <a:noFill/>
            <a:ln w="44450">
              <a:solidFill>
                <a:srgbClr val="CC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3" name="Freeform 30"/>
            <p:cNvSpPr>
              <a:spLocks/>
            </p:cNvSpPr>
            <p:nvPr/>
          </p:nvSpPr>
          <p:spPr bwMode="auto">
            <a:xfrm>
              <a:off x="3749" y="3173"/>
              <a:ext cx="1385" cy="867"/>
            </a:xfrm>
            <a:custGeom>
              <a:avLst/>
              <a:gdLst>
                <a:gd name="T0" fmla="*/ 0 w 1479"/>
                <a:gd name="T1" fmla="*/ 118 h 958"/>
                <a:gd name="T2" fmla="*/ 102 w 1479"/>
                <a:gd name="T3" fmla="*/ 5 h 958"/>
                <a:gd name="T4" fmla="*/ 398 w 1479"/>
                <a:gd name="T5" fmla="*/ 130 h 958"/>
                <a:gd name="T6" fmla="*/ 0 60000 65536"/>
                <a:gd name="T7" fmla="*/ 0 60000 65536"/>
                <a:gd name="T8" fmla="*/ 0 60000 65536"/>
                <a:gd name="T9" fmla="*/ 0 w 1479"/>
                <a:gd name="T10" fmla="*/ 0 h 958"/>
                <a:gd name="T11" fmla="*/ 1479 w 1479"/>
                <a:gd name="T12" fmla="*/ 958 h 9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79" h="958">
                  <a:moveTo>
                    <a:pt x="0" y="874"/>
                  </a:moveTo>
                  <a:cubicBezTo>
                    <a:pt x="151" y="529"/>
                    <a:pt x="107" y="0"/>
                    <a:pt x="377" y="9"/>
                  </a:cubicBezTo>
                  <a:cubicBezTo>
                    <a:pt x="623" y="23"/>
                    <a:pt x="670" y="776"/>
                    <a:pt x="1479" y="958"/>
                  </a:cubicBezTo>
                </a:path>
              </a:pathLst>
            </a:custGeom>
            <a:noFill/>
            <a:ln w="4445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4" name="Freeform 31"/>
            <p:cNvSpPr>
              <a:spLocks/>
            </p:cNvSpPr>
            <p:nvPr/>
          </p:nvSpPr>
          <p:spPr bwMode="auto">
            <a:xfrm>
              <a:off x="3853" y="3535"/>
              <a:ext cx="1054" cy="521"/>
            </a:xfrm>
            <a:custGeom>
              <a:avLst/>
              <a:gdLst>
                <a:gd name="T0" fmla="*/ 0 w 1126"/>
                <a:gd name="T1" fmla="*/ 73 h 576"/>
                <a:gd name="T2" fmla="*/ 109 w 1126"/>
                <a:gd name="T3" fmla="*/ 5 h 576"/>
                <a:gd name="T4" fmla="*/ 300 w 1126"/>
                <a:gd name="T5" fmla="*/ 78 h 576"/>
                <a:gd name="T6" fmla="*/ 0 60000 65536"/>
                <a:gd name="T7" fmla="*/ 0 60000 65536"/>
                <a:gd name="T8" fmla="*/ 0 60000 65536"/>
                <a:gd name="T9" fmla="*/ 0 w 1126"/>
                <a:gd name="T10" fmla="*/ 0 h 576"/>
                <a:gd name="T11" fmla="*/ 1126 w 1126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26" h="576">
                  <a:moveTo>
                    <a:pt x="0" y="545"/>
                  </a:moveTo>
                  <a:cubicBezTo>
                    <a:pt x="196" y="294"/>
                    <a:pt x="223" y="0"/>
                    <a:pt x="411" y="5"/>
                  </a:cubicBezTo>
                  <a:cubicBezTo>
                    <a:pt x="599" y="10"/>
                    <a:pt x="601" y="467"/>
                    <a:pt x="1126" y="576"/>
                  </a:cubicBezTo>
                </a:path>
              </a:pathLst>
            </a:custGeom>
            <a:noFill/>
            <a:ln w="4445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5" name="Freeform 32"/>
            <p:cNvSpPr>
              <a:spLocks/>
            </p:cNvSpPr>
            <p:nvPr/>
          </p:nvSpPr>
          <p:spPr bwMode="auto">
            <a:xfrm>
              <a:off x="3957" y="2753"/>
              <a:ext cx="6" cy="1362"/>
            </a:xfrm>
            <a:custGeom>
              <a:avLst/>
              <a:gdLst>
                <a:gd name="T0" fmla="*/ 6 w 6"/>
                <a:gd name="T1" fmla="*/ 0 h 1506"/>
                <a:gd name="T2" fmla="*/ 0 w 6"/>
                <a:gd name="T3" fmla="*/ 202 h 1506"/>
                <a:gd name="T4" fmla="*/ 0 60000 65536"/>
                <a:gd name="T5" fmla="*/ 0 60000 65536"/>
                <a:gd name="T6" fmla="*/ 0 w 6"/>
                <a:gd name="T7" fmla="*/ 0 h 1506"/>
                <a:gd name="T8" fmla="*/ 6 w 6"/>
                <a:gd name="T9" fmla="*/ 1506 h 150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" h="1506">
                  <a:moveTo>
                    <a:pt x="6" y="0"/>
                  </a:moveTo>
                  <a:lnTo>
                    <a:pt x="0" y="1506"/>
                  </a:lnTo>
                </a:path>
              </a:pathLst>
            </a:custGeom>
            <a:noFill/>
            <a:ln w="44450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6" name="Freeform 33"/>
            <p:cNvSpPr>
              <a:spLocks/>
            </p:cNvSpPr>
            <p:nvPr/>
          </p:nvSpPr>
          <p:spPr bwMode="auto">
            <a:xfrm>
              <a:off x="4201" y="3535"/>
              <a:ext cx="6" cy="590"/>
            </a:xfrm>
            <a:custGeom>
              <a:avLst/>
              <a:gdLst>
                <a:gd name="T0" fmla="*/ 6 w 6"/>
                <a:gd name="T1" fmla="*/ 0 h 1506"/>
                <a:gd name="T2" fmla="*/ 0 w 6"/>
                <a:gd name="T3" fmla="*/ 0 h 1506"/>
                <a:gd name="T4" fmla="*/ 0 60000 65536"/>
                <a:gd name="T5" fmla="*/ 0 60000 65536"/>
                <a:gd name="T6" fmla="*/ 0 w 6"/>
                <a:gd name="T7" fmla="*/ 0 h 1506"/>
                <a:gd name="T8" fmla="*/ 6 w 6"/>
                <a:gd name="T9" fmla="*/ 1506 h 150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" h="1506">
                  <a:moveTo>
                    <a:pt x="6" y="0"/>
                  </a:moveTo>
                  <a:lnTo>
                    <a:pt x="0" y="1506"/>
                  </a:lnTo>
                </a:path>
              </a:pathLst>
            </a:custGeom>
            <a:noFill/>
            <a:ln w="44450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7" name="Freeform 34"/>
            <p:cNvSpPr>
              <a:spLocks/>
            </p:cNvSpPr>
            <p:nvPr/>
          </p:nvSpPr>
          <p:spPr bwMode="auto">
            <a:xfrm>
              <a:off x="4074" y="3230"/>
              <a:ext cx="5" cy="829"/>
            </a:xfrm>
            <a:custGeom>
              <a:avLst/>
              <a:gdLst>
                <a:gd name="T0" fmla="*/ 3 w 6"/>
                <a:gd name="T1" fmla="*/ 0 h 1506"/>
                <a:gd name="T2" fmla="*/ 0 w 6"/>
                <a:gd name="T3" fmla="*/ 1 h 1506"/>
                <a:gd name="T4" fmla="*/ 0 60000 65536"/>
                <a:gd name="T5" fmla="*/ 0 60000 65536"/>
                <a:gd name="T6" fmla="*/ 0 w 6"/>
                <a:gd name="T7" fmla="*/ 0 h 1506"/>
                <a:gd name="T8" fmla="*/ 6 w 6"/>
                <a:gd name="T9" fmla="*/ 1506 h 150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" h="1506">
                  <a:moveTo>
                    <a:pt x="6" y="0"/>
                  </a:moveTo>
                  <a:lnTo>
                    <a:pt x="0" y="1506"/>
                  </a:lnTo>
                </a:path>
              </a:pathLst>
            </a:custGeom>
            <a:noFill/>
            <a:ln w="44450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7438" name="Object 35"/>
            <p:cNvGraphicFramePr>
              <a:graphicFrameLocks noChangeAspect="1"/>
            </p:cNvGraphicFramePr>
            <p:nvPr/>
          </p:nvGraphicFramePr>
          <p:xfrm>
            <a:off x="3327" y="2418"/>
            <a:ext cx="685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12" name="Equation" r:id="rId5" imgW="1206500" imgH="381000" progId="Equation.DSMT4">
                    <p:embed/>
                  </p:oleObj>
                </mc:Choice>
                <mc:Fallback>
                  <p:oleObj name="Equation" r:id="rId5" imgW="1206500" imgH="381000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" y="2418"/>
                          <a:ext cx="685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444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9" name="Object 36"/>
            <p:cNvGraphicFramePr>
              <a:graphicFrameLocks/>
            </p:cNvGraphicFramePr>
            <p:nvPr/>
          </p:nvGraphicFramePr>
          <p:xfrm>
            <a:off x="5172" y="3972"/>
            <a:ext cx="144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13" name="Equation" r:id="rId7" imgW="228600" imgH="279400" progId="Equation.DSMT4">
                    <p:embed/>
                  </p:oleObj>
                </mc:Choice>
                <mc:Fallback>
                  <p:oleObj name="Equation" r:id="rId7" imgW="228600" imgH="279400" progId="Equation.DSMT4">
                    <p:embed/>
                    <p:pic>
                      <p:nvPicPr>
                        <p:cNvPr id="0" name="Object 3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2" y="3972"/>
                          <a:ext cx="144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444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0" name="AutoShape 37"/>
            <p:cNvSpPr>
              <a:spLocks noChangeArrowheads="1"/>
            </p:cNvSpPr>
            <p:nvPr/>
          </p:nvSpPr>
          <p:spPr bwMode="auto">
            <a:xfrm>
              <a:off x="4406" y="2576"/>
              <a:ext cx="540" cy="217"/>
            </a:xfrm>
            <a:prstGeom prst="wedgeRoundRectCallout">
              <a:avLst>
                <a:gd name="adj1" fmla="val -44097"/>
                <a:gd name="adj2" fmla="val 174167"/>
                <a:gd name="adj3" fmla="val 16667"/>
              </a:avLst>
            </a:prstGeom>
            <a:noFill/>
            <a:ln w="44450">
              <a:solidFill>
                <a:srgbClr val="CC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1700</a:t>
              </a:r>
              <a:r>
                <a:rPr kumimoji="1" lang="en-US" altLang="zh-CN" sz="2400" b="1" i="1">
                  <a:solidFill>
                    <a:schemeClr val="bg1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K</a:t>
              </a:r>
              <a:endPara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7441" name="AutoShape 38"/>
            <p:cNvSpPr>
              <a:spLocks noChangeArrowheads="1"/>
            </p:cNvSpPr>
            <p:nvPr/>
          </p:nvSpPr>
          <p:spPr bwMode="auto">
            <a:xfrm>
              <a:off x="4704" y="3011"/>
              <a:ext cx="539" cy="217"/>
            </a:xfrm>
            <a:prstGeom prst="wedgeRoundRectCallout">
              <a:avLst>
                <a:gd name="adj1" fmla="val -80731"/>
                <a:gd name="adj2" fmla="val 176250"/>
                <a:gd name="adj3" fmla="val 16667"/>
              </a:avLst>
            </a:prstGeom>
            <a:noFill/>
            <a:ln w="44450">
              <a:solidFill>
                <a:srgbClr val="CC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1500</a:t>
              </a:r>
              <a:r>
                <a:rPr kumimoji="1" lang="en-US" altLang="zh-CN" sz="2400" b="1" i="1">
                  <a:solidFill>
                    <a:schemeClr val="bg1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K</a:t>
              </a:r>
              <a:endPara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7442" name="AutoShape 39"/>
            <p:cNvSpPr>
              <a:spLocks noChangeArrowheads="1"/>
            </p:cNvSpPr>
            <p:nvPr/>
          </p:nvSpPr>
          <p:spPr bwMode="auto">
            <a:xfrm>
              <a:off x="4815" y="3328"/>
              <a:ext cx="539" cy="217"/>
            </a:xfrm>
            <a:prstGeom prst="wedgeRoundRectCallout">
              <a:avLst>
                <a:gd name="adj1" fmla="val -80731"/>
                <a:gd name="adj2" fmla="val 176250"/>
                <a:gd name="adj3" fmla="val 16667"/>
              </a:avLst>
            </a:prstGeom>
            <a:noFill/>
            <a:ln w="44450">
              <a:solidFill>
                <a:srgbClr val="CC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1300</a:t>
              </a:r>
              <a:r>
                <a:rPr kumimoji="1"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K</a:t>
              </a:r>
              <a:endParaRPr kumimoji="1"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sp>
        <p:nvSpPr>
          <p:cNvPr id="19496" name="Text Box 40"/>
          <p:cNvSpPr txBox="1">
            <a:spLocks noChangeArrowheads="1"/>
          </p:cNvSpPr>
          <p:nvPr/>
        </p:nvSpPr>
        <p:spPr bwMode="auto">
          <a:xfrm>
            <a:off x="4686300" y="5181600"/>
            <a:ext cx="41211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上图为</a:t>
            </a: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不同温度下，黑体辐射能量与波长的关系图。</a:t>
            </a:r>
          </a:p>
        </p:txBody>
      </p:sp>
      <p:sp>
        <p:nvSpPr>
          <p:cNvPr id="17413" name="Text Box 41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3</a:t>
            </a:r>
            <a:endParaRPr lang="en-US" altLang="zh-CN" sz="1800">
              <a:solidFill>
                <a:srgbClr val="003300"/>
              </a:solidFill>
            </a:endParaRPr>
          </a:p>
        </p:txBody>
      </p:sp>
      <p:graphicFrame>
        <p:nvGraphicFramePr>
          <p:cNvPr id="1536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212514"/>
              </p:ext>
            </p:extLst>
          </p:nvPr>
        </p:nvGraphicFramePr>
        <p:xfrm>
          <a:off x="4495800" y="1195388"/>
          <a:ext cx="11684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4" name="Equation" r:id="rId9" imgW="1295280" imgH="431640" progId="Equation.DSMT4">
                  <p:embed/>
                </p:oleObj>
              </mc:Choice>
              <mc:Fallback>
                <p:oleObj name="Equation" r:id="rId9" imgW="1295280" imgH="43164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195388"/>
                        <a:ext cx="11684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5608638" y="1125538"/>
            <a:ext cx="3500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为绝对黑体的辐出度</a:t>
            </a:r>
          </a:p>
        </p:txBody>
      </p:sp>
      <p:cxnSp>
        <p:nvCxnSpPr>
          <p:cNvPr id="23" name="直接箭头连接符 22"/>
          <p:cNvCxnSpPr>
            <a:cxnSpLocks noChangeShapeType="1"/>
          </p:cNvCxnSpPr>
          <p:nvPr/>
        </p:nvCxnSpPr>
        <p:spPr bwMode="auto">
          <a:xfrm flipH="1" flipV="1">
            <a:off x="5653088" y="2043113"/>
            <a:ext cx="633412" cy="2157412"/>
          </a:xfrm>
          <a:prstGeom prst="straightConnector1">
            <a:avLst/>
          </a:prstGeom>
          <a:noFill/>
          <a:ln w="57150" cap="sq" algn="ctr">
            <a:solidFill>
              <a:srgbClr val="FF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Rectangle 34"/>
          <p:cNvSpPr>
            <a:spLocks noChangeArrowheads="1"/>
          </p:cNvSpPr>
          <p:nvPr/>
        </p:nvSpPr>
        <p:spPr bwMode="auto">
          <a:xfrm>
            <a:off x="44450" y="889000"/>
            <a:ext cx="4572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3300"/>
                </a:solidFill>
              </a:rPr>
              <a:t>1. </a:t>
            </a:r>
            <a:r>
              <a:rPr lang="zh-CN" altLang="en-US" sz="2800" b="1" dirty="0">
                <a:solidFill>
                  <a:srgbClr val="003300"/>
                </a:solidFill>
              </a:rPr>
              <a:t>斯特藩</a:t>
            </a:r>
            <a:r>
              <a:rPr lang="en-US" altLang="zh-CN" sz="2800" b="1" dirty="0">
                <a:solidFill>
                  <a:srgbClr val="003300"/>
                </a:solidFill>
              </a:rPr>
              <a:t>—</a:t>
            </a:r>
            <a:r>
              <a:rPr lang="zh-CN" altLang="en-US" sz="2800" b="1" dirty="0">
                <a:solidFill>
                  <a:srgbClr val="003300"/>
                </a:solidFill>
              </a:rPr>
              <a:t>玻尔兹曼定律</a:t>
            </a:r>
          </a:p>
        </p:txBody>
      </p:sp>
      <p:graphicFrame>
        <p:nvGraphicFramePr>
          <p:cNvPr id="28" name="Object 35"/>
          <p:cNvGraphicFramePr>
            <a:graphicFrameLocks noChangeAspect="1"/>
          </p:cNvGraphicFramePr>
          <p:nvPr/>
        </p:nvGraphicFramePr>
        <p:xfrm>
          <a:off x="144463" y="1500188"/>
          <a:ext cx="406717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5" name="公式" r:id="rId11" imgW="1705079" imgH="209520" progId="Equation.3">
                  <p:embed/>
                </p:oleObj>
              </mc:Choice>
              <mc:Fallback>
                <p:oleObj name="公式" r:id="rId11" imgW="1705079" imgH="20952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3" y="1500188"/>
                        <a:ext cx="4067175" cy="7048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36"/>
          <p:cNvGrpSpPr>
            <a:grpSpLocks/>
          </p:cNvGrpSpPr>
          <p:nvPr/>
        </p:nvGrpSpPr>
        <p:grpSpPr bwMode="auto">
          <a:xfrm>
            <a:off x="173038" y="2314575"/>
            <a:ext cx="4065587" cy="1065213"/>
            <a:chOff x="463" y="1632"/>
            <a:chExt cx="2561" cy="671"/>
          </a:xfrm>
        </p:grpSpPr>
        <p:graphicFrame>
          <p:nvGraphicFramePr>
            <p:cNvPr id="17428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9656917"/>
                </p:ext>
              </p:extLst>
            </p:nvPr>
          </p:nvGraphicFramePr>
          <p:xfrm>
            <a:off x="499" y="1971"/>
            <a:ext cx="2404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16" name="Equation" r:id="rId13" imgW="1743168" imgH="133380" progId="Equation.DSMT4">
                    <p:embed/>
                  </p:oleObj>
                </mc:Choice>
                <mc:Fallback>
                  <p:oleObj name="Equation" r:id="rId13" imgW="1743168" imgH="13338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" y="1971"/>
                          <a:ext cx="2404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9" name="Rectangle 38"/>
            <p:cNvSpPr>
              <a:spLocks noChangeArrowheads="1"/>
            </p:cNvSpPr>
            <p:nvPr/>
          </p:nvSpPr>
          <p:spPr bwMode="auto">
            <a:xfrm>
              <a:off x="463" y="1632"/>
              <a:ext cx="256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  <a:latin typeface="宋体" panose="02010600030101010101" pitchFamily="2" charset="-122"/>
                </a:rPr>
                <a:t>斯特藩</a:t>
              </a:r>
              <a:r>
                <a:rPr lang="en-US" altLang="zh-CN" sz="2800" b="1">
                  <a:solidFill>
                    <a:srgbClr val="003300"/>
                  </a:solidFill>
                </a:rPr>
                <a:t>—</a:t>
              </a:r>
              <a:r>
                <a:rPr lang="zh-CN" altLang="en-US" sz="2800" b="1">
                  <a:solidFill>
                    <a:srgbClr val="003300"/>
                  </a:solidFill>
                  <a:latin typeface="宋体" panose="02010600030101010101" pitchFamily="2" charset="-122"/>
                </a:rPr>
                <a:t>玻尔兹曼常量</a:t>
              </a:r>
            </a:p>
          </p:txBody>
        </p:sp>
      </p:grpSp>
      <p:sp>
        <p:nvSpPr>
          <p:cNvPr id="33" name="Text Box 39"/>
          <p:cNvSpPr txBox="1">
            <a:spLocks noChangeArrowheads="1"/>
          </p:cNvSpPr>
          <p:nvPr/>
        </p:nvSpPr>
        <p:spPr bwMode="auto">
          <a:xfrm>
            <a:off x="44450" y="3476625"/>
            <a:ext cx="37655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003300"/>
                </a:solidFill>
              </a:rPr>
              <a:t>2.  </a:t>
            </a:r>
            <a:r>
              <a:rPr lang="zh-CN" altLang="en-US" sz="2800" b="1" dirty="0">
                <a:solidFill>
                  <a:srgbClr val="003300"/>
                </a:solidFill>
              </a:rPr>
              <a:t>维恩位移定律</a:t>
            </a:r>
          </a:p>
        </p:txBody>
      </p:sp>
      <p:grpSp>
        <p:nvGrpSpPr>
          <p:cNvPr id="35" name="Group 53"/>
          <p:cNvGrpSpPr>
            <a:grpSpLocks/>
          </p:cNvGrpSpPr>
          <p:nvPr/>
        </p:nvGrpSpPr>
        <p:grpSpPr bwMode="auto">
          <a:xfrm>
            <a:off x="260350" y="5838825"/>
            <a:ext cx="3900488" cy="523875"/>
            <a:chOff x="340" y="3648"/>
            <a:chExt cx="2457" cy="330"/>
          </a:xfrm>
        </p:grpSpPr>
        <p:graphicFrame>
          <p:nvGraphicFramePr>
            <p:cNvPr id="17426" name="Object 42"/>
            <p:cNvGraphicFramePr>
              <a:graphicFrameLocks noChangeAspect="1"/>
            </p:cNvGraphicFramePr>
            <p:nvPr/>
          </p:nvGraphicFramePr>
          <p:xfrm>
            <a:off x="892" y="3658"/>
            <a:ext cx="1905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17" name="Equation" r:id="rId15" imgW="1238289" imgH="104760" progId="Equation.DSMT4">
                    <p:embed/>
                  </p:oleObj>
                </mc:Choice>
                <mc:Fallback>
                  <p:oleObj name="Equation" r:id="rId15" imgW="1238289" imgH="104760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2" y="3658"/>
                          <a:ext cx="1905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7" name="Rectangle 43"/>
            <p:cNvSpPr>
              <a:spLocks noChangeArrowheads="1"/>
            </p:cNvSpPr>
            <p:nvPr/>
          </p:nvSpPr>
          <p:spPr bwMode="auto">
            <a:xfrm>
              <a:off x="340" y="3648"/>
              <a:ext cx="61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  <a:latin typeface="宋体" panose="02010600030101010101" pitchFamily="2" charset="-122"/>
                </a:rPr>
                <a:t>常量</a:t>
              </a:r>
            </a:p>
          </p:txBody>
        </p:sp>
      </p:grpSp>
      <p:sp>
        <p:nvSpPr>
          <p:cNvPr id="38" name="AutoShape 44"/>
          <p:cNvSpPr>
            <a:spLocks noChangeArrowheads="1"/>
          </p:cNvSpPr>
          <p:nvPr/>
        </p:nvSpPr>
        <p:spPr bwMode="auto">
          <a:xfrm>
            <a:off x="747713" y="5153025"/>
            <a:ext cx="1643062" cy="519113"/>
          </a:xfrm>
          <a:prstGeom prst="wedgeRectCallout">
            <a:avLst>
              <a:gd name="adj1" fmla="val -9227"/>
              <a:gd name="adj2" fmla="val -132875"/>
            </a:avLst>
          </a:prstGeom>
          <a:solidFill>
            <a:schemeClr val="accent1">
              <a:alpha val="50195"/>
            </a:schemeClr>
          </a:solidFill>
          <a:ln w="19050">
            <a:solidFill>
              <a:srgbClr val="9900CC"/>
            </a:solidFill>
            <a:miter lim="800000"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3300"/>
                </a:solidFill>
              </a:rPr>
              <a:t>峰值波长</a:t>
            </a:r>
          </a:p>
        </p:txBody>
      </p:sp>
      <p:sp>
        <p:nvSpPr>
          <p:cNvPr id="14351" name="Text Box 50"/>
          <p:cNvSpPr txBox="1">
            <a:spLocks noChangeArrowheads="1"/>
          </p:cNvSpPr>
          <p:nvPr/>
        </p:nvSpPr>
        <p:spPr bwMode="auto">
          <a:xfrm>
            <a:off x="44450" y="293688"/>
            <a:ext cx="31892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1.2 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黑体辐射定律</a:t>
            </a:r>
          </a:p>
        </p:txBody>
      </p:sp>
      <p:graphicFrame>
        <p:nvGraphicFramePr>
          <p:cNvPr id="14352" name="Object 3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119550"/>
              </p:ext>
            </p:extLst>
          </p:nvPr>
        </p:nvGraphicFramePr>
        <p:xfrm>
          <a:off x="6054725" y="4791075"/>
          <a:ext cx="4635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8" name="Equation" r:id="rId17" imgW="380835" imgH="380835" progId="Equation.DSMT4">
                  <p:embed/>
                </p:oleObj>
              </mc:Choice>
              <mc:Fallback>
                <p:oleObj name="Equation" r:id="rId17" imgW="380835" imgH="380835" progId="Equation.DSMT4">
                  <p:embed/>
                  <p:pic>
                    <p:nvPicPr>
                      <p:cNvPr id="0" name="Object 36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4725" y="4791075"/>
                        <a:ext cx="46355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444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57515" y="27180"/>
            <a:ext cx="2786485" cy="719093"/>
          </a:xfrm>
          <a:prstGeom prst="rect">
            <a:avLst/>
          </a:prstGeom>
          <a:ln>
            <a:solidFill>
              <a:srgbClr val="FFC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96" grpId="0" autoUpdateAnimBg="0"/>
      <p:bldP spid="21" grpId="0"/>
      <p:bldP spid="27" grpId="0" autoUpdateAnimBg="0"/>
      <p:bldP spid="33" grpId="0" autoUpdateAnimBg="0"/>
      <p:bldP spid="38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1687513" y="2543175"/>
          <a:ext cx="584517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4" name="Equation" r:id="rId3" imgW="2105146" imgH="362070" progId="Equation.DSMT4">
                  <p:embed/>
                </p:oleObj>
              </mc:Choice>
              <mc:Fallback>
                <p:oleObj name="Equation" r:id="rId3" imgW="2105146" imgH="36207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2543175"/>
                        <a:ext cx="5845175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35" name="Group 9"/>
          <p:cNvGrpSpPr>
            <a:grpSpLocks/>
          </p:cNvGrpSpPr>
          <p:nvPr/>
        </p:nvGrpSpPr>
        <p:grpSpPr bwMode="auto">
          <a:xfrm>
            <a:off x="434975" y="628650"/>
            <a:ext cx="8389938" cy="1057275"/>
            <a:chOff x="274" y="396"/>
            <a:chExt cx="5285" cy="666"/>
          </a:xfrm>
        </p:grpSpPr>
        <p:sp>
          <p:nvSpPr>
            <p:cNvPr id="18440" name="Text Box 4"/>
            <p:cNvSpPr txBox="1">
              <a:spLocks noChangeArrowheads="1"/>
            </p:cNvSpPr>
            <p:nvPr/>
          </p:nvSpPr>
          <p:spPr bwMode="auto">
            <a:xfrm>
              <a:off x="274" y="396"/>
              <a:ext cx="5285" cy="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  <a:latin typeface="宋体" panose="02010600030101010101" pitchFamily="2" charset="-122"/>
                </a:rPr>
                <a:t>  </a:t>
              </a:r>
              <a:r>
                <a:rPr lang="zh-CN" altLang="en-US" sz="2800" b="1">
                  <a:solidFill>
                    <a:srgbClr val="003300"/>
                  </a:solidFill>
                  <a:ea typeface="黑体" panose="02010609060101010101" pitchFamily="49" charset="-122"/>
                </a:rPr>
                <a:t>例</a:t>
              </a:r>
              <a:r>
                <a:rPr lang="en-US" altLang="zh-CN" sz="2800" b="1">
                  <a:solidFill>
                    <a:srgbClr val="003300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800" b="1">
                  <a:solidFill>
                    <a:srgbClr val="003300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2800" b="1">
                  <a:solidFill>
                    <a:srgbClr val="003300"/>
                  </a:solidFill>
                  <a:latin typeface="宋体" panose="02010600030101010101" pitchFamily="2" charset="-122"/>
                </a:rPr>
                <a:t>太阳的单色辐出度的峰值波长           ，试由此估算太阳表面的温度</a:t>
              </a:r>
              <a:r>
                <a:rPr lang="en-US" altLang="zh-CN" sz="2800" b="1">
                  <a:solidFill>
                    <a:srgbClr val="003300"/>
                  </a:solidFill>
                  <a:latin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18441" name="Object 5"/>
            <p:cNvGraphicFramePr>
              <a:graphicFrameLocks noChangeAspect="1"/>
            </p:cNvGraphicFramePr>
            <p:nvPr/>
          </p:nvGraphicFramePr>
          <p:xfrm>
            <a:off x="3964" y="415"/>
            <a:ext cx="124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85" name="Equation" r:id="rId5" imgW="742866" imgH="133380" progId="Equation.DSMT4">
                    <p:embed/>
                  </p:oleObj>
                </mc:Choice>
                <mc:Fallback>
                  <p:oleObj name="Equation" r:id="rId5" imgW="742866" imgH="13338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4" y="415"/>
                          <a:ext cx="1240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914400" y="1800225"/>
            <a:ext cx="2362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  <a:ea typeface="黑体" panose="02010609060101010101" pitchFamily="49" charset="-122"/>
              </a:rPr>
              <a:t>解：</a:t>
            </a: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517650" y="1800225"/>
            <a:ext cx="39624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由维恩位移定律</a:t>
            </a:r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971550" y="3611563"/>
            <a:ext cx="7632700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    对宇宙中其他发光星体的表面温度也可用这种方法进行推测</a:t>
            </a:r>
          </a:p>
        </p:txBody>
      </p:sp>
      <p:sp>
        <p:nvSpPr>
          <p:cNvPr id="18439" name="Text Box 41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4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utoUpdateAnimBg="0"/>
      <p:bldP spid="1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4716463" y="115888"/>
            <a:ext cx="4319587" cy="3657600"/>
          </a:xfrm>
          <a:prstGeom prst="rect">
            <a:avLst/>
          </a:prstGeom>
          <a:solidFill>
            <a:schemeClr val="accent6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42875" y="214313"/>
            <a:ext cx="34290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1.3 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经典理论的解释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285750" y="3841750"/>
            <a:ext cx="7723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b. </a:t>
            </a:r>
            <a:r>
              <a:rPr kumimoji="1" lang="zh-CN" altLang="en-US" sz="2800" b="1">
                <a:solidFill>
                  <a:srgbClr val="FF66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瑞利</a:t>
            </a:r>
            <a:r>
              <a:rPr kumimoji="1" lang="en-US" altLang="zh-CN" sz="2800" b="1">
                <a:solidFill>
                  <a:srgbClr val="FF66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(1900)-</a:t>
            </a:r>
            <a:r>
              <a:rPr kumimoji="1" lang="zh-CN" altLang="en-US" sz="2800" b="1">
                <a:solidFill>
                  <a:srgbClr val="FF66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金斯</a:t>
            </a:r>
            <a:r>
              <a:rPr kumimoji="1" lang="en-US" altLang="zh-CN" sz="2800" b="1">
                <a:solidFill>
                  <a:srgbClr val="FF66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(1905)</a:t>
            </a:r>
            <a:r>
              <a:rPr kumimoji="1" lang="en-US" altLang="zh-CN" sz="2800" b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(</a:t>
            </a:r>
            <a:r>
              <a:rPr kumimoji="1" lang="en-US" altLang="zh-CN" sz="2800" b="1" i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Rayleigh-Jeans</a:t>
            </a:r>
            <a:r>
              <a:rPr kumimoji="1" lang="en-US" altLang="zh-CN" sz="2800" b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)</a:t>
            </a:r>
            <a:r>
              <a:rPr kumimoji="1" lang="zh-CN" altLang="en-US" sz="2800" b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公式</a:t>
            </a:r>
            <a:endParaRPr kumimoji="1" lang="en-US" altLang="zh-CN" sz="2800" b="1">
              <a:solidFill>
                <a:srgbClr val="FF6600"/>
              </a:solidFill>
              <a:latin typeface="楷体_GB2312"/>
              <a:ea typeface="楷体_GB2312"/>
              <a:cs typeface="楷体_GB2312"/>
              <a:sym typeface="Symbol" panose="05050102010706020507" pitchFamily="18" charset="2"/>
            </a:endParaRPr>
          </a:p>
        </p:txBody>
      </p:sp>
      <p:sp>
        <p:nvSpPr>
          <p:cNvPr id="6148" name="Freeform 4"/>
          <p:cNvSpPr>
            <a:spLocks/>
          </p:cNvSpPr>
          <p:nvPr/>
        </p:nvSpPr>
        <p:spPr bwMode="auto">
          <a:xfrm>
            <a:off x="6546850" y="977900"/>
            <a:ext cx="1462088" cy="2325688"/>
          </a:xfrm>
          <a:custGeom>
            <a:avLst/>
            <a:gdLst>
              <a:gd name="T0" fmla="*/ 0 w 921"/>
              <a:gd name="T1" fmla="*/ 0 h 1465"/>
              <a:gd name="T2" fmla="*/ 2147483646 w 921"/>
              <a:gd name="T3" fmla="*/ 2147483646 h 1465"/>
              <a:gd name="T4" fmla="*/ 2147483646 w 921"/>
              <a:gd name="T5" fmla="*/ 2147483646 h 1465"/>
              <a:gd name="T6" fmla="*/ 0 60000 65536"/>
              <a:gd name="T7" fmla="*/ 0 60000 65536"/>
              <a:gd name="T8" fmla="*/ 0 60000 65536"/>
              <a:gd name="T9" fmla="*/ 0 w 921"/>
              <a:gd name="T10" fmla="*/ 0 h 1465"/>
              <a:gd name="T11" fmla="*/ 921 w 921"/>
              <a:gd name="T12" fmla="*/ 1465 h 14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21" h="1465">
                <a:moveTo>
                  <a:pt x="0" y="0"/>
                </a:moveTo>
                <a:cubicBezTo>
                  <a:pt x="58" y="158"/>
                  <a:pt x="181" y="705"/>
                  <a:pt x="335" y="949"/>
                </a:cubicBezTo>
                <a:cubicBezTo>
                  <a:pt x="488" y="1186"/>
                  <a:pt x="516" y="1297"/>
                  <a:pt x="921" y="1465"/>
                </a:cubicBezTo>
              </a:path>
            </a:pathLst>
          </a:custGeom>
          <a:noFill/>
          <a:ln w="4127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9" name="Freeform 5"/>
          <p:cNvSpPr>
            <a:spLocks/>
          </p:cNvSpPr>
          <p:nvPr/>
        </p:nvSpPr>
        <p:spPr bwMode="auto">
          <a:xfrm>
            <a:off x="5022850" y="1119188"/>
            <a:ext cx="2557463" cy="2297112"/>
          </a:xfrm>
          <a:custGeom>
            <a:avLst/>
            <a:gdLst>
              <a:gd name="T0" fmla="*/ 0 w 1611"/>
              <a:gd name="T1" fmla="*/ 2147483646 h 1447"/>
              <a:gd name="T2" fmla="*/ 2147483646 w 1611"/>
              <a:gd name="T3" fmla="*/ 2147483646 h 1447"/>
              <a:gd name="T4" fmla="*/ 2147483646 w 1611"/>
              <a:gd name="T5" fmla="*/ 2147483646 h 1447"/>
              <a:gd name="T6" fmla="*/ 2147483646 w 1611"/>
              <a:gd name="T7" fmla="*/ 2147483646 h 1447"/>
              <a:gd name="T8" fmla="*/ 0 60000 65536"/>
              <a:gd name="T9" fmla="*/ 0 60000 65536"/>
              <a:gd name="T10" fmla="*/ 0 60000 65536"/>
              <a:gd name="T11" fmla="*/ 0 60000 65536"/>
              <a:gd name="T12" fmla="*/ 0 w 1611"/>
              <a:gd name="T13" fmla="*/ 0 h 1447"/>
              <a:gd name="T14" fmla="*/ 1611 w 1611"/>
              <a:gd name="T15" fmla="*/ 1447 h 144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11" h="1447">
                <a:moveTo>
                  <a:pt x="0" y="1353"/>
                </a:moveTo>
                <a:cubicBezTo>
                  <a:pt x="205" y="832"/>
                  <a:pt x="79" y="56"/>
                  <a:pt x="405" y="70"/>
                </a:cubicBezTo>
                <a:cubicBezTo>
                  <a:pt x="564" y="0"/>
                  <a:pt x="754" y="701"/>
                  <a:pt x="955" y="931"/>
                </a:cubicBezTo>
                <a:cubicBezTo>
                  <a:pt x="1156" y="1161"/>
                  <a:pt x="1454" y="1334"/>
                  <a:pt x="1611" y="1447"/>
                </a:cubicBezTo>
              </a:path>
            </a:pathLst>
          </a:custGeom>
          <a:noFill/>
          <a:ln w="41275">
            <a:solidFill>
              <a:srgbClr val="CC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0" name="AutoShape 6"/>
          <p:cNvSpPr>
            <a:spLocks noChangeArrowheads="1"/>
          </p:cNvSpPr>
          <p:nvPr/>
        </p:nvSpPr>
        <p:spPr bwMode="auto">
          <a:xfrm>
            <a:off x="7019925" y="901700"/>
            <a:ext cx="1944688" cy="609600"/>
          </a:xfrm>
          <a:prstGeom prst="wedgeEllipseCallout">
            <a:avLst>
              <a:gd name="adj1" fmla="val -61671"/>
              <a:gd name="adj2" fmla="val 63023"/>
            </a:avLst>
          </a:prstGeom>
          <a:noFill/>
          <a:ln w="2857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solidFill>
                <a:srgbClr val="0033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6151" name="AutoShape 7"/>
          <p:cNvSpPr>
            <a:spLocks noChangeArrowheads="1"/>
          </p:cNvSpPr>
          <p:nvPr/>
        </p:nvSpPr>
        <p:spPr bwMode="auto">
          <a:xfrm>
            <a:off x="7358063" y="2105025"/>
            <a:ext cx="1296987" cy="609600"/>
          </a:xfrm>
          <a:prstGeom prst="wedgeEllipseCallout">
            <a:avLst>
              <a:gd name="adj1" fmla="val -93421"/>
              <a:gd name="adj2" fmla="val 33593"/>
            </a:avLst>
          </a:prstGeom>
          <a:noFill/>
          <a:ln w="28575">
            <a:solidFill>
              <a:srgbClr val="CC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solidFill>
                <a:srgbClr val="0033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4935538" y="977900"/>
            <a:ext cx="0" cy="2514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3" name="Line 9"/>
          <p:cNvSpPr>
            <a:spLocks noChangeShapeType="1"/>
          </p:cNvSpPr>
          <p:nvPr/>
        </p:nvSpPr>
        <p:spPr bwMode="auto">
          <a:xfrm>
            <a:off x="4935538" y="3492500"/>
            <a:ext cx="274320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4" name="Freeform 10"/>
          <p:cNvSpPr>
            <a:spLocks/>
          </p:cNvSpPr>
          <p:nvPr/>
        </p:nvSpPr>
        <p:spPr bwMode="auto">
          <a:xfrm>
            <a:off x="5111750" y="1130300"/>
            <a:ext cx="3101975" cy="2192338"/>
          </a:xfrm>
          <a:custGeom>
            <a:avLst/>
            <a:gdLst>
              <a:gd name="T0" fmla="*/ 0 w 1954"/>
              <a:gd name="T1" fmla="*/ 2147483646 h 1381"/>
              <a:gd name="T2" fmla="*/ 2147483646 w 1954"/>
              <a:gd name="T3" fmla="*/ 2147483646 h 1381"/>
              <a:gd name="T4" fmla="*/ 2147483646 w 1954"/>
              <a:gd name="T5" fmla="*/ 2147483646 h 1381"/>
              <a:gd name="T6" fmla="*/ 0 60000 65536"/>
              <a:gd name="T7" fmla="*/ 0 60000 65536"/>
              <a:gd name="T8" fmla="*/ 0 60000 65536"/>
              <a:gd name="T9" fmla="*/ 0 w 1954"/>
              <a:gd name="T10" fmla="*/ 0 h 1381"/>
              <a:gd name="T11" fmla="*/ 1954 w 1954"/>
              <a:gd name="T12" fmla="*/ 1381 h 13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54" h="1381">
                <a:moveTo>
                  <a:pt x="0" y="1297"/>
                </a:moveTo>
                <a:cubicBezTo>
                  <a:pt x="205" y="776"/>
                  <a:pt x="79" y="0"/>
                  <a:pt x="405" y="14"/>
                </a:cubicBezTo>
                <a:cubicBezTo>
                  <a:pt x="731" y="28"/>
                  <a:pt x="1089" y="1367"/>
                  <a:pt x="1954" y="1381"/>
                </a:cubicBezTo>
              </a:path>
            </a:pathLst>
          </a:cu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5" name="Freeform 11"/>
          <p:cNvSpPr>
            <a:spLocks/>
          </p:cNvSpPr>
          <p:nvPr/>
        </p:nvSpPr>
        <p:spPr bwMode="auto">
          <a:xfrm>
            <a:off x="5688013" y="1130300"/>
            <a:ext cx="9525" cy="2390775"/>
          </a:xfrm>
          <a:custGeom>
            <a:avLst/>
            <a:gdLst>
              <a:gd name="T0" fmla="*/ 2147483646 w 6"/>
              <a:gd name="T1" fmla="*/ 0 h 1506"/>
              <a:gd name="T2" fmla="*/ 0 w 6"/>
              <a:gd name="T3" fmla="*/ 2147483646 h 1506"/>
              <a:gd name="T4" fmla="*/ 0 60000 65536"/>
              <a:gd name="T5" fmla="*/ 0 60000 65536"/>
              <a:gd name="T6" fmla="*/ 0 w 6"/>
              <a:gd name="T7" fmla="*/ 0 h 1506"/>
              <a:gd name="T8" fmla="*/ 6 w 6"/>
              <a:gd name="T9" fmla="*/ 1506 h 150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" h="1506">
                <a:moveTo>
                  <a:pt x="6" y="0"/>
                </a:moveTo>
                <a:lnTo>
                  <a:pt x="0" y="1506"/>
                </a:lnTo>
              </a:path>
            </a:pathLst>
          </a:custGeom>
          <a:noFill/>
          <a:ln w="9525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56" name="Object 12"/>
          <p:cNvGraphicFramePr>
            <a:graphicFrameLocks noChangeAspect="1"/>
          </p:cNvGraphicFramePr>
          <p:nvPr/>
        </p:nvGraphicFramePr>
        <p:xfrm>
          <a:off x="4741863" y="647700"/>
          <a:ext cx="10160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9" name="Equation" r:id="rId4" imgW="1206500" imgH="381000" progId="Equation.DSMT4">
                  <p:embed/>
                </p:oleObj>
              </mc:Choice>
              <mc:Fallback>
                <p:oleObj name="Equation" r:id="rId4" imgW="1206500" imgH="381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1863" y="647700"/>
                        <a:ext cx="101600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7" name="Object 13"/>
          <p:cNvGraphicFramePr>
            <a:graphicFrameLocks noChangeAspect="1"/>
          </p:cNvGraphicFramePr>
          <p:nvPr/>
        </p:nvGraphicFramePr>
        <p:xfrm>
          <a:off x="7661275" y="3438525"/>
          <a:ext cx="30162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0" name="Equation" r:id="rId6" imgW="228600" imgH="279400" progId="Equation.DSMT4">
                  <p:embed/>
                </p:oleObj>
              </mc:Choice>
              <mc:Fallback>
                <p:oleObj name="Equation" r:id="rId6" imgW="228600" imgH="279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1275" y="3438525"/>
                        <a:ext cx="30162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8" name="AutoShape 14"/>
          <p:cNvSpPr>
            <a:spLocks noChangeArrowheads="1"/>
          </p:cNvSpPr>
          <p:nvPr/>
        </p:nvSpPr>
        <p:spPr bwMode="auto">
          <a:xfrm>
            <a:off x="5795963" y="444500"/>
            <a:ext cx="1584325" cy="609600"/>
          </a:xfrm>
          <a:prstGeom prst="cloudCallout">
            <a:avLst>
              <a:gd name="adj1" fmla="val -23046"/>
              <a:gd name="adj2" fmla="val 11094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solidFill>
                <a:srgbClr val="0033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6159" name="Text Box 15"/>
          <p:cNvSpPr txBox="1">
            <a:spLocks noChangeArrowheads="1"/>
          </p:cNvSpPr>
          <p:nvPr/>
        </p:nvSpPr>
        <p:spPr bwMode="auto">
          <a:xfrm>
            <a:off x="5645150" y="3035300"/>
            <a:ext cx="1355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T=1646K</a:t>
            </a:r>
            <a:endParaRPr kumimoji="1" lang="en-US" altLang="zh-CN" sz="2400" b="1">
              <a:solidFill>
                <a:schemeClr val="bg1"/>
              </a:solidFill>
              <a:latin typeface="楷体_GB2312"/>
              <a:ea typeface="楷体_GB2312"/>
              <a:cs typeface="楷体_GB2312"/>
            </a:endParaRPr>
          </a:p>
        </p:txBody>
      </p:sp>
      <p:graphicFrame>
        <p:nvGraphicFramePr>
          <p:cNvPr id="6160" name="Object 16"/>
          <p:cNvGraphicFramePr>
            <a:graphicFrameLocks noChangeAspect="1"/>
          </p:cNvGraphicFramePr>
          <p:nvPr/>
        </p:nvGraphicFramePr>
        <p:xfrm>
          <a:off x="1431925" y="5084763"/>
          <a:ext cx="2852738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1" name="Equation" r:id="rId8" imgW="2794000" imgH="762000" progId="Equation.DSMT4">
                  <p:embed/>
                </p:oleObj>
              </mc:Choice>
              <mc:Fallback>
                <p:oleObj name="Equation" r:id="rId8" imgW="2794000" imgH="7620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5084763"/>
                        <a:ext cx="2852738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1" name="Text Box 17"/>
          <p:cNvSpPr txBox="1">
            <a:spLocks noChangeArrowheads="1"/>
          </p:cNvSpPr>
          <p:nvPr/>
        </p:nvSpPr>
        <p:spPr bwMode="auto">
          <a:xfrm>
            <a:off x="1006475" y="5991225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只适于长波</a:t>
            </a:r>
          </a:p>
        </p:txBody>
      </p:sp>
      <p:sp>
        <p:nvSpPr>
          <p:cNvPr id="6162" name="Rectangle 18"/>
          <p:cNvSpPr>
            <a:spLocks noChangeArrowheads="1"/>
          </p:cNvSpPr>
          <p:nvPr/>
        </p:nvSpPr>
        <p:spPr bwMode="auto">
          <a:xfrm>
            <a:off x="285750" y="785813"/>
            <a:ext cx="4491038" cy="103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a</a:t>
            </a:r>
            <a:r>
              <a:rPr kumimoji="1" lang="en-US" altLang="zh-CN" sz="2800" b="1">
                <a:solidFill>
                  <a:srgbClr val="FF66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.</a:t>
            </a:r>
            <a:r>
              <a:rPr kumimoji="1" lang="zh-CN" altLang="en-US" sz="2800" b="1">
                <a:solidFill>
                  <a:srgbClr val="FF66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维恩</a:t>
            </a:r>
            <a:r>
              <a:rPr kumimoji="1" lang="en-US" altLang="zh-CN" sz="2800" b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( </a:t>
            </a:r>
            <a:r>
              <a:rPr kumimoji="1" lang="en-US" altLang="zh-CN" sz="2800" b="1" i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Wien </a:t>
            </a:r>
            <a:r>
              <a:rPr kumimoji="1" lang="en-US" altLang="zh-CN" sz="2800" b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)</a:t>
            </a:r>
            <a:r>
              <a:rPr kumimoji="1" lang="zh-CN" altLang="en-US" sz="2800" b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公式</a:t>
            </a:r>
            <a:r>
              <a:rPr kumimoji="1" lang="en-US" altLang="zh-CN" sz="2800" b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(1896</a:t>
            </a:r>
            <a:r>
              <a:rPr kumimoji="1" lang="zh-CN" altLang="en-US" sz="2800" b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年</a:t>
            </a:r>
            <a:r>
              <a:rPr kumimoji="1" lang="en-US" altLang="zh-CN" sz="2800" b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)</a:t>
            </a:r>
            <a:endParaRPr kumimoji="1" lang="en-US" altLang="zh-CN" sz="2800" b="1">
              <a:solidFill>
                <a:srgbClr val="FF6600"/>
              </a:solidFill>
              <a:latin typeface="楷体_GB2312"/>
              <a:ea typeface="楷体_GB2312"/>
              <a:cs typeface="楷体_GB2312"/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kumimoji="1" lang="en-US" altLang="zh-CN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  </a:t>
            </a: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根据经典热力学得出：</a:t>
            </a:r>
            <a:endParaRPr kumimoji="1" lang="zh-CN" altLang="zh-CN" sz="2800" b="1">
              <a:solidFill>
                <a:srgbClr val="003300"/>
              </a:solidFill>
              <a:latin typeface="楷体_GB2312"/>
              <a:ea typeface="楷体_GB2312"/>
              <a:cs typeface="楷体_GB2312"/>
              <a:sym typeface="Symbol" panose="05050102010706020507" pitchFamily="18" charset="2"/>
            </a:endParaRPr>
          </a:p>
        </p:txBody>
      </p:sp>
      <p:graphicFrame>
        <p:nvGraphicFramePr>
          <p:cNvPr id="6163" name="Object 19"/>
          <p:cNvGraphicFramePr>
            <a:graphicFrameLocks noChangeAspect="1"/>
          </p:cNvGraphicFramePr>
          <p:nvPr/>
        </p:nvGraphicFramePr>
        <p:xfrm>
          <a:off x="1071563" y="1928813"/>
          <a:ext cx="2747962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2" name="Equation" r:id="rId10" imgW="2794000" imgH="901700" progId="Equation.DSMT4">
                  <p:embed/>
                </p:oleObj>
              </mc:Choice>
              <mc:Fallback>
                <p:oleObj name="Equation" r:id="rId10" imgW="2794000" imgH="9017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1928813"/>
                        <a:ext cx="2747962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6" name="Text Box 22"/>
          <p:cNvSpPr txBox="1">
            <a:spLocks noChangeArrowheads="1"/>
          </p:cNvSpPr>
          <p:nvPr/>
        </p:nvSpPr>
        <p:spPr bwMode="auto">
          <a:xfrm>
            <a:off x="2987675" y="6005513"/>
            <a:ext cx="3700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——</a:t>
            </a:r>
            <a:r>
              <a:rPr kumimoji="1" lang="en-US" altLang="zh-CN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“</a:t>
            </a:r>
            <a:r>
              <a:rPr kumimoji="1" lang="zh-CN" altLang="en-US"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紫外灾难</a:t>
            </a: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”</a:t>
            </a:r>
          </a:p>
        </p:txBody>
      </p:sp>
      <p:sp>
        <p:nvSpPr>
          <p:cNvPr id="6167" name="Text Box 23"/>
          <p:cNvSpPr txBox="1">
            <a:spLocks noChangeArrowheads="1"/>
          </p:cNvSpPr>
          <p:nvPr/>
        </p:nvSpPr>
        <p:spPr bwMode="auto">
          <a:xfrm>
            <a:off x="1090613" y="2960688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——</a:t>
            </a: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只适于短波</a:t>
            </a:r>
          </a:p>
        </p:txBody>
      </p:sp>
      <p:sp>
        <p:nvSpPr>
          <p:cNvPr id="6174" name="Text Box 30"/>
          <p:cNvSpPr txBox="1">
            <a:spLocks noChangeArrowheads="1"/>
          </p:cNvSpPr>
          <p:nvPr/>
        </p:nvSpPr>
        <p:spPr bwMode="auto">
          <a:xfrm>
            <a:off x="6083300" y="476250"/>
            <a:ext cx="2089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bg1"/>
                </a:solidFill>
                <a:ea typeface="楷体_GB2312"/>
                <a:cs typeface="楷体_GB2312"/>
              </a:rPr>
              <a:t>实测</a:t>
            </a:r>
          </a:p>
        </p:txBody>
      </p:sp>
      <p:sp>
        <p:nvSpPr>
          <p:cNvPr id="6175" name="Text Box 31"/>
          <p:cNvSpPr txBox="1">
            <a:spLocks noChangeArrowheads="1"/>
          </p:cNvSpPr>
          <p:nvPr/>
        </p:nvSpPr>
        <p:spPr bwMode="auto">
          <a:xfrm>
            <a:off x="7216775" y="955675"/>
            <a:ext cx="1712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bg1"/>
                </a:solidFill>
                <a:latin typeface="楷体_GB2312"/>
                <a:ea typeface="楷体_GB2312"/>
                <a:cs typeface="楷体_GB2312"/>
              </a:rPr>
              <a:t>瑞利</a:t>
            </a:r>
            <a:r>
              <a:rPr kumimoji="1" lang="en-US" altLang="zh-CN" sz="2400" b="1">
                <a:solidFill>
                  <a:schemeClr val="bg1"/>
                </a:solidFill>
                <a:latin typeface="楷体_GB2312"/>
                <a:ea typeface="楷体_GB2312"/>
                <a:cs typeface="楷体_GB2312"/>
              </a:rPr>
              <a:t>-</a:t>
            </a:r>
            <a:r>
              <a:rPr kumimoji="1" lang="zh-CN" altLang="en-US" sz="2400" b="1">
                <a:solidFill>
                  <a:schemeClr val="bg1"/>
                </a:solidFill>
                <a:latin typeface="楷体_GB2312"/>
                <a:ea typeface="楷体_GB2312"/>
                <a:cs typeface="楷体_GB2312"/>
              </a:rPr>
              <a:t>琼斯</a:t>
            </a:r>
          </a:p>
        </p:txBody>
      </p:sp>
      <p:sp>
        <p:nvSpPr>
          <p:cNvPr id="6176" name="Text Box 32"/>
          <p:cNvSpPr txBox="1">
            <a:spLocks noChangeArrowheads="1"/>
          </p:cNvSpPr>
          <p:nvPr/>
        </p:nvSpPr>
        <p:spPr bwMode="auto">
          <a:xfrm>
            <a:off x="7572375" y="2181225"/>
            <a:ext cx="857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bg1"/>
                </a:solidFill>
                <a:ea typeface="楷体_GB2312"/>
                <a:cs typeface="楷体_GB2312"/>
              </a:rPr>
              <a:t>维恩</a:t>
            </a:r>
          </a:p>
        </p:txBody>
      </p:sp>
      <p:sp>
        <p:nvSpPr>
          <p:cNvPr id="19482" name="Text Box 33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5</a:t>
            </a:r>
            <a:endParaRPr lang="en-US" altLang="zh-CN" sz="1800">
              <a:solidFill>
                <a:srgbClr val="003300"/>
              </a:solidFill>
            </a:endParaRPr>
          </a:p>
        </p:txBody>
      </p:sp>
      <p:sp>
        <p:nvSpPr>
          <p:cNvPr id="27" name="Text Box 22"/>
          <p:cNvSpPr txBox="1">
            <a:spLocks noChangeArrowheads="1"/>
          </p:cNvSpPr>
          <p:nvPr/>
        </p:nvSpPr>
        <p:spPr bwMode="auto">
          <a:xfrm>
            <a:off x="5094288" y="5008563"/>
            <a:ext cx="3835400" cy="831850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A5002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在黑体辐射研究中经典物理面临不可克服的困难</a:t>
            </a:r>
            <a:r>
              <a:rPr lang="en-US" altLang="zh-CN" sz="2400" b="1">
                <a:solidFill>
                  <a:srgbClr val="003300"/>
                </a:solidFill>
                <a:ea typeface="黑体" panose="02010609060101010101" pitchFamily="49" charset="-122"/>
              </a:rPr>
              <a:t> !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611188" y="4373563"/>
            <a:ext cx="5595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用能量均分定理、电磁理论得出：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8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6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6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0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146" grpId="0"/>
      <p:bldP spid="6147" grpId="0" autoUpdateAnimBg="0"/>
      <p:bldP spid="6148" grpId="0" animBg="1"/>
      <p:bldP spid="6149" grpId="0" animBg="1"/>
      <p:bldP spid="6150" grpId="0" animBg="1" autoUpdateAnimBg="0"/>
      <p:bldP spid="6151" grpId="0" animBg="1" autoUpdateAnimBg="0"/>
      <p:bldP spid="6152" grpId="0" animBg="1"/>
      <p:bldP spid="6153" grpId="0" animBg="1"/>
      <p:bldP spid="6154" grpId="0" animBg="1"/>
      <p:bldP spid="6155" grpId="0" animBg="1"/>
      <p:bldP spid="6158" grpId="0" animBg="1" autoUpdateAnimBg="0"/>
      <p:bldP spid="6159" grpId="0" autoUpdateAnimBg="0"/>
      <p:bldP spid="6161" grpId="0" autoUpdateAnimBg="0"/>
      <p:bldP spid="6162" grpId="0" autoUpdateAnimBg="0"/>
      <p:bldP spid="6166" grpId="0" autoUpdateAnimBg="0"/>
      <p:bldP spid="6167" grpId="0" autoUpdateAnimBg="0"/>
      <p:bldP spid="6174" grpId="0"/>
      <p:bldP spid="6175" grpId="0"/>
      <p:bldP spid="6176" grpId="0"/>
      <p:bldP spid="27" grpId="0" animBg="1" autoUpdateAnimBg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50825" y="115888"/>
            <a:ext cx="55451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1.4 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普朗克黑体辐射公式</a:t>
            </a: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(1900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年</a:t>
            </a: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76238" y="620713"/>
            <a:ext cx="58705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</a:rPr>
              <a:t>1.  </a:t>
            </a:r>
            <a:r>
              <a:rPr lang="zh-CN" altLang="en-US" sz="2400" b="1">
                <a:solidFill>
                  <a:srgbClr val="003300"/>
                </a:solidFill>
              </a:rPr>
              <a:t>普朗克的能量子假说</a:t>
            </a: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684213" y="3429000"/>
            <a:ext cx="74025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i="1">
                <a:solidFill>
                  <a:srgbClr val="FF0000"/>
                </a:solidFill>
                <a:sym typeface="Symbol" panose="05050102010706020507" pitchFamily="18" charset="2"/>
              </a:rPr>
              <a:t> </a:t>
            </a:r>
            <a:r>
              <a:rPr lang="en-US" altLang="zh-CN" sz="2400" b="1" i="1">
                <a:solidFill>
                  <a:srgbClr val="FF0000"/>
                </a:solidFill>
                <a:sym typeface="Symbol" panose="05050102010706020507" pitchFamily="18" charset="2"/>
              </a:rPr>
              <a:t>=</a:t>
            </a:r>
            <a:r>
              <a:rPr lang="en-US" altLang="zh-CN" sz="2400" b="1" i="1">
                <a:solidFill>
                  <a:srgbClr val="FF0000"/>
                </a:solidFill>
              </a:rPr>
              <a:t>h</a:t>
            </a:r>
            <a:r>
              <a:rPr lang="en-US" altLang="zh-CN" sz="2400" b="1" i="1">
                <a:solidFill>
                  <a:srgbClr val="FF0000"/>
                </a:solidFill>
                <a:sym typeface="Symbol" panose="05050102010706020507" pitchFamily="18" charset="2"/>
              </a:rPr>
              <a:t>    </a:t>
            </a:r>
            <a:r>
              <a:rPr lang="en-US" altLang="zh-CN" sz="2400" b="1" i="1">
                <a:solidFill>
                  <a:srgbClr val="FF0000"/>
                </a:solidFill>
              </a:rPr>
              <a:t>h</a:t>
            </a:r>
            <a:r>
              <a:rPr lang="en-US" altLang="zh-CN" sz="2400" b="1">
                <a:solidFill>
                  <a:srgbClr val="FF0000"/>
                </a:solidFill>
              </a:rPr>
              <a:t>=</a:t>
            </a:r>
            <a:r>
              <a:rPr lang="en-US" altLang="zh-CN" sz="2400" b="1">
                <a:solidFill>
                  <a:srgbClr val="FF0000"/>
                </a:solidFill>
                <a:sym typeface="Symbol" panose="05050102010706020507" pitchFamily="18" charset="2"/>
              </a:rPr>
              <a:t>6.626</a:t>
            </a:r>
            <a:r>
              <a:rPr lang="en-US" altLang="zh-CN" sz="2400" b="1">
                <a:solidFill>
                  <a:srgbClr val="FF0000"/>
                </a:solidFill>
              </a:rPr>
              <a:t>176</a:t>
            </a:r>
            <a:r>
              <a:rPr lang="en-US" altLang="zh-CN" sz="2400" b="1">
                <a:solidFill>
                  <a:srgbClr val="FF0000"/>
                </a:solidFill>
                <a:sym typeface="Symbol" panose="05050102010706020507" pitchFamily="18" charset="2"/>
              </a:rPr>
              <a:t>10</a:t>
            </a:r>
            <a:r>
              <a:rPr lang="en-US" altLang="zh-CN" sz="2400" b="1" baseline="30000">
                <a:solidFill>
                  <a:srgbClr val="FF0000"/>
                </a:solidFill>
                <a:sym typeface="Symbol" panose="05050102010706020507" pitchFamily="18" charset="2"/>
              </a:rPr>
              <a:t>34 </a:t>
            </a:r>
            <a:r>
              <a:rPr lang="en-US" altLang="zh-CN" sz="2400" b="1">
                <a:solidFill>
                  <a:srgbClr val="FF0000"/>
                </a:solidFill>
              </a:rPr>
              <a:t>J·s —</a:t>
            </a:r>
            <a:r>
              <a:rPr lang="zh-CN" altLang="en-US" sz="2400" b="1">
                <a:solidFill>
                  <a:srgbClr val="FF0000"/>
                </a:solidFill>
              </a:rPr>
              <a:t>普朗克常数</a:t>
            </a:r>
          </a:p>
        </p:txBody>
      </p:sp>
      <p:sp>
        <p:nvSpPr>
          <p:cNvPr id="5" name="Text Box 22"/>
          <p:cNvSpPr txBox="1">
            <a:spLocks noChangeArrowheads="1"/>
          </p:cNvSpPr>
          <p:nvPr/>
        </p:nvSpPr>
        <p:spPr bwMode="auto">
          <a:xfrm>
            <a:off x="258763" y="1139825"/>
            <a:ext cx="8610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altLang="zh-CN" sz="2400" b="1" dirty="0">
                <a:solidFill>
                  <a:srgbClr val="003300"/>
                </a:solidFill>
              </a:rPr>
              <a:t>(1) </a:t>
            </a:r>
            <a:r>
              <a:rPr lang="zh-CN" altLang="en-US" sz="2400" b="1" dirty="0">
                <a:solidFill>
                  <a:srgbClr val="003300"/>
                </a:solidFill>
              </a:rPr>
              <a:t>组成黑体腔壁的分子或原子视为带电的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线性谐振子</a:t>
            </a:r>
            <a:r>
              <a:rPr lang="en-US" altLang="zh-CN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</a:p>
        </p:txBody>
      </p:sp>
      <p:sp>
        <p:nvSpPr>
          <p:cNvPr id="6" name="Text Box 25"/>
          <p:cNvSpPr txBox="1">
            <a:spLocks noChangeArrowheads="1"/>
          </p:cNvSpPr>
          <p:nvPr/>
        </p:nvSpPr>
        <p:spPr bwMode="auto">
          <a:xfrm>
            <a:off x="258763" y="1557338"/>
            <a:ext cx="86106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2400" b="1" dirty="0">
                <a:solidFill>
                  <a:srgbClr val="003300"/>
                </a:solidFill>
              </a:rPr>
              <a:t>(2) </a:t>
            </a:r>
            <a:r>
              <a:rPr lang="zh-CN" altLang="en-US" sz="2400" b="1" dirty="0">
                <a:solidFill>
                  <a:srgbClr val="003300"/>
                </a:solidFill>
              </a:rPr>
              <a:t>这些谐振子和空腔中的辐射场相互作用过程中吸收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>
                <a:solidFill>
                  <a:srgbClr val="003300"/>
                </a:solidFill>
              </a:rPr>
              <a:t>     和发射的能量是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量子化</a:t>
            </a:r>
            <a:r>
              <a:rPr lang="zh-CN" altLang="en-US" sz="2400" b="1" dirty="0">
                <a:solidFill>
                  <a:srgbClr val="003300"/>
                </a:solidFill>
              </a:rPr>
              <a:t>的，只能取一些分立值：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</a:t>
            </a:r>
            <a:r>
              <a:rPr lang="zh-CN" altLang="en-US" sz="2400" b="1" i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，</a:t>
            </a:r>
            <a:r>
              <a:rPr lang="en-US" altLang="zh-CN" sz="2400" b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2</a:t>
            </a:r>
            <a:r>
              <a:rPr lang="en-US" altLang="zh-CN" sz="2400" b="1" i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， </a:t>
            </a:r>
            <a:r>
              <a:rPr lang="en-US" altLang="zh-CN" sz="2400" b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3</a:t>
            </a:r>
            <a:r>
              <a:rPr lang="en-US" altLang="zh-CN" sz="2400" b="1" i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， ，</a:t>
            </a:r>
            <a:r>
              <a:rPr lang="en-US" altLang="zh-CN" sz="2400" b="1" i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n</a:t>
            </a:r>
            <a:endParaRPr lang="zh-CN" altLang="en-US" sz="2400" b="1" dirty="0">
              <a:solidFill>
                <a:schemeClr val="tx1">
                  <a:lumMod val="60000"/>
                  <a:lumOff val="40000"/>
                </a:schemeClr>
              </a:solidFill>
              <a:sym typeface="Symbol" panose="05050102010706020507" pitchFamily="18" charset="2"/>
            </a:endParaRPr>
          </a:p>
        </p:txBody>
      </p:sp>
      <p:sp>
        <p:nvSpPr>
          <p:cNvPr id="7" name="Text Box 29"/>
          <p:cNvSpPr txBox="1">
            <a:spLocks noChangeArrowheads="1"/>
          </p:cNvSpPr>
          <p:nvPr/>
        </p:nvSpPr>
        <p:spPr bwMode="auto">
          <a:xfrm>
            <a:off x="258763" y="2708275"/>
            <a:ext cx="8610600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</a:rPr>
              <a:t>(3) </a:t>
            </a:r>
            <a:r>
              <a:rPr lang="zh-CN" altLang="en-US" sz="2400" b="1">
                <a:solidFill>
                  <a:srgbClr val="003300"/>
                </a:solidFill>
              </a:rPr>
              <a:t>频率为 </a:t>
            </a:r>
            <a:r>
              <a:rPr lang="zh-CN" altLang="en-US" sz="2400" b="1" i="1">
                <a:solidFill>
                  <a:srgbClr val="003300"/>
                </a:solidFill>
                <a:sym typeface="Symbol" panose="05050102010706020507" pitchFamily="18" charset="2"/>
              </a:rPr>
              <a:t>  </a:t>
            </a:r>
            <a:r>
              <a:rPr lang="zh-CN" altLang="en-US" sz="2400" b="1">
                <a:solidFill>
                  <a:srgbClr val="003300"/>
                </a:solidFill>
              </a:rPr>
              <a:t>的谐振子，吸收和发射能量的最小值称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     为能量子，简称量子 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95288" y="3860800"/>
            <a:ext cx="41767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2.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普朗克黑体辐射公式</a:t>
            </a:r>
            <a:r>
              <a:rPr kumimoji="1" lang="en-US" altLang="zh-CN" sz="2800" b="1" dirty="0">
                <a:solidFill>
                  <a:srgbClr val="003300"/>
                </a:solidFill>
                <a:latin typeface="+mn-ea"/>
                <a:ea typeface="+mn-ea"/>
              </a:rPr>
              <a:t>:</a:t>
            </a: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1116013" y="6223000"/>
            <a:ext cx="5241925" cy="519113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在全波段与实验结果惊人符合！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512763" y="5219700"/>
            <a:ext cx="60134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其中</a:t>
            </a:r>
            <a:r>
              <a:rPr kumimoji="1" lang="en-US" altLang="zh-CN" sz="28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k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kumimoji="1" lang="en-US" altLang="zh-CN" sz="28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c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分别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是玻尔兹曼常数和光速，</a:t>
            </a:r>
            <a:r>
              <a:rPr kumimoji="1" lang="en-US" altLang="zh-CN" sz="28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是黑体的绝对温度。</a:t>
            </a:r>
          </a:p>
        </p:txBody>
      </p:sp>
      <p:grpSp>
        <p:nvGrpSpPr>
          <p:cNvPr id="18" name="Group 23"/>
          <p:cNvGrpSpPr>
            <a:grpSpLocks/>
          </p:cNvGrpSpPr>
          <p:nvPr/>
        </p:nvGrpSpPr>
        <p:grpSpPr bwMode="auto">
          <a:xfrm>
            <a:off x="7067550" y="3933825"/>
            <a:ext cx="1874838" cy="2595563"/>
            <a:chOff x="4286" y="164"/>
            <a:chExt cx="1181" cy="1635"/>
          </a:xfrm>
        </p:grpSpPr>
        <p:pic>
          <p:nvPicPr>
            <p:cNvPr id="21518" name="Picture 21" descr="planck191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6" y="164"/>
              <a:ext cx="1157" cy="1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9" name="Rectangle 22"/>
            <p:cNvSpPr>
              <a:spLocks noChangeArrowheads="1"/>
            </p:cNvSpPr>
            <p:nvPr/>
          </p:nvSpPr>
          <p:spPr bwMode="auto">
            <a:xfrm>
              <a:off x="4967" y="1511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</a:rPr>
                <a:t>1918</a:t>
              </a:r>
            </a:p>
          </p:txBody>
        </p:sp>
      </p:grpSp>
      <p:graphicFrame>
        <p:nvGraphicFramePr>
          <p:cNvPr id="21" name="Object 2048"/>
          <p:cNvGraphicFramePr>
            <a:graphicFrameLocks noChangeAspect="1"/>
          </p:cNvGraphicFramePr>
          <p:nvPr/>
        </p:nvGraphicFramePr>
        <p:xfrm>
          <a:off x="1052513" y="4365625"/>
          <a:ext cx="41052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1" name="Equation" r:id="rId4" imgW="3975100" imgH="800100" progId="Equation.DSMT4">
                  <p:embed/>
                </p:oleObj>
              </mc:Choice>
              <mc:Fallback>
                <p:oleObj name="Equation" r:id="rId4" imgW="3975100" imgH="800100" progId="Equation.DSMT4">
                  <p:embed/>
                  <p:pic>
                    <p:nvPicPr>
                      <p:cNvPr id="0" name="Object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4365625"/>
                        <a:ext cx="41052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7" name="Text Box 41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6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4" grpId="0"/>
      <p:bldP spid="5" grpId="0"/>
      <p:bldP spid="6" grpId="0"/>
      <p:bldP spid="7" grpId="0"/>
      <p:bldP spid="15" grpId="0" autoUpdateAnimBg="0"/>
      <p:bldP spid="16" grpId="0" animBg="1" autoUpdateAnimBg="0"/>
      <p:bldP spid="1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5292725" y="3776663"/>
            <a:ext cx="3201988" cy="28527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  <p:sp>
        <p:nvSpPr>
          <p:cNvPr id="8226" name="Text Box 34"/>
          <p:cNvSpPr txBox="1">
            <a:spLocks noChangeArrowheads="1"/>
          </p:cNvSpPr>
          <p:nvPr/>
        </p:nvSpPr>
        <p:spPr bwMode="auto">
          <a:xfrm>
            <a:off x="2857500" y="214313"/>
            <a:ext cx="4105275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-122"/>
                <a:ea typeface="宋体" charset="-122"/>
              </a:rPr>
              <a:t>第</a:t>
            </a:r>
            <a:r>
              <a:rPr kumimoji="1" lang="en-US" altLang="zh-CN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2</a:t>
            </a:r>
            <a:r>
              <a:rPr kumimoji="1"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-122"/>
                <a:ea typeface="宋体" charset="-122"/>
              </a:rPr>
              <a:t>节  光电效应 </a:t>
            </a:r>
          </a:p>
          <a:p>
            <a:pPr eaLnBrk="1" hangingPunct="1">
              <a:defRPr/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Photoelectric Effect</a:t>
            </a: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6072188" y="1000125"/>
            <a:ext cx="2422525" cy="2474913"/>
            <a:chOff x="3402" y="624"/>
            <a:chExt cx="1926" cy="1920"/>
          </a:xfrm>
        </p:grpSpPr>
        <p:sp>
          <p:nvSpPr>
            <p:cNvPr id="22556" name="Line 37"/>
            <p:cNvSpPr>
              <a:spLocks noChangeShapeType="1"/>
            </p:cNvSpPr>
            <p:nvPr/>
          </p:nvSpPr>
          <p:spPr bwMode="auto">
            <a:xfrm>
              <a:off x="3537" y="1844"/>
              <a:ext cx="44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7" name="Oval 38"/>
            <p:cNvSpPr>
              <a:spLocks noChangeArrowheads="1"/>
            </p:cNvSpPr>
            <p:nvPr/>
          </p:nvSpPr>
          <p:spPr bwMode="auto">
            <a:xfrm>
              <a:off x="3936" y="1728"/>
              <a:ext cx="198" cy="249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2558" name="Line 39"/>
            <p:cNvSpPr>
              <a:spLocks noChangeShapeType="1"/>
            </p:cNvSpPr>
            <p:nvPr/>
          </p:nvSpPr>
          <p:spPr bwMode="auto">
            <a:xfrm>
              <a:off x="4134" y="1844"/>
              <a:ext cx="119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9" name="Line 40"/>
            <p:cNvSpPr>
              <a:spLocks noChangeShapeType="1"/>
            </p:cNvSpPr>
            <p:nvPr/>
          </p:nvSpPr>
          <p:spPr bwMode="auto">
            <a:xfrm>
              <a:off x="3537" y="2077"/>
              <a:ext cx="0" cy="36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0" name="Line 41"/>
            <p:cNvSpPr>
              <a:spLocks noChangeShapeType="1"/>
            </p:cNvSpPr>
            <p:nvPr/>
          </p:nvSpPr>
          <p:spPr bwMode="auto">
            <a:xfrm flipV="1">
              <a:off x="4080" y="2444"/>
              <a:ext cx="620" cy="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1" name="Line 42"/>
            <p:cNvSpPr>
              <a:spLocks noChangeShapeType="1"/>
            </p:cNvSpPr>
            <p:nvPr/>
          </p:nvSpPr>
          <p:spPr bwMode="auto">
            <a:xfrm>
              <a:off x="4794" y="2444"/>
              <a:ext cx="53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2" name="Line 43"/>
            <p:cNvSpPr>
              <a:spLocks noChangeShapeType="1"/>
            </p:cNvSpPr>
            <p:nvPr/>
          </p:nvSpPr>
          <p:spPr bwMode="auto">
            <a:xfrm>
              <a:off x="5328" y="2077"/>
              <a:ext cx="0" cy="36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3" name="Rectangle 44"/>
            <p:cNvSpPr>
              <a:spLocks noChangeArrowheads="1"/>
            </p:cNvSpPr>
            <p:nvPr/>
          </p:nvSpPr>
          <p:spPr bwMode="auto">
            <a:xfrm>
              <a:off x="4040" y="2044"/>
              <a:ext cx="848" cy="6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22564" name="Line 45"/>
            <p:cNvSpPr>
              <a:spLocks noChangeShapeType="1"/>
            </p:cNvSpPr>
            <p:nvPr/>
          </p:nvSpPr>
          <p:spPr bwMode="auto">
            <a:xfrm>
              <a:off x="4448" y="1910"/>
              <a:ext cx="8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5" name="Line 46"/>
            <p:cNvSpPr>
              <a:spLocks noChangeShapeType="1"/>
            </p:cNvSpPr>
            <p:nvPr/>
          </p:nvSpPr>
          <p:spPr bwMode="auto">
            <a:xfrm>
              <a:off x="4032" y="2344"/>
              <a:ext cx="0" cy="2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6" name="Line 47"/>
            <p:cNvSpPr>
              <a:spLocks noChangeShapeType="1"/>
            </p:cNvSpPr>
            <p:nvPr/>
          </p:nvSpPr>
          <p:spPr bwMode="auto">
            <a:xfrm>
              <a:off x="3936" y="2344"/>
              <a:ext cx="0" cy="2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7" name="Line 48"/>
            <p:cNvSpPr>
              <a:spLocks noChangeShapeType="1"/>
            </p:cNvSpPr>
            <p:nvPr/>
          </p:nvSpPr>
          <p:spPr bwMode="auto">
            <a:xfrm>
              <a:off x="4080" y="2400"/>
              <a:ext cx="0" cy="9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8" name="Line 49"/>
            <p:cNvSpPr>
              <a:spLocks noChangeShapeType="1"/>
            </p:cNvSpPr>
            <p:nvPr/>
          </p:nvSpPr>
          <p:spPr bwMode="auto">
            <a:xfrm>
              <a:off x="3984" y="2411"/>
              <a:ext cx="0" cy="8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9" name="Line 50"/>
            <p:cNvSpPr>
              <a:spLocks noChangeShapeType="1"/>
            </p:cNvSpPr>
            <p:nvPr/>
          </p:nvSpPr>
          <p:spPr bwMode="auto">
            <a:xfrm>
              <a:off x="3537" y="2444"/>
              <a:ext cx="377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0" name="Line 51"/>
            <p:cNvSpPr>
              <a:spLocks noChangeShapeType="1"/>
            </p:cNvSpPr>
            <p:nvPr/>
          </p:nvSpPr>
          <p:spPr bwMode="auto">
            <a:xfrm flipV="1">
              <a:off x="4700" y="2377"/>
              <a:ext cx="125" cy="6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1" name="Line 52"/>
            <p:cNvSpPr>
              <a:spLocks noChangeShapeType="1"/>
            </p:cNvSpPr>
            <p:nvPr/>
          </p:nvSpPr>
          <p:spPr bwMode="auto">
            <a:xfrm flipV="1">
              <a:off x="3537" y="2064"/>
              <a:ext cx="495" cy="1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2" name="Line 53"/>
            <p:cNvSpPr>
              <a:spLocks noChangeShapeType="1"/>
            </p:cNvSpPr>
            <p:nvPr/>
          </p:nvSpPr>
          <p:spPr bwMode="auto">
            <a:xfrm>
              <a:off x="4888" y="2077"/>
              <a:ext cx="44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3" name="Line 54"/>
            <p:cNvSpPr>
              <a:spLocks noChangeShapeType="1"/>
            </p:cNvSpPr>
            <p:nvPr/>
          </p:nvSpPr>
          <p:spPr bwMode="auto">
            <a:xfrm flipV="1">
              <a:off x="3537" y="1677"/>
              <a:ext cx="0" cy="4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4" name="Line 55"/>
            <p:cNvSpPr>
              <a:spLocks noChangeShapeType="1"/>
            </p:cNvSpPr>
            <p:nvPr/>
          </p:nvSpPr>
          <p:spPr bwMode="auto">
            <a:xfrm flipV="1">
              <a:off x="5328" y="1710"/>
              <a:ext cx="0" cy="2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5" name="Line 56"/>
            <p:cNvSpPr>
              <a:spLocks noChangeShapeType="1"/>
            </p:cNvSpPr>
            <p:nvPr/>
          </p:nvSpPr>
          <p:spPr bwMode="auto">
            <a:xfrm>
              <a:off x="3537" y="1710"/>
              <a:ext cx="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6" name="Line 57"/>
            <p:cNvSpPr>
              <a:spLocks noChangeShapeType="1"/>
            </p:cNvSpPr>
            <p:nvPr/>
          </p:nvSpPr>
          <p:spPr bwMode="auto">
            <a:xfrm>
              <a:off x="3537" y="1677"/>
              <a:ext cx="56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7" name="Line 58"/>
            <p:cNvSpPr>
              <a:spLocks noChangeShapeType="1"/>
            </p:cNvSpPr>
            <p:nvPr/>
          </p:nvSpPr>
          <p:spPr bwMode="auto">
            <a:xfrm>
              <a:off x="4480" y="1677"/>
              <a:ext cx="84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8" name="Line 59"/>
            <p:cNvSpPr>
              <a:spLocks noChangeShapeType="1"/>
            </p:cNvSpPr>
            <p:nvPr/>
          </p:nvSpPr>
          <p:spPr bwMode="auto">
            <a:xfrm>
              <a:off x="5328" y="1677"/>
              <a:ext cx="0" cy="1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9" name="Line 60"/>
            <p:cNvSpPr>
              <a:spLocks noChangeShapeType="1"/>
            </p:cNvSpPr>
            <p:nvPr/>
          </p:nvSpPr>
          <p:spPr bwMode="auto">
            <a:xfrm>
              <a:off x="3537" y="1543"/>
              <a:ext cx="56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0" name="Line 61"/>
            <p:cNvSpPr>
              <a:spLocks noChangeShapeType="1"/>
            </p:cNvSpPr>
            <p:nvPr/>
          </p:nvSpPr>
          <p:spPr bwMode="auto">
            <a:xfrm>
              <a:off x="4448" y="1543"/>
              <a:ext cx="849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1" name="Line 62"/>
            <p:cNvSpPr>
              <a:spLocks noChangeShapeType="1"/>
            </p:cNvSpPr>
            <p:nvPr/>
          </p:nvSpPr>
          <p:spPr bwMode="auto">
            <a:xfrm flipV="1">
              <a:off x="4103" y="1344"/>
              <a:ext cx="313" cy="33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2" name="Freeform 63"/>
            <p:cNvSpPr>
              <a:spLocks/>
            </p:cNvSpPr>
            <p:nvPr/>
          </p:nvSpPr>
          <p:spPr bwMode="auto">
            <a:xfrm>
              <a:off x="4080" y="1344"/>
              <a:ext cx="409" cy="336"/>
            </a:xfrm>
            <a:custGeom>
              <a:avLst/>
              <a:gdLst>
                <a:gd name="T0" fmla="*/ 0 w 624"/>
                <a:gd name="T1" fmla="*/ 0 h 379"/>
                <a:gd name="T2" fmla="*/ 1 w 624"/>
                <a:gd name="T3" fmla="*/ 11 h 379"/>
                <a:gd name="T4" fmla="*/ 1 w 624"/>
                <a:gd name="T5" fmla="*/ 10 h 379"/>
                <a:gd name="T6" fmla="*/ 1 w 624"/>
                <a:gd name="T7" fmla="*/ 24 h 379"/>
                <a:gd name="T8" fmla="*/ 1 w 624"/>
                <a:gd name="T9" fmla="*/ 35 h 3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4"/>
                <a:gd name="T16" fmla="*/ 0 h 379"/>
                <a:gd name="T17" fmla="*/ 624 w 624"/>
                <a:gd name="T18" fmla="*/ 379 h 3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4" h="379">
                  <a:moveTo>
                    <a:pt x="0" y="0"/>
                  </a:moveTo>
                  <a:cubicBezTo>
                    <a:pt x="34" y="20"/>
                    <a:pt x="140" y="100"/>
                    <a:pt x="201" y="118"/>
                  </a:cubicBezTo>
                  <a:cubicBezTo>
                    <a:pt x="262" y="136"/>
                    <a:pt x="335" y="82"/>
                    <a:pt x="369" y="105"/>
                  </a:cubicBezTo>
                  <a:cubicBezTo>
                    <a:pt x="453" y="142"/>
                    <a:pt x="361" y="213"/>
                    <a:pt x="404" y="259"/>
                  </a:cubicBezTo>
                  <a:cubicBezTo>
                    <a:pt x="447" y="305"/>
                    <a:pt x="578" y="354"/>
                    <a:pt x="624" y="379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3" name="Line 64"/>
            <p:cNvSpPr>
              <a:spLocks noChangeShapeType="1"/>
            </p:cNvSpPr>
            <p:nvPr/>
          </p:nvSpPr>
          <p:spPr bwMode="auto">
            <a:xfrm flipV="1">
              <a:off x="3537" y="1410"/>
              <a:ext cx="0" cy="13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4" name="Oval 65"/>
            <p:cNvSpPr>
              <a:spLocks noChangeArrowheads="1"/>
            </p:cNvSpPr>
            <p:nvPr/>
          </p:nvSpPr>
          <p:spPr bwMode="auto">
            <a:xfrm>
              <a:off x="3408" y="1243"/>
              <a:ext cx="240" cy="245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22585" name="Line 66"/>
            <p:cNvSpPr>
              <a:spLocks noChangeShapeType="1"/>
            </p:cNvSpPr>
            <p:nvPr/>
          </p:nvSpPr>
          <p:spPr bwMode="auto">
            <a:xfrm flipV="1">
              <a:off x="3536" y="1110"/>
              <a:ext cx="2" cy="15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6" name="Line 67"/>
            <p:cNvSpPr>
              <a:spLocks noChangeShapeType="1"/>
            </p:cNvSpPr>
            <p:nvPr/>
          </p:nvSpPr>
          <p:spPr bwMode="auto">
            <a:xfrm>
              <a:off x="3402" y="1110"/>
              <a:ext cx="35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7" name="Line 68"/>
            <p:cNvSpPr>
              <a:spLocks noChangeShapeType="1"/>
            </p:cNvSpPr>
            <p:nvPr/>
          </p:nvSpPr>
          <p:spPr bwMode="auto">
            <a:xfrm>
              <a:off x="3663" y="1110"/>
              <a:ext cx="25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8" name="Line 69"/>
            <p:cNvSpPr>
              <a:spLocks noChangeShapeType="1"/>
            </p:cNvSpPr>
            <p:nvPr/>
          </p:nvSpPr>
          <p:spPr bwMode="auto">
            <a:xfrm>
              <a:off x="3914" y="1043"/>
              <a:ext cx="0" cy="13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9" name="Line 70"/>
            <p:cNvSpPr>
              <a:spLocks noChangeShapeType="1"/>
            </p:cNvSpPr>
            <p:nvPr/>
          </p:nvSpPr>
          <p:spPr bwMode="auto">
            <a:xfrm>
              <a:off x="4762" y="1143"/>
              <a:ext cx="535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0" name="Line 71"/>
            <p:cNvSpPr>
              <a:spLocks noChangeShapeType="1"/>
            </p:cNvSpPr>
            <p:nvPr/>
          </p:nvSpPr>
          <p:spPr bwMode="auto">
            <a:xfrm>
              <a:off x="5297" y="1143"/>
              <a:ext cx="0" cy="4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1" name="Line 72"/>
            <p:cNvSpPr>
              <a:spLocks noChangeShapeType="1"/>
            </p:cNvSpPr>
            <p:nvPr/>
          </p:nvSpPr>
          <p:spPr bwMode="auto">
            <a:xfrm>
              <a:off x="4762" y="1076"/>
              <a:ext cx="0" cy="13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2" name="Line 73"/>
            <p:cNvSpPr>
              <a:spLocks noChangeShapeType="1"/>
            </p:cNvSpPr>
            <p:nvPr/>
          </p:nvSpPr>
          <p:spPr bwMode="auto">
            <a:xfrm rot="492594">
              <a:off x="3895" y="691"/>
              <a:ext cx="157" cy="1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3" name="Line 74"/>
            <p:cNvSpPr>
              <a:spLocks noChangeShapeType="1"/>
            </p:cNvSpPr>
            <p:nvPr/>
          </p:nvSpPr>
          <p:spPr bwMode="auto">
            <a:xfrm>
              <a:off x="4166" y="876"/>
              <a:ext cx="377" cy="23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4" name="Line 75"/>
            <p:cNvSpPr>
              <a:spLocks noChangeShapeType="1"/>
            </p:cNvSpPr>
            <p:nvPr/>
          </p:nvSpPr>
          <p:spPr bwMode="auto">
            <a:xfrm>
              <a:off x="3958" y="624"/>
              <a:ext cx="157" cy="13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5" name="Line 76"/>
            <p:cNvSpPr>
              <a:spLocks noChangeShapeType="1"/>
            </p:cNvSpPr>
            <p:nvPr/>
          </p:nvSpPr>
          <p:spPr bwMode="auto">
            <a:xfrm>
              <a:off x="3851" y="976"/>
              <a:ext cx="34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6" name="Line 77"/>
            <p:cNvSpPr>
              <a:spLocks noChangeShapeType="1"/>
            </p:cNvSpPr>
            <p:nvPr/>
          </p:nvSpPr>
          <p:spPr bwMode="auto">
            <a:xfrm>
              <a:off x="4605" y="976"/>
              <a:ext cx="22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7" name="Freeform 78"/>
            <p:cNvSpPr>
              <a:spLocks/>
            </p:cNvSpPr>
            <p:nvPr/>
          </p:nvSpPr>
          <p:spPr bwMode="auto">
            <a:xfrm flipH="1">
              <a:off x="4794" y="976"/>
              <a:ext cx="112" cy="267"/>
            </a:xfrm>
            <a:custGeom>
              <a:avLst/>
              <a:gdLst>
                <a:gd name="T0" fmla="*/ 1 w 171"/>
                <a:gd name="T1" fmla="*/ 0 h 384"/>
                <a:gd name="T2" fmla="*/ 1 w 171"/>
                <a:gd name="T3" fmla="*/ 1 h 384"/>
                <a:gd name="T4" fmla="*/ 1 w 171"/>
                <a:gd name="T5" fmla="*/ 1 h 384"/>
                <a:gd name="T6" fmla="*/ 1 w 171"/>
                <a:gd name="T7" fmla="*/ 1 h 384"/>
                <a:gd name="T8" fmla="*/ 1 w 171"/>
                <a:gd name="T9" fmla="*/ 1 h 384"/>
                <a:gd name="T10" fmla="*/ 1 w 171"/>
                <a:gd name="T11" fmla="*/ 1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1"/>
                <a:gd name="T19" fmla="*/ 0 h 384"/>
                <a:gd name="T20" fmla="*/ 171 w 171"/>
                <a:gd name="T21" fmla="*/ 384 h 3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1" h="384">
                  <a:moveTo>
                    <a:pt x="123" y="0"/>
                  </a:moveTo>
                  <a:cubicBezTo>
                    <a:pt x="83" y="32"/>
                    <a:pt x="47" y="58"/>
                    <a:pt x="27" y="96"/>
                  </a:cubicBezTo>
                  <a:cubicBezTo>
                    <a:pt x="7" y="134"/>
                    <a:pt x="0" y="190"/>
                    <a:pt x="3" y="225"/>
                  </a:cubicBezTo>
                  <a:cubicBezTo>
                    <a:pt x="6" y="260"/>
                    <a:pt x="27" y="286"/>
                    <a:pt x="45" y="309"/>
                  </a:cubicBezTo>
                  <a:cubicBezTo>
                    <a:pt x="63" y="332"/>
                    <a:pt x="93" y="353"/>
                    <a:pt x="114" y="365"/>
                  </a:cubicBezTo>
                  <a:cubicBezTo>
                    <a:pt x="135" y="377"/>
                    <a:pt x="159" y="380"/>
                    <a:pt x="171" y="384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8" name="Freeform 79"/>
            <p:cNvSpPr>
              <a:spLocks/>
            </p:cNvSpPr>
            <p:nvPr/>
          </p:nvSpPr>
          <p:spPr bwMode="auto">
            <a:xfrm>
              <a:off x="3771" y="976"/>
              <a:ext cx="112" cy="267"/>
            </a:xfrm>
            <a:custGeom>
              <a:avLst/>
              <a:gdLst>
                <a:gd name="T0" fmla="*/ 1 w 171"/>
                <a:gd name="T1" fmla="*/ 0 h 384"/>
                <a:gd name="T2" fmla="*/ 1 w 171"/>
                <a:gd name="T3" fmla="*/ 1 h 384"/>
                <a:gd name="T4" fmla="*/ 1 w 171"/>
                <a:gd name="T5" fmla="*/ 1 h 384"/>
                <a:gd name="T6" fmla="*/ 1 w 171"/>
                <a:gd name="T7" fmla="*/ 1 h 384"/>
                <a:gd name="T8" fmla="*/ 1 w 171"/>
                <a:gd name="T9" fmla="*/ 1 h 384"/>
                <a:gd name="T10" fmla="*/ 1 w 171"/>
                <a:gd name="T11" fmla="*/ 1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1"/>
                <a:gd name="T19" fmla="*/ 0 h 384"/>
                <a:gd name="T20" fmla="*/ 171 w 171"/>
                <a:gd name="T21" fmla="*/ 384 h 3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1" h="384">
                  <a:moveTo>
                    <a:pt x="123" y="0"/>
                  </a:moveTo>
                  <a:cubicBezTo>
                    <a:pt x="83" y="32"/>
                    <a:pt x="47" y="58"/>
                    <a:pt x="27" y="96"/>
                  </a:cubicBezTo>
                  <a:cubicBezTo>
                    <a:pt x="7" y="134"/>
                    <a:pt x="0" y="190"/>
                    <a:pt x="3" y="225"/>
                  </a:cubicBezTo>
                  <a:cubicBezTo>
                    <a:pt x="6" y="260"/>
                    <a:pt x="27" y="286"/>
                    <a:pt x="45" y="309"/>
                  </a:cubicBezTo>
                  <a:cubicBezTo>
                    <a:pt x="63" y="332"/>
                    <a:pt x="93" y="353"/>
                    <a:pt x="114" y="365"/>
                  </a:cubicBezTo>
                  <a:cubicBezTo>
                    <a:pt x="135" y="377"/>
                    <a:pt x="159" y="380"/>
                    <a:pt x="171" y="384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9" name="Line 80"/>
            <p:cNvSpPr>
              <a:spLocks noChangeShapeType="1"/>
            </p:cNvSpPr>
            <p:nvPr/>
          </p:nvSpPr>
          <p:spPr bwMode="auto">
            <a:xfrm>
              <a:off x="3883" y="1243"/>
              <a:ext cx="91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0" name="Line 81"/>
            <p:cNvSpPr>
              <a:spLocks noChangeShapeType="1"/>
            </p:cNvSpPr>
            <p:nvPr/>
          </p:nvSpPr>
          <p:spPr bwMode="auto">
            <a:xfrm>
              <a:off x="4272" y="791"/>
              <a:ext cx="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1" name="Line 82"/>
            <p:cNvSpPr>
              <a:spLocks noChangeShapeType="1"/>
            </p:cNvSpPr>
            <p:nvPr/>
          </p:nvSpPr>
          <p:spPr bwMode="auto">
            <a:xfrm flipH="1" flipV="1">
              <a:off x="4040" y="876"/>
              <a:ext cx="157" cy="1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2" name="Line 83"/>
            <p:cNvSpPr>
              <a:spLocks noChangeShapeType="1"/>
            </p:cNvSpPr>
            <p:nvPr/>
          </p:nvSpPr>
          <p:spPr bwMode="auto">
            <a:xfrm flipH="1" flipV="1">
              <a:off x="4228" y="743"/>
              <a:ext cx="377" cy="23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3" name="Line 84"/>
            <p:cNvSpPr>
              <a:spLocks noChangeShapeType="1"/>
            </p:cNvSpPr>
            <p:nvPr/>
          </p:nvSpPr>
          <p:spPr bwMode="auto">
            <a:xfrm rot="206706" flipH="1">
              <a:off x="4008" y="709"/>
              <a:ext cx="252" cy="20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4" name="Line 85"/>
            <p:cNvSpPr>
              <a:spLocks noChangeShapeType="1"/>
            </p:cNvSpPr>
            <p:nvPr/>
          </p:nvSpPr>
          <p:spPr bwMode="auto">
            <a:xfrm>
              <a:off x="4210" y="809"/>
              <a:ext cx="377" cy="23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5" name="Line 86"/>
            <p:cNvSpPr>
              <a:spLocks noChangeShapeType="1"/>
            </p:cNvSpPr>
            <p:nvPr/>
          </p:nvSpPr>
          <p:spPr bwMode="auto">
            <a:xfrm>
              <a:off x="4080" y="1440"/>
              <a:ext cx="4" cy="10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6" name="Line 87"/>
            <p:cNvSpPr>
              <a:spLocks noChangeShapeType="1"/>
            </p:cNvSpPr>
            <p:nvPr/>
          </p:nvSpPr>
          <p:spPr bwMode="auto">
            <a:xfrm flipH="1">
              <a:off x="4461" y="1440"/>
              <a:ext cx="3" cy="10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7" name="Line 88"/>
            <p:cNvSpPr>
              <a:spLocks noChangeShapeType="1"/>
            </p:cNvSpPr>
            <p:nvPr/>
          </p:nvSpPr>
          <p:spPr bwMode="auto">
            <a:xfrm>
              <a:off x="4464" y="1920"/>
              <a:ext cx="0" cy="1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81" name="Rectangle 89"/>
          <p:cNvSpPr>
            <a:spLocks noChangeArrowheads="1"/>
          </p:cNvSpPr>
          <p:nvPr/>
        </p:nvSpPr>
        <p:spPr bwMode="auto">
          <a:xfrm>
            <a:off x="214313" y="1285875"/>
            <a:ext cx="2951162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2.1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光电效应实验</a:t>
            </a:r>
            <a:endParaRPr kumimoji="1" lang="zh-CN" altLang="en-US" sz="2000" dirty="0">
              <a:solidFill>
                <a:srgbClr val="00330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282" name="Rectangle 90"/>
          <p:cNvSpPr>
            <a:spLocks noChangeArrowheads="1"/>
          </p:cNvSpPr>
          <p:nvPr/>
        </p:nvSpPr>
        <p:spPr bwMode="auto">
          <a:xfrm>
            <a:off x="827088" y="1989138"/>
            <a:ext cx="3671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ea typeface="楷体_GB2312"/>
                <a:cs typeface="楷体_GB2312"/>
              </a:rPr>
              <a:t>实验装置见右图</a:t>
            </a:r>
          </a:p>
        </p:txBody>
      </p:sp>
      <p:sp>
        <p:nvSpPr>
          <p:cNvPr id="8283" name="Text Box 91"/>
          <p:cNvSpPr txBox="1">
            <a:spLocks noChangeArrowheads="1"/>
          </p:cNvSpPr>
          <p:nvPr/>
        </p:nvSpPr>
        <p:spPr bwMode="auto">
          <a:xfrm>
            <a:off x="179388" y="2708275"/>
            <a:ext cx="268763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2.2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实验规律</a:t>
            </a:r>
          </a:p>
        </p:txBody>
      </p:sp>
      <p:sp>
        <p:nvSpPr>
          <p:cNvPr id="8284" name="Text Box 92"/>
          <p:cNvSpPr txBox="1">
            <a:spLocks noChangeArrowheads="1"/>
          </p:cNvSpPr>
          <p:nvPr/>
        </p:nvSpPr>
        <p:spPr bwMode="auto">
          <a:xfrm>
            <a:off x="684213" y="4437063"/>
            <a:ext cx="45307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(2)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饱和光电流强度与入射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光强度成正比。</a:t>
            </a:r>
          </a:p>
        </p:txBody>
      </p:sp>
      <p:sp>
        <p:nvSpPr>
          <p:cNvPr id="8285" name="Text Box 93"/>
          <p:cNvSpPr txBox="1">
            <a:spLocks noChangeArrowheads="1"/>
          </p:cNvSpPr>
          <p:nvPr/>
        </p:nvSpPr>
        <p:spPr bwMode="auto">
          <a:xfrm>
            <a:off x="6156325" y="3883025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光电流随</a:t>
            </a:r>
            <a:r>
              <a:rPr kumimoji="1" lang="en-US" altLang="zh-CN" sz="24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U</a:t>
            </a:r>
            <a:r>
              <a:rPr kumimoji="1" lang="zh-CN" altLang="en-US" sz="24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增加</a:t>
            </a:r>
          </a:p>
        </p:txBody>
      </p:sp>
      <p:grpSp>
        <p:nvGrpSpPr>
          <p:cNvPr id="3" name="Group 94"/>
          <p:cNvGrpSpPr>
            <a:grpSpLocks/>
          </p:cNvGrpSpPr>
          <p:nvPr/>
        </p:nvGrpSpPr>
        <p:grpSpPr bwMode="auto">
          <a:xfrm>
            <a:off x="5072063" y="3857625"/>
            <a:ext cx="2922587" cy="2771775"/>
            <a:chOff x="480" y="2304"/>
            <a:chExt cx="1841" cy="1843"/>
          </a:xfrm>
        </p:grpSpPr>
        <p:sp>
          <p:nvSpPr>
            <p:cNvPr id="22542" name="Line 95"/>
            <p:cNvSpPr>
              <a:spLocks noChangeShapeType="1"/>
            </p:cNvSpPr>
            <p:nvPr/>
          </p:nvSpPr>
          <p:spPr bwMode="auto">
            <a:xfrm>
              <a:off x="480" y="3840"/>
              <a:ext cx="16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3" name="Line 96"/>
            <p:cNvSpPr>
              <a:spLocks noChangeShapeType="1"/>
            </p:cNvSpPr>
            <p:nvPr/>
          </p:nvSpPr>
          <p:spPr bwMode="auto">
            <a:xfrm flipV="1">
              <a:off x="1152" y="2352"/>
              <a:ext cx="0" cy="1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4" name="Freeform 97"/>
            <p:cNvSpPr>
              <a:spLocks/>
            </p:cNvSpPr>
            <p:nvPr/>
          </p:nvSpPr>
          <p:spPr bwMode="auto">
            <a:xfrm>
              <a:off x="720" y="2832"/>
              <a:ext cx="1423" cy="1018"/>
            </a:xfrm>
            <a:custGeom>
              <a:avLst/>
              <a:gdLst>
                <a:gd name="T0" fmla="*/ 1423 w 1423"/>
                <a:gd name="T1" fmla="*/ 0 h 1018"/>
                <a:gd name="T2" fmla="*/ 1074 w 1423"/>
                <a:gd name="T3" fmla="*/ 70 h 1018"/>
                <a:gd name="T4" fmla="*/ 853 w 1423"/>
                <a:gd name="T5" fmla="*/ 255 h 1018"/>
                <a:gd name="T6" fmla="*/ 728 w 1423"/>
                <a:gd name="T7" fmla="*/ 398 h 1018"/>
                <a:gd name="T8" fmla="*/ 625 w 1423"/>
                <a:gd name="T9" fmla="*/ 526 h 1018"/>
                <a:gd name="T10" fmla="*/ 548 w 1423"/>
                <a:gd name="T11" fmla="*/ 652 h 1018"/>
                <a:gd name="T12" fmla="*/ 404 w 1423"/>
                <a:gd name="T13" fmla="*/ 804 h 1018"/>
                <a:gd name="T14" fmla="*/ 278 w 1423"/>
                <a:gd name="T15" fmla="*/ 914 h 1018"/>
                <a:gd name="T16" fmla="*/ 188 w 1423"/>
                <a:gd name="T17" fmla="*/ 965 h 1018"/>
                <a:gd name="T18" fmla="*/ 0 w 1423"/>
                <a:gd name="T19" fmla="*/ 1018 h 10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23"/>
                <a:gd name="T31" fmla="*/ 0 h 1018"/>
                <a:gd name="T32" fmla="*/ 1423 w 1423"/>
                <a:gd name="T33" fmla="*/ 1018 h 101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23" h="1018">
                  <a:moveTo>
                    <a:pt x="1423" y="0"/>
                  </a:moveTo>
                  <a:cubicBezTo>
                    <a:pt x="1363" y="23"/>
                    <a:pt x="1155" y="25"/>
                    <a:pt x="1074" y="70"/>
                  </a:cubicBezTo>
                  <a:cubicBezTo>
                    <a:pt x="993" y="115"/>
                    <a:pt x="908" y="198"/>
                    <a:pt x="853" y="255"/>
                  </a:cubicBezTo>
                  <a:lnTo>
                    <a:pt x="728" y="398"/>
                  </a:lnTo>
                  <a:lnTo>
                    <a:pt x="625" y="526"/>
                  </a:lnTo>
                  <a:lnTo>
                    <a:pt x="548" y="652"/>
                  </a:lnTo>
                  <a:lnTo>
                    <a:pt x="404" y="804"/>
                  </a:lnTo>
                  <a:lnTo>
                    <a:pt x="278" y="914"/>
                  </a:lnTo>
                  <a:lnTo>
                    <a:pt x="188" y="965"/>
                  </a:lnTo>
                  <a:lnTo>
                    <a:pt x="0" y="1018"/>
                  </a:lnTo>
                </a:path>
              </a:pathLst>
            </a:custGeom>
            <a:noFill/>
            <a:ln w="412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5" name="Text Box 98"/>
            <p:cNvSpPr txBox="1">
              <a:spLocks noChangeArrowheads="1"/>
            </p:cNvSpPr>
            <p:nvPr/>
          </p:nvSpPr>
          <p:spPr bwMode="auto">
            <a:xfrm>
              <a:off x="576" y="3840"/>
              <a:ext cx="32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U</a:t>
              </a:r>
              <a:r>
                <a:rPr kumimoji="1" lang="en-US" altLang="zh-CN" sz="2400" b="1" i="1" baseline="-250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2546" name="Text Box 99"/>
            <p:cNvSpPr txBox="1">
              <a:spLocks noChangeArrowheads="1"/>
            </p:cNvSpPr>
            <p:nvPr/>
          </p:nvSpPr>
          <p:spPr bwMode="auto">
            <a:xfrm>
              <a:off x="1968" y="2784"/>
              <a:ext cx="213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3</a:t>
              </a:r>
            </a:p>
          </p:txBody>
        </p:sp>
        <p:sp>
          <p:nvSpPr>
            <p:cNvPr id="22547" name="Text Box 100"/>
            <p:cNvSpPr txBox="1">
              <a:spLocks noChangeArrowheads="1"/>
            </p:cNvSpPr>
            <p:nvPr/>
          </p:nvSpPr>
          <p:spPr bwMode="auto">
            <a:xfrm>
              <a:off x="1776" y="3360"/>
              <a:ext cx="213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22548" name="Text Box 101"/>
            <p:cNvSpPr txBox="1">
              <a:spLocks noChangeArrowheads="1"/>
            </p:cNvSpPr>
            <p:nvPr/>
          </p:nvSpPr>
          <p:spPr bwMode="auto">
            <a:xfrm>
              <a:off x="1872" y="3024"/>
              <a:ext cx="213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22549" name="Text Box 102"/>
            <p:cNvSpPr txBox="1">
              <a:spLocks noChangeArrowheads="1"/>
            </p:cNvSpPr>
            <p:nvPr/>
          </p:nvSpPr>
          <p:spPr bwMode="auto">
            <a:xfrm>
              <a:off x="2064" y="3840"/>
              <a:ext cx="257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U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2550" name="Text Box 103"/>
            <p:cNvSpPr txBox="1">
              <a:spLocks noChangeArrowheads="1"/>
            </p:cNvSpPr>
            <p:nvPr/>
          </p:nvSpPr>
          <p:spPr bwMode="auto">
            <a:xfrm>
              <a:off x="864" y="2304"/>
              <a:ext cx="19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2551" name="Line 104"/>
            <p:cNvSpPr>
              <a:spLocks noChangeShapeType="1"/>
            </p:cNvSpPr>
            <p:nvPr/>
          </p:nvSpPr>
          <p:spPr bwMode="auto">
            <a:xfrm>
              <a:off x="1200" y="2799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2" name="Text Box 105"/>
            <p:cNvSpPr txBox="1">
              <a:spLocks noChangeArrowheads="1"/>
            </p:cNvSpPr>
            <p:nvPr/>
          </p:nvSpPr>
          <p:spPr bwMode="auto">
            <a:xfrm>
              <a:off x="864" y="2640"/>
              <a:ext cx="26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</a:t>
              </a:r>
              <a:r>
                <a:rPr kumimoji="1" lang="en-US" altLang="zh-CN" sz="2400" b="1" i="1" baseline="-250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2553" name="Text Box 106"/>
            <p:cNvSpPr txBox="1">
              <a:spLocks noChangeArrowheads="1"/>
            </p:cNvSpPr>
            <p:nvPr/>
          </p:nvSpPr>
          <p:spPr bwMode="auto">
            <a:xfrm>
              <a:off x="1056" y="3840"/>
              <a:ext cx="213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22554" name="Freeform 107"/>
            <p:cNvSpPr>
              <a:spLocks/>
            </p:cNvSpPr>
            <p:nvPr/>
          </p:nvSpPr>
          <p:spPr bwMode="auto">
            <a:xfrm>
              <a:off x="822" y="3041"/>
              <a:ext cx="1341" cy="795"/>
            </a:xfrm>
            <a:custGeom>
              <a:avLst/>
              <a:gdLst>
                <a:gd name="T0" fmla="*/ 1341 w 1341"/>
                <a:gd name="T1" fmla="*/ 0 h 795"/>
                <a:gd name="T2" fmla="*/ 1020 w 1341"/>
                <a:gd name="T3" fmla="*/ 84 h 795"/>
                <a:gd name="T4" fmla="*/ 671 w 1341"/>
                <a:gd name="T5" fmla="*/ 349 h 795"/>
                <a:gd name="T6" fmla="*/ 278 w 1341"/>
                <a:gd name="T7" fmla="*/ 691 h 795"/>
                <a:gd name="T8" fmla="*/ 188 w 1341"/>
                <a:gd name="T9" fmla="*/ 742 h 795"/>
                <a:gd name="T10" fmla="*/ 0 w 1341"/>
                <a:gd name="T11" fmla="*/ 795 h 79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41"/>
                <a:gd name="T19" fmla="*/ 0 h 795"/>
                <a:gd name="T20" fmla="*/ 1341 w 1341"/>
                <a:gd name="T21" fmla="*/ 795 h 79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41" h="795">
                  <a:moveTo>
                    <a:pt x="1341" y="0"/>
                  </a:moveTo>
                  <a:cubicBezTo>
                    <a:pt x="1229" y="14"/>
                    <a:pt x="1160" y="27"/>
                    <a:pt x="1020" y="84"/>
                  </a:cubicBezTo>
                  <a:cubicBezTo>
                    <a:pt x="905" y="123"/>
                    <a:pt x="795" y="248"/>
                    <a:pt x="671" y="349"/>
                  </a:cubicBezTo>
                  <a:cubicBezTo>
                    <a:pt x="547" y="450"/>
                    <a:pt x="358" y="626"/>
                    <a:pt x="278" y="691"/>
                  </a:cubicBezTo>
                  <a:lnTo>
                    <a:pt x="188" y="742"/>
                  </a:lnTo>
                  <a:lnTo>
                    <a:pt x="0" y="795"/>
                  </a:lnTo>
                </a:path>
              </a:pathLst>
            </a:custGeom>
            <a:noFill/>
            <a:ln w="4127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Freeform 108"/>
            <p:cNvSpPr>
              <a:spLocks/>
            </p:cNvSpPr>
            <p:nvPr/>
          </p:nvSpPr>
          <p:spPr bwMode="auto">
            <a:xfrm>
              <a:off x="774" y="3273"/>
              <a:ext cx="1328" cy="584"/>
            </a:xfrm>
            <a:custGeom>
              <a:avLst/>
              <a:gdLst>
                <a:gd name="T0" fmla="*/ 1328 w 1328"/>
                <a:gd name="T1" fmla="*/ 0 h 584"/>
                <a:gd name="T2" fmla="*/ 886 w 1328"/>
                <a:gd name="T3" fmla="*/ 159 h 584"/>
                <a:gd name="T4" fmla="*/ 398 w 1328"/>
                <a:gd name="T5" fmla="*/ 466 h 584"/>
                <a:gd name="T6" fmla="*/ 0 w 1328"/>
                <a:gd name="T7" fmla="*/ 584 h 5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28"/>
                <a:gd name="T13" fmla="*/ 0 h 584"/>
                <a:gd name="T14" fmla="*/ 1328 w 1328"/>
                <a:gd name="T15" fmla="*/ 584 h 5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28" h="584">
                  <a:moveTo>
                    <a:pt x="1328" y="0"/>
                  </a:moveTo>
                  <a:cubicBezTo>
                    <a:pt x="1123" y="19"/>
                    <a:pt x="1041" y="81"/>
                    <a:pt x="886" y="159"/>
                  </a:cubicBezTo>
                  <a:cubicBezTo>
                    <a:pt x="731" y="237"/>
                    <a:pt x="527" y="400"/>
                    <a:pt x="398" y="466"/>
                  </a:cubicBezTo>
                  <a:lnTo>
                    <a:pt x="0" y="584"/>
                  </a:lnTo>
                </a:path>
              </a:pathLst>
            </a:custGeom>
            <a:noFill/>
            <a:ln w="41275">
              <a:solidFill>
                <a:schemeClr val="tx1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3300"/>
                </a:solidFill>
              </a:endParaRPr>
            </a:p>
          </p:txBody>
        </p:sp>
      </p:grpSp>
      <p:sp>
        <p:nvSpPr>
          <p:cNvPr id="8301" name="Text Box 109"/>
          <p:cNvSpPr txBox="1">
            <a:spLocks noChangeArrowheads="1"/>
          </p:cNvSpPr>
          <p:nvPr/>
        </p:nvSpPr>
        <p:spPr bwMode="auto">
          <a:xfrm>
            <a:off x="684213" y="3429000"/>
            <a:ext cx="48879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(1)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对一定光强，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光电流强度</a:t>
            </a:r>
            <a:r>
              <a:rPr kumimoji="1" lang="en-US" altLang="zh-CN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随电压</a:t>
            </a:r>
            <a:r>
              <a:rPr kumimoji="1" lang="en-US" altLang="zh-CN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增加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8302" name="Text Box 110"/>
          <p:cNvSpPr txBox="1">
            <a:spLocks noChangeArrowheads="1"/>
          </p:cNvSpPr>
          <p:nvPr/>
        </p:nvSpPr>
        <p:spPr bwMode="auto">
          <a:xfrm>
            <a:off x="684213" y="5395913"/>
            <a:ext cx="3387725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(3)  </a:t>
            </a:r>
            <a:r>
              <a:rPr kumimoji="1" lang="en-US" altLang="zh-CN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I=0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kumimoji="1" lang="en-US" altLang="zh-CN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U= –</a:t>
            </a:r>
            <a:r>
              <a:rPr kumimoji="1" lang="en-US" altLang="zh-CN" sz="2800" b="1" i="1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800" b="1" i="1" baseline="-25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solidFill>
                  <a:srgbClr val="003300"/>
                </a:solidFill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800" b="1" i="1" dirty="0">
                <a:solidFill>
                  <a:srgbClr val="0033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en-US" altLang="zh-CN" sz="2800" b="1" i="1" dirty="0" err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1" lang="en-US" altLang="zh-CN" sz="2800" b="1" i="1" baseline="-25000" dirty="0" err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遏止电压。</a:t>
            </a:r>
          </a:p>
        </p:txBody>
      </p:sp>
      <p:sp>
        <p:nvSpPr>
          <p:cNvPr id="22541" name="Text Box 112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7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8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8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226" grpId="0"/>
      <p:bldP spid="8281" grpId="0"/>
      <p:bldP spid="8282" grpId="0"/>
      <p:bldP spid="8283" grpId="0"/>
      <p:bldP spid="8284" grpId="0" autoUpdateAnimBg="0"/>
      <p:bldP spid="8285" grpId="0" autoUpdateAnimBg="0"/>
      <p:bldP spid="8301" grpId="0" autoUpdateAnimBg="0"/>
      <p:bldP spid="830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591175" y="3198813"/>
            <a:ext cx="2868613" cy="28225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  <p:sp>
        <p:nvSpPr>
          <p:cNvPr id="10313" name="Text Box 73"/>
          <p:cNvSpPr txBox="1">
            <a:spLocks noChangeArrowheads="1"/>
          </p:cNvSpPr>
          <p:nvPr/>
        </p:nvSpPr>
        <p:spPr bwMode="auto">
          <a:xfrm>
            <a:off x="4691063" y="5910263"/>
            <a:ext cx="41513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相同频率不同入射光强度</a:t>
            </a:r>
          </a:p>
        </p:txBody>
      </p:sp>
      <p:sp>
        <p:nvSpPr>
          <p:cNvPr id="10314" name="Text Box 74"/>
          <p:cNvSpPr txBox="1">
            <a:spLocks noChangeArrowheads="1"/>
          </p:cNvSpPr>
          <p:nvPr/>
        </p:nvSpPr>
        <p:spPr bwMode="auto">
          <a:xfrm>
            <a:off x="661988" y="1989138"/>
            <a:ext cx="78390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(5)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光电子的初动能与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入射光强度无关，而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随入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射光的频率线性增加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。只有当入射光频率</a:t>
            </a:r>
            <a:r>
              <a:rPr kumimoji="1" lang="zh-CN" altLang="en-US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大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于一定的频率</a:t>
            </a:r>
            <a:r>
              <a:rPr kumimoji="1" lang="zh-CN" altLang="en-US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kumimoji="1" lang="en-US" altLang="zh-CN" sz="2800" b="1" i="1" baseline="-25000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红限频率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时，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才会产生光电效应。</a:t>
            </a:r>
          </a:p>
        </p:txBody>
      </p:sp>
      <p:sp>
        <p:nvSpPr>
          <p:cNvPr id="10315" name="Text Box 75"/>
          <p:cNvSpPr txBox="1">
            <a:spLocks noChangeArrowheads="1"/>
          </p:cNvSpPr>
          <p:nvPr/>
        </p:nvSpPr>
        <p:spPr bwMode="auto">
          <a:xfrm>
            <a:off x="684213" y="352425"/>
            <a:ext cx="7632700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(4)</a:t>
            </a:r>
            <a:r>
              <a:rPr kumimoji="1" lang="en-US" altLang="zh-CN" sz="24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遏止电压的大小反映光电子初动能的大小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光电子的最大初动能为：</a:t>
            </a:r>
          </a:p>
        </p:txBody>
      </p:sp>
      <p:sp>
        <p:nvSpPr>
          <p:cNvPr id="10316" name="Text Box 76"/>
          <p:cNvSpPr txBox="1">
            <a:spLocks noChangeArrowheads="1"/>
          </p:cNvSpPr>
          <p:nvPr/>
        </p:nvSpPr>
        <p:spPr bwMode="auto">
          <a:xfrm>
            <a:off x="682625" y="4652963"/>
            <a:ext cx="5184775" cy="145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(6)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光电效应具有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瞬时性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，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     响应速度很快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延迟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时间不超过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10</a:t>
            </a:r>
            <a:r>
              <a:rPr kumimoji="1" lang="en-US" altLang="zh-CN" sz="2800" b="1" baseline="30000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-9</a:t>
            </a:r>
            <a:r>
              <a:rPr kumimoji="1" lang="en-US" altLang="zh-CN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10320" name="Object 80"/>
          <p:cNvGraphicFramePr>
            <a:graphicFrameLocks/>
          </p:cNvGraphicFramePr>
          <p:nvPr/>
        </p:nvGraphicFramePr>
        <p:xfrm>
          <a:off x="3071813" y="1428750"/>
          <a:ext cx="24685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3" name="Equation" r:id="rId4" imgW="2870200" imgH="457200" progId="Equation.DSMT4">
                  <p:embed/>
                </p:oleObj>
              </mc:Choice>
              <mc:Fallback>
                <p:oleObj name="Equation" r:id="rId4" imgW="2870200" imgH="457200" progId="Equation.DSMT4">
                  <p:embed/>
                  <p:pic>
                    <p:nvPicPr>
                      <p:cNvPr id="0" name="Object 8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1428750"/>
                        <a:ext cx="246856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9" name="Object 89"/>
          <p:cNvGraphicFramePr>
            <a:graphicFrameLocks noChangeAspect="1"/>
          </p:cNvGraphicFramePr>
          <p:nvPr/>
        </p:nvGraphicFramePr>
        <p:xfrm>
          <a:off x="3484563" y="3786188"/>
          <a:ext cx="1158875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4" name="Equation" r:id="rId6" imgW="1218671" imgH="761669" progId="Equation.DSMT4">
                  <p:embed/>
                </p:oleObj>
              </mc:Choice>
              <mc:Fallback>
                <p:oleObj name="Equation" r:id="rId6" imgW="1218671" imgH="761669" progId="Equation.DSMT4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4563" y="3786188"/>
                        <a:ext cx="1158875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1"/>
          <p:cNvGrpSpPr>
            <a:grpSpLocks/>
          </p:cNvGrpSpPr>
          <p:nvPr/>
        </p:nvGrpSpPr>
        <p:grpSpPr bwMode="auto">
          <a:xfrm>
            <a:off x="5438775" y="3198813"/>
            <a:ext cx="2922588" cy="2771775"/>
            <a:chOff x="480" y="2304"/>
            <a:chExt cx="1841" cy="1843"/>
          </a:xfrm>
        </p:grpSpPr>
        <p:sp>
          <p:nvSpPr>
            <p:cNvPr id="24587" name="Line 92"/>
            <p:cNvSpPr>
              <a:spLocks noChangeShapeType="1"/>
            </p:cNvSpPr>
            <p:nvPr/>
          </p:nvSpPr>
          <p:spPr bwMode="auto">
            <a:xfrm>
              <a:off x="480" y="3840"/>
              <a:ext cx="1650" cy="0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8" name="Line 93"/>
            <p:cNvSpPr>
              <a:spLocks noChangeShapeType="1"/>
            </p:cNvSpPr>
            <p:nvPr/>
          </p:nvSpPr>
          <p:spPr bwMode="auto">
            <a:xfrm flipV="1">
              <a:off x="1152" y="2352"/>
              <a:ext cx="0" cy="1454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9" name="Freeform 94"/>
            <p:cNvSpPr>
              <a:spLocks/>
            </p:cNvSpPr>
            <p:nvPr/>
          </p:nvSpPr>
          <p:spPr bwMode="auto">
            <a:xfrm>
              <a:off x="720" y="2832"/>
              <a:ext cx="1423" cy="1018"/>
            </a:xfrm>
            <a:custGeom>
              <a:avLst/>
              <a:gdLst>
                <a:gd name="T0" fmla="*/ 1423 w 1423"/>
                <a:gd name="T1" fmla="*/ 0 h 1018"/>
                <a:gd name="T2" fmla="*/ 1074 w 1423"/>
                <a:gd name="T3" fmla="*/ 70 h 1018"/>
                <a:gd name="T4" fmla="*/ 853 w 1423"/>
                <a:gd name="T5" fmla="*/ 255 h 1018"/>
                <a:gd name="T6" fmla="*/ 728 w 1423"/>
                <a:gd name="T7" fmla="*/ 398 h 1018"/>
                <a:gd name="T8" fmla="*/ 625 w 1423"/>
                <a:gd name="T9" fmla="*/ 526 h 1018"/>
                <a:gd name="T10" fmla="*/ 548 w 1423"/>
                <a:gd name="T11" fmla="*/ 652 h 1018"/>
                <a:gd name="T12" fmla="*/ 404 w 1423"/>
                <a:gd name="T13" fmla="*/ 804 h 1018"/>
                <a:gd name="T14" fmla="*/ 278 w 1423"/>
                <a:gd name="T15" fmla="*/ 914 h 1018"/>
                <a:gd name="T16" fmla="*/ 188 w 1423"/>
                <a:gd name="T17" fmla="*/ 965 h 1018"/>
                <a:gd name="T18" fmla="*/ 0 w 1423"/>
                <a:gd name="T19" fmla="*/ 1018 h 10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23"/>
                <a:gd name="T31" fmla="*/ 0 h 1018"/>
                <a:gd name="T32" fmla="*/ 1423 w 1423"/>
                <a:gd name="T33" fmla="*/ 1018 h 101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23" h="1018">
                  <a:moveTo>
                    <a:pt x="1423" y="0"/>
                  </a:moveTo>
                  <a:cubicBezTo>
                    <a:pt x="1363" y="23"/>
                    <a:pt x="1155" y="25"/>
                    <a:pt x="1074" y="70"/>
                  </a:cubicBezTo>
                  <a:cubicBezTo>
                    <a:pt x="993" y="115"/>
                    <a:pt x="908" y="198"/>
                    <a:pt x="853" y="255"/>
                  </a:cubicBezTo>
                  <a:lnTo>
                    <a:pt x="728" y="398"/>
                  </a:lnTo>
                  <a:lnTo>
                    <a:pt x="625" y="526"/>
                  </a:lnTo>
                  <a:lnTo>
                    <a:pt x="548" y="652"/>
                  </a:lnTo>
                  <a:lnTo>
                    <a:pt x="404" y="804"/>
                  </a:lnTo>
                  <a:lnTo>
                    <a:pt x="278" y="914"/>
                  </a:lnTo>
                  <a:lnTo>
                    <a:pt x="188" y="965"/>
                  </a:lnTo>
                  <a:lnTo>
                    <a:pt x="0" y="1018"/>
                  </a:lnTo>
                </a:path>
              </a:pathLst>
            </a:custGeom>
            <a:noFill/>
            <a:ln w="412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0" name="Text Box 95"/>
            <p:cNvSpPr txBox="1">
              <a:spLocks noChangeArrowheads="1"/>
            </p:cNvSpPr>
            <p:nvPr/>
          </p:nvSpPr>
          <p:spPr bwMode="auto">
            <a:xfrm>
              <a:off x="576" y="3840"/>
              <a:ext cx="32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U</a:t>
              </a:r>
              <a:r>
                <a:rPr kumimoji="1" lang="en-US" altLang="zh-CN" sz="2400" b="1" i="1" baseline="-250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4591" name="Text Box 96"/>
            <p:cNvSpPr txBox="1">
              <a:spLocks noChangeArrowheads="1"/>
            </p:cNvSpPr>
            <p:nvPr/>
          </p:nvSpPr>
          <p:spPr bwMode="auto">
            <a:xfrm>
              <a:off x="1968" y="2784"/>
              <a:ext cx="213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3</a:t>
              </a:r>
            </a:p>
          </p:txBody>
        </p:sp>
        <p:sp>
          <p:nvSpPr>
            <p:cNvPr id="24592" name="Text Box 97"/>
            <p:cNvSpPr txBox="1">
              <a:spLocks noChangeArrowheads="1"/>
            </p:cNvSpPr>
            <p:nvPr/>
          </p:nvSpPr>
          <p:spPr bwMode="auto">
            <a:xfrm>
              <a:off x="1776" y="3360"/>
              <a:ext cx="213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24593" name="Text Box 98"/>
            <p:cNvSpPr txBox="1">
              <a:spLocks noChangeArrowheads="1"/>
            </p:cNvSpPr>
            <p:nvPr/>
          </p:nvSpPr>
          <p:spPr bwMode="auto">
            <a:xfrm>
              <a:off x="1872" y="3024"/>
              <a:ext cx="213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24594" name="Text Box 99"/>
            <p:cNvSpPr txBox="1">
              <a:spLocks noChangeArrowheads="1"/>
            </p:cNvSpPr>
            <p:nvPr/>
          </p:nvSpPr>
          <p:spPr bwMode="auto">
            <a:xfrm>
              <a:off x="2064" y="3840"/>
              <a:ext cx="257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U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4595" name="Text Box 100"/>
            <p:cNvSpPr txBox="1">
              <a:spLocks noChangeArrowheads="1"/>
            </p:cNvSpPr>
            <p:nvPr/>
          </p:nvSpPr>
          <p:spPr bwMode="auto">
            <a:xfrm>
              <a:off x="864" y="2304"/>
              <a:ext cx="19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4596" name="Line 101"/>
            <p:cNvSpPr>
              <a:spLocks noChangeShapeType="1"/>
            </p:cNvSpPr>
            <p:nvPr/>
          </p:nvSpPr>
          <p:spPr bwMode="auto">
            <a:xfrm>
              <a:off x="1200" y="2799"/>
              <a:ext cx="880" cy="0"/>
            </a:xfrm>
            <a:prstGeom prst="line">
              <a:avLst/>
            </a:prstGeom>
            <a:noFill/>
            <a:ln w="9525">
              <a:solidFill>
                <a:srgbClr val="FFFF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7" name="Text Box 102"/>
            <p:cNvSpPr txBox="1">
              <a:spLocks noChangeArrowheads="1"/>
            </p:cNvSpPr>
            <p:nvPr/>
          </p:nvSpPr>
          <p:spPr bwMode="auto">
            <a:xfrm>
              <a:off x="864" y="2640"/>
              <a:ext cx="26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</a:t>
              </a:r>
              <a:r>
                <a:rPr kumimoji="1" lang="en-US" altLang="zh-CN" sz="2400" b="1" i="1" baseline="-250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4598" name="Text Box 103"/>
            <p:cNvSpPr txBox="1">
              <a:spLocks noChangeArrowheads="1"/>
            </p:cNvSpPr>
            <p:nvPr/>
          </p:nvSpPr>
          <p:spPr bwMode="auto">
            <a:xfrm>
              <a:off x="1056" y="3840"/>
              <a:ext cx="213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24599" name="Freeform 104"/>
            <p:cNvSpPr>
              <a:spLocks/>
            </p:cNvSpPr>
            <p:nvPr/>
          </p:nvSpPr>
          <p:spPr bwMode="auto">
            <a:xfrm>
              <a:off x="822" y="3041"/>
              <a:ext cx="1341" cy="795"/>
            </a:xfrm>
            <a:custGeom>
              <a:avLst/>
              <a:gdLst>
                <a:gd name="T0" fmla="*/ 1341 w 1341"/>
                <a:gd name="T1" fmla="*/ 0 h 795"/>
                <a:gd name="T2" fmla="*/ 1020 w 1341"/>
                <a:gd name="T3" fmla="*/ 84 h 795"/>
                <a:gd name="T4" fmla="*/ 671 w 1341"/>
                <a:gd name="T5" fmla="*/ 349 h 795"/>
                <a:gd name="T6" fmla="*/ 278 w 1341"/>
                <a:gd name="T7" fmla="*/ 691 h 795"/>
                <a:gd name="T8" fmla="*/ 188 w 1341"/>
                <a:gd name="T9" fmla="*/ 742 h 795"/>
                <a:gd name="T10" fmla="*/ 0 w 1341"/>
                <a:gd name="T11" fmla="*/ 795 h 79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41"/>
                <a:gd name="T19" fmla="*/ 0 h 795"/>
                <a:gd name="T20" fmla="*/ 1341 w 1341"/>
                <a:gd name="T21" fmla="*/ 795 h 79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41" h="795">
                  <a:moveTo>
                    <a:pt x="1341" y="0"/>
                  </a:moveTo>
                  <a:cubicBezTo>
                    <a:pt x="1229" y="14"/>
                    <a:pt x="1160" y="27"/>
                    <a:pt x="1020" y="84"/>
                  </a:cubicBezTo>
                  <a:cubicBezTo>
                    <a:pt x="905" y="123"/>
                    <a:pt x="795" y="248"/>
                    <a:pt x="671" y="349"/>
                  </a:cubicBezTo>
                  <a:cubicBezTo>
                    <a:pt x="547" y="450"/>
                    <a:pt x="358" y="626"/>
                    <a:pt x="278" y="691"/>
                  </a:cubicBezTo>
                  <a:lnTo>
                    <a:pt x="188" y="742"/>
                  </a:lnTo>
                  <a:lnTo>
                    <a:pt x="0" y="795"/>
                  </a:lnTo>
                </a:path>
              </a:pathLst>
            </a:custGeom>
            <a:noFill/>
            <a:ln w="4127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" name="Freeform 105"/>
            <p:cNvSpPr>
              <a:spLocks/>
            </p:cNvSpPr>
            <p:nvPr/>
          </p:nvSpPr>
          <p:spPr bwMode="auto">
            <a:xfrm>
              <a:off x="774" y="3273"/>
              <a:ext cx="1328" cy="584"/>
            </a:xfrm>
            <a:custGeom>
              <a:avLst/>
              <a:gdLst>
                <a:gd name="T0" fmla="*/ 1328 w 1328"/>
                <a:gd name="T1" fmla="*/ 0 h 584"/>
                <a:gd name="T2" fmla="*/ 886 w 1328"/>
                <a:gd name="T3" fmla="*/ 159 h 584"/>
                <a:gd name="T4" fmla="*/ 398 w 1328"/>
                <a:gd name="T5" fmla="*/ 466 h 584"/>
                <a:gd name="T6" fmla="*/ 0 w 1328"/>
                <a:gd name="T7" fmla="*/ 584 h 5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28"/>
                <a:gd name="T13" fmla="*/ 0 h 584"/>
                <a:gd name="T14" fmla="*/ 1328 w 1328"/>
                <a:gd name="T15" fmla="*/ 584 h 5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28" h="584">
                  <a:moveTo>
                    <a:pt x="1328" y="0"/>
                  </a:moveTo>
                  <a:cubicBezTo>
                    <a:pt x="1123" y="19"/>
                    <a:pt x="1041" y="81"/>
                    <a:pt x="886" y="159"/>
                  </a:cubicBezTo>
                  <a:cubicBezTo>
                    <a:pt x="731" y="237"/>
                    <a:pt x="527" y="400"/>
                    <a:pt x="398" y="466"/>
                  </a:cubicBezTo>
                  <a:lnTo>
                    <a:pt x="0" y="584"/>
                  </a:lnTo>
                </a:path>
              </a:pathLst>
            </a:custGeom>
            <a:noFill/>
            <a:ln w="41275">
              <a:solidFill>
                <a:schemeClr val="tx1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3300"/>
                </a:solidFill>
              </a:endParaRPr>
            </a:p>
          </p:txBody>
        </p:sp>
      </p:grpSp>
      <p:sp>
        <p:nvSpPr>
          <p:cNvPr id="24586" name="Text Box 106"/>
          <p:cNvSpPr txBox="1">
            <a:spLocks noChangeArrowheads="1"/>
          </p:cNvSpPr>
          <p:nvPr/>
        </p:nvSpPr>
        <p:spPr bwMode="auto">
          <a:xfrm>
            <a:off x="8786813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8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0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3" grpId="0" autoUpdateAnimBg="0"/>
      <p:bldP spid="10314" grpId="0" autoUpdateAnimBg="0"/>
      <p:bldP spid="10315" grpId="0" autoUpdateAnimBg="0"/>
      <p:bldP spid="10316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6"/>
          <p:cNvSpPr>
            <a:spLocks noChangeArrowheads="1"/>
          </p:cNvSpPr>
          <p:nvPr/>
        </p:nvSpPr>
        <p:spPr bwMode="auto">
          <a:xfrm>
            <a:off x="500063" y="2928938"/>
            <a:ext cx="784860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光波是连续传播的，只要入射光有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足够的强度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，任何频率的入射光都应产生光电效应。</a:t>
            </a:r>
          </a:p>
        </p:txBody>
      </p:sp>
      <p:sp>
        <p:nvSpPr>
          <p:cNvPr id="3" name="Rectangle 1027"/>
          <p:cNvSpPr>
            <a:spLocks noChangeArrowheads="1"/>
          </p:cNvSpPr>
          <p:nvPr/>
        </p:nvSpPr>
        <p:spPr bwMode="auto">
          <a:xfrm>
            <a:off x="285750" y="285750"/>
            <a:ext cx="3643313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2.3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经典理论的解释</a:t>
            </a:r>
          </a:p>
        </p:txBody>
      </p:sp>
      <p:sp>
        <p:nvSpPr>
          <p:cNvPr id="4" name="Text Box 1028"/>
          <p:cNvSpPr txBox="1">
            <a:spLocks noChangeArrowheads="1"/>
          </p:cNvSpPr>
          <p:nvPr/>
        </p:nvSpPr>
        <p:spPr bwMode="auto">
          <a:xfrm>
            <a:off x="785813" y="928688"/>
            <a:ext cx="487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按照光的经典电磁理论：</a:t>
            </a:r>
          </a:p>
        </p:txBody>
      </p:sp>
      <p:sp>
        <p:nvSpPr>
          <p:cNvPr id="5" name="Rectangle 1029"/>
          <p:cNvSpPr>
            <a:spLocks noChangeArrowheads="1"/>
          </p:cNvSpPr>
          <p:nvPr/>
        </p:nvSpPr>
        <p:spPr bwMode="auto">
          <a:xfrm>
            <a:off x="571500" y="1643063"/>
            <a:ext cx="784860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光电子的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最大初动能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应决定于入射光的强度而不是频率。</a:t>
            </a:r>
          </a:p>
        </p:txBody>
      </p:sp>
      <p:sp>
        <p:nvSpPr>
          <p:cNvPr id="6" name="Rectangle 1030"/>
          <p:cNvSpPr>
            <a:spLocks noChangeArrowheads="1"/>
          </p:cNvSpPr>
          <p:nvPr/>
        </p:nvSpPr>
        <p:spPr bwMode="auto">
          <a:xfrm>
            <a:off x="500063" y="4143375"/>
            <a:ext cx="8143875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0000FF"/>
              </a:buClr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光电子需吸收一定的能量才能逸出金属表面， 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阴极电子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积累能量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克服逸出功需要一段时间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0000FF"/>
              </a:buClr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光电效应不可能瞬时发生！</a:t>
            </a:r>
          </a:p>
        </p:txBody>
      </p:sp>
      <p:sp>
        <p:nvSpPr>
          <p:cNvPr id="26631" name="Text Box 1033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9</a:t>
            </a:r>
            <a:endParaRPr lang="en-US" altLang="zh-CN" sz="1800">
              <a:solidFill>
                <a:srgbClr val="003300"/>
              </a:solidFill>
            </a:endParaRPr>
          </a:p>
        </p:txBody>
      </p:sp>
      <p:sp>
        <p:nvSpPr>
          <p:cNvPr id="9" name="Text Box 22"/>
          <p:cNvSpPr txBox="1">
            <a:spLocks noChangeArrowheads="1"/>
          </p:cNvSpPr>
          <p:nvPr/>
        </p:nvSpPr>
        <p:spPr bwMode="auto">
          <a:xfrm>
            <a:off x="3927475" y="5827713"/>
            <a:ext cx="3835400" cy="461962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A5002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经典理论的解释极其困难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4" grpId="0" autoUpdateAnimBg="0"/>
      <p:bldP spid="5" grpId="0" autoUpdateAnimBg="0"/>
      <p:bldP spid="6" grpId="0" autoUpdateAnimBg="0"/>
      <p:bldP spid="9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1000125" y="214313"/>
            <a:ext cx="7272338" cy="1138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  <a:cs typeface="Times New Roman" pitchFamily="18" charset="0"/>
              </a:rPr>
              <a:t>第</a:t>
            </a:r>
            <a:r>
              <a:rPr kumimoji="1" lang="en-US" altLang="zh-CN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  <a:cs typeface="Times New Roman" pitchFamily="18" charset="0"/>
              </a:rPr>
              <a:t>3</a:t>
            </a:r>
            <a:r>
              <a:rPr kumimoji="1"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  <a:cs typeface="Times New Roman" pitchFamily="18" charset="0"/>
              </a:rPr>
              <a:t>节  光子  爱因斯坦光电方程</a:t>
            </a:r>
            <a:r>
              <a:rPr kumimoji="1" lang="zh-CN" altLang="en-US" sz="3200" b="1" dirty="0">
                <a:solidFill>
                  <a:srgbClr val="0033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楷体_GB2312" pitchFamily="49" charset="-122"/>
              </a:rPr>
              <a:t>  </a:t>
            </a:r>
            <a:endParaRPr kumimoji="1" lang="en-US" altLang="zh-CN" sz="2800" b="1" dirty="0">
              <a:solidFill>
                <a:srgbClr val="003300"/>
              </a:solidFill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spcBef>
                <a:spcPct val="50000"/>
              </a:spcBef>
              <a:defRPr/>
            </a:pPr>
            <a:r>
              <a:rPr kumimoji="1" lang="zh-CN" altLang="en-US" sz="2400" b="1" dirty="0">
                <a:solidFill>
                  <a:srgbClr val="0033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Photon Photoelectric  Equation</a:t>
            </a: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576263" y="1906588"/>
            <a:ext cx="54959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宋体" panose="02010600030101010101" pitchFamily="2" charset="-122"/>
              </a:rPr>
              <a:t>爱因斯坦在能量子假说的基础上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宋体" panose="02010600030101010101" pitchFamily="2" charset="-122"/>
              </a:rPr>
              <a:t>提出光子理论：</a:t>
            </a:r>
            <a:endParaRPr kumimoji="1" lang="zh-CN" altLang="en-US" sz="2800">
              <a:solidFill>
                <a:srgbClr val="003300"/>
              </a:solidFill>
              <a:latin typeface="宋体" panose="02010600030101010101" pitchFamily="2" charset="-122"/>
            </a:endParaRP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357188" y="2786063"/>
            <a:ext cx="80010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一束光，是一束以光速 运动的粒子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流，这些粒子称为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光量子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光子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。光的能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量不是均匀地分布在波阵面上，而是集中在微粒上。每个频率为</a:t>
            </a:r>
            <a:r>
              <a:rPr kumimoji="1" lang="zh-CN" altLang="en-US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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的单个光子的能量为：</a:t>
            </a: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6705600" y="4119563"/>
            <a:ext cx="1214438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 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=</a:t>
            </a:r>
            <a:r>
              <a:rPr kumimoji="1" lang="en-US" altLang="zh-CN" sz="28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h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7000875" y="1143000"/>
            <a:ext cx="1720850" cy="2435225"/>
            <a:chOff x="4694" y="119"/>
            <a:chExt cx="902" cy="1278"/>
          </a:xfrm>
        </p:grpSpPr>
        <p:pic>
          <p:nvPicPr>
            <p:cNvPr id="27659" name="Picture 21" descr="einstein192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4" y="119"/>
              <a:ext cx="902" cy="1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60" name="Text Box 22"/>
            <p:cNvSpPr txBox="1">
              <a:spLocks noChangeArrowheads="1"/>
            </p:cNvSpPr>
            <p:nvPr/>
          </p:nvSpPr>
          <p:spPr bwMode="auto">
            <a:xfrm>
              <a:off x="4830" y="1155"/>
              <a:ext cx="72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</a:rPr>
                <a:t>1921</a:t>
              </a:r>
            </a:p>
          </p:txBody>
        </p:sp>
      </p:grpSp>
      <p:sp>
        <p:nvSpPr>
          <p:cNvPr id="11288" name="Text Box 24"/>
          <p:cNvSpPr txBox="1">
            <a:spLocks noChangeArrowheads="1"/>
          </p:cNvSpPr>
          <p:nvPr/>
        </p:nvSpPr>
        <p:spPr bwMode="auto">
          <a:xfrm>
            <a:off x="142875" y="1357313"/>
            <a:ext cx="3060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3.1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光子</a:t>
            </a:r>
            <a:endParaRPr kumimoji="1" lang="zh-CN" altLang="en-US" sz="2400" dirty="0">
              <a:solidFill>
                <a:schemeClr val="tx1">
                  <a:lumMod val="60000"/>
                  <a:lumOff val="40000"/>
                </a:schemeClr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1289" name="Text Box 25"/>
          <p:cNvSpPr txBox="1">
            <a:spLocks noChangeArrowheads="1"/>
          </p:cNvSpPr>
          <p:nvPr/>
        </p:nvSpPr>
        <p:spPr bwMode="auto">
          <a:xfrm>
            <a:off x="142875" y="4714875"/>
            <a:ext cx="7416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3.2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光子假说对光电效应的解释</a:t>
            </a:r>
          </a:p>
        </p:txBody>
      </p:sp>
      <p:sp>
        <p:nvSpPr>
          <p:cNvPr id="11291" name="Rectangle 27"/>
          <p:cNvSpPr>
            <a:spLocks noChangeArrowheads="1"/>
          </p:cNvSpPr>
          <p:nvPr/>
        </p:nvSpPr>
        <p:spPr bwMode="auto">
          <a:xfrm>
            <a:off x="571500" y="5286375"/>
            <a:ext cx="84582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arenBoth"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入射光强度越大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光子数越多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光子与电子相互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作用的数目越多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逸出的光电子数目多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饱和光电流与入射光强度成正比</a:t>
            </a:r>
          </a:p>
        </p:txBody>
      </p:sp>
      <p:sp>
        <p:nvSpPr>
          <p:cNvPr id="27658" name="Text Box 29"/>
          <p:cNvSpPr txBox="1">
            <a:spLocks noChangeArrowheads="1"/>
          </p:cNvSpPr>
          <p:nvPr/>
        </p:nvSpPr>
        <p:spPr bwMode="auto">
          <a:xfrm>
            <a:off x="8675688" y="6400800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10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1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/>
      <p:bldP spid="11271" grpId="0" autoUpdateAnimBg="0"/>
      <p:bldP spid="11272" grpId="0"/>
      <p:bldP spid="11273" grpId="0" animBg="1"/>
      <p:bldP spid="11288" grpId="0" autoUpdateAnimBg="0"/>
      <p:bldP spid="11289" grpId="0"/>
      <p:bldP spid="1129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4" name="Text Box 26"/>
          <p:cNvSpPr txBox="1">
            <a:spLocks noChangeArrowheads="1"/>
          </p:cNvSpPr>
          <p:nvPr/>
        </p:nvSpPr>
        <p:spPr bwMode="auto">
          <a:xfrm>
            <a:off x="661988" y="5210175"/>
            <a:ext cx="7981950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(3)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光电效应具有瞬时性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：当光照射金属时，电子吸收能量是一次性的，不需要能量积累，电子逸出是瞬间，无明显时间延迟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1114425" y="3500438"/>
            <a:ext cx="655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所以当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＜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A/h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时，不发生光电效应。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971550" y="4005263"/>
            <a:ext cx="7100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产生光电效应的最小频率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红限频率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kumimoji="1" lang="zh-CN" altLang="en-US" sz="20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2987675" y="4446588"/>
          <a:ext cx="1046163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3" name="Equation" r:id="rId4" imgW="1066800" imgH="711200" progId="Equation.DSMT4">
                  <p:embed/>
                </p:oleObj>
              </mc:Choice>
              <mc:Fallback>
                <p:oleObj name="Equation" r:id="rId4" imgW="1066800" imgH="71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446588"/>
                        <a:ext cx="1046163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611188" y="404813"/>
            <a:ext cx="80645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最大初动能与频率成线性关系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一个光子被一个电子所吸收，使电子获得</a:t>
            </a:r>
            <a:r>
              <a:rPr kumimoji="1" lang="en-US" altLang="zh-CN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h</a:t>
            </a:r>
            <a:r>
              <a:rPr kumimoji="1" lang="en-US" altLang="zh-CN" sz="2400" b="1" i="1" dirty="0">
                <a:solidFill>
                  <a:srgbClr val="00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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   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能量，一部分用于脱离金属表面，由能量守恒</a:t>
            </a:r>
            <a:endParaRPr kumimoji="1" lang="en-US" altLang="zh-CN" sz="2800" b="1" dirty="0">
              <a:solidFill>
                <a:srgbClr val="0033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可得</a:t>
            </a:r>
            <a:r>
              <a:rPr kumimoji="1" lang="zh-CN" altLang="en-US" sz="2800" b="1" dirty="0">
                <a:solidFill>
                  <a:srgbClr val="003300"/>
                </a:solidFill>
                <a:ea typeface="楷体_GB2312"/>
                <a:cs typeface="楷体_GB2312"/>
              </a:rPr>
              <a:t>最大初动能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： </a:t>
            </a:r>
          </a:p>
        </p:txBody>
      </p:sp>
      <p:sp>
        <p:nvSpPr>
          <p:cNvPr id="12298" name="AutoShape 10"/>
          <p:cNvSpPr>
            <a:spLocks noChangeArrowheads="1"/>
          </p:cNvSpPr>
          <p:nvPr/>
        </p:nvSpPr>
        <p:spPr bwMode="auto">
          <a:xfrm>
            <a:off x="4475163" y="2198688"/>
            <a:ext cx="673100" cy="762000"/>
          </a:xfrm>
          <a:prstGeom prst="cloudCallout">
            <a:avLst>
              <a:gd name="adj1" fmla="val 125000"/>
              <a:gd name="adj2" fmla="val -39583"/>
            </a:avLst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solidFill>
                <a:srgbClr val="0033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5580063" y="2024063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逸出功</a:t>
            </a:r>
          </a:p>
        </p:txBody>
      </p:sp>
      <p:sp>
        <p:nvSpPr>
          <p:cNvPr id="12302" name="Text Box 14"/>
          <p:cNvSpPr txBox="1">
            <a:spLocks noChangeArrowheads="1"/>
          </p:cNvSpPr>
          <p:nvPr/>
        </p:nvSpPr>
        <p:spPr bwMode="auto">
          <a:xfrm>
            <a:off x="4284663" y="4508500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红限波长</a:t>
            </a:r>
          </a:p>
        </p:txBody>
      </p:sp>
      <p:graphicFrame>
        <p:nvGraphicFramePr>
          <p:cNvPr id="12303" name="Object 15"/>
          <p:cNvGraphicFramePr>
            <a:graphicFrameLocks noChangeAspect="1"/>
          </p:cNvGraphicFramePr>
          <p:nvPr/>
        </p:nvGraphicFramePr>
        <p:xfrm>
          <a:off x="5961063" y="4437063"/>
          <a:ext cx="121126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4" name="Equation" r:id="rId6" imgW="1168400" imgH="711200" progId="Equation.DSMT4">
                  <p:embed/>
                </p:oleObj>
              </mc:Choice>
              <mc:Fallback>
                <p:oleObj name="Equation" r:id="rId6" imgW="1168400" imgH="711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1063" y="4437063"/>
                        <a:ext cx="1211262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5" name="Rectangle 27"/>
          <p:cNvSpPr>
            <a:spLocks noChangeArrowheads="1"/>
          </p:cNvSpPr>
          <p:nvPr/>
        </p:nvSpPr>
        <p:spPr bwMode="auto">
          <a:xfrm>
            <a:off x="3419475" y="2981325"/>
            <a:ext cx="5111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楷体_GB2312" pitchFamily="49" charset="-122"/>
              </a:rPr>
              <a:t>————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楷体_GB2312" pitchFamily="49" charset="-122"/>
              </a:rPr>
              <a:t>爱因斯坦的光电方程</a:t>
            </a:r>
          </a:p>
        </p:txBody>
      </p:sp>
      <p:graphicFrame>
        <p:nvGraphicFramePr>
          <p:cNvPr id="12316" name="Object 28"/>
          <p:cNvGraphicFramePr>
            <a:graphicFrameLocks noChangeAspect="1"/>
          </p:cNvGraphicFramePr>
          <p:nvPr/>
        </p:nvGraphicFramePr>
        <p:xfrm>
          <a:off x="2555875" y="2205038"/>
          <a:ext cx="2273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5" name="Equation" r:id="rId8" imgW="2273300" imgH="698500" progId="Equation.DSMT4">
                  <p:embed/>
                </p:oleObj>
              </mc:Choice>
              <mc:Fallback>
                <p:oleObj name="Equation" r:id="rId8" imgW="2273300" imgH="6985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205038"/>
                        <a:ext cx="2273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9" name="Text Box 29"/>
          <p:cNvSpPr txBox="1">
            <a:spLocks noChangeArrowheads="1"/>
          </p:cNvSpPr>
          <p:nvPr/>
        </p:nvSpPr>
        <p:spPr bwMode="auto">
          <a:xfrm>
            <a:off x="8658225" y="6400800"/>
            <a:ext cx="474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11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4" grpId="0" autoUpdateAnimBg="0"/>
      <p:bldP spid="12294" grpId="0" autoUpdateAnimBg="0"/>
      <p:bldP spid="12295" grpId="0" autoUpdateAnimBg="0"/>
      <p:bldP spid="12297" grpId="0" autoUpdateAnimBg="0"/>
      <p:bldP spid="12298" grpId="0" animBg="1" autoUpdateAnimBg="0"/>
      <p:bldP spid="12299" grpId="0" autoUpdateAnimBg="0"/>
      <p:bldP spid="12302" grpId="0" autoUpdateAnimBg="0"/>
      <p:bldP spid="123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8" name="Rectangle 4"/>
          <p:cNvSpPr>
            <a:spLocks noChangeArrowheads="1"/>
          </p:cNvSpPr>
          <p:nvPr/>
        </p:nvSpPr>
        <p:spPr bwMode="auto">
          <a:xfrm>
            <a:off x="1547813" y="285750"/>
            <a:ext cx="6553200" cy="9540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-122"/>
                <a:ea typeface="宋体" charset="-122"/>
              </a:rPr>
              <a:t>    </a:t>
            </a:r>
            <a:r>
              <a:rPr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-122"/>
                <a:ea typeface="宋体" charset="-122"/>
              </a:rPr>
              <a:t>第</a:t>
            </a:r>
            <a:r>
              <a:rPr lang="en-US" altLang="zh-CN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4</a:t>
            </a:r>
            <a:r>
              <a:rPr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-122"/>
                <a:ea typeface="宋体" charset="-122"/>
              </a:rPr>
              <a:t>节 光子</a:t>
            </a:r>
            <a:r>
              <a:rPr kumimoji="1"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-122"/>
                <a:ea typeface="宋体" charset="-122"/>
              </a:rPr>
              <a:t>的波粒二象性</a:t>
            </a:r>
            <a:r>
              <a:rPr kumimoji="1" lang="zh-CN" altLang="en-US" sz="3200" b="1" dirty="0">
                <a:solidFill>
                  <a:srgbClr val="003300"/>
                </a:solidFill>
                <a:latin typeface="隶书" pitchFamily="49" charset="-122"/>
                <a:ea typeface="隶书" pitchFamily="49" charset="-122"/>
              </a:rPr>
              <a:t> </a:t>
            </a:r>
          </a:p>
          <a:p>
            <a:pPr eaLnBrk="1" hangingPunct="1">
              <a:defRPr/>
            </a:pPr>
            <a:r>
              <a:rPr kumimoji="1" lang="zh-CN" altLang="en-US" sz="2400" b="1" i="1" dirty="0">
                <a:solidFill>
                  <a:srgbClr val="003300"/>
                </a:solidFill>
                <a:latin typeface="Times New Roman" pitchFamily="18" charset="0"/>
                <a:ea typeface="楷体_GB2312" pitchFamily="49" charset="-122"/>
              </a:rPr>
              <a:t>          </a:t>
            </a:r>
            <a:r>
              <a:rPr kumimoji="1" lang="en-US" altLang="zh-CN" sz="2400" b="1" dirty="0">
                <a:solidFill>
                  <a:srgbClr val="003300"/>
                </a:solidFill>
                <a:latin typeface="Arial" charset="0"/>
                <a:ea typeface="楷体_GB2312" pitchFamily="49" charset="-122"/>
              </a:rPr>
              <a:t>Wave-Particle Duality of Photons</a:t>
            </a:r>
          </a:p>
        </p:txBody>
      </p:sp>
      <p:sp>
        <p:nvSpPr>
          <p:cNvPr id="31747" name="Text Box 24"/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12</a:t>
            </a:r>
            <a:endParaRPr lang="en-US" altLang="zh-CN" sz="1800">
              <a:solidFill>
                <a:srgbClr val="003300"/>
              </a:solidFill>
            </a:endParaRPr>
          </a:p>
        </p:txBody>
      </p:sp>
      <p:sp>
        <p:nvSpPr>
          <p:cNvPr id="22" name="Text Box 3"/>
          <p:cNvSpPr txBox="1">
            <a:spLocks noChangeArrowheads="1"/>
          </p:cNvSpPr>
          <p:nvPr/>
        </p:nvSpPr>
        <p:spPr bwMode="auto">
          <a:xfrm>
            <a:off x="300038" y="1285875"/>
            <a:ext cx="3884612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altLang="zh-CN" sz="2800" b="1">
                <a:solidFill>
                  <a:schemeClr val="tx1">
                    <a:lumMod val="60000"/>
                    <a:lumOff val="40000"/>
                  </a:schemeClr>
                </a:solidFill>
              </a:rPr>
              <a:t>4.1.  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光子的质量 </a:t>
            </a: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701675" y="1963738"/>
            <a:ext cx="360203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由相对论质能关系</a:t>
            </a:r>
            <a:r>
              <a:rPr lang="en-US" altLang="zh-CN" sz="2400" b="1">
                <a:solidFill>
                  <a:srgbClr val="003300"/>
                </a:solidFill>
              </a:rPr>
              <a:t> </a:t>
            </a:r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319088" y="4724400"/>
            <a:ext cx="4403725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altLang="zh-CN" sz="2800" b="1">
                <a:solidFill>
                  <a:schemeClr val="tx1">
                    <a:lumMod val="60000"/>
                    <a:lumOff val="40000"/>
                  </a:schemeClr>
                </a:solidFill>
              </a:rPr>
              <a:t>4.2. </a:t>
            </a:r>
            <a:r>
              <a:rPr lang="zh-CN" altLang="en-US" sz="2800" b="1">
                <a:solidFill>
                  <a:schemeClr val="tx1">
                    <a:lumMod val="60000"/>
                    <a:lumOff val="40000"/>
                  </a:schemeClr>
                </a:solidFill>
              </a:rPr>
              <a:t>光子的动量</a:t>
            </a:r>
          </a:p>
        </p:txBody>
      </p:sp>
      <p:graphicFrame>
        <p:nvGraphicFramePr>
          <p:cNvPr id="25" name="Object 7"/>
          <p:cNvGraphicFramePr>
            <a:graphicFrameLocks noChangeAspect="1"/>
          </p:cNvGraphicFramePr>
          <p:nvPr/>
        </p:nvGraphicFramePr>
        <p:xfrm>
          <a:off x="3419475" y="1844675"/>
          <a:ext cx="237648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2" name="Equation" r:id="rId3" imgW="752590" imgH="123930" progId="Equation.DSMT4">
                  <p:embed/>
                </p:oleObj>
              </mc:Choice>
              <mc:Fallback>
                <p:oleObj name="Equation" r:id="rId3" imgW="752590" imgH="12393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1844675"/>
                        <a:ext cx="2376488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8"/>
          <p:cNvGraphicFramePr>
            <a:graphicFrameLocks noChangeAspect="1"/>
          </p:cNvGraphicFramePr>
          <p:nvPr/>
        </p:nvGraphicFramePr>
        <p:xfrm>
          <a:off x="2720975" y="2538413"/>
          <a:ext cx="2160588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3" name="Equation" r:id="rId5" imgW="752590" imgH="314280" progId="Equation.DSMT4">
                  <p:embed/>
                </p:oleObj>
              </mc:Choice>
              <mc:Fallback>
                <p:oleObj name="Equation" r:id="rId5" imgW="752590" imgH="3142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975" y="2538413"/>
                        <a:ext cx="2160588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9"/>
          <p:cNvGraphicFramePr>
            <a:graphicFrameLocks noChangeAspect="1"/>
          </p:cNvGraphicFramePr>
          <p:nvPr/>
        </p:nvGraphicFramePr>
        <p:xfrm>
          <a:off x="5254625" y="2566988"/>
          <a:ext cx="2168525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4" name="Equation" r:id="rId7" imgW="961943" imgH="352350" progId="Equation.DSMT4">
                  <p:embed/>
                </p:oleObj>
              </mc:Choice>
              <mc:Fallback>
                <p:oleObj name="Equation" r:id="rId7" imgW="961943" imgH="35235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25" y="2566988"/>
                        <a:ext cx="2168525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0"/>
          <p:cNvGraphicFramePr>
            <a:graphicFrameLocks noChangeAspect="1"/>
          </p:cNvGraphicFramePr>
          <p:nvPr/>
        </p:nvGraphicFramePr>
        <p:xfrm>
          <a:off x="822325" y="5253038"/>
          <a:ext cx="2841625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5" name="Equation" r:id="rId9" imgW="1000032" imgH="314280" progId="Equation.DSMT4">
                  <p:embed/>
                </p:oleObj>
              </mc:Choice>
              <mc:Fallback>
                <p:oleObj name="Equation" r:id="rId9" imgW="1000032" imgH="3142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325" y="5253038"/>
                        <a:ext cx="2841625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12"/>
          <p:cNvSpPr txBox="1">
            <a:spLocks noChangeArrowheads="1"/>
          </p:cNvSpPr>
          <p:nvPr/>
        </p:nvSpPr>
        <p:spPr bwMode="auto">
          <a:xfrm>
            <a:off x="701675" y="2841625"/>
            <a:ext cx="24177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光子的质量 </a:t>
            </a:r>
          </a:p>
        </p:txBody>
      </p:sp>
      <p:sp>
        <p:nvSpPr>
          <p:cNvPr id="31" name="Text Box 13"/>
          <p:cNvSpPr txBox="1">
            <a:spLocks noChangeArrowheads="1"/>
          </p:cNvSpPr>
          <p:nvPr/>
        </p:nvSpPr>
        <p:spPr bwMode="auto">
          <a:xfrm>
            <a:off x="2592388" y="3919538"/>
            <a:ext cx="2527300" cy="476250"/>
          </a:xfrm>
          <a:prstGeom prst="rect">
            <a:avLst/>
          </a:prstGeom>
          <a:solidFill>
            <a:srgbClr val="FFFF66"/>
          </a:solidFill>
          <a:ln w="19050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光子的运动质量</a:t>
            </a:r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5297488" y="3919538"/>
            <a:ext cx="3086100" cy="476250"/>
          </a:xfrm>
          <a:prstGeom prst="rect">
            <a:avLst/>
          </a:prstGeom>
          <a:solidFill>
            <a:srgbClr val="FFFF66"/>
          </a:solidFill>
          <a:ln w="19050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光子的静止质量为零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8" grpId="0"/>
      <p:bldP spid="22" grpId="0"/>
      <p:bldP spid="23" grpId="0" autoUpdateAnimBg="0"/>
      <p:bldP spid="24" grpId="0"/>
      <p:bldP spid="30" grpId="0" autoUpdateAnimBg="0"/>
      <p:bldP spid="31" grpId="0" animBg="1" autoUpdateAnimBg="0"/>
      <p:bldP spid="32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41388" y="4268788"/>
            <a:ext cx="1808162" cy="1320800"/>
            <a:chOff x="288" y="1539"/>
            <a:chExt cx="1139" cy="832"/>
          </a:xfrm>
        </p:grpSpPr>
        <p:sp>
          <p:nvSpPr>
            <p:cNvPr id="32783" name="Text Box 3"/>
            <p:cNvSpPr txBox="1">
              <a:spLocks noChangeArrowheads="1"/>
            </p:cNvSpPr>
            <p:nvPr/>
          </p:nvSpPr>
          <p:spPr bwMode="auto">
            <a:xfrm>
              <a:off x="288" y="1539"/>
              <a:ext cx="112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3300"/>
                  </a:solidFill>
                </a:rPr>
                <a:t>黑体辐射 </a:t>
              </a:r>
            </a:p>
          </p:txBody>
        </p:sp>
        <p:sp>
          <p:nvSpPr>
            <p:cNvPr id="32784" name="Text Box 4"/>
            <p:cNvSpPr txBox="1">
              <a:spLocks noChangeArrowheads="1"/>
            </p:cNvSpPr>
            <p:nvPr/>
          </p:nvSpPr>
          <p:spPr bwMode="auto">
            <a:xfrm>
              <a:off x="288" y="1791"/>
              <a:ext cx="8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3300"/>
                  </a:solidFill>
                </a:rPr>
                <a:t>光电效应</a:t>
              </a:r>
            </a:p>
          </p:txBody>
        </p:sp>
        <p:sp>
          <p:nvSpPr>
            <p:cNvPr id="32785" name="Text Box 5"/>
            <p:cNvSpPr txBox="1">
              <a:spLocks noChangeArrowheads="1"/>
            </p:cNvSpPr>
            <p:nvPr/>
          </p:nvSpPr>
          <p:spPr bwMode="auto">
            <a:xfrm>
              <a:off x="288" y="2080"/>
              <a:ext cx="11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3300"/>
                  </a:solidFill>
                </a:rPr>
                <a:t>康普顿效应 </a:t>
              </a:r>
            </a:p>
          </p:txBody>
        </p:sp>
      </p:grp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950913" y="5746750"/>
            <a:ext cx="6978650" cy="830263"/>
          </a:xfrm>
          <a:prstGeom prst="rect">
            <a:avLst/>
          </a:prstGeom>
          <a:solidFill>
            <a:srgbClr val="FFCCFF"/>
          </a:solidFill>
          <a:ln w="9525">
            <a:solidFill>
              <a:srgbClr val="99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 光的波粒二象性：光具有波动和微粒的双重性质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                    但粒子不是经典粒子</a:t>
            </a:r>
            <a:r>
              <a:rPr lang="en-US" altLang="zh-CN" sz="2400" b="1">
                <a:solidFill>
                  <a:srgbClr val="003300"/>
                </a:solidFill>
                <a:ea typeface="黑体" panose="02010609060101010101" pitchFamily="49" charset="-122"/>
              </a:rPr>
              <a:t>, </a:t>
            </a: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波也不是经典波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11225" y="2957513"/>
            <a:ext cx="20320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光的干涉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光的衍射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光的电磁理论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543425" y="3360738"/>
            <a:ext cx="3581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 肯定了光的</a:t>
            </a:r>
            <a:r>
              <a:rPr lang="zh-CN" altLang="en-US" sz="2400" b="1">
                <a:solidFill>
                  <a:srgbClr val="FF0000"/>
                </a:solidFill>
              </a:rPr>
              <a:t>波动性 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619625" y="4629150"/>
            <a:ext cx="391318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证实了光具有</a:t>
            </a:r>
            <a:r>
              <a:rPr lang="zh-CN" altLang="en-US" sz="2400" b="1">
                <a:solidFill>
                  <a:srgbClr val="FF0000"/>
                </a:solidFill>
              </a:rPr>
              <a:t>粒子性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3850" y="169863"/>
            <a:ext cx="658653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2800" b="1">
                <a:solidFill>
                  <a:schemeClr val="tx1">
                    <a:lumMod val="60000"/>
                    <a:lumOff val="40000"/>
                  </a:schemeClr>
                </a:solidFill>
              </a:rPr>
              <a:t>4.3.  </a:t>
            </a:r>
            <a:r>
              <a:rPr lang="zh-CN" altLang="en-US" sz="2800" b="1">
                <a:solidFill>
                  <a:schemeClr val="tx1">
                    <a:lumMod val="60000"/>
                    <a:lumOff val="40000"/>
                  </a:schemeClr>
                </a:solidFill>
              </a:rPr>
              <a:t>光的波粒二象性  光子方程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673100" y="1196975"/>
            <a:ext cx="32480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</a:rPr>
              <a:t>爱因斯坦光子方程</a:t>
            </a:r>
            <a:r>
              <a:rPr lang="en-US" altLang="zh-CN" sz="2400" b="1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5508625" y="985838"/>
            <a:ext cx="3433763" cy="86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定量地表现了光的波动性和粒子性。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684213" y="2468563"/>
            <a:ext cx="80010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400" b="1">
                <a:solidFill>
                  <a:schemeClr val="tx1">
                    <a:lumMod val="60000"/>
                    <a:lumOff val="40000"/>
                  </a:schemeClr>
                </a:solidFill>
              </a:rPr>
              <a:t>光的粒子性(</a:t>
            </a:r>
            <a:r>
              <a:rPr lang="en-US" altLang="zh-CN" sz="2400" b="1" i="1">
                <a:solidFill>
                  <a:schemeClr val="tx1">
                    <a:lumMod val="60000"/>
                    <a:lumOff val="40000"/>
                  </a:schemeClr>
                </a:solidFill>
              </a:rPr>
              <a:t>E</a:t>
            </a:r>
            <a:r>
              <a:rPr lang="zh-CN" altLang="en-US" sz="2400" b="1">
                <a:solidFill>
                  <a:schemeClr val="tx1">
                    <a:lumMod val="60000"/>
                    <a:lumOff val="40000"/>
                  </a:schemeClr>
                </a:solidFill>
              </a:rPr>
              <a:t>，</a:t>
            </a:r>
            <a:r>
              <a:rPr lang="en-US" altLang="zh-CN" sz="2400" b="1" i="1">
                <a:solidFill>
                  <a:schemeClr val="tx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</a:rPr>
              <a:t>)</a:t>
            </a:r>
            <a:r>
              <a:rPr lang="en-US" altLang="en-US" sz="2400" b="1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zh-CN" altLang="en-US" sz="2400" b="1">
                <a:solidFill>
                  <a:schemeClr val="tx1">
                    <a:lumMod val="60000"/>
                    <a:lumOff val="40000"/>
                  </a:schemeClr>
                </a:solidFill>
              </a:rPr>
              <a:t>和波动性</a:t>
            </a: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</a:rPr>
              <a:t>( </a:t>
            </a:r>
            <a:r>
              <a:rPr lang="en-US" altLang="zh-CN" sz="2400" b="1" i="1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</a:t>
            </a:r>
            <a:r>
              <a:rPr lang="zh-CN" altLang="en-US" sz="2400" b="1">
                <a:solidFill>
                  <a:schemeClr val="tx1">
                    <a:lumMod val="60000"/>
                    <a:lumOff val="40000"/>
                  </a:schemeClr>
                </a:solidFill>
                <a:sym typeface="SymbolPS" pitchFamily="18" charset="2"/>
              </a:rPr>
              <a:t>，</a:t>
            </a:r>
            <a:r>
              <a:rPr lang="zh-CN" altLang="en-US" sz="2400" b="1" i="1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</a:t>
            </a:r>
            <a:r>
              <a:rPr lang="zh-CN" altLang="en-US" sz="2400" b="1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)</a:t>
            </a:r>
            <a:r>
              <a:rPr lang="zh-CN" altLang="en-US" sz="2400" b="1">
                <a:solidFill>
                  <a:schemeClr val="tx1">
                    <a:lumMod val="60000"/>
                    <a:lumOff val="40000"/>
                  </a:schemeClr>
                </a:solidFill>
              </a:rPr>
              <a:t>联系在一起。</a:t>
            </a:r>
          </a:p>
        </p:txBody>
      </p:sp>
      <p:graphicFrame>
        <p:nvGraphicFramePr>
          <p:cNvPr id="14" name="Object 16"/>
          <p:cNvGraphicFramePr>
            <a:graphicFrameLocks noChangeAspect="1"/>
          </p:cNvGraphicFramePr>
          <p:nvPr/>
        </p:nvGraphicFramePr>
        <p:xfrm>
          <a:off x="3635375" y="842963"/>
          <a:ext cx="1609725" cy="1433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7" name="公式" r:id="rId3" imgW="390612" imgH="476280" progId="Equation.3">
                  <p:embed/>
                </p:oleObj>
              </mc:Choice>
              <mc:Fallback>
                <p:oleObj name="公式" r:id="rId3" imgW="390612" imgH="4762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842963"/>
                        <a:ext cx="1609725" cy="143351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utoShape 18"/>
          <p:cNvSpPr>
            <a:spLocks noChangeArrowheads="1"/>
          </p:cNvSpPr>
          <p:nvPr/>
        </p:nvSpPr>
        <p:spPr bwMode="auto">
          <a:xfrm>
            <a:off x="3059113" y="3332163"/>
            <a:ext cx="1304925" cy="485775"/>
          </a:xfrm>
          <a:prstGeom prst="notchedRightArrow">
            <a:avLst>
              <a:gd name="adj1" fmla="val 50000"/>
              <a:gd name="adj2" fmla="val 67157"/>
            </a:avLst>
          </a:prstGeom>
          <a:solidFill>
            <a:srgbClr val="FF00FF"/>
          </a:solidFill>
          <a:ln w="9525" algn="ctr">
            <a:solidFill>
              <a:srgbClr val="080808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003300"/>
              </a:solidFill>
            </a:endParaRPr>
          </a:p>
        </p:txBody>
      </p:sp>
      <p:sp>
        <p:nvSpPr>
          <p:cNvPr id="16" name="AutoShape 19"/>
          <p:cNvSpPr>
            <a:spLocks noChangeArrowheads="1"/>
          </p:cNvSpPr>
          <p:nvPr/>
        </p:nvSpPr>
        <p:spPr bwMode="auto">
          <a:xfrm>
            <a:off x="3122613" y="4629150"/>
            <a:ext cx="1304925" cy="485775"/>
          </a:xfrm>
          <a:prstGeom prst="notchedRightArrow">
            <a:avLst>
              <a:gd name="adj1" fmla="val 50000"/>
              <a:gd name="adj2" fmla="val 67157"/>
            </a:avLst>
          </a:prstGeom>
          <a:solidFill>
            <a:srgbClr val="FF00FF"/>
          </a:solidFill>
          <a:ln w="9525" algn="ctr">
            <a:solidFill>
              <a:srgbClr val="080808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003300"/>
              </a:solidFill>
            </a:endParaRPr>
          </a:p>
        </p:txBody>
      </p:sp>
      <p:sp>
        <p:nvSpPr>
          <p:cNvPr id="32782" name="Text Box 41"/>
          <p:cNvSpPr txBox="1">
            <a:spLocks noChangeArrowheads="1"/>
          </p:cNvSpPr>
          <p:nvPr/>
        </p:nvSpPr>
        <p:spPr bwMode="auto">
          <a:xfrm>
            <a:off x="8675688" y="6400800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13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0" grpId="0"/>
      <p:bldP spid="11" grpId="0"/>
      <p:bldP spid="12" grpId="0" autoUpdateAnimBg="0"/>
      <p:bldP spid="13" grpId="0"/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9" name="Rectangle 31"/>
          <p:cNvSpPr>
            <a:spLocks noChangeArrowheads="1"/>
          </p:cNvSpPr>
          <p:nvPr/>
        </p:nvSpPr>
        <p:spPr bwMode="auto">
          <a:xfrm>
            <a:off x="317500" y="4832350"/>
            <a:ext cx="1746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实验规律：</a:t>
            </a:r>
          </a:p>
        </p:txBody>
      </p:sp>
      <p:sp>
        <p:nvSpPr>
          <p:cNvPr id="22564" name="Text Box 36"/>
          <p:cNvSpPr txBox="1">
            <a:spLocks noChangeArrowheads="1"/>
          </p:cNvSpPr>
          <p:nvPr/>
        </p:nvSpPr>
        <p:spPr bwMode="auto">
          <a:xfrm>
            <a:off x="1714500" y="357188"/>
            <a:ext cx="5426075" cy="91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        第</a:t>
            </a:r>
            <a:r>
              <a:rPr kumimoji="1" lang="en-US" altLang="zh-CN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5</a:t>
            </a:r>
            <a:r>
              <a:rPr kumimoji="1"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节   康普顿效应</a:t>
            </a:r>
            <a:r>
              <a:rPr kumimoji="1" lang="zh-CN" altLang="en-US" sz="32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  <a:p>
            <a:pPr algn="ctr"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Compton Effect</a:t>
            </a: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827088" y="2133600"/>
            <a:ext cx="5622925" cy="2667000"/>
            <a:chOff x="521" y="1434"/>
            <a:chExt cx="3542" cy="1680"/>
          </a:xfrm>
        </p:grpSpPr>
        <p:sp>
          <p:nvSpPr>
            <p:cNvPr id="33806" name="Line 7"/>
            <p:cNvSpPr>
              <a:spLocks noChangeShapeType="1"/>
            </p:cNvSpPr>
            <p:nvPr/>
          </p:nvSpPr>
          <p:spPr bwMode="auto">
            <a:xfrm flipV="1">
              <a:off x="1559" y="2622"/>
              <a:ext cx="0" cy="432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07" name="Line 10"/>
            <p:cNvSpPr>
              <a:spLocks noChangeShapeType="1"/>
            </p:cNvSpPr>
            <p:nvPr/>
          </p:nvSpPr>
          <p:spPr bwMode="auto">
            <a:xfrm>
              <a:off x="1559" y="143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08" name="Line 5"/>
            <p:cNvSpPr>
              <a:spLocks noChangeShapeType="1"/>
            </p:cNvSpPr>
            <p:nvPr/>
          </p:nvSpPr>
          <p:spPr bwMode="auto">
            <a:xfrm>
              <a:off x="1415" y="2622"/>
              <a:ext cx="0" cy="432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09" name="Line 8"/>
            <p:cNvSpPr>
              <a:spLocks noChangeShapeType="1"/>
            </p:cNvSpPr>
            <p:nvPr/>
          </p:nvSpPr>
          <p:spPr bwMode="auto">
            <a:xfrm flipV="1">
              <a:off x="1415" y="143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10" name="AutoShape 11"/>
            <p:cNvSpPr>
              <a:spLocks noChangeArrowheads="1"/>
            </p:cNvSpPr>
            <p:nvPr/>
          </p:nvSpPr>
          <p:spPr bwMode="auto">
            <a:xfrm>
              <a:off x="1439" y="2124"/>
              <a:ext cx="228" cy="696"/>
            </a:xfrm>
            <a:prstGeom prst="rtTriangle">
              <a:avLst/>
            </a:prstGeom>
            <a:solidFill>
              <a:srgbClr val="FF0066"/>
            </a:solidFill>
            <a:ln w="9525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33811" name="AutoShape 13"/>
            <p:cNvSpPr>
              <a:spLocks noChangeArrowheads="1"/>
            </p:cNvSpPr>
            <p:nvPr/>
          </p:nvSpPr>
          <p:spPr bwMode="auto">
            <a:xfrm flipV="1">
              <a:off x="1445" y="1680"/>
              <a:ext cx="228" cy="696"/>
            </a:xfrm>
            <a:prstGeom prst="rtTriangle">
              <a:avLst/>
            </a:prstGeom>
            <a:solidFill>
              <a:srgbClr val="FF0066"/>
            </a:solidFill>
            <a:ln w="9525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33812" name="Line 16"/>
            <p:cNvSpPr>
              <a:spLocks noChangeShapeType="1"/>
            </p:cNvSpPr>
            <p:nvPr/>
          </p:nvSpPr>
          <p:spPr bwMode="auto">
            <a:xfrm>
              <a:off x="2423" y="2490"/>
              <a:ext cx="0" cy="624"/>
            </a:xfrm>
            <a:prstGeom prst="line">
              <a:avLst/>
            </a:prstGeom>
            <a:noFill/>
            <a:ln w="57150">
              <a:solidFill>
                <a:srgbClr val="00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13" name="Oval 23"/>
            <p:cNvSpPr>
              <a:spLocks noChangeArrowheads="1"/>
            </p:cNvSpPr>
            <p:nvPr/>
          </p:nvSpPr>
          <p:spPr bwMode="auto">
            <a:xfrm rot="-3807263">
              <a:off x="3643" y="1761"/>
              <a:ext cx="161" cy="3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33814" name="Oval 4"/>
            <p:cNvSpPr>
              <a:spLocks noChangeArrowheads="1"/>
            </p:cNvSpPr>
            <p:nvPr/>
          </p:nvSpPr>
          <p:spPr bwMode="auto">
            <a:xfrm>
              <a:off x="1079" y="2241"/>
              <a:ext cx="161" cy="3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33815" name="Line 6"/>
            <p:cNvSpPr>
              <a:spLocks noChangeShapeType="1"/>
            </p:cNvSpPr>
            <p:nvPr/>
          </p:nvSpPr>
          <p:spPr bwMode="auto">
            <a:xfrm>
              <a:off x="1415" y="3054"/>
              <a:ext cx="144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16" name="Line 9"/>
            <p:cNvSpPr>
              <a:spLocks noChangeShapeType="1"/>
            </p:cNvSpPr>
            <p:nvPr/>
          </p:nvSpPr>
          <p:spPr bwMode="auto">
            <a:xfrm flipV="1">
              <a:off x="1415" y="143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17" name="Rectangle 12"/>
            <p:cNvSpPr>
              <a:spLocks noChangeArrowheads="1"/>
            </p:cNvSpPr>
            <p:nvPr/>
          </p:nvSpPr>
          <p:spPr bwMode="auto">
            <a:xfrm>
              <a:off x="1445" y="2631"/>
              <a:ext cx="90" cy="234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rgbClr val="FF0066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33818" name="Rectangle 14"/>
            <p:cNvSpPr>
              <a:spLocks noChangeArrowheads="1"/>
            </p:cNvSpPr>
            <p:nvPr/>
          </p:nvSpPr>
          <p:spPr bwMode="auto">
            <a:xfrm flipV="1">
              <a:off x="1439" y="1908"/>
              <a:ext cx="96" cy="234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rgbClr val="FF0066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33819" name="Line 15"/>
            <p:cNvSpPr>
              <a:spLocks noChangeShapeType="1"/>
            </p:cNvSpPr>
            <p:nvPr/>
          </p:nvSpPr>
          <p:spPr bwMode="auto">
            <a:xfrm>
              <a:off x="2423" y="1818"/>
              <a:ext cx="0" cy="576"/>
            </a:xfrm>
            <a:prstGeom prst="line">
              <a:avLst/>
            </a:prstGeom>
            <a:noFill/>
            <a:ln w="57150">
              <a:solidFill>
                <a:srgbClr val="00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20" name="Line 17"/>
            <p:cNvSpPr>
              <a:spLocks noChangeShapeType="1"/>
            </p:cNvSpPr>
            <p:nvPr/>
          </p:nvSpPr>
          <p:spPr bwMode="auto">
            <a:xfrm>
              <a:off x="1463" y="2442"/>
              <a:ext cx="912" cy="24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21" name="Line 18"/>
            <p:cNvSpPr>
              <a:spLocks noChangeShapeType="1"/>
            </p:cNvSpPr>
            <p:nvPr/>
          </p:nvSpPr>
          <p:spPr bwMode="auto">
            <a:xfrm flipV="1">
              <a:off x="1463" y="2202"/>
              <a:ext cx="912" cy="24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22" name="Line 19"/>
            <p:cNvSpPr>
              <a:spLocks noChangeShapeType="1"/>
            </p:cNvSpPr>
            <p:nvPr/>
          </p:nvSpPr>
          <p:spPr bwMode="auto">
            <a:xfrm>
              <a:off x="1463" y="2442"/>
              <a:ext cx="912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23" name="Rectangle 20" descr="花岗岩"/>
            <p:cNvSpPr>
              <a:spLocks noChangeArrowheads="1"/>
            </p:cNvSpPr>
            <p:nvPr/>
          </p:nvSpPr>
          <p:spPr bwMode="auto">
            <a:xfrm>
              <a:off x="3016" y="2325"/>
              <a:ext cx="91" cy="234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33824" name="Line 21"/>
            <p:cNvSpPr>
              <a:spLocks noChangeShapeType="1"/>
            </p:cNvSpPr>
            <p:nvPr/>
          </p:nvSpPr>
          <p:spPr bwMode="auto">
            <a:xfrm>
              <a:off x="2375" y="2442"/>
              <a:ext cx="62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25" name="Rectangle 22"/>
            <p:cNvSpPr>
              <a:spLocks noChangeArrowheads="1"/>
            </p:cNvSpPr>
            <p:nvPr/>
          </p:nvSpPr>
          <p:spPr bwMode="auto">
            <a:xfrm rot="2373580">
              <a:off x="3718" y="1749"/>
              <a:ext cx="115" cy="234"/>
            </a:xfrm>
            <a:prstGeom prst="rect">
              <a:avLst/>
            </a:prstGeom>
            <a:noFill/>
            <a:ln w="28575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33826" name="Line 24"/>
            <p:cNvSpPr>
              <a:spLocks noChangeShapeType="1"/>
            </p:cNvSpPr>
            <p:nvPr/>
          </p:nvSpPr>
          <p:spPr bwMode="auto">
            <a:xfrm flipV="1">
              <a:off x="3103" y="1962"/>
              <a:ext cx="576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27" name="Text Box 25"/>
            <p:cNvSpPr txBox="1">
              <a:spLocks noChangeArrowheads="1"/>
            </p:cNvSpPr>
            <p:nvPr/>
          </p:nvSpPr>
          <p:spPr bwMode="auto">
            <a:xfrm>
              <a:off x="521" y="1933"/>
              <a:ext cx="960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X</a:t>
              </a:r>
              <a:r>
                <a:rPr kumimoji="1" lang="zh-CN" altLang="en-US" sz="28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射线管</a:t>
              </a:r>
            </a:p>
          </p:txBody>
        </p:sp>
        <p:sp>
          <p:nvSpPr>
            <p:cNvPr id="33828" name="Text Box 26"/>
            <p:cNvSpPr txBox="1">
              <a:spLocks noChangeArrowheads="1"/>
            </p:cNvSpPr>
            <p:nvPr/>
          </p:nvSpPr>
          <p:spPr bwMode="auto">
            <a:xfrm>
              <a:off x="2711" y="2548"/>
              <a:ext cx="1152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solidFill>
                    <a:srgbClr val="003300"/>
                  </a:solidFill>
                  <a:latin typeface="楷体_GB2312"/>
                  <a:ea typeface="楷体_GB2312"/>
                  <a:cs typeface="楷体_GB2312"/>
                </a:rPr>
                <a:t>石墨晶体</a:t>
              </a:r>
            </a:p>
          </p:txBody>
        </p:sp>
        <p:sp>
          <p:nvSpPr>
            <p:cNvPr id="33829" name="Text Box 27"/>
            <p:cNvSpPr txBox="1">
              <a:spLocks noChangeArrowheads="1"/>
            </p:cNvSpPr>
            <p:nvPr/>
          </p:nvSpPr>
          <p:spPr bwMode="auto">
            <a:xfrm>
              <a:off x="3016" y="1525"/>
              <a:ext cx="912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solidFill>
                    <a:srgbClr val="003300"/>
                  </a:solidFill>
                  <a:latin typeface="楷体_GB2312"/>
                  <a:ea typeface="楷体_GB2312"/>
                  <a:cs typeface="楷体_GB2312"/>
                </a:rPr>
                <a:t>检测器</a:t>
              </a:r>
            </a:p>
          </p:txBody>
        </p:sp>
        <p:sp>
          <p:nvSpPr>
            <p:cNvPr id="33830" name="Line 28"/>
            <p:cNvSpPr>
              <a:spLocks noChangeShapeType="1"/>
            </p:cNvSpPr>
            <p:nvPr/>
          </p:nvSpPr>
          <p:spPr bwMode="auto">
            <a:xfrm>
              <a:off x="3103" y="2442"/>
              <a:ext cx="960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31" name="Arc 29"/>
            <p:cNvSpPr>
              <a:spLocks/>
            </p:cNvSpPr>
            <p:nvPr/>
          </p:nvSpPr>
          <p:spPr bwMode="auto">
            <a:xfrm>
              <a:off x="3151" y="2253"/>
              <a:ext cx="115" cy="23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3832" name="Object 30"/>
            <p:cNvGraphicFramePr>
              <a:graphicFrameLocks noChangeAspect="1"/>
            </p:cNvGraphicFramePr>
            <p:nvPr/>
          </p:nvGraphicFramePr>
          <p:xfrm>
            <a:off x="3296" y="2181"/>
            <a:ext cx="22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7" name="Equation" r:id="rId5" imgW="66723" imgH="104760" progId="Equation.DSMT4">
                    <p:embed/>
                  </p:oleObj>
                </mc:Choice>
                <mc:Fallback>
                  <p:oleObj name="Equation" r:id="rId5" imgW="66723" imgH="10476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6" y="2181"/>
                          <a:ext cx="22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33" name="Rectangle 38"/>
            <p:cNvSpPr>
              <a:spLocks noChangeArrowheads="1"/>
            </p:cNvSpPr>
            <p:nvPr/>
          </p:nvSpPr>
          <p:spPr bwMode="auto">
            <a:xfrm>
              <a:off x="1511" y="2635"/>
              <a:ext cx="90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入射光</a:t>
              </a:r>
              <a:r>
                <a:rPr kumimoji="1" lang="zh-CN" altLang="en-US" sz="28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</a:t>
              </a:r>
              <a:r>
                <a:rPr kumimoji="1" lang="en-US" altLang="zh-CN" sz="2800" b="1" baseline="-250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o</a:t>
              </a:r>
            </a:p>
          </p:txBody>
        </p:sp>
        <p:sp>
          <p:nvSpPr>
            <p:cNvPr id="33834" name="Rectangle 39"/>
            <p:cNvSpPr>
              <a:spLocks noChangeArrowheads="1"/>
            </p:cNvSpPr>
            <p:nvPr/>
          </p:nvSpPr>
          <p:spPr bwMode="auto">
            <a:xfrm>
              <a:off x="1943" y="1483"/>
              <a:ext cx="8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准直系统</a:t>
              </a:r>
            </a:p>
          </p:txBody>
        </p:sp>
        <p:sp>
          <p:nvSpPr>
            <p:cNvPr id="33835" name="Rectangle 40"/>
            <p:cNvSpPr>
              <a:spLocks noChangeArrowheads="1"/>
            </p:cNvSpPr>
            <p:nvPr/>
          </p:nvSpPr>
          <p:spPr bwMode="auto">
            <a:xfrm>
              <a:off x="2653" y="1878"/>
              <a:ext cx="82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散射光</a:t>
              </a:r>
              <a:r>
                <a:rPr kumimoji="1" lang="zh-CN" altLang="en-US" sz="28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</a:t>
              </a:r>
              <a:endParaRPr kumimoji="1" lang="zh-CN" altLang="en-US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</p:txBody>
        </p:sp>
      </p:grpSp>
      <p:sp>
        <p:nvSpPr>
          <p:cNvPr id="22569" name="Rectangle 41"/>
          <p:cNvSpPr>
            <a:spLocks noChangeArrowheads="1"/>
          </p:cNvSpPr>
          <p:nvPr/>
        </p:nvSpPr>
        <p:spPr bwMode="auto">
          <a:xfrm>
            <a:off x="142875" y="1428750"/>
            <a:ext cx="4510088" cy="523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5.1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康普顿效应的实验规律  </a:t>
            </a:r>
          </a:p>
        </p:txBody>
      </p:sp>
      <p:sp>
        <p:nvSpPr>
          <p:cNvPr id="33798" name="Text Box 29"/>
          <p:cNvSpPr txBox="1">
            <a:spLocks noChangeArrowheads="1"/>
          </p:cNvSpPr>
          <p:nvPr/>
        </p:nvSpPr>
        <p:spPr bwMode="auto">
          <a:xfrm>
            <a:off x="865822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14</a:t>
            </a:r>
            <a:endParaRPr lang="en-US" altLang="zh-CN" sz="1800">
              <a:solidFill>
                <a:srgbClr val="003300"/>
              </a:solidFill>
            </a:endParaRPr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6616700" y="1214438"/>
            <a:ext cx="2486025" cy="3184525"/>
            <a:chOff x="6616701" y="1214438"/>
            <a:chExt cx="2486578" cy="3185244"/>
          </a:xfrm>
        </p:grpSpPr>
        <p:grpSp>
          <p:nvGrpSpPr>
            <p:cNvPr id="33802" name="Group 48"/>
            <p:cNvGrpSpPr>
              <a:grpSpLocks/>
            </p:cNvGrpSpPr>
            <p:nvPr/>
          </p:nvGrpSpPr>
          <p:grpSpPr bwMode="auto">
            <a:xfrm>
              <a:off x="6815138" y="1214438"/>
              <a:ext cx="1828800" cy="2624137"/>
              <a:chOff x="4637" y="1616"/>
              <a:chExt cx="959" cy="1376"/>
            </a:xfrm>
          </p:grpSpPr>
          <p:pic>
            <p:nvPicPr>
              <p:cNvPr id="33804" name="Picture 46" descr="compton1927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37" y="1616"/>
                <a:ext cx="959" cy="1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3805" name="Text Box 47"/>
              <p:cNvSpPr txBox="1">
                <a:spLocks noChangeArrowheads="1"/>
              </p:cNvSpPr>
              <p:nvPr/>
            </p:nvSpPr>
            <p:spPr bwMode="auto">
              <a:xfrm>
                <a:off x="4830" y="2750"/>
                <a:ext cx="635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400" b="1">
                    <a:solidFill>
                      <a:srgbClr val="003300"/>
                    </a:solidFill>
                    <a:latin typeface="Times New Roman" panose="02020603050405020304" pitchFamily="18" charset="0"/>
                  </a:rPr>
                  <a:t>1927</a:t>
                </a:r>
              </a:p>
            </p:txBody>
          </p:sp>
        </p:grpSp>
        <p:sp>
          <p:nvSpPr>
            <p:cNvPr id="4" name="矩形 3"/>
            <p:cNvSpPr/>
            <p:nvPr/>
          </p:nvSpPr>
          <p:spPr>
            <a:xfrm>
              <a:off x="6616701" y="3815350"/>
              <a:ext cx="2486578" cy="584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600" b="1" dirty="0">
                  <a:latin typeface="+mn-ea"/>
                  <a:ea typeface="+mn-ea"/>
                </a:rPr>
                <a:t>康普顿，美国物理学家</a:t>
              </a:r>
              <a:endParaRPr lang="en-US" altLang="zh-CN" sz="1600" b="1" dirty="0">
                <a:latin typeface="+mn-ea"/>
                <a:ea typeface="+mn-ea"/>
              </a:endParaRPr>
            </a:p>
            <a:p>
              <a:pPr>
                <a:defRPr/>
              </a:pPr>
              <a:r>
                <a:rPr lang="zh-CN" altLang="en-US" sz="1600" b="1" dirty="0">
                  <a:latin typeface="+mn-ea"/>
                  <a:ea typeface="+mn-ea"/>
                </a:rPr>
                <a:t>获</a:t>
              </a:r>
              <a:r>
                <a:rPr lang="en-US" altLang="zh-CN" sz="1600" b="1" dirty="0">
                  <a:latin typeface="+mn-ea"/>
                  <a:ea typeface="+mn-ea"/>
                </a:rPr>
                <a:t>1927</a:t>
              </a:r>
              <a:r>
                <a:rPr lang="zh-CN" altLang="en-US" sz="1600" b="1" dirty="0">
                  <a:latin typeface="+mn-ea"/>
                  <a:ea typeface="+mn-ea"/>
                </a:rPr>
                <a:t>年诺贝尔物理学奖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1997075" y="5765800"/>
            <a:ext cx="7105650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波长的变化量与散射角有关</a:t>
            </a:r>
            <a:r>
              <a:rPr kumimoji="1" lang="en-US" altLang="zh-CN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而与原波长和散射物质无关。</a:t>
            </a:r>
            <a:endParaRPr lang="en-US" sz="2800" dirty="0"/>
          </a:p>
        </p:txBody>
      </p:sp>
      <p:sp>
        <p:nvSpPr>
          <p:cNvPr id="6" name="矩形 5"/>
          <p:cNvSpPr/>
          <p:nvPr/>
        </p:nvSpPr>
        <p:spPr>
          <a:xfrm>
            <a:off x="2070100" y="4811713"/>
            <a:ext cx="6769100" cy="95408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kumimoji="1" lang="zh-CN" altLang="en-US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散射光中除了有波长与入射光相同的成份外，还有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波长大于原波长</a:t>
            </a:r>
            <a:r>
              <a:rPr kumimoji="1" lang="zh-CN" altLang="en-US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的成份。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2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59" grpId="0"/>
      <p:bldP spid="22564" grpId="0"/>
      <p:bldP spid="22569" grpId="0"/>
      <p:bldP spid="3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620713" y="38893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实验结果：</a:t>
            </a:r>
          </a:p>
        </p:txBody>
      </p:sp>
      <p:sp>
        <p:nvSpPr>
          <p:cNvPr id="13342" name="Text Box 30"/>
          <p:cNvSpPr txBox="1">
            <a:spLocks noChangeArrowheads="1"/>
          </p:cNvSpPr>
          <p:nvPr/>
        </p:nvSpPr>
        <p:spPr bwMode="auto">
          <a:xfrm>
            <a:off x="3300413" y="501650"/>
            <a:ext cx="5689600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(1)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散射光中有与 入射波长</a:t>
            </a:r>
            <a:r>
              <a:rPr kumimoji="1" lang="zh-CN" altLang="en-US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1" baseline="-25000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o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相同的成分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也有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波长</a:t>
            </a:r>
            <a:r>
              <a:rPr kumimoji="1" lang="zh-CN" altLang="en-US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kumimoji="1" lang="en-US" altLang="zh-CN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&gt;</a:t>
            </a:r>
            <a:r>
              <a:rPr kumimoji="1" lang="en-US" altLang="zh-CN" sz="2800" b="1" i="1" baseline="-250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o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的成分。</a:t>
            </a:r>
          </a:p>
        </p:txBody>
      </p:sp>
      <p:sp>
        <p:nvSpPr>
          <p:cNvPr id="13346" name="Text Box 34"/>
          <p:cNvSpPr txBox="1">
            <a:spLocks noChangeArrowheads="1"/>
          </p:cNvSpPr>
          <p:nvPr/>
        </p:nvSpPr>
        <p:spPr bwMode="auto">
          <a:xfrm>
            <a:off x="3286125" y="1785938"/>
            <a:ext cx="5172075" cy="154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(2)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散射光波长的改变量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</a:t>
            </a:r>
            <a:r>
              <a:rPr kumimoji="1" lang="zh-CN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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＝</a:t>
            </a:r>
            <a:r>
              <a:rPr kumimoji="1" lang="zh-CN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－</a:t>
            </a:r>
            <a:r>
              <a:rPr kumimoji="1" lang="zh-CN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o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i="1" baseline="-25000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      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随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散射角</a:t>
            </a:r>
            <a:r>
              <a:rPr kumimoji="1" lang="zh-CN" altLang="en-US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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 的增加而增加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zh-CN" altLang="en-US" sz="2800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350" name="Text Box 38"/>
          <p:cNvSpPr txBox="1">
            <a:spLocks noChangeArrowheads="1"/>
          </p:cNvSpPr>
          <p:nvPr/>
        </p:nvSpPr>
        <p:spPr bwMode="auto">
          <a:xfrm>
            <a:off x="3317875" y="3429000"/>
            <a:ext cx="55403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(3)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对同一散射角</a:t>
            </a:r>
            <a:r>
              <a:rPr kumimoji="1" lang="zh-CN" altLang="en-US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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kumimoji="1" lang="en-US" altLang="zh-CN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波长的增加量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    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相同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与散射物质无关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13352" name="Text Box 40"/>
          <p:cNvSpPr txBox="1">
            <a:spLocks noChangeArrowheads="1"/>
          </p:cNvSpPr>
          <p:nvPr/>
        </p:nvSpPr>
        <p:spPr bwMode="auto">
          <a:xfrm>
            <a:off x="3275013" y="4581525"/>
            <a:ext cx="5583237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(4)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康普顿散射的强度与散射物质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有关。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原子量小的散射物质，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     康普顿散射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波强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较强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，反之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  康普顿散射</a:t>
            </a:r>
            <a:r>
              <a:rPr kumimoji="1" lang="en-US" altLang="zh-CN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波强</a:t>
            </a:r>
            <a:r>
              <a:rPr kumimoji="1" lang="en-US" altLang="zh-CN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较弱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13359" name="Line 47"/>
          <p:cNvSpPr>
            <a:spLocks noChangeShapeType="1"/>
          </p:cNvSpPr>
          <p:nvPr/>
        </p:nvSpPr>
        <p:spPr bwMode="auto">
          <a:xfrm>
            <a:off x="1247775" y="1219200"/>
            <a:ext cx="11113" cy="5029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495300" y="914400"/>
            <a:ext cx="2636838" cy="1676400"/>
            <a:chOff x="289" y="672"/>
            <a:chExt cx="1661" cy="1056"/>
          </a:xfrm>
        </p:grpSpPr>
        <p:sp>
          <p:nvSpPr>
            <p:cNvPr id="35873" name="Line 49"/>
            <p:cNvSpPr>
              <a:spLocks noChangeShapeType="1"/>
            </p:cNvSpPr>
            <p:nvPr/>
          </p:nvSpPr>
          <p:spPr bwMode="auto">
            <a:xfrm flipV="1">
              <a:off x="480" y="864"/>
              <a:ext cx="0" cy="720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4" name="Line 50"/>
            <p:cNvSpPr>
              <a:spLocks noChangeShapeType="1"/>
            </p:cNvSpPr>
            <p:nvPr/>
          </p:nvSpPr>
          <p:spPr bwMode="auto">
            <a:xfrm>
              <a:off x="480" y="1584"/>
              <a:ext cx="1296" cy="0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5" name="Freeform 51"/>
            <p:cNvSpPr>
              <a:spLocks/>
            </p:cNvSpPr>
            <p:nvPr/>
          </p:nvSpPr>
          <p:spPr bwMode="auto">
            <a:xfrm>
              <a:off x="586" y="672"/>
              <a:ext cx="516" cy="1032"/>
            </a:xfrm>
            <a:custGeom>
              <a:avLst/>
              <a:gdLst>
                <a:gd name="T0" fmla="*/ 0 w 516"/>
                <a:gd name="T1" fmla="*/ 893 h 1032"/>
                <a:gd name="T2" fmla="*/ 195 w 516"/>
                <a:gd name="T3" fmla="*/ 153 h 1032"/>
                <a:gd name="T4" fmla="*/ 516 w 516"/>
                <a:gd name="T5" fmla="*/ 893 h 1032"/>
                <a:gd name="T6" fmla="*/ 0 60000 65536"/>
                <a:gd name="T7" fmla="*/ 0 60000 65536"/>
                <a:gd name="T8" fmla="*/ 0 60000 65536"/>
                <a:gd name="T9" fmla="*/ 0 w 516"/>
                <a:gd name="T10" fmla="*/ 0 h 1032"/>
                <a:gd name="T11" fmla="*/ 516 w 516"/>
                <a:gd name="T12" fmla="*/ 1032 h 10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6" h="1032">
                  <a:moveTo>
                    <a:pt x="0" y="893"/>
                  </a:moveTo>
                  <a:cubicBezTo>
                    <a:pt x="122" y="968"/>
                    <a:pt x="139" y="306"/>
                    <a:pt x="195" y="153"/>
                  </a:cubicBezTo>
                  <a:cubicBezTo>
                    <a:pt x="251" y="0"/>
                    <a:pt x="140" y="1032"/>
                    <a:pt x="516" y="893"/>
                  </a:cubicBezTo>
                </a:path>
              </a:pathLst>
            </a:custGeom>
            <a:noFill/>
            <a:ln w="412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6" name="Text Box 52"/>
            <p:cNvSpPr txBox="1">
              <a:spLocks noChangeArrowheads="1"/>
            </p:cNvSpPr>
            <p:nvPr/>
          </p:nvSpPr>
          <p:spPr bwMode="auto">
            <a:xfrm>
              <a:off x="289" y="794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35877" name="Text Box 53"/>
            <p:cNvSpPr txBox="1">
              <a:spLocks noChangeArrowheads="1"/>
            </p:cNvSpPr>
            <p:nvPr/>
          </p:nvSpPr>
          <p:spPr bwMode="auto">
            <a:xfrm>
              <a:off x="1728" y="1440"/>
              <a:ext cx="2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</a:t>
              </a:r>
              <a:endParaRPr kumimoji="1" lang="zh-CN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35878" name="Text Box 54"/>
            <p:cNvSpPr txBox="1">
              <a:spLocks noChangeArrowheads="1"/>
            </p:cNvSpPr>
            <p:nvPr/>
          </p:nvSpPr>
          <p:spPr bwMode="auto">
            <a:xfrm>
              <a:off x="1200" y="1200"/>
              <a:ext cx="4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=0</a:t>
              </a:r>
              <a:r>
                <a:rPr kumimoji="1" lang="en-US" altLang="zh-CN" sz="2400" b="1" i="1" baseline="300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o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3" name="Group 55"/>
          <p:cNvGrpSpPr>
            <a:grpSpLocks/>
          </p:cNvGrpSpPr>
          <p:nvPr/>
        </p:nvGrpSpPr>
        <p:grpSpPr bwMode="auto">
          <a:xfrm>
            <a:off x="490538" y="2362200"/>
            <a:ext cx="2713037" cy="1524000"/>
            <a:chOff x="289" y="1766"/>
            <a:chExt cx="1709" cy="960"/>
          </a:xfrm>
        </p:grpSpPr>
        <p:sp>
          <p:nvSpPr>
            <p:cNvPr id="35867" name="Text Box 56"/>
            <p:cNvSpPr txBox="1">
              <a:spLocks noChangeArrowheads="1"/>
            </p:cNvSpPr>
            <p:nvPr/>
          </p:nvSpPr>
          <p:spPr bwMode="auto">
            <a:xfrm>
              <a:off x="1776" y="2438"/>
              <a:ext cx="2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</a:t>
              </a:r>
              <a:endParaRPr kumimoji="1" lang="zh-CN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35868" name="Line 57"/>
            <p:cNvSpPr>
              <a:spLocks noChangeShapeType="1"/>
            </p:cNvSpPr>
            <p:nvPr/>
          </p:nvSpPr>
          <p:spPr bwMode="auto">
            <a:xfrm>
              <a:off x="481" y="2582"/>
              <a:ext cx="1296" cy="0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9" name="Line 58"/>
            <p:cNvSpPr>
              <a:spLocks noChangeShapeType="1"/>
            </p:cNvSpPr>
            <p:nvPr/>
          </p:nvSpPr>
          <p:spPr bwMode="auto">
            <a:xfrm flipV="1">
              <a:off x="480" y="1929"/>
              <a:ext cx="0" cy="653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0" name="Freeform 59"/>
            <p:cNvSpPr>
              <a:spLocks/>
            </p:cNvSpPr>
            <p:nvPr/>
          </p:nvSpPr>
          <p:spPr bwMode="auto">
            <a:xfrm>
              <a:off x="576" y="1800"/>
              <a:ext cx="720" cy="888"/>
            </a:xfrm>
            <a:custGeom>
              <a:avLst/>
              <a:gdLst>
                <a:gd name="T0" fmla="*/ 0 w 528"/>
                <a:gd name="T1" fmla="*/ 44 h 1032"/>
                <a:gd name="T2" fmla="*/ 47613 w 528"/>
                <a:gd name="T3" fmla="*/ 38 h 1032"/>
                <a:gd name="T4" fmla="*/ 77025 w 528"/>
                <a:gd name="T5" fmla="*/ 14 h 1032"/>
                <a:gd name="T6" fmla="*/ 102308 w 528"/>
                <a:gd name="T7" fmla="*/ 8 h 1032"/>
                <a:gd name="T8" fmla="*/ 261027 w 528"/>
                <a:gd name="T9" fmla="*/ 44 h 10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032"/>
                <a:gd name="T17" fmla="*/ 528 w 528"/>
                <a:gd name="T18" fmla="*/ 1032 h 10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032">
                  <a:moveTo>
                    <a:pt x="0" y="894"/>
                  </a:moveTo>
                  <a:cubicBezTo>
                    <a:pt x="2" y="876"/>
                    <a:pt x="73" y="858"/>
                    <a:pt x="96" y="756"/>
                  </a:cubicBezTo>
                  <a:cubicBezTo>
                    <a:pt x="122" y="654"/>
                    <a:pt x="108" y="120"/>
                    <a:pt x="156" y="282"/>
                  </a:cubicBezTo>
                  <a:cubicBezTo>
                    <a:pt x="204" y="444"/>
                    <a:pt x="137" y="53"/>
                    <a:pt x="207" y="153"/>
                  </a:cubicBezTo>
                  <a:cubicBezTo>
                    <a:pt x="263" y="0"/>
                    <a:pt x="152" y="1032"/>
                    <a:pt x="528" y="893"/>
                  </a:cubicBezTo>
                </a:path>
              </a:pathLst>
            </a:custGeom>
            <a:noFill/>
            <a:ln w="412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1" name="Text Box 60"/>
            <p:cNvSpPr txBox="1">
              <a:spLocks noChangeArrowheads="1"/>
            </p:cNvSpPr>
            <p:nvPr/>
          </p:nvSpPr>
          <p:spPr bwMode="auto">
            <a:xfrm>
              <a:off x="289" y="1766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35872" name="Text Box 61"/>
            <p:cNvSpPr txBox="1">
              <a:spLocks noChangeArrowheads="1"/>
            </p:cNvSpPr>
            <p:nvPr/>
          </p:nvSpPr>
          <p:spPr bwMode="auto">
            <a:xfrm>
              <a:off x="1200" y="2102"/>
              <a:ext cx="5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=45</a:t>
              </a:r>
              <a:r>
                <a:rPr kumimoji="1" lang="en-US" altLang="zh-CN" sz="2400" b="1" i="1" baseline="300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o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4" name="Group 62"/>
          <p:cNvGrpSpPr>
            <a:grpSpLocks/>
          </p:cNvGrpSpPr>
          <p:nvPr/>
        </p:nvGrpSpPr>
        <p:grpSpPr bwMode="auto">
          <a:xfrm>
            <a:off x="490538" y="3657600"/>
            <a:ext cx="2713037" cy="1524000"/>
            <a:chOff x="289" y="2496"/>
            <a:chExt cx="1709" cy="960"/>
          </a:xfrm>
        </p:grpSpPr>
        <p:sp>
          <p:nvSpPr>
            <p:cNvPr id="35861" name="Line 63"/>
            <p:cNvSpPr>
              <a:spLocks noChangeShapeType="1"/>
            </p:cNvSpPr>
            <p:nvPr/>
          </p:nvSpPr>
          <p:spPr bwMode="auto">
            <a:xfrm>
              <a:off x="480" y="3264"/>
              <a:ext cx="1296" cy="0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2" name="Line 64"/>
            <p:cNvSpPr>
              <a:spLocks noChangeShapeType="1"/>
            </p:cNvSpPr>
            <p:nvPr/>
          </p:nvSpPr>
          <p:spPr bwMode="auto">
            <a:xfrm flipV="1">
              <a:off x="480" y="2611"/>
              <a:ext cx="0" cy="653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3" name="Freeform 65"/>
            <p:cNvSpPr>
              <a:spLocks/>
            </p:cNvSpPr>
            <p:nvPr/>
          </p:nvSpPr>
          <p:spPr bwMode="auto">
            <a:xfrm>
              <a:off x="612" y="2676"/>
              <a:ext cx="540" cy="593"/>
            </a:xfrm>
            <a:custGeom>
              <a:avLst/>
              <a:gdLst>
                <a:gd name="T0" fmla="*/ 0 w 540"/>
                <a:gd name="T1" fmla="*/ 593 h 593"/>
                <a:gd name="T2" fmla="*/ 168 w 540"/>
                <a:gd name="T3" fmla="*/ 240 h 593"/>
                <a:gd name="T4" fmla="*/ 342 w 540"/>
                <a:gd name="T5" fmla="*/ 54 h 593"/>
                <a:gd name="T6" fmla="*/ 540 w 540"/>
                <a:gd name="T7" fmla="*/ 474 h 5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0"/>
                <a:gd name="T13" fmla="*/ 0 h 593"/>
                <a:gd name="T14" fmla="*/ 540 w 540"/>
                <a:gd name="T15" fmla="*/ 593 h 5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0" h="593">
                  <a:moveTo>
                    <a:pt x="0" y="593"/>
                  </a:moveTo>
                  <a:cubicBezTo>
                    <a:pt x="156" y="546"/>
                    <a:pt x="144" y="0"/>
                    <a:pt x="168" y="240"/>
                  </a:cubicBezTo>
                  <a:cubicBezTo>
                    <a:pt x="192" y="480"/>
                    <a:pt x="280" y="15"/>
                    <a:pt x="342" y="54"/>
                  </a:cubicBezTo>
                  <a:cubicBezTo>
                    <a:pt x="404" y="93"/>
                    <a:pt x="426" y="426"/>
                    <a:pt x="540" y="474"/>
                  </a:cubicBezTo>
                </a:path>
              </a:pathLst>
            </a:custGeom>
            <a:noFill/>
            <a:ln w="412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4" name="Text Box 66"/>
            <p:cNvSpPr txBox="1">
              <a:spLocks noChangeArrowheads="1"/>
            </p:cNvSpPr>
            <p:nvPr/>
          </p:nvSpPr>
          <p:spPr bwMode="auto">
            <a:xfrm>
              <a:off x="289" y="2496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35865" name="Text Box 67"/>
            <p:cNvSpPr txBox="1">
              <a:spLocks noChangeArrowheads="1"/>
            </p:cNvSpPr>
            <p:nvPr/>
          </p:nvSpPr>
          <p:spPr bwMode="auto">
            <a:xfrm>
              <a:off x="1776" y="3168"/>
              <a:ext cx="2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</a:t>
              </a:r>
              <a:endParaRPr kumimoji="1" lang="zh-CN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35866" name="Text Box 68"/>
            <p:cNvSpPr txBox="1">
              <a:spLocks noChangeArrowheads="1"/>
            </p:cNvSpPr>
            <p:nvPr/>
          </p:nvSpPr>
          <p:spPr bwMode="auto">
            <a:xfrm>
              <a:off x="1248" y="2832"/>
              <a:ext cx="5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=90</a:t>
              </a:r>
              <a:r>
                <a:rPr kumimoji="1" lang="en-US" altLang="zh-CN" sz="2400" b="1" i="1" baseline="300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o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5" name="Group 69"/>
          <p:cNvGrpSpPr>
            <a:grpSpLocks/>
          </p:cNvGrpSpPr>
          <p:nvPr/>
        </p:nvGrpSpPr>
        <p:grpSpPr bwMode="auto">
          <a:xfrm>
            <a:off x="525463" y="5029200"/>
            <a:ext cx="2606675" cy="1371600"/>
            <a:chOff x="308" y="3360"/>
            <a:chExt cx="1642" cy="864"/>
          </a:xfrm>
        </p:grpSpPr>
        <p:sp>
          <p:nvSpPr>
            <p:cNvPr id="35855" name="Line 70"/>
            <p:cNvSpPr>
              <a:spLocks noChangeShapeType="1"/>
            </p:cNvSpPr>
            <p:nvPr/>
          </p:nvSpPr>
          <p:spPr bwMode="auto">
            <a:xfrm>
              <a:off x="500" y="4128"/>
              <a:ext cx="1296" cy="0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6" name="Line 71"/>
            <p:cNvSpPr>
              <a:spLocks noChangeShapeType="1"/>
            </p:cNvSpPr>
            <p:nvPr/>
          </p:nvSpPr>
          <p:spPr bwMode="auto">
            <a:xfrm flipV="1">
              <a:off x="480" y="3475"/>
              <a:ext cx="0" cy="653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7" name="Freeform 72"/>
            <p:cNvSpPr>
              <a:spLocks/>
            </p:cNvSpPr>
            <p:nvPr/>
          </p:nvSpPr>
          <p:spPr bwMode="auto">
            <a:xfrm>
              <a:off x="638" y="3546"/>
              <a:ext cx="739" cy="594"/>
            </a:xfrm>
            <a:custGeom>
              <a:avLst/>
              <a:gdLst>
                <a:gd name="T0" fmla="*/ 0 w 739"/>
                <a:gd name="T1" fmla="*/ 578 h 594"/>
                <a:gd name="T2" fmla="*/ 126 w 739"/>
                <a:gd name="T3" fmla="*/ 144 h 594"/>
                <a:gd name="T4" fmla="*/ 258 w 739"/>
                <a:gd name="T5" fmla="*/ 540 h 594"/>
                <a:gd name="T6" fmla="*/ 460 w 739"/>
                <a:gd name="T7" fmla="*/ 1 h 594"/>
                <a:gd name="T8" fmla="*/ 739 w 739"/>
                <a:gd name="T9" fmla="*/ 532 h 5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39"/>
                <a:gd name="T16" fmla="*/ 0 h 594"/>
                <a:gd name="T17" fmla="*/ 739 w 739"/>
                <a:gd name="T18" fmla="*/ 594 h 5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39" h="594">
                  <a:moveTo>
                    <a:pt x="0" y="578"/>
                  </a:moveTo>
                  <a:cubicBezTo>
                    <a:pt x="156" y="531"/>
                    <a:pt x="83" y="150"/>
                    <a:pt x="126" y="144"/>
                  </a:cubicBezTo>
                  <a:cubicBezTo>
                    <a:pt x="169" y="138"/>
                    <a:pt x="216" y="594"/>
                    <a:pt x="258" y="540"/>
                  </a:cubicBezTo>
                  <a:cubicBezTo>
                    <a:pt x="351" y="558"/>
                    <a:pt x="391" y="2"/>
                    <a:pt x="460" y="1"/>
                  </a:cubicBezTo>
                  <a:cubicBezTo>
                    <a:pt x="540" y="0"/>
                    <a:pt x="474" y="476"/>
                    <a:pt x="739" y="532"/>
                  </a:cubicBezTo>
                </a:path>
              </a:pathLst>
            </a:custGeom>
            <a:noFill/>
            <a:ln w="4127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8" name="Text Box 73"/>
            <p:cNvSpPr txBox="1">
              <a:spLocks noChangeArrowheads="1"/>
            </p:cNvSpPr>
            <p:nvPr/>
          </p:nvSpPr>
          <p:spPr bwMode="auto">
            <a:xfrm>
              <a:off x="308" y="3360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35859" name="Text Box 74"/>
            <p:cNvSpPr txBox="1">
              <a:spLocks noChangeArrowheads="1"/>
            </p:cNvSpPr>
            <p:nvPr/>
          </p:nvSpPr>
          <p:spPr bwMode="auto">
            <a:xfrm>
              <a:off x="1728" y="3936"/>
              <a:ext cx="2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</a:t>
              </a:r>
              <a:endParaRPr kumimoji="1" lang="zh-CN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35860" name="Text Box 75"/>
            <p:cNvSpPr txBox="1">
              <a:spLocks noChangeArrowheads="1"/>
            </p:cNvSpPr>
            <p:nvPr/>
          </p:nvSpPr>
          <p:spPr bwMode="auto">
            <a:xfrm>
              <a:off x="1243" y="3696"/>
              <a:ext cx="67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=135</a:t>
              </a:r>
              <a:r>
                <a:rPr kumimoji="1" lang="en-US" altLang="zh-CN" sz="2400" b="1" i="1" baseline="300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o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sp>
        <p:nvSpPr>
          <p:cNvPr id="13388" name="Text Box 76"/>
          <p:cNvSpPr txBox="1">
            <a:spLocks noChangeArrowheads="1"/>
          </p:cNvSpPr>
          <p:nvPr/>
        </p:nvSpPr>
        <p:spPr bwMode="auto">
          <a:xfrm>
            <a:off x="1077913" y="6248400"/>
            <a:ext cx="4111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</a:t>
            </a:r>
            <a:r>
              <a:rPr kumimoji="1" lang="en-US" altLang="zh-CN" sz="2000" b="1" baseline="-250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0</a:t>
            </a:r>
            <a:endParaRPr kumimoji="1" lang="en-US" altLang="zh-CN" sz="2000">
              <a:solidFill>
                <a:srgbClr val="0033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5853" name="Text Box 79"/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15</a:t>
            </a:r>
            <a:endParaRPr lang="en-US" altLang="zh-CN" sz="1800">
              <a:solidFill>
                <a:srgbClr val="003300"/>
              </a:solidFill>
            </a:endParaRPr>
          </a:p>
        </p:txBody>
      </p:sp>
      <p:sp>
        <p:nvSpPr>
          <p:cNvPr id="38" name="Line 47"/>
          <p:cNvSpPr>
            <a:spLocks noChangeShapeType="1"/>
          </p:cNvSpPr>
          <p:nvPr/>
        </p:nvSpPr>
        <p:spPr bwMode="auto">
          <a:xfrm>
            <a:off x="1282700" y="2271713"/>
            <a:ext cx="612775" cy="3976687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13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8" grpId="0"/>
      <p:bldP spid="13342" grpId="0" autoUpdateAnimBg="0"/>
      <p:bldP spid="13346" grpId="0" autoUpdateAnimBg="0"/>
      <p:bldP spid="13350" grpId="0" autoUpdateAnimBg="0"/>
      <p:bldP spid="13352" grpId="0" autoUpdateAnimBg="0"/>
      <p:bldP spid="13359" grpId="0" animBg="1"/>
      <p:bldP spid="13388" grpId="0" autoUpdateAnimBg="0"/>
      <p:bldP spid="3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785813" y="928688"/>
            <a:ext cx="7848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由于物质中的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外层电子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的动能远小于入射光子的动能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,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碰撞前电子可以看作是静止的。碰撞过程中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,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光子的一部分能量传递给电子，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能量减小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频率减小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因而波长增大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214313" y="285750"/>
            <a:ext cx="45005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5.2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康普顿效应的量子解释</a:t>
            </a:r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755650" y="2909888"/>
            <a:ext cx="7702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0000CC"/>
              </a:buClr>
              <a:buFontTx/>
              <a:buNone/>
            </a:pPr>
            <a:r>
              <a:rPr kumimoji="1" lang="en-US" altLang="zh-CN" sz="2800" b="1" i="1">
                <a:solidFill>
                  <a:srgbClr val="003300"/>
                </a:solidFill>
                <a:latin typeface="Times New Roman" panose="02020603050405020304" pitchFamily="18" charset="0"/>
              </a:rPr>
              <a:t> X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射线光子与“静止”的“自由电子”弹性碰撞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796925" y="3397250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0000CC"/>
              </a:buClr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碰撞前后系统的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楷体_GB2312"/>
                <a:ea typeface="楷体_GB2312"/>
                <a:cs typeface="楷体_GB2312"/>
              </a:rPr>
              <a:t>能量与动量守恒</a:t>
            </a:r>
          </a:p>
        </p:txBody>
      </p:sp>
      <p:graphicFrame>
        <p:nvGraphicFramePr>
          <p:cNvPr id="23562" name="Object 10"/>
          <p:cNvGraphicFramePr>
            <a:graphicFrameLocks noChangeAspect="1"/>
          </p:cNvGraphicFramePr>
          <p:nvPr/>
        </p:nvGraphicFramePr>
        <p:xfrm>
          <a:off x="2714625" y="4038600"/>
          <a:ext cx="27781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4" name="Equation" r:id="rId4" imgW="3060700" imgH="469900" progId="Equation.DSMT4">
                  <p:embed/>
                </p:oleObj>
              </mc:Choice>
              <mc:Fallback>
                <p:oleObj name="Equation" r:id="rId4" imgW="3060700" imgH="4699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4038600"/>
                        <a:ext cx="27781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5" name="Object 33"/>
          <p:cNvGraphicFramePr>
            <a:graphicFrameLocks/>
          </p:cNvGraphicFramePr>
          <p:nvPr/>
        </p:nvGraphicFramePr>
        <p:xfrm>
          <a:off x="2700338" y="4621213"/>
          <a:ext cx="2376487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5" name="Equation" r:id="rId6" imgW="2565400" imgH="774700" progId="Equation.DSMT4">
                  <p:embed/>
                </p:oleObj>
              </mc:Choice>
              <mc:Fallback>
                <p:oleObj name="Equation" r:id="rId6" imgW="2565400" imgH="774700" progId="Equation.DSMT4">
                  <p:embed/>
                  <p:pic>
                    <p:nvPicPr>
                      <p:cNvPr id="0" name="Object 3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621213"/>
                        <a:ext cx="2376487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6" name="Object 34"/>
          <p:cNvGraphicFramePr>
            <a:graphicFrameLocks/>
          </p:cNvGraphicFramePr>
          <p:nvPr/>
        </p:nvGraphicFramePr>
        <p:xfrm>
          <a:off x="3111500" y="5830888"/>
          <a:ext cx="23256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6" name="Equation" r:id="rId8" imgW="2324100" imgH="838200" progId="Equation.DSMT4">
                  <p:embed/>
                </p:oleObj>
              </mc:Choice>
              <mc:Fallback>
                <p:oleObj name="Equation" r:id="rId8" imgW="2324100" imgH="838200" progId="Equation.DSMT4">
                  <p:embed/>
                  <p:pic>
                    <p:nvPicPr>
                      <p:cNvPr id="0" name="Object 34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0" y="5830888"/>
                        <a:ext cx="232568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8" name="Rectangle 36"/>
          <p:cNvSpPr>
            <a:spLocks noChangeArrowheads="1"/>
          </p:cNvSpPr>
          <p:nvPr/>
        </p:nvSpPr>
        <p:spPr bwMode="auto">
          <a:xfrm>
            <a:off x="1403350" y="5484813"/>
            <a:ext cx="332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电子相对论质量：</a:t>
            </a:r>
          </a:p>
        </p:txBody>
      </p:sp>
      <p:sp>
        <p:nvSpPr>
          <p:cNvPr id="23593" name="Rectangle 41"/>
          <p:cNvSpPr>
            <a:spLocks noChangeArrowheads="1"/>
          </p:cNvSpPr>
          <p:nvPr/>
        </p:nvSpPr>
        <p:spPr bwMode="auto">
          <a:xfrm>
            <a:off x="835025" y="4006850"/>
            <a:ext cx="2728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宋体" panose="02010600030101010101" pitchFamily="2" charset="-122"/>
              </a:rPr>
              <a:t>能量守恒</a:t>
            </a:r>
            <a:r>
              <a:rPr kumimoji="1" lang="en-US" altLang="zh-CN" sz="2800" b="1">
                <a:solidFill>
                  <a:srgbClr val="003300"/>
                </a:solidFill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23594" name="Rectangle 42"/>
          <p:cNvSpPr>
            <a:spLocks noChangeArrowheads="1"/>
          </p:cNvSpPr>
          <p:nvPr/>
        </p:nvSpPr>
        <p:spPr bwMode="auto">
          <a:xfrm>
            <a:off x="835025" y="4706938"/>
            <a:ext cx="2873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宋体" panose="02010600030101010101" pitchFamily="2" charset="-122"/>
              </a:rPr>
              <a:t>动量守恒</a:t>
            </a:r>
            <a:r>
              <a:rPr kumimoji="1" lang="en-US" altLang="zh-CN" sz="2800" b="1">
                <a:solidFill>
                  <a:srgbClr val="003300"/>
                </a:solidFill>
                <a:latin typeface="宋体" panose="02010600030101010101" pitchFamily="2" charset="-122"/>
              </a:rPr>
              <a:t>:</a:t>
            </a:r>
          </a:p>
        </p:txBody>
      </p:sp>
      <p:grpSp>
        <p:nvGrpSpPr>
          <p:cNvPr id="2" name="Group 73"/>
          <p:cNvGrpSpPr>
            <a:grpSpLocks/>
          </p:cNvGrpSpPr>
          <p:nvPr/>
        </p:nvGrpSpPr>
        <p:grpSpPr bwMode="auto">
          <a:xfrm>
            <a:off x="5178425" y="3716338"/>
            <a:ext cx="3438525" cy="2560637"/>
            <a:chOff x="3198" y="2361"/>
            <a:chExt cx="2166" cy="1613"/>
          </a:xfrm>
        </p:grpSpPr>
        <p:sp>
          <p:nvSpPr>
            <p:cNvPr id="37906" name="Line 46"/>
            <p:cNvSpPr>
              <a:spLocks noChangeShapeType="1"/>
            </p:cNvSpPr>
            <p:nvPr/>
          </p:nvSpPr>
          <p:spPr bwMode="auto">
            <a:xfrm>
              <a:off x="3198" y="3228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7" name="Line 47"/>
            <p:cNvSpPr>
              <a:spLocks noChangeShapeType="1"/>
            </p:cNvSpPr>
            <p:nvPr/>
          </p:nvSpPr>
          <p:spPr bwMode="auto">
            <a:xfrm>
              <a:off x="3822" y="3228"/>
              <a:ext cx="1248" cy="0"/>
            </a:xfrm>
            <a:prstGeom prst="line">
              <a:avLst/>
            </a:prstGeom>
            <a:noFill/>
            <a:ln w="38100">
              <a:solidFill>
                <a:srgbClr val="00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8" name="Line 48"/>
            <p:cNvSpPr>
              <a:spLocks noChangeShapeType="1"/>
            </p:cNvSpPr>
            <p:nvPr/>
          </p:nvSpPr>
          <p:spPr bwMode="auto">
            <a:xfrm flipV="1">
              <a:off x="3822" y="2700"/>
              <a:ext cx="768" cy="528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9" name="Line 49"/>
            <p:cNvSpPr>
              <a:spLocks noChangeShapeType="1"/>
            </p:cNvSpPr>
            <p:nvPr/>
          </p:nvSpPr>
          <p:spPr bwMode="auto">
            <a:xfrm>
              <a:off x="3822" y="3228"/>
              <a:ext cx="528" cy="528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10" name="Line 50"/>
            <p:cNvSpPr>
              <a:spLocks noChangeShapeType="1"/>
            </p:cNvSpPr>
            <p:nvPr/>
          </p:nvSpPr>
          <p:spPr bwMode="auto">
            <a:xfrm flipV="1">
              <a:off x="4302" y="3180"/>
              <a:ext cx="816" cy="528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11" name="Line 51"/>
            <p:cNvSpPr>
              <a:spLocks noChangeShapeType="1"/>
            </p:cNvSpPr>
            <p:nvPr/>
          </p:nvSpPr>
          <p:spPr bwMode="auto">
            <a:xfrm>
              <a:off x="4542" y="2700"/>
              <a:ext cx="528" cy="528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12" name="Text Box 52"/>
            <p:cNvSpPr txBox="1">
              <a:spLocks noChangeArrowheads="1"/>
            </p:cNvSpPr>
            <p:nvPr/>
          </p:nvSpPr>
          <p:spPr bwMode="auto">
            <a:xfrm>
              <a:off x="3678" y="318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楷体_GB2312"/>
                  <a:ea typeface="楷体_GB2312"/>
                  <a:cs typeface="楷体_GB2312"/>
                </a:rPr>
                <a:t>e</a:t>
              </a:r>
              <a:endParaRPr kumimoji="1" lang="en-US" altLang="zh-CN" sz="2400">
                <a:solidFill>
                  <a:srgbClr val="0033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graphicFrame>
          <p:nvGraphicFramePr>
            <p:cNvPr id="37913" name="Object 53"/>
            <p:cNvGraphicFramePr>
              <a:graphicFrameLocks noChangeAspect="1"/>
            </p:cNvGraphicFramePr>
            <p:nvPr/>
          </p:nvGraphicFramePr>
          <p:xfrm>
            <a:off x="4286" y="2361"/>
            <a:ext cx="435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97" name="Equation" r:id="rId10" imgW="723586" imgH="723586" progId="Equation.DSMT4">
                    <p:embed/>
                  </p:oleObj>
                </mc:Choice>
                <mc:Fallback>
                  <p:oleObj name="Equation" r:id="rId10" imgW="723586" imgH="723586" progId="Equation.DSMT4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" y="2361"/>
                          <a:ext cx="435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4" name="Object 54"/>
            <p:cNvGraphicFramePr>
              <a:graphicFrameLocks noChangeAspect="1"/>
            </p:cNvGraphicFramePr>
            <p:nvPr/>
          </p:nvGraphicFramePr>
          <p:xfrm>
            <a:off x="4876" y="3256"/>
            <a:ext cx="473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98" name="Equation" r:id="rId12" imgW="901309" imgH="774364" progId="Equation.DSMT4">
                    <p:embed/>
                  </p:oleObj>
                </mc:Choice>
                <mc:Fallback>
                  <p:oleObj name="Equation" r:id="rId12" imgW="901309" imgH="774364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" y="3256"/>
                          <a:ext cx="473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5" name="Line 55"/>
            <p:cNvSpPr>
              <a:spLocks noChangeShapeType="1"/>
            </p:cNvSpPr>
            <p:nvPr/>
          </p:nvSpPr>
          <p:spPr bwMode="auto">
            <a:xfrm>
              <a:off x="4014" y="3084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16" name="Line 56"/>
            <p:cNvSpPr>
              <a:spLocks noChangeShapeType="1"/>
            </p:cNvSpPr>
            <p:nvPr/>
          </p:nvSpPr>
          <p:spPr bwMode="auto">
            <a:xfrm flipH="1">
              <a:off x="3966" y="3228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7917" name="Object 57"/>
            <p:cNvGraphicFramePr>
              <a:graphicFrameLocks noChangeAspect="1"/>
            </p:cNvGraphicFramePr>
            <p:nvPr/>
          </p:nvGraphicFramePr>
          <p:xfrm>
            <a:off x="4202" y="3730"/>
            <a:ext cx="355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99" name="Equation" r:id="rId14" imgW="622030" imgH="406224" progId="Equation.DSMT4">
                    <p:embed/>
                  </p:oleObj>
                </mc:Choice>
                <mc:Fallback>
                  <p:oleObj name="Equation" r:id="rId14" imgW="622030" imgH="406224" progId="Equation.DSMT4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2" y="3730"/>
                          <a:ext cx="355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8" name="Text Box 58"/>
            <p:cNvSpPr txBox="1">
              <a:spLocks noChangeArrowheads="1"/>
            </p:cNvSpPr>
            <p:nvPr/>
          </p:nvSpPr>
          <p:spPr bwMode="auto">
            <a:xfrm>
              <a:off x="3989" y="3201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</a:t>
              </a:r>
              <a:endParaRPr kumimoji="1" lang="en-US" altLang="zh-CN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37919" name="Text Box 59"/>
            <p:cNvSpPr txBox="1">
              <a:spLocks noChangeArrowheads="1"/>
            </p:cNvSpPr>
            <p:nvPr/>
          </p:nvSpPr>
          <p:spPr bwMode="auto">
            <a:xfrm>
              <a:off x="4013" y="2919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</a:t>
              </a:r>
              <a:endParaRPr kumimoji="1" lang="en-US" altLang="zh-CN" sz="24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</p:txBody>
        </p:sp>
        <p:grpSp>
          <p:nvGrpSpPr>
            <p:cNvPr id="37920" name="Group 60"/>
            <p:cNvGrpSpPr>
              <a:grpSpLocks/>
            </p:cNvGrpSpPr>
            <p:nvPr/>
          </p:nvGrpSpPr>
          <p:grpSpPr bwMode="auto">
            <a:xfrm>
              <a:off x="3661" y="3058"/>
              <a:ext cx="214" cy="291"/>
              <a:chOff x="3487" y="1056"/>
              <a:chExt cx="214" cy="291"/>
            </a:xfrm>
          </p:grpSpPr>
          <p:sp>
            <p:nvSpPr>
              <p:cNvPr id="37924" name="Oval 61"/>
              <p:cNvSpPr>
                <a:spLocks noChangeArrowheads="1"/>
              </p:cNvSpPr>
              <p:nvPr/>
            </p:nvSpPr>
            <p:spPr bwMode="auto">
              <a:xfrm>
                <a:off x="3540" y="1178"/>
                <a:ext cx="96" cy="96"/>
              </a:xfrm>
              <a:prstGeom prst="ellipse">
                <a:avLst/>
              </a:prstGeom>
              <a:solidFill>
                <a:srgbClr val="0066CC"/>
              </a:solidFill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zh-CN" sz="2400" b="1">
                  <a:solidFill>
                    <a:srgbClr val="003300"/>
                  </a:solidFill>
                  <a:latin typeface="楷体_GB2312"/>
                  <a:ea typeface="楷体_GB2312"/>
                  <a:cs typeface="楷体_GB2312"/>
                </a:endParaRPr>
              </a:p>
            </p:txBody>
          </p:sp>
          <p:sp>
            <p:nvSpPr>
              <p:cNvPr id="37925" name="Text Box 62"/>
              <p:cNvSpPr txBox="1">
                <a:spLocks noChangeArrowheads="1"/>
              </p:cNvSpPr>
              <p:nvPr/>
            </p:nvSpPr>
            <p:spPr bwMode="auto">
              <a:xfrm>
                <a:off x="3487" y="1056"/>
                <a:ext cx="21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solidFill>
                      <a:srgbClr val="003300"/>
                    </a:solidFill>
                    <a:latin typeface="楷体_GB2312"/>
                    <a:ea typeface="楷体_GB2312"/>
                    <a:cs typeface="楷体_GB2312"/>
                  </a:rPr>
                  <a:t>-</a:t>
                </a:r>
              </a:p>
            </p:txBody>
          </p:sp>
        </p:grpSp>
        <p:sp>
          <p:nvSpPr>
            <p:cNvPr id="37921" name="Rectangle 63"/>
            <p:cNvSpPr>
              <a:spLocks noChangeArrowheads="1"/>
            </p:cNvSpPr>
            <p:nvPr/>
          </p:nvSpPr>
          <p:spPr bwMode="auto">
            <a:xfrm>
              <a:off x="3288" y="2734"/>
              <a:ext cx="14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散射的光子</a:t>
              </a:r>
              <a:endParaRPr kumimoji="1" lang="zh-CN" altLang="en-US" sz="2400" b="1">
                <a:solidFill>
                  <a:srgbClr val="00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22" name="Rectangle 64"/>
            <p:cNvSpPr>
              <a:spLocks noChangeArrowheads="1"/>
            </p:cNvSpPr>
            <p:nvPr/>
          </p:nvSpPr>
          <p:spPr bwMode="auto">
            <a:xfrm>
              <a:off x="3250" y="3442"/>
              <a:ext cx="8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反冲电子</a:t>
              </a:r>
            </a:p>
          </p:txBody>
        </p:sp>
        <p:sp>
          <p:nvSpPr>
            <p:cNvPr id="37923" name="Rectangle 65"/>
            <p:cNvSpPr>
              <a:spLocks noChangeArrowheads="1"/>
            </p:cNvSpPr>
            <p:nvPr/>
          </p:nvSpPr>
          <p:spPr bwMode="auto">
            <a:xfrm>
              <a:off x="4468" y="2886"/>
              <a:ext cx="8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入射光子</a:t>
              </a:r>
            </a:p>
          </p:txBody>
        </p:sp>
      </p:grpSp>
      <p:grpSp>
        <p:nvGrpSpPr>
          <p:cNvPr id="4" name="Group 71"/>
          <p:cNvGrpSpPr>
            <a:grpSpLocks/>
          </p:cNvGrpSpPr>
          <p:nvPr/>
        </p:nvGrpSpPr>
        <p:grpSpPr bwMode="auto">
          <a:xfrm>
            <a:off x="6011863" y="138113"/>
            <a:ext cx="2903537" cy="914400"/>
            <a:chOff x="3696" y="42"/>
            <a:chExt cx="1920" cy="576"/>
          </a:xfrm>
        </p:grpSpPr>
        <p:graphicFrame>
          <p:nvGraphicFramePr>
            <p:cNvPr id="37904" name="Object 43"/>
            <p:cNvGraphicFramePr>
              <a:graphicFrameLocks noChangeAspect="1"/>
            </p:cNvGraphicFramePr>
            <p:nvPr/>
          </p:nvGraphicFramePr>
          <p:xfrm>
            <a:off x="4320" y="127"/>
            <a:ext cx="1296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00" name="Equation" r:id="rId16" imgW="2057400" imgH="723900" progId="Equation.DSMT4">
                    <p:embed/>
                  </p:oleObj>
                </mc:Choice>
                <mc:Fallback>
                  <p:oleObj name="Equation" r:id="rId16" imgW="2057400" imgH="723900" progId="Equation.DSMT4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127"/>
                          <a:ext cx="1296" cy="454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 w="9525">
                          <a:solidFill>
                            <a:srgbClr val="FF99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5" name="Object 70"/>
            <p:cNvGraphicFramePr>
              <a:graphicFrameLocks noChangeAspect="1"/>
            </p:cNvGraphicFramePr>
            <p:nvPr/>
          </p:nvGraphicFramePr>
          <p:xfrm>
            <a:off x="3696" y="42"/>
            <a:ext cx="624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01" name="剪辑" r:id="rId18" imgW="3133812" imgH="2886030" progId="MS_ClipArt_Gallery.2">
                    <p:embed/>
                  </p:oleObj>
                </mc:Choice>
                <mc:Fallback>
                  <p:oleObj name="剪辑" r:id="rId18" imgW="3133812" imgH="2886030" progId="MS_ClipArt_Gallery.2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42"/>
                          <a:ext cx="624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902" name="Text Box 29"/>
          <p:cNvSpPr txBox="1">
            <a:spLocks noChangeArrowheads="1"/>
          </p:cNvSpPr>
          <p:nvPr/>
        </p:nvSpPr>
        <p:spPr bwMode="auto">
          <a:xfrm>
            <a:off x="865822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16</a:t>
            </a:r>
            <a:endParaRPr lang="en-US" altLang="zh-CN" sz="1800">
              <a:solidFill>
                <a:srgbClr val="003300"/>
              </a:solidFill>
            </a:endParaRPr>
          </a:p>
        </p:txBody>
      </p:sp>
      <p:sp>
        <p:nvSpPr>
          <p:cNvPr id="3" name="矩形 2">
            <a:hlinkClick r:id="rId20" action="ppaction://hlinkfile"/>
          </p:cNvPr>
          <p:cNvSpPr>
            <a:spLocks noChangeArrowheads="1"/>
          </p:cNvSpPr>
          <p:nvPr/>
        </p:nvSpPr>
        <p:spPr bwMode="auto">
          <a:xfrm>
            <a:off x="5572125" y="2303463"/>
            <a:ext cx="1474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000" b="1" u="sng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康普顿效应</a:t>
            </a:r>
            <a:endParaRPr lang="zh-CN" altLang="en-US" sz="2000" u="sng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75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2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utoUpdateAnimBg="0"/>
      <p:bldP spid="23559" grpId="0"/>
      <p:bldP spid="23560" grpId="0"/>
      <p:bldP spid="23561" grpId="0" autoUpdateAnimBg="0"/>
      <p:bldP spid="23588" grpId="0" autoUpdateAnimBg="0"/>
      <p:bldP spid="23593" grpId="0" autoUpdateAnimBg="0"/>
      <p:bldP spid="23594" grpId="0" autoUpdateAnimBg="0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550863" y="2286000"/>
            <a:ext cx="64690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由上几式得波长偏移</a:t>
            </a:r>
            <a:r>
              <a:rPr kumimoji="1" lang="en-US" altLang="zh-CN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(</a:t>
            </a: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推导过程附后</a:t>
            </a:r>
            <a:r>
              <a:rPr kumimoji="1" lang="en-US" altLang="zh-CN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):</a:t>
            </a:r>
          </a:p>
        </p:txBody>
      </p:sp>
      <p:graphicFrame>
        <p:nvGraphicFramePr>
          <p:cNvPr id="14352" name="Object 16"/>
          <p:cNvGraphicFramePr>
            <a:graphicFrameLocks noChangeAspect="1"/>
          </p:cNvGraphicFramePr>
          <p:nvPr/>
        </p:nvGraphicFramePr>
        <p:xfrm>
          <a:off x="717550" y="3375025"/>
          <a:ext cx="1282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09" name="Equation" r:id="rId4" imgW="1282700" imgH="774700" progId="Equation.DSMT4">
                  <p:embed/>
                </p:oleObj>
              </mc:Choice>
              <mc:Fallback>
                <p:oleObj name="Equation" r:id="rId4" imgW="1282700" imgH="7747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" y="3375025"/>
                        <a:ext cx="12827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3" name="Object 17"/>
          <p:cNvGraphicFramePr>
            <a:graphicFrameLocks noChangeAspect="1"/>
          </p:cNvGraphicFramePr>
          <p:nvPr/>
        </p:nvGraphicFramePr>
        <p:xfrm>
          <a:off x="2062163" y="3429000"/>
          <a:ext cx="23114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10" name="Equation" r:id="rId6" imgW="1040948" imgH="241195" progId="Equation.DSMT4">
                  <p:embed/>
                </p:oleObj>
              </mc:Choice>
              <mc:Fallback>
                <p:oleObj name="Equation" r:id="rId6" imgW="1040948" imgH="24119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3" y="3429000"/>
                        <a:ext cx="23114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94" name="Text Box 58"/>
          <p:cNvSpPr txBox="1">
            <a:spLocks noChangeArrowheads="1"/>
          </p:cNvSpPr>
          <p:nvPr/>
        </p:nvSpPr>
        <p:spPr bwMode="auto">
          <a:xfrm>
            <a:off x="4373563" y="3429000"/>
            <a:ext cx="3046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——Compton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波长</a:t>
            </a:r>
          </a:p>
        </p:txBody>
      </p:sp>
      <p:graphicFrame>
        <p:nvGraphicFramePr>
          <p:cNvPr id="14396" name="Object 60"/>
          <p:cNvGraphicFramePr>
            <a:graphicFrameLocks noChangeAspect="1"/>
          </p:cNvGraphicFramePr>
          <p:nvPr/>
        </p:nvGraphicFramePr>
        <p:xfrm>
          <a:off x="684213" y="2767013"/>
          <a:ext cx="5353050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11" name="MathType 6.0 Equation" r:id="rId8" imgW="5816600" imgH="774700" progId="Equation.DSMT4">
                  <p:embed/>
                </p:oleObj>
              </mc:Choice>
              <mc:Fallback>
                <p:oleObj name="MathType 6.0 Equation" r:id="rId8" imgW="5816600" imgH="77470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767013"/>
                        <a:ext cx="5353050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3"/>
          <p:cNvGrpSpPr>
            <a:grpSpLocks/>
          </p:cNvGrpSpPr>
          <p:nvPr/>
        </p:nvGrpSpPr>
        <p:grpSpPr bwMode="auto">
          <a:xfrm>
            <a:off x="5400675" y="115888"/>
            <a:ext cx="3438525" cy="2560637"/>
            <a:chOff x="3198" y="2361"/>
            <a:chExt cx="2166" cy="1613"/>
          </a:xfrm>
        </p:grpSpPr>
        <p:sp>
          <p:nvSpPr>
            <p:cNvPr id="39958" name="Line 64"/>
            <p:cNvSpPr>
              <a:spLocks noChangeShapeType="1"/>
            </p:cNvSpPr>
            <p:nvPr/>
          </p:nvSpPr>
          <p:spPr bwMode="auto">
            <a:xfrm>
              <a:off x="3198" y="3228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9" name="Line 65"/>
            <p:cNvSpPr>
              <a:spLocks noChangeShapeType="1"/>
            </p:cNvSpPr>
            <p:nvPr/>
          </p:nvSpPr>
          <p:spPr bwMode="auto">
            <a:xfrm>
              <a:off x="3822" y="3228"/>
              <a:ext cx="1248" cy="0"/>
            </a:xfrm>
            <a:prstGeom prst="line">
              <a:avLst/>
            </a:prstGeom>
            <a:noFill/>
            <a:ln w="38100">
              <a:solidFill>
                <a:srgbClr val="00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0" name="Line 66"/>
            <p:cNvSpPr>
              <a:spLocks noChangeShapeType="1"/>
            </p:cNvSpPr>
            <p:nvPr/>
          </p:nvSpPr>
          <p:spPr bwMode="auto">
            <a:xfrm flipV="1">
              <a:off x="3822" y="2700"/>
              <a:ext cx="768" cy="528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1" name="Line 67"/>
            <p:cNvSpPr>
              <a:spLocks noChangeShapeType="1"/>
            </p:cNvSpPr>
            <p:nvPr/>
          </p:nvSpPr>
          <p:spPr bwMode="auto">
            <a:xfrm>
              <a:off x="3822" y="3228"/>
              <a:ext cx="528" cy="528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2" name="Line 68"/>
            <p:cNvSpPr>
              <a:spLocks noChangeShapeType="1"/>
            </p:cNvSpPr>
            <p:nvPr/>
          </p:nvSpPr>
          <p:spPr bwMode="auto">
            <a:xfrm flipV="1">
              <a:off x="4302" y="3180"/>
              <a:ext cx="816" cy="528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3" name="Line 69"/>
            <p:cNvSpPr>
              <a:spLocks noChangeShapeType="1"/>
            </p:cNvSpPr>
            <p:nvPr/>
          </p:nvSpPr>
          <p:spPr bwMode="auto">
            <a:xfrm>
              <a:off x="4542" y="2700"/>
              <a:ext cx="528" cy="528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4" name="Text Box 70"/>
            <p:cNvSpPr txBox="1">
              <a:spLocks noChangeArrowheads="1"/>
            </p:cNvSpPr>
            <p:nvPr/>
          </p:nvSpPr>
          <p:spPr bwMode="auto">
            <a:xfrm>
              <a:off x="3678" y="318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楷体_GB2312"/>
                  <a:ea typeface="楷体_GB2312"/>
                  <a:cs typeface="楷体_GB2312"/>
                </a:rPr>
                <a:t>e</a:t>
              </a:r>
              <a:endParaRPr kumimoji="1" lang="en-US" altLang="zh-CN" sz="2400">
                <a:solidFill>
                  <a:srgbClr val="0033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graphicFrame>
          <p:nvGraphicFramePr>
            <p:cNvPr id="39965" name="Object 71"/>
            <p:cNvGraphicFramePr>
              <a:graphicFrameLocks noChangeAspect="1"/>
            </p:cNvGraphicFramePr>
            <p:nvPr/>
          </p:nvGraphicFramePr>
          <p:xfrm>
            <a:off x="4286" y="2361"/>
            <a:ext cx="435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12" name="Equation" r:id="rId10" imgW="723586" imgH="723586" progId="Equation.DSMT4">
                    <p:embed/>
                  </p:oleObj>
                </mc:Choice>
                <mc:Fallback>
                  <p:oleObj name="Equation" r:id="rId10" imgW="723586" imgH="723586" progId="Equation.DSMT4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" y="2361"/>
                          <a:ext cx="435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6" name="Object 72"/>
            <p:cNvGraphicFramePr>
              <a:graphicFrameLocks noChangeAspect="1"/>
            </p:cNvGraphicFramePr>
            <p:nvPr/>
          </p:nvGraphicFramePr>
          <p:xfrm>
            <a:off x="4876" y="3256"/>
            <a:ext cx="473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13" name="Equation" r:id="rId12" imgW="901309" imgH="774364" progId="Equation.DSMT4">
                    <p:embed/>
                  </p:oleObj>
                </mc:Choice>
                <mc:Fallback>
                  <p:oleObj name="Equation" r:id="rId12" imgW="901309" imgH="774364" progId="Equation.DSMT4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" y="3256"/>
                          <a:ext cx="473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7" name="Line 73"/>
            <p:cNvSpPr>
              <a:spLocks noChangeShapeType="1"/>
            </p:cNvSpPr>
            <p:nvPr/>
          </p:nvSpPr>
          <p:spPr bwMode="auto">
            <a:xfrm>
              <a:off x="4014" y="3084"/>
              <a:ext cx="48" cy="144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8" name="Line 74"/>
            <p:cNvSpPr>
              <a:spLocks noChangeShapeType="1"/>
            </p:cNvSpPr>
            <p:nvPr/>
          </p:nvSpPr>
          <p:spPr bwMode="auto">
            <a:xfrm flipH="1">
              <a:off x="3966" y="3228"/>
              <a:ext cx="144" cy="192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9969" name="Object 75"/>
            <p:cNvGraphicFramePr>
              <a:graphicFrameLocks noChangeAspect="1"/>
            </p:cNvGraphicFramePr>
            <p:nvPr/>
          </p:nvGraphicFramePr>
          <p:xfrm>
            <a:off x="4202" y="3730"/>
            <a:ext cx="355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14" name="Equation" r:id="rId14" imgW="622030" imgH="406224" progId="Equation.DSMT4">
                    <p:embed/>
                  </p:oleObj>
                </mc:Choice>
                <mc:Fallback>
                  <p:oleObj name="Equation" r:id="rId14" imgW="622030" imgH="406224" progId="Equation.DSMT4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2" y="3730"/>
                          <a:ext cx="355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70" name="Text Box 76"/>
            <p:cNvSpPr txBox="1">
              <a:spLocks noChangeArrowheads="1"/>
            </p:cNvSpPr>
            <p:nvPr/>
          </p:nvSpPr>
          <p:spPr bwMode="auto">
            <a:xfrm>
              <a:off x="3982" y="320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</a:t>
              </a:r>
              <a:endParaRPr kumimoji="1" lang="en-US" altLang="zh-CN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39971" name="Text Box 77"/>
            <p:cNvSpPr txBox="1">
              <a:spLocks noChangeArrowheads="1"/>
            </p:cNvSpPr>
            <p:nvPr/>
          </p:nvSpPr>
          <p:spPr bwMode="auto">
            <a:xfrm>
              <a:off x="4034" y="2907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</a:t>
              </a:r>
              <a:endParaRPr kumimoji="1" lang="en-US" altLang="zh-CN" sz="24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</p:txBody>
        </p:sp>
        <p:grpSp>
          <p:nvGrpSpPr>
            <p:cNvPr id="39972" name="Group 78"/>
            <p:cNvGrpSpPr>
              <a:grpSpLocks/>
            </p:cNvGrpSpPr>
            <p:nvPr/>
          </p:nvGrpSpPr>
          <p:grpSpPr bwMode="auto">
            <a:xfrm>
              <a:off x="3661" y="3058"/>
              <a:ext cx="214" cy="291"/>
              <a:chOff x="3487" y="1056"/>
              <a:chExt cx="214" cy="291"/>
            </a:xfrm>
          </p:grpSpPr>
          <p:sp>
            <p:nvSpPr>
              <p:cNvPr id="39976" name="Oval 79"/>
              <p:cNvSpPr>
                <a:spLocks noChangeArrowheads="1"/>
              </p:cNvSpPr>
              <p:nvPr/>
            </p:nvSpPr>
            <p:spPr bwMode="auto">
              <a:xfrm>
                <a:off x="3540" y="1178"/>
                <a:ext cx="96" cy="96"/>
              </a:xfrm>
              <a:prstGeom prst="ellipse">
                <a:avLst/>
              </a:prstGeom>
              <a:solidFill>
                <a:srgbClr val="0066CC"/>
              </a:solidFill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zh-CN" sz="2400" b="1">
                  <a:solidFill>
                    <a:srgbClr val="003300"/>
                  </a:solidFill>
                  <a:latin typeface="楷体_GB2312"/>
                  <a:ea typeface="楷体_GB2312"/>
                  <a:cs typeface="楷体_GB2312"/>
                </a:endParaRPr>
              </a:p>
            </p:txBody>
          </p:sp>
          <p:sp>
            <p:nvSpPr>
              <p:cNvPr id="39977" name="Text Box 80"/>
              <p:cNvSpPr txBox="1">
                <a:spLocks noChangeArrowheads="1"/>
              </p:cNvSpPr>
              <p:nvPr/>
            </p:nvSpPr>
            <p:spPr bwMode="auto">
              <a:xfrm>
                <a:off x="3487" y="1056"/>
                <a:ext cx="21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solidFill>
                      <a:srgbClr val="003300"/>
                    </a:solidFill>
                    <a:latin typeface="楷体_GB2312"/>
                    <a:ea typeface="楷体_GB2312"/>
                    <a:cs typeface="楷体_GB2312"/>
                  </a:rPr>
                  <a:t>-</a:t>
                </a:r>
              </a:p>
            </p:txBody>
          </p:sp>
        </p:grpSp>
        <p:sp>
          <p:nvSpPr>
            <p:cNvPr id="39973" name="Rectangle 81"/>
            <p:cNvSpPr>
              <a:spLocks noChangeArrowheads="1"/>
            </p:cNvSpPr>
            <p:nvPr/>
          </p:nvSpPr>
          <p:spPr bwMode="auto">
            <a:xfrm>
              <a:off x="3288" y="2734"/>
              <a:ext cx="14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散射的光子</a:t>
              </a:r>
              <a:endParaRPr kumimoji="1" lang="zh-CN" altLang="en-US" sz="2400" b="1">
                <a:solidFill>
                  <a:srgbClr val="00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74" name="Rectangle 82"/>
            <p:cNvSpPr>
              <a:spLocks noChangeArrowheads="1"/>
            </p:cNvSpPr>
            <p:nvPr/>
          </p:nvSpPr>
          <p:spPr bwMode="auto">
            <a:xfrm>
              <a:off x="3250" y="3442"/>
              <a:ext cx="8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反冲电子</a:t>
              </a:r>
            </a:p>
          </p:txBody>
        </p:sp>
        <p:sp>
          <p:nvSpPr>
            <p:cNvPr id="39975" name="Rectangle 83"/>
            <p:cNvSpPr>
              <a:spLocks noChangeArrowheads="1"/>
            </p:cNvSpPr>
            <p:nvPr/>
          </p:nvSpPr>
          <p:spPr bwMode="auto">
            <a:xfrm>
              <a:off x="4468" y="2886"/>
              <a:ext cx="8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入射光子</a:t>
              </a:r>
            </a:p>
          </p:txBody>
        </p:sp>
      </p:grpSp>
      <p:grpSp>
        <p:nvGrpSpPr>
          <p:cNvPr id="39944" name="Group 89"/>
          <p:cNvGrpSpPr>
            <a:grpSpLocks/>
          </p:cNvGrpSpPr>
          <p:nvPr/>
        </p:nvGrpSpPr>
        <p:grpSpPr bwMode="auto">
          <a:xfrm>
            <a:off x="684213" y="115888"/>
            <a:ext cx="3930650" cy="2071687"/>
            <a:chOff x="431" y="164"/>
            <a:chExt cx="2476" cy="1305"/>
          </a:xfrm>
        </p:grpSpPr>
        <p:graphicFrame>
          <p:nvGraphicFramePr>
            <p:cNvPr id="39954" name="Object 50"/>
            <p:cNvGraphicFramePr>
              <a:graphicFrameLocks/>
            </p:cNvGraphicFramePr>
            <p:nvPr/>
          </p:nvGraphicFramePr>
          <p:xfrm>
            <a:off x="1186" y="917"/>
            <a:ext cx="1484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15" name="Equation" r:id="rId16" imgW="2362200" imgH="876300" progId="Equation.DSMT4">
                    <p:embed/>
                  </p:oleObj>
                </mc:Choice>
                <mc:Fallback>
                  <p:oleObj name="Equation" r:id="rId16" imgW="2362200" imgH="876300" progId="Equation.DSMT4">
                    <p:embed/>
                    <p:pic>
                      <p:nvPicPr>
                        <p:cNvPr id="0" name="Object 5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6" y="917"/>
                          <a:ext cx="1484" cy="5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5" name="Object 61"/>
            <p:cNvGraphicFramePr>
              <a:graphicFrameLocks/>
            </p:cNvGraphicFramePr>
            <p:nvPr/>
          </p:nvGraphicFramePr>
          <p:xfrm>
            <a:off x="1161" y="482"/>
            <a:ext cx="1497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16" name="Equation" r:id="rId18" imgW="2565400" imgH="774700" progId="Equation.DSMT4">
                    <p:embed/>
                  </p:oleObj>
                </mc:Choice>
                <mc:Fallback>
                  <p:oleObj name="Equation" r:id="rId18" imgW="2565400" imgH="774700" progId="Equation.DSMT4">
                    <p:embed/>
                    <p:pic>
                      <p:nvPicPr>
                        <p:cNvPr id="0" name="Object 6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1" y="482"/>
                          <a:ext cx="1497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6" name="Object 62"/>
            <p:cNvGraphicFramePr>
              <a:graphicFrameLocks noChangeAspect="1"/>
            </p:cNvGraphicFramePr>
            <p:nvPr/>
          </p:nvGraphicFramePr>
          <p:xfrm>
            <a:off x="975" y="164"/>
            <a:ext cx="1932" cy="10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17" name="Equation" r:id="rId20" imgW="3378200" imgH="1638300" progId="Equation.DSMT4">
                    <p:embed/>
                  </p:oleObj>
                </mc:Choice>
                <mc:Fallback>
                  <p:oleObj name="Equation" r:id="rId20" imgW="3378200" imgH="1638300" progId="Equation.DSMT4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164"/>
                          <a:ext cx="1932" cy="10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7" name="Object 86"/>
            <p:cNvGraphicFramePr>
              <a:graphicFrameLocks noChangeAspect="1"/>
            </p:cNvGraphicFramePr>
            <p:nvPr/>
          </p:nvGraphicFramePr>
          <p:xfrm>
            <a:off x="431" y="471"/>
            <a:ext cx="594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18" name="剪辑" r:id="rId22" imgW="3133812" imgH="2886030" progId="MS_ClipArt_Gallery.2">
                    <p:embed/>
                  </p:oleObj>
                </mc:Choice>
                <mc:Fallback>
                  <p:oleObj name="剪辑" r:id="rId22" imgW="3133812" imgH="2886030" progId="MS_ClipArt_Gallery.2">
                    <p:embed/>
                    <p:pic>
                      <p:nvPicPr>
                        <p:cNvPr id="0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471"/>
                          <a:ext cx="594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45" name="Text Box 88"/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17</a:t>
            </a:r>
            <a:endParaRPr lang="en-US" altLang="zh-CN" sz="1800">
              <a:solidFill>
                <a:srgbClr val="003300"/>
              </a:solidFill>
            </a:endParaRPr>
          </a:p>
        </p:txBody>
      </p:sp>
      <p:sp>
        <p:nvSpPr>
          <p:cNvPr id="38" name="Text Box 15"/>
          <p:cNvSpPr txBox="1">
            <a:spLocks noChangeArrowheads="1"/>
          </p:cNvSpPr>
          <p:nvPr/>
        </p:nvSpPr>
        <p:spPr bwMode="auto">
          <a:xfrm>
            <a:off x="1204913" y="5087938"/>
            <a:ext cx="68230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</a:rPr>
              <a:t>1º   </a:t>
            </a:r>
            <a:r>
              <a:rPr lang="en-US" altLang="zh-CN" sz="2400" b="1">
                <a:solidFill>
                  <a:srgbClr val="003300"/>
                </a:solidFill>
                <a:sym typeface="Symbol" panose="05050102010706020507" pitchFamily="18" charset="2"/>
              </a:rPr>
              <a:t></a:t>
            </a:r>
            <a:r>
              <a:rPr lang="en-US" altLang="zh-CN" sz="2400" b="1" i="1">
                <a:solidFill>
                  <a:srgbClr val="003300"/>
                </a:solidFill>
                <a:sym typeface="Symbol" panose="05050102010706020507" pitchFamily="18" charset="2"/>
              </a:rPr>
              <a:t> </a:t>
            </a:r>
            <a:r>
              <a:rPr lang="zh-CN" altLang="en-US" sz="2400" b="1">
                <a:solidFill>
                  <a:srgbClr val="003300"/>
                </a:solidFill>
                <a:sym typeface="Symbol" panose="05050102010706020507" pitchFamily="18" charset="2"/>
              </a:rPr>
              <a:t>只与散射角</a:t>
            </a:r>
            <a:r>
              <a:rPr lang="zh-CN" altLang="en-US" sz="2400" b="1" i="1">
                <a:solidFill>
                  <a:srgbClr val="003300"/>
                </a:solidFill>
                <a:sym typeface="Symbol" panose="05050102010706020507" pitchFamily="18" charset="2"/>
              </a:rPr>
              <a:t> </a:t>
            </a:r>
            <a:r>
              <a:rPr lang="zh-CN" altLang="en-US" sz="2400" b="1">
                <a:solidFill>
                  <a:srgbClr val="003300"/>
                </a:solidFill>
                <a:sym typeface="Symbol" panose="05050102010706020507" pitchFamily="18" charset="2"/>
              </a:rPr>
              <a:t>有关</a:t>
            </a:r>
            <a:r>
              <a:rPr lang="en-US" altLang="zh-CN" sz="2400" b="1">
                <a:solidFill>
                  <a:srgbClr val="003300"/>
                </a:solidFill>
                <a:sym typeface="Symbol" panose="05050102010706020507" pitchFamily="18" charset="2"/>
              </a:rPr>
              <a:t>, </a:t>
            </a:r>
            <a:r>
              <a:rPr lang="zh-CN" altLang="en-US" sz="2400" b="1" i="1">
                <a:solidFill>
                  <a:srgbClr val="003300"/>
                </a:solidFill>
                <a:sym typeface="Symbol" panose="05050102010706020507" pitchFamily="18" charset="2"/>
              </a:rPr>
              <a:t></a:t>
            </a:r>
            <a:r>
              <a:rPr lang="en-US" altLang="zh-CN" sz="2400" b="1">
                <a:solidFill>
                  <a:srgbClr val="003300"/>
                </a:solidFill>
                <a:sym typeface="Symbol" panose="05050102010706020507" pitchFamily="18" charset="2"/>
              </a:rPr>
              <a:t> , </a:t>
            </a:r>
            <a:r>
              <a:rPr lang="en-US" altLang="zh-CN" sz="2400" b="1" i="1">
                <a:solidFill>
                  <a:srgbClr val="003300"/>
                </a:solidFill>
                <a:sym typeface="Symbol" panose="05050102010706020507" pitchFamily="18" charset="2"/>
              </a:rPr>
              <a:t></a:t>
            </a:r>
            <a:r>
              <a:rPr lang="en-US" altLang="zh-CN" sz="2400" b="1">
                <a:solidFill>
                  <a:srgbClr val="003300"/>
                </a:solidFill>
                <a:sym typeface="Symbol" panose="05050102010706020507" pitchFamily="18" charset="2"/>
              </a:rPr>
              <a:t></a:t>
            </a:r>
            <a:r>
              <a:rPr lang="zh-CN" altLang="en-US" sz="2400" b="1">
                <a:solidFill>
                  <a:srgbClr val="003300"/>
                </a:solidFill>
                <a:sym typeface="Symbol" panose="05050102010706020507" pitchFamily="18" charset="2"/>
              </a:rPr>
              <a:t>；</a:t>
            </a:r>
          </a:p>
        </p:txBody>
      </p:sp>
      <p:grpSp>
        <p:nvGrpSpPr>
          <p:cNvPr id="39" name="Group 34"/>
          <p:cNvGrpSpPr>
            <a:grpSpLocks/>
          </p:cNvGrpSpPr>
          <p:nvPr/>
        </p:nvGrpSpPr>
        <p:grpSpPr bwMode="auto">
          <a:xfrm>
            <a:off x="539750" y="4165600"/>
            <a:ext cx="6870700" cy="815975"/>
            <a:chOff x="559" y="2188"/>
            <a:chExt cx="4328" cy="514"/>
          </a:xfrm>
        </p:grpSpPr>
        <p:graphicFrame>
          <p:nvGraphicFramePr>
            <p:cNvPr id="39952" name="Object 17"/>
            <p:cNvGraphicFramePr>
              <a:graphicFrameLocks noChangeAspect="1"/>
            </p:cNvGraphicFramePr>
            <p:nvPr/>
          </p:nvGraphicFramePr>
          <p:xfrm>
            <a:off x="1921" y="2188"/>
            <a:ext cx="2966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19" name="公式" r:id="rId24" imgW="1876343" imgH="276210" progId="Equation.3">
                    <p:embed/>
                  </p:oleObj>
                </mc:Choice>
                <mc:Fallback>
                  <p:oleObj name="公式" r:id="rId24" imgW="1876343" imgH="27621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1" y="2188"/>
                          <a:ext cx="2966" cy="514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accent1"/>
                            </a:gs>
                            <a:gs pos="50000">
                              <a:srgbClr val="FFFFFF"/>
                            </a:gs>
                            <a:gs pos="100000">
                              <a:schemeClr val="accent1"/>
                            </a:gs>
                          </a:gsLst>
                          <a:lin ang="5400000" scaled="1"/>
                        </a:gradFill>
                        <a:ln w="19050">
                          <a:solidFill>
                            <a:srgbClr val="9900CC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3" name="Text Box 18"/>
            <p:cNvSpPr txBox="1">
              <a:spLocks noChangeArrowheads="1"/>
            </p:cNvSpPr>
            <p:nvPr/>
          </p:nvSpPr>
          <p:spPr bwMode="auto">
            <a:xfrm>
              <a:off x="559" y="2265"/>
              <a:ext cx="129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康普顿公式</a:t>
              </a:r>
            </a:p>
          </p:txBody>
        </p:sp>
      </p:grpSp>
      <p:sp>
        <p:nvSpPr>
          <p:cNvPr id="42" name="Text Box 33"/>
          <p:cNvSpPr txBox="1">
            <a:spLocks noChangeArrowheads="1"/>
          </p:cNvSpPr>
          <p:nvPr/>
        </p:nvSpPr>
        <p:spPr bwMode="auto">
          <a:xfrm>
            <a:off x="595313" y="5335588"/>
            <a:ext cx="609600" cy="830262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结论 </a:t>
            </a:r>
          </a:p>
        </p:txBody>
      </p:sp>
      <p:sp>
        <p:nvSpPr>
          <p:cNvPr id="43" name="Text Box 35"/>
          <p:cNvSpPr txBox="1">
            <a:spLocks noChangeArrowheads="1"/>
          </p:cNvSpPr>
          <p:nvPr/>
        </p:nvSpPr>
        <p:spPr bwMode="auto">
          <a:xfrm>
            <a:off x="1690688" y="6383338"/>
            <a:ext cx="586898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但康普顿散射效应的强弱与散射物质有关</a:t>
            </a:r>
            <a:endParaRPr lang="en-US" altLang="zh-CN" sz="2400" b="1">
              <a:solidFill>
                <a:srgbClr val="003300"/>
              </a:solidFill>
            </a:endParaRPr>
          </a:p>
        </p:txBody>
      </p:sp>
      <p:sp>
        <p:nvSpPr>
          <p:cNvPr id="44" name="Text Box 36"/>
          <p:cNvSpPr txBox="1">
            <a:spLocks noChangeArrowheads="1"/>
          </p:cNvSpPr>
          <p:nvPr/>
        </p:nvSpPr>
        <p:spPr bwMode="auto">
          <a:xfrm>
            <a:off x="1204913" y="5519738"/>
            <a:ext cx="66421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</a:rPr>
              <a:t>2º   </a:t>
            </a:r>
            <a:r>
              <a:rPr lang="en-US" altLang="zh-CN" sz="2400" b="1">
                <a:solidFill>
                  <a:srgbClr val="003300"/>
                </a:solidFill>
                <a:sym typeface="Symbol" panose="05050102010706020507" pitchFamily="18" charset="2"/>
              </a:rPr>
              <a:t></a:t>
            </a:r>
            <a:r>
              <a:rPr lang="en-US" altLang="zh-CN" sz="2400" b="1" i="1">
                <a:solidFill>
                  <a:srgbClr val="003300"/>
                </a:solidFill>
                <a:sym typeface="Symbol" panose="05050102010706020507" pitchFamily="18" charset="2"/>
              </a:rPr>
              <a:t> </a:t>
            </a:r>
            <a:r>
              <a:rPr lang="zh-CN" altLang="en-US" sz="2400" b="1">
                <a:solidFill>
                  <a:srgbClr val="003300"/>
                </a:solidFill>
                <a:sym typeface="Symbol" panose="05050102010706020507" pitchFamily="18" charset="2"/>
              </a:rPr>
              <a:t>与</a:t>
            </a:r>
            <a:r>
              <a:rPr lang="zh-CN" altLang="en-US" sz="2400" b="1">
                <a:solidFill>
                  <a:srgbClr val="003300"/>
                </a:solidFill>
              </a:rPr>
              <a:t>入射波长</a:t>
            </a:r>
            <a:r>
              <a:rPr lang="zh-CN" altLang="en-US" sz="2400" b="1" i="1">
                <a:solidFill>
                  <a:srgbClr val="003300"/>
                </a:solidFill>
                <a:sym typeface="Symbol" panose="05050102010706020507" pitchFamily="18" charset="2"/>
              </a:rPr>
              <a:t></a:t>
            </a:r>
            <a:r>
              <a:rPr lang="en-US" altLang="zh-CN" sz="2400" b="1" baseline="-25000">
                <a:solidFill>
                  <a:srgbClr val="003300"/>
                </a:solidFill>
                <a:sym typeface="Symbol" panose="05050102010706020507" pitchFamily="18" charset="2"/>
              </a:rPr>
              <a:t>0</a:t>
            </a:r>
            <a:r>
              <a:rPr lang="zh-CN" altLang="en-US" sz="2400" b="1">
                <a:solidFill>
                  <a:srgbClr val="003300"/>
                </a:solidFill>
                <a:sym typeface="Symbol" panose="05050102010706020507" pitchFamily="18" charset="2"/>
              </a:rPr>
              <a:t>无关；</a:t>
            </a:r>
            <a:endParaRPr lang="en-US" altLang="zh-CN" sz="2400" b="1">
              <a:solidFill>
                <a:srgbClr val="003300"/>
              </a:solidFill>
            </a:endParaRPr>
          </a:p>
        </p:txBody>
      </p:sp>
      <p:sp>
        <p:nvSpPr>
          <p:cNvPr id="45" name="Text Box 37"/>
          <p:cNvSpPr txBox="1">
            <a:spLocks noChangeArrowheads="1"/>
          </p:cNvSpPr>
          <p:nvPr/>
        </p:nvSpPr>
        <p:spPr bwMode="auto">
          <a:xfrm>
            <a:off x="1204913" y="5951538"/>
            <a:ext cx="63071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</a:rPr>
              <a:t>3º   </a:t>
            </a:r>
            <a:r>
              <a:rPr lang="en-US" altLang="zh-CN" sz="2400" b="1">
                <a:solidFill>
                  <a:srgbClr val="003300"/>
                </a:solidFill>
                <a:sym typeface="Symbol" panose="05050102010706020507" pitchFamily="18" charset="2"/>
              </a:rPr>
              <a:t></a:t>
            </a:r>
            <a:r>
              <a:rPr lang="en-US" altLang="zh-CN" sz="2400" b="1" i="1">
                <a:solidFill>
                  <a:srgbClr val="003300"/>
                </a:solidFill>
                <a:sym typeface="Symbol" panose="05050102010706020507" pitchFamily="18" charset="2"/>
              </a:rPr>
              <a:t> </a:t>
            </a:r>
            <a:r>
              <a:rPr lang="zh-CN" altLang="en-US" sz="2400" b="1">
                <a:solidFill>
                  <a:srgbClr val="003300"/>
                </a:solidFill>
              </a:rPr>
              <a:t>与散射物质无关；</a:t>
            </a:r>
            <a:endParaRPr lang="en-US" altLang="zh-CN" sz="2400" b="1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5" grpId="0" autoUpdateAnimBg="0"/>
      <p:bldP spid="14394" grpId="0"/>
      <p:bldP spid="38" grpId="0"/>
      <p:bldP spid="42" grpId="0" animBg="1"/>
      <p:bldP spid="43" grpId="0"/>
      <p:bldP spid="44" grpId="0"/>
      <p:bldP spid="4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395288" y="3779838"/>
            <a:ext cx="8188325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3300"/>
                </a:solidFill>
              </a:rPr>
              <a:t>1º   </a:t>
            </a:r>
            <a:r>
              <a:rPr lang="zh-CN" altLang="en-US" sz="2800" b="1">
                <a:solidFill>
                  <a:srgbClr val="003300"/>
                </a:solidFill>
                <a:latin typeface="宋体" panose="02010600030101010101" pitchFamily="2" charset="-122"/>
              </a:rPr>
              <a:t>康普顿散射进一步证实了光具有波粒二象性，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  <a:latin typeface="宋体" panose="02010600030101010101" pitchFamily="2" charset="-122"/>
              </a:rPr>
              <a:t>   证明了光子能量、动量表示式的正确性。</a:t>
            </a:r>
          </a:p>
        </p:txBody>
      </p:sp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179388" y="4897438"/>
            <a:ext cx="8382000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3300"/>
                </a:solidFill>
              </a:rPr>
              <a:t>  2º   </a:t>
            </a:r>
            <a:r>
              <a:rPr lang="zh-CN" altLang="en-US" sz="2800" b="1">
                <a:solidFill>
                  <a:srgbClr val="003300"/>
                </a:solidFill>
              </a:rPr>
              <a:t>另外证明在光电相互作用的过程中严格遵守能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         量、动量守恒定律。</a:t>
            </a:r>
          </a:p>
        </p:txBody>
      </p:sp>
      <p:sp>
        <p:nvSpPr>
          <p:cNvPr id="4" name="Text Box 15"/>
          <p:cNvSpPr txBox="1">
            <a:spLocks noChangeArrowheads="1"/>
          </p:cNvSpPr>
          <p:nvPr/>
        </p:nvSpPr>
        <p:spPr bwMode="auto">
          <a:xfrm>
            <a:off x="179388" y="2157413"/>
            <a:ext cx="7315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0000CC"/>
              </a:buClr>
              <a:buFontTx/>
              <a:buNone/>
              <a:defRPr/>
            </a:pPr>
            <a:r>
              <a:rPr lang="zh-CN" altLang="en-US" sz="2800" b="1" i="1" dirty="0">
                <a:solidFill>
                  <a:srgbClr val="003300"/>
                </a:solidFill>
              </a:rPr>
              <a:t> </a:t>
            </a:r>
            <a:r>
              <a:rPr lang="zh-CN" altLang="en-US" sz="2800" b="1" dirty="0">
                <a:solidFill>
                  <a:srgbClr val="003300"/>
                </a:solidFill>
              </a:rPr>
              <a:t>所以</a:t>
            </a:r>
            <a:r>
              <a:rPr lang="en-US" altLang="zh-CN" sz="2800" b="1" dirty="0">
                <a:solidFill>
                  <a:srgbClr val="003300"/>
                </a:solidFill>
              </a:rPr>
              <a:t>X</a:t>
            </a:r>
            <a:r>
              <a:rPr lang="en-US" altLang="zh-CN" sz="2800" b="1" i="1" dirty="0">
                <a:solidFill>
                  <a:srgbClr val="003300"/>
                </a:solidFill>
              </a:rPr>
              <a:t> </a:t>
            </a:r>
            <a:r>
              <a:rPr lang="zh-CN" altLang="en-US" sz="2800" b="1" dirty="0">
                <a:solidFill>
                  <a:srgbClr val="003300"/>
                </a:solidFill>
              </a:rPr>
              <a:t>射线光子与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束缚很紧的电子</a:t>
            </a:r>
            <a:r>
              <a:rPr lang="zh-CN" altLang="en-US" sz="2800" b="1" dirty="0">
                <a:solidFill>
                  <a:srgbClr val="003300"/>
                </a:solidFill>
              </a:rPr>
              <a:t>碰撞</a:t>
            </a:r>
            <a:r>
              <a:rPr lang="en-US" altLang="zh-CN" sz="2800" b="1" dirty="0">
                <a:solidFill>
                  <a:srgbClr val="003300"/>
                </a:solidFill>
              </a:rPr>
              <a:t>:</a:t>
            </a:r>
          </a:p>
        </p:txBody>
      </p:sp>
      <p:graphicFrame>
        <p:nvGraphicFramePr>
          <p:cNvPr id="5" name="Object 16"/>
          <p:cNvGraphicFramePr>
            <a:graphicFrameLocks noChangeAspect="1"/>
          </p:cNvGraphicFramePr>
          <p:nvPr/>
        </p:nvGraphicFramePr>
        <p:xfrm>
          <a:off x="6565900" y="2095500"/>
          <a:ext cx="1519238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4" name="Equation" r:id="rId3" imgW="466790" imgH="162000" progId="Equation.DSMT4">
                  <p:embed/>
                </p:oleObj>
              </mc:Choice>
              <mc:Fallback>
                <p:oleObj name="Equation" r:id="rId3" imgW="466790" imgH="1620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2095500"/>
                        <a:ext cx="1519238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334963" y="477838"/>
            <a:ext cx="8185150" cy="164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rgbClr val="003300"/>
                </a:solidFill>
              </a:rPr>
              <a:t>光子与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内层电子</a:t>
            </a:r>
            <a:r>
              <a:rPr lang="zh-CN" altLang="en-US" sz="2800" b="1" dirty="0">
                <a:solidFill>
                  <a:srgbClr val="003300"/>
                </a:solidFill>
              </a:rPr>
              <a:t>的碰撞可看作是与原子的碰撞。由于原子的质量远大于光子，碰撞过程中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光子的能量几乎不变</a:t>
            </a:r>
            <a:r>
              <a:rPr lang="zh-CN" altLang="en-US" sz="2800" b="1" dirty="0">
                <a:solidFill>
                  <a:srgbClr val="003300"/>
                </a:solidFill>
              </a:rPr>
              <a:t>，因而波长保持不变。</a:t>
            </a:r>
          </a:p>
        </p:txBody>
      </p:sp>
      <p:sp>
        <p:nvSpPr>
          <p:cNvPr id="7" name="Text Box 19"/>
          <p:cNvSpPr txBox="1">
            <a:spLocks noChangeArrowheads="1"/>
          </p:cNvSpPr>
          <p:nvPr/>
        </p:nvSpPr>
        <p:spPr bwMode="auto">
          <a:xfrm>
            <a:off x="395288" y="3038475"/>
            <a:ext cx="1363662" cy="523875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  <a:ea typeface="黑体" panose="02010609060101010101" pitchFamily="49" charset="-122"/>
              </a:rPr>
              <a:t>意义 </a:t>
            </a:r>
          </a:p>
        </p:txBody>
      </p:sp>
      <p:sp>
        <p:nvSpPr>
          <p:cNvPr id="41992" name="Text Box 88"/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18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utoUpdateAnimBg="0"/>
      <p:bldP spid="6" grpId="0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34"/>
          <p:cNvGrpSpPr>
            <a:grpSpLocks/>
          </p:cNvGrpSpPr>
          <p:nvPr/>
        </p:nvGrpSpPr>
        <p:grpSpPr bwMode="auto">
          <a:xfrm>
            <a:off x="293688" y="4097338"/>
            <a:ext cx="8704262" cy="1198562"/>
            <a:chOff x="164" y="1834"/>
            <a:chExt cx="5483" cy="755"/>
          </a:xfrm>
        </p:grpSpPr>
        <p:graphicFrame>
          <p:nvGraphicFramePr>
            <p:cNvPr id="43031" name="Object 3"/>
            <p:cNvGraphicFramePr>
              <a:graphicFrameLocks noChangeAspect="1"/>
            </p:cNvGraphicFramePr>
            <p:nvPr/>
          </p:nvGraphicFramePr>
          <p:xfrm>
            <a:off x="507" y="2111"/>
            <a:ext cx="4291" cy="4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44" name="Equation" r:id="rId3" imgW="2514668" imgH="162000" progId="Equation.DSMT4">
                    <p:embed/>
                  </p:oleObj>
                </mc:Choice>
                <mc:Fallback>
                  <p:oleObj name="Equation" r:id="rId3" imgW="2514668" imgH="1620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" y="2111"/>
                          <a:ext cx="4291" cy="4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2" name="Text Box 4"/>
            <p:cNvSpPr txBox="1">
              <a:spLocks noChangeArrowheads="1"/>
            </p:cNvSpPr>
            <p:nvPr/>
          </p:nvSpPr>
          <p:spPr bwMode="auto">
            <a:xfrm>
              <a:off x="164" y="1834"/>
              <a:ext cx="298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相对论能量和动量关系</a:t>
              </a:r>
            </a:p>
          </p:txBody>
        </p:sp>
        <p:sp>
          <p:nvSpPr>
            <p:cNvPr id="43033" name="Text Box 5"/>
            <p:cNvSpPr txBox="1">
              <a:spLocks noChangeArrowheads="1"/>
            </p:cNvSpPr>
            <p:nvPr/>
          </p:nvSpPr>
          <p:spPr bwMode="auto">
            <a:xfrm>
              <a:off x="4820" y="2200"/>
              <a:ext cx="82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（3）</a:t>
              </a:r>
            </a:p>
          </p:txBody>
        </p:sp>
      </p:grpSp>
      <p:grpSp>
        <p:nvGrpSpPr>
          <p:cNvPr id="43011" name="Group 33"/>
          <p:cNvGrpSpPr>
            <a:grpSpLocks/>
          </p:cNvGrpSpPr>
          <p:nvPr/>
        </p:nvGrpSpPr>
        <p:grpSpPr bwMode="auto">
          <a:xfrm>
            <a:off x="328613" y="3100388"/>
            <a:ext cx="8669337" cy="1141412"/>
            <a:chOff x="186" y="1253"/>
            <a:chExt cx="5461" cy="719"/>
          </a:xfrm>
        </p:grpSpPr>
        <p:graphicFrame>
          <p:nvGraphicFramePr>
            <p:cNvPr id="43028" name="Object 16"/>
            <p:cNvGraphicFramePr>
              <a:graphicFrameLocks noChangeAspect="1"/>
            </p:cNvGraphicFramePr>
            <p:nvPr/>
          </p:nvGraphicFramePr>
          <p:xfrm>
            <a:off x="1770" y="1253"/>
            <a:ext cx="1946" cy="7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45" name="Equation" r:id="rId5" imgW="1095389" imgH="352350" progId="Equation.DSMT4">
                    <p:embed/>
                  </p:oleObj>
                </mc:Choice>
                <mc:Fallback>
                  <p:oleObj name="Equation" r:id="rId5" imgW="1095389" imgH="35235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0" y="1253"/>
                          <a:ext cx="1946" cy="7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9" name="Text Box 17"/>
            <p:cNvSpPr txBox="1">
              <a:spLocks noChangeArrowheads="1"/>
            </p:cNvSpPr>
            <p:nvPr/>
          </p:nvSpPr>
          <p:spPr bwMode="auto">
            <a:xfrm>
              <a:off x="186" y="1432"/>
              <a:ext cx="177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能量守恒变形</a:t>
              </a:r>
            </a:p>
          </p:txBody>
        </p:sp>
        <p:sp>
          <p:nvSpPr>
            <p:cNvPr id="43030" name="Text Box 18"/>
            <p:cNvSpPr txBox="1">
              <a:spLocks noChangeArrowheads="1"/>
            </p:cNvSpPr>
            <p:nvPr/>
          </p:nvSpPr>
          <p:spPr bwMode="auto">
            <a:xfrm>
              <a:off x="4798" y="1432"/>
              <a:ext cx="84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（2）</a:t>
              </a:r>
            </a:p>
          </p:txBody>
        </p:sp>
      </p:grpSp>
      <p:grpSp>
        <p:nvGrpSpPr>
          <p:cNvPr id="43012" name="Group 19"/>
          <p:cNvGrpSpPr>
            <a:grpSpLocks/>
          </p:cNvGrpSpPr>
          <p:nvPr/>
        </p:nvGrpSpPr>
        <p:grpSpPr bwMode="auto">
          <a:xfrm>
            <a:off x="328613" y="2060575"/>
            <a:ext cx="8524875" cy="1222375"/>
            <a:chOff x="195" y="3455"/>
            <a:chExt cx="5370" cy="770"/>
          </a:xfrm>
        </p:grpSpPr>
        <p:graphicFrame>
          <p:nvGraphicFramePr>
            <p:cNvPr id="43025" name="Object 20"/>
            <p:cNvGraphicFramePr>
              <a:graphicFrameLocks noChangeAspect="1"/>
            </p:cNvGraphicFramePr>
            <p:nvPr/>
          </p:nvGraphicFramePr>
          <p:xfrm>
            <a:off x="1730" y="3455"/>
            <a:ext cx="3116" cy="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46" name="Equation" r:id="rId7" imgW="1762077" imgH="380970" progId="Equation.DSMT4">
                    <p:embed/>
                  </p:oleObj>
                </mc:Choice>
                <mc:Fallback>
                  <p:oleObj name="Equation" r:id="rId7" imgW="1762077" imgH="38097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0" y="3455"/>
                          <a:ext cx="3116" cy="7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6" name="Text Box 21"/>
            <p:cNvSpPr txBox="1">
              <a:spLocks noChangeArrowheads="1"/>
            </p:cNvSpPr>
            <p:nvPr/>
          </p:nvSpPr>
          <p:spPr bwMode="auto">
            <a:xfrm>
              <a:off x="195" y="3656"/>
              <a:ext cx="177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应用余弦定理</a:t>
              </a:r>
              <a:endParaRPr lang="en-US" altLang="zh-CN" sz="2800" b="1">
                <a:solidFill>
                  <a:srgbClr val="003300"/>
                </a:solidFill>
              </a:endParaRPr>
            </a:p>
          </p:txBody>
        </p:sp>
        <p:sp>
          <p:nvSpPr>
            <p:cNvPr id="43027" name="Text Box 22"/>
            <p:cNvSpPr txBox="1">
              <a:spLocks noChangeArrowheads="1"/>
            </p:cNvSpPr>
            <p:nvPr/>
          </p:nvSpPr>
          <p:spPr bwMode="auto">
            <a:xfrm>
              <a:off x="4780" y="3656"/>
              <a:ext cx="78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（1）</a:t>
              </a:r>
            </a:p>
          </p:txBody>
        </p:sp>
      </p:grpSp>
      <p:grpSp>
        <p:nvGrpSpPr>
          <p:cNvPr id="43013" name="Group 28"/>
          <p:cNvGrpSpPr>
            <a:grpSpLocks/>
          </p:cNvGrpSpPr>
          <p:nvPr/>
        </p:nvGrpSpPr>
        <p:grpSpPr bwMode="auto">
          <a:xfrm>
            <a:off x="33338" y="1065213"/>
            <a:ext cx="4762500" cy="914400"/>
            <a:chOff x="0" y="0"/>
            <a:chExt cx="3000" cy="576"/>
          </a:xfrm>
        </p:grpSpPr>
        <p:graphicFrame>
          <p:nvGraphicFramePr>
            <p:cNvPr id="43023" name="Object 24"/>
            <p:cNvGraphicFramePr>
              <a:graphicFrameLocks noChangeAspect="1"/>
            </p:cNvGraphicFramePr>
            <p:nvPr/>
          </p:nvGraphicFramePr>
          <p:xfrm>
            <a:off x="568" y="24"/>
            <a:ext cx="2432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47" name="公式" r:id="rId9" imgW="1485900" imgH="241300" progId="Equation.3">
                    <p:embed/>
                  </p:oleObj>
                </mc:Choice>
                <mc:Fallback>
                  <p:oleObj name="公式" r:id="rId9" imgW="1485900" imgH="2413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8" y="24"/>
                          <a:ext cx="2432" cy="392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 w="19050">
                          <a:solidFill>
                            <a:srgbClr val="FF99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4" name="Object 26"/>
            <p:cNvGraphicFramePr>
              <a:graphicFrameLocks noChangeAspect="1"/>
            </p:cNvGraphicFramePr>
            <p:nvPr/>
          </p:nvGraphicFramePr>
          <p:xfrm>
            <a:off x="0" y="0"/>
            <a:ext cx="594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48" name="剪辑" r:id="rId11" imgW="3152722" imgH="2905200" progId="MS_ClipArt_Gallery.2">
                    <p:embed/>
                  </p:oleObj>
                </mc:Choice>
                <mc:Fallback>
                  <p:oleObj name="剪辑" r:id="rId11" imgW="3152722" imgH="2905200" progId="MS_ClipArt_Gallery.2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594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14" name="Group 29"/>
          <p:cNvGrpSpPr>
            <a:grpSpLocks/>
          </p:cNvGrpSpPr>
          <p:nvPr/>
        </p:nvGrpSpPr>
        <p:grpSpPr bwMode="auto">
          <a:xfrm>
            <a:off x="5003800" y="827088"/>
            <a:ext cx="3981450" cy="1181100"/>
            <a:chOff x="3134" y="-159"/>
            <a:chExt cx="2508" cy="744"/>
          </a:xfrm>
        </p:grpSpPr>
        <p:graphicFrame>
          <p:nvGraphicFramePr>
            <p:cNvPr id="43021" name="Object 25"/>
            <p:cNvGraphicFramePr>
              <a:graphicFrameLocks noChangeAspect="1"/>
            </p:cNvGraphicFramePr>
            <p:nvPr/>
          </p:nvGraphicFramePr>
          <p:xfrm>
            <a:off x="3696" y="-159"/>
            <a:ext cx="1946" cy="7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49" name="公式" r:id="rId13" imgW="1155199" imgH="444307" progId="Equation.3">
                    <p:embed/>
                  </p:oleObj>
                </mc:Choice>
                <mc:Fallback>
                  <p:oleObj name="公式" r:id="rId13" imgW="1155199" imgH="444307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-159"/>
                          <a:ext cx="1946" cy="744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 w="19050">
                          <a:solidFill>
                            <a:srgbClr val="FF99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2" name="Object 27"/>
            <p:cNvGraphicFramePr>
              <a:graphicFrameLocks noChangeAspect="1"/>
            </p:cNvGraphicFramePr>
            <p:nvPr/>
          </p:nvGraphicFramePr>
          <p:xfrm>
            <a:off x="3134" y="0"/>
            <a:ext cx="594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50" name="剪辑" r:id="rId15" imgW="3152722" imgH="2905200" progId="MS_ClipArt_Gallery.2">
                    <p:embed/>
                  </p:oleObj>
                </mc:Choice>
                <mc:Fallback>
                  <p:oleObj name="剪辑" r:id="rId15" imgW="3152722" imgH="2905200" progId="MS_ClipArt_Gallery.2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4" y="0"/>
                          <a:ext cx="594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15" name="矩形 26"/>
          <p:cNvSpPr>
            <a:spLocks noChangeArrowheads="1"/>
          </p:cNvSpPr>
          <p:nvPr/>
        </p:nvSpPr>
        <p:spPr bwMode="auto">
          <a:xfrm>
            <a:off x="161925" y="260350"/>
            <a:ext cx="2349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附：推导过程</a:t>
            </a:r>
            <a:endParaRPr lang="zh-CN" altLang="en-US" sz="2800">
              <a:solidFill>
                <a:srgbClr val="003300"/>
              </a:solidFill>
            </a:endParaRPr>
          </a:p>
        </p:txBody>
      </p:sp>
      <p:grpSp>
        <p:nvGrpSpPr>
          <p:cNvPr id="43016" name="组合 2"/>
          <p:cNvGrpSpPr>
            <a:grpSpLocks/>
          </p:cNvGrpSpPr>
          <p:nvPr/>
        </p:nvGrpSpPr>
        <p:grpSpPr bwMode="auto">
          <a:xfrm>
            <a:off x="2890838" y="5300663"/>
            <a:ext cx="3519487" cy="1409700"/>
            <a:chOff x="2890120" y="5469136"/>
            <a:chExt cx="3520301" cy="1409549"/>
          </a:xfrm>
        </p:grpSpPr>
        <p:sp>
          <p:nvSpPr>
            <p:cNvPr id="43017" name="直角三角形 1"/>
            <p:cNvSpPr>
              <a:spLocks noChangeArrowheads="1"/>
            </p:cNvSpPr>
            <p:nvPr/>
          </p:nvSpPr>
          <p:spPr bwMode="auto">
            <a:xfrm flipH="1">
              <a:off x="2890120" y="5469136"/>
              <a:ext cx="3168352" cy="1080120"/>
            </a:xfrm>
            <a:prstGeom prst="rtTriangle">
              <a:avLst/>
            </a:prstGeom>
            <a:noFill/>
            <a:ln w="25400" cap="sq" algn="ctr">
              <a:solidFill>
                <a:srgbClr val="0033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43018" name="Object 3"/>
            <p:cNvGraphicFramePr>
              <a:graphicFrameLocks noChangeAspect="1"/>
            </p:cNvGraphicFramePr>
            <p:nvPr/>
          </p:nvGraphicFramePr>
          <p:xfrm>
            <a:off x="4387850" y="5545291"/>
            <a:ext cx="265954" cy="3451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51" name="Equation" r:id="rId17" imgW="76177" imgH="85860" progId="Equation.DSMT4">
                    <p:embed/>
                  </p:oleObj>
                </mc:Choice>
                <mc:Fallback>
                  <p:oleObj name="Equation" r:id="rId17" imgW="76177" imgH="8586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7850" y="5545291"/>
                          <a:ext cx="265954" cy="3451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9" name="Object 3"/>
            <p:cNvGraphicFramePr>
              <a:graphicFrameLocks noChangeAspect="1"/>
            </p:cNvGraphicFramePr>
            <p:nvPr/>
          </p:nvGraphicFramePr>
          <p:xfrm>
            <a:off x="6078634" y="5771071"/>
            <a:ext cx="331787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52" name="Equation" r:id="rId19" imgW="114266" imgH="152280" progId="Equation.DSMT4">
                    <p:embed/>
                  </p:oleObj>
                </mc:Choice>
                <mc:Fallback>
                  <p:oleObj name="Equation" r:id="rId19" imgW="114266" imgH="15228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78634" y="5771071"/>
                          <a:ext cx="331787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0" name="Object 3"/>
            <p:cNvGraphicFramePr>
              <a:graphicFrameLocks noChangeAspect="1"/>
            </p:cNvGraphicFramePr>
            <p:nvPr/>
          </p:nvGraphicFramePr>
          <p:xfrm>
            <a:off x="4653804" y="6534197"/>
            <a:ext cx="376238" cy="344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53" name="Equation" r:id="rId21" imgW="142900" imgH="85860" progId="Equation.DSMT4">
                    <p:embed/>
                  </p:oleObj>
                </mc:Choice>
                <mc:Fallback>
                  <p:oleObj name="Equation" r:id="rId21" imgW="142900" imgH="8586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3804" y="6534197"/>
                          <a:ext cx="376238" cy="344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2"/>
          <p:cNvGraphicFramePr>
            <a:graphicFrameLocks noChangeAspect="1"/>
          </p:cNvGraphicFramePr>
          <p:nvPr/>
        </p:nvGraphicFramePr>
        <p:xfrm>
          <a:off x="1004888" y="4724400"/>
          <a:ext cx="19558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96" name="Equation" r:id="rId3" imgW="657233" imgH="152280" progId="Equation.DSMT4">
                  <p:embed/>
                </p:oleObj>
              </mc:Choice>
              <mc:Fallback>
                <p:oleObj name="Equation" r:id="rId3" imgW="657233" imgH="1522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888" y="4724400"/>
                        <a:ext cx="195580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5" name="Object 5"/>
          <p:cNvGraphicFramePr>
            <a:graphicFrameLocks noChangeAspect="1"/>
          </p:cNvGraphicFramePr>
          <p:nvPr/>
        </p:nvGraphicFramePr>
        <p:xfrm>
          <a:off x="962025" y="5554663"/>
          <a:ext cx="5529263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97" name="Equation" r:id="rId5" imgW="2466854" imgH="352350" progId="Equation.DSMT4">
                  <p:embed/>
                </p:oleObj>
              </mc:Choice>
              <mc:Fallback>
                <p:oleObj name="Equation" r:id="rId5" imgW="2466854" imgH="35235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5554663"/>
                        <a:ext cx="5529263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6" name="Text Box 6"/>
          <p:cNvSpPr txBox="1">
            <a:spLocks noChangeArrowheads="1"/>
          </p:cNvSpPr>
          <p:nvPr/>
        </p:nvSpPr>
        <p:spPr bwMode="auto">
          <a:xfrm>
            <a:off x="6453188" y="5807075"/>
            <a:ext cx="2476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3300"/>
                </a:solidFill>
                <a:ea typeface="黑体" panose="02010609060101010101" pitchFamily="49" charset="-122"/>
              </a:rPr>
              <a:t>Compton</a:t>
            </a:r>
            <a:r>
              <a:rPr lang="zh-CN" altLang="en-US" sz="2800" b="1">
                <a:solidFill>
                  <a:srgbClr val="003300"/>
                </a:solidFill>
                <a:ea typeface="黑体" panose="02010609060101010101" pitchFamily="49" charset="-122"/>
              </a:rPr>
              <a:t>波长</a:t>
            </a:r>
          </a:p>
        </p:txBody>
      </p:sp>
      <p:graphicFrame>
        <p:nvGraphicFramePr>
          <p:cNvPr id="44037" name="Object 21"/>
          <p:cNvGraphicFramePr>
            <a:graphicFrameLocks noChangeAspect="1"/>
          </p:cNvGraphicFramePr>
          <p:nvPr/>
        </p:nvGraphicFramePr>
        <p:xfrm>
          <a:off x="2919413" y="4508500"/>
          <a:ext cx="2759075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98" name="Equation" r:id="rId7" imgW="981123" imgH="352350" progId="Equation.DSMT4">
                  <p:embed/>
                </p:oleObj>
              </mc:Choice>
              <mc:Fallback>
                <p:oleObj name="Equation" r:id="rId7" imgW="981123" imgH="35235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4508500"/>
                        <a:ext cx="2759075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22"/>
          <p:cNvGraphicFramePr>
            <a:graphicFrameLocks noChangeAspect="1"/>
          </p:cNvGraphicFramePr>
          <p:nvPr/>
        </p:nvGraphicFramePr>
        <p:xfrm>
          <a:off x="5659438" y="4508500"/>
          <a:ext cx="226060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99" name="Equation" r:id="rId9" imgW="733411" imgH="352350" progId="Equation.DSMT4">
                  <p:embed/>
                </p:oleObj>
              </mc:Choice>
              <mc:Fallback>
                <p:oleObj name="Equation" r:id="rId9" imgW="733411" imgH="35235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9438" y="4508500"/>
                        <a:ext cx="2260600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039" name="Group 35"/>
          <p:cNvGrpSpPr>
            <a:grpSpLocks/>
          </p:cNvGrpSpPr>
          <p:nvPr/>
        </p:nvGrpSpPr>
        <p:grpSpPr bwMode="auto">
          <a:xfrm>
            <a:off x="179388" y="333375"/>
            <a:ext cx="8597900" cy="1616075"/>
            <a:chOff x="144" y="2457"/>
            <a:chExt cx="5416" cy="1018"/>
          </a:xfrm>
        </p:grpSpPr>
        <p:graphicFrame>
          <p:nvGraphicFramePr>
            <p:cNvPr id="44046" name="Object 7"/>
            <p:cNvGraphicFramePr>
              <a:graphicFrameLocks noChangeAspect="1"/>
            </p:cNvGraphicFramePr>
            <p:nvPr/>
          </p:nvGraphicFramePr>
          <p:xfrm>
            <a:off x="470" y="2689"/>
            <a:ext cx="4348" cy="7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00" name="Equation" r:id="rId11" imgW="2200233" imgH="380970" progId="Equation.DSMT4">
                    <p:embed/>
                  </p:oleObj>
                </mc:Choice>
                <mc:Fallback>
                  <p:oleObj name="Equation" r:id="rId11" imgW="2200233" imgH="38097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" y="2689"/>
                          <a:ext cx="4348" cy="7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7" name="Text Box 8"/>
            <p:cNvSpPr txBox="1">
              <a:spLocks noChangeArrowheads="1"/>
            </p:cNvSpPr>
            <p:nvPr/>
          </p:nvSpPr>
          <p:spPr bwMode="auto">
            <a:xfrm>
              <a:off x="144" y="2457"/>
              <a:ext cx="244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将(3)式代入(1)式得</a:t>
              </a:r>
              <a:endParaRPr lang="en-US" altLang="zh-CN" sz="2800" b="1">
                <a:solidFill>
                  <a:srgbClr val="003300"/>
                </a:solidFill>
              </a:endParaRPr>
            </a:p>
          </p:txBody>
        </p:sp>
        <p:sp>
          <p:nvSpPr>
            <p:cNvPr id="44048" name="Text Box 9"/>
            <p:cNvSpPr txBox="1">
              <a:spLocks noChangeArrowheads="1"/>
            </p:cNvSpPr>
            <p:nvPr/>
          </p:nvSpPr>
          <p:spPr bwMode="auto">
            <a:xfrm>
              <a:off x="4848" y="2875"/>
              <a:ext cx="71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（4）</a:t>
              </a:r>
            </a:p>
          </p:txBody>
        </p:sp>
      </p:grpSp>
      <p:grpSp>
        <p:nvGrpSpPr>
          <p:cNvPr id="44040" name="Group 36"/>
          <p:cNvGrpSpPr>
            <a:grpSpLocks/>
          </p:cNvGrpSpPr>
          <p:nvPr/>
        </p:nvGrpSpPr>
        <p:grpSpPr bwMode="auto">
          <a:xfrm>
            <a:off x="179388" y="1830388"/>
            <a:ext cx="8175625" cy="1574800"/>
            <a:chOff x="144" y="3388"/>
            <a:chExt cx="5150" cy="992"/>
          </a:xfrm>
        </p:grpSpPr>
        <p:graphicFrame>
          <p:nvGraphicFramePr>
            <p:cNvPr id="44044" name="Object 11"/>
            <p:cNvGraphicFramePr>
              <a:graphicFrameLocks noChangeAspect="1"/>
            </p:cNvGraphicFramePr>
            <p:nvPr/>
          </p:nvGraphicFramePr>
          <p:xfrm>
            <a:off x="640" y="3642"/>
            <a:ext cx="4654" cy="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01" name="Equation" r:id="rId13" imgW="2162144" imgH="380970" progId="Equation.DSMT4">
                    <p:embed/>
                  </p:oleObj>
                </mc:Choice>
                <mc:Fallback>
                  <p:oleObj name="Equation" r:id="rId13" imgW="2162144" imgH="38097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0" y="3642"/>
                          <a:ext cx="4654" cy="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5" name="Text Box 12"/>
            <p:cNvSpPr txBox="1">
              <a:spLocks noChangeArrowheads="1"/>
            </p:cNvSpPr>
            <p:nvPr/>
          </p:nvSpPr>
          <p:spPr bwMode="auto">
            <a:xfrm>
              <a:off x="144" y="3388"/>
              <a:ext cx="300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将(2)式平方减去(4)式得</a:t>
              </a:r>
              <a:endParaRPr lang="en-US" altLang="zh-CN" sz="2800" b="1">
                <a:solidFill>
                  <a:srgbClr val="003300"/>
                </a:solidFill>
              </a:endParaRPr>
            </a:p>
          </p:txBody>
        </p:sp>
      </p:grpSp>
      <p:graphicFrame>
        <p:nvGraphicFramePr>
          <p:cNvPr id="44041" name="Object 24"/>
          <p:cNvGraphicFramePr>
            <a:graphicFrameLocks noChangeAspect="1"/>
          </p:cNvGraphicFramePr>
          <p:nvPr/>
        </p:nvGraphicFramePr>
        <p:xfrm>
          <a:off x="973138" y="3354388"/>
          <a:ext cx="6376987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2" name="Equation" r:id="rId15" imgW="2124055" imgH="380970" progId="Equation.DSMT4">
                  <p:embed/>
                </p:oleObj>
              </mc:Choice>
              <mc:Fallback>
                <p:oleObj name="Equation" r:id="rId15" imgW="2124055" imgH="38097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138" y="3354388"/>
                        <a:ext cx="6376987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2" name="Text Box 12"/>
          <p:cNvSpPr txBox="1">
            <a:spLocks noChangeArrowheads="1"/>
          </p:cNvSpPr>
          <p:nvPr/>
        </p:nvSpPr>
        <p:spPr bwMode="auto">
          <a:xfrm>
            <a:off x="522288" y="3678238"/>
            <a:ext cx="6191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即</a:t>
            </a:r>
            <a:endParaRPr lang="en-US" altLang="zh-CN" sz="2800" b="1">
              <a:solidFill>
                <a:srgbClr val="003300"/>
              </a:solidFill>
            </a:endParaRPr>
          </a:p>
        </p:txBody>
      </p:sp>
      <p:sp>
        <p:nvSpPr>
          <p:cNvPr id="44043" name="Text Box 12"/>
          <p:cNvSpPr txBox="1">
            <a:spLocks noChangeArrowheads="1"/>
          </p:cNvSpPr>
          <p:nvPr/>
        </p:nvSpPr>
        <p:spPr bwMode="auto">
          <a:xfrm>
            <a:off x="280988" y="4776788"/>
            <a:ext cx="93662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可得</a:t>
            </a:r>
            <a:endParaRPr lang="en-US" altLang="zh-CN" sz="2800" b="1">
              <a:solidFill>
                <a:srgbClr val="0033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2"/>
          <p:cNvSpPr txBox="1">
            <a:spLocks noChangeArrowheads="1"/>
          </p:cNvSpPr>
          <p:nvPr/>
        </p:nvSpPr>
        <p:spPr bwMode="auto">
          <a:xfrm>
            <a:off x="1069975" y="4186238"/>
            <a:ext cx="985838" cy="461962"/>
          </a:xfrm>
          <a:prstGeom prst="rect">
            <a:avLst/>
          </a:prstGeom>
          <a:solidFill>
            <a:srgbClr val="FF99FF"/>
          </a:solidFill>
          <a:ln w="9525">
            <a:solidFill>
              <a:srgbClr val="FF66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光子</a:t>
            </a:r>
          </a:p>
        </p:txBody>
      </p:sp>
      <p:sp>
        <p:nvSpPr>
          <p:cNvPr id="165891" name="Text Box 3"/>
          <p:cNvSpPr txBox="1">
            <a:spLocks noChangeArrowheads="1"/>
          </p:cNvSpPr>
          <p:nvPr/>
        </p:nvSpPr>
        <p:spPr bwMode="auto">
          <a:xfrm>
            <a:off x="3457575" y="4125913"/>
            <a:ext cx="985838" cy="461962"/>
          </a:xfrm>
          <a:prstGeom prst="rect">
            <a:avLst/>
          </a:prstGeom>
          <a:solidFill>
            <a:srgbClr val="00FF00"/>
          </a:soli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电子</a:t>
            </a:r>
          </a:p>
        </p:txBody>
      </p:sp>
      <p:sp>
        <p:nvSpPr>
          <p:cNvPr id="165892" name="AutoShape 4"/>
          <p:cNvSpPr>
            <a:spLocks noChangeArrowheads="1"/>
          </p:cNvSpPr>
          <p:nvPr/>
        </p:nvSpPr>
        <p:spPr bwMode="auto">
          <a:xfrm>
            <a:off x="2090738" y="4052888"/>
            <a:ext cx="1255712" cy="733425"/>
          </a:xfrm>
          <a:prstGeom prst="leftRightArrow">
            <a:avLst>
              <a:gd name="adj1" fmla="val 50000"/>
              <a:gd name="adj2" fmla="val 93089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3300"/>
              </a:solidFill>
            </a:endParaRPr>
          </a:p>
        </p:txBody>
      </p:sp>
      <p:grpSp>
        <p:nvGrpSpPr>
          <p:cNvPr id="165913" name="Group 25"/>
          <p:cNvGrpSpPr>
            <a:grpSpLocks/>
          </p:cNvGrpSpPr>
          <p:nvPr/>
        </p:nvGrpSpPr>
        <p:grpSpPr bwMode="auto">
          <a:xfrm>
            <a:off x="1141413" y="3246438"/>
            <a:ext cx="914400" cy="922337"/>
            <a:chOff x="578" y="1246"/>
            <a:chExt cx="576" cy="581"/>
          </a:xfrm>
        </p:grpSpPr>
        <p:sp>
          <p:nvSpPr>
            <p:cNvPr id="45078" name="Oval 6"/>
            <p:cNvSpPr>
              <a:spLocks noChangeArrowheads="1"/>
            </p:cNvSpPr>
            <p:nvPr/>
          </p:nvSpPr>
          <p:spPr bwMode="auto">
            <a:xfrm>
              <a:off x="578" y="1500"/>
              <a:ext cx="164" cy="327"/>
            </a:xfrm>
            <a:prstGeom prst="ellipse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45079" name="Line 7"/>
            <p:cNvSpPr>
              <a:spLocks noChangeShapeType="1"/>
            </p:cNvSpPr>
            <p:nvPr/>
          </p:nvSpPr>
          <p:spPr bwMode="auto">
            <a:xfrm>
              <a:off x="747" y="1661"/>
              <a:ext cx="407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5080" name="Object 8"/>
            <p:cNvGraphicFramePr>
              <a:graphicFrameLocks noChangeAspect="1"/>
            </p:cNvGraphicFramePr>
            <p:nvPr/>
          </p:nvGraphicFramePr>
          <p:xfrm>
            <a:off x="707" y="1246"/>
            <a:ext cx="414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65" name="Equation" r:id="rId3" imgW="241300" imgH="228600" progId="Equation.DSMT4">
                    <p:embed/>
                  </p:oleObj>
                </mc:Choice>
                <mc:Fallback>
                  <p:oleObj name="Equation" r:id="rId3" imgW="241300" imgH="2286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7" y="1246"/>
                          <a:ext cx="414" cy="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5915" name="Group 27"/>
          <p:cNvGrpSpPr>
            <a:grpSpLocks/>
          </p:cNvGrpSpPr>
          <p:nvPr/>
        </p:nvGrpSpPr>
        <p:grpSpPr bwMode="auto">
          <a:xfrm>
            <a:off x="3844925" y="3952875"/>
            <a:ext cx="2449513" cy="1066800"/>
            <a:chOff x="3258" y="2926"/>
            <a:chExt cx="1543" cy="672"/>
          </a:xfrm>
        </p:grpSpPr>
        <p:sp>
          <p:nvSpPr>
            <p:cNvPr id="45074" name="Oval 10"/>
            <p:cNvSpPr>
              <a:spLocks noChangeArrowheads="1"/>
            </p:cNvSpPr>
            <p:nvPr/>
          </p:nvSpPr>
          <p:spPr bwMode="auto">
            <a:xfrm>
              <a:off x="3873" y="3056"/>
              <a:ext cx="164" cy="327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graphicFrame>
          <p:nvGraphicFramePr>
            <p:cNvPr id="45075" name="Object 11"/>
            <p:cNvGraphicFramePr>
              <a:graphicFrameLocks noChangeAspect="1"/>
            </p:cNvGraphicFramePr>
            <p:nvPr/>
          </p:nvGraphicFramePr>
          <p:xfrm>
            <a:off x="3620" y="3305"/>
            <a:ext cx="506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66" name="Equation" r:id="rId5" imgW="241195" imgH="139639" progId="Equation.DSMT4">
                    <p:embed/>
                  </p:oleObj>
                </mc:Choice>
                <mc:Fallback>
                  <p:oleObj name="Equation" r:id="rId5" imgW="241195" imgH="139639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0" y="3305"/>
                          <a:ext cx="506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6" name="Line 12"/>
            <p:cNvSpPr>
              <a:spLocks noChangeShapeType="1"/>
            </p:cNvSpPr>
            <p:nvPr/>
          </p:nvSpPr>
          <p:spPr bwMode="auto">
            <a:xfrm>
              <a:off x="3258" y="2926"/>
              <a:ext cx="785" cy="316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5077" name="Line 13"/>
            <p:cNvSpPr>
              <a:spLocks noChangeShapeType="1"/>
            </p:cNvSpPr>
            <p:nvPr/>
          </p:nvSpPr>
          <p:spPr bwMode="auto">
            <a:xfrm>
              <a:off x="4016" y="3242"/>
              <a:ext cx="785" cy="316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165916" name="Group 28"/>
          <p:cNvGrpSpPr>
            <a:grpSpLocks/>
          </p:cNvGrpSpPr>
          <p:nvPr/>
        </p:nvGrpSpPr>
        <p:grpSpPr bwMode="auto">
          <a:xfrm>
            <a:off x="3763963" y="1217613"/>
            <a:ext cx="2654300" cy="2670175"/>
            <a:chOff x="1317" y="0"/>
            <a:chExt cx="1672" cy="1682"/>
          </a:xfrm>
        </p:grpSpPr>
        <p:sp>
          <p:nvSpPr>
            <p:cNvPr id="45070" name="Oval 15"/>
            <p:cNvSpPr>
              <a:spLocks noChangeArrowheads="1"/>
            </p:cNvSpPr>
            <p:nvPr/>
          </p:nvSpPr>
          <p:spPr bwMode="auto">
            <a:xfrm>
              <a:off x="2044" y="688"/>
              <a:ext cx="164" cy="32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graphicFrame>
          <p:nvGraphicFramePr>
            <p:cNvPr id="45071" name="Object 16"/>
            <p:cNvGraphicFramePr>
              <a:graphicFrameLocks noChangeAspect="1"/>
            </p:cNvGraphicFramePr>
            <p:nvPr/>
          </p:nvGraphicFramePr>
          <p:xfrm>
            <a:off x="1692" y="511"/>
            <a:ext cx="391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67" name="Equation" r:id="rId7" imgW="202936" imgH="177569" progId="Equation.DSMT4">
                    <p:embed/>
                  </p:oleObj>
                </mc:Choice>
                <mc:Fallback>
                  <p:oleObj name="Equation" r:id="rId7" imgW="202936" imgH="177569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2" y="511"/>
                          <a:ext cx="391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2" name="Line 17"/>
            <p:cNvSpPr>
              <a:spLocks noChangeShapeType="1"/>
            </p:cNvSpPr>
            <p:nvPr/>
          </p:nvSpPr>
          <p:spPr bwMode="auto">
            <a:xfrm flipV="1">
              <a:off x="1317" y="841"/>
              <a:ext cx="836" cy="84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5073" name="Line 18"/>
            <p:cNvSpPr>
              <a:spLocks noChangeShapeType="1"/>
            </p:cNvSpPr>
            <p:nvPr/>
          </p:nvSpPr>
          <p:spPr bwMode="auto">
            <a:xfrm flipV="1">
              <a:off x="2153" y="0"/>
              <a:ext cx="836" cy="84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165914" name="Group 26"/>
          <p:cNvGrpSpPr>
            <a:grpSpLocks/>
          </p:cNvGrpSpPr>
          <p:nvPr/>
        </p:nvGrpSpPr>
        <p:grpSpPr bwMode="auto">
          <a:xfrm>
            <a:off x="3419475" y="3146425"/>
            <a:ext cx="557213" cy="1022350"/>
            <a:chOff x="993" y="1187"/>
            <a:chExt cx="351" cy="644"/>
          </a:xfrm>
        </p:grpSpPr>
        <p:sp>
          <p:nvSpPr>
            <p:cNvPr id="45068" name="Oval 20"/>
            <p:cNvSpPr>
              <a:spLocks noChangeArrowheads="1"/>
            </p:cNvSpPr>
            <p:nvPr/>
          </p:nvSpPr>
          <p:spPr bwMode="auto">
            <a:xfrm>
              <a:off x="1125" y="1504"/>
              <a:ext cx="164" cy="327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graphicFrame>
          <p:nvGraphicFramePr>
            <p:cNvPr id="45069" name="Object 21"/>
            <p:cNvGraphicFramePr>
              <a:graphicFrameLocks noChangeAspect="1"/>
            </p:cNvGraphicFramePr>
            <p:nvPr/>
          </p:nvGraphicFramePr>
          <p:xfrm>
            <a:off x="993" y="1187"/>
            <a:ext cx="351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68" name="Equation" r:id="rId9" imgW="203112" imgH="228501" progId="Equation.DSMT4">
                    <p:embed/>
                  </p:oleObj>
                </mc:Choice>
                <mc:Fallback>
                  <p:oleObj name="Equation" r:id="rId9" imgW="203112" imgH="228501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3" y="1187"/>
                          <a:ext cx="351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5910" name="Rectangle 22"/>
          <p:cNvSpPr>
            <a:spLocks noChangeArrowheads="1"/>
          </p:cNvSpPr>
          <p:nvPr/>
        </p:nvSpPr>
        <p:spPr bwMode="auto">
          <a:xfrm>
            <a:off x="5219700" y="3554413"/>
            <a:ext cx="285432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康普顿效应？</a:t>
            </a:r>
          </a:p>
        </p:txBody>
      </p:sp>
      <p:sp>
        <p:nvSpPr>
          <p:cNvPr id="165911" name="Rectangle 23"/>
          <p:cNvSpPr>
            <a:spLocks noChangeArrowheads="1"/>
          </p:cNvSpPr>
          <p:nvPr/>
        </p:nvSpPr>
        <p:spPr bwMode="auto">
          <a:xfrm>
            <a:off x="5040313" y="2900363"/>
            <a:ext cx="285432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光电效应？</a:t>
            </a:r>
            <a:endParaRPr lang="zh-CN" altLang="en-US" sz="4000" b="1">
              <a:solidFill>
                <a:srgbClr val="003300"/>
              </a:solidFill>
            </a:endParaRPr>
          </a:p>
        </p:txBody>
      </p:sp>
      <p:sp>
        <p:nvSpPr>
          <p:cNvPr id="45067" name="Text Box 88"/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19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ransition advTm="4075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5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5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5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5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5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0" grpId="0" animBg="1" autoUpdateAnimBg="0"/>
      <p:bldP spid="165891" grpId="0" animBg="1" autoUpdateAnimBg="0"/>
      <p:bldP spid="165892" grpId="0" animBg="1"/>
      <p:bldP spid="165910" grpId="0" autoUpdateAnimBg="0"/>
      <p:bldP spid="165911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3"/>
          <p:cNvSpPr txBox="1">
            <a:spLocks noChangeArrowheads="1"/>
          </p:cNvSpPr>
          <p:nvPr/>
        </p:nvSpPr>
        <p:spPr bwMode="auto">
          <a:xfrm>
            <a:off x="1728788" y="298450"/>
            <a:ext cx="6170612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600" b="1">
                <a:solidFill>
                  <a:srgbClr val="003300"/>
                </a:solidFill>
              </a:rPr>
              <a:t>康普顿效应与光电效应的异同</a:t>
            </a:r>
          </a:p>
        </p:txBody>
      </p:sp>
      <p:sp>
        <p:nvSpPr>
          <p:cNvPr id="166917" name="Text Box 5"/>
          <p:cNvSpPr txBox="1">
            <a:spLocks noChangeArrowheads="1"/>
          </p:cNvSpPr>
          <p:nvPr/>
        </p:nvSpPr>
        <p:spPr bwMode="auto">
          <a:xfrm>
            <a:off x="395288" y="1239838"/>
            <a:ext cx="83534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 dirty="0">
                <a:solidFill>
                  <a:srgbClr val="003300"/>
                </a:solidFill>
              </a:rPr>
              <a:t>     康普顿效应与光电效应都涉及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光子与电子的相互作用</a:t>
            </a:r>
            <a:r>
              <a:rPr lang="zh-CN" altLang="en-US" sz="2400" b="1" dirty="0">
                <a:solidFill>
                  <a:srgbClr val="003300"/>
                </a:solidFill>
              </a:rPr>
              <a:t>。</a:t>
            </a:r>
          </a:p>
        </p:txBody>
      </p:sp>
      <p:sp>
        <p:nvSpPr>
          <p:cNvPr id="166918" name="Text Box 6"/>
          <p:cNvSpPr txBox="1">
            <a:spLocks noChangeArrowheads="1"/>
          </p:cNvSpPr>
          <p:nvPr/>
        </p:nvSpPr>
        <p:spPr bwMode="auto">
          <a:xfrm>
            <a:off x="457200" y="1984375"/>
            <a:ext cx="8156575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 dirty="0">
                <a:solidFill>
                  <a:srgbClr val="003300"/>
                </a:solidFill>
              </a:rPr>
              <a:t>     在光电效应中，入射光为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可见光或紫外线</a:t>
            </a:r>
            <a:r>
              <a:rPr lang="zh-CN" altLang="en-US" sz="2400" b="1" dirty="0">
                <a:solidFill>
                  <a:srgbClr val="003300"/>
                </a:solidFill>
              </a:rPr>
              <a:t>，其光子能量为</a:t>
            </a:r>
            <a:r>
              <a:rPr lang="en-US" altLang="zh-CN" sz="2400" b="1" dirty="0">
                <a:solidFill>
                  <a:srgbClr val="003300"/>
                </a:solidFill>
              </a:rPr>
              <a:t>eV</a:t>
            </a:r>
            <a:r>
              <a:rPr lang="zh-CN" altLang="en-US" sz="2400" b="1" dirty="0">
                <a:solidFill>
                  <a:srgbClr val="003300"/>
                </a:solidFill>
              </a:rPr>
              <a:t>数量级</a:t>
            </a:r>
            <a:r>
              <a:rPr lang="en-US" altLang="zh-CN" sz="2400" b="1" dirty="0">
                <a:solidFill>
                  <a:srgbClr val="003300"/>
                </a:solidFill>
              </a:rPr>
              <a:t>, </a:t>
            </a:r>
            <a:r>
              <a:rPr lang="zh-CN" altLang="en-US" sz="2400" b="1" dirty="0">
                <a:solidFill>
                  <a:srgbClr val="003300"/>
                </a:solidFill>
              </a:rPr>
              <a:t>与原子中电子的束缚能相差不远，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光子能量全部交给电子使之逸出</a:t>
            </a:r>
            <a:r>
              <a:rPr lang="zh-CN" altLang="en-US" sz="2400" b="1" dirty="0">
                <a:solidFill>
                  <a:srgbClr val="003300"/>
                </a:solidFill>
              </a:rPr>
              <a:t>，并具有初动能。光电效应证实了此过程服从能量守恒定律。</a:t>
            </a:r>
          </a:p>
        </p:txBody>
      </p:sp>
      <p:sp>
        <p:nvSpPr>
          <p:cNvPr id="47109" name="Text Box 8"/>
          <p:cNvSpPr txBox="1">
            <a:spLocks noChangeArrowheads="1"/>
          </p:cNvSpPr>
          <p:nvPr/>
        </p:nvSpPr>
        <p:spPr bwMode="auto">
          <a:xfrm>
            <a:off x="519113" y="3754438"/>
            <a:ext cx="8253412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 dirty="0">
                <a:solidFill>
                  <a:srgbClr val="003300"/>
                </a:solidFill>
              </a:rPr>
              <a:t>    在康普顿效应中，入射光为</a:t>
            </a:r>
            <a:r>
              <a:rPr lang="en-US" altLang="zh-CN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X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射线或 </a:t>
            </a:r>
            <a:r>
              <a:rPr lang="en-US" altLang="zh-CN" sz="2400" b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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射线</a:t>
            </a:r>
            <a:r>
              <a:rPr lang="zh-CN" altLang="en-US" sz="2400" b="1" dirty="0">
                <a:solidFill>
                  <a:srgbClr val="003300"/>
                </a:solidFill>
              </a:rPr>
              <a:t>，光子能量为</a:t>
            </a:r>
            <a:r>
              <a:rPr lang="en-US" altLang="zh-CN" sz="2400" b="1" dirty="0">
                <a:solidFill>
                  <a:srgbClr val="003300"/>
                </a:solidFill>
              </a:rPr>
              <a:t>10  eV</a:t>
            </a:r>
            <a:r>
              <a:rPr lang="zh-CN" altLang="en-US" sz="2400" b="1" dirty="0">
                <a:solidFill>
                  <a:srgbClr val="003300"/>
                </a:solidFill>
              </a:rPr>
              <a:t>数量级甚至更高</a:t>
            </a:r>
            <a:r>
              <a:rPr lang="en-US" altLang="zh-CN" sz="2400" b="1" dirty="0">
                <a:solidFill>
                  <a:srgbClr val="003300"/>
                </a:solidFill>
              </a:rPr>
              <a:t>, </a:t>
            </a:r>
            <a:r>
              <a:rPr lang="zh-CN" altLang="en-US" sz="2400" b="1" dirty="0">
                <a:solidFill>
                  <a:srgbClr val="003300"/>
                </a:solidFill>
              </a:rPr>
              <a:t>远大于散射物质中电子的束缚能</a:t>
            </a:r>
            <a:r>
              <a:rPr lang="en-US" altLang="zh-CN" sz="2400" b="1" dirty="0">
                <a:solidFill>
                  <a:srgbClr val="003300"/>
                </a:solidFill>
              </a:rPr>
              <a:t>, </a:t>
            </a:r>
            <a:r>
              <a:rPr lang="zh-CN" altLang="en-US" sz="2400" b="1" dirty="0">
                <a:solidFill>
                  <a:srgbClr val="003300"/>
                </a:solidFill>
              </a:rPr>
              <a:t>原子中的外层的电子可视为自由电子，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光子能量只被自由电子吸收了一部分并发生散射</a:t>
            </a:r>
            <a:r>
              <a:rPr lang="zh-CN" altLang="en-US" sz="2400" b="1" dirty="0">
                <a:solidFill>
                  <a:srgbClr val="003300"/>
                </a:solidFill>
              </a:rPr>
              <a:t>。康普顿效应证实了此过程可视为弹性碰撞过程，能量、动量均守恒，更有力地证实了光的粒子性。</a:t>
            </a:r>
          </a:p>
        </p:txBody>
      </p:sp>
      <p:sp>
        <p:nvSpPr>
          <p:cNvPr id="46086" name="Text Box 88"/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20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7" grpId="0" autoUpdateAnimBg="0"/>
      <p:bldP spid="166918" grpId="0" autoUpdateAnimBg="0"/>
      <p:bldP spid="4710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9"/>
          <p:cNvSpPr txBox="1">
            <a:spLocks noChangeArrowheads="1"/>
          </p:cNvSpPr>
          <p:nvPr/>
        </p:nvSpPr>
        <p:spPr bwMode="auto">
          <a:xfrm>
            <a:off x="465138" y="188913"/>
            <a:ext cx="8428037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 b="1" dirty="0">
                <a:solidFill>
                  <a:srgbClr val="003300"/>
                </a:solidFill>
              </a:rPr>
              <a:t>用波长为 </a:t>
            </a: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200  nm </a:t>
            </a:r>
            <a:r>
              <a:rPr lang="zh-CN" altLang="en-US" sz="2800" b="1" dirty="0">
                <a:solidFill>
                  <a:srgbClr val="003300"/>
                </a:solidFill>
              </a:rPr>
              <a:t>的光照射铝（</a:t>
            </a:r>
            <a:r>
              <a:rPr lang="en-US" altLang="zh-CN" sz="2800" b="1" dirty="0">
                <a:solidFill>
                  <a:srgbClr val="003300"/>
                </a:solidFill>
              </a:rPr>
              <a:t>Al </a:t>
            </a:r>
            <a:r>
              <a:rPr lang="zh-CN" altLang="en-US" sz="2800" b="1" dirty="0">
                <a:solidFill>
                  <a:srgbClr val="003300"/>
                </a:solidFill>
              </a:rPr>
              <a:t>的 截止频率为 </a:t>
            </a: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9.03×10</a:t>
            </a:r>
            <a:r>
              <a:rPr lang="en-US" altLang="zh-CN" sz="2800" b="1" baseline="30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14</a:t>
            </a: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Hz</a:t>
            </a:r>
            <a:r>
              <a:rPr lang="zh-CN" altLang="en-US" sz="2800" b="1" dirty="0">
                <a:solidFill>
                  <a:srgbClr val="003300"/>
                </a:solidFill>
              </a:rPr>
              <a:t>），能否产生光电效应？能否观察到康普顿效应（假定所用的仪器不能分辨出小于入射波长的千分之一的波长偏移）？</a:t>
            </a:r>
          </a:p>
        </p:txBody>
      </p:sp>
      <p:sp>
        <p:nvSpPr>
          <p:cNvPr id="47107" name="Text Box 92"/>
          <p:cNvSpPr txBox="1">
            <a:spLocks noChangeArrowheads="1"/>
          </p:cNvSpPr>
          <p:nvPr/>
        </p:nvSpPr>
        <p:spPr bwMode="auto">
          <a:xfrm>
            <a:off x="5618163" y="6092825"/>
            <a:ext cx="37782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观察不到康普顿效应</a:t>
            </a:r>
          </a:p>
        </p:txBody>
      </p:sp>
      <p:sp>
        <p:nvSpPr>
          <p:cNvPr id="47108" name="Text Box 117"/>
          <p:cNvSpPr txBox="1">
            <a:spLocks noChangeArrowheads="1"/>
          </p:cNvSpPr>
          <p:nvPr/>
        </p:nvSpPr>
        <p:spPr bwMode="auto">
          <a:xfrm>
            <a:off x="5884863" y="2840038"/>
            <a:ext cx="27908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可产生光电效应</a:t>
            </a:r>
          </a:p>
        </p:txBody>
      </p:sp>
      <p:grpSp>
        <p:nvGrpSpPr>
          <p:cNvPr id="47109" name="组合 119"/>
          <p:cNvGrpSpPr>
            <a:grpSpLocks/>
          </p:cNvGrpSpPr>
          <p:nvPr/>
        </p:nvGrpSpPr>
        <p:grpSpPr bwMode="auto">
          <a:xfrm>
            <a:off x="1025525" y="1919288"/>
            <a:ext cx="6397625" cy="1403350"/>
            <a:chOff x="1483145" y="1920002"/>
            <a:chExt cx="6397734" cy="1401602"/>
          </a:xfrm>
        </p:grpSpPr>
        <p:sp>
          <p:nvSpPr>
            <p:cNvPr id="47115" name="Text Box 94"/>
            <p:cNvSpPr txBox="1">
              <a:spLocks noChangeArrowheads="1"/>
            </p:cNvSpPr>
            <p:nvPr/>
          </p:nvSpPr>
          <p:spPr bwMode="auto">
            <a:xfrm>
              <a:off x="4400972" y="1953146"/>
              <a:ext cx="5175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400" b="1">
                  <a:solidFill>
                    <a:srgbClr val="003300"/>
                  </a:solidFill>
                </a:rPr>
                <a:t>8</a:t>
              </a:r>
            </a:p>
          </p:txBody>
        </p:sp>
        <p:sp>
          <p:nvSpPr>
            <p:cNvPr id="47116" name="WordArt 95"/>
            <p:cNvSpPr>
              <a:spLocks noChangeArrowheads="1" noChangeShapeType="1" noTextEdit="1"/>
            </p:cNvSpPr>
            <p:nvPr/>
          </p:nvSpPr>
          <p:spPr bwMode="auto">
            <a:xfrm>
              <a:off x="2278485" y="2188096"/>
              <a:ext cx="212725" cy="25241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7407"/>
                </a:avLst>
              </a:prstTxWarp>
            </a:bodyPr>
            <a:lstStyle/>
            <a:p>
              <a:pPr algn="ctr"/>
              <a:r>
                <a:rPr lang="en-US" sz="2400" b="1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003300"/>
                  </a:solidFill>
                  <a:cs typeface="Arial" panose="020B0604020202020204" pitchFamily="34" charset="0"/>
                </a:rPr>
                <a:t>c</a:t>
              </a:r>
            </a:p>
          </p:txBody>
        </p:sp>
        <p:grpSp>
          <p:nvGrpSpPr>
            <p:cNvPr id="47117" name="Group 96"/>
            <p:cNvGrpSpPr>
              <a:grpSpLocks/>
            </p:cNvGrpSpPr>
            <p:nvPr/>
          </p:nvGrpSpPr>
          <p:grpSpPr bwMode="auto">
            <a:xfrm>
              <a:off x="1903835" y="2250008"/>
              <a:ext cx="279400" cy="87313"/>
              <a:chOff x="1949" y="2020"/>
              <a:chExt cx="341" cy="111"/>
            </a:xfrm>
          </p:grpSpPr>
          <p:sp>
            <p:nvSpPr>
              <p:cNvPr id="47136" name="Line 97"/>
              <p:cNvSpPr>
                <a:spLocks noChangeShapeType="1"/>
              </p:cNvSpPr>
              <p:nvPr/>
            </p:nvSpPr>
            <p:spPr bwMode="auto">
              <a:xfrm>
                <a:off x="1949" y="2020"/>
                <a:ext cx="331" cy="0"/>
              </a:xfrm>
              <a:prstGeom prst="line">
                <a:avLst/>
              </a:prstGeom>
              <a:noFill/>
              <a:ln w="38100">
                <a:solidFill>
                  <a:srgbClr val="00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7" name="Line 98"/>
              <p:cNvSpPr>
                <a:spLocks noChangeShapeType="1"/>
              </p:cNvSpPr>
              <p:nvPr/>
            </p:nvSpPr>
            <p:spPr bwMode="auto">
              <a:xfrm>
                <a:off x="1959" y="2131"/>
                <a:ext cx="331" cy="0"/>
              </a:xfrm>
              <a:prstGeom prst="line">
                <a:avLst/>
              </a:prstGeom>
              <a:noFill/>
              <a:ln w="38100">
                <a:solidFill>
                  <a:srgbClr val="00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118" name="WordArt 99"/>
            <p:cNvSpPr>
              <a:spLocks noChangeArrowheads="1" noChangeShapeType="1" noTextEdit="1"/>
            </p:cNvSpPr>
            <p:nvPr/>
          </p:nvSpPr>
          <p:spPr bwMode="auto">
            <a:xfrm>
              <a:off x="2707110" y="2176983"/>
              <a:ext cx="333375" cy="2921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61222"/>
                </a:avLst>
              </a:prstTxWarp>
            </a:bodyPr>
            <a:lstStyle/>
            <a:p>
              <a:pPr algn="ctr"/>
              <a:r>
                <a:rPr lang="en-US" sz="2400" b="1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003300"/>
                  </a:solidFill>
                  <a:latin typeface="Symbol" panose="05050102010706020507" pitchFamily="18" charset="2"/>
                </a:rPr>
                <a:t>l</a:t>
              </a:r>
            </a:p>
          </p:txBody>
        </p:sp>
        <p:sp>
          <p:nvSpPr>
            <p:cNvPr id="47119" name="WordArt 100"/>
            <p:cNvSpPr>
              <a:spLocks noChangeArrowheads="1" noChangeShapeType="1" noTextEdit="1"/>
            </p:cNvSpPr>
            <p:nvPr/>
          </p:nvSpPr>
          <p:spPr bwMode="auto">
            <a:xfrm>
              <a:off x="1619672" y="2180158"/>
              <a:ext cx="241300" cy="2825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2400" b="1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3300"/>
                  </a:solidFill>
                  <a:latin typeface="Symbol" panose="05050102010706020507" pitchFamily="18" charset="2"/>
                </a:rPr>
                <a:t>n</a:t>
              </a:r>
            </a:p>
          </p:txBody>
        </p:sp>
        <p:sp>
          <p:nvSpPr>
            <p:cNvPr id="47120" name="Line 101"/>
            <p:cNvSpPr>
              <a:spLocks noChangeShapeType="1"/>
            </p:cNvSpPr>
            <p:nvPr/>
          </p:nvSpPr>
          <p:spPr bwMode="auto">
            <a:xfrm flipV="1">
              <a:off x="2519785" y="2096021"/>
              <a:ext cx="241300" cy="396875"/>
            </a:xfrm>
            <a:prstGeom prst="line">
              <a:avLst/>
            </a:prstGeom>
            <a:noFill/>
            <a:ln w="38100">
              <a:solidFill>
                <a:srgbClr val="00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7121" name="Group 102"/>
            <p:cNvGrpSpPr>
              <a:grpSpLocks/>
            </p:cNvGrpSpPr>
            <p:nvPr/>
          </p:nvGrpSpPr>
          <p:grpSpPr bwMode="auto">
            <a:xfrm>
              <a:off x="3151610" y="2259533"/>
              <a:ext cx="279400" cy="87313"/>
              <a:chOff x="1949" y="2020"/>
              <a:chExt cx="341" cy="111"/>
            </a:xfrm>
          </p:grpSpPr>
          <p:sp>
            <p:nvSpPr>
              <p:cNvPr id="47134" name="Line 103"/>
              <p:cNvSpPr>
                <a:spLocks noChangeShapeType="1"/>
              </p:cNvSpPr>
              <p:nvPr/>
            </p:nvSpPr>
            <p:spPr bwMode="auto">
              <a:xfrm>
                <a:off x="1949" y="2020"/>
                <a:ext cx="331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5" name="Line 104"/>
              <p:cNvSpPr>
                <a:spLocks noChangeShapeType="1"/>
              </p:cNvSpPr>
              <p:nvPr/>
            </p:nvSpPr>
            <p:spPr bwMode="auto">
              <a:xfrm>
                <a:off x="1959" y="2131"/>
                <a:ext cx="33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122" name="Line 105"/>
            <p:cNvSpPr>
              <a:spLocks noChangeShapeType="1"/>
            </p:cNvSpPr>
            <p:nvPr/>
          </p:nvSpPr>
          <p:spPr bwMode="auto">
            <a:xfrm flipH="1">
              <a:off x="4730801" y="2096021"/>
              <a:ext cx="239713" cy="373063"/>
            </a:xfrm>
            <a:prstGeom prst="line">
              <a:avLst/>
            </a:prstGeom>
            <a:noFill/>
            <a:ln w="38100">
              <a:solidFill>
                <a:srgbClr val="00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3" name="Text Box 106"/>
            <p:cNvSpPr txBox="1">
              <a:spLocks noChangeArrowheads="1"/>
            </p:cNvSpPr>
            <p:nvPr/>
          </p:nvSpPr>
          <p:spPr bwMode="auto">
            <a:xfrm>
              <a:off x="3549131" y="2021408"/>
              <a:ext cx="134937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400" b="1">
                  <a:solidFill>
                    <a:srgbClr val="003300"/>
                  </a:solidFill>
                </a:rPr>
                <a:t>3×10</a:t>
              </a:r>
            </a:p>
          </p:txBody>
        </p:sp>
        <p:grpSp>
          <p:nvGrpSpPr>
            <p:cNvPr id="47124" name="Group 107"/>
            <p:cNvGrpSpPr>
              <a:grpSpLocks/>
            </p:cNvGrpSpPr>
            <p:nvPr/>
          </p:nvGrpSpPr>
          <p:grpSpPr bwMode="auto">
            <a:xfrm>
              <a:off x="4802716" y="1920002"/>
              <a:ext cx="3078163" cy="608013"/>
              <a:chOff x="3484" y="1470"/>
              <a:chExt cx="1939" cy="383"/>
            </a:xfrm>
          </p:grpSpPr>
          <p:sp>
            <p:nvSpPr>
              <p:cNvPr id="47132" name="Text Box 108"/>
              <p:cNvSpPr txBox="1">
                <a:spLocks noChangeArrowheads="1"/>
              </p:cNvSpPr>
              <p:nvPr/>
            </p:nvSpPr>
            <p:spPr bwMode="auto">
              <a:xfrm>
                <a:off x="3484" y="1562"/>
                <a:ext cx="193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2400" b="1">
                    <a:solidFill>
                      <a:srgbClr val="003300"/>
                    </a:solidFill>
                  </a:rPr>
                  <a:t>（ </a:t>
                </a:r>
                <a:r>
                  <a:rPr lang="en-US" altLang="zh-CN" sz="2400" b="1">
                    <a:solidFill>
                      <a:srgbClr val="003300"/>
                    </a:solidFill>
                  </a:rPr>
                  <a:t>200×10    </a:t>
                </a:r>
                <a:r>
                  <a:rPr lang="zh-CN" altLang="en-US" sz="2400" b="1">
                    <a:solidFill>
                      <a:srgbClr val="003300"/>
                    </a:solidFill>
                  </a:rPr>
                  <a:t>）</a:t>
                </a:r>
              </a:p>
            </p:txBody>
          </p:sp>
          <p:sp>
            <p:nvSpPr>
              <p:cNvPr id="47133" name="Text Box 109"/>
              <p:cNvSpPr txBox="1">
                <a:spLocks noChangeArrowheads="1"/>
              </p:cNvSpPr>
              <p:nvPr/>
            </p:nvSpPr>
            <p:spPr bwMode="auto">
              <a:xfrm>
                <a:off x="4455" y="1470"/>
                <a:ext cx="45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1">
                    <a:solidFill>
                      <a:srgbClr val="003300"/>
                    </a:solidFill>
                    <a:sym typeface="Symbol" panose="05050102010706020507" pitchFamily="18" charset="2"/>
                  </a:rPr>
                  <a:t></a:t>
                </a:r>
                <a:r>
                  <a:rPr lang="en-US" altLang="zh-CN" sz="2400" b="1">
                    <a:solidFill>
                      <a:srgbClr val="003300"/>
                    </a:solidFill>
                  </a:rPr>
                  <a:t>9</a:t>
                </a:r>
              </a:p>
            </p:txBody>
          </p:sp>
        </p:grpSp>
        <p:grpSp>
          <p:nvGrpSpPr>
            <p:cNvPr id="47125" name="Group 110"/>
            <p:cNvGrpSpPr>
              <a:grpSpLocks/>
            </p:cNvGrpSpPr>
            <p:nvPr/>
          </p:nvGrpSpPr>
          <p:grpSpPr bwMode="auto">
            <a:xfrm>
              <a:off x="1483145" y="3100009"/>
              <a:ext cx="279400" cy="87313"/>
              <a:chOff x="1949" y="2020"/>
              <a:chExt cx="341" cy="111"/>
            </a:xfrm>
          </p:grpSpPr>
          <p:sp>
            <p:nvSpPr>
              <p:cNvPr id="47130" name="Line 111"/>
              <p:cNvSpPr>
                <a:spLocks noChangeShapeType="1"/>
              </p:cNvSpPr>
              <p:nvPr/>
            </p:nvSpPr>
            <p:spPr bwMode="auto">
              <a:xfrm>
                <a:off x="1949" y="2020"/>
                <a:ext cx="331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1" name="Line 112"/>
              <p:cNvSpPr>
                <a:spLocks noChangeShapeType="1"/>
              </p:cNvSpPr>
              <p:nvPr/>
            </p:nvSpPr>
            <p:spPr bwMode="auto">
              <a:xfrm>
                <a:off x="1959" y="2131"/>
                <a:ext cx="331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126" name="Text Box 113"/>
            <p:cNvSpPr txBox="1">
              <a:spLocks noChangeArrowheads="1"/>
            </p:cNvSpPr>
            <p:nvPr/>
          </p:nvSpPr>
          <p:spPr bwMode="auto">
            <a:xfrm>
              <a:off x="1711746" y="2860297"/>
              <a:ext cx="2453824" cy="461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400" b="1">
                  <a:solidFill>
                    <a:srgbClr val="003300"/>
                  </a:solidFill>
                </a:rPr>
                <a:t>1.5×10     (Hz)     </a:t>
              </a:r>
            </a:p>
          </p:txBody>
        </p:sp>
        <p:sp>
          <p:nvSpPr>
            <p:cNvPr id="47127" name="Text Box 114"/>
            <p:cNvSpPr txBox="1">
              <a:spLocks noChangeArrowheads="1"/>
            </p:cNvSpPr>
            <p:nvPr/>
          </p:nvSpPr>
          <p:spPr bwMode="auto">
            <a:xfrm>
              <a:off x="2784639" y="2784097"/>
              <a:ext cx="59874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400" b="1">
                  <a:solidFill>
                    <a:srgbClr val="003300"/>
                  </a:solidFill>
                </a:rPr>
                <a:t>15 </a:t>
              </a:r>
            </a:p>
          </p:txBody>
        </p:sp>
        <p:sp>
          <p:nvSpPr>
            <p:cNvPr id="47128" name="Freeform 115"/>
            <p:cNvSpPr>
              <a:spLocks/>
            </p:cNvSpPr>
            <p:nvPr/>
          </p:nvSpPr>
          <p:spPr bwMode="auto">
            <a:xfrm flipH="1">
              <a:off x="3959645" y="3014284"/>
              <a:ext cx="273050" cy="201613"/>
            </a:xfrm>
            <a:custGeom>
              <a:avLst/>
              <a:gdLst>
                <a:gd name="T0" fmla="*/ 2147483646 w 576"/>
                <a:gd name="T1" fmla="*/ 0 h 576"/>
                <a:gd name="T2" fmla="*/ 0 w 576"/>
                <a:gd name="T3" fmla="*/ 2147483646 h 576"/>
                <a:gd name="T4" fmla="*/ 2147483646 w 576"/>
                <a:gd name="T5" fmla="*/ 2147483646 h 5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576">
                  <a:moveTo>
                    <a:pt x="576" y="0"/>
                  </a:moveTo>
                  <a:lnTo>
                    <a:pt x="0" y="299"/>
                  </a:lnTo>
                  <a:lnTo>
                    <a:pt x="576" y="576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9" name="Text Box 118"/>
            <p:cNvSpPr txBox="1">
              <a:spLocks noChangeArrowheads="1"/>
            </p:cNvSpPr>
            <p:nvPr/>
          </p:nvSpPr>
          <p:spPr bwMode="auto">
            <a:xfrm>
              <a:off x="4310483" y="2836484"/>
              <a:ext cx="1973263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400" b="1">
                  <a:solidFill>
                    <a:srgbClr val="003300"/>
                  </a:solidFill>
                </a:rPr>
                <a:t>截止频率</a:t>
              </a:r>
            </a:p>
          </p:txBody>
        </p:sp>
      </p:grpSp>
      <p:graphicFrame>
        <p:nvGraphicFramePr>
          <p:cNvPr id="47110" name="Object 24"/>
          <p:cNvGraphicFramePr>
            <a:graphicFrameLocks noChangeAspect="1"/>
          </p:cNvGraphicFramePr>
          <p:nvPr/>
        </p:nvGraphicFramePr>
        <p:xfrm>
          <a:off x="909638" y="3446463"/>
          <a:ext cx="3005137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1" name="Equation" r:id="rId3" imgW="943034" imgH="314280" progId="Equation.DSMT4">
                  <p:embed/>
                </p:oleObj>
              </mc:Choice>
              <mc:Fallback>
                <p:oleObj name="Equation" r:id="rId3" imgW="943034" imgH="31428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638" y="3446463"/>
                        <a:ext cx="3005137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24"/>
          <p:cNvGraphicFramePr>
            <a:graphicFrameLocks noChangeAspect="1"/>
          </p:cNvGraphicFramePr>
          <p:nvPr/>
        </p:nvGraphicFramePr>
        <p:xfrm>
          <a:off x="925513" y="4383088"/>
          <a:ext cx="7681912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2" name="Equation" r:id="rId5" imgW="2581390" imgH="152280" progId="Equation.DSMT4">
                  <p:embed/>
                </p:oleObj>
              </mc:Choice>
              <mc:Fallback>
                <p:oleObj name="Equation" r:id="rId5" imgW="2581390" imgH="15228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3" y="4383088"/>
                        <a:ext cx="7681912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24"/>
          <p:cNvGraphicFramePr>
            <a:graphicFrameLocks noChangeAspect="1"/>
          </p:cNvGraphicFramePr>
          <p:nvPr/>
        </p:nvGraphicFramePr>
        <p:xfrm>
          <a:off x="860425" y="5103813"/>
          <a:ext cx="7446963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3" name="Equation" r:id="rId7" imgW="2486033" imgH="314280" progId="Equation.DSMT4">
                  <p:embed/>
                </p:oleObj>
              </mc:Choice>
              <mc:Fallback>
                <p:oleObj name="Equation" r:id="rId7" imgW="2486033" imgH="31428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" y="5103813"/>
                        <a:ext cx="7446963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矩形 120"/>
          <p:cNvSpPr>
            <a:spLocks noChangeArrowheads="1"/>
          </p:cNvSpPr>
          <p:nvPr/>
        </p:nvSpPr>
        <p:spPr bwMode="auto">
          <a:xfrm>
            <a:off x="490538" y="2047875"/>
            <a:ext cx="803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解：</a:t>
            </a:r>
            <a:endParaRPr lang="zh-CN" altLang="en-US" sz="2400">
              <a:solidFill>
                <a:srgbClr val="003300"/>
              </a:solidFill>
            </a:endParaRPr>
          </a:p>
        </p:txBody>
      </p:sp>
      <p:sp>
        <p:nvSpPr>
          <p:cNvPr id="47114" name="Text Box 88"/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21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428625" y="214313"/>
            <a:ext cx="8456613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例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波长为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2.0 </a:t>
            </a:r>
            <a:r>
              <a:rPr kumimoji="1" lang="en-US" altLang="zh-CN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Å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的</a:t>
            </a:r>
            <a:r>
              <a:rPr kumimoji="1" lang="en-US" altLang="zh-CN" sz="2800" b="1" i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射线射到碳块上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,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由于康普顿    </a:t>
            </a:r>
          </a:p>
          <a:p>
            <a:pPr eaLnBrk="1" hangingPunct="1"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  散射，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波长改变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0.04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％，</a:t>
            </a:r>
          </a:p>
          <a:p>
            <a:pPr eaLnBrk="1" hangingPunct="1"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求：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(1)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该光子的散射角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  <a:b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</a:br>
            <a: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    (2)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使这个光子散射的反冲电子获得的能量。</a:t>
            </a:r>
          </a:p>
        </p:txBody>
      </p:sp>
      <p:sp>
        <p:nvSpPr>
          <p:cNvPr id="93187" name="Rectangle 3"/>
          <p:cNvSpPr>
            <a:spLocks noChangeArrowheads="1"/>
          </p:cNvSpPr>
          <p:nvPr/>
        </p:nvSpPr>
        <p:spPr bwMode="auto">
          <a:xfrm>
            <a:off x="663575" y="2197100"/>
            <a:ext cx="57800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解：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(1)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由已知条件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endParaRPr kumimoji="1" lang="en-US" altLang="zh-CN" sz="2800">
              <a:solidFill>
                <a:srgbClr val="0033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93189" name="Object 5"/>
          <p:cNvGraphicFramePr>
            <a:graphicFrameLocks noChangeAspect="1"/>
          </p:cNvGraphicFramePr>
          <p:nvPr/>
        </p:nvGraphicFramePr>
        <p:xfrm>
          <a:off x="2730500" y="3389313"/>
          <a:ext cx="45212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8" name="Equation" r:id="rId3" imgW="4381556" imgH="342900" progId="Equation.DSMT4">
                  <p:embed/>
                </p:oleObj>
              </mc:Choice>
              <mc:Fallback>
                <p:oleObj name="Equation" r:id="rId3" imgW="4381556" imgH="342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3389313"/>
                        <a:ext cx="45212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0" name="Object 6"/>
          <p:cNvGraphicFramePr>
            <a:graphicFrameLocks noChangeAspect="1"/>
          </p:cNvGraphicFramePr>
          <p:nvPr/>
        </p:nvGraphicFramePr>
        <p:xfrm>
          <a:off x="2965450" y="3948113"/>
          <a:ext cx="42957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9" name="Equation" r:id="rId5" imgW="3819410" imgH="238140" progId="Equation.DSMT4">
                  <p:embed/>
                </p:oleObj>
              </mc:Choice>
              <mc:Fallback>
                <p:oleObj name="Equation" r:id="rId5" imgW="3819410" imgH="2381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3948113"/>
                        <a:ext cx="42957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1" name="Text Box 7"/>
          <p:cNvSpPr txBox="1">
            <a:spLocks noChangeArrowheads="1"/>
          </p:cNvSpPr>
          <p:nvPr/>
        </p:nvSpPr>
        <p:spPr bwMode="auto">
          <a:xfrm>
            <a:off x="1924050" y="3846513"/>
            <a:ext cx="178435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解出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</a:p>
        </p:txBody>
      </p:sp>
      <p:sp>
        <p:nvSpPr>
          <p:cNvPr id="93192" name="Text Box 8"/>
          <p:cNvSpPr txBox="1">
            <a:spLocks noChangeArrowheads="1"/>
          </p:cNvSpPr>
          <p:nvPr/>
        </p:nvSpPr>
        <p:spPr bwMode="auto">
          <a:xfrm>
            <a:off x="1476375" y="4419600"/>
            <a:ext cx="74676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(2)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由能量守恒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反冲电子获得的能量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即光子损失的能量：</a:t>
            </a:r>
          </a:p>
        </p:txBody>
      </p:sp>
      <p:graphicFrame>
        <p:nvGraphicFramePr>
          <p:cNvPr id="93193" name="Object 9"/>
          <p:cNvGraphicFramePr>
            <a:graphicFrameLocks/>
          </p:cNvGraphicFramePr>
          <p:nvPr/>
        </p:nvGraphicFramePr>
        <p:xfrm>
          <a:off x="2449513" y="5360988"/>
          <a:ext cx="282733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70" name="Equation" r:id="rId7" imgW="2676477" imgH="342900" progId="Equation.DSMT4">
                  <p:embed/>
                </p:oleObj>
              </mc:Choice>
              <mc:Fallback>
                <p:oleObj name="Equation" r:id="rId7" imgW="2676477" imgH="342900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513" y="5360988"/>
                        <a:ext cx="2827337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4" name="Object 10"/>
          <p:cNvGraphicFramePr>
            <a:graphicFrameLocks noChangeAspect="1"/>
          </p:cNvGraphicFramePr>
          <p:nvPr/>
        </p:nvGraphicFramePr>
        <p:xfrm>
          <a:off x="2809875" y="5854700"/>
          <a:ext cx="4713288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71" name="Equation" r:id="rId9" imgW="4572000" imgH="771660" progId="Equation.DSMT4">
                  <p:embed/>
                </p:oleObj>
              </mc:Choice>
              <mc:Fallback>
                <p:oleObj name="Equation" r:id="rId9" imgW="4572000" imgH="77166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5" y="5854700"/>
                        <a:ext cx="4713288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7" name="Object 13"/>
          <p:cNvGraphicFramePr>
            <a:graphicFrameLocks noChangeAspect="1"/>
          </p:cNvGraphicFramePr>
          <p:nvPr/>
        </p:nvGraphicFramePr>
        <p:xfrm>
          <a:off x="2552700" y="2652713"/>
          <a:ext cx="2236788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72" name="Equation" r:id="rId11" imgW="2234230" imgH="774364" progId="Equation.DSMT4">
                  <p:embed/>
                </p:oleObj>
              </mc:Choice>
              <mc:Fallback>
                <p:oleObj name="Equation" r:id="rId11" imgW="2234230" imgH="774364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2652713"/>
                        <a:ext cx="2236788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00" name="Object 16"/>
          <p:cNvGraphicFramePr>
            <a:graphicFrameLocks noChangeAspect="1"/>
          </p:cNvGraphicFramePr>
          <p:nvPr/>
        </p:nvGraphicFramePr>
        <p:xfrm>
          <a:off x="5292725" y="5195888"/>
          <a:ext cx="1676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73" name="Equation" r:id="rId13" imgW="1676400" imgH="825500" progId="Equation.DSMT4">
                  <p:embed/>
                </p:oleObj>
              </mc:Choice>
              <mc:Fallback>
                <p:oleObj name="Equation" r:id="rId13" imgW="1676400" imgH="8255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5195888"/>
                        <a:ext cx="1676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2" name="Text Box 18"/>
          <p:cNvSpPr txBox="1">
            <a:spLocks noChangeArrowheads="1"/>
          </p:cNvSpPr>
          <p:nvPr/>
        </p:nvSpPr>
        <p:spPr bwMode="auto">
          <a:xfrm>
            <a:off x="2627313" y="5589588"/>
            <a:ext cx="11001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solidFill>
                  <a:srgbClr val="003300"/>
                </a:solidFill>
              </a:rPr>
              <a:t>电子</a:t>
            </a:r>
          </a:p>
        </p:txBody>
      </p:sp>
      <p:sp>
        <p:nvSpPr>
          <p:cNvPr id="48141" name="Text Box 19"/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22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3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3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3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3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3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3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3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3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93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3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3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3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3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autoUpdateAnimBg="0"/>
      <p:bldP spid="93187" grpId="0" autoUpdateAnimBg="0"/>
      <p:bldP spid="93191" grpId="0" autoUpdateAnimBg="0"/>
      <p:bldP spid="93192" grpId="0" autoUpdateAnimBg="0"/>
      <p:bldP spid="9320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Box 3"/>
          <p:cNvSpPr txBox="1">
            <a:spLocks noChangeArrowheads="1"/>
          </p:cNvSpPr>
          <p:nvPr/>
        </p:nvSpPr>
        <p:spPr bwMode="auto">
          <a:xfrm>
            <a:off x="3203575" y="115888"/>
            <a:ext cx="280828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3300"/>
                </a:solidFill>
                <a:latin typeface="Calibri" panose="020F0502020204030204" pitchFamily="34" charset="0"/>
              </a:rPr>
              <a:t>内容回顾</a:t>
            </a:r>
          </a:p>
        </p:txBody>
      </p:sp>
      <p:sp>
        <p:nvSpPr>
          <p:cNvPr id="24579" name="TextBox 4"/>
          <p:cNvSpPr txBox="1">
            <a:spLocks noChangeArrowheads="1"/>
          </p:cNvSpPr>
          <p:nvPr/>
        </p:nvSpPr>
        <p:spPr bwMode="auto">
          <a:xfrm>
            <a:off x="11113" y="836613"/>
            <a:ext cx="58324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普朗克能量子假说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946943" y="3873491"/>
            <a:ext cx="3960813" cy="523875"/>
          </a:xfrm>
          <a:prstGeom prst="rect">
            <a:avLst/>
          </a:prstGeom>
          <a:noFill/>
          <a:ln w="38100">
            <a:solidFill>
              <a:schemeClr val="accent4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E=n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kumimoji="1"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nh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 ,n=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1,2,3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…...</a:t>
            </a: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65113" y="3157538"/>
            <a:ext cx="4495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物体辐射或吸收能量</a:t>
            </a:r>
            <a:r>
              <a:rPr kumimoji="1" lang="en-US" altLang="zh-CN" sz="2800" b="1" i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E </a:t>
            </a:r>
            <a:r>
              <a:rPr kumimoji="1" lang="en-US" altLang="zh-CN" sz="28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217488" y="2006600"/>
            <a:ext cx="6121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2. </a:t>
            </a:r>
            <a:r>
              <a:rPr kumimoji="1" lang="zh-CN" altLang="en-US" sz="28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存在着能量的最小单元：</a:t>
            </a:r>
            <a:r>
              <a:rPr kumimoji="1" lang="zh-CN" altLang="en-US" sz="2800" b="1" dirty="0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能量子</a:t>
            </a:r>
          </a:p>
        </p:txBody>
      </p:sp>
      <p:sp>
        <p:nvSpPr>
          <p:cNvPr id="9" name="Rectangle 17"/>
          <p:cNvSpPr>
            <a:spLocks noChangeArrowheads="1"/>
          </p:cNvSpPr>
          <p:nvPr/>
        </p:nvSpPr>
        <p:spPr bwMode="auto">
          <a:xfrm>
            <a:off x="282575" y="2557463"/>
            <a:ext cx="6265863" cy="46196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 =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h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 , 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h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=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6.626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0755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10</a:t>
            </a:r>
            <a:r>
              <a:rPr kumimoji="1" lang="en-US" altLang="zh-CN" sz="2400" b="1" baseline="30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-34 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J·s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——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普朗克常数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17488" y="1441450"/>
            <a:ext cx="83149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1. </a:t>
            </a:r>
            <a:r>
              <a:rPr kumimoji="1" lang="zh-CN" altLang="en-US" sz="28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物体辐射的能量是分立值（</a:t>
            </a:r>
            <a:r>
              <a:rPr kumimoji="1" lang="zh-CN" altLang="en-US" sz="2800" b="1" dirty="0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能量不是连续的</a:t>
            </a:r>
            <a:r>
              <a:rPr kumimoji="1" lang="zh-CN" altLang="en-US" sz="28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 </a:t>
            </a:r>
            <a:r>
              <a:rPr kumimoji="1" lang="zh-CN" altLang="en-US" sz="28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sym typeface="Symbol" panose="05050102010706020507" pitchFamily="18" charset="2"/>
              </a:rPr>
              <a:t>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095" y="3122613"/>
            <a:ext cx="3238905" cy="2720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 Box 5">
            <a:extLst>
              <a:ext uri="{FF2B5EF4-FFF2-40B4-BE49-F238E27FC236}">
                <a16:creationId xmlns:a16="http://schemas.microsoft.com/office/drawing/2014/main" id="{DCFF9C98-1103-44EB-82EE-4A7722765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179" y="4714403"/>
            <a:ext cx="41767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普朗克黑体辐射公式</a:t>
            </a:r>
            <a:r>
              <a:rPr kumimoji="1" lang="en-US" altLang="zh-CN" sz="2800" b="1" dirty="0">
                <a:solidFill>
                  <a:srgbClr val="003300"/>
                </a:solidFill>
                <a:latin typeface="+mn-ea"/>
                <a:ea typeface="+mn-ea"/>
              </a:rPr>
              <a:t>:</a:t>
            </a:r>
          </a:p>
        </p:txBody>
      </p:sp>
      <p:graphicFrame>
        <p:nvGraphicFramePr>
          <p:cNvPr id="40" name="Object 2048">
            <a:extLst>
              <a:ext uri="{FF2B5EF4-FFF2-40B4-BE49-F238E27FC236}">
                <a16:creationId xmlns:a16="http://schemas.microsoft.com/office/drawing/2014/main" id="{73ADED8E-1C24-46E1-AF87-A8413F96C0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5427" y="5391892"/>
          <a:ext cx="41052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8" name="Equation" r:id="rId4" imgW="3975100" imgH="800100" progId="Equation.DSMT4">
                  <p:embed/>
                </p:oleObj>
              </mc:Choice>
              <mc:Fallback>
                <p:oleObj name="Equation" r:id="rId4" imgW="3975100" imgH="800100" progId="Equation.DSMT4">
                  <p:embed/>
                  <p:pic>
                    <p:nvPicPr>
                      <p:cNvPr id="40" name="Object 2048">
                        <a:extLst>
                          <a:ext uri="{FF2B5EF4-FFF2-40B4-BE49-F238E27FC236}">
                            <a16:creationId xmlns:a16="http://schemas.microsoft.com/office/drawing/2014/main" id="{73ADED8E-1C24-46E1-AF87-A8413F96C0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427" y="5391892"/>
                        <a:ext cx="41052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291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/>
      <p:bldP spid="6" grpId="0" animBg="1"/>
      <p:bldP spid="7" grpId="0"/>
      <p:bldP spid="8" grpId="0"/>
      <p:bldP spid="9" grpId="0" animBg="1"/>
      <p:bldP spid="10" grpId="0"/>
      <p:bldP spid="3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3">
            <a:extLst>
              <a:ext uri="{FF2B5EF4-FFF2-40B4-BE49-F238E27FC236}">
                <a16:creationId xmlns:a16="http://schemas.microsoft.com/office/drawing/2014/main" id="{4A806AF6-0FF5-4293-91F3-3F4EB10B9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115888"/>
            <a:ext cx="28082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24585" name="TextBox 10">
            <a:extLst>
              <a:ext uri="{FF2B5EF4-FFF2-40B4-BE49-F238E27FC236}">
                <a16:creationId xmlns:a16="http://schemas.microsoft.com/office/drawing/2014/main" id="{24BE5B17-5AEE-41F4-B878-5D352EF79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4704"/>
            <a:ext cx="70691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光电效应与光子假说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FDFEF1C-18FF-4B93-8D07-77C9032B947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63922" y="3142582"/>
            <a:ext cx="2457449" cy="2433640"/>
            <a:chOff x="6156177" y="3953755"/>
            <a:chExt cx="2881336" cy="2851228"/>
          </a:xfrm>
        </p:grpSpPr>
        <p:sp>
          <p:nvSpPr>
            <p:cNvPr id="34836" name="圆角矩形 2">
              <a:extLst>
                <a:ext uri="{FF2B5EF4-FFF2-40B4-BE49-F238E27FC236}">
                  <a16:creationId xmlns:a16="http://schemas.microsoft.com/office/drawing/2014/main" id="{CD1C7577-BC7C-40E8-9FDE-B4164C44D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6177" y="3953755"/>
              <a:ext cx="2808745" cy="2806588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 algn="ctr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grpSp>
          <p:nvGrpSpPr>
            <p:cNvPr id="4117" name="Group 91">
              <a:extLst>
                <a:ext uri="{FF2B5EF4-FFF2-40B4-BE49-F238E27FC236}">
                  <a16:creationId xmlns:a16="http://schemas.microsoft.com/office/drawing/2014/main" id="{CC7DF59C-1CC1-441A-A4FA-0907D3EFDB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70500" y="3953757"/>
              <a:ext cx="2767013" cy="2851226"/>
              <a:chOff x="622" y="2304"/>
              <a:chExt cx="1743" cy="1896"/>
            </a:xfrm>
          </p:grpSpPr>
          <p:sp>
            <p:nvSpPr>
              <p:cNvPr id="4118" name="Line 92">
                <a:extLst>
                  <a:ext uri="{FF2B5EF4-FFF2-40B4-BE49-F238E27FC236}">
                    <a16:creationId xmlns:a16="http://schemas.microsoft.com/office/drawing/2014/main" id="{57BDFE05-1373-45B2-BF8B-9D24969BCD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2" y="3840"/>
                <a:ext cx="1508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19" name="Line 93">
                <a:extLst>
                  <a:ext uri="{FF2B5EF4-FFF2-40B4-BE49-F238E27FC236}">
                    <a16:creationId xmlns:a16="http://schemas.microsoft.com/office/drawing/2014/main" id="{5529E591-A2C4-4C76-8565-BF942F1DA5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2" y="2352"/>
                <a:ext cx="0" cy="145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20" name="Freeform 94">
                <a:extLst>
                  <a:ext uri="{FF2B5EF4-FFF2-40B4-BE49-F238E27FC236}">
                    <a16:creationId xmlns:a16="http://schemas.microsoft.com/office/drawing/2014/main" id="{01646FCA-43D5-4E70-98AC-407B10080D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0" y="2832"/>
                <a:ext cx="1423" cy="1018"/>
              </a:xfrm>
              <a:custGeom>
                <a:avLst/>
                <a:gdLst>
                  <a:gd name="T0" fmla="*/ 1423 w 1423"/>
                  <a:gd name="T1" fmla="*/ 0 h 1018"/>
                  <a:gd name="T2" fmla="*/ 1074 w 1423"/>
                  <a:gd name="T3" fmla="*/ 70 h 1018"/>
                  <a:gd name="T4" fmla="*/ 853 w 1423"/>
                  <a:gd name="T5" fmla="*/ 255 h 1018"/>
                  <a:gd name="T6" fmla="*/ 728 w 1423"/>
                  <a:gd name="T7" fmla="*/ 398 h 1018"/>
                  <a:gd name="T8" fmla="*/ 625 w 1423"/>
                  <a:gd name="T9" fmla="*/ 526 h 1018"/>
                  <a:gd name="T10" fmla="*/ 548 w 1423"/>
                  <a:gd name="T11" fmla="*/ 652 h 1018"/>
                  <a:gd name="T12" fmla="*/ 404 w 1423"/>
                  <a:gd name="T13" fmla="*/ 804 h 1018"/>
                  <a:gd name="T14" fmla="*/ 278 w 1423"/>
                  <a:gd name="T15" fmla="*/ 914 h 1018"/>
                  <a:gd name="T16" fmla="*/ 188 w 1423"/>
                  <a:gd name="T17" fmla="*/ 965 h 1018"/>
                  <a:gd name="T18" fmla="*/ 0 w 1423"/>
                  <a:gd name="T19" fmla="*/ 1018 h 10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23"/>
                  <a:gd name="T31" fmla="*/ 0 h 1018"/>
                  <a:gd name="T32" fmla="*/ 1423 w 1423"/>
                  <a:gd name="T33" fmla="*/ 1018 h 10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23" h="1018">
                    <a:moveTo>
                      <a:pt x="1423" y="0"/>
                    </a:moveTo>
                    <a:cubicBezTo>
                      <a:pt x="1363" y="23"/>
                      <a:pt x="1155" y="25"/>
                      <a:pt x="1074" y="70"/>
                    </a:cubicBezTo>
                    <a:cubicBezTo>
                      <a:pt x="993" y="115"/>
                      <a:pt x="908" y="198"/>
                      <a:pt x="853" y="255"/>
                    </a:cubicBezTo>
                    <a:lnTo>
                      <a:pt x="728" y="398"/>
                    </a:lnTo>
                    <a:lnTo>
                      <a:pt x="625" y="526"/>
                    </a:lnTo>
                    <a:lnTo>
                      <a:pt x="548" y="652"/>
                    </a:lnTo>
                    <a:lnTo>
                      <a:pt x="404" y="804"/>
                    </a:lnTo>
                    <a:lnTo>
                      <a:pt x="278" y="914"/>
                    </a:lnTo>
                    <a:lnTo>
                      <a:pt x="188" y="965"/>
                    </a:lnTo>
                    <a:lnTo>
                      <a:pt x="0" y="1018"/>
                    </a:lnTo>
                  </a:path>
                </a:pathLst>
              </a:cu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21" name="Text Box 95">
                <a:extLst>
                  <a:ext uri="{FF2B5EF4-FFF2-40B4-BE49-F238E27FC236}">
                    <a16:creationId xmlns:a16="http://schemas.microsoft.com/office/drawing/2014/main" id="{2C57755B-4E26-44FA-9323-BA0AE152A6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" y="3823"/>
                <a:ext cx="377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U</a:t>
                </a:r>
                <a:r>
                  <a:rPr kumimoji="1" lang="en-US" altLang="zh-CN" sz="2400" b="1" i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  <a:endParaRPr kumimoji="1" lang="en-US" altLang="zh-CN" sz="24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4122" name="Text Box 96">
                <a:extLst>
                  <a:ext uri="{FF2B5EF4-FFF2-40B4-BE49-F238E27FC236}">
                    <a16:creationId xmlns:a16="http://schemas.microsoft.com/office/drawing/2014/main" id="{59F01543-1A95-450C-A89A-4987386051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5" y="2510"/>
                <a:ext cx="25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3</a:t>
                </a:r>
              </a:p>
            </p:txBody>
          </p:sp>
          <p:sp>
            <p:nvSpPr>
              <p:cNvPr id="4123" name="Text Box 97">
                <a:extLst>
                  <a:ext uri="{FF2B5EF4-FFF2-40B4-BE49-F238E27FC236}">
                    <a16:creationId xmlns:a16="http://schemas.microsoft.com/office/drawing/2014/main" id="{0A86FE17-0016-4547-9463-F06F319FF3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1" y="3223"/>
                <a:ext cx="25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4124" name="Text Box 98">
                <a:extLst>
                  <a:ext uri="{FF2B5EF4-FFF2-40B4-BE49-F238E27FC236}">
                    <a16:creationId xmlns:a16="http://schemas.microsoft.com/office/drawing/2014/main" id="{CD20D9DE-5336-4BA2-A236-628BC679DB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7" y="2860"/>
                <a:ext cx="25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4125" name="Text Box 99">
                <a:extLst>
                  <a:ext uri="{FF2B5EF4-FFF2-40B4-BE49-F238E27FC236}">
                    <a16:creationId xmlns:a16="http://schemas.microsoft.com/office/drawing/2014/main" id="{F8E7EE0F-5187-4E6B-8E97-A0A4E3EF27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4" y="3840"/>
                <a:ext cx="301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U</a:t>
                </a:r>
                <a:endParaRPr kumimoji="1" lang="en-US" altLang="zh-CN" sz="24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4126" name="Text Box 100">
                <a:extLst>
                  <a:ext uri="{FF2B5EF4-FFF2-40B4-BE49-F238E27FC236}">
                    <a16:creationId xmlns:a16="http://schemas.microsoft.com/office/drawing/2014/main" id="{D7C5C3B8-8B32-4C5F-8666-1560162777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304"/>
                <a:ext cx="225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I</a:t>
                </a:r>
                <a:endParaRPr kumimoji="1" lang="en-US" altLang="zh-CN" sz="24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4127" name="Line 101">
                <a:extLst>
                  <a:ext uri="{FF2B5EF4-FFF2-40B4-BE49-F238E27FC236}">
                    <a16:creationId xmlns:a16="http://schemas.microsoft.com/office/drawing/2014/main" id="{195870C0-E4F4-4B7A-A177-270463B577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799"/>
                <a:ext cx="880" cy="0"/>
              </a:xfrm>
              <a:prstGeom prst="line">
                <a:avLst/>
              </a:prstGeom>
              <a:noFill/>
              <a:ln w="9525">
                <a:solidFill>
                  <a:srgbClr val="FFFF99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28" name="Text Box 102">
                <a:extLst>
                  <a:ext uri="{FF2B5EF4-FFF2-40B4-BE49-F238E27FC236}">
                    <a16:creationId xmlns:a16="http://schemas.microsoft.com/office/drawing/2014/main" id="{645F7362-BE9F-43FA-B13C-85C5E40FEB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640"/>
                <a:ext cx="309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I</a:t>
                </a:r>
                <a:r>
                  <a:rPr kumimoji="1" lang="en-US" altLang="zh-CN" sz="2400" b="1" i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</a:t>
                </a:r>
                <a:endParaRPr kumimoji="1" lang="en-US" altLang="zh-CN" sz="24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4129" name="Text Box 103">
                <a:extLst>
                  <a:ext uri="{FF2B5EF4-FFF2-40B4-BE49-F238E27FC236}">
                    <a16:creationId xmlns:a16="http://schemas.microsoft.com/office/drawing/2014/main" id="{1142859C-5D3F-4C94-A943-A59F82BE48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3840"/>
                <a:ext cx="25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4130" name="Freeform 104">
                <a:extLst>
                  <a:ext uri="{FF2B5EF4-FFF2-40B4-BE49-F238E27FC236}">
                    <a16:creationId xmlns:a16="http://schemas.microsoft.com/office/drawing/2014/main" id="{CC1C9A76-7878-45F8-91E5-ADB61C815A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" y="3041"/>
                <a:ext cx="1341" cy="795"/>
              </a:xfrm>
              <a:custGeom>
                <a:avLst/>
                <a:gdLst>
                  <a:gd name="T0" fmla="*/ 1341 w 1341"/>
                  <a:gd name="T1" fmla="*/ 0 h 795"/>
                  <a:gd name="T2" fmla="*/ 1020 w 1341"/>
                  <a:gd name="T3" fmla="*/ 84 h 795"/>
                  <a:gd name="T4" fmla="*/ 671 w 1341"/>
                  <a:gd name="T5" fmla="*/ 349 h 795"/>
                  <a:gd name="T6" fmla="*/ 278 w 1341"/>
                  <a:gd name="T7" fmla="*/ 691 h 795"/>
                  <a:gd name="T8" fmla="*/ 188 w 1341"/>
                  <a:gd name="T9" fmla="*/ 742 h 795"/>
                  <a:gd name="T10" fmla="*/ 0 w 1341"/>
                  <a:gd name="T11" fmla="*/ 795 h 7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41"/>
                  <a:gd name="T19" fmla="*/ 0 h 795"/>
                  <a:gd name="T20" fmla="*/ 1341 w 1341"/>
                  <a:gd name="T21" fmla="*/ 795 h 79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41" h="795">
                    <a:moveTo>
                      <a:pt x="1341" y="0"/>
                    </a:moveTo>
                    <a:cubicBezTo>
                      <a:pt x="1229" y="14"/>
                      <a:pt x="1160" y="27"/>
                      <a:pt x="1020" y="84"/>
                    </a:cubicBezTo>
                    <a:cubicBezTo>
                      <a:pt x="905" y="123"/>
                      <a:pt x="795" y="248"/>
                      <a:pt x="671" y="349"/>
                    </a:cubicBezTo>
                    <a:cubicBezTo>
                      <a:pt x="547" y="450"/>
                      <a:pt x="358" y="626"/>
                      <a:pt x="278" y="691"/>
                    </a:cubicBezTo>
                    <a:lnTo>
                      <a:pt x="188" y="742"/>
                    </a:lnTo>
                    <a:lnTo>
                      <a:pt x="0" y="795"/>
                    </a:lnTo>
                  </a:path>
                </a:pathLst>
              </a:custGeom>
              <a:noFill/>
              <a:ln w="41275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31" name="Freeform 105">
                <a:extLst>
                  <a:ext uri="{FF2B5EF4-FFF2-40B4-BE49-F238E27FC236}">
                    <a16:creationId xmlns:a16="http://schemas.microsoft.com/office/drawing/2014/main" id="{9B0AD1A2-0E58-45FC-91F8-981E02C6B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" y="3273"/>
                <a:ext cx="1328" cy="584"/>
              </a:xfrm>
              <a:custGeom>
                <a:avLst/>
                <a:gdLst>
                  <a:gd name="T0" fmla="*/ 1328 w 1328"/>
                  <a:gd name="T1" fmla="*/ 0 h 584"/>
                  <a:gd name="T2" fmla="*/ 886 w 1328"/>
                  <a:gd name="T3" fmla="*/ 159 h 584"/>
                  <a:gd name="T4" fmla="*/ 398 w 1328"/>
                  <a:gd name="T5" fmla="*/ 466 h 584"/>
                  <a:gd name="T6" fmla="*/ 0 w 1328"/>
                  <a:gd name="T7" fmla="*/ 584 h 5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28"/>
                  <a:gd name="T13" fmla="*/ 0 h 584"/>
                  <a:gd name="T14" fmla="*/ 1328 w 1328"/>
                  <a:gd name="T15" fmla="*/ 584 h 5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28" h="584">
                    <a:moveTo>
                      <a:pt x="1328" y="0"/>
                    </a:moveTo>
                    <a:cubicBezTo>
                      <a:pt x="1123" y="19"/>
                      <a:pt x="1041" y="81"/>
                      <a:pt x="886" y="159"/>
                    </a:cubicBezTo>
                    <a:cubicBezTo>
                      <a:pt x="731" y="237"/>
                      <a:pt x="527" y="400"/>
                      <a:pt x="398" y="466"/>
                    </a:cubicBezTo>
                    <a:lnTo>
                      <a:pt x="0" y="584"/>
                    </a:lnTo>
                  </a:path>
                </a:pathLst>
              </a:custGeom>
              <a:noFill/>
              <a:ln w="412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4" name="Text Box 11">
            <a:extLst>
              <a:ext uri="{FF2B5EF4-FFF2-40B4-BE49-F238E27FC236}">
                <a16:creationId xmlns:a16="http://schemas.microsoft.com/office/drawing/2014/main" id="{1B3F09AA-D5C1-4FD8-98E0-EABA2316B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1333029"/>
            <a:ext cx="3346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1. </a:t>
            </a:r>
            <a:r>
              <a:rPr kumimoji="1" lang="zh-CN" altLang="en-US" sz="24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光由</a:t>
            </a:r>
            <a:r>
              <a:rPr kumimoji="1" lang="zh-CN" altLang="en-US" sz="2400" b="1" dirty="0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光量子</a:t>
            </a:r>
            <a:r>
              <a:rPr kumimoji="1" lang="zh-CN" altLang="en-US" sz="24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组成</a:t>
            </a:r>
            <a:endParaRPr kumimoji="1" lang="zh-CN" altLang="en-US" sz="2400" b="1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35" name="Text Box 11">
            <a:extLst>
              <a:ext uri="{FF2B5EF4-FFF2-40B4-BE49-F238E27FC236}">
                <a16:creationId xmlns:a16="http://schemas.microsoft.com/office/drawing/2014/main" id="{6624717A-23C0-42FA-8428-C198CE643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1898179"/>
            <a:ext cx="3346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2. </a:t>
            </a:r>
            <a:r>
              <a:rPr kumimoji="1" lang="zh-CN" altLang="en-US" sz="24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每个光子的能量</a:t>
            </a:r>
            <a:endParaRPr kumimoji="1" lang="zh-CN" altLang="en-US" sz="2400" b="1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36" name="Object 18">
            <a:extLst>
              <a:ext uri="{FF2B5EF4-FFF2-40B4-BE49-F238E27FC236}">
                <a16:creationId xmlns:a16="http://schemas.microsoft.com/office/drawing/2014/main" id="{CAD1ADC5-F73F-49B6-94BD-2F02F94245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7175" y="1960538"/>
          <a:ext cx="1247775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2" name="Equation" r:id="rId3" imgW="1054186" imgH="222334" progId="Equation.DSMT4">
                  <p:embed/>
                </p:oleObj>
              </mc:Choice>
              <mc:Fallback>
                <p:oleObj name="Equation" r:id="rId3" imgW="1054186" imgH="222334" progId="Equation.DSMT4">
                  <p:embed/>
                  <p:pic>
                    <p:nvPicPr>
                      <p:cNvPr id="36" name="Object 18">
                        <a:extLst>
                          <a:ext uri="{FF2B5EF4-FFF2-40B4-BE49-F238E27FC236}">
                            <a16:creationId xmlns:a16="http://schemas.microsoft.com/office/drawing/2014/main" id="{CAD1ADC5-F73F-49B6-94BD-2F02F94245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1960538"/>
                        <a:ext cx="1247775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668A13AF-5F0C-4656-9E30-9D295308056D}"/>
              </a:ext>
            </a:extLst>
          </p:cNvPr>
          <p:cNvGrpSpPr>
            <a:grpSpLocks/>
          </p:cNvGrpSpPr>
          <p:nvPr/>
        </p:nvGrpSpPr>
        <p:grpSpPr bwMode="auto">
          <a:xfrm>
            <a:off x="6376987" y="347702"/>
            <a:ext cx="2422525" cy="2474913"/>
            <a:chOff x="3402" y="624"/>
            <a:chExt cx="1926" cy="1920"/>
          </a:xfrm>
        </p:grpSpPr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2FC48980-3D97-4804-8810-66C68A219A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1844"/>
              <a:ext cx="440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38">
              <a:extLst>
                <a:ext uri="{FF2B5EF4-FFF2-40B4-BE49-F238E27FC236}">
                  <a16:creationId xmlns:a16="http://schemas.microsoft.com/office/drawing/2014/main" id="{3C4B007F-FBB6-404B-92D6-9FBEE5057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728"/>
              <a:ext cx="198" cy="249"/>
            </a:xfrm>
            <a:prstGeom prst="ellips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43" name="Line 39">
              <a:extLst>
                <a:ext uri="{FF2B5EF4-FFF2-40B4-BE49-F238E27FC236}">
                  <a16:creationId xmlns:a16="http://schemas.microsoft.com/office/drawing/2014/main" id="{92223D71-ECEB-4CAE-ACC3-A3EFD54BC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4" y="1844"/>
              <a:ext cx="1194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40">
              <a:extLst>
                <a:ext uri="{FF2B5EF4-FFF2-40B4-BE49-F238E27FC236}">
                  <a16:creationId xmlns:a16="http://schemas.microsoft.com/office/drawing/2014/main" id="{8520C8B4-6BD9-48B9-AD60-5C246E3ED3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2077"/>
              <a:ext cx="0" cy="367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41">
              <a:extLst>
                <a:ext uri="{FF2B5EF4-FFF2-40B4-BE49-F238E27FC236}">
                  <a16:creationId xmlns:a16="http://schemas.microsoft.com/office/drawing/2014/main" id="{9C0022F2-D58E-4EB7-9034-0D04A89C8A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2444"/>
              <a:ext cx="620" cy="4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42">
              <a:extLst>
                <a:ext uri="{FF2B5EF4-FFF2-40B4-BE49-F238E27FC236}">
                  <a16:creationId xmlns:a16="http://schemas.microsoft.com/office/drawing/2014/main" id="{E58C4E0D-D7AE-4E73-BE93-B258A77C35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4" y="2444"/>
              <a:ext cx="534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43">
              <a:extLst>
                <a:ext uri="{FF2B5EF4-FFF2-40B4-BE49-F238E27FC236}">
                  <a16:creationId xmlns:a16="http://schemas.microsoft.com/office/drawing/2014/main" id="{4CBAB8D6-C259-459A-9E93-E9F28789F6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077"/>
              <a:ext cx="0" cy="367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Rectangle 44">
              <a:extLst>
                <a:ext uri="{FF2B5EF4-FFF2-40B4-BE49-F238E27FC236}">
                  <a16:creationId xmlns:a16="http://schemas.microsoft.com/office/drawing/2014/main" id="{B3D0703C-CAE8-4D68-A212-53027F99B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" y="2044"/>
              <a:ext cx="848" cy="6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49" name="Line 45">
              <a:extLst>
                <a:ext uri="{FF2B5EF4-FFF2-40B4-BE49-F238E27FC236}">
                  <a16:creationId xmlns:a16="http://schemas.microsoft.com/office/drawing/2014/main" id="{9E49ABF0-3D8A-4F93-9271-2EA4F55EB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8" y="1910"/>
              <a:ext cx="880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Line 46">
              <a:extLst>
                <a:ext uri="{FF2B5EF4-FFF2-40B4-BE49-F238E27FC236}">
                  <a16:creationId xmlns:a16="http://schemas.microsoft.com/office/drawing/2014/main" id="{4BAB5FE9-2068-4BAC-B4E1-1A27895C44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344"/>
              <a:ext cx="0" cy="20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47">
              <a:extLst>
                <a:ext uri="{FF2B5EF4-FFF2-40B4-BE49-F238E27FC236}">
                  <a16:creationId xmlns:a16="http://schemas.microsoft.com/office/drawing/2014/main" id="{6A104C27-4AFC-412A-9D97-9440BD4F25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344"/>
              <a:ext cx="0" cy="20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48">
              <a:extLst>
                <a:ext uri="{FF2B5EF4-FFF2-40B4-BE49-F238E27FC236}">
                  <a16:creationId xmlns:a16="http://schemas.microsoft.com/office/drawing/2014/main" id="{56E01203-D02B-4CE7-AC81-69186F02AC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400"/>
              <a:ext cx="0" cy="96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Line 49">
              <a:extLst>
                <a:ext uri="{FF2B5EF4-FFF2-40B4-BE49-F238E27FC236}">
                  <a16:creationId xmlns:a16="http://schemas.microsoft.com/office/drawing/2014/main" id="{B5D98709-882E-42D6-9834-965962BA39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411"/>
              <a:ext cx="0" cy="85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50">
              <a:extLst>
                <a:ext uri="{FF2B5EF4-FFF2-40B4-BE49-F238E27FC236}">
                  <a16:creationId xmlns:a16="http://schemas.microsoft.com/office/drawing/2014/main" id="{9BCCA1AC-01E9-49EF-B172-FFA6B9BB97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2444"/>
              <a:ext cx="377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Line 51">
              <a:extLst>
                <a:ext uri="{FF2B5EF4-FFF2-40B4-BE49-F238E27FC236}">
                  <a16:creationId xmlns:a16="http://schemas.microsoft.com/office/drawing/2014/main" id="{DC2C3508-06C8-427E-82A4-03283486ED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0" y="2377"/>
              <a:ext cx="125" cy="67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Line 52">
              <a:extLst>
                <a:ext uri="{FF2B5EF4-FFF2-40B4-BE49-F238E27FC236}">
                  <a16:creationId xmlns:a16="http://schemas.microsoft.com/office/drawing/2014/main" id="{62FDFA7E-EA45-4906-A56C-DE9A883882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7" y="2064"/>
              <a:ext cx="495" cy="1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Line 53">
              <a:extLst>
                <a:ext uri="{FF2B5EF4-FFF2-40B4-BE49-F238E27FC236}">
                  <a16:creationId xmlns:a16="http://schemas.microsoft.com/office/drawing/2014/main" id="{D9C037B2-41FF-4233-809C-BAAD6DC8AB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8" y="2077"/>
              <a:ext cx="440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Line 54">
              <a:extLst>
                <a:ext uri="{FF2B5EF4-FFF2-40B4-BE49-F238E27FC236}">
                  <a16:creationId xmlns:a16="http://schemas.microsoft.com/office/drawing/2014/main" id="{FE9CD10F-5D00-439A-80AD-02462F1396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7" y="1677"/>
              <a:ext cx="0" cy="40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Line 55">
              <a:extLst>
                <a:ext uri="{FF2B5EF4-FFF2-40B4-BE49-F238E27FC236}">
                  <a16:creationId xmlns:a16="http://schemas.microsoft.com/office/drawing/2014/main" id="{E9B5FAE6-6650-449C-874E-8FEAF075B4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8" y="1710"/>
              <a:ext cx="0" cy="20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56">
              <a:extLst>
                <a:ext uri="{FF2B5EF4-FFF2-40B4-BE49-F238E27FC236}">
                  <a16:creationId xmlns:a16="http://schemas.microsoft.com/office/drawing/2014/main" id="{C7A2347D-C76B-45D9-A7DD-518EDB717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1710"/>
              <a:ext cx="0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Line 57">
              <a:extLst>
                <a:ext uri="{FF2B5EF4-FFF2-40B4-BE49-F238E27FC236}">
                  <a16:creationId xmlns:a16="http://schemas.microsoft.com/office/drawing/2014/main" id="{EA42AD59-27EE-4644-8D53-741BDA6B0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1677"/>
              <a:ext cx="566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58">
              <a:extLst>
                <a:ext uri="{FF2B5EF4-FFF2-40B4-BE49-F238E27FC236}">
                  <a16:creationId xmlns:a16="http://schemas.microsoft.com/office/drawing/2014/main" id="{F1CCFB7A-F9DD-435E-961B-5BEC4FEACC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0" y="1677"/>
              <a:ext cx="84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Line 59">
              <a:extLst>
                <a:ext uri="{FF2B5EF4-FFF2-40B4-BE49-F238E27FC236}">
                  <a16:creationId xmlns:a16="http://schemas.microsoft.com/office/drawing/2014/main" id="{8FA478D8-DA43-42C1-A2EA-747E6EDF9E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677"/>
              <a:ext cx="0" cy="10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Line 60">
              <a:extLst>
                <a:ext uri="{FF2B5EF4-FFF2-40B4-BE49-F238E27FC236}">
                  <a16:creationId xmlns:a16="http://schemas.microsoft.com/office/drawing/2014/main" id="{651018EA-D086-46B2-A38C-9E913809C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1543"/>
              <a:ext cx="566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Line 61">
              <a:extLst>
                <a:ext uri="{FF2B5EF4-FFF2-40B4-BE49-F238E27FC236}">
                  <a16:creationId xmlns:a16="http://schemas.microsoft.com/office/drawing/2014/main" id="{090ACF2A-8EA2-4220-956F-9AEFDC0B3D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8" y="1543"/>
              <a:ext cx="849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Line 62">
              <a:extLst>
                <a:ext uri="{FF2B5EF4-FFF2-40B4-BE49-F238E27FC236}">
                  <a16:creationId xmlns:a16="http://schemas.microsoft.com/office/drawing/2014/main" id="{5F452D26-AE29-4674-8CF6-2FB701CB01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3" y="1344"/>
              <a:ext cx="313" cy="33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Freeform 63">
              <a:extLst>
                <a:ext uri="{FF2B5EF4-FFF2-40B4-BE49-F238E27FC236}">
                  <a16:creationId xmlns:a16="http://schemas.microsoft.com/office/drawing/2014/main" id="{A0C4854F-200B-43F4-AEF3-1CD3EF554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" y="1344"/>
              <a:ext cx="409" cy="336"/>
            </a:xfrm>
            <a:custGeom>
              <a:avLst/>
              <a:gdLst>
                <a:gd name="T0" fmla="*/ 0 w 624"/>
                <a:gd name="T1" fmla="*/ 0 h 379"/>
                <a:gd name="T2" fmla="*/ 1 w 624"/>
                <a:gd name="T3" fmla="*/ 11 h 379"/>
                <a:gd name="T4" fmla="*/ 1 w 624"/>
                <a:gd name="T5" fmla="*/ 10 h 379"/>
                <a:gd name="T6" fmla="*/ 1 w 624"/>
                <a:gd name="T7" fmla="*/ 24 h 379"/>
                <a:gd name="T8" fmla="*/ 1 w 624"/>
                <a:gd name="T9" fmla="*/ 35 h 3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4"/>
                <a:gd name="T16" fmla="*/ 0 h 379"/>
                <a:gd name="T17" fmla="*/ 624 w 624"/>
                <a:gd name="T18" fmla="*/ 379 h 3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4" h="379">
                  <a:moveTo>
                    <a:pt x="0" y="0"/>
                  </a:moveTo>
                  <a:cubicBezTo>
                    <a:pt x="34" y="20"/>
                    <a:pt x="140" y="100"/>
                    <a:pt x="201" y="118"/>
                  </a:cubicBezTo>
                  <a:cubicBezTo>
                    <a:pt x="262" y="136"/>
                    <a:pt x="335" y="82"/>
                    <a:pt x="369" y="105"/>
                  </a:cubicBezTo>
                  <a:cubicBezTo>
                    <a:pt x="453" y="142"/>
                    <a:pt x="361" y="213"/>
                    <a:pt x="404" y="259"/>
                  </a:cubicBezTo>
                  <a:cubicBezTo>
                    <a:pt x="447" y="305"/>
                    <a:pt x="578" y="354"/>
                    <a:pt x="624" y="379"/>
                  </a:cubicBezTo>
                </a:path>
              </a:pathLst>
            </a:cu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Line 64">
              <a:extLst>
                <a:ext uri="{FF2B5EF4-FFF2-40B4-BE49-F238E27FC236}">
                  <a16:creationId xmlns:a16="http://schemas.microsoft.com/office/drawing/2014/main" id="{931CB2B8-00D8-47C1-94AA-D07184D190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7" y="1410"/>
              <a:ext cx="0" cy="13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Oval 65">
              <a:extLst>
                <a:ext uri="{FF2B5EF4-FFF2-40B4-BE49-F238E27FC236}">
                  <a16:creationId xmlns:a16="http://schemas.microsoft.com/office/drawing/2014/main" id="{8A832F3E-BDB0-4572-93CE-22317454C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243"/>
              <a:ext cx="240" cy="245"/>
            </a:xfrm>
            <a:prstGeom prst="ellips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70" name="Line 66">
              <a:extLst>
                <a:ext uri="{FF2B5EF4-FFF2-40B4-BE49-F238E27FC236}">
                  <a16:creationId xmlns:a16="http://schemas.microsoft.com/office/drawing/2014/main" id="{FDD3DA81-D67D-437B-947E-F5361ED6DA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6" y="1110"/>
              <a:ext cx="2" cy="157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Line 67">
              <a:extLst>
                <a:ext uri="{FF2B5EF4-FFF2-40B4-BE49-F238E27FC236}">
                  <a16:creationId xmlns:a16="http://schemas.microsoft.com/office/drawing/2014/main" id="{52F9E234-5150-4B9A-BD18-BFB6FB4A5D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2" y="1110"/>
              <a:ext cx="355" cy="1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Line 68">
              <a:extLst>
                <a:ext uri="{FF2B5EF4-FFF2-40B4-BE49-F238E27FC236}">
                  <a16:creationId xmlns:a16="http://schemas.microsoft.com/office/drawing/2014/main" id="{03F02B77-77B0-43D6-BE10-3C53A5EA5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3" y="1110"/>
              <a:ext cx="251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Line 69">
              <a:extLst>
                <a:ext uri="{FF2B5EF4-FFF2-40B4-BE49-F238E27FC236}">
                  <a16:creationId xmlns:a16="http://schemas.microsoft.com/office/drawing/2014/main" id="{2A204A47-C25E-4B5D-9BCB-2CDEA4ADE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4" y="1043"/>
              <a:ext cx="0" cy="13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Line 70">
              <a:extLst>
                <a:ext uri="{FF2B5EF4-FFF2-40B4-BE49-F238E27FC236}">
                  <a16:creationId xmlns:a16="http://schemas.microsoft.com/office/drawing/2014/main" id="{A584353B-E70E-4E00-AD75-4D4D207817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2" y="1143"/>
              <a:ext cx="535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Line 71">
              <a:extLst>
                <a:ext uri="{FF2B5EF4-FFF2-40B4-BE49-F238E27FC236}">
                  <a16:creationId xmlns:a16="http://schemas.microsoft.com/office/drawing/2014/main" id="{9079F2EA-C538-438D-B8DF-8D2FB343AD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7" y="1143"/>
              <a:ext cx="0" cy="40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Line 72">
              <a:extLst>
                <a:ext uri="{FF2B5EF4-FFF2-40B4-BE49-F238E27FC236}">
                  <a16:creationId xmlns:a16="http://schemas.microsoft.com/office/drawing/2014/main" id="{8F48D7C7-9D78-4C73-A40F-3B7BD7FFD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2" y="1076"/>
              <a:ext cx="0" cy="134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Line 73">
              <a:extLst>
                <a:ext uri="{FF2B5EF4-FFF2-40B4-BE49-F238E27FC236}">
                  <a16:creationId xmlns:a16="http://schemas.microsoft.com/office/drawing/2014/main" id="{4C36B358-998C-4091-B9ED-5A8B19AF1A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92594">
              <a:off x="3895" y="691"/>
              <a:ext cx="157" cy="10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Line 74">
              <a:extLst>
                <a:ext uri="{FF2B5EF4-FFF2-40B4-BE49-F238E27FC236}">
                  <a16:creationId xmlns:a16="http://schemas.microsoft.com/office/drawing/2014/main" id="{2097A10B-30EB-4733-AB3F-9E4F5DE64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6" y="876"/>
              <a:ext cx="377" cy="234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Line 75">
              <a:extLst>
                <a:ext uri="{FF2B5EF4-FFF2-40B4-BE49-F238E27FC236}">
                  <a16:creationId xmlns:a16="http://schemas.microsoft.com/office/drawing/2014/main" id="{994F92F5-BF33-4503-960A-DFBC25B916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8" y="624"/>
              <a:ext cx="157" cy="13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Line 76">
              <a:extLst>
                <a:ext uri="{FF2B5EF4-FFF2-40B4-BE49-F238E27FC236}">
                  <a16:creationId xmlns:a16="http://schemas.microsoft.com/office/drawing/2014/main" id="{81DF7E44-397B-4E60-85AA-97F60F083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1" y="976"/>
              <a:ext cx="346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Line 77">
              <a:extLst>
                <a:ext uri="{FF2B5EF4-FFF2-40B4-BE49-F238E27FC236}">
                  <a16:creationId xmlns:a16="http://schemas.microsoft.com/office/drawing/2014/main" id="{89AB559A-3CE5-433C-B5A2-21C8CB0D76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5" y="976"/>
              <a:ext cx="220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Freeform 78">
              <a:extLst>
                <a:ext uri="{FF2B5EF4-FFF2-40B4-BE49-F238E27FC236}">
                  <a16:creationId xmlns:a16="http://schemas.microsoft.com/office/drawing/2014/main" id="{0096AE7A-6C12-4CC7-837B-12B9B00BBBB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94" y="976"/>
              <a:ext cx="112" cy="267"/>
            </a:xfrm>
            <a:custGeom>
              <a:avLst/>
              <a:gdLst>
                <a:gd name="T0" fmla="*/ 1 w 171"/>
                <a:gd name="T1" fmla="*/ 0 h 384"/>
                <a:gd name="T2" fmla="*/ 1 w 171"/>
                <a:gd name="T3" fmla="*/ 1 h 384"/>
                <a:gd name="T4" fmla="*/ 1 w 171"/>
                <a:gd name="T5" fmla="*/ 1 h 384"/>
                <a:gd name="T6" fmla="*/ 1 w 171"/>
                <a:gd name="T7" fmla="*/ 1 h 384"/>
                <a:gd name="T8" fmla="*/ 1 w 171"/>
                <a:gd name="T9" fmla="*/ 1 h 384"/>
                <a:gd name="T10" fmla="*/ 1 w 171"/>
                <a:gd name="T11" fmla="*/ 1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1"/>
                <a:gd name="T19" fmla="*/ 0 h 384"/>
                <a:gd name="T20" fmla="*/ 171 w 171"/>
                <a:gd name="T21" fmla="*/ 384 h 3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1" h="384">
                  <a:moveTo>
                    <a:pt x="123" y="0"/>
                  </a:moveTo>
                  <a:cubicBezTo>
                    <a:pt x="83" y="32"/>
                    <a:pt x="47" y="58"/>
                    <a:pt x="27" y="96"/>
                  </a:cubicBezTo>
                  <a:cubicBezTo>
                    <a:pt x="7" y="134"/>
                    <a:pt x="0" y="190"/>
                    <a:pt x="3" y="225"/>
                  </a:cubicBezTo>
                  <a:cubicBezTo>
                    <a:pt x="6" y="260"/>
                    <a:pt x="27" y="286"/>
                    <a:pt x="45" y="309"/>
                  </a:cubicBezTo>
                  <a:cubicBezTo>
                    <a:pt x="63" y="332"/>
                    <a:pt x="93" y="353"/>
                    <a:pt x="114" y="365"/>
                  </a:cubicBezTo>
                  <a:cubicBezTo>
                    <a:pt x="135" y="377"/>
                    <a:pt x="159" y="380"/>
                    <a:pt x="171" y="384"/>
                  </a:cubicBezTo>
                </a:path>
              </a:pathLst>
            </a:cu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Freeform 79">
              <a:extLst>
                <a:ext uri="{FF2B5EF4-FFF2-40B4-BE49-F238E27FC236}">
                  <a16:creationId xmlns:a16="http://schemas.microsoft.com/office/drawing/2014/main" id="{5D744277-1207-4CE4-A4E4-18483E24F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976"/>
              <a:ext cx="112" cy="267"/>
            </a:xfrm>
            <a:custGeom>
              <a:avLst/>
              <a:gdLst>
                <a:gd name="T0" fmla="*/ 1 w 171"/>
                <a:gd name="T1" fmla="*/ 0 h 384"/>
                <a:gd name="T2" fmla="*/ 1 w 171"/>
                <a:gd name="T3" fmla="*/ 1 h 384"/>
                <a:gd name="T4" fmla="*/ 1 w 171"/>
                <a:gd name="T5" fmla="*/ 1 h 384"/>
                <a:gd name="T6" fmla="*/ 1 w 171"/>
                <a:gd name="T7" fmla="*/ 1 h 384"/>
                <a:gd name="T8" fmla="*/ 1 w 171"/>
                <a:gd name="T9" fmla="*/ 1 h 384"/>
                <a:gd name="T10" fmla="*/ 1 w 171"/>
                <a:gd name="T11" fmla="*/ 1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1"/>
                <a:gd name="T19" fmla="*/ 0 h 384"/>
                <a:gd name="T20" fmla="*/ 171 w 171"/>
                <a:gd name="T21" fmla="*/ 384 h 3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1" h="384">
                  <a:moveTo>
                    <a:pt x="123" y="0"/>
                  </a:moveTo>
                  <a:cubicBezTo>
                    <a:pt x="83" y="32"/>
                    <a:pt x="47" y="58"/>
                    <a:pt x="27" y="96"/>
                  </a:cubicBezTo>
                  <a:cubicBezTo>
                    <a:pt x="7" y="134"/>
                    <a:pt x="0" y="190"/>
                    <a:pt x="3" y="225"/>
                  </a:cubicBezTo>
                  <a:cubicBezTo>
                    <a:pt x="6" y="260"/>
                    <a:pt x="27" y="286"/>
                    <a:pt x="45" y="309"/>
                  </a:cubicBezTo>
                  <a:cubicBezTo>
                    <a:pt x="63" y="332"/>
                    <a:pt x="93" y="353"/>
                    <a:pt x="114" y="365"/>
                  </a:cubicBezTo>
                  <a:cubicBezTo>
                    <a:pt x="135" y="377"/>
                    <a:pt x="159" y="380"/>
                    <a:pt x="171" y="384"/>
                  </a:cubicBezTo>
                </a:path>
              </a:pathLst>
            </a:cu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Line 80">
              <a:extLst>
                <a:ext uri="{FF2B5EF4-FFF2-40B4-BE49-F238E27FC236}">
                  <a16:creationId xmlns:a16="http://schemas.microsoft.com/office/drawing/2014/main" id="{F40B7F8F-E0DD-4AD4-8B34-B1864C6F3A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3" y="1243"/>
              <a:ext cx="911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Line 81">
              <a:extLst>
                <a:ext uri="{FF2B5EF4-FFF2-40B4-BE49-F238E27FC236}">
                  <a16:creationId xmlns:a16="http://schemas.microsoft.com/office/drawing/2014/main" id="{DCBAD50C-FB13-4A9E-B1D5-AE3ECA29CB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791"/>
              <a:ext cx="0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Line 82">
              <a:extLst>
                <a:ext uri="{FF2B5EF4-FFF2-40B4-BE49-F238E27FC236}">
                  <a16:creationId xmlns:a16="http://schemas.microsoft.com/office/drawing/2014/main" id="{4AFE0A30-8ABE-416D-9613-633DE45CA7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40" y="876"/>
              <a:ext cx="157" cy="10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Line 83">
              <a:extLst>
                <a:ext uri="{FF2B5EF4-FFF2-40B4-BE49-F238E27FC236}">
                  <a16:creationId xmlns:a16="http://schemas.microsoft.com/office/drawing/2014/main" id="{6439CA0A-E569-4CE9-A86F-CF0932CC2E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8" y="743"/>
              <a:ext cx="377" cy="23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Line 84">
              <a:extLst>
                <a:ext uri="{FF2B5EF4-FFF2-40B4-BE49-F238E27FC236}">
                  <a16:creationId xmlns:a16="http://schemas.microsoft.com/office/drawing/2014/main" id="{C1B66648-6C1D-4EEC-8860-89342C0678E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06706" flipH="1">
              <a:off x="4008" y="709"/>
              <a:ext cx="252" cy="201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Line 85">
              <a:extLst>
                <a:ext uri="{FF2B5EF4-FFF2-40B4-BE49-F238E27FC236}">
                  <a16:creationId xmlns:a16="http://schemas.microsoft.com/office/drawing/2014/main" id="{FCCEA41A-6BDE-4FFA-9750-F9BE1642C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0" y="809"/>
              <a:ext cx="377" cy="234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Line 86">
              <a:extLst>
                <a:ext uri="{FF2B5EF4-FFF2-40B4-BE49-F238E27FC236}">
                  <a16:creationId xmlns:a16="http://schemas.microsoft.com/office/drawing/2014/main" id="{05275618-253B-4E5E-8226-05BED558ED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440"/>
              <a:ext cx="4" cy="10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Line 87">
              <a:extLst>
                <a:ext uri="{FF2B5EF4-FFF2-40B4-BE49-F238E27FC236}">
                  <a16:creationId xmlns:a16="http://schemas.microsoft.com/office/drawing/2014/main" id="{33EF358D-3B5C-4E9A-BCB7-1E149FEFE9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1" y="1440"/>
              <a:ext cx="3" cy="10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Line 88">
              <a:extLst>
                <a:ext uri="{FF2B5EF4-FFF2-40B4-BE49-F238E27FC236}">
                  <a16:creationId xmlns:a16="http://schemas.microsoft.com/office/drawing/2014/main" id="{071B7195-FCD5-4245-A829-FA26B3FA57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920"/>
              <a:ext cx="0" cy="144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3" name="AutoShape 10">
            <a:extLst>
              <a:ext uri="{FF2B5EF4-FFF2-40B4-BE49-F238E27FC236}">
                <a16:creationId xmlns:a16="http://schemas.microsoft.com/office/drawing/2014/main" id="{B7626AE1-8EDF-4CD1-A6BE-833EFD7DC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0873" y="2603970"/>
            <a:ext cx="673100" cy="762000"/>
          </a:xfrm>
          <a:prstGeom prst="cloudCallout">
            <a:avLst>
              <a:gd name="adj1" fmla="val 125000"/>
              <a:gd name="adj2" fmla="val -39583"/>
            </a:avLst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solidFill>
                <a:srgbClr val="0033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94" name="Text Box 11">
            <a:extLst>
              <a:ext uri="{FF2B5EF4-FFF2-40B4-BE49-F238E27FC236}">
                <a16:creationId xmlns:a16="http://schemas.microsoft.com/office/drawing/2014/main" id="{E3562DBC-FE84-4B5D-AA96-D80E43F3A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773" y="2429345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逸出功</a:t>
            </a:r>
          </a:p>
        </p:txBody>
      </p:sp>
      <p:sp>
        <p:nvSpPr>
          <p:cNvPr id="95" name="Rectangle 27">
            <a:extLst>
              <a:ext uri="{FF2B5EF4-FFF2-40B4-BE49-F238E27FC236}">
                <a16:creationId xmlns:a16="http://schemas.microsoft.com/office/drawing/2014/main" id="{516AEB20-CA47-4A70-A606-E25EC470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185" y="3386607"/>
            <a:ext cx="5111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>
                <a:solidFill>
                  <a:srgbClr val="0033CC"/>
                </a:solidFill>
                <a:ea typeface="楷体_GB2312" pitchFamily="49" charset="-122"/>
              </a:rPr>
              <a:t>————</a:t>
            </a:r>
            <a:r>
              <a:rPr kumimoji="1" lang="zh-CN" altLang="en-US" sz="2800" b="1">
                <a:solidFill>
                  <a:srgbClr val="0033CC"/>
                </a:solidFill>
                <a:ea typeface="楷体_GB2312" pitchFamily="49" charset="-122"/>
              </a:rPr>
              <a:t>光电</a:t>
            </a:r>
            <a:r>
              <a:rPr kumimoji="1" lang="zh-CN" altLang="en-US" sz="2800" b="1" dirty="0">
                <a:solidFill>
                  <a:srgbClr val="0033CC"/>
                </a:solidFill>
                <a:ea typeface="楷体_GB2312" pitchFamily="49" charset="-122"/>
              </a:rPr>
              <a:t>方程</a:t>
            </a:r>
          </a:p>
        </p:txBody>
      </p:sp>
      <p:graphicFrame>
        <p:nvGraphicFramePr>
          <p:cNvPr id="96" name="Object 28">
            <a:extLst>
              <a:ext uri="{FF2B5EF4-FFF2-40B4-BE49-F238E27FC236}">
                <a16:creationId xmlns:a16="http://schemas.microsoft.com/office/drawing/2014/main" id="{A6F7574C-D80F-4C89-B552-E84CD406D0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585" y="2610320"/>
          <a:ext cx="2273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3" name="Equation" r:id="rId5" imgW="2273300" imgH="698500" progId="Equation.DSMT4">
                  <p:embed/>
                </p:oleObj>
              </mc:Choice>
              <mc:Fallback>
                <p:oleObj name="Equation" r:id="rId5" imgW="2273300" imgH="698500" progId="Equation.DSMT4">
                  <p:embed/>
                  <p:pic>
                    <p:nvPicPr>
                      <p:cNvPr id="96" name="Object 28">
                        <a:extLst>
                          <a:ext uri="{FF2B5EF4-FFF2-40B4-BE49-F238E27FC236}">
                            <a16:creationId xmlns:a16="http://schemas.microsoft.com/office/drawing/2014/main" id="{A6F7574C-D80F-4C89-B552-E84CD406D0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85" y="2610320"/>
                        <a:ext cx="2273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8">
            <a:extLst>
              <a:ext uri="{FF2B5EF4-FFF2-40B4-BE49-F238E27FC236}">
                <a16:creationId xmlns:a16="http://schemas.microsoft.com/office/drawing/2014/main" id="{B3A55333-138B-4F20-94EF-BAC2BFEBE2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4976" y="3976798"/>
          <a:ext cx="1122848" cy="763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4" name="Equation" r:id="rId7" imgW="1066800" imgH="711200" progId="Equation.DSMT4">
                  <p:embed/>
                </p:oleObj>
              </mc:Choice>
              <mc:Fallback>
                <p:oleObj name="Equation" r:id="rId7" imgW="1066800" imgH="711200" progId="Equation.DSMT4">
                  <p:embed/>
                  <p:pic>
                    <p:nvPicPr>
                      <p:cNvPr id="97" name="Object 8">
                        <a:extLst>
                          <a:ext uri="{FF2B5EF4-FFF2-40B4-BE49-F238E27FC236}">
                            <a16:creationId xmlns:a16="http://schemas.microsoft.com/office/drawing/2014/main" id="{B3A55333-138B-4F20-94EF-BAC2BFEBE2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976" y="3976798"/>
                        <a:ext cx="1122848" cy="7633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06393295-D84A-490E-8440-5663E4B939BD}"/>
              </a:ext>
            </a:extLst>
          </p:cNvPr>
          <p:cNvSpPr/>
          <p:nvPr/>
        </p:nvSpPr>
        <p:spPr>
          <a:xfrm>
            <a:off x="69099" y="4037065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rPr>
              <a:t>红限频率：</a:t>
            </a:r>
            <a:endParaRPr lang="zh-CN" altLang="en-US" sz="2800" dirty="0">
              <a:solidFill>
                <a:srgbClr val="0033CC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BCBD6B-0F56-4BF1-88DC-CFD5D448E3D5}"/>
              </a:ext>
            </a:extLst>
          </p:cNvPr>
          <p:cNvSpPr/>
          <p:nvPr/>
        </p:nvSpPr>
        <p:spPr>
          <a:xfrm>
            <a:off x="101360" y="4932186"/>
            <a:ext cx="449353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对光电效应的解释：</a:t>
            </a:r>
            <a:endParaRPr kumimoji="1" lang="en-US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饱和光电流与入射光强度成正比</a:t>
            </a:r>
            <a:endParaRPr kumimoji="1" lang="en-US" altLang="zh-CN" sz="2400" b="1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最大初动能与频率成线性关系</a:t>
            </a:r>
            <a:endParaRPr kumimoji="1" lang="en-US" altLang="zh-CN" sz="2400" b="1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光电效应具有瞬时性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6672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93" grpId="0" animBg="1"/>
      <p:bldP spid="94" grpId="0"/>
      <p:bldP spid="95" grpId="0"/>
      <p:bldP spid="3" grpId="0"/>
      <p:bldP spid="2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3">
      <a:dk1>
        <a:srgbClr val="000066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56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66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56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6262</TotalTime>
  <Words>2669</Words>
  <Application>Microsoft Office PowerPoint</Application>
  <PresentationFormat>全屏显示(4:3)</PresentationFormat>
  <Paragraphs>442</Paragraphs>
  <Slides>36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36</vt:i4>
      </vt:variant>
    </vt:vector>
  </HeadingPairs>
  <TitlesOfParts>
    <vt:vector size="51" baseType="lpstr">
      <vt:lpstr>仿宋</vt:lpstr>
      <vt:lpstr>黑体</vt:lpstr>
      <vt:lpstr>楷体_GB2312</vt:lpstr>
      <vt:lpstr>隶书</vt:lpstr>
      <vt:lpstr>宋体</vt:lpstr>
      <vt:lpstr>Arial</vt:lpstr>
      <vt:lpstr>Calibri</vt:lpstr>
      <vt:lpstr>Symbol</vt:lpstr>
      <vt:lpstr>Times New Roman</vt:lpstr>
      <vt:lpstr>Wingdings</vt:lpstr>
      <vt:lpstr>默认设计模板</vt:lpstr>
      <vt:lpstr>Equation</vt:lpstr>
      <vt:lpstr>MathType 6.0 Equation</vt:lpstr>
      <vt:lpstr>公式</vt:lpstr>
      <vt:lpstr>剪辑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第六篇  量子物理</dc:title>
  <dc:creator>ZHANG Yanbin,Elian</dc:creator>
  <cp:lastModifiedBy>Liuwei</cp:lastModifiedBy>
  <cp:revision>311</cp:revision>
  <cp:lastPrinted>2019-11-28T12:59:50Z</cp:lastPrinted>
  <dcterms:created xsi:type="dcterms:W3CDTF">2001-07-24T09:04:28Z</dcterms:created>
  <dcterms:modified xsi:type="dcterms:W3CDTF">2025-12-01T05:08:53Z</dcterms:modified>
</cp:coreProperties>
</file>