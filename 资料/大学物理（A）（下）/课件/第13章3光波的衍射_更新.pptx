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4"/>
  </p:notesMasterIdLst>
  <p:sldIdLst>
    <p:sldId id="349" r:id="rId2"/>
    <p:sldId id="347" r:id="rId3"/>
    <p:sldId id="366" r:id="rId4"/>
    <p:sldId id="311" r:id="rId5"/>
    <p:sldId id="257" r:id="rId6"/>
    <p:sldId id="258" r:id="rId7"/>
    <p:sldId id="313" r:id="rId8"/>
    <p:sldId id="306" r:id="rId9"/>
    <p:sldId id="307" r:id="rId10"/>
    <p:sldId id="260" r:id="rId11"/>
    <p:sldId id="261" r:id="rId12"/>
    <p:sldId id="336" r:id="rId13"/>
    <p:sldId id="337" r:id="rId14"/>
    <p:sldId id="341" r:id="rId15"/>
    <p:sldId id="339" r:id="rId16"/>
    <p:sldId id="362" r:id="rId17"/>
    <p:sldId id="315" r:id="rId18"/>
    <p:sldId id="316" r:id="rId19"/>
    <p:sldId id="267" r:id="rId20"/>
    <p:sldId id="317" r:id="rId21"/>
    <p:sldId id="318" r:id="rId22"/>
    <p:sldId id="319" r:id="rId23"/>
    <p:sldId id="320" r:id="rId24"/>
    <p:sldId id="348" r:id="rId25"/>
    <p:sldId id="269" r:id="rId26"/>
    <p:sldId id="303" r:id="rId27"/>
    <p:sldId id="361" r:id="rId28"/>
    <p:sldId id="367" r:id="rId29"/>
    <p:sldId id="359" r:id="rId30"/>
    <p:sldId id="368" r:id="rId31"/>
    <p:sldId id="270" r:id="rId32"/>
    <p:sldId id="271" r:id="rId33"/>
    <p:sldId id="329" r:id="rId34"/>
    <p:sldId id="330" r:id="rId35"/>
    <p:sldId id="331" r:id="rId36"/>
    <p:sldId id="332" r:id="rId37"/>
    <p:sldId id="351" r:id="rId38"/>
    <p:sldId id="369" r:id="rId39"/>
    <p:sldId id="360" r:id="rId40"/>
    <p:sldId id="273" r:id="rId41"/>
    <p:sldId id="275" r:id="rId42"/>
    <p:sldId id="276" r:id="rId43"/>
    <p:sldId id="342" r:id="rId44"/>
    <p:sldId id="343" r:id="rId45"/>
    <p:sldId id="344" r:id="rId46"/>
    <p:sldId id="312" r:id="rId47"/>
    <p:sldId id="345" r:id="rId48"/>
    <p:sldId id="346" r:id="rId49"/>
    <p:sldId id="353" r:id="rId50"/>
    <p:sldId id="354" r:id="rId51"/>
    <p:sldId id="370" r:id="rId52"/>
    <p:sldId id="371" r:id="rId53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5FBB7"/>
    <a:srgbClr val="EDF888"/>
    <a:srgbClr val="000066"/>
    <a:srgbClr val="FF33CC"/>
    <a:srgbClr val="00FF00"/>
    <a:srgbClr val="CC00CC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146" y="114"/>
      </p:cViewPr>
      <p:guideLst>
        <p:guide orient="horz" pos="2160"/>
        <p:guide pos="2880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wmf"/><Relationship Id="rId7" Type="http://schemas.openxmlformats.org/officeDocument/2006/relationships/image" Target="../media/image7.e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12" Type="http://schemas.openxmlformats.org/officeDocument/2006/relationships/image" Target="../media/image33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11" Type="http://schemas.openxmlformats.org/officeDocument/2006/relationships/image" Target="../media/image32.wmf"/><Relationship Id="rId5" Type="http://schemas.openxmlformats.org/officeDocument/2006/relationships/image" Target="../media/image26.wmf"/><Relationship Id="rId10" Type="http://schemas.openxmlformats.org/officeDocument/2006/relationships/image" Target="../media/image31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image" Target="../media/image94.wmf"/><Relationship Id="rId7" Type="http://schemas.openxmlformats.org/officeDocument/2006/relationships/image" Target="../media/image98.wmf"/><Relationship Id="rId2" Type="http://schemas.openxmlformats.org/officeDocument/2006/relationships/image" Target="../media/image93.wmf"/><Relationship Id="rId1" Type="http://schemas.openxmlformats.org/officeDocument/2006/relationships/image" Target="../media/image92.png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19.wmf"/><Relationship Id="rId5" Type="http://schemas.openxmlformats.org/officeDocument/2006/relationships/image" Target="../media/image41.wmf"/><Relationship Id="rId4" Type="http://schemas.openxmlformats.org/officeDocument/2006/relationships/image" Target="../media/image118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10" Type="http://schemas.openxmlformats.org/officeDocument/2006/relationships/image" Target="../media/image129.wmf"/><Relationship Id="rId4" Type="http://schemas.openxmlformats.org/officeDocument/2006/relationships/image" Target="../media/image123.wmf"/><Relationship Id="rId9" Type="http://schemas.openxmlformats.org/officeDocument/2006/relationships/image" Target="../media/image12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image" Target="../media/image132.wmf"/><Relationship Id="rId7" Type="http://schemas.openxmlformats.org/officeDocument/2006/relationships/image" Target="../media/image126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6" Type="http://schemas.openxmlformats.org/officeDocument/2006/relationships/image" Target="../media/image125.wmf"/><Relationship Id="rId11" Type="http://schemas.openxmlformats.org/officeDocument/2006/relationships/image" Target="../media/image135.wmf"/><Relationship Id="rId5" Type="http://schemas.openxmlformats.org/officeDocument/2006/relationships/image" Target="../media/image134.wmf"/><Relationship Id="rId10" Type="http://schemas.openxmlformats.org/officeDocument/2006/relationships/image" Target="../media/image129.wmf"/><Relationship Id="rId4" Type="http://schemas.openxmlformats.org/officeDocument/2006/relationships/image" Target="../media/image133.wmf"/><Relationship Id="rId9" Type="http://schemas.openxmlformats.org/officeDocument/2006/relationships/image" Target="../media/image12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19.wmf"/><Relationship Id="rId5" Type="http://schemas.openxmlformats.org/officeDocument/2006/relationships/image" Target="../media/image41.wmf"/><Relationship Id="rId4" Type="http://schemas.openxmlformats.org/officeDocument/2006/relationships/image" Target="../media/image11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5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6" Type="http://schemas.openxmlformats.org/officeDocument/2006/relationships/image" Target="../media/image164.wmf"/><Relationship Id="rId5" Type="http://schemas.openxmlformats.org/officeDocument/2006/relationships/image" Target="../media/image163.emf"/><Relationship Id="rId4" Type="http://schemas.openxmlformats.org/officeDocument/2006/relationships/image" Target="../media/image162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4" Type="http://schemas.openxmlformats.org/officeDocument/2006/relationships/image" Target="../media/image170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image" Target="../media/image173.wmf"/><Relationship Id="rId7" Type="http://schemas.openxmlformats.org/officeDocument/2006/relationships/image" Target="../media/image177.png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10" Type="http://schemas.openxmlformats.org/officeDocument/2006/relationships/image" Target="../media/image169.wmf"/><Relationship Id="rId4" Type="http://schemas.openxmlformats.org/officeDocument/2006/relationships/image" Target="../media/image174.wmf"/><Relationship Id="rId9" Type="http://schemas.openxmlformats.org/officeDocument/2006/relationships/image" Target="../media/image16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w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6.png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7.png"/><Relationship Id="rId1" Type="http://schemas.openxmlformats.org/officeDocument/2006/relationships/image" Target="../media/image176.png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0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image" Target="../media/image199.wmf"/><Relationship Id="rId1" Type="http://schemas.openxmlformats.org/officeDocument/2006/relationships/image" Target="../media/image198.png"/><Relationship Id="rId4" Type="http://schemas.openxmlformats.org/officeDocument/2006/relationships/image" Target="../media/image201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13" Type="http://schemas.openxmlformats.org/officeDocument/2006/relationships/image" Target="../media/image214.wmf"/><Relationship Id="rId3" Type="http://schemas.openxmlformats.org/officeDocument/2006/relationships/image" Target="../media/image204.wmf"/><Relationship Id="rId7" Type="http://schemas.openxmlformats.org/officeDocument/2006/relationships/image" Target="../media/image208.wmf"/><Relationship Id="rId12" Type="http://schemas.openxmlformats.org/officeDocument/2006/relationships/image" Target="../media/image213.wmf"/><Relationship Id="rId2" Type="http://schemas.openxmlformats.org/officeDocument/2006/relationships/image" Target="../media/image203.wmf"/><Relationship Id="rId1" Type="http://schemas.openxmlformats.org/officeDocument/2006/relationships/image" Target="../media/image202.wmf"/><Relationship Id="rId6" Type="http://schemas.openxmlformats.org/officeDocument/2006/relationships/image" Target="../media/image207.wmf"/><Relationship Id="rId11" Type="http://schemas.openxmlformats.org/officeDocument/2006/relationships/image" Target="../media/image212.wmf"/><Relationship Id="rId5" Type="http://schemas.openxmlformats.org/officeDocument/2006/relationships/image" Target="../media/image206.wmf"/><Relationship Id="rId10" Type="http://schemas.openxmlformats.org/officeDocument/2006/relationships/image" Target="../media/image211.wmf"/><Relationship Id="rId4" Type="http://schemas.openxmlformats.org/officeDocument/2006/relationships/image" Target="../media/image205.png"/><Relationship Id="rId9" Type="http://schemas.openxmlformats.org/officeDocument/2006/relationships/image" Target="../media/image210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wmf"/><Relationship Id="rId3" Type="http://schemas.openxmlformats.org/officeDocument/2006/relationships/image" Target="../media/image220.wmf"/><Relationship Id="rId7" Type="http://schemas.openxmlformats.org/officeDocument/2006/relationships/image" Target="../media/image224.png"/><Relationship Id="rId2" Type="http://schemas.openxmlformats.org/officeDocument/2006/relationships/image" Target="../media/image219.wmf"/><Relationship Id="rId1" Type="http://schemas.openxmlformats.org/officeDocument/2006/relationships/image" Target="../media/image218.wmf"/><Relationship Id="rId6" Type="http://schemas.openxmlformats.org/officeDocument/2006/relationships/image" Target="../media/image223.wmf"/><Relationship Id="rId11" Type="http://schemas.openxmlformats.org/officeDocument/2006/relationships/image" Target="../media/image228.wmf"/><Relationship Id="rId5" Type="http://schemas.openxmlformats.org/officeDocument/2006/relationships/image" Target="../media/image222.wmf"/><Relationship Id="rId10" Type="http://schemas.openxmlformats.org/officeDocument/2006/relationships/image" Target="../media/image227.wmf"/><Relationship Id="rId4" Type="http://schemas.openxmlformats.org/officeDocument/2006/relationships/image" Target="../media/image221.wmf"/><Relationship Id="rId9" Type="http://schemas.openxmlformats.org/officeDocument/2006/relationships/image" Target="../media/image226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3" Type="http://schemas.openxmlformats.org/officeDocument/2006/relationships/image" Target="../media/image231.wmf"/><Relationship Id="rId7" Type="http://schemas.openxmlformats.org/officeDocument/2006/relationships/image" Target="../media/image235.wmf"/><Relationship Id="rId2" Type="http://schemas.openxmlformats.org/officeDocument/2006/relationships/image" Target="../media/image230.wmf"/><Relationship Id="rId1" Type="http://schemas.openxmlformats.org/officeDocument/2006/relationships/image" Target="../media/image229.wmf"/><Relationship Id="rId6" Type="http://schemas.openxmlformats.org/officeDocument/2006/relationships/image" Target="../media/image234.wmf"/><Relationship Id="rId11" Type="http://schemas.openxmlformats.org/officeDocument/2006/relationships/image" Target="../media/image238.wmf"/><Relationship Id="rId5" Type="http://schemas.openxmlformats.org/officeDocument/2006/relationships/image" Target="../media/image233.wmf"/><Relationship Id="rId10" Type="http://schemas.openxmlformats.org/officeDocument/2006/relationships/image" Target="../media/image237.wmf"/><Relationship Id="rId4" Type="http://schemas.openxmlformats.org/officeDocument/2006/relationships/image" Target="../media/image232.wmf"/><Relationship Id="rId9" Type="http://schemas.openxmlformats.org/officeDocument/2006/relationships/image" Target="../media/image236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wmf"/><Relationship Id="rId7" Type="http://schemas.openxmlformats.org/officeDocument/2006/relationships/image" Target="../media/image198.png"/><Relationship Id="rId2" Type="http://schemas.openxmlformats.org/officeDocument/2006/relationships/image" Target="../media/image240.wmf"/><Relationship Id="rId1" Type="http://schemas.openxmlformats.org/officeDocument/2006/relationships/image" Target="../media/image239.wmf"/><Relationship Id="rId6" Type="http://schemas.openxmlformats.org/officeDocument/2006/relationships/image" Target="../media/image244.wmf"/><Relationship Id="rId5" Type="http://schemas.openxmlformats.org/officeDocument/2006/relationships/image" Target="../media/image243.wmf"/><Relationship Id="rId4" Type="http://schemas.openxmlformats.org/officeDocument/2006/relationships/image" Target="../media/image242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wmf"/><Relationship Id="rId3" Type="http://schemas.openxmlformats.org/officeDocument/2006/relationships/image" Target="../media/image247.wmf"/><Relationship Id="rId7" Type="http://schemas.openxmlformats.org/officeDocument/2006/relationships/image" Target="../media/image251.wmf"/><Relationship Id="rId2" Type="http://schemas.openxmlformats.org/officeDocument/2006/relationships/image" Target="../media/image246.wmf"/><Relationship Id="rId1" Type="http://schemas.openxmlformats.org/officeDocument/2006/relationships/image" Target="../media/image245.png"/><Relationship Id="rId6" Type="http://schemas.openxmlformats.org/officeDocument/2006/relationships/image" Target="../media/image250.wmf"/><Relationship Id="rId5" Type="http://schemas.openxmlformats.org/officeDocument/2006/relationships/image" Target="../media/image249.wmf"/><Relationship Id="rId4" Type="http://schemas.openxmlformats.org/officeDocument/2006/relationships/image" Target="../media/image248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wmf"/><Relationship Id="rId2" Type="http://schemas.openxmlformats.org/officeDocument/2006/relationships/image" Target="../media/image254.wmf"/><Relationship Id="rId1" Type="http://schemas.openxmlformats.org/officeDocument/2006/relationships/image" Target="../media/image253.emf"/><Relationship Id="rId4" Type="http://schemas.openxmlformats.org/officeDocument/2006/relationships/image" Target="../media/image256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3" Type="http://schemas.openxmlformats.org/officeDocument/2006/relationships/image" Target="../media/image259.wmf"/><Relationship Id="rId7" Type="http://schemas.openxmlformats.org/officeDocument/2006/relationships/image" Target="../media/image263.wmf"/><Relationship Id="rId2" Type="http://schemas.openxmlformats.org/officeDocument/2006/relationships/image" Target="../media/image258.wmf"/><Relationship Id="rId1" Type="http://schemas.openxmlformats.org/officeDocument/2006/relationships/image" Target="../media/image257.wmf"/><Relationship Id="rId6" Type="http://schemas.openxmlformats.org/officeDocument/2006/relationships/image" Target="../media/image262.wmf"/><Relationship Id="rId11" Type="http://schemas.openxmlformats.org/officeDocument/2006/relationships/image" Target="../media/image267.wmf"/><Relationship Id="rId5" Type="http://schemas.openxmlformats.org/officeDocument/2006/relationships/image" Target="../media/image261.wmf"/><Relationship Id="rId10" Type="http://schemas.openxmlformats.org/officeDocument/2006/relationships/image" Target="../media/image266.wmf"/><Relationship Id="rId4" Type="http://schemas.openxmlformats.org/officeDocument/2006/relationships/image" Target="../media/image260.wmf"/><Relationship Id="rId9" Type="http://schemas.openxmlformats.org/officeDocument/2006/relationships/image" Target="../media/image26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328703CF-50EA-4E17-9879-F9B389193EBF}" type="datetimeFigureOut">
              <a:rPr lang="zh-CN" altLang="en-US"/>
              <a:pPr>
                <a:defRPr/>
              </a:pPr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D3E1B05-B6BC-4503-AD32-30C477B946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8429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3275" indent="-3079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36663" indent="-2460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731963" indent="-2460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227263" indent="-2460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84463" indent="-2460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41663" indent="-2460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598863" indent="-2460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56063" indent="-2460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F35BB7B-9DCA-488F-9AD5-F2B96DCA5EA8}" type="slidenum">
              <a:rPr lang="zh-CN" altLang="en-US" sz="13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zh-CN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254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D6548-0D6C-4456-9B3B-A610B40A87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2921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F25A6-5FD7-429B-A93F-B999CD2EEA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4094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470F8F-90BB-4C85-AA4D-A986CF11EA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245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140962-8F3D-402C-8FAD-3C6182582B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675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91AE4-5FF3-409A-868E-F82BEFBBDA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8163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7DF506-F8DF-4C3C-815B-8C92579C22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855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F6AFC-CB59-4BF8-A80D-62590A00CB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978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73473-DC7A-435E-8669-2490243119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73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67CA62-D959-46A0-9935-82AD44DFF0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538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74C6D-6C2A-400B-9DB3-1373329EE7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739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8D9F7-D424-4AD6-A13A-31A92466C8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7080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568358-0D1F-40F8-9DBB-D5915127E3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4059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54066-DF8D-43DE-AC72-8D4257630E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727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FFFF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FFFF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FFFF00"/>
                </a:solidFill>
              </a:defRPr>
            </a:lvl1pPr>
          </a:lstStyle>
          <a:p>
            <a:pPr>
              <a:defRPr/>
            </a:pPr>
            <a:fld id="{FBCA647F-23B4-4BC0-8ACF-C9E03E9812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39" r:id="rId12"/>
    <p:sldLayoutId id="2147484040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9.wmf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9.wmf"/><Relationship Id="rId26" Type="http://schemas.openxmlformats.org/officeDocument/2006/relationships/image" Target="../media/image33.wmf"/><Relationship Id="rId3" Type="http://schemas.openxmlformats.org/officeDocument/2006/relationships/oleObject" Target="../embeddings/oleObject19.bin"/><Relationship Id="rId21" Type="http://schemas.openxmlformats.org/officeDocument/2006/relationships/oleObject" Target="../embeddings/oleObject28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6.bin"/><Relationship Id="rId25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32.wmf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7.wmf"/><Relationship Id="rId22" Type="http://schemas.openxmlformats.org/officeDocument/2006/relationships/image" Target="../media/image3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oleObject" Target="../embeddings/oleObject31.bin"/><Relationship Id="rId7" Type="http://schemas.openxmlformats.org/officeDocument/2006/relationships/image" Target="../media/image39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4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60.emf"/><Relationship Id="rId18" Type="http://schemas.openxmlformats.org/officeDocument/2006/relationships/image" Target="../media/image70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8.png"/><Relationship Id="rId1" Type="http://schemas.openxmlformats.org/officeDocument/2006/relationships/vmlDrawing" Target="../drawings/vmlDrawing9.vml"/><Relationship Id="rId6" Type="http://schemas.openxmlformats.org/officeDocument/2006/relationships/image" Target="../media/image64.png"/><Relationship Id="rId11" Type="http://schemas.openxmlformats.org/officeDocument/2006/relationships/image" Target="../media/image59.emf"/><Relationship Id="rId5" Type="http://schemas.openxmlformats.org/officeDocument/2006/relationships/image" Target="../media/image63.png"/><Relationship Id="rId15" Type="http://schemas.openxmlformats.org/officeDocument/2006/relationships/image" Target="../media/image67.png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71.png"/><Relationship Id="rId4" Type="http://schemas.openxmlformats.org/officeDocument/2006/relationships/image" Target="../media/image62.png"/><Relationship Id="rId9" Type="http://schemas.openxmlformats.org/officeDocument/2006/relationships/image" Target="../media/image58.emf"/><Relationship Id="rId1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oleObject" Target="../embeddings/oleObject42.bin"/><Relationship Id="rId21" Type="http://schemas.openxmlformats.org/officeDocument/2006/relationships/image" Target="../media/image87.png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3.wmf"/><Relationship Id="rId11" Type="http://schemas.openxmlformats.org/officeDocument/2006/relationships/image" Target="../media/image77.png"/><Relationship Id="rId5" Type="http://schemas.openxmlformats.org/officeDocument/2006/relationships/oleObject" Target="../embeddings/oleObject43.bin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2.wmf"/><Relationship Id="rId9" Type="http://schemas.openxmlformats.org/officeDocument/2006/relationships/image" Target="../media/image75.wmf"/><Relationship Id="rId14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1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5" Type="http://schemas.openxmlformats.org/officeDocument/2006/relationships/image" Target="../media/image75.wmf"/><Relationship Id="rId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99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96.wmf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8.wmf"/><Relationship Id="rId20" Type="http://schemas.openxmlformats.org/officeDocument/2006/relationships/image" Target="../media/image91.png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95.wmf"/><Relationship Id="rId19" Type="http://schemas.openxmlformats.org/officeDocument/2006/relationships/image" Target="../media/image100.png"/><Relationship Id="rId4" Type="http://schemas.openxmlformats.org/officeDocument/2006/relationships/image" Target="../media/image92.png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9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oleObject" Target="../embeddings/oleObject58.bin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6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118.wmf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11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127.wmf"/><Relationship Id="rId3" Type="http://schemas.openxmlformats.org/officeDocument/2006/relationships/oleObject" Target="../embeddings/oleObject59.bin"/><Relationship Id="rId21" Type="http://schemas.openxmlformats.org/officeDocument/2006/relationships/oleObject" Target="../embeddings/oleObject68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124.wmf"/><Relationship Id="rId17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20" Type="http://schemas.openxmlformats.org/officeDocument/2006/relationships/image" Target="../media/image128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123.wmf"/><Relationship Id="rId19" Type="http://schemas.openxmlformats.org/officeDocument/2006/relationships/oleObject" Target="../embeddings/oleObject67.bin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125.wmf"/><Relationship Id="rId22" Type="http://schemas.openxmlformats.org/officeDocument/2006/relationships/image" Target="../media/image12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127.wmf"/><Relationship Id="rId3" Type="http://schemas.openxmlformats.org/officeDocument/2006/relationships/oleObject" Target="../embeddings/oleObject69.bin"/><Relationship Id="rId21" Type="http://schemas.openxmlformats.org/officeDocument/2006/relationships/oleObject" Target="../embeddings/oleObject78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134.wmf"/><Relationship Id="rId17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20" Type="http://schemas.openxmlformats.org/officeDocument/2006/relationships/image" Target="../media/image128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1.wmf"/><Relationship Id="rId11" Type="http://schemas.openxmlformats.org/officeDocument/2006/relationships/oleObject" Target="../embeddings/oleObject73.bin"/><Relationship Id="rId24" Type="http://schemas.openxmlformats.org/officeDocument/2006/relationships/image" Target="../media/image135.wmf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23" Type="http://schemas.openxmlformats.org/officeDocument/2006/relationships/oleObject" Target="../embeddings/oleObject79.bin"/><Relationship Id="rId10" Type="http://schemas.openxmlformats.org/officeDocument/2006/relationships/image" Target="../media/image133.wmf"/><Relationship Id="rId19" Type="http://schemas.openxmlformats.org/officeDocument/2006/relationships/oleObject" Target="../embeddings/oleObject77.bin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125.wmf"/><Relationship Id="rId22" Type="http://schemas.openxmlformats.org/officeDocument/2006/relationships/image" Target="../media/image12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6.png"/><Relationship Id="rId5" Type="http://schemas.openxmlformats.org/officeDocument/2006/relationships/image" Target="../media/image137.png"/><Relationship Id="rId4" Type="http://schemas.openxmlformats.org/officeDocument/2006/relationships/image" Target="../media/image13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1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oleObject" Target="../embeddings/oleObject58.bin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6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118.wmf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119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1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46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14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50.wmf"/><Relationship Id="rId11" Type="http://schemas.openxmlformats.org/officeDocument/2006/relationships/image" Target="../media/image154.png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153.png"/><Relationship Id="rId4" Type="http://schemas.openxmlformats.org/officeDocument/2006/relationships/image" Target="../media/image149.wmf"/><Relationship Id="rId9" Type="http://schemas.openxmlformats.org/officeDocument/2006/relationships/image" Target="../media/image1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7" Type="http://schemas.openxmlformats.org/officeDocument/2006/relationships/image" Target="../media/image15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88.bin"/><Relationship Id="rId5" Type="http://schemas.openxmlformats.org/officeDocument/2006/relationships/image" Target="../media/image157.png"/><Relationship Id="rId4" Type="http://schemas.openxmlformats.org/officeDocument/2006/relationships/image" Target="../media/image155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167.png"/><Relationship Id="rId3" Type="http://schemas.openxmlformats.org/officeDocument/2006/relationships/image" Target="../media/image165.png"/><Relationship Id="rId7" Type="http://schemas.openxmlformats.org/officeDocument/2006/relationships/image" Target="../media/image160.wmf"/><Relationship Id="rId12" Type="http://schemas.openxmlformats.org/officeDocument/2006/relationships/image" Target="../media/image166.png"/><Relationship Id="rId17" Type="http://schemas.openxmlformats.org/officeDocument/2006/relationships/image" Target="../media/image16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4.bin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162.wmf"/><Relationship Id="rId5" Type="http://schemas.openxmlformats.org/officeDocument/2006/relationships/image" Target="../media/image159.wmf"/><Relationship Id="rId15" Type="http://schemas.openxmlformats.org/officeDocument/2006/relationships/image" Target="../media/image163.emf"/><Relationship Id="rId10" Type="http://schemas.openxmlformats.org/officeDocument/2006/relationships/oleObject" Target="../embeddings/oleObject92.bin"/><Relationship Id="rId4" Type="http://schemas.openxmlformats.org/officeDocument/2006/relationships/oleObject" Target="../embeddings/oleObject89.bin"/><Relationship Id="rId9" Type="http://schemas.openxmlformats.org/officeDocument/2006/relationships/image" Target="../media/image161.wmf"/><Relationship Id="rId14" Type="http://schemas.openxmlformats.org/officeDocument/2006/relationships/oleObject" Target="../embeddings/oleObject93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oleObject" Target="../embeddings/oleObject95.bin"/><Relationship Id="rId7" Type="http://schemas.openxmlformats.org/officeDocument/2006/relationships/image" Target="../media/image165.png"/><Relationship Id="rId12" Type="http://schemas.openxmlformats.org/officeDocument/2006/relationships/image" Target="../media/image1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69.w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162.wmf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92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13" Type="http://schemas.openxmlformats.org/officeDocument/2006/relationships/image" Target="../media/image175.png"/><Relationship Id="rId18" Type="http://schemas.openxmlformats.org/officeDocument/2006/relationships/oleObject" Target="../embeddings/oleObject97.bin"/><Relationship Id="rId3" Type="http://schemas.openxmlformats.org/officeDocument/2006/relationships/oleObject" Target="../embeddings/oleObject98.bin"/><Relationship Id="rId21" Type="http://schemas.openxmlformats.org/officeDocument/2006/relationships/image" Target="../media/image162.wmf"/><Relationship Id="rId7" Type="http://schemas.openxmlformats.org/officeDocument/2006/relationships/oleObject" Target="../embeddings/oleObject100.bin"/><Relationship Id="rId12" Type="http://schemas.openxmlformats.org/officeDocument/2006/relationships/oleObject" Target="../embeddings/oleObject102.bin"/><Relationship Id="rId17" Type="http://schemas.openxmlformats.org/officeDocument/2006/relationships/image" Target="../media/image177.png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4.bin"/><Relationship Id="rId20" Type="http://schemas.openxmlformats.org/officeDocument/2006/relationships/oleObject" Target="../embeddings/oleObject105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72.wmf"/><Relationship Id="rId11" Type="http://schemas.openxmlformats.org/officeDocument/2006/relationships/image" Target="../media/image174.wmf"/><Relationship Id="rId24" Type="http://schemas.openxmlformats.org/officeDocument/2006/relationships/image" Target="../media/image75.wmf"/><Relationship Id="rId5" Type="http://schemas.openxmlformats.org/officeDocument/2006/relationships/oleObject" Target="../embeddings/oleObject99.bin"/><Relationship Id="rId15" Type="http://schemas.openxmlformats.org/officeDocument/2006/relationships/image" Target="../media/image176.png"/><Relationship Id="rId23" Type="http://schemas.openxmlformats.org/officeDocument/2006/relationships/image" Target="../media/image169.wmf"/><Relationship Id="rId10" Type="http://schemas.openxmlformats.org/officeDocument/2006/relationships/oleObject" Target="../embeddings/oleObject101.bin"/><Relationship Id="rId19" Type="http://schemas.openxmlformats.org/officeDocument/2006/relationships/image" Target="../media/image170.wmf"/><Relationship Id="rId4" Type="http://schemas.openxmlformats.org/officeDocument/2006/relationships/image" Target="../media/image171.wmf"/><Relationship Id="rId9" Type="http://schemas.openxmlformats.org/officeDocument/2006/relationships/image" Target="../media/image178.png"/><Relationship Id="rId14" Type="http://schemas.openxmlformats.org/officeDocument/2006/relationships/oleObject" Target="../embeddings/oleObject103.bin"/><Relationship Id="rId22" Type="http://schemas.openxmlformats.org/officeDocument/2006/relationships/oleObject" Target="../embeddings/oleObject106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8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80.wmf"/><Relationship Id="rId11" Type="http://schemas.openxmlformats.org/officeDocument/2006/relationships/image" Target="../media/image184.png"/><Relationship Id="rId5" Type="http://schemas.openxmlformats.org/officeDocument/2006/relationships/oleObject" Target="../embeddings/oleObject108.bin"/><Relationship Id="rId10" Type="http://schemas.openxmlformats.org/officeDocument/2006/relationships/image" Target="../media/image183.png"/><Relationship Id="rId4" Type="http://schemas.openxmlformats.org/officeDocument/2006/relationships/image" Target="../media/image179.wmf"/><Relationship Id="rId9" Type="http://schemas.openxmlformats.org/officeDocument/2006/relationships/image" Target="../media/image18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18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77.png"/><Relationship Id="rId11" Type="http://schemas.openxmlformats.org/officeDocument/2006/relationships/image" Target="../media/image189.png"/><Relationship Id="rId5" Type="http://schemas.openxmlformats.org/officeDocument/2006/relationships/oleObject" Target="../embeddings/oleObject112.bin"/><Relationship Id="rId10" Type="http://schemas.openxmlformats.org/officeDocument/2006/relationships/image" Target="../media/image188.png"/><Relationship Id="rId4" Type="http://schemas.openxmlformats.org/officeDocument/2006/relationships/image" Target="../media/image176.png"/><Relationship Id="rId9" Type="http://schemas.openxmlformats.org/officeDocument/2006/relationships/image" Target="../media/image18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oleObject" Target="../embeddings/oleObject114.bin"/><Relationship Id="rId7" Type="http://schemas.openxmlformats.org/officeDocument/2006/relationships/image" Target="../media/image19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92.png"/><Relationship Id="rId11" Type="http://schemas.openxmlformats.org/officeDocument/2006/relationships/image" Target="../media/image197.png"/><Relationship Id="rId5" Type="http://schemas.openxmlformats.org/officeDocument/2006/relationships/image" Target="../media/image191.png"/><Relationship Id="rId10" Type="http://schemas.openxmlformats.org/officeDocument/2006/relationships/image" Target="../media/image196.png"/><Relationship Id="rId4" Type="http://schemas.openxmlformats.org/officeDocument/2006/relationships/image" Target="../media/image190.wmf"/><Relationship Id="rId9" Type="http://schemas.openxmlformats.org/officeDocument/2006/relationships/image" Target="../media/image19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99.wmf"/><Relationship Id="rId5" Type="http://schemas.openxmlformats.org/officeDocument/2006/relationships/oleObject" Target="../embeddings/oleObject116.bin"/><Relationship Id="rId10" Type="http://schemas.openxmlformats.org/officeDocument/2006/relationships/image" Target="../media/image201.wmf"/><Relationship Id="rId4" Type="http://schemas.openxmlformats.org/officeDocument/2006/relationships/image" Target="../media/image198.png"/><Relationship Id="rId9" Type="http://schemas.openxmlformats.org/officeDocument/2006/relationships/oleObject" Target="../embeddings/oleObject11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13" Type="http://schemas.openxmlformats.org/officeDocument/2006/relationships/oleObject" Target="../embeddings/oleObject124.bin"/><Relationship Id="rId18" Type="http://schemas.openxmlformats.org/officeDocument/2006/relationships/image" Target="../media/image209.wmf"/><Relationship Id="rId26" Type="http://schemas.openxmlformats.org/officeDocument/2006/relationships/image" Target="../media/image213.wmf"/><Relationship Id="rId3" Type="http://schemas.openxmlformats.org/officeDocument/2006/relationships/oleObject" Target="../embeddings/oleObject119.bin"/><Relationship Id="rId21" Type="http://schemas.openxmlformats.org/officeDocument/2006/relationships/oleObject" Target="../embeddings/oleObject128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206.wmf"/><Relationship Id="rId17" Type="http://schemas.openxmlformats.org/officeDocument/2006/relationships/oleObject" Target="../embeddings/oleObject126.bin"/><Relationship Id="rId25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8.wmf"/><Relationship Id="rId20" Type="http://schemas.openxmlformats.org/officeDocument/2006/relationships/image" Target="../media/image210.wmf"/><Relationship Id="rId29" Type="http://schemas.openxmlformats.org/officeDocument/2006/relationships/image" Target="../media/image215.png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03.wmf"/><Relationship Id="rId11" Type="http://schemas.openxmlformats.org/officeDocument/2006/relationships/oleObject" Target="../embeddings/oleObject123.bin"/><Relationship Id="rId24" Type="http://schemas.openxmlformats.org/officeDocument/2006/relationships/image" Target="../media/image212.wmf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23" Type="http://schemas.openxmlformats.org/officeDocument/2006/relationships/oleObject" Target="../embeddings/oleObject129.bin"/><Relationship Id="rId28" Type="http://schemas.openxmlformats.org/officeDocument/2006/relationships/image" Target="../media/image214.wmf"/><Relationship Id="rId10" Type="http://schemas.openxmlformats.org/officeDocument/2006/relationships/image" Target="../media/image205.png"/><Relationship Id="rId19" Type="http://schemas.openxmlformats.org/officeDocument/2006/relationships/oleObject" Target="../embeddings/oleObject127.bin"/><Relationship Id="rId4" Type="http://schemas.openxmlformats.org/officeDocument/2006/relationships/image" Target="../media/image202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207.wmf"/><Relationship Id="rId22" Type="http://schemas.openxmlformats.org/officeDocument/2006/relationships/image" Target="../media/image211.wmf"/><Relationship Id="rId27" Type="http://schemas.openxmlformats.org/officeDocument/2006/relationships/oleObject" Target="../embeddings/oleObject131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13" Type="http://schemas.openxmlformats.org/officeDocument/2006/relationships/oleObject" Target="../embeddings/oleObject137.bin"/><Relationship Id="rId18" Type="http://schemas.openxmlformats.org/officeDocument/2006/relationships/image" Target="../media/image225.wmf"/><Relationship Id="rId3" Type="http://schemas.openxmlformats.org/officeDocument/2006/relationships/oleObject" Target="../embeddings/oleObject132.bin"/><Relationship Id="rId21" Type="http://schemas.openxmlformats.org/officeDocument/2006/relationships/oleObject" Target="../embeddings/oleObject141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222.wmf"/><Relationship Id="rId17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4.png"/><Relationship Id="rId20" Type="http://schemas.openxmlformats.org/officeDocument/2006/relationships/image" Target="../media/image226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19.wmf"/><Relationship Id="rId11" Type="http://schemas.openxmlformats.org/officeDocument/2006/relationships/oleObject" Target="../embeddings/oleObject136.bin"/><Relationship Id="rId24" Type="http://schemas.openxmlformats.org/officeDocument/2006/relationships/image" Target="../media/image228.wmf"/><Relationship Id="rId5" Type="http://schemas.openxmlformats.org/officeDocument/2006/relationships/oleObject" Target="../embeddings/oleObject133.bin"/><Relationship Id="rId15" Type="http://schemas.openxmlformats.org/officeDocument/2006/relationships/oleObject" Target="../embeddings/oleObject138.bin"/><Relationship Id="rId23" Type="http://schemas.openxmlformats.org/officeDocument/2006/relationships/oleObject" Target="../embeddings/oleObject142.bin"/><Relationship Id="rId10" Type="http://schemas.openxmlformats.org/officeDocument/2006/relationships/image" Target="../media/image221.wmf"/><Relationship Id="rId19" Type="http://schemas.openxmlformats.org/officeDocument/2006/relationships/oleObject" Target="../embeddings/oleObject140.bin"/><Relationship Id="rId4" Type="http://schemas.openxmlformats.org/officeDocument/2006/relationships/image" Target="../media/image218.wmf"/><Relationship Id="rId9" Type="http://schemas.openxmlformats.org/officeDocument/2006/relationships/oleObject" Target="../embeddings/oleObject135.bin"/><Relationship Id="rId14" Type="http://schemas.openxmlformats.org/officeDocument/2006/relationships/image" Target="../media/image223.wmf"/><Relationship Id="rId22" Type="http://schemas.openxmlformats.org/officeDocument/2006/relationships/image" Target="../media/image227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98.png"/><Relationship Id="rId3" Type="http://schemas.openxmlformats.org/officeDocument/2006/relationships/oleObject" Target="../embeddings/oleObject143.bin"/><Relationship Id="rId21" Type="http://schemas.openxmlformats.org/officeDocument/2006/relationships/oleObject" Target="../embeddings/oleObject152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233.wmf"/><Relationship Id="rId17" Type="http://schemas.openxmlformats.org/officeDocument/2006/relationships/oleObject" Target="../embeddings/oleObject150.bin"/><Relationship Id="rId25" Type="http://schemas.openxmlformats.org/officeDocument/2006/relationships/image" Target="../media/image23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5.wmf"/><Relationship Id="rId20" Type="http://schemas.openxmlformats.org/officeDocument/2006/relationships/image" Target="../media/image236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30.wmf"/><Relationship Id="rId11" Type="http://schemas.openxmlformats.org/officeDocument/2006/relationships/oleObject" Target="../embeddings/oleObject147.bin"/><Relationship Id="rId24" Type="http://schemas.openxmlformats.org/officeDocument/2006/relationships/oleObject" Target="../embeddings/oleObject153.bin"/><Relationship Id="rId5" Type="http://schemas.openxmlformats.org/officeDocument/2006/relationships/oleObject" Target="../embeddings/oleObject144.bin"/><Relationship Id="rId15" Type="http://schemas.openxmlformats.org/officeDocument/2006/relationships/oleObject" Target="../embeddings/oleObject149.bin"/><Relationship Id="rId23" Type="http://schemas.openxmlformats.org/officeDocument/2006/relationships/image" Target="../media/image215.png"/><Relationship Id="rId10" Type="http://schemas.openxmlformats.org/officeDocument/2006/relationships/image" Target="../media/image232.wmf"/><Relationship Id="rId19" Type="http://schemas.openxmlformats.org/officeDocument/2006/relationships/oleObject" Target="../embeddings/oleObject151.bin"/><Relationship Id="rId4" Type="http://schemas.openxmlformats.org/officeDocument/2006/relationships/image" Target="../media/image229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234.wmf"/><Relationship Id="rId22" Type="http://schemas.openxmlformats.org/officeDocument/2006/relationships/image" Target="../media/image237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13" Type="http://schemas.openxmlformats.org/officeDocument/2006/relationships/oleObject" Target="../embeddings/oleObject159.bin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24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8.png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40.w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5" Type="http://schemas.openxmlformats.org/officeDocument/2006/relationships/oleObject" Target="../embeddings/oleObject160.bin"/><Relationship Id="rId10" Type="http://schemas.openxmlformats.org/officeDocument/2006/relationships/image" Target="../media/image242.wmf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244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oleObject" Target="../embeddings/oleObject166.bin"/><Relationship Id="rId18" Type="http://schemas.openxmlformats.org/officeDocument/2006/relationships/image" Target="../media/image252.wmf"/><Relationship Id="rId3" Type="http://schemas.openxmlformats.org/officeDocument/2006/relationships/oleObject" Target="../embeddings/oleObject161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249.wmf"/><Relationship Id="rId17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1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46.wmf"/><Relationship Id="rId11" Type="http://schemas.openxmlformats.org/officeDocument/2006/relationships/oleObject" Target="../embeddings/oleObject165.bin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67.bin"/><Relationship Id="rId10" Type="http://schemas.openxmlformats.org/officeDocument/2006/relationships/image" Target="../media/image248.wmf"/><Relationship Id="rId4" Type="http://schemas.openxmlformats.org/officeDocument/2006/relationships/image" Target="../media/image245.png"/><Relationship Id="rId9" Type="http://schemas.openxmlformats.org/officeDocument/2006/relationships/oleObject" Target="../embeddings/oleObject164.bin"/><Relationship Id="rId14" Type="http://schemas.openxmlformats.org/officeDocument/2006/relationships/image" Target="../media/image250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54.wmf"/><Relationship Id="rId5" Type="http://schemas.openxmlformats.org/officeDocument/2006/relationships/oleObject" Target="../embeddings/oleObject170.bin"/><Relationship Id="rId10" Type="http://schemas.openxmlformats.org/officeDocument/2006/relationships/image" Target="../media/image256.wmf"/><Relationship Id="rId4" Type="http://schemas.openxmlformats.org/officeDocument/2006/relationships/image" Target="../media/image253.emf"/><Relationship Id="rId9" Type="http://schemas.openxmlformats.org/officeDocument/2006/relationships/oleObject" Target="../embeddings/oleObject172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13" Type="http://schemas.openxmlformats.org/officeDocument/2006/relationships/oleObject" Target="../embeddings/oleObject178.bin"/><Relationship Id="rId18" Type="http://schemas.openxmlformats.org/officeDocument/2006/relationships/image" Target="../media/image264.wmf"/><Relationship Id="rId3" Type="http://schemas.openxmlformats.org/officeDocument/2006/relationships/oleObject" Target="../embeddings/oleObject173.bin"/><Relationship Id="rId21" Type="http://schemas.openxmlformats.org/officeDocument/2006/relationships/oleObject" Target="../embeddings/oleObject182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261.wmf"/><Relationship Id="rId17" Type="http://schemas.openxmlformats.org/officeDocument/2006/relationships/oleObject" Target="../embeddings/oleObject1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3.wmf"/><Relationship Id="rId20" Type="http://schemas.openxmlformats.org/officeDocument/2006/relationships/image" Target="../media/image265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58.wmf"/><Relationship Id="rId11" Type="http://schemas.openxmlformats.org/officeDocument/2006/relationships/oleObject" Target="../embeddings/oleObject177.bin"/><Relationship Id="rId24" Type="http://schemas.openxmlformats.org/officeDocument/2006/relationships/image" Target="../media/image267.wmf"/><Relationship Id="rId5" Type="http://schemas.openxmlformats.org/officeDocument/2006/relationships/oleObject" Target="../embeddings/oleObject174.bin"/><Relationship Id="rId15" Type="http://schemas.openxmlformats.org/officeDocument/2006/relationships/oleObject" Target="../embeddings/oleObject179.bin"/><Relationship Id="rId23" Type="http://schemas.openxmlformats.org/officeDocument/2006/relationships/oleObject" Target="../embeddings/oleObject183.bin"/><Relationship Id="rId10" Type="http://schemas.openxmlformats.org/officeDocument/2006/relationships/image" Target="../media/image260.wmf"/><Relationship Id="rId19" Type="http://schemas.openxmlformats.org/officeDocument/2006/relationships/oleObject" Target="../embeddings/oleObject181.bin"/><Relationship Id="rId4" Type="http://schemas.openxmlformats.org/officeDocument/2006/relationships/image" Target="../media/image257.wmf"/><Relationship Id="rId9" Type="http://schemas.openxmlformats.org/officeDocument/2006/relationships/oleObject" Target="../embeddings/oleObject176.bin"/><Relationship Id="rId14" Type="http://schemas.openxmlformats.org/officeDocument/2006/relationships/image" Target="../media/image262.wmf"/><Relationship Id="rId22" Type="http://schemas.openxmlformats.org/officeDocument/2006/relationships/image" Target="../media/image26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2388" y="493713"/>
            <a:ext cx="4156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劈尖干涉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等厚干涉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zh-CN" altLang="en-US" sz="28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1" name="Object 56"/>
          <p:cNvGraphicFramePr>
            <a:graphicFrameLocks noChangeAspect="1"/>
          </p:cNvGraphicFramePr>
          <p:nvPr/>
        </p:nvGraphicFramePr>
        <p:xfrm>
          <a:off x="190500" y="1611313"/>
          <a:ext cx="136842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14" name="Equation" r:id="rId3" imgW="1256755" imgH="672808" progId="Equation.DSMT4">
                  <p:embed/>
                </p:oleObj>
              </mc:Choice>
              <mc:Fallback>
                <p:oleObj name="Equation" r:id="rId3" imgW="1256755" imgH="672808" progId="Equation.DSMT4">
                  <p:embed/>
                  <p:pic>
                    <p:nvPicPr>
                      <p:cNvPr id="91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" y="1611313"/>
                        <a:ext cx="136842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" name="Group 57"/>
          <p:cNvGrpSpPr>
            <a:grpSpLocks/>
          </p:cNvGrpSpPr>
          <p:nvPr/>
        </p:nvGrpSpPr>
        <p:grpSpPr bwMode="auto">
          <a:xfrm>
            <a:off x="1630363" y="1579563"/>
            <a:ext cx="3803650" cy="1008062"/>
            <a:chOff x="1610" y="3246"/>
            <a:chExt cx="2344" cy="608"/>
          </a:xfrm>
        </p:grpSpPr>
        <p:sp>
          <p:nvSpPr>
            <p:cNvPr id="4122" name="AutoShape 58"/>
            <p:cNvSpPr>
              <a:spLocks/>
            </p:cNvSpPr>
            <p:nvPr/>
          </p:nvSpPr>
          <p:spPr bwMode="auto">
            <a:xfrm>
              <a:off x="1610" y="3271"/>
              <a:ext cx="91" cy="431"/>
            </a:xfrm>
            <a:prstGeom prst="leftBrace">
              <a:avLst>
                <a:gd name="adj1" fmla="val 39469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123" name="Object 59"/>
            <p:cNvGraphicFramePr>
              <a:graphicFrameLocks noChangeAspect="1"/>
            </p:cNvGraphicFramePr>
            <p:nvPr/>
          </p:nvGraphicFramePr>
          <p:xfrm>
            <a:off x="2536" y="3249"/>
            <a:ext cx="1326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15" name="Equation" r:id="rId5" imgW="2286000" imgH="342900" progId="Equation.DSMT4">
                    <p:embed/>
                  </p:oleObj>
                </mc:Choice>
                <mc:Fallback>
                  <p:oleObj name="Equation" r:id="rId5" imgW="2286000" imgH="342900" progId="Equation.DSMT4">
                    <p:embed/>
                    <p:pic>
                      <p:nvPicPr>
                        <p:cNvPr id="4123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6" y="3249"/>
                          <a:ext cx="1326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4" name="Object 60"/>
            <p:cNvGraphicFramePr>
              <a:graphicFrameLocks noChangeAspect="1"/>
            </p:cNvGraphicFramePr>
            <p:nvPr/>
          </p:nvGraphicFramePr>
          <p:xfrm>
            <a:off x="1761" y="3246"/>
            <a:ext cx="289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16" name="Equation" r:id="rId7" imgW="406224" imgH="279279" progId="Equation.DSMT4">
                    <p:embed/>
                  </p:oleObj>
                </mc:Choice>
                <mc:Fallback>
                  <p:oleObj name="Equation" r:id="rId7" imgW="406224" imgH="279279" progId="Equation.DSMT4">
                    <p:embed/>
                    <p:pic>
                      <p:nvPicPr>
                        <p:cNvPr id="4124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1" y="3246"/>
                          <a:ext cx="289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5" name="Object 61"/>
            <p:cNvGraphicFramePr>
              <a:graphicFrameLocks noChangeAspect="1"/>
            </p:cNvGraphicFramePr>
            <p:nvPr/>
          </p:nvGraphicFramePr>
          <p:xfrm>
            <a:off x="1722" y="3450"/>
            <a:ext cx="749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17" name="Equation" r:id="rId9" imgW="1371600" imgH="673100" progId="Equation.DSMT4">
                    <p:embed/>
                  </p:oleObj>
                </mc:Choice>
                <mc:Fallback>
                  <p:oleObj name="Equation" r:id="rId9" imgW="1371600" imgH="673100" progId="Equation.DSMT4">
                    <p:embed/>
                    <p:pic>
                      <p:nvPicPr>
                        <p:cNvPr id="4125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2" y="3450"/>
                          <a:ext cx="749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6" name="Object 62"/>
            <p:cNvGraphicFramePr>
              <a:graphicFrameLocks noChangeAspect="1"/>
            </p:cNvGraphicFramePr>
            <p:nvPr/>
          </p:nvGraphicFramePr>
          <p:xfrm>
            <a:off x="2547" y="3540"/>
            <a:ext cx="140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18" name="Equation" r:id="rId11" imgW="2425700" imgH="342900" progId="Equation.DSMT4">
                    <p:embed/>
                  </p:oleObj>
                </mc:Choice>
                <mc:Fallback>
                  <p:oleObj name="Equation" r:id="rId11" imgW="2425700" imgH="342900" progId="Equation.DSMT4">
                    <p:embed/>
                    <p:pic>
                      <p:nvPicPr>
                        <p:cNvPr id="4126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7" y="3540"/>
                          <a:ext cx="140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" name="Rectangle 2"/>
          <p:cNvSpPr>
            <a:spLocks noChangeArrowheads="1"/>
          </p:cNvSpPr>
          <p:nvPr/>
        </p:nvSpPr>
        <p:spPr bwMode="auto">
          <a:xfrm>
            <a:off x="120650" y="995363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明暗条件</a:t>
            </a:r>
          </a:p>
        </p:txBody>
      </p:sp>
      <p:graphicFrame>
        <p:nvGraphicFramePr>
          <p:cNvPr id="5126" name="Object 7"/>
          <p:cNvGraphicFramePr>
            <a:graphicFrameLocks noChangeAspect="1"/>
          </p:cNvGraphicFramePr>
          <p:nvPr/>
        </p:nvGraphicFramePr>
        <p:xfrm>
          <a:off x="5648325" y="1243013"/>
          <a:ext cx="338296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19" name="BMP 图像" r:id="rId13" imgW="0" imgH="0" progId="Paint.Picture">
                  <p:embed/>
                </p:oleObj>
              </mc:Choice>
              <mc:Fallback>
                <p:oleObj name="BMP 图像" r:id="rId13" imgW="0" imgH="0" progId="Paint.Picture">
                  <p:embed/>
                  <p:pic>
                    <p:nvPicPr>
                      <p:cNvPr id="512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1243013"/>
                        <a:ext cx="338296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ectangle 2"/>
          <p:cNvSpPr>
            <a:spLocks noChangeArrowheads="1"/>
          </p:cNvSpPr>
          <p:nvPr/>
        </p:nvSpPr>
        <p:spPr bwMode="auto">
          <a:xfrm>
            <a:off x="120650" y="2470150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条纹特征</a:t>
            </a:r>
          </a:p>
        </p:txBody>
      </p:sp>
      <p:sp>
        <p:nvSpPr>
          <p:cNvPr id="102" name="Text Box 2"/>
          <p:cNvSpPr txBox="1">
            <a:spLocks noChangeArrowheads="1"/>
          </p:cNvSpPr>
          <p:nvPr/>
        </p:nvSpPr>
        <p:spPr bwMode="auto">
          <a:xfrm>
            <a:off x="90488" y="3463925"/>
            <a:ext cx="89408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愈厚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条纹级别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愈高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棱边处</a:t>
            </a:r>
            <a:r>
              <a:rPr kumimoji="1" lang="zh-CN" altLang="en-US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i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kumimoji="1"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对应着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暗纹</a:t>
            </a:r>
          </a:p>
        </p:txBody>
      </p:sp>
      <p:sp>
        <p:nvSpPr>
          <p:cNvPr id="104" name="Text Box 4"/>
          <p:cNvSpPr txBox="1">
            <a:spLocks noChangeArrowheads="1"/>
          </p:cNvSpPr>
          <p:nvPr/>
        </p:nvSpPr>
        <p:spPr bwMode="auto">
          <a:xfrm>
            <a:off x="120650" y="3981450"/>
            <a:ext cx="594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相邻两明（暗）纹间对应的厚度差</a:t>
            </a:r>
          </a:p>
        </p:txBody>
      </p:sp>
      <p:sp>
        <p:nvSpPr>
          <p:cNvPr id="107" name="Rectangle 37"/>
          <p:cNvSpPr>
            <a:spLocks noChangeArrowheads="1"/>
          </p:cNvSpPr>
          <p:nvPr/>
        </p:nvSpPr>
        <p:spPr bwMode="auto">
          <a:xfrm>
            <a:off x="5529263" y="3981450"/>
            <a:ext cx="1716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d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/2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</a:p>
        </p:txBody>
      </p:sp>
      <p:sp>
        <p:nvSpPr>
          <p:cNvPr id="108" name="Rectangle 3"/>
          <p:cNvSpPr>
            <a:spLocks noChangeArrowheads="1"/>
          </p:cNvSpPr>
          <p:nvPr/>
        </p:nvSpPr>
        <p:spPr bwMode="auto">
          <a:xfrm>
            <a:off x="130175" y="4567238"/>
            <a:ext cx="3748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明（暗）纹间距 </a:t>
            </a:r>
            <a:endParaRPr kumimoji="1" lang="en-US" altLang="zh-CN" sz="2800" b="1" i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9" name="Object 5"/>
          <p:cNvGraphicFramePr>
            <a:graphicFrameLocks noChangeAspect="1"/>
          </p:cNvGraphicFramePr>
          <p:nvPr/>
        </p:nvGraphicFramePr>
        <p:xfrm>
          <a:off x="2822575" y="4506913"/>
          <a:ext cx="181292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20" name="MathType 6.0 Equation" r:id="rId15" imgW="1447913" imgH="571590" progId="Equation.DSMT4">
                  <p:embed/>
                </p:oleObj>
              </mc:Choice>
              <mc:Fallback>
                <p:oleObj name="MathType 6.0 Equation" r:id="rId15" imgW="1447913" imgH="571590" progId="Equation.DSMT4">
                  <p:embed/>
                  <p:pic>
                    <p:nvPicPr>
                      <p:cNvPr id="1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4506913"/>
                        <a:ext cx="1812925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Rectangle 39"/>
          <p:cNvSpPr>
            <a:spLocks noChangeArrowheads="1"/>
          </p:cNvSpPr>
          <p:nvPr/>
        </p:nvSpPr>
        <p:spPr bwMode="auto">
          <a:xfrm>
            <a:off x="187325" y="5645150"/>
            <a:ext cx="93117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条纹间距减小；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条纹向薄膜厚度较小方向移动</a:t>
            </a:r>
          </a:p>
        </p:txBody>
      </p:sp>
      <p:sp>
        <p:nvSpPr>
          <p:cNvPr id="113" name="Rectangle 2"/>
          <p:cNvSpPr>
            <a:spLocks noChangeArrowheads="1"/>
          </p:cNvSpPr>
          <p:nvPr/>
        </p:nvSpPr>
        <p:spPr bwMode="auto">
          <a:xfrm>
            <a:off x="165100" y="5049838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动态反应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79375" y="2943225"/>
            <a:ext cx="4152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同一膜厚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</a:t>
            </a:r>
          </a:p>
        </p:txBody>
      </p:sp>
      <p:sp>
        <p:nvSpPr>
          <p:cNvPr id="114" name="Rectangle 39"/>
          <p:cNvSpPr>
            <a:spLocks noChangeArrowheads="1"/>
          </p:cNvSpPr>
          <p:nvPr/>
        </p:nvSpPr>
        <p:spPr bwMode="auto">
          <a:xfrm>
            <a:off x="187325" y="6178550"/>
            <a:ext cx="722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条纹移动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对应的厚度变化</a:t>
            </a:r>
          </a:p>
        </p:txBody>
      </p:sp>
      <p:graphicFrame>
        <p:nvGraphicFramePr>
          <p:cNvPr id="115" name="Object 5"/>
          <p:cNvGraphicFramePr>
            <a:graphicFrameLocks noChangeAspect="1"/>
          </p:cNvGraphicFramePr>
          <p:nvPr/>
        </p:nvGraphicFramePr>
        <p:xfrm>
          <a:off x="4795838" y="6051550"/>
          <a:ext cx="107632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21" name="Equation" r:id="rId17" imgW="895221" imgH="533520" progId="Equation.DSMT4">
                  <p:embed/>
                </p:oleObj>
              </mc:Choice>
              <mc:Fallback>
                <p:oleObj name="Equation" r:id="rId17" imgW="895221" imgH="533520" progId="Equation.DSMT4">
                  <p:embed/>
                  <p:pic>
                    <p:nvPicPr>
                      <p:cNvPr id="11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8" y="6051550"/>
                        <a:ext cx="1076325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>
            <a:cxnSpLocks noChangeShapeType="1"/>
          </p:cNvCxnSpPr>
          <p:nvPr/>
        </p:nvCxnSpPr>
        <p:spPr bwMode="auto">
          <a:xfrm>
            <a:off x="7505700" y="1751013"/>
            <a:ext cx="0" cy="341312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连接符 24"/>
          <p:cNvCxnSpPr>
            <a:cxnSpLocks noChangeShapeType="1"/>
          </p:cNvCxnSpPr>
          <p:nvPr/>
        </p:nvCxnSpPr>
        <p:spPr bwMode="auto">
          <a:xfrm>
            <a:off x="8027988" y="1701800"/>
            <a:ext cx="0" cy="341313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6397625" y="2166938"/>
            <a:ext cx="275272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每一小区间等效</a:t>
            </a:r>
            <a:endParaRPr kumimoji="1" lang="en-US" altLang="zh-CN" sz="20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等倾干涉</a:t>
            </a:r>
          </a:p>
        </p:txBody>
      </p:sp>
      <p:cxnSp>
        <p:nvCxnSpPr>
          <p:cNvPr id="27" name="直接连接符 26"/>
          <p:cNvCxnSpPr>
            <a:cxnSpLocks noChangeShapeType="1"/>
          </p:cNvCxnSpPr>
          <p:nvPr/>
        </p:nvCxnSpPr>
        <p:spPr bwMode="auto">
          <a:xfrm>
            <a:off x="7667625" y="1770063"/>
            <a:ext cx="0" cy="306387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28"/>
          <p:cNvCxnSpPr>
            <a:cxnSpLocks noChangeShapeType="1"/>
          </p:cNvCxnSpPr>
          <p:nvPr/>
        </p:nvCxnSpPr>
        <p:spPr bwMode="auto">
          <a:xfrm>
            <a:off x="7848600" y="1727200"/>
            <a:ext cx="0" cy="342900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505700" y="1770063"/>
            <a:ext cx="161925" cy="300037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20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4795838" y="4608513"/>
            <a:ext cx="1830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空气隙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</a:p>
        </p:txBody>
      </p:sp>
    </p:spTree>
    <p:extLst>
      <p:ext uri="{BB962C8B-B14F-4D97-AF65-F5344CB8AC3E}">
        <p14:creationId xmlns:p14="http://schemas.microsoft.com/office/powerpoint/2010/main" val="19599778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1" grpId="0"/>
      <p:bldP spid="102" grpId="0"/>
      <p:bldP spid="104" grpId="0"/>
      <p:bldP spid="107" grpId="0"/>
      <p:bldP spid="108" grpId="0"/>
      <p:bldP spid="111" grpId="0"/>
      <p:bldP spid="113" grpId="0"/>
      <p:bldP spid="14" grpId="0"/>
      <p:bldP spid="114" grpId="0"/>
      <p:bldP spid="26" grpId="0"/>
      <p:bldP spid="5" grpId="0" animBg="1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2388" y="674248"/>
            <a:ext cx="275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牛顿环</a:t>
            </a:r>
          </a:p>
        </p:txBody>
      </p:sp>
      <p:graphicFrame>
        <p:nvGraphicFramePr>
          <p:cNvPr id="3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67849"/>
              </p:ext>
            </p:extLst>
          </p:nvPr>
        </p:nvGraphicFramePr>
        <p:xfrm>
          <a:off x="244475" y="2506223"/>
          <a:ext cx="5048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78" name="Equation" r:id="rId3" imgW="495085" imgH="228501" progId="Equation.DSMT4">
                  <p:embed/>
                </p:oleObj>
              </mc:Choice>
              <mc:Fallback>
                <p:oleObj name="Equation" r:id="rId3" imgW="495085" imgH="228501" progId="Equation.DSMT4">
                  <p:embed/>
                  <p:pic>
                    <p:nvPicPr>
                      <p:cNvPr id="3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" y="2506223"/>
                        <a:ext cx="5048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5"/>
          <p:cNvGrpSpPr>
            <a:grpSpLocks/>
          </p:cNvGrpSpPr>
          <p:nvPr/>
        </p:nvGrpSpPr>
        <p:grpSpPr bwMode="auto">
          <a:xfrm>
            <a:off x="820738" y="1966473"/>
            <a:ext cx="3851275" cy="1366837"/>
            <a:chOff x="1293" y="2546"/>
            <a:chExt cx="2426" cy="861"/>
          </a:xfrm>
        </p:grpSpPr>
        <p:sp>
          <p:nvSpPr>
            <p:cNvPr id="5165" name="AutoShape 13"/>
            <p:cNvSpPr>
              <a:spLocks/>
            </p:cNvSpPr>
            <p:nvPr/>
          </p:nvSpPr>
          <p:spPr bwMode="auto">
            <a:xfrm>
              <a:off x="1293" y="2659"/>
              <a:ext cx="113" cy="635"/>
            </a:xfrm>
            <a:prstGeom prst="leftBrace">
              <a:avLst>
                <a:gd name="adj1" fmla="val 4682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5166" name="Object 14"/>
            <p:cNvGraphicFramePr>
              <a:graphicFrameLocks noChangeAspect="1"/>
            </p:cNvGraphicFramePr>
            <p:nvPr/>
          </p:nvGraphicFramePr>
          <p:xfrm>
            <a:off x="1451" y="2546"/>
            <a:ext cx="226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79" name="Equation" r:id="rId5" imgW="3695700" imgH="812800" progId="Equation.DSMT4">
                    <p:embed/>
                  </p:oleObj>
                </mc:Choice>
                <mc:Fallback>
                  <p:oleObj name="Equation" r:id="rId5" imgW="3695700" imgH="812800" progId="Equation.DSMT4">
                    <p:embed/>
                    <p:pic>
                      <p:nvPicPr>
                        <p:cNvPr id="5166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2546"/>
                          <a:ext cx="226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7" name="Object 54"/>
            <p:cNvGraphicFramePr>
              <a:graphicFrameLocks noChangeAspect="1"/>
            </p:cNvGraphicFramePr>
            <p:nvPr/>
          </p:nvGraphicFramePr>
          <p:xfrm>
            <a:off x="1451" y="3113"/>
            <a:ext cx="226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80" name="Equation" r:id="rId7" imgW="3759200" imgH="457200" progId="Equation.DSMT4">
                    <p:embed/>
                  </p:oleObj>
                </mc:Choice>
                <mc:Fallback>
                  <p:oleObj name="Equation" r:id="rId7" imgW="3759200" imgH="457200" progId="Equation.DSMT4">
                    <p:embed/>
                    <p:pic>
                      <p:nvPicPr>
                        <p:cNvPr id="5167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3113"/>
                          <a:ext cx="2268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1" name="Picture 45" descr="C:\Documents and Settings\Administrator\桌面\pic_48950.jp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332338" y="3765680"/>
            <a:ext cx="2537801" cy="16918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2" name="Group 64"/>
          <p:cNvGrpSpPr>
            <a:grpSpLocks/>
          </p:cNvGrpSpPr>
          <p:nvPr/>
        </p:nvGrpSpPr>
        <p:grpSpPr bwMode="auto">
          <a:xfrm>
            <a:off x="6288088" y="2246417"/>
            <a:ext cx="2449512" cy="1377950"/>
            <a:chOff x="3470" y="1205"/>
            <a:chExt cx="2132" cy="1200"/>
          </a:xfrm>
        </p:grpSpPr>
        <p:sp>
          <p:nvSpPr>
            <p:cNvPr id="5160" name="Line 65"/>
            <p:cNvSpPr>
              <a:spLocks noChangeShapeType="1"/>
            </p:cNvSpPr>
            <p:nvPr/>
          </p:nvSpPr>
          <p:spPr bwMode="auto">
            <a:xfrm>
              <a:off x="4619" y="1483"/>
              <a:ext cx="80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Oval 66"/>
            <p:cNvSpPr>
              <a:spLocks noChangeArrowheads="1"/>
            </p:cNvSpPr>
            <p:nvPr/>
          </p:nvSpPr>
          <p:spPr bwMode="auto">
            <a:xfrm>
              <a:off x="3546" y="1298"/>
              <a:ext cx="2012" cy="92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67"/>
            <p:cNvSpPr>
              <a:spLocks noChangeArrowheads="1"/>
            </p:cNvSpPr>
            <p:nvPr/>
          </p:nvSpPr>
          <p:spPr bwMode="auto">
            <a:xfrm>
              <a:off x="3470" y="1205"/>
              <a:ext cx="2132" cy="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zh-CN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63" name="Rectangle 68"/>
            <p:cNvSpPr>
              <a:spLocks noChangeArrowheads="1"/>
            </p:cNvSpPr>
            <p:nvPr/>
          </p:nvSpPr>
          <p:spPr bwMode="auto">
            <a:xfrm>
              <a:off x="3591" y="2221"/>
              <a:ext cx="1922" cy="18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64" name="Line 69"/>
            <p:cNvSpPr>
              <a:spLocks noChangeShapeType="1"/>
            </p:cNvSpPr>
            <p:nvPr/>
          </p:nvSpPr>
          <p:spPr bwMode="auto">
            <a:xfrm flipH="1">
              <a:off x="3606" y="1884"/>
              <a:ext cx="19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17"/>
          <p:cNvGrpSpPr>
            <a:grpSpLocks/>
          </p:cNvGrpSpPr>
          <p:nvPr/>
        </p:nvGrpSpPr>
        <p:grpSpPr bwMode="auto">
          <a:xfrm>
            <a:off x="6548438" y="1085955"/>
            <a:ext cx="1824037" cy="882650"/>
            <a:chOff x="3744" y="0"/>
            <a:chExt cx="1680" cy="864"/>
          </a:xfrm>
        </p:grpSpPr>
        <p:sp>
          <p:nvSpPr>
            <p:cNvPr id="5155" name="Line 18"/>
            <p:cNvSpPr>
              <a:spLocks noChangeShapeType="1"/>
            </p:cNvSpPr>
            <p:nvPr/>
          </p:nvSpPr>
          <p:spPr bwMode="auto">
            <a:xfrm>
              <a:off x="374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Line 19"/>
            <p:cNvSpPr>
              <a:spLocks noChangeShapeType="1"/>
            </p:cNvSpPr>
            <p:nvPr/>
          </p:nvSpPr>
          <p:spPr bwMode="auto">
            <a:xfrm>
              <a:off x="436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7" name="Line 20"/>
            <p:cNvSpPr>
              <a:spLocks noChangeShapeType="1"/>
            </p:cNvSpPr>
            <p:nvPr/>
          </p:nvSpPr>
          <p:spPr bwMode="auto">
            <a:xfrm>
              <a:off x="489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8" name="Line 21"/>
            <p:cNvSpPr>
              <a:spLocks noChangeShapeType="1"/>
            </p:cNvSpPr>
            <p:nvPr/>
          </p:nvSpPr>
          <p:spPr bwMode="auto">
            <a:xfrm>
              <a:off x="542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9" name="Text Box 22"/>
            <p:cNvSpPr txBox="1">
              <a:spLocks noChangeArrowheads="1"/>
            </p:cNvSpPr>
            <p:nvPr/>
          </p:nvSpPr>
          <p:spPr bwMode="auto">
            <a:xfrm>
              <a:off x="3965" y="0"/>
              <a:ext cx="1238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0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垂直入射</a:t>
              </a:r>
            </a:p>
          </p:txBody>
        </p:sp>
      </p:grpSp>
      <p:sp>
        <p:nvSpPr>
          <p:cNvPr id="39" name="Line 31"/>
          <p:cNvSpPr>
            <a:spLocks noChangeShapeType="1"/>
          </p:cNvSpPr>
          <p:nvPr/>
        </p:nvSpPr>
        <p:spPr bwMode="auto">
          <a:xfrm flipH="1">
            <a:off x="6777038" y="3287817"/>
            <a:ext cx="7731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Rectangle 32"/>
          <p:cNvSpPr>
            <a:spLocks noChangeArrowheads="1"/>
          </p:cNvSpPr>
          <p:nvPr/>
        </p:nvSpPr>
        <p:spPr bwMode="auto">
          <a:xfrm>
            <a:off x="7035800" y="2975080"/>
            <a:ext cx="36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41" name="Rectangle 33"/>
          <p:cNvSpPr>
            <a:spLocks noChangeArrowheads="1"/>
          </p:cNvSpPr>
          <p:nvPr/>
        </p:nvSpPr>
        <p:spPr bwMode="auto">
          <a:xfrm>
            <a:off x="6669088" y="2332142"/>
            <a:ext cx="338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42" name="Line 34"/>
          <p:cNvSpPr>
            <a:spLocks noChangeShapeType="1"/>
          </p:cNvSpPr>
          <p:nvPr/>
        </p:nvSpPr>
        <p:spPr bwMode="auto">
          <a:xfrm flipH="1" flipV="1">
            <a:off x="7494588" y="1412980"/>
            <a:ext cx="55562" cy="1985962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35"/>
          <p:cNvSpPr>
            <a:spLocks noChangeShapeType="1"/>
          </p:cNvSpPr>
          <p:nvPr/>
        </p:nvSpPr>
        <p:spPr bwMode="auto">
          <a:xfrm flipH="1">
            <a:off x="6756400" y="1466955"/>
            <a:ext cx="717550" cy="18748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" name="Group 36"/>
          <p:cNvGrpSpPr>
            <a:grpSpLocks/>
          </p:cNvGrpSpPr>
          <p:nvPr/>
        </p:nvGrpSpPr>
        <p:grpSpPr bwMode="auto">
          <a:xfrm>
            <a:off x="6000750" y="2743206"/>
            <a:ext cx="882650" cy="1223962"/>
            <a:chOff x="3264" y="1632"/>
            <a:chExt cx="768" cy="1066"/>
          </a:xfrm>
        </p:grpSpPr>
        <p:sp>
          <p:nvSpPr>
            <p:cNvPr id="5150" name="Line 37"/>
            <p:cNvSpPr>
              <a:spLocks noChangeShapeType="1"/>
            </p:cNvSpPr>
            <p:nvPr/>
          </p:nvSpPr>
          <p:spPr bwMode="auto">
            <a:xfrm flipH="1">
              <a:off x="3504" y="2208"/>
              <a:ext cx="1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1" name="Line 38"/>
            <p:cNvSpPr>
              <a:spLocks noChangeShapeType="1"/>
            </p:cNvSpPr>
            <p:nvPr/>
          </p:nvSpPr>
          <p:spPr bwMode="auto">
            <a:xfrm flipH="1">
              <a:off x="3600" y="2208"/>
              <a:ext cx="0" cy="49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2" name="Text Box 39"/>
            <p:cNvSpPr txBox="1">
              <a:spLocks noChangeArrowheads="1"/>
            </p:cNvSpPr>
            <p:nvPr/>
          </p:nvSpPr>
          <p:spPr bwMode="auto">
            <a:xfrm>
              <a:off x="3264" y="2016"/>
              <a:ext cx="192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5153" name="Line 40"/>
            <p:cNvSpPr>
              <a:spLocks noChangeShapeType="1"/>
            </p:cNvSpPr>
            <p:nvPr/>
          </p:nvSpPr>
          <p:spPr bwMode="auto">
            <a:xfrm flipH="1">
              <a:off x="3504" y="2112"/>
              <a:ext cx="52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4" name="Line 41"/>
            <p:cNvSpPr>
              <a:spLocks noChangeShapeType="1"/>
            </p:cNvSpPr>
            <p:nvPr/>
          </p:nvSpPr>
          <p:spPr bwMode="auto">
            <a:xfrm>
              <a:off x="3600" y="1632"/>
              <a:ext cx="0" cy="46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" name="Line 42"/>
          <p:cNvSpPr>
            <a:spLocks noChangeShapeType="1"/>
          </p:cNvSpPr>
          <p:nvPr/>
        </p:nvSpPr>
        <p:spPr bwMode="auto">
          <a:xfrm>
            <a:off x="6778625" y="3287817"/>
            <a:ext cx="0" cy="14351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H="1">
            <a:off x="6778625" y="4611792"/>
            <a:ext cx="8270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矩形 63"/>
          <p:cNvSpPr>
            <a:spLocks noChangeArrowheads="1"/>
          </p:cNvSpPr>
          <p:nvPr/>
        </p:nvSpPr>
        <p:spPr bwMode="auto">
          <a:xfrm>
            <a:off x="8278813" y="2992542"/>
            <a:ext cx="7239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=1</a:t>
            </a:r>
            <a:endParaRPr lang="zh-CN" altLang="en-US" sz="28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5" name="矩形 64"/>
          <p:cNvSpPr>
            <a:spLocks noChangeArrowheads="1"/>
          </p:cNvSpPr>
          <p:nvPr/>
        </p:nvSpPr>
        <p:spPr bwMode="auto">
          <a:xfrm>
            <a:off x="7785100" y="2943330"/>
            <a:ext cx="4841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endParaRPr lang="zh-CN" altLang="en-US" sz="2800" b="1" baseline="-25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6" name="矩形 65"/>
          <p:cNvSpPr>
            <a:spLocks noChangeArrowheads="1"/>
          </p:cNvSpPr>
          <p:nvPr/>
        </p:nvSpPr>
        <p:spPr bwMode="auto">
          <a:xfrm>
            <a:off x="7824788" y="3278292"/>
            <a:ext cx="4841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2</a:t>
            </a:r>
            <a:endParaRPr lang="zh-CN" altLang="en-US" sz="2800" b="1" baseline="-25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7" name="Rectangle 2"/>
          <p:cNvSpPr>
            <a:spLocks noChangeArrowheads="1"/>
          </p:cNvSpPr>
          <p:nvPr/>
        </p:nvSpPr>
        <p:spPr bwMode="auto">
          <a:xfrm>
            <a:off x="122238" y="1336235"/>
            <a:ext cx="4105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明暗条件（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空气隙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69" name="Text Box 15"/>
          <p:cNvSpPr txBox="1">
            <a:spLocks noChangeArrowheads="1"/>
          </p:cNvSpPr>
          <p:nvPr/>
        </p:nvSpPr>
        <p:spPr bwMode="auto">
          <a:xfrm>
            <a:off x="7443788" y="4389443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123…….</a:t>
            </a:r>
          </a:p>
        </p:txBody>
      </p:sp>
      <p:sp>
        <p:nvSpPr>
          <p:cNvPr id="70" name="Text Box 3"/>
          <p:cNvSpPr txBox="1">
            <a:spLocks noChangeArrowheads="1"/>
          </p:cNvSpPr>
          <p:nvPr/>
        </p:nvSpPr>
        <p:spPr bwMode="auto">
          <a:xfrm>
            <a:off x="141288" y="3981047"/>
            <a:ext cx="8172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中心是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暗点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愈往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边缘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条纹级别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愈高</a:t>
            </a:r>
          </a:p>
        </p:txBody>
      </p:sp>
      <p:grpSp>
        <p:nvGrpSpPr>
          <p:cNvPr id="72" name="Group 26"/>
          <p:cNvGrpSpPr>
            <a:grpSpLocks/>
          </p:cNvGrpSpPr>
          <p:nvPr/>
        </p:nvGrpSpPr>
        <p:grpSpPr bwMode="auto">
          <a:xfrm>
            <a:off x="174625" y="4527147"/>
            <a:ext cx="4230688" cy="714375"/>
            <a:chOff x="448" y="913"/>
            <a:chExt cx="2665" cy="450"/>
          </a:xfrm>
        </p:grpSpPr>
        <p:graphicFrame>
          <p:nvGraphicFramePr>
            <p:cNvPr id="5148" name="Object 10"/>
            <p:cNvGraphicFramePr>
              <a:graphicFrameLocks noChangeAspect="1"/>
            </p:cNvGraphicFramePr>
            <p:nvPr/>
          </p:nvGraphicFramePr>
          <p:xfrm>
            <a:off x="2056" y="913"/>
            <a:ext cx="1057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81" name="Equation" r:id="rId10" imgW="1548728" imgH="901309" progId="Equation.DSMT4">
                    <p:embed/>
                  </p:oleObj>
                </mc:Choice>
                <mc:Fallback>
                  <p:oleObj name="Equation" r:id="rId10" imgW="1548728" imgH="901309" progId="Equation.DSMT4">
                    <p:embed/>
                    <p:pic>
                      <p:nvPicPr>
                        <p:cNvPr id="514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6" y="913"/>
                          <a:ext cx="1057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9" name="Text Box 11"/>
            <p:cNvSpPr txBox="1">
              <a:spLocks noChangeArrowheads="1"/>
            </p:cNvSpPr>
            <p:nvPr/>
          </p:nvSpPr>
          <p:spPr bwMode="auto">
            <a:xfrm>
              <a:off x="448" y="971"/>
              <a:ext cx="21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相邻两环的间隔</a:t>
              </a:r>
            </a:p>
          </p:txBody>
        </p:sp>
      </p:grpSp>
      <p:sp>
        <p:nvSpPr>
          <p:cNvPr id="75" name="Rectangle 18"/>
          <p:cNvSpPr>
            <a:spLocks noChangeArrowheads="1"/>
          </p:cNvSpPr>
          <p:nvPr/>
        </p:nvSpPr>
        <p:spPr bwMode="auto">
          <a:xfrm>
            <a:off x="4491038" y="4671609"/>
            <a:ext cx="2463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边缘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愈密</a:t>
            </a:r>
          </a:p>
        </p:txBody>
      </p:sp>
      <p:sp>
        <p:nvSpPr>
          <p:cNvPr id="76" name="Rectangle 2"/>
          <p:cNvSpPr>
            <a:spLocks noChangeArrowheads="1"/>
          </p:cNvSpPr>
          <p:nvPr/>
        </p:nvSpPr>
        <p:spPr bwMode="auto">
          <a:xfrm>
            <a:off x="122238" y="3403197"/>
            <a:ext cx="2562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条纹特征</a:t>
            </a:r>
          </a:p>
        </p:txBody>
      </p: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141288" y="5784857"/>
            <a:ext cx="8208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连续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增加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薄膜的厚度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视场中条纹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缩入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反之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冒出</a:t>
            </a:r>
          </a:p>
        </p:txBody>
      </p:sp>
      <p:sp>
        <p:nvSpPr>
          <p:cNvPr id="80" name="Rectangle 2"/>
          <p:cNvSpPr>
            <a:spLocks noChangeArrowheads="1"/>
          </p:cNvSpPr>
          <p:nvPr/>
        </p:nvSpPr>
        <p:spPr bwMode="auto">
          <a:xfrm>
            <a:off x="165100" y="5216532"/>
            <a:ext cx="2560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动态反应</a:t>
            </a:r>
          </a:p>
        </p:txBody>
      </p:sp>
      <p:sp>
        <p:nvSpPr>
          <p:cNvPr id="5147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256417002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/>
      <p:bldP spid="41" grpId="0"/>
      <p:bldP spid="42" grpId="0" animBg="1"/>
      <p:bldP spid="43" grpId="0" animBg="1"/>
      <p:bldP spid="50" grpId="0" animBg="1"/>
      <p:bldP spid="51" grpId="0" animBg="1"/>
      <p:bldP spid="64" grpId="0"/>
      <p:bldP spid="65" grpId="0"/>
      <p:bldP spid="66" grpId="0"/>
      <p:bldP spid="67" grpId="0"/>
      <p:bldP spid="69" grpId="0"/>
      <p:bldP spid="70" grpId="0"/>
      <p:bldP spid="75" grpId="0"/>
      <p:bldP spid="76" grpId="0"/>
      <p:bldP spid="77" grpId="0"/>
      <p:bldP spid="8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2388" y="622300"/>
            <a:ext cx="3578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迈克尔逊干涉仪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25" y="917575"/>
            <a:ext cx="2282825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134938" y="1247775"/>
            <a:ext cx="64198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严格垂直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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厚度均匀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的薄膜,干涉条纹是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等倾条纹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1" lang="zh-CN" altLang="en-US" sz="24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Rectangle 39"/>
          <p:cNvSpPr>
            <a:spLocks noChangeArrowheads="1"/>
          </p:cNvSpPr>
          <p:nvPr/>
        </p:nvSpPr>
        <p:spPr bwMode="auto">
          <a:xfrm>
            <a:off x="611188" y="2222500"/>
            <a:ext cx="436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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条纹外冒；反之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内缩。</a:t>
            </a:r>
          </a:p>
        </p:txBody>
      </p:sp>
      <p:pic>
        <p:nvPicPr>
          <p:cNvPr id="53" name="Picture 69" descr="17-18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2886075"/>
            <a:ext cx="823912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650" y="4065588"/>
            <a:ext cx="1978025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 3"/>
          <p:cNvSpPr>
            <a:spLocks noChangeArrowheads="1"/>
          </p:cNvSpPr>
          <p:nvPr/>
        </p:nvSpPr>
        <p:spPr bwMode="auto">
          <a:xfrm>
            <a:off x="128588" y="2974975"/>
            <a:ext cx="67468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不严格垂直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en-US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  <a:sym typeface="Symbol" panose="05050102010706020507" pitchFamily="18" charset="2"/>
              </a:rPr>
              <a:t></a:t>
            </a:r>
            <a:r>
              <a:rPr kumimoji="1" lang="zh-CN" altLang="zh-CN" sz="1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形成一空气隙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干涉条纹是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等厚条纹</a:t>
            </a:r>
            <a:endParaRPr kumimoji="1" lang="zh-CN" altLang="en-US" sz="24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5" name="Object 70"/>
          <p:cNvGraphicFramePr>
            <a:graphicFrameLocks noChangeAspect="1"/>
          </p:cNvGraphicFramePr>
          <p:nvPr/>
        </p:nvGraphicFramePr>
        <p:xfrm>
          <a:off x="7951788" y="5821363"/>
          <a:ext cx="10477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2" name="BMP 图象" r:id="rId6" imgW="2438095" imgH="2886478" progId="PBrush">
                  <p:embed/>
                </p:oleObj>
              </mc:Choice>
              <mc:Fallback>
                <p:oleObj name="BMP 图象" r:id="rId6" imgW="2438095" imgH="2886478" progId="PBrush">
                  <p:embed/>
                  <p:pic>
                    <p:nvPicPr>
                      <p:cNvPr id="55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1788" y="5821363"/>
                        <a:ext cx="10477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5"/>
          <p:cNvSpPr txBox="1">
            <a:spLocks noChangeArrowheads="1"/>
          </p:cNvSpPr>
          <p:nvPr/>
        </p:nvSpPr>
        <p:spPr bwMode="auto">
          <a:xfrm>
            <a:off x="153988" y="4187825"/>
            <a:ext cx="65595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光程差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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= 2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d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改变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，明纹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暗纹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移动一级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数出视场中明纹移动的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数目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可算出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平移的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距离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aphicFrame>
        <p:nvGraphicFramePr>
          <p:cNvPr id="59" name="Object 6"/>
          <p:cNvGraphicFramePr>
            <a:graphicFrameLocks noChangeAspect="1"/>
          </p:cNvGraphicFramePr>
          <p:nvPr/>
        </p:nvGraphicFramePr>
        <p:xfrm>
          <a:off x="2687638" y="5572125"/>
          <a:ext cx="16287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3" name="MathType 6.0 Equation" r:id="rId8" imgW="1209655" imgH="581040" progId="Equation.DSMT4">
                  <p:embed/>
                </p:oleObj>
              </mc:Choice>
              <mc:Fallback>
                <p:oleObj name="MathType 6.0 Equation" r:id="rId8" imgW="1209655" imgH="581040" progId="Equation.DSMT4">
                  <p:embed/>
                  <p:pic>
                    <p:nvPicPr>
                      <p:cNvPr id="5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5572125"/>
                        <a:ext cx="16287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259292283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  <p:bldP spid="49" grpId="0" autoUpdateAnimBg="0"/>
      <p:bldP spid="54" grpId="0" autoUpdateAnimBg="0"/>
      <p:bldP spid="5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晶体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1263" y="0"/>
            <a:ext cx="4122737" cy="6858000"/>
          </a:xfrm>
        </p:spPr>
      </p:pic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1057275" y="354013"/>
            <a:ext cx="695483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8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第五篇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304800" y="2193925"/>
            <a:ext cx="580548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72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72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波动光学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708025" y="4184650"/>
            <a:ext cx="39449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光波的衍射</a:t>
            </a:r>
          </a:p>
        </p:txBody>
      </p:sp>
      <p:sp>
        <p:nvSpPr>
          <p:cNvPr id="4102" name="WordArt 7"/>
          <p:cNvSpPr>
            <a:spLocks noChangeArrowheads="1" noChangeShapeType="1" noTextEdit="1"/>
          </p:cNvSpPr>
          <p:nvPr/>
        </p:nvSpPr>
        <p:spPr bwMode="auto">
          <a:xfrm>
            <a:off x="1719263" y="4957763"/>
            <a:ext cx="1885950" cy="4572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r>
              <a:rPr lang="en-US" sz="3600" b="1" kern="10">
                <a:ln w="22225">
                  <a:solidFill>
                    <a:srgbClr val="FFC000"/>
                  </a:solidFill>
                  <a:round/>
                  <a:headEnd/>
                  <a:tailEnd/>
                </a:ln>
                <a:solidFill>
                  <a:srgbClr val="A3A3E0"/>
                </a:solidFill>
                <a:latin typeface="宋体" panose="02010600030101010101" pitchFamily="2" charset="-122"/>
              </a:rPr>
              <a:t>Diffraction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autoUpdateAnimBg="0"/>
      <p:bldP spid="59396" grpId="0"/>
      <p:bldP spid="59397" grpId="0"/>
      <p:bldP spid="410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976438" y="515938"/>
            <a:ext cx="54419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光波的衍射</a:t>
            </a:r>
            <a:b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</a:br>
            <a:r>
              <a:rPr kumimoji="1"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Diffraction of Light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1722438" y="1982788"/>
            <a:ext cx="7000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两种衍射 惠更斯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-</a:t>
            </a:r>
            <a:r>
              <a:rPr kumimoji="1" lang="zh-CN" altLang="en-US" sz="2800" b="1">
                <a:solidFill>
                  <a:schemeClr val="tx1"/>
                </a:solidFill>
              </a:rPr>
              <a:t>菲涅耳原理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1722438" y="2549525"/>
            <a:ext cx="6100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单缝夫琅和费衍射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重点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722438" y="3125788"/>
            <a:ext cx="5897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双缝衍射与干涉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重点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1722438" y="3697288"/>
            <a:ext cx="5722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多缝</a:t>
            </a:r>
            <a:r>
              <a:rPr kumimoji="1" lang="en-US" altLang="zh-CN" sz="2800" b="1">
                <a:solidFill>
                  <a:schemeClr val="tx1"/>
                </a:solidFill>
              </a:rPr>
              <a:t>—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衍射光栅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重点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1739900" y="4273550"/>
            <a:ext cx="669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节 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X </a:t>
            </a:r>
            <a:r>
              <a:rPr kumimoji="1" lang="zh-CN" altLang="en-US" sz="2800" b="1">
                <a:solidFill>
                  <a:schemeClr val="tx1"/>
                </a:solidFill>
              </a:rPr>
              <a:t>射线衍射 布喇格公式</a:t>
            </a:r>
            <a:endParaRPr kumimoji="1" lang="zh-CN" altLang="en-US" sz="28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1722438" y="4854575"/>
            <a:ext cx="705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6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</a:t>
            </a:r>
            <a:r>
              <a:rPr kumimoji="1" lang="zh-CN" altLang="en-US" sz="2800" b="1">
                <a:solidFill>
                  <a:schemeClr val="tx1"/>
                </a:solidFill>
              </a:rPr>
              <a:t>圆孔衍射  光学仪器的分辨率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 tmFilter="0,0; .5, 1; 1, 1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 tmFilter="0,0; .5, 1; 1, 1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3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 tmFilter="0,0; .5, 1; 1, 1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5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 tmFilter="0,0; .5, 1; 1, 1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5" grpId="0"/>
      <p:bldP spid="3076" grpId="0"/>
      <p:bldP spid="3077" grpId="0"/>
      <p:bldP spid="3078" grpId="0"/>
      <p:bldP spid="3079" grpId="0"/>
      <p:bldP spid="308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5"/>
          <p:cNvSpPr txBox="1">
            <a:spLocks noChangeArrowheads="1"/>
          </p:cNvSpPr>
          <p:nvPr/>
        </p:nvSpPr>
        <p:spPr bwMode="auto">
          <a:xfrm>
            <a:off x="8640763" y="64071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52388" y="1555750"/>
            <a:ext cx="3014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光的衍射现象</a:t>
            </a:r>
            <a:endParaRPr kumimoji="1" lang="zh-CN" altLang="en-US" b="1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1584325" y="3870325"/>
            <a:ext cx="0" cy="1296988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7200" y="2395538"/>
            <a:ext cx="8229600" cy="2322512"/>
            <a:chOff x="288" y="1296"/>
            <a:chExt cx="5184" cy="1584"/>
          </a:xfrm>
        </p:grpSpPr>
        <p:sp>
          <p:nvSpPr>
            <p:cNvPr id="9259" name="Line 5"/>
            <p:cNvSpPr>
              <a:spLocks noChangeShapeType="1"/>
            </p:cNvSpPr>
            <p:nvPr/>
          </p:nvSpPr>
          <p:spPr bwMode="auto">
            <a:xfrm flipV="1">
              <a:off x="288" y="1296"/>
              <a:ext cx="5175" cy="864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0" name="Line 6"/>
            <p:cNvSpPr>
              <a:spLocks noChangeShapeType="1"/>
            </p:cNvSpPr>
            <p:nvPr/>
          </p:nvSpPr>
          <p:spPr bwMode="auto">
            <a:xfrm>
              <a:off x="297" y="2160"/>
              <a:ext cx="5175" cy="720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57200" y="3017838"/>
            <a:ext cx="8215313" cy="1127125"/>
            <a:chOff x="288" y="1728"/>
            <a:chExt cx="5175" cy="768"/>
          </a:xfrm>
        </p:grpSpPr>
        <p:sp>
          <p:nvSpPr>
            <p:cNvPr id="9257" name="Line 8"/>
            <p:cNvSpPr>
              <a:spLocks noChangeShapeType="1"/>
            </p:cNvSpPr>
            <p:nvPr/>
          </p:nvSpPr>
          <p:spPr bwMode="auto">
            <a:xfrm flipV="1">
              <a:off x="288" y="1728"/>
              <a:ext cx="5175" cy="432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8" name="Line 9"/>
            <p:cNvSpPr>
              <a:spLocks noChangeShapeType="1"/>
            </p:cNvSpPr>
            <p:nvPr/>
          </p:nvSpPr>
          <p:spPr bwMode="auto">
            <a:xfrm>
              <a:off x="288" y="2160"/>
              <a:ext cx="5175" cy="336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7" name="Oval 11"/>
          <p:cNvSpPr>
            <a:spLocks noChangeArrowheads="1"/>
          </p:cNvSpPr>
          <p:nvPr/>
        </p:nvSpPr>
        <p:spPr bwMode="auto">
          <a:xfrm>
            <a:off x="381000" y="3576638"/>
            <a:ext cx="152400" cy="1397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407988" y="3365500"/>
            <a:ext cx="8278812" cy="493713"/>
            <a:chOff x="240" y="1968"/>
            <a:chExt cx="5232" cy="336"/>
          </a:xfrm>
        </p:grpSpPr>
        <p:sp>
          <p:nvSpPr>
            <p:cNvPr id="9255" name="Line 13"/>
            <p:cNvSpPr>
              <a:spLocks noChangeShapeType="1"/>
            </p:cNvSpPr>
            <p:nvPr/>
          </p:nvSpPr>
          <p:spPr bwMode="auto">
            <a:xfrm flipV="1">
              <a:off x="240" y="1968"/>
              <a:ext cx="523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6" name="Line 14"/>
            <p:cNvSpPr>
              <a:spLocks noChangeShapeType="1"/>
            </p:cNvSpPr>
            <p:nvPr/>
          </p:nvSpPr>
          <p:spPr bwMode="auto">
            <a:xfrm>
              <a:off x="336" y="2160"/>
              <a:ext cx="5136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877888" y="5629275"/>
            <a:ext cx="446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‘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光线’拐弯了！</a:t>
            </a:r>
            <a:endParaRPr kumimoji="1" lang="zh-CN" altLang="en-US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12" name="Line 16"/>
          <p:cNvSpPr>
            <a:spLocks noChangeShapeType="1"/>
          </p:cNvSpPr>
          <p:nvPr/>
        </p:nvSpPr>
        <p:spPr bwMode="auto">
          <a:xfrm flipH="1">
            <a:off x="1598613" y="3725863"/>
            <a:ext cx="0" cy="1439862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113" name="Rectangle 17"/>
          <p:cNvSpPr>
            <a:spLocks noChangeArrowheads="1"/>
          </p:cNvSpPr>
          <p:nvPr/>
        </p:nvSpPr>
        <p:spPr bwMode="auto">
          <a:xfrm>
            <a:off x="3752850" y="5616575"/>
            <a:ext cx="335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光的</a:t>
            </a:r>
            <a:r>
              <a:rPr kumimoji="1" lang="zh-CN" altLang="en-US" sz="2800" b="1">
                <a:solidFill>
                  <a:srgbClr val="FF0000"/>
                </a:solidFill>
                <a:ea typeface="楷体_GB2312"/>
                <a:cs typeface="楷体_GB2312"/>
              </a:rPr>
              <a:t>衍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射现象</a:t>
            </a:r>
          </a:p>
        </p:txBody>
      </p:sp>
      <p:sp>
        <p:nvSpPr>
          <p:cNvPr id="4114" name="Text Box 18"/>
          <p:cNvSpPr txBox="1">
            <a:spLocks noChangeArrowheads="1"/>
          </p:cNvSpPr>
          <p:nvPr/>
        </p:nvSpPr>
        <p:spPr bwMode="auto">
          <a:xfrm>
            <a:off x="8305800" y="33686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?</a:t>
            </a:r>
            <a:endParaRPr kumimoji="1" lang="en-US" altLang="zh-CN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-1295400" y="876300"/>
            <a:ext cx="9982200" cy="5324475"/>
            <a:chOff x="0" y="240"/>
            <a:chExt cx="5280" cy="3630"/>
          </a:xfrm>
        </p:grpSpPr>
        <p:sp>
          <p:nvSpPr>
            <p:cNvPr id="9253" name="Arc 20"/>
            <p:cNvSpPr>
              <a:spLocks/>
            </p:cNvSpPr>
            <p:nvPr/>
          </p:nvSpPr>
          <p:spPr bwMode="auto">
            <a:xfrm rot="10800000" flipH="1">
              <a:off x="0" y="240"/>
              <a:ext cx="5280" cy="1896"/>
            </a:xfrm>
            <a:custGeom>
              <a:avLst/>
              <a:gdLst>
                <a:gd name="T0" fmla="*/ 0 w 21600"/>
                <a:gd name="T1" fmla="*/ 0 h 23188"/>
                <a:gd name="T2" fmla="*/ 0 w 21600"/>
                <a:gd name="T3" fmla="*/ 0 h 23188"/>
                <a:gd name="T4" fmla="*/ 0 w 21600"/>
                <a:gd name="T5" fmla="*/ 0 h 231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3188"/>
                <a:gd name="T11" fmla="*/ 21600 w 21600"/>
                <a:gd name="T12" fmla="*/ 23188 h 231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3188" fill="none" extrusionOk="0">
                  <a:moveTo>
                    <a:pt x="4298" y="-1"/>
                  </a:moveTo>
                  <a:cubicBezTo>
                    <a:pt x="14365" y="2043"/>
                    <a:pt x="21600" y="10895"/>
                    <a:pt x="21600" y="21168"/>
                  </a:cubicBezTo>
                  <a:cubicBezTo>
                    <a:pt x="21600" y="21842"/>
                    <a:pt x="21568" y="22516"/>
                    <a:pt x="21505" y="23188"/>
                  </a:cubicBezTo>
                </a:path>
                <a:path w="21600" h="23188" stroke="0" extrusionOk="0">
                  <a:moveTo>
                    <a:pt x="4298" y="-1"/>
                  </a:moveTo>
                  <a:cubicBezTo>
                    <a:pt x="14365" y="2043"/>
                    <a:pt x="21600" y="10895"/>
                    <a:pt x="21600" y="21168"/>
                  </a:cubicBezTo>
                  <a:cubicBezTo>
                    <a:pt x="21600" y="21842"/>
                    <a:pt x="21568" y="22516"/>
                    <a:pt x="21505" y="23188"/>
                  </a:cubicBezTo>
                  <a:lnTo>
                    <a:pt x="0" y="21168"/>
                  </a:lnTo>
                  <a:lnTo>
                    <a:pt x="4298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4" name="Arc 21"/>
            <p:cNvSpPr>
              <a:spLocks/>
            </p:cNvSpPr>
            <p:nvPr/>
          </p:nvSpPr>
          <p:spPr bwMode="auto">
            <a:xfrm>
              <a:off x="1030" y="2160"/>
              <a:ext cx="4241" cy="1710"/>
            </a:xfrm>
            <a:custGeom>
              <a:avLst/>
              <a:gdLst>
                <a:gd name="T0" fmla="*/ 0 w 21600"/>
                <a:gd name="T1" fmla="*/ 0 h 24822"/>
                <a:gd name="T2" fmla="*/ 0 w 21600"/>
                <a:gd name="T3" fmla="*/ 0 h 24822"/>
                <a:gd name="T4" fmla="*/ 0 w 21600"/>
                <a:gd name="T5" fmla="*/ 0 h 2482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822"/>
                <a:gd name="T11" fmla="*/ 21600 w 21600"/>
                <a:gd name="T12" fmla="*/ 24822 h 248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822" fill="none" extrusionOk="0">
                  <a:moveTo>
                    <a:pt x="39" y="0"/>
                  </a:moveTo>
                  <a:cubicBezTo>
                    <a:pt x="11953" y="22"/>
                    <a:pt x="21600" y="9686"/>
                    <a:pt x="21600" y="21600"/>
                  </a:cubicBezTo>
                  <a:cubicBezTo>
                    <a:pt x="21600" y="22678"/>
                    <a:pt x="21519" y="23755"/>
                    <a:pt x="21358" y="24822"/>
                  </a:cubicBezTo>
                </a:path>
                <a:path w="21600" h="24822" stroke="0" extrusionOk="0">
                  <a:moveTo>
                    <a:pt x="39" y="0"/>
                  </a:moveTo>
                  <a:cubicBezTo>
                    <a:pt x="11953" y="22"/>
                    <a:pt x="21600" y="9686"/>
                    <a:pt x="21600" y="21600"/>
                  </a:cubicBezTo>
                  <a:cubicBezTo>
                    <a:pt x="21600" y="22678"/>
                    <a:pt x="21519" y="23755"/>
                    <a:pt x="21358" y="24822"/>
                  </a:cubicBezTo>
                  <a:lnTo>
                    <a:pt x="0" y="21600"/>
                  </a:lnTo>
                  <a:lnTo>
                    <a:pt x="39" y="0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18" name="Line 22"/>
          <p:cNvSpPr>
            <a:spLocks noChangeShapeType="1"/>
          </p:cNvSpPr>
          <p:nvPr/>
        </p:nvSpPr>
        <p:spPr bwMode="auto">
          <a:xfrm>
            <a:off x="1600200" y="2097088"/>
            <a:ext cx="1588" cy="1347787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119" name="Line 23"/>
          <p:cNvSpPr>
            <a:spLocks noChangeShapeType="1"/>
          </p:cNvSpPr>
          <p:nvPr/>
        </p:nvSpPr>
        <p:spPr bwMode="auto">
          <a:xfrm flipH="1">
            <a:off x="1592263" y="2073275"/>
            <a:ext cx="3175" cy="1463675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122" name="Rectangle 26"/>
          <p:cNvSpPr>
            <a:spLocks noChangeArrowheads="1"/>
          </p:cNvSpPr>
          <p:nvPr/>
        </p:nvSpPr>
        <p:spPr bwMode="auto">
          <a:xfrm>
            <a:off x="703263" y="260350"/>
            <a:ext cx="76041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节 </a:t>
            </a:r>
            <a:r>
              <a:rPr kumimoji="1" lang="zh-CN" altLang="en-US" b="1">
                <a:solidFill>
                  <a:schemeClr val="tx1"/>
                </a:solidFill>
              </a:rPr>
              <a:t>两种衍射 惠更斯</a:t>
            </a:r>
            <a:r>
              <a:rPr kumimoji="1" lang="en-US" altLang="zh-CN" b="1">
                <a:solidFill>
                  <a:schemeClr val="tx1"/>
                </a:solidFill>
              </a:rPr>
              <a:t>–</a:t>
            </a:r>
            <a:r>
              <a:rPr kumimoji="1" lang="zh-CN" altLang="en-US" b="1">
                <a:solidFill>
                  <a:schemeClr val="tx1"/>
                </a:solidFill>
              </a:rPr>
              <a:t>菲涅耳原理</a:t>
            </a:r>
            <a:br>
              <a:rPr kumimoji="1" lang="zh-CN" altLang="en-US" b="1">
                <a:solidFill>
                  <a:schemeClr val="tx1"/>
                </a:solidFill>
              </a:rPr>
            </a:b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Kinds of Diffraction 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Huygens–Fresnel Principle </a:t>
            </a:r>
          </a:p>
        </p:txBody>
      </p:sp>
      <p:sp>
        <p:nvSpPr>
          <p:cNvPr id="4123" name="Rectangle 27"/>
          <p:cNvSpPr>
            <a:spLocks noChangeArrowheads="1"/>
          </p:cNvSpPr>
          <p:nvPr/>
        </p:nvSpPr>
        <p:spPr bwMode="auto">
          <a:xfrm>
            <a:off x="8686800" y="2395538"/>
            <a:ext cx="457200" cy="237648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8686800" y="549275"/>
            <a:ext cx="457200" cy="6335713"/>
            <a:chOff x="5472" y="0"/>
            <a:chExt cx="288" cy="4320"/>
          </a:xfrm>
        </p:grpSpPr>
        <p:sp>
          <p:nvSpPr>
            <p:cNvPr id="9250" name="Line 29"/>
            <p:cNvSpPr>
              <a:spLocks noChangeShapeType="1"/>
            </p:cNvSpPr>
            <p:nvPr/>
          </p:nvSpPr>
          <p:spPr bwMode="auto">
            <a:xfrm flipH="1">
              <a:off x="5472" y="0"/>
              <a:ext cx="0" cy="417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1" name="Rectangle 30"/>
            <p:cNvSpPr>
              <a:spLocks noChangeArrowheads="1"/>
            </p:cNvSpPr>
            <p:nvPr/>
          </p:nvSpPr>
          <p:spPr bwMode="auto">
            <a:xfrm>
              <a:off x="5472" y="0"/>
              <a:ext cx="288" cy="129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52" name="Rectangle 31"/>
            <p:cNvSpPr>
              <a:spLocks noChangeArrowheads="1"/>
            </p:cNvSpPr>
            <p:nvPr/>
          </p:nvSpPr>
          <p:spPr bwMode="auto">
            <a:xfrm>
              <a:off x="5472" y="2880"/>
              <a:ext cx="288" cy="144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4128" name="Rectangle 32"/>
          <p:cNvSpPr>
            <a:spLocks noChangeArrowheads="1"/>
          </p:cNvSpPr>
          <p:nvPr/>
        </p:nvSpPr>
        <p:spPr bwMode="auto">
          <a:xfrm>
            <a:off x="8686800" y="549275"/>
            <a:ext cx="457200" cy="63357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29" name="Rectangle 33"/>
          <p:cNvSpPr>
            <a:spLocks noChangeArrowheads="1"/>
          </p:cNvSpPr>
          <p:nvPr/>
        </p:nvSpPr>
        <p:spPr bwMode="auto">
          <a:xfrm>
            <a:off x="8674100" y="3017838"/>
            <a:ext cx="457200" cy="119221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8674100" y="549275"/>
            <a:ext cx="457200" cy="6335713"/>
            <a:chOff x="3936" y="0"/>
            <a:chExt cx="288" cy="4320"/>
          </a:xfrm>
        </p:grpSpPr>
        <p:sp>
          <p:nvSpPr>
            <p:cNvPr id="9248" name="Rectangle 35"/>
            <p:cNvSpPr>
              <a:spLocks noChangeArrowheads="1"/>
            </p:cNvSpPr>
            <p:nvPr/>
          </p:nvSpPr>
          <p:spPr bwMode="auto">
            <a:xfrm>
              <a:off x="3936" y="0"/>
              <a:ext cx="288" cy="172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9" name="Rectangle 36"/>
            <p:cNvSpPr>
              <a:spLocks noChangeArrowheads="1"/>
            </p:cNvSpPr>
            <p:nvPr/>
          </p:nvSpPr>
          <p:spPr bwMode="auto">
            <a:xfrm>
              <a:off x="3936" y="2496"/>
              <a:ext cx="288" cy="182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8661400" y="549275"/>
            <a:ext cx="457200" cy="6335713"/>
            <a:chOff x="2208" y="2496"/>
            <a:chExt cx="168" cy="1584"/>
          </a:xfrm>
        </p:grpSpPr>
        <p:sp>
          <p:nvSpPr>
            <p:cNvPr id="9243" name="Rectangle 38"/>
            <p:cNvSpPr>
              <a:spLocks noChangeArrowheads="1"/>
            </p:cNvSpPr>
            <p:nvPr/>
          </p:nvSpPr>
          <p:spPr bwMode="auto">
            <a:xfrm>
              <a:off x="2208" y="3037"/>
              <a:ext cx="168" cy="498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134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4" name="Rectangle 39"/>
            <p:cNvSpPr>
              <a:spLocks noChangeArrowheads="1"/>
            </p:cNvSpPr>
            <p:nvPr/>
          </p:nvSpPr>
          <p:spPr bwMode="auto">
            <a:xfrm>
              <a:off x="2208" y="2728"/>
              <a:ext cx="168" cy="344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BC00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5" name="Rectangle 40"/>
            <p:cNvSpPr>
              <a:spLocks noChangeArrowheads="1"/>
            </p:cNvSpPr>
            <p:nvPr/>
          </p:nvSpPr>
          <p:spPr bwMode="auto">
            <a:xfrm>
              <a:off x="2208" y="3500"/>
              <a:ext cx="168" cy="31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BC00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6" name="Rectangle 41"/>
            <p:cNvSpPr>
              <a:spLocks noChangeArrowheads="1"/>
            </p:cNvSpPr>
            <p:nvPr/>
          </p:nvSpPr>
          <p:spPr bwMode="auto">
            <a:xfrm>
              <a:off x="2208" y="3810"/>
              <a:ext cx="168" cy="27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9200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7" name="Rectangle 42"/>
            <p:cNvSpPr>
              <a:spLocks noChangeArrowheads="1"/>
            </p:cNvSpPr>
            <p:nvPr/>
          </p:nvSpPr>
          <p:spPr bwMode="auto">
            <a:xfrm>
              <a:off x="2208" y="2496"/>
              <a:ext cx="168" cy="27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9200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4139" name="Line 43"/>
          <p:cNvSpPr>
            <a:spLocks noChangeShapeType="1"/>
          </p:cNvSpPr>
          <p:nvPr/>
        </p:nvSpPr>
        <p:spPr bwMode="auto">
          <a:xfrm>
            <a:off x="8686800" y="549275"/>
            <a:ext cx="1588" cy="6335713"/>
          </a:xfrm>
          <a:prstGeom prst="line">
            <a:avLst/>
          </a:prstGeom>
          <a:noFill/>
          <a:ln w="57150">
            <a:solidFill>
              <a:srgbClr val="00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65088" y="3352800"/>
            <a:ext cx="3857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>
            <a:spLocks noChangeArrowheads="1"/>
          </p:cNvSpPr>
          <p:nvPr/>
        </p:nvSpPr>
        <p:spPr bwMode="auto">
          <a:xfrm>
            <a:off x="8305800" y="1927225"/>
            <a:ext cx="407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>
            <a:spLocks noChangeArrowheads="1"/>
          </p:cNvSpPr>
          <p:nvPr/>
        </p:nvSpPr>
        <p:spPr bwMode="auto">
          <a:xfrm>
            <a:off x="8305800" y="4743450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utoUpdateAnimBg="0"/>
      <p:bldP spid="4107" grpId="0" animBg="1"/>
      <p:bldP spid="4111" grpId="0" autoUpdateAnimBg="0"/>
      <p:bldP spid="4113" grpId="0" autoUpdateAnimBg="0"/>
      <p:bldP spid="4114" grpId="0" autoUpdateAnimBg="0"/>
      <p:bldP spid="4122" grpId="0" autoUpdateAnimBg="0"/>
      <p:bldP spid="4123" grpId="0" animBg="1"/>
      <p:bldP spid="4128" grpId="0" animBg="1"/>
      <p:bldP spid="4129" grpId="0" animBg="1"/>
      <p:bldP spid="4139" grpId="0" animBg="1"/>
      <p:bldP spid="9" grpId="0"/>
      <p:bldP spid="46" grpId="0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74625" y="3792538"/>
            <a:ext cx="3025775" cy="519112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/>
              <a:t> (2) </a:t>
            </a:r>
            <a:r>
              <a:rPr lang="zh-CN" altLang="en-US" sz="2800" b="1"/>
              <a:t>夫琅和费衍射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4625" y="911225"/>
            <a:ext cx="2755900" cy="519113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方正书宋简体"/>
              </a:rPr>
              <a:t> </a:t>
            </a:r>
            <a:r>
              <a:rPr lang="en-US" altLang="zh-CN" sz="2800" b="1"/>
              <a:t>(1) </a:t>
            </a:r>
            <a:r>
              <a:rPr lang="zh-CN" altLang="en-US" sz="2800" b="1"/>
              <a:t>菲涅耳衍射</a:t>
            </a:r>
            <a:r>
              <a:rPr lang="zh-CN" altLang="en-US" sz="2800" b="1">
                <a:latin typeface="方正书宋简体"/>
              </a:rPr>
              <a:t> 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250825" y="188913"/>
            <a:ext cx="5719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1.2 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衍射现象的分类</a:t>
            </a: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4927600" y="4003675"/>
            <a:ext cx="4368800" cy="2692400"/>
            <a:chOff x="3152" y="2384"/>
            <a:chExt cx="2752" cy="1696"/>
          </a:xfrm>
        </p:grpSpPr>
        <p:sp>
          <p:nvSpPr>
            <p:cNvPr id="10347" name="AutoShape 6"/>
            <p:cNvSpPr>
              <a:spLocks noChangeArrowheads="1"/>
            </p:cNvSpPr>
            <p:nvPr/>
          </p:nvSpPr>
          <p:spPr bwMode="auto">
            <a:xfrm rot="-5400000">
              <a:off x="3779" y="3348"/>
              <a:ext cx="745" cy="528"/>
            </a:xfrm>
            <a:prstGeom prst="parallelogram">
              <a:avLst>
                <a:gd name="adj" fmla="val 53546"/>
              </a:avLst>
            </a:prstGeom>
            <a:solidFill>
              <a:srgbClr val="9966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10348" name="Group 7"/>
            <p:cNvGrpSpPr>
              <a:grpSpLocks/>
            </p:cNvGrpSpPr>
            <p:nvPr/>
          </p:nvGrpSpPr>
          <p:grpSpPr bwMode="auto">
            <a:xfrm>
              <a:off x="3152" y="2384"/>
              <a:ext cx="2752" cy="1696"/>
              <a:chOff x="3152" y="2384"/>
              <a:chExt cx="2752" cy="1696"/>
            </a:xfrm>
          </p:grpSpPr>
          <p:grpSp>
            <p:nvGrpSpPr>
              <p:cNvPr id="10349" name="Group 8"/>
              <p:cNvGrpSpPr>
                <a:grpSpLocks/>
              </p:cNvGrpSpPr>
              <p:nvPr/>
            </p:nvGrpSpPr>
            <p:grpSpPr bwMode="auto">
              <a:xfrm>
                <a:off x="3152" y="3067"/>
                <a:ext cx="240" cy="429"/>
                <a:chOff x="3120" y="2416"/>
                <a:chExt cx="240" cy="429"/>
              </a:xfrm>
            </p:grpSpPr>
            <p:sp>
              <p:nvSpPr>
                <p:cNvPr id="10354" name="Rectangle 9"/>
                <p:cNvSpPr>
                  <a:spLocks noChangeArrowheads="1"/>
                </p:cNvSpPr>
                <p:nvPr/>
              </p:nvSpPr>
              <p:spPr bwMode="auto">
                <a:xfrm>
                  <a:off x="3168" y="2596"/>
                  <a:ext cx="192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600"/>
                    <a:t>*</a:t>
                  </a:r>
                  <a:endParaRPr lang="en-US" altLang="zh-CN" sz="1000"/>
                </a:p>
              </p:txBody>
            </p:sp>
            <p:sp>
              <p:nvSpPr>
                <p:cNvPr id="10355" name="Rectangle 10"/>
                <p:cNvSpPr>
                  <a:spLocks noChangeArrowheads="1"/>
                </p:cNvSpPr>
                <p:nvPr/>
              </p:nvSpPr>
              <p:spPr bwMode="auto">
                <a:xfrm>
                  <a:off x="3120" y="2416"/>
                  <a:ext cx="208" cy="1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FF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1" i="1"/>
                    <a:t>S</a:t>
                  </a:r>
                  <a:endParaRPr lang="en-US" altLang="zh-CN" sz="1800" i="1"/>
                </a:p>
              </p:txBody>
            </p:sp>
          </p:grpSp>
          <p:sp>
            <p:nvSpPr>
              <p:cNvPr id="10350" name="Rectangle 11"/>
              <p:cNvSpPr>
                <a:spLocks noChangeArrowheads="1"/>
              </p:cNvSpPr>
              <p:nvPr/>
            </p:nvSpPr>
            <p:spPr bwMode="auto">
              <a:xfrm>
                <a:off x="3692" y="2384"/>
                <a:ext cx="868" cy="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1800" b="1">
                    <a:solidFill>
                      <a:schemeClr val="tx1"/>
                    </a:solidFill>
                  </a:rPr>
                  <a:t>衍射屏</a:t>
                </a: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51" name="Rectangle 12"/>
              <p:cNvSpPr>
                <a:spLocks noChangeArrowheads="1"/>
              </p:cNvSpPr>
              <p:nvPr/>
            </p:nvSpPr>
            <p:spPr bwMode="auto">
              <a:xfrm>
                <a:off x="4844" y="2569"/>
                <a:ext cx="1060" cy="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1800" b="1" dirty="0">
                    <a:solidFill>
                      <a:schemeClr val="tx1"/>
                    </a:solidFill>
                  </a:rPr>
                  <a:t>观察屏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52" name="AutoShape 13"/>
              <p:cNvSpPr>
                <a:spLocks noChangeArrowheads="1"/>
              </p:cNvSpPr>
              <p:nvPr/>
            </p:nvSpPr>
            <p:spPr bwMode="auto">
              <a:xfrm rot="-5400000">
                <a:off x="4656" y="3120"/>
                <a:ext cx="1296" cy="624"/>
              </a:xfrm>
              <a:prstGeom prst="parallelogram">
                <a:avLst>
                  <a:gd name="adj" fmla="val 56250"/>
                </a:avLst>
              </a:prstGeom>
              <a:solidFill>
                <a:srgbClr val="660066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353" name="AutoShape 14"/>
              <p:cNvSpPr>
                <a:spLocks noChangeArrowheads="1"/>
              </p:cNvSpPr>
              <p:nvPr/>
            </p:nvSpPr>
            <p:spPr bwMode="auto">
              <a:xfrm rot="-5400000">
                <a:off x="3779" y="2845"/>
                <a:ext cx="745" cy="528"/>
              </a:xfrm>
              <a:prstGeom prst="parallelogram">
                <a:avLst>
                  <a:gd name="adj" fmla="val 53546"/>
                </a:avLst>
              </a:prstGeom>
              <a:solidFill>
                <a:srgbClr val="996633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grpSp>
        <p:nvGrpSpPr>
          <p:cNvPr id="15" name="Group 15"/>
          <p:cNvGrpSpPr>
            <a:grpSpLocks/>
          </p:cNvGrpSpPr>
          <p:nvPr/>
        </p:nvGrpSpPr>
        <p:grpSpPr bwMode="auto">
          <a:xfrm rot="-21272">
            <a:off x="7951788" y="5016500"/>
            <a:ext cx="812800" cy="1347788"/>
            <a:chOff x="5090" y="2250"/>
            <a:chExt cx="512" cy="849"/>
          </a:xfrm>
        </p:grpSpPr>
        <p:sp>
          <p:nvSpPr>
            <p:cNvPr id="10338" name="Line 16"/>
            <p:cNvSpPr>
              <a:spLocks noChangeShapeType="1"/>
            </p:cNvSpPr>
            <p:nvPr/>
          </p:nvSpPr>
          <p:spPr bwMode="auto">
            <a:xfrm>
              <a:off x="5098" y="2520"/>
              <a:ext cx="504" cy="320"/>
            </a:xfrm>
            <a:prstGeom prst="line">
              <a:avLst/>
            </a:prstGeom>
            <a:noFill/>
            <a:ln w="762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9" name="Line 17"/>
            <p:cNvSpPr>
              <a:spLocks noChangeShapeType="1"/>
            </p:cNvSpPr>
            <p:nvPr/>
          </p:nvSpPr>
          <p:spPr bwMode="auto">
            <a:xfrm>
              <a:off x="5092" y="2250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0" name="Line 18"/>
            <p:cNvSpPr>
              <a:spLocks noChangeShapeType="1"/>
            </p:cNvSpPr>
            <p:nvPr/>
          </p:nvSpPr>
          <p:spPr bwMode="auto">
            <a:xfrm>
              <a:off x="5092" y="2310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1" name="Line 19"/>
            <p:cNvSpPr>
              <a:spLocks noChangeShapeType="1"/>
            </p:cNvSpPr>
            <p:nvPr/>
          </p:nvSpPr>
          <p:spPr bwMode="auto">
            <a:xfrm>
              <a:off x="5092" y="2370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2" name="Line 20"/>
            <p:cNvSpPr>
              <a:spLocks noChangeShapeType="1"/>
            </p:cNvSpPr>
            <p:nvPr/>
          </p:nvSpPr>
          <p:spPr bwMode="auto">
            <a:xfrm>
              <a:off x="5090" y="2430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3" name="Line 21"/>
            <p:cNvSpPr>
              <a:spLocks noChangeShapeType="1"/>
            </p:cNvSpPr>
            <p:nvPr/>
          </p:nvSpPr>
          <p:spPr bwMode="auto">
            <a:xfrm>
              <a:off x="5094" y="2598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" name="Line 22"/>
            <p:cNvSpPr>
              <a:spLocks noChangeShapeType="1"/>
            </p:cNvSpPr>
            <p:nvPr/>
          </p:nvSpPr>
          <p:spPr bwMode="auto">
            <a:xfrm>
              <a:off x="5094" y="2658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5" name="Line 23"/>
            <p:cNvSpPr>
              <a:spLocks noChangeShapeType="1"/>
            </p:cNvSpPr>
            <p:nvPr/>
          </p:nvSpPr>
          <p:spPr bwMode="auto">
            <a:xfrm>
              <a:off x="5094" y="2718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6" name="Line 24"/>
            <p:cNvSpPr>
              <a:spLocks noChangeShapeType="1"/>
            </p:cNvSpPr>
            <p:nvPr/>
          </p:nvSpPr>
          <p:spPr bwMode="auto">
            <a:xfrm>
              <a:off x="5092" y="2778"/>
              <a:ext cx="504" cy="321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5795963" y="981075"/>
            <a:ext cx="129063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衍射屏</a:t>
            </a: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7596188" y="908050"/>
            <a:ext cx="12366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观察屏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7" name="AutoShape 27"/>
          <p:cNvSpPr>
            <a:spLocks noChangeArrowheads="1"/>
          </p:cNvSpPr>
          <p:nvPr/>
        </p:nvSpPr>
        <p:spPr bwMode="auto">
          <a:xfrm rot="-5400000">
            <a:off x="7073900" y="2093913"/>
            <a:ext cx="2057400" cy="990600"/>
          </a:xfrm>
          <a:prstGeom prst="parallelogram">
            <a:avLst>
              <a:gd name="adj" fmla="val 59615"/>
            </a:avLst>
          </a:prstGeom>
          <a:solidFill>
            <a:srgbClr val="0066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8" name="Group 28"/>
          <p:cNvGrpSpPr>
            <a:grpSpLocks/>
          </p:cNvGrpSpPr>
          <p:nvPr/>
        </p:nvGrpSpPr>
        <p:grpSpPr bwMode="auto">
          <a:xfrm>
            <a:off x="5940425" y="1484313"/>
            <a:ext cx="850900" cy="1981200"/>
            <a:chOff x="3696" y="456"/>
            <a:chExt cx="624" cy="1488"/>
          </a:xfrm>
        </p:grpSpPr>
        <p:sp>
          <p:nvSpPr>
            <p:cNvPr id="10336" name="AutoShape 29"/>
            <p:cNvSpPr>
              <a:spLocks noChangeArrowheads="1"/>
            </p:cNvSpPr>
            <p:nvPr/>
          </p:nvSpPr>
          <p:spPr bwMode="auto">
            <a:xfrm rot="-5400000">
              <a:off x="3564" y="1188"/>
              <a:ext cx="888" cy="624"/>
            </a:xfrm>
            <a:prstGeom prst="parallelogram">
              <a:avLst>
                <a:gd name="adj" fmla="val 54004"/>
              </a:avLst>
            </a:prstGeom>
            <a:solidFill>
              <a:srgbClr val="6666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0337" name="AutoShape 30"/>
            <p:cNvSpPr>
              <a:spLocks noChangeArrowheads="1"/>
            </p:cNvSpPr>
            <p:nvPr/>
          </p:nvSpPr>
          <p:spPr bwMode="auto">
            <a:xfrm rot="-5400000">
              <a:off x="3564" y="588"/>
              <a:ext cx="888" cy="624"/>
            </a:xfrm>
            <a:prstGeom prst="parallelogram">
              <a:avLst>
                <a:gd name="adj" fmla="val 54004"/>
              </a:avLst>
            </a:prstGeom>
            <a:solidFill>
              <a:srgbClr val="6666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31" name="Group 31"/>
          <p:cNvGrpSpPr>
            <a:grpSpLocks/>
          </p:cNvGrpSpPr>
          <p:nvPr/>
        </p:nvGrpSpPr>
        <p:grpSpPr bwMode="auto">
          <a:xfrm rot="40268">
            <a:off x="7683500" y="1941513"/>
            <a:ext cx="812800" cy="1347787"/>
            <a:chOff x="5090" y="2250"/>
            <a:chExt cx="512" cy="849"/>
          </a:xfrm>
        </p:grpSpPr>
        <p:sp>
          <p:nvSpPr>
            <p:cNvPr id="10327" name="Line 32"/>
            <p:cNvSpPr>
              <a:spLocks noChangeShapeType="1"/>
            </p:cNvSpPr>
            <p:nvPr/>
          </p:nvSpPr>
          <p:spPr bwMode="auto">
            <a:xfrm>
              <a:off x="5098" y="2520"/>
              <a:ext cx="504" cy="320"/>
            </a:xfrm>
            <a:prstGeom prst="line">
              <a:avLst/>
            </a:prstGeom>
            <a:noFill/>
            <a:ln w="762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8" name="Line 33"/>
            <p:cNvSpPr>
              <a:spLocks noChangeShapeType="1"/>
            </p:cNvSpPr>
            <p:nvPr/>
          </p:nvSpPr>
          <p:spPr bwMode="auto">
            <a:xfrm>
              <a:off x="5092" y="2250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9" name="Line 34"/>
            <p:cNvSpPr>
              <a:spLocks noChangeShapeType="1"/>
            </p:cNvSpPr>
            <p:nvPr/>
          </p:nvSpPr>
          <p:spPr bwMode="auto">
            <a:xfrm>
              <a:off x="5092" y="2310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0" name="Line 35"/>
            <p:cNvSpPr>
              <a:spLocks noChangeShapeType="1"/>
            </p:cNvSpPr>
            <p:nvPr/>
          </p:nvSpPr>
          <p:spPr bwMode="auto">
            <a:xfrm>
              <a:off x="5092" y="2370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1" name="Line 36"/>
            <p:cNvSpPr>
              <a:spLocks noChangeShapeType="1"/>
            </p:cNvSpPr>
            <p:nvPr/>
          </p:nvSpPr>
          <p:spPr bwMode="auto">
            <a:xfrm>
              <a:off x="5090" y="2430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2" name="Line 37"/>
            <p:cNvSpPr>
              <a:spLocks noChangeShapeType="1"/>
            </p:cNvSpPr>
            <p:nvPr/>
          </p:nvSpPr>
          <p:spPr bwMode="auto">
            <a:xfrm>
              <a:off x="5094" y="2598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3" name="Line 38"/>
            <p:cNvSpPr>
              <a:spLocks noChangeShapeType="1"/>
            </p:cNvSpPr>
            <p:nvPr/>
          </p:nvSpPr>
          <p:spPr bwMode="auto">
            <a:xfrm>
              <a:off x="5094" y="2658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4" name="Line 39"/>
            <p:cNvSpPr>
              <a:spLocks noChangeShapeType="1"/>
            </p:cNvSpPr>
            <p:nvPr/>
          </p:nvSpPr>
          <p:spPr bwMode="auto">
            <a:xfrm>
              <a:off x="5094" y="2718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5" name="Line 40"/>
            <p:cNvSpPr>
              <a:spLocks noChangeShapeType="1"/>
            </p:cNvSpPr>
            <p:nvPr/>
          </p:nvSpPr>
          <p:spPr bwMode="auto">
            <a:xfrm>
              <a:off x="5092" y="2778"/>
              <a:ext cx="504" cy="321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>
            <a:grpSpLocks/>
          </p:cNvGrpSpPr>
          <p:nvPr/>
        </p:nvGrpSpPr>
        <p:grpSpPr bwMode="auto">
          <a:xfrm>
            <a:off x="4716463" y="1916113"/>
            <a:ext cx="368300" cy="666750"/>
            <a:chOff x="192" y="2352"/>
            <a:chExt cx="232" cy="420"/>
          </a:xfrm>
        </p:grpSpPr>
        <p:sp>
          <p:nvSpPr>
            <p:cNvPr id="10325" name="Rectangle 42"/>
            <p:cNvSpPr>
              <a:spLocks noChangeArrowheads="1"/>
            </p:cNvSpPr>
            <p:nvPr/>
          </p:nvSpPr>
          <p:spPr bwMode="auto">
            <a:xfrm>
              <a:off x="192" y="2524"/>
              <a:ext cx="192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600" b="1"/>
                <a:t>*</a:t>
              </a:r>
              <a:endParaRPr lang="en-US" altLang="zh-CN" sz="2600"/>
            </a:p>
          </p:txBody>
        </p:sp>
        <p:sp>
          <p:nvSpPr>
            <p:cNvPr id="10326" name="Rectangle 43"/>
            <p:cNvSpPr>
              <a:spLocks noChangeArrowheads="1"/>
            </p:cNvSpPr>
            <p:nvPr/>
          </p:nvSpPr>
          <p:spPr bwMode="auto">
            <a:xfrm>
              <a:off x="216" y="2352"/>
              <a:ext cx="208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/>
                <a:t>S</a:t>
              </a:r>
              <a:endParaRPr lang="en-US" altLang="zh-CN" sz="1800"/>
            </a:p>
          </p:txBody>
        </p:sp>
      </p:grpSp>
      <p:grpSp>
        <p:nvGrpSpPr>
          <p:cNvPr id="44" name="Group 44"/>
          <p:cNvGrpSpPr>
            <a:grpSpLocks/>
          </p:cNvGrpSpPr>
          <p:nvPr/>
        </p:nvGrpSpPr>
        <p:grpSpPr bwMode="auto">
          <a:xfrm>
            <a:off x="990600" y="904875"/>
            <a:ext cx="3962400" cy="2743200"/>
            <a:chOff x="672" y="432"/>
            <a:chExt cx="2496" cy="1728"/>
          </a:xfrm>
        </p:grpSpPr>
        <p:sp>
          <p:nvSpPr>
            <p:cNvPr id="10312" name="Text Box 45"/>
            <p:cNvSpPr txBox="1">
              <a:spLocks noChangeArrowheads="1"/>
            </p:cNvSpPr>
            <p:nvPr/>
          </p:nvSpPr>
          <p:spPr bwMode="auto">
            <a:xfrm>
              <a:off x="1920" y="432"/>
              <a:ext cx="1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latin typeface="方正书宋简体"/>
                </a:rPr>
                <a:t>近场衍射</a:t>
              </a:r>
            </a:p>
          </p:txBody>
        </p:sp>
        <p:grpSp>
          <p:nvGrpSpPr>
            <p:cNvPr id="10313" name="Group 46"/>
            <p:cNvGrpSpPr>
              <a:grpSpLocks/>
            </p:cNvGrpSpPr>
            <p:nvPr/>
          </p:nvGrpSpPr>
          <p:grpSpPr bwMode="auto">
            <a:xfrm>
              <a:off x="672" y="768"/>
              <a:ext cx="2055" cy="1392"/>
              <a:chOff x="2592" y="1776"/>
              <a:chExt cx="2055" cy="1488"/>
            </a:xfrm>
          </p:grpSpPr>
          <p:sp>
            <p:nvSpPr>
              <p:cNvPr id="10314" name="Line 47"/>
              <p:cNvSpPr>
                <a:spLocks noChangeShapeType="1"/>
              </p:cNvSpPr>
              <p:nvPr/>
            </p:nvSpPr>
            <p:spPr bwMode="auto">
              <a:xfrm>
                <a:off x="3216" y="2112"/>
                <a:ext cx="0" cy="384"/>
              </a:xfrm>
              <a:prstGeom prst="line">
                <a:avLst/>
              </a:prstGeom>
              <a:noFill/>
              <a:ln w="571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5" name="Line 48"/>
              <p:cNvSpPr>
                <a:spLocks noChangeShapeType="1"/>
              </p:cNvSpPr>
              <p:nvPr/>
            </p:nvSpPr>
            <p:spPr bwMode="auto">
              <a:xfrm>
                <a:off x="3216" y="2784"/>
                <a:ext cx="0" cy="384"/>
              </a:xfrm>
              <a:prstGeom prst="line">
                <a:avLst/>
              </a:prstGeom>
              <a:noFill/>
              <a:ln w="571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6" name="Line 49"/>
              <p:cNvSpPr>
                <a:spLocks noChangeShapeType="1"/>
              </p:cNvSpPr>
              <p:nvPr/>
            </p:nvSpPr>
            <p:spPr bwMode="auto">
              <a:xfrm flipV="1">
                <a:off x="2736" y="2496"/>
                <a:ext cx="480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7" name="Line 50"/>
              <p:cNvSpPr>
                <a:spLocks noChangeShapeType="1"/>
              </p:cNvSpPr>
              <p:nvPr/>
            </p:nvSpPr>
            <p:spPr bwMode="auto">
              <a:xfrm>
                <a:off x="2736" y="2640"/>
                <a:ext cx="480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8" name="Line 51"/>
              <p:cNvSpPr>
                <a:spLocks noChangeShapeType="1"/>
              </p:cNvSpPr>
              <p:nvPr/>
            </p:nvSpPr>
            <p:spPr bwMode="auto">
              <a:xfrm>
                <a:off x="2784" y="2640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9" name="Line 52"/>
              <p:cNvSpPr>
                <a:spLocks noChangeShapeType="1"/>
              </p:cNvSpPr>
              <p:nvPr/>
            </p:nvSpPr>
            <p:spPr bwMode="auto">
              <a:xfrm flipH="1">
                <a:off x="4464" y="1776"/>
                <a:ext cx="0" cy="1488"/>
              </a:xfrm>
              <a:prstGeom prst="line">
                <a:avLst/>
              </a:pr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0" name="Line 53"/>
              <p:cNvSpPr>
                <a:spLocks noChangeShapeType="1"/>
              </p:cNvSpPr>
              <p:nvPr/>
            </p:nvSpPr>
            <p:spPr bwMode="auto">
              <a:xfrm flipV="1">
                <a:off x="3216" y="1968"/>
                <a:ext cx="1248" cy="52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1" name="Line 54"/>
              <p:cNvSpPr>
                <a:spLocks noChangeShapeType="1"/>
              </p:cNvSpPr>
              <p:nvPr/>
            </p:nvSpPr>
            <p:spPr bwMode="auto">
              <a:xfrm flipV="1">
                <a:off x="3216" y="1968"/>
                <a:ext cx="1248" cy="6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2" name="Line 55"/>
              <p:cNvSpPr>
                <a:spLocks noChangeShapeType="1"/>
              </p:cNvSpPr>
              <p:nvPr/>
            </p:nvSpPr>
            <p:spPr bwMode="auto">
              <a:xfrm flipV="1">
                <a:off x="3216" y="1968"/>
                <a:ext cx="1248" cy="81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0323" name="Object 56"/>
              <p:cNvGraphicFramePr>
                <a:graphicFrameLocks noChangeAspect="1"/>
              </p:cNvGraphicFramePr>
              <p:nvPr/>
            </p:nvGraphicFramePr>
            <p:xfrm>
              <a:off x="2592" y="2496"/>
              <a:ext cx="176" cy="1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28" name="公式" r:id="rId3" imgW="279279" imgH="317362" progId="Equation.3">
                      <p:embed/>
                    </p:oleObj>
                  </mc:Choice>
                  <mc:Fallback>
                    <p:oleObj name="公式" r:id="rId3" imgW="279279" imgH="317362" progId="Equation.3">
                      <p:embed/>
                      <p:pic>
                        <p:nvPicPr>
                          <p:cNvPr id="0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2" y="2496"/>
                            <a:ext cx="176" cy="1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24" name="Object 57"/>
              <p:cNvGraphicFramePr>
                <a:graphicFrameLocks noChangeAspect="1"/>
              </p:cNvGraphicFramePr>
              <p:nvPr/>
            </p:nvGraphicFramePr>
            <p:xfrm>
              <a:off x="4464" y="1872"/>
              <a:ext cx="18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29" name="公式" r:id="rId5" imgW="291973" imgH="291973" progId="Equation.3">
                      <p:embed/>
                    </p:oleObj>
                  </mc:Choice>
                  <mc:Fallback>
                    <p:oleObj name="公式" r:id="rId5" imgW="291973" imgH="291973" progId="Equation.3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1872"/>
                            <a:ext cx="183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8" name="Group 58"/>
          <p:cNvGrpSpPr>
            <a:grpSpLocks/>
          </p:cNvGrpSpPr>
          <p:nvPr/>
        </p:nvGrpSpPr>
        <p:grpSpPr bwMode="auto">
          <a:xfrm>
            <a:off x="323850" y="3789363"/>
            <a:ext cx="5105400" cy="2819400"/>
            <a:chOff x="288" y="2256"/>
            <a:chExt cx="3216" cy="1776"/>
          </a:xfrm>
        </p:grpSpPr>
        <p:sp>
          <p:nvSpPr>
            <p:cNvPr id="10291" name="Text Box 59"/>
            <p:cNvSpPr txBox="1">
              <a:spLocks noChangeArrowheads="1"/>
            </p:cNvSpPr>
            <p:nvPr/>
          </p:nvSpPr>
          <p:spPr bwMode="auto">
            <a:xfrm>
              <a:off x="2208" y="2256"/>
              <a:ext cx="12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latin typeface="方正书宋简体"/>
                </a:rPr>
                <a:t>远场衍射</a:t>
              </a:r>
            </a:p>
          </p:txBody>
        </p:sp>
        <p:grpSp>
          <p:nvGrpSpPr>
            <p:cNvPr id="10292" name="Group 60"/>
            <p:cNvGrpSpPr>
              <a:grpSpLocks/>
            </p:cNvGrpSpPr>
            <p:nvPr/>
          </p:nvGrpSpPr>
          <p:grpSpPr bwMode="auto">
            <a:xfrm>
              <a:off x="288" y="2784"/>
              <a:ext cx="2775" cy="1248"/>
              <a:chOff x="288" y="1872"/>
              <a:chExt cx="2775" cy="1248"/>
            </a:xfrm>
          </p:grpSpPr>
          <p:sp>
            <p:nvSpPr>
              <p:cNvPr id="10293" name="Line 61"/>
              <p:cNvSpPr>
                <a:spLocks noChangeShapeType="1"/>
              </p:cNvSpPr>
              <p:nvPr/>
            </p:nvSpPr>
            <p:spPr bwMode="auto">
              <a:xfrm>
                <a:off x="1248" y="2064"/>
                <a:ext cx="0" cy="360"/>
              </a:xfrm>
              <a:prstGeom prst="line">
                <a:avLst/>
              </a:prstGeom>
              <a:noFill/>
              <a:ln w="571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4" name="Line 62"/>
              <p:cNvSpPr>
                <a:spLocks noChangeShapeType="1"/>
              </p:cNvSpPr>
              <p:nvPr/>
            </p:nvSpPr>
            <p:spPr bwMode="auto">
              <a:xfrm>
                <a:off x="1248" y="2736"/>
                <a:ext cx="0" cy="359"/>
              </a:xfrm>
              <a:prstGeom prst="line">
                <a:avLst/>
              </a:prstGeom>
              <a:noFill/>
              <a:ln w="571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5" name="Line 63"/>
              <p:cNvSpPr>
                <a:spLocks noChangeShapeType="1"/>
              </p:cNvSpPr>
              <p:nvPr/>
            </p:nvSpPr>
            <p:spPr bwMode="auto">
              <a:xfrm flipV="1">
                <a:off x="432" y="2450"/>
                <a:ext cx="480" cy="13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6" name="Line 64"/>
              <p:cNvSpPr>
                <a:spLocks noChangeShapeType="1"/>
              </p:cNvSpPr>
              <p:nvPr/>
            </p:nvSpPr>
            <p:spPr bwMode="auto">
              <a:xfrm>
                <a:off x="432" y="2584"/>
                <a:ext cx="480" cy="135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7" name="Line 65"/>
              <p:cNvSpPr>
                <a:spLocks noChangeShapeType="1"/>
              </p:cNvSpPr>
              <p:nvPr/>
            </p:nvSpPr>
            <p:spPr bwMode="auto">
              <a:xfrm>
                <a:off x="480" y="2584"/>
                <a:ext cx="432" cy="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8" name="Line 66"/>
              <p:cNvSpPr>
                <a:spLocks noChangeShapeType="1"/>
              </p:cNvSpPr>
              <p:nvPr/>
            </p:nvSpPr>
            <p:spPr bwMode="auto">
              <a:xfrm flipH="1">
                <a:off x="2880" y="1872"/>
                <a:ext cx="0" cy="1248"/>
              </a:xfrm>
              <a:prstGeom prst="line">
                <a:avLst/>
              </a:pr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9" name="Line 67"/>
              <p:cNvSpPr>
                <a:spLocks noChangeShapeType="1"/>
              </p:cNvSpPr>
              <p:nvPr/>
            </p:nvSpPr>
            <p:spPr bwMode="auto">
              <a:xfrm flipV="1">
                <a:off x="1536" y="2033"/>
                <a:ext cx="1296" cy="27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0" name="Line 68"/>
              <p:cNvSpPr>
                <a:spLocks noChangeShapeType="1"/>
              </p:cNvSpPr>
              <p:nvPr/>
            </p:nvSpPr>
            <p:spPr bwMode="auto">
              <a:xfrm flipV="1">
                <a:off x="1536" y="2033"/>
                <a:ext cx="1344" cy="43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1" name="Line 69"/>
              <p:cNvSpPr>
                <a:spLocks noChangeShapeType="1"/>
              </p:cNvSpPr>
              <p:nvPr/>
            </p:nvSpPr>
            <p:spPr bwMode="auto">
              <a:xfrm flipV="1">
                <a:off x="1536" y="2033"/>
                <a:ext cx="1344" cy="55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0302" name="Object 70"/>
              <p:cNvGraphicFramePr>
                <a:graphicFrameLocks noChangeAspect="1"/>
              </p:cNvGraphicFramePr>
              <p:nvPr/>
            </p:nvGraphicFramePr>
            <p:xfrm>
              <a:off x="288" y="2450"/>
              <a:ext cx="176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30" name="公式" r:id="rId7" imgW="279279" imgH="317362" progId="Equation.3">
                      <p:embed/>
                    </p:oleObj>
                  </mc:Choice>
                  <mc:Fallback>
                    <p:oleObj name="公式" r:id="rId7" imgW="279279" imgH="317362" progId="Equation.3">
                      <p:embed/>
                      <p:pic>
                        <p:nvPicPr>
                          <p:cNvPr id="0" name="Object 7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" y="2450"/>
                            <a:ext cx="176" cy="1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03" name="Object 71"/>
              <p:cNvGraphicFramePr>
                <a:graphicFrameLocks noChangeAspect="1"/>
              </p:cNvGraphicFramePr>
              <p:nvPr/>
            </p:nvGraphicFramePr>
            <p:xfrm>
              <a:off x="2880" y="1941"/>
              <a:ext cx="183" cy="1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31" name="公式" r:id="rId8" imgW="291973" imgH="291973" progId="Equation.3">
                      <p:embed/>
                    </p:oleObj>
                  </mc:Choice>
                  <mc:Fallback>
                    <p:oleObj name="公式" r:id="rId8" imgW="291973" imgH="291973" progId="Equation.3">
                      <p:embed/>
                      <p:pic>
                        <p:nvPicPr>
                          <p:cNvPr id="0" name="Object 7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1941"/>
                            <a:ext cx="183" cy="1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04" name="Line 72"/>
              <p:cNvSpPr>
                <a:spLocks noChangeShapeType="1"/>
              </p:cNvSpPr>
              <p:nvPr/>
            </p:nvSpPr>
            <p:spPr bwMode="auto">
              <a:xfrm>
                <a:off x="912" y="2208"/>
                <a:ext cx="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5" name="Line 73"/>
              <p:cNvSpPr>
                <a:spLocks noChangeShapeType="1"/>
              </p:cNvSpPr>
              <p:nvPr/>
            </p:nvSpPr>
            <p:spPr bwMode="auto">
              <a:xfrm>
                <a:off x="912" y="2448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6" name="Line 74"/>
              <p:cNvSpPr>
                <a:spLocks noChangeShapeType="1"/>
              </p:cNvSpPr>
              <p:nvPr/>
            </p:nvSpPr>
            <p:spPr bwMode="auto">
              <a:xfrm>
                <a:off x="912" y="2592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7" name="Line 75"/>
              <p:cNvSpPr>
                <a:spLocks noChangeShapeType="1"/>
              </p:cNvSpPr>
              <p:nvPr/>
            </p:nvSpPr>
            <p:spPr bwMode="auto">
              <a:xfrm>
                <a:off x="912" y="2736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8" name="Line 76"/>
              <p:cNvSpPr>
                <a:spLocks noChangeShapeType="1"/>
              </p:cNvSpPr>
              <p:nvPr/>
            </p:nvSpPr>
            <p:spPr bwMode="auto">
              <a:xfrm>
                <a:off x="1536" y="2208"/>
                <a:ext cx="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9" name="Line 77"/>
              <p:cNvSpPr>
                <a:spLocks noChangeShapeType="1"/>
              </p:cNvSpPr>
              <p:nvPr/>
            </p:nvSpPr>
            <p:spPr bwMode="auto">
              <a:xfrm flipV="1">
                <a:off x="1248" y="2304"/>
                <a:ext cx="288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0" name="Line 78"/>
              <p:cNvSpPr>
                <a:spLocks noChangeShapeType="1"/>
              </p:cNvSpPr>
              <p:nvPr/>
            </p:nvSpPr>
            <p:spPr bwMode="auto">
              <a:xfrm flipV="1">
                <a:off x="1248" y="2448"/>
                <a:ext cx="288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1" name="Line 79"/>
              <p:cNvSpPr>
                <a:spLocks noChangeShapeType="1"/>
              </p:cNvSpPr>
              <p:nvPr/>
            </p:nvSpPr>
            <p:spPr bwMode="auto">
              <a:xfrm flipV="1">
                <a:off x="1248" y="2592"/>
                <a:ext cx="288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80" name="Group 93"/>
          <p:cNvGrpSpPr>
            <a:grpSpLocks/>
          </p:cNvGrpSpPr>
          <p:nvPr/>
        </p:nvGrpSpPr>
        <p:grpSpPr bwMode="auto">
          <a:xfrm>
            <a:off x="5181600" y="4981575"/>
            <a:ext cx="3070225" cy="1143000"/>
            <a:chOff x="3312" y="3000"/>
            <a:chExt cx="1934" cy="720"/>
          </a:xfrm>
        </p:grpSpPr>
        <p:grpSp>
          <p:nvGrpSpPr>
            <p:cNvPr id="10272" name="Group 94"/>
            <p:cNvGrpSpPr>
              <a:grpSpLocks/>
            </p:cNvGrpSpPr>
            <p:nvPr/>
          </p:nvGrpSpPr>
          <p:grpSpPr bwMode="auto">
            <a:xfrm>
              <a:off x="3312" y="3000"/>
              <a:ext cx="472" cy="720"/>
              <a:chOff x="3312" y="3000"/>
              <a:chExt cx="472" cy="720"/>
            </a:xfrm>
          </p:grpSpPr>
          <p:grpSp>
            <p:nvGrpSpPr>
              <p:cNvPr id="10283" name="Group 95"/>
              <p:cNvGrpSpPr>
                <a:grpSpLocks/>
              </p:cNvGrpSpPr>
              <p:nvPr/>
            </p:nvGrpSpPr>
            <p:grpSpPr bwMode="auto">
              <a:xfrm>
                <a:off x="3648" y="3000"/>
                <a:ext cx="136" cy="720"/>
                <a:chOff x="3456" y="840"/>
                <a:chExt cx="136" cy="720"/>
              </a:xfrm>
            </p:grpSpPr>
            <p:sp>
              <p:nvSpPr>
                <p:cNvPr id="10287" name="Arc 96"/>
                <p:cNvSpPr>
                  <a:spLocks/>
                </p:cNvSpPr>
                <p:nvPr/>
              </p:nvSpPr>
              <p:spPr bwMode="auto">
                <a:xfrm flipV="1">
                  <a:off x="3524" y="1176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8" name="Arc 97"/>
                <p:cNvSpPr>
                  <a:spLocks/>
                </p:cNvSpPr>
                <p:nvPr/>
              </p:nvSpPr>
              <p:spPr bwMode="auto">
                <a:xfrm>
                  <a:off x="3524" y="840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9" name="Arc 98"/>
                <p:cNvSpPr>
                  <a:spLocks/>
                </p:cNvSpPr>
                <p:nvPr/>
              </p:nvSpPr>
              <p:spPr bwMode="auto">
                <a:xfrm flipH="1" flipV="1">
                  <a:off x="3456" y="1184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90" name="Arc 99"/>
                <p:cNvSpPr>
                  <a:spLocks/>
                </p:cNvSpPr>
                <p:nvPr/>
              </p:nvSpPr>
              <p:spPr bwMode="auto">
                <a:xfrm flipH="1">
                  <a:off x="3456" y="847"/>
                  <a:ext cx="68" cy="3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284" name="Line 100"/>
              <p:cNvSpPr>
                <a:spLocks noChangeShapeType="1"/>
              </p:cNvSpPr>
              <p:nvPr/>
            </p:nvSpPr>
            <p:spPr bwMode="auto">
              <a:xfrm>
                <a:off x="3328" y="3360"/>
                <a:ext cx="344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5" name="Line 101"/>
              <p:cNvSpPr>
                <a:spLocks noChangeShapeType="1"/>
              </p:cNvSpPr>
              <p:nvPr/>
            </p:nvSpPr>
            <p:spPr bwMode="auto">
              <a:xfrm flipV="1">
                <a:off x="3312" y="3104"/>
                <a:ext cx="374" cy="25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6" name="Line 102"/>
              <p:cNvSpPr>
                <a:spLocks noChangeShapeType="1"/>
              </p:cNvSpPr>
              <p:nvPr/>
            </p:nvSpPr>
            <p:spPr bwMode="auto">
              <a:xfrm>
                <a:off x="3312" y="3360"/>
                <a:ext cx="392" cy="25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73" name="Group 103"/>
            <p:cNvGrpSpPr>
              <a:grpSpLocks/>
            </p:cNvGrpSpPr>
            <p:nvPr/>
          </p:nvGrpSpPr>
          <p:grpSpPr bwMode="auto">
            <a:xfrm>
              <a:off x="4512" y="3000"/>
              <a:ext cx="734" cy="720"/>
              <a:chOff x="4512" y="3000"/>
              <a:chExt cx="734" cy="720"/>
            </a:xfrm>
          </p:grpSpPr>
          <p:grpSp>
            <p:nvGrpSpPr>
              <p:cNvPr id="10274" name="Group 104"/>
              <p:cNvGrpSpPr>
                <a:grpSpLocks/>
              </p:cNvGrpSpPr>
              <p:nvPr/>
            </p:nvGrpSpPr>
            <p:grpSpPr bwMode="auto">
              <a:xfrm>
                <a:off x="4512" y="3000"/>
                <a:ext cx="136" cy="720"/>
                <a:chOff x="4368" y="840"/>
                <a:chExt cx="136" cy="720"/>
              </a:xfrm>
            </p:grpSpPr>
            <p:sp>
              <p:nvSpPr>
                <p:cNvPr id="10279" name="Arc 105"/>
                <p:cNvSpPr>
                  <a:spLocks/>
                </p:cNvSpPr>
                <p:nvPr/>
              </p:nvSpPr>
              <p:spPr bwMode="auto">
                <a:xfrm flipV="1">
                  <a:off x="4436" y="1176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0" name="Arc 106"/>
                <p:cNvSpPr>
                  <a:spLocks/>
                </p:cNvSpPr>
                <p:nvPr/>
              </p:nvSpPr>
              <p:spPr bwMode="auto">
                <a:xfrm>
                  <a:off x="4436" y="840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1" name="Arc 107"/>
                <p:cNvSpPr>
                  <a:spLocks/>
                </p:cNvSpPr>
                <p:nvPr/>
              </p:nvSpPr>
              <p:spPr bwMode="auto">
                <a:xfrm flipH="1" flipV="1">
                  <a:off x="4368" y="1184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2" name="Arc 108"/>
                <p:cNvSpPr>
                  <a:spLocks/>
                </p:cNvSpPr>
                <p:nvPr/>
              </p:nvSpPr>
              <p:spPr bwMode="auto">
                <a:xfrm flipH="1">
                  <a:off x="4368" y="847"/>
                  <a:ext cx="68" cy="3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275" name="Group 109"/>
              <p:cNvGrpSpPr>
                <a:grpSpLocks/>
              </p:cNvGrpSpPr>
              <p:nvPr/>
            </p:nvGrpSpPr>
            <p:grpSpPr bwMode="auto">
              <a:xfrm>
                <a:off x="4608" y="3168"/>
                <a:ext cx="638" cy="384"/>
                <a:chOff x="4608" y="3168"/>
                <a:chExt cx="638" cy="384"/>
              </a:xfrm>
            </p:grpSpPr>
            <p:sp>
              <p:nvSpPr>
                <p:cNvPr id="10276" name="Line 110"/>
                <p:cNvSpPr>
                  <a:spLocks noChangeShapeType="1"/>
                </p:cNvSpPr>
                <p:nvPr/>
              </p:nvSpPr>
              <p:spPr bwMode="auto">
                <a:xfrm flipH="1">
                  <a:off x="4625" y="3360"/>
                  <a:ext cx="621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 type="triangle" w="med" len="lg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77" name="Line 111"/>
                <p:cNvSpPr>
                  <a:spLocks noChangeShapeType="1"/>
                </p:cNvSpPr>
                <p:nvPr/>
              </p:nvSpPr>
              <p:spPr bwMode="auto">
                <a:xfrm flipH="1" flipV="1">
                  <a:off x="4656" y="3168"/>
                  <a:ext cx="537" cy="171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 type="triangle" w="med" len="lg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78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4608" y="3385"/>
                  <a:ext cx="585" cy="167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 type="triangle" w="med" len="lg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0" name="Group 113"/>
          <p:cNvGrpSpPr>
            <a:grpSpLocks/>
          </p:cNvGrpSpPr>
          <p:nvPr/>
        </p:nvGrpSpPr>
        <p:grpSpPr bwMode="auto">
          <a:xfrm>
            <a:off x="4859338" y="2276475"/>
            <a:ext cx="3203575" cy="490538"/>
            <a:chOff x="3606" y="164"/>
            <a:chExt cx="2018" cy="309"/>
          </a:xfrm>
        </p:grpSpPr>
        <p:sp>
          <p:nvSpPr>
            <p:cNvPr id="10266" name="Line 114"/>
            <p:cNvSpPr>
              <a:spLocks noChangeShapeType="1"/>
            </p:cNvSpPr>
            <p:nvPr/>
          </p:nvSpPr>
          <p:spPr bwMode="auto">
            <a:xfrm>
              <a:off x="3606" y="255"/>
              <a:ext cx="930" cy="24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Line 115"/>
            <p:cNvSpPr>
              <a:spLocks noChangeShapeType="1"/>
            </p:cNvSpPr>
            <p:nvPr/>
          </p:nvSpPr>
          <p:spPr bwMode="auto">
            <a:xfrm flipV="1">
              <a:off x="3612" y="164"/>
              <a:ext cx="924" cy="99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Line 116"/>
            <p:cNvSpPr>
              <a:spLocks noChangeShapeType="1"/>
            </p:cNvSpPr>
            <p:nvPr/>
          </p:nvSpPr>
          <p:spPr bwMode="auto">
            <a:xfrm>
              <a:off x="3606" y="260"/>
              <a:ext cx="930" cy="131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Line 117"/>
            <p:cNvSpPr>
              <a:spLocks noChangeShapeType="1"/>
            </p:cNvSpPr>
            <p:nvPr/>
          </p:nvSpPr>
          <p:spPr bwMode="auto">
            <a:xfrm flipH="1" flipV="1">
              <a:off x="4801" y="337"/>
              <a:ext cx="823" cy="11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Line 118"/>
            <p:cNvSpPr>
              <a:spLocks noChangeShapeType="1"/>
            </p:cNvSpPr>
            <p:nvPr/>
          </p:nvSpPr>
          <p:spPr bwMode="auto">
            <a:xfrm flipH="1" flipV="1">
              <a:off x="4801" y="201"/>
              <a:ext cx="816" cy="13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Line 119"/>
            <p:cNvSpPr>
              <a:spLocks noChangeShapeType="1"/>
            </p:cNvSpPr>
            <p:nvPr/>
          </p:nvSpPr>
          <p:spPr bwMode="auto">
            <a:xfrm flipH="1">
              <a:off x="4801" y="346"/>
              <a:ext cx="801" cy="12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7" name="Group 141"/>
          <p:cNvGrpSpPr>
            <a:grpSpLocks/>
          </p:cNvGrpSpPr>
          <p:nvPr/>
        </p:nvGrpSpPr>
        <p:grpSpPr bwMode="auto">
          <a:xfrm>
            <a:off x="5867400" y="5157788"/>
            <a:ext cx="1296988" cy="792162"/>
            <a:chOff x="2608" y="4473"/>
            <a:chExt cx="816" cy="499"/>
          </a:xfrm>
        </p:grpSpPr>
        <p:sp>
          <p:nvSpPr>
            <p:cNvPr id="10260" name="Line 128"/>
            <p:cNvSpPr>
              <a:spLocks noChangeShapeType="1"/>
            </p:cNvSpPr>
            <p:nvPr/>
          </p:nvSpPr>
          <p:spPr bwMode="auto">
            <a:xfrm>
              <a:off x="2608" y="4473"/>
              <a:ext cx="407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1" name="Line 130"/>
            <p:cNvSpPr>
              <a:spLocks noChangeShapeType="1"/>
            </p:cNvSpPr>
            <p:nvPr/>
          </p:nvSpPr>
          <p:spPr bwMode="auto">
            <a:xfrm>
              <a:off x="2653" y="4744"/>
              <a:ext cx="362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Line 132"/>
            <p:cNvSpPr>
              <a:spLocks noChangeShapeType="1"/>
            </p:cNvSpPr>
            <p:nvPr/>
          </p:nvSpPr>
          <p:spPr bwMode="auto">
            <a:xfrm flipV="1">
              <a:off x="3243" y="4732"/>
              <a:ext cx="136" cy="13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Line 134"/>
            <p:cNvSpPr>
              <a:spLocks noChangeShapeType="1"/>
            </p:cNvSpPr>
            <p:nvPr/>
          </p:nvSpPr>
          <p:spPr bwMode="auto">
            <a:xfrm>
              <a:off x="2608" y="4972"/>
              <a:ext cx="407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4" name="Line 139"/>
            <p:cNvSpPr>
              <a:spLocks noChangeShapeType="1"/>
            </p:cNvSpPr>
            <p:nvPr/>
          </p:nvSpPr>
          <p:spPr bwMode="auto">
            <a:xfrm>
              <a:off x="3243" y="4473"/>
              <a:ext cx="181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Line 140"/>
            <p:cNvSpPr>
              <a:spLocks noChangeShapeType="1"/>
            </p:cNvSpPr>
            <p:nvPr/>
          </p:nvSpPr>
          <p:spPr bwMode="auto">
            <a:xfrm>
              <a:off x="3243" y="4972"/>
              <a:ext cx="181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4" name="Text Box 47"/>
          <p:cNvSpPr txBox="1">
            <a:spLocks noChangeArrowheads="1"/>
          </p:cNvSpPr>
          <p:nvPr/>
        </p:nvSpPr>
        <p:spPr bwMode="auto">
          <a:xfrm>
            <a:off x="6846888" y="392113"/>
            <a:ext cx="2497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CC"/>
                </a:solidFill>
              </a:rPr>
              <a:t>观察屏不太远</a:t>
            </a:r>
          </a:p>
        </p:txBody>
      </p:sp>
      <p:sp>
        <p:nvSpPr>
          <p:cNvPr id="115" name="Text Box 48"/>
          <p:cNvSpPr txBox="1">
            <a:spLocks noChangeArrowheads="1"/>
          </p:cNvSpPr>
          <p:nvPr/>
        </p:nvSpPr>
        <p:spPr bwMode="auto">
          <a:xfrm>
            <a:off x="6715125" y="3792538"/>
            <a:ext cx="2497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CC"/>
                </a:solidFill>
              </a:rPr>
              <a:t>观察屏无穷远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 autoUpdateAnimBg="0"/>
      <p:bldP spid="25" grpId="0" autoUpdateAnimBg="0"/>
      <p:bldP spid="26" grpId="0" autoUpdateAnimBg="0"/>
      <p:bldP spid="27" grpId="0" animBg="1"/>
      <p:bldP spid="114" grpId="0"/>
      <p:bldP spid="1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79375" y="227013"/>
            <a:ext cx="5405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1.3 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惠更斯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—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菲涅</a:t>
            </a:r>
            <a:r>
              <a:rPr kumimoji="1" lang="zh-CN" altLang="en-US" sz="2800" b="1">
                <a:solidFill>
                  <a:srgbClr val="0000CC"/>
                </a:solidFill>
              </a:rPr>
              <a:t>耳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原理     </a:t>
            </a: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3884613" y="176213"/>
            <a:ext cx="3282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（衍射的理论基础）</a:t>
            </a:r>
          </a:p>
        </p:txBody>
      </p:sp>
      <p:sp>
        <p:nvSpPr>
          <p:cNvPr id="54279" name="AutoShape 7"/>
          <p:cNvSpPr>
            <a:spLocks noChangeArrowheads="1"/>
          </p:cNvSpPr>
          <p:nvPr/>
        </p:nvSpPr>
        <p:spPr bwMode="auto">
          <a:xfrm rot="16005791" flipH="1">
            <a:off x="5306219" y="1751807"/>
            <a:ext cx="2274887" cy="1295400"/>
          </a:xfrm>
          <a:prstGeom prst="parallelogram">
            <a:avLst>
              <a:gd name="adj" fmla="val 43903"/>
            </a:avLst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4280" name="Oval 8"/>
          <p:cNvSpPr>
            <a:spLocks noChangeArrowheads="1"/>
          </p:cNvSpPr>
          <p:nvPr/>
        </p:nvSpPr>
        <p:spPr bwMode="auto">
          <a:xfrm>
            <a:off x="6184900" y="1947863"/>
            <a:ext cx="609600" cy="762000"/>
          </a:xfrm>
          <a:prstGeom prst="ellipse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4281" name="Rectangle 9"/>
          <p:cNvSpPr>
            <a:spLocks noChangeArrowheads="1"/>
          </p:cNvSpPr>
          <p:nvPr/>
        </p:nvSpPr>
        <p:spPr bwMode="auto">
          <a:xfrm>
            <a:off x="6489700" y="2100263"/>
            <a:ext cx="152400" cy="152400"/>
          </a:xfrm>
          <a:prstGeom prst="rect">
            <a:avLst/>
          </a:prstGeom>
          <a:solidFill>
            <a:srgbClr val="FF2D2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 flipV="1">
            <a:off x="6565900" y="1947863"/>
            <a:ext cx="601663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6557963" y="2176463"/>
            <a:ext cx="1828800" cy="381000"/>
          </a:xfrm>
          <a:prstGeom prst="line">
            <a:avLst/>
          </a:prstGeom>
          <a:noFill/>
          <a:ln w="28575">
            <a:solidFill>
              <a:srgbClr val="FF2D2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4" name="Arc 12"/>
          <p:cNvSpPr>
            <a:spLocks/>
          </p:cNvSpPr>
          <p:nvPr/>
        </p:nvSpPr>
        <p:spPr bwMode="auto">
          <a:xfrm>
            <a:off x="6565900" y="2024063"/>
            <a:ext cx="381000" cy="211137"/>
          </a:xfrm>
          <a:custGeom>
            <a:avLst/>
            <a:gdLst>
              <a:gd name="T0" fmla="*/ 2147483646 w 21600"/>
              <a:gd name="T1" fmla="*/ 0 h 13167"/>
              <a:gd name="T2" fmla="*/ 2147483646 w 21600"/>
              <a:gd name="T3" fmla="*/ 2147483646 h 13167"/>
              <a:gd name="T4" fmla="*/ 0 w 21600"/>
              <a:gd name="T5" fmla="*/ 2147483646 h 13167"/>
              <a:gd name="T6" fmla="*/ 0 60000 65536"/>
              <a:gd name="T7" fmla="*/ 0 60000 65536"/>
              <a:gd name="T8" fmla="*/ 0 60000 65536"/>
              <a:gd name="T9" fmla="*/ 0 w 21600"/>
              <a:gd name="T10" fmla="*/ 0 h 13167"/>
              <a:gd name="T11" fmla="*/ 21600 w 21600"/>
              <a:gd name="T12" fmla="*/ 13167 h 131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3167" fill="none" extrusionOk="0">
                <a:moveTo>
                  <a:pt x="20801" y="-1"/>
                </a:moveTo>
                <a:cubicBezTo>
                  <a:pt x="21331" y="1894"/>
                  <a:pt x="21600" y="3851"/>
                  <a:pt x="21600" y="5819"/>
                </a:cubicBezTo>
                <a:cubicBezTo>
                  <a:pt x="21600" y="8324"/>
                  <a:pt x="21164" y="10810"/>
                  <a:pt x="20311" y="13166"/>
                </a:cubicBezTo>
              </a:path>
              <a:path w="21600" h="13167" stroke="0" extrusionOk="0">
                <a:moveTo>
                  <a:pt x="20801" y="-1"/>
                </a:moveTo>
                <a:cubicBezTo>
                  <a:pt x="21331" y="1894"/>
                  <a:pt x="21600" y="3851"/>
                  <a:pt x="21600" y="5819"/>
                </a:cubicBezTo>
                <a:cubicBezTo>
                  <a:pt x="21600" y="8324"/>
                  <a:pt x="21164" y="10810"/>
                  <a:pt x="20311" y="13166"/>
                </a:cubicBezTo>
                <a:lnTo>
                  <a:pt x="0" y="5819"/>
                </a:lnTo>
                <a:lnTo>
                  <a:pt x="20801" y="-1"/>
                </a:lnTo>
                <a:close/>
              </a:path>
            </a:pathLst>
          </a:cu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5" name="Arc 13"/>
          <p:cNvSpPr>
            <a:spLocks/>
          </p:cNvSpPr>
          <p:nvPr/>
        </p:nvSpPr>
        <p:spPr bwMode="auto">
          <a:xfrm>
            <a:off x="7023100" y="2095500"/>
            <a:ext cx="381000" cy="423863"/>
          </a:xfrm>
          <a:custGeom>
            <a:avLst/>
            <a:gdLst>
              <a:gd name="T0" fmla="*/ 2147483646 w 21600"/>
              <a:gd name="T1" fmla="*/ 0 h 26348"/>
              <a:gd name="T2" fmla="*/ 2147483646 w 21600"/>
              <a:gd name="T3" fmla="*/ 2147483646 h 26348"/>
              <a:gd name="T4" fmla="*/ 0 w 21600"/>
              <a:gd name="T5" fmla="*/ 2147483646 h 26348"/>
              <a:gd name="T6" fmla="*/ 0 60000 65536"/>
              <a:gd name="T7" fmla="*/ 0 60000 65536"/>
              <a:gd name="T8" fmla="*/ 0 60000 65536"/>
              <a:gd name="T9" fmla="*/ 0 w 21600"/>
              <a:gd name="T10" fmla="*/ 0 h 26348"/>
              <a:gd name="T11" fmla="*/ 21600 w 21600"/>
              <a:gd name="T12" fmla="*/ 26348 h 26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6348" fill="none" extrusionOk="0">
                <a:moveTo>
                  <a:pt x="19608" y="0"/>
                </a:moveTo>
                <a:cubicBezTo>
                  <a:pt x="20920" y="2839"/>
                  <a:pt x="21600" y="5930"/>
                  <a:pt x="21600" y="9059"/>
                </a:cubicBezTo>
                <a:cubicBezTo>
                  <a:pt x="21600" y="15863"/>
                  <a:pt x="18394" y="22269"/>
                  <a:pt x="12947" y="26347"/>
                </a:cubicBezTo>
              </a:path>
              <a:path w="21600" h="26348" stroke="0" extrusionOk="0">
                <a:moveTo>
                  <a:pt x="19608" y="0"/>
                </a:moveTo>
                <a:cubicBezTo>
                  <a:pt x="20920" y="2839"/>
                  <a:pt x="21600" y="5930"/>
                  <a:pt x="21600" y="9059"/>
                </a:cubicBezTo>
                <a:cubicBezTo>
                  <a:pt x="21600" y="15863"/>
                  <a:pt x="18394" y="22269"/>
                  <a:pt x="12947" y="26347"/>
                </a:cubicBezTo>
                <a:lnTo>
                  <a:pt x="0" y="9059"/>
                </a:lnTo>
                <a:lnTo>
                  <a:pt x="19608" y="0"/>
                </a:lnTo>
                <a:close/>
              </a:path>
            </a:pathLst>
          </a:custGeom>
          <a:noFill/>
          <a:ln w="9525">
            <a:solidFill>
              <a:srgbClr val="FF2D2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6" name="Arc 14"/>
          <p:cNvSpPr>
            <a:spLocks/>
          </p:cNvSpPr>
          <p:nvPr/>
        </p:nvSpPr>
        <p:spPr bwMode="auto">
          <a:xfrm>
            <a:off x="7251700" y="2100263"/>
            <a:ext cx="609600" cy="608012"/>
          </a:xfrm>
          <a:custGeom>
            <a:avLst/>
            <a:gdLst>
              <a:gd name="T0" fmla="*/ 2147483646 w 21600"/>
              <a:gd name="T1" fmla="*/ 0 h 24351"/>
              <a:gd name="T2" fmla="*/ 2147483646 w 21600"/>
              <a:gd name="T3" fmla="*/ 2147483646 h 24351"/>
              <a:gd name="T4" fmla="*/ 0 w 21600"/>
              <a:gd name="T5" fmla="*/ 2147483646 h 24351"/>
              <a:gd name="T6" fmla="*/ 0 60000 65536"/>
              <a:gd name="T7" fmla="*/ 0 60000 65536"/>
              <a:gd name="T8" fmla="*/ 0 60000 65536"/>
              <a:gd name="T9" fmla="*/ 0 w 21600"/>
              <a:gd name="T10" fmla="*/ 0 h 24351"/>
              <a:gd name="T11" fmla="*/ 21600 w 21600"/>
              <a:gd name="T12" fmla="*/ 24351 h 243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351" fill="none" extrusionOk="0">
                <a:moveTo>
                  <a:pt x="18670" y="0"/>
                </a:moveTo>
                <a:cubicBezTo>
                  <a:pt x="20589" y="3298"/>
                  <a:pt x="21600" y="7045"/>
                  <a:pt x="21600" y="10861"/>
                </a:cubicBezTo>
                <a:cubicBezTo>
                  <a:pt x="21600" y="15764"/>
                  <a:pt x="19931" y="20521"/>
                  <a:pt x="16869" y="24350"/>
                </a:cubicBezTo>
              </a:path>
              <a:path w="21600" h="24351" stroke="0" extrusionOk="0">
                <a:moveTo>
                  <a:pt x="18670" y="0"/>
                </a:moveTo>
                <a:cubicBezTo>
                  <a:pt x="20589" y="3298"/>
                  <a:pt x="21600" y="7045"/>
                  <a:pt x="21600" y="10861"/>
                </a:cubicBezTo>
                <a:cubicBezTo>
                  <a:pt x="21600" y="15764"/>
                  <a:pt x="19931" y="20521"/>
                  <a:pt x="16869" y="24350"/>
                </a:cubicBezTo>
                <a:lnTo>
                  <a:pt x="0" y="10861"/>
                </a:lnTo>
                <a:lnTo>
                  <a:pt x="18670" y="0"/>
                </a:lnTo>
                <a:close/>
              </a:path>
            </a:pathLst>
          </a:custGeom>
          <a:noFill/>
          <a:ln w="9525">
            <a:solidFill>
              <a:srgbClr val="FF2D2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7" name="Rectangle 15"/>
          <p:cNvSpPr>
            <a:spLocks noChangeArrowheads="1"/>
          </p:cNvSpPr>
          <p:nvPr/>
        </p:nvSpPr>
        <p:spPr bwMode="auto">
          <a:xfrm>
            <a:off x="6413500" y="2481263"/>
            <a:ext cx="152400" cy="152400"/>
          </a:xfrm>
          <a:prstGeom prst="rect">
            <a:avLst/>
          </a:prstGeom>
          <a:solidFill>
            <a:srgbClr val="FF2D2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4288" name="Line 16"/>
          <p:cNvSpPr>
            <a:spLocks noChangeShapeType="1"/>
          </p:cNvSpPr>
          <p:nvPr/>
        </p:nvSpPr>
        <p:spPr bwMode="auto">
          <a:xfrm>
            <a:off x="6489700" y="2557463"/>
            <a:ext cx="1828800" cy="0"/>
          </a:xfrm>
          <a:prstGeom prst="line">
            <a:avLst/>
          </a:prstGeom>
          <a:noFill/>
          <a:ln w="28575">
            <a:solidFill>
              <a:srgbClr val="FF2D2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289" name="Object 17"/>
          <p:cNvGraphicFramePr>
            <a:graphicFrameLocks noChangeAspect="1"/>
          </p:cNvGraphicFramePr>
          <p:nvPr/>
        </p:nvGraphicFramePr>
        <p:xfrm>
          <a:off x="7505700" y="1951038"/>
          <a:ext cx="2857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2" name="Equation" r:id="rId3" imgW="152202" imgH="177569" progId="Equation.DSMT4">
                  <p:embed/>
                </p:oleObj>
              </mc:Choice>
              <mc:Fallback>
                <p:oleObj name="Equation" r:id="rId3" imgW="152202" imgH="17756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5700" y="1951038"/>
                        <a:ext cx="2857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0" name="Object 18"/>
          <p:cNvGraphicFramePr>
            <a:graphicFrameLocks noChangeAspect="1"/>
          </p:cNvGraphicFramePr>
          <p:nvPr/>
        </p:nvGraphicFramePr>
        <p:xfrm>
          <a:off x="8389938" y="2317750"/>
          <a:ext cx="39211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3" name="Equation" r:id="rId5" imgW="203112" imgH="241195" progId="Equation.DSMT4">
                  <p:embed/>
                </p:oleObj>
              </mc:Choice>
              <mc:Fallback>
                <p:oleObj name="Equation" r:id="rId5" imgW="203112" imgH="241195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9938" y="2317750"/>
                        <a:ext cx="39211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6489700" y="1643063"/>
            <a:ext cx="447675" cy="393700"/>
            <a:chOff x="4229" y="720"/>
            <a:chExt cx="282" cy="248"/>
          </a:xfrm>
        </p:grpSpPr>
        <p:graphicFrame>
          <p:nvGraphicFramePr>
            <p:cNvPr id="11304" name="Object 20"/>
            <p:cNvGraphicFramePr>
              <a:graphicFrameLocks noChangeAspect="1"/>
            </p:cNvGraphicFramePr>
            <p:nvPr/>
          </p:nvGraphicFramePr>
          <p:xfrm>
            <a:off x="4229" y="720"/>
            <a:ext cx="197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24" name="公式" r:id="rId7" imgW="139579" imgH="177646" progId="Equation.3">
                    <p:embed/>
                  </p:oleObj>
                </mc:Choice>
                <mc:Fallback>
                  <p:oleObj name="公式" r:id="rId7" imgW="139579" imgH="177646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9" y="720"/>
                          <a:ext cx="197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5" name="Object 21"/>
            <p:cNvGraphicFramePr>
              <a:graphicFrameLocks noChangeAspect="1"/>
            </p:cNvGraphicFramePr>
            <p:nvPr/>
          </p:nvGraphicFramePr>
          <p:xfrm>
            <a:off x="4373" y="786"/>
            <a:ext cx="138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25" name="公式" r:id="rId9" imgW="152334" imgH="190417" progId="Equation.3">
                    <p:embed/>
                  </p:oleObj>
                </mc:Choice>
                <mc:Fallback>
                  <p:oleObj name="公式" r:id="rId9" imgW="152334" imgH="19041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3" y="786"/>
                          <a:ext cx="138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294" name="Object 22"/>
          <p:cNvGraphicFramePr>
            <a:graphicFrameLocks noChangeAspect="1"/>
          </p:cNvGraphicFramePr>
          <p:nvPr/>
        </p:nvGraphicFramePr>
        <p:xfrm>
          <a:off x="7019925" y="2011363"/>
          <a:ext cx="3079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6" name="Equation" r:id="rId11" imgW="215713" imgH="190335" progId="Equation.DSMT4">
                  <p:embed/>
                </p:oleObj>
              </mc:Choice>
              <mc:Fallback>
                <p:oleObj name="Equation" r:id="rId11" imgW="215713" imgH="190335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2011363"/>
                        <a:ext cx="307975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6" name="Text Box 24"/>
          <p:cNvSpPr txBox="1">
            <a:spLocks noChangeArrowheads="1"/>
          </p:cNvSpPr>
          <p:nvPr/>
        </p:nvSpPr>
        <p:spPr bwMode="auto">
          <a:xfrm>
            <a:off x="871538" y="865188"/>
            <a:ext cx="45005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波阵面上各面积元所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发出的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球面子波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在观察点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相干叠加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决定了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的合振动及光强。</a:t>
            </a:r>
          </a:p>
        </p:txBody>
      </p:sp>
      <p:sp>
        <p:nvSpPr>
          <p:cNvPr id="54299" name="Line 27"/>
          <p:cNvSpPr>
            <a:spLocks noChangeShapeType="1"/>
          </p:cNvSpPr>
          <p:nvPr/>
        </p:nvSpPr>
        <p:spPr bwMode="auto">
          <a:xfrm>
            <a:off x="2044700" y="1779588"/>
            <a:ext cx="13668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0" name="Line 28"/>
          <p:cNvSpPr>
            <a:spLocks noChangeShapeType="1"/>
          </p:cNvSpPr>
          <p:nvPr/>
        </p:nvSpPr>
        <p:spPr bwMode="auto">
          <a:xfrm>
            <a:off x="1735138" y="2211388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1" name="Text Box 29"/>
          <p:cNvSpPr txBox="1">
            <a:spLocks noChangeArrowheads="1"/>
          </p:cNvSpPr>
          <p:nvPr/>
        </p:nvSpPr>
        <p:spPr bwMode="auto">
          <a:xfrm>
            <a:off x="1001713" y="2770188"/>
            <a:ext cx="45878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衍射现象实为无限多个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无限小的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子波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干涉效应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279525" y="4000500"/>
            <a:ext cx="673100" cy="555625"/>
            <a:chOff x="4191" y="751"/>
            <a:chExt cx="355" cy="258"/>
          </a:xfrm>
        </p:grpSpPr>
        <p:graphicFrame>
          <p:nvGraphicFramePr>
            <p:cNvPr id="1130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7068849"/>
                </p:ext>
              </p:extLst>
            </p:nvPr>
          </p:nvGraphicFramePr>
          <p:xfrm>
            <a:off x="4191" y="761"/>
            <a:ext cx="18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27" name="Equation" r:id="rId13" imgW="126725" imgH="177415" progId="Equation.DSMT4">
                    <p:embed/>
                  </p:oleObj>
                </mc:Choice>
                <mc:Fallback>
                  <p:oleObj name="Equation" r:id="rId13" imgW="126725" imgH="177415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" y="761"/>
                          <a:ext cx="18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3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2745358"/>
                </p:ext>
              </p:extLst>
            </p:nvPr>
          </p:nvGraphicFramePr>
          <p:xfrm>
            <a:off x="4338" y="751"/>
            <a:ext cx="20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28" name="Equation" r:id="rId15" imgW="228501" imgH="266584" progId="Equation.DSMT4">
                    <p:embed/>
                  </p:oleObj>
                </mc:Choice>
                <mc:Fallback>
                  <p:oleObj name="Equation" r:id="rId15" imgW="228501" imgH="266584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8" y="751"/>
                          <a:ext cx="208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305" name="Line 33"/>
          <p:cNvSpPr>
            <a:spLocks noChangeShapeType="1"/>
          </p:cNvSpPr>
          <p:nvPr/>
        </p:nvSpPr>
        <p:spPr bwMode="auto">
          <a:xfrm>
            <a:off x="1978025" y="42830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306" name="Object 34"/>
          <p:cNvGraphicFramePr>
            <a:graphicFrameLocks noChangeAspect="1"/>
          </p:cNvGraphicFramePr>
          <p:nvPr/>
        </p:nvGraphicFramePr>
        <p:xfrm>
          <a:off x="2562225" y="4049713"/>
          <a:ext cx="4048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9" name="Equation" r:id="rId17" imgW="330057" imgH="342751" progId="Equation.DSMT4">
                  <p:embed/>
                </p:oleObj>
              </mc:Choice>
              <mc:Fallback>
                <p:oleObj name="Equation" r:id="rId17" imgW="330057" imgH="342751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4049713"/>
                        <a:ext cx="40481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480581"/>
              </p:ext>
            </p:extLst>
          </p:nvPr>
        </p:nvGraphicFramePr>
        <p:xfrm>
          <a:off x="2967038" y="3810000"/>
          <a:ext cx="431482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0" name="Equation" r:id="rId19" imgW="1790640" imgH="368280" progId="Equation.DSMT4">
                  <p:embed/>
                </p:oleObj>
              </mc:Choice>
              <mc:Fallback>
                <p:oleObj name="Equation" r:id="rId19" imgW="1790640" imgH="36828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3810000"/>
                        <a:ext cx="431482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13" name="Rectangle 41"/>
          <p:cNvSpPr>
            <a:spLocks noChangeArrowheads="1"/>
          </p:cNvSpPr>
          <p:nvPr/>
        </p:nvSpPr>
        <p:spPr bwMode="auto">
          <a:xfrm>
            <a:off x="838200" y="4679950"/>
            <a:ext cx="2725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点的合振动</a:t>
            </a:r>
          </a:p>
        </p:txBody>
      </p:sp>
      <p:graphicFrame>
        <p:nvGraphicFramePr>
          <p:cNvPr id="5431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3183104"/>
              </p:ext>
            </p:extLst>
          </p:nvPr>
        </p:nvGraphicFramePr>
        <p:xfrm>
          <a:off x="1452563" y="5224463"/>
          <a:ext cx="612298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1" name="Equation" r:id="rId21" imgW="2679700" imgH="444500" progId="Equation.DSMT4">
                  <p:embed/>
                </p:oleObj>
              </mc:Choice>
              <mc:Fallback>
                <p:oleObj name="Equation" r:id="rId21" imgW="2679700" imgH="4445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5224463"/>
                        <a:ext cx="6122987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2843213" y="6186488"/>
            <a:ext cx="4789487" cy="519112"/>
            <a:chOff x="1440" y="3408"/>
            <a:chExt cx="2459" cy="327"/>
          </a:xfrm>
        </p:grpSpPr>
        <p:sp>
          <p:nvSpPr>
            <p:cNvPr id="11300" name="Line 49"/>
            <p:cNvSpPr>
              <a:spLocks noChangeShapeType="1"/>
            </p:cNvSpPr>
            <p:nvPr/>
          </p:nvSpPr>
          <p:spPr bwMode="auto">
            <a:xfrm>
              <a:off x="1440" y="3600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1" name="Rectangle 50"/>
            <p:cNvSpPr>
              <a:spLocks noChangeArrowheads="1"/>
            </p:cNvSpPr>
            <p:nvPr/>
          </p:nvSpPr>
          <p:spPr bwMode="auto">
            <a:xfrm>
              <a:off x="2208" y="3408"/>
              <a:ext cx="16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菲涅耳衍射公式</a:t>
              </a:r>
            </a:p>
          </p:txBody>
        </p:sp>
      </p:grpSp>
      <p:sp>
        <p:nvSpPr>
          <p:cNvPr id="54324" name="Arc 52"/>
          <p:cNvSpPr>
            <a:spLocks/>
          </p:cNvSpPr>
          <p:nvPr/>
        </p:nvSpPr>
        <p:spPr bwMode="auto">
          <a:xfrm rot="353857">
            <a:off x="6938963" y="2328863"/>
            <a:ext cx="609600" cy="492125"/>
          </a:xfrm>
          <a:custGeom>
            <a:avLst/>
            <a:gdLst>
              <a:gd name="T0" fmla="*/ 2147483646 w 21600"/>
              <a:gd name="T1" fmla="*/ 0 h 19699"/>
              <a:gd name="T2" fmla="*/ 2147483646 w 21600"/>
              <a:gd name="T3" fmla="*/ 2147483646 h 19699"/>
              <a:gd name="T4" fmla="*/ 0 w 21600"/>
              <a:gd name="T5" fmla="*/ 2147483646 h 19699"/>
              <a:gd name="T6" fmla="*/ 0 60000 65536"/>
              <a:gd name="T7" fmla="*/ 0 60000 65536"/>
              <a:gd name="T8" fmla="*/ 0 60000 65536"/>
              <a:gd name="T9" fmla="*/ 0 w 21600"/>
              <a:gd name="T10" fmla="*/ 0 h 19699"/>
              <a:gd name="T11" fmla="*/ 21600 w 21600"/>
              <a:gd name="T12" fmla="*/ 19699 h 196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699" fill="none" extrusionOk="0">
                <a:moveTo>
                  <a:pt x="18670" y="0"/>
                </a:moveTo>
                <a:cubicBezTo>
                  <a:pt x="20589" y="3298"/>
                  <a:pt x="21600" y="7045"/>
                  <a:pt x="21600" y="10861"/>
                </a:cubicBezTo>
                <a:cubicBezTo>
                  <a:pt x="21600" y="13907"/>
                  <a:pt x="20955" y="16919"/>
                  <a:pt x="19709" y="19699"/>
                </a:cubicBezTo>
              </a:path>
              <a:path w="21600" h="19699" stroke="0" extrusionOk="0">
                <a:moveTo>
                  <a:pt x="18670" y="0"/>
                </a:moveTo>
                <a:cubicBezTo>
                  <a:pt x="20589" y="3298"/>
                  <a:pt x="21600" y="7045"/>
                  <a:pt x="21600" y="10861"/>
                </a:cubicBezTo>
                <a:cubicBezTo>
                  <a:pt x="21600" y="13907"/>
                  <a:pt x="20955" y="16919"/>
                  <a:pt x="19709" y="19699"/>
                </a:cubicBezTo>
                <a:lnTo>
                  <a:pt x="0" y="10861"/>
                </a:lnTo>
                <a:lnTo>
                  <a:pt x="18670" y="0"/>
                </a:lnTo>
                <a:close/>
              </a:path>
            </a:pathLst>
          </a:custGeom>
          <a:noFill/>
          <a:ln w="9525">
            <a:solidFill>
              <a:srgbClr val="FF2D2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25" name="Arc 53"/>
          <p:cNvSpPr>
            <a:spLocks/>
          </p:cNvSpPr>
          <p:nvPr/>
        </p:nvSpPr>
        <p:spPr bwMode="auto">
          <a:xfrm>
            <a:off x="6634163" y="2405063"/>
            <a:ext cx="381000" cy="333375"/>
          </a:xfrm>
          <a:custGeom>
            <a:avLst/>
            <a:gdLst>
              <a:gd name="T0" fmla="*/ 2147483646 w 21600"/>
              <a:gd name="T1" fmla="*/ 0 h 20760"/>
              <a:gd name="T2" fmla="*/ 2147483646 w 21600"/>
              <a:gd name="T3" fmla="*/ 2147483646 h 20760"/>
              <a:gd name="T4" fmla="*/ 0 w 21600"/>
              <a:gd name="T5" fmla="*/ 2147483646 h 20760"/>
              <a:gd name="T6" fmla="*/ 0 60000 65536"/>
              <a:gd name="T7" fmla="*/ 0 60000 65536"/>
              <a:gd name="T8" fmla="*/ 0 60000 65536"/>
              <a:gd name="T9" fmla="*/ 0 w 21600"/>
              <a:gd name="T10" fmla="*/ 0 h 20760"/>
              <a:gd name="T11" fmla="*/ 21600 w 21600"/>
              <a:gd name="T12" fmla="*/ 20760 h 207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760" fill="none" extrusionOk="0">
                <a:moveTo>
                  <a:pt x="19608" y="0"/>
                </a:moveTo>
                <a:cubicBezTo>
                  <a:pt x="20920" y="2839"/>
                  <a:pt x="21600" y="5930"/>
                  <a:pt x="21600" y="9059"/>
                </a:cubicBezTo>
                <a:cubicBezTo>
                  <a:pt x="21600" y="13209"/>
                  <a:pt x="20404" y="17271"/>
                  <a:pt x="18156" y="20760"/>
                </a:cubicBezTo>
              </a:path>
              <a:path w="21600" h="20760" stroke="0" extrusionOk="0">
                <a:moveTo>
                  <a:pt x="19608" y="0"/>
                </a:moveTo>
                <a:cubicBezTo>
                  <a:pt x="20920" y="2839"/>
                  <a:pt x="21600" y="5930"/>
                  <a:pt x="21600" y="9059"/>
                </a:cubicBezTo>
                <a:cubicBezTo>
                  <a:pt x="21600" y="13209"/>
                  <a:pt x="20404" y="17271"/>
                  <a:pt x="18156" y="20760"/>
                </a:cubicBezTo>
                <a:lnTo>
                  <a:pt x="0" y="9059"/>
                </a:lnTo>
                <a:lnTo>
                  <a:pt x="19608" y="0"/>
                </a:lnTo>
                <a:close/>
              </a:path>
            </a:pathLst>
          </a:custGeom>
          <a:noFill/>
          <a:ln w="9525">
            <a:solidFill>
              <a:srgbClr val="FF2D2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326" name="Object 54"/>
          <p:cNvGraphicFramePr>
            <a:graphicFrameLocks noChangeAspect="1"/>
          </p:cNvGraphicFramePr>
          <p:nvPr/>
        </p:nvGraphicFramePr>
        <p:xfrm>
          <a:off x="7215188" y="1624013"/>
          <a:ext cx="29368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2" name="Equation" r:id="rId23" imgW="177569" imgH="253670" progId="Equation.DSMT4">
                  <p:embed/>
                </p:oleObj>
              </mc:Choice>
              <mc:Fallback>
                <p:oleObj name="Equation" r:id="rId23" imgW="177569" imgH="25367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1624013"/>
                        <a:ext cx="29368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8" name="Text Box 55"/>
          <p:cNvSpPr txBox="1">
            <a:spLocks noChangeArrowheads="1"/>
          </p:cNvSpPr>
          <p:nvPr/>
        </p:nvSpPr>
        <p:spPr bwMode="auto">
          <a:xfrm>
            <a:off x="8788400" y="63928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26201"/>
              </p:ext>
            </p:extLst>
          </p:nvPr>
        </p:nvGraphicFramePr>
        <p:xfrm>
          <a:off x="6625501" y="3298021"/>
          <a:ext cx="2341688" cy="61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3" name="Equation" r:id="rId25" imgW="1752480" imgH="457200" progId="Equation.DSMT4">
                  <p:embed/>
                </p:oleObj>
              </mc:Choice>
              <mc:Fallback>
                <p:oleObj name="Equation" r:id="rId25" imgW="17524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625501" y="3298021"/>
                        <a:ext cx="2341688" cy="61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300"/>
                                        <p:tgtEl>
                                          <p:spTgt spid="5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4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4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4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4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4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4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4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7" dur="500"/>
                                        <p:tgtEl>
                                          <p:spTgt spid="54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autoUpdateAnimBg="0"/>
      <p:bldP spid="54278" grpId="0" autoUpdateAnimBg="0"/>
      <p:bldP spid="54281" grpId="0" animBg="1"/>
      <p:bldP spid="54282" grpId="0" animBg="1"/>
      <p:bldP spid="54283" grpId="0" animBg="1"/>
      <p:bldP spid="54284" grpId="0" animBg="1"/>
      <p:bldP spid="54285" grpId="0" animBg="1"/>
      <p:bldP spid="54286" grpId="0" animBg="1"/>
      <p:bldP spid="54287" grpId="0" animBg="1"/>
      <p:bldP spid="54288" grpId="0" animBg="1"/>
      <p:bldP spid="54296" grpId="0"/>
      <p:bldP spid="54299" grpId="0" animBg="1"/>
      <p:bldP spid="54300" grpId="0" animBg="1"/>
      <p:bldP spid="54301" grpId="0" autoUpdateAnimBg="0"/>
      <p:bldP spid="54305" grpId="0" animBg="1"/>
      <p:bldP spid="54313" grpId="0"/>
      <p:bldP spid="54324" grpId="0" animBg="1"/>
      <p:bldP spid="543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38" name="Rectangle 42"/>
          <p:cNvSpPr>
            <a:spLocks noChangeArrowheads="1"/>
          </p:cNvSpPr>
          <p:nvPr/>
        </p:nvSpPr>
        <p:spPr bwMode="auto">
          <a:xfrm>
            <a:off x="101600" y="371475"/>
            <a:ext cx="597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1.4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干涉现象与衍射现象的区别</a:t>
            </a:r>
            <a:endParaRPr kumimoji="1" lang="zh-CN" altLang="en-US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341" name="Rectangle 45"/>
          <p:cNvSpPr>
            <a:spLocks noChangeArrowheads="1"/>
          </p:cNvSpPr>
          <p:nvPr/>
        </p:nvSpPr>
        <p:spPr bwMode="auto">
          <a:xfrm>
            <a:off x="576263" y="4184650"/>
            <a:ext cx="5327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干涉</a:t>
            </a:r>
            <a:r>
              <a:rPr kumimoji="1" lang="en-US" altLang="zh-CN" sz="2800" b="1" dirty="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:</a:t>
            </a:r>
            <a:r>
              <a:rPr kumimoji="1" lang="zh-CN" altLang="en-US" sz="2800" b="1" dirty="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有限</a:t>
            </a:r>
            <a:r>
              <a:rPr kumimoji="1" lang="zh-CN" altLang="en-US" sz="2800" b="1" dirty="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子波迭加干涉</a:t>
            </a:r>
          </a:p>
        </p:txBody>
      </p:sp>
      <p:pic>
        <p:nvPicPr>
          <p:cNvPr id="55346" name="Picture 5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2825" y="1304925"/>
            <a:ext cx="3168650" cy="2609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55347" name="Picture 5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18075" y="1268413"/>
            <a:ext cx="3671888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55348" name="Rectangle 52"/>
          <p:cNvSpPr>
            <a:spLocks noChangeArrowheads="1"/>
          </p:cNvSpPr>
          <p:nvPr/>
        </p:nvSpPr>
        <p:spPr bwMode="auto">
          <a:xfrm>
            <a:off x="4751388" y="4184650"/>
            <a:ext cx="417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衍射</a:t>
            </a:r>
            <a:r>
              <a:rPr kumimoji="1" lang="en-US" altLang="zh-CN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:</a:t>
            </a:r>
            <a:r>
              <a:rPr kumimoji="1" lang="zh-CN" altLang="en-US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无限</a:t>
            </a:r>
            <a:r>
              <a:rPr kumimoji="1" lang="zh-CN" altLang="en-US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子波迭加干涉</a:t>
            </a:r>
          </a:p>
        </p:txBody>
      </p:sp>
      <p:sp>
        <p:nvSpPr>
          <p:cNvPr id="12295" name="Text Box 53"/>
          <p:cNvSpPr txBox="1">
            <a:spLocks noChangeArrowheads="1"/>
          </p:cNvSpPr>
          <p:nvPr/>
        </p:nvSpPr>
        <p:spPr bwMode="auto">
          <a:xfrm>
            <a:off x="8802688" y="64071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4</a:t>
            </a:r>
            <a:endParaRPr lang="en-US" altLang="zh-CN" sz="1800"/>
          </a:p>
        </p:txBody>
      </p:sp>
      <p:sp>
        <p:nvSpPr>
          <p:cNvPr id="9" name="圆角矩形 8"/>
          <p:cNvSpPr/>
          <p:nvPr/>
        </p:nvSpPr>
        <p:spPr>
          <a:xfrm>
            <a:off x="1524000" y="4151313"/>
            <a:ext cx="871538" cy="6826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689600" y="4165600"/>
            <a:ext cx="871538" cy="6826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1" name="Rectangle 45"/>
          <p:cNvSpPr>
            <a:spLocks noChangeArrowheads="1"/>
          </p:cNvSpPr>
          <p:nvPr/>
        </p:nvSpPr>
        <p:spPr bwMode="auto">
          <a:xfrm>
            <a:off x="1671638" y="5233988"/>
            <a:ext cx="2030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缝宽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a&lt;&lt;</a:t>
            </a:r>
            <a:r>
              <a:rPr kumimoji="1" lang="el-GR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λ</a:t>
            </a:r>
            <a:endParaRPr kumimoji="1" lang="zh-CN" altLang="en-US" sz="2800" b="1" dirty="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2" name="Rectangle 45"/>
          <p:cNvSpPr>
            <a:spLocks noChangeArrowheads="1"/>
          </p:cNvSpPr>
          <p:nvPr/>
        </p:nvSpPr>
        <p:spPr bwMode="auto">
          <a:xfrm>
            <a:off x="6015038" y="5233988"/>
            <a:ext cx="164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缝宽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a~</a:t>
            </a:r>
            <a:r>
              <a:rPr kumimoji="1" lang="el-GR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λ</a:t>
            </a:r>
            <a:endParaRPr kumimoji="1" lang="zh-CN" altLang="en-US" sz="2800" b="1" dirty="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55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25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5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38" grpId="0"/>
      <p:bldP spid="55341" grpId="0" build="allAtOnce" autoUpdateAnimBg="0"/>
      <p:bldP spid="55348" grpId="0" autoUpdateAnimBg="0"/>
      <p:bldP spid="9" grpId="0" animBg="1"/>
      <p:bldP spid="10" grpId="0" animBg="1"/>
      <p:bldP spid="11" grpId="0" build="allAtOnce" autoUpdateAnimBg="0"/>
      <p:bldP spid="12" grpId="0" build="allAtOnce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444625" y="300038"/>
            <a:ext cx="66373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节 单缝夫琅和费衍射</a:t>
            </a:r>
            <a:b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Fraunhofer Diffraction by a Single Slit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58738" y="1423988"/>
            <a:ext cx="3481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衍射装置及图样</a:t>
            </a:r>
          </a:p>
        </p:txBody>
      </p:sp>
      <p:pic>
        <p:nvPicPr>
          <p:cNvPr id="6148" name="Picture 4" descr="18-6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9101" y="2200502"/>
            <a:ext cx="7026955" cy="4094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8788400" y="6376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5</a:t>
            </a:r>
            <a:endParaRPr lang="en-US" altLang="zh-CN" sz="1800"/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1"/>
          <p:cNvGrpSpPr>
            <a:grpSpLocks/>
          </p:cNvGrpSpPr>
          <p:nvPr/>
        </p:nvGrpSpPr>
        <p:grpSpPr bwMode="auto">
          <a:xfrm>
            <a:off x="468313" y="517525"/>
            <a:ext cx="7005637" cy="2982913"/>
            <a:chOff x="583" y="210"/>
            <a:chExt cx="4413" cy="1879"/>
          </a:xfrm>
        </p:grpSpPr>
        <p:grpSp>
          <p:nvGrpSpPr>
            <p:cNvPr id="15386" name="Group 3"/>
            <p:cNvGrpSpPr>
              <a:grpSpLocks/>
            </p:cNvGrpSpPr>
            <p:nvPr/>
          </p:nvGrpSpPr>
          <p:grpSpPr bwMode="auto">
            <a:xfrm>
              <a:off x="1320" y="618"/>
              <a:ext cx="1152" cy="998"/>
              <a:chOff x="720" y="2208"/>
              <a:chExt cx="1152" cy="1056"/>
            </a:xfrm>
          </p:grpSpPr>
          <p:sp>
            <p:nvSpPr>
              <p:cNvPr id="15451" name="AutoShape 4"/>
              <p:cNvSpPr>
                <a:spLocks noChangeArrowheads="1"/>
              </p:cNvSpPr>
              <p:nvPr/>
            </p:nvSpPr>
            <p:spPr bwMode="auto">
              <a:xfrm rot="16200000" flipV="1">
                <a:off x="1032" y="1896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5452" name="AutoShape 5"/>
              <p:cNvSpPr>
                <a:spLocks noChangeArrowheads="1"/>
              </p:cNvSpPr>
              <p:nvPr/>
            </p:nvSpPr>
            <p:spPr bwMode="auto">
              <a:xfrm rot="16200000" flipV="1">
                <a:off x="1032" y="2424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387" name="Line 6"/>
            <p:cNvSpPr>
              <a:spLocks noChangeShapeType="1"/>
            </p:cNvSpPr>
            <p:nvPr/>
          </p:nvSpPr>
          <p:spPr bwMode="auto">
            <a:xfrm flipV="1">
              <a:off x="583" y="1154"/>
              <a:ext cx="528" cy="144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5388" name="Group 7"/>
            <p:cNvGrpSpPr>
              <a:grpSpLocks/>
            </p:cNvGrpSpPr>
            <p:nvPr/>
          </p:nvGrpSpPr>
          <p:grpSpPr bwMode="auto">
            <a:xfrm>
              <a:off x="3844" y="210"/>
              <a:ext cx="1152" cy="1728"/>
              <a:chOff x="3840" y="2256"/>
              <a:chExt cx="1152" cy="1728"/>
            </a:xfrm>
          </p:grpSpPr>
          <p:grpSp>
            <p:nvGrpSpPr>
              <p:cNvPr id="15392" name="Group 8"/>
              <p:cNvGrpSpPr>
                <a:grpSpLocks/>
              </p:cNvGrpSpPr>
              <p:nvPr/>
            </p:nvGrpSpPr>
            <p:grpSpPr bwMode="auto">
              <a:xfrm>
                <a:off x="3840" y="2256"/>
                <a:ext cx="1152" cy="1728"/>
                <a:chOff x="3840" y="2256"/>
                <a:chExt cx="1152" cy="1728"/>
              </a:xfrm>
            </p:grpSpPr>
            <p:grpSp>
              <p:nvGrpSpPr>
                <p:cNvPr id="15404" name="Group 9"/>
                <p:cNvGrpSpPr>
                  <a:grpSpLocks/>
                </p:cNvGrpSpPr>
                <p:nvPr/>
              </p:nvGrpSpPr>
              <p:grpSpPr bwMode="auto">
                <a:xfrm>
                  <a:off x="3840" y="2256"/>
                  <a:ext cx="1152" cy="1728"/>
                  <a:chOff x="3936" y="2016"/>
                  <a:chExt cx="1152" cy="1728"/>
                </a:xfrm>
              </p:grpSpPr>
              <p:sp>
                <p:nvSpPr>
                  <p:cNvPr id="15406" name="Line 1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36" y="3024"/>
                    <a:ext cx="1152" cy="288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07" name="Line 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84" y="2544"/>
                    <a:ext cx="576" cy="144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5408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3936" y="2016"/>
                    <a:ext cx="1152" cy="1728"/>
                    <a:chOff x="3936" y="2016"/>
                    <a:chExt cx="1152" cy="1728"/>
                  </a:xfrm>
                </p:grpSpPr>
                <p:grpSp>
                  <p:nvGrpSpPr>
                    <p:cNvPr id="15427" name="Group 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936" y="2016"/>
                      <a:ext cx="1152" cy="1728"/>
                      <a:chOff x="2688" y="2064"/>
                      <a:chExt cx="1152" cy="1728"/>
                    </a:xfrm>
                  </p:grpSpPr>
                  <p:sp>
                    <p:nvSpPr>
                      <p:cNvPr id="15447" name="Line 14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688" y="2064"/>
                        <a:ext cx="1152" cy="288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48" name="Line 1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88" y="2352"/>
                        <a:ext cx="0" cy="144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49" name="Line 1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840" y="2064"/>
                        <a:ext cx="0" cy="1392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50" name="Line 17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688" y="3456"/>
                        <a:ext cx="1152" cy="33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428" name="AutoShape 18"/>
                    <p:cNvSpPr>
                      <a:spLocks noChangeArrowheads="1"/>
                    </p:cNvSpPr>
                    <p:nvPr/>
                  </p:nvSpPr>
                  <p:spPr bwMode="auto">
                    <a:xfrm rot="16200000" flipV="1">
                      <a:off x="4248" y="2280"/>
                      <a:ext cx="528" cy="1152"/>
                    </a:xfrm>
                    <a:prstGeom prst="parallelogram">
                      <a:avLst>
                        <a:gd name="adj" fmla="val 56250"/>
                      </a:avLst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429" name="Line 1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96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0" name="Line 2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832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1" name="Line 2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88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2" name="Line 2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4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3" name="Line 2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0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4" name="Line 2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352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5" name="Line 2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352"/>
                      <a:ext cx="1152" cy="24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6" name="Line 2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4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7" name="Line 2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976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8" name="Line 2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92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9" name="Line 2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92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0" name="Line 3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304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1" name="Line 3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3024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2" name="Line 3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84" y="2544"/>
                      <a:ext cx="528" cy="144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3" name="Line 3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0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4" name="Line 3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352"/>
                      <a:ext cx="1152" cy="24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5" name="Line 3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592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6" name="Line 3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544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5409" name="Line 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36" y="3072"/>
                    <a:ext cx="1152" cy="288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10" name="Line 3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84" y="3168"/>
                    <a:ext cx="576" cy="144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11" name="Line 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36" y="2928"/>
                    <a:ext cx="1152" cy="288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12" name="Line 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36" y="3024"/>
                    <a:ext cx="1152" cy="288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13" name="AutoShape 41"/>
                  <p:cNvSpPr>
                    <a:spLocks noChangeArrowheads="1"/>
                  </p:cNvSpPr>
                  <p:nvPr/>
                </p:nvSpPr>
                <p:spPr bwMode="auto">
                  <a:xfrm rot="16200000" flipV="1">
                    <a:off x="4248" y="2568"/>
                    <a:ext cx="528" cy="1152"/>
                  </a:xfrm>
                  <a:prstGeom prst="parallelogram">
                    <a:avLst>
                      <a:gd name="adj" fmla="val 56250"/>
                    </a:avLst>
                  </a:prstGeom>
                  <a:solidFill>
                    <a:srgbClr val="FF33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414" name="AutoShape 42"/>
                  <p:cNvSpPr>
                    <a:spLocks noChangeArrowheads="1"/>
                  </p:cNvSpPr>
                  <p:nvPr/>
                </p:nvSpPr>
                <p:spPr bwMode="auto">
                  <a:xfrm rot="16200000" flipV="1">
                    <a:off x="4248" y="1896"/>
                    <a:ext cx="528" cy="1152"/>
                  </a:xfrm>
                  <a:prstGeom prst="parallelogram">
                    <a:avLst>
                      <a:gd name="adj" fmla="val 56250"/>
                    </a:avLst>
                  </a:prstGeom>
                  <a:solidFill>
                    <a:srgbClr val="FF33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5415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3936" y="2832"/>
                    <a:ext cx="1152" cy="336"/>
                    <a:chOff x="2304" y="3120"/>
                    <a:chExt cx="1152" cy="336"/>
                  </a:xfrm>
                </p:grpSpPr>
                <p:sp>
                  <p:nvSpPr>
                    <p:cNvPr id="15425" name="Line 4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2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6" name="Line 4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6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16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3936" y="3072"/>
                    <a:ext cx="1152" cy="336"/>
                    <a:chOff x="2304" y="3120"/>
                    <a:chExt cx="1152" cy="336"/>
                  </a:xfrm>
                </p:grpSpPr>
                <p:sp>
                  <p:nvSpPr>
                    <p:cNvPr id="15423" name="Line 4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2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4" name="Line 4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6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17" name="Group 49"/>
                  <p:cNvGrpSpPr>
                    <a:grpSpLocks/>
                  </p:cNvGrpSpPr>
                  <p:nvPr/>
                </p:nvGrpSpPr>
                <p:grpSpPr bwMode="auto">
                  <a:xfrm>
                    <a:off x="3936" y="2448"/>
                    <a:ext cx="1152" cy="336"/>
                    <a:chOff x="2304" y="3120"/>
                    <a:chExt cx="1152" cy="336"/>
                  </a:xfrm>
                </p:grpSpPr>
                <p:sp>
                  <p:nvSpPr>
                    <p:cNvPr id="15421" name="Line 5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2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2" name="Line 5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6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18" name="Group 52"/>
                  <p:cNvGrpSpPr>
                    <a:grpSpLocks/>
                  </p:cNvGrpSpPr>
                  <p:nvPr/>
                </p:nvGrpSpPr>
                <p:grpSpPr bwMode="auto">
                  <a:xfrm>
                    <a:off x="3936" y="2208"/>
                    <a:ext cx="1152" cy="336"/>
                    <a:chOff x="2304" y="3120"/>
                    <a:chExt cx="1152" cy="336"/>
                  </a:xfrm>
                </p:grpSpPr>
                <p:sp>
                  <p:nvSpPr>
                    <p:cNvPr id="15419" name="Line 5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2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0" name="Line 5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6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15405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4416" y="2736"/>
                  <a:ext cx="576" cy="96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393" name="Line 56"/>
              <p:cNvSpPr>
                <a:spLocks noChangeShapeType="1"/>
              </p:cNvSpPr>
              <p:nvPr/>
            </p:nvSpPr>
            <p:spPr bwMode="auto">
              <a:xfrm flipV="1">
                <a:off x="3840" y="3264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4" name="Line 57"/>
              <p:cNvSpPr>
                <a:spLocks noChangeShapeType="1"/>
              </p:cNvSpPr>
              <p:nvPr/>
            </p:nvSpPr>
            <p:spPr bwMode="auto">
              <a:xfrm flipV="1">
                <a:off x="4224" y="3168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5" name="Line 58"/>
              <p:cNvSpPr>
                <a:spLocks noChangeShapeType="1"/>
              </p:cNvSpPr>
              <p:nvPr/>
            </p:nvSpPr>
            <p:spPr bwMode="auto">
              <a:xfrm flipV="1">
                <a:off x="4560" y="3120"/>
                <a:ext cx="432" cy="96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6" name="Line 59"/>
              <p:cNvSpPr>
                <a:spLocks noChangeShapeType="1"/>
              </p:cNvSpPr>
              <p:nvPr/>
            </p:nvSpPr>
            <p:spPr bwMode="auto">
              <a:xfrm flipV="1">
                <a:off x="3888" y="2832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7" name="Line 60"/>
              <p:cNvSpPr>
                <a:spLocks noChangeShapeType="1"/>
              </p:cNvSpPr>
              <p:nvPr/>
            </p:nvSpPr>
            <p:spPr bwMode="auto">
              <a:xfrm flipV="1">
                <a:off x="4512" y="2688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8" name="Line 61"/>
              <p:cNvSpPr>
                <a:spLocks noChangeShapeType="1"/>
              </p:cNvSpPr>
              <p:nvPr/>
            </p:nvSpPr>
            <p:spPr bwMode="auto">
              <a:xfrm flipV="1">
                <a:off x="4128" y="2784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9" name="Line 62"/>
              <p:cNvSpPr>
                <a:spLocks noChangeShapeType="1"/>
              </p:cNvSpPr>
              <p:nvPr/>
            </p:nvSpPr>
            <p:spPr bwMode="auto">
              <a:xfrm flipV="1">
                <a:off x="3840" y="2976"/>
                <a:ext cx="480" cy="144"/>
              </a:xfrm>
              <a:prstGeom prst="line">
                <a:avLst/>
              </a:prstGeom>
              <a:noFill/>
              <a:ln w="762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00" name="Line 63"/>
              <p:cNvSpPr>
                <a:spLocks noChangeShapeType="1"/>
              </p:cNvSpPr>
              <p:nvPr/>
            </p:nvSpPr>
            <p:spPr bwMode="auto">
              <a:xfrm flipV="1">
                <a:off x="4272" y="2880"/>
                <a:ext cx="480" cy="144"/>
              </a:xfrm>
              <a:prstGeom prst="line">
                <a:avLst/>
              </a:prstGeom>
              <a:noFill/>
              <a:ln w="762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01" name="Line 64"/>
              <p:cNvSpPr>
                <a:spLocks noChangeShapeType="1"/>
              </p:cNvSpPr>
              <p:nvPr/>
            </p:nvSpPr>
            <p:spPr bwMode="auto">
              <a:xfrm flipV="1">
                <a:off x="4464" y="2832"/>
                <a:ext cx="480" cy="144"/>
              </a:xfrm>
              <a:prstGeom prst="line">
                <a:avLst/>
              </a:prstGeom>
              <a:noFill/>
              <a:ln w="762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02" name="Line 65"/>
              <p:cNvSpPr>
                <a:spLocks noChangeShapeType="1"/>
              </p:cNvSpPr>
              <p:nvPr/>
            </p:nvSpPr>
            <p:spPr bwMode="auto">
              <a:xfrm flipV="1">
                <a:off x="4176" y="2928"/>
                <a:ext cx="480" cy="144"/>
              </a:xfrm>
              <a:prstGeom prst="line">
                <a:avLst/>
              </a:prstGeom>
              <a:noFill/>
              <a:ln w="762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03" name="AutoShape 66"/>
              <p:cNvSpPr>
                <a:spLocks noChangeArrowheads="1"/>
              </p:cNvSpPr>
              <p:nvPr/>
            </p:nvSpPr>
            <p:spPr bwMode="auto">
              <a:xfrm rot="16200000" flipV="1">
                <a:off x="4152" y="2424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rgbClr val="FF3300"/>
              </a:solidFill>
              <a:ln w="9525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graphicFrame>
          <p:nvGraphicFramePr>
            <p:cNvPr id="15389" name="Object 67"/>
            <p:cNvGraphicFramePr>
              <a:graphicFrameLocks noChangeAspect="1"/>
            </p:cNvGraphicFramePr>
            <p:nvPr/>
          </p:nvGraphicFramePr>
          <p:xfrm>
            <a:off x="711" y="894"/>
            <a:ext cx="11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39" name="Equation" r:id="rId3" imgW="190417" imgH="241195" progId="Equation.DSMT4">
                    <p:embed/>
                  </p:oleObj>
                </mc:Choice>
                <mc:Fallback>
                  <p:oleObj name="Equation" r:id="rId3" imgW="190417" imgH="241195" progId="Equation.DSMT4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" y="894"/>
                          <a:ext cx="119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0" name="Text Box 68"/>
            <p:cNvSpPr txBox="1">
              <a:spLocks noChangeArrowheads="1"/>
            </p:cNvSpPr>
            <p:nvPr/>
          </p:nvSpPr>
          <p:spPr bwMode="auto">
            <a:xfrm>
              <a:off x="844" y="1762"/>
              <a:ext cx="339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为与缝平行的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线光源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时</a:t>
              </a:r>
              <a:endPara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91" name="Oval 69"/>
            <p:cNvSpPr>
              <a:spLocks noChangeArrowheads="1"/>
            </p:cNvSpPr>
            <p:nvPr/>
          </p:nvSpPr>
          <p:spPr bwMode="auto">
            <a:xfrm>
              <a:off x="2692" y="354"/>
              <a:ext cx="144" cy="12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92"/>
          <p:cNvGrpSpPr>
            <a:grpSpLocks/>
          </p:cNvGrpSpPr>
          <p:nvPr/>
        </p:nvGrpSpPr>
        <p:grpSpPr bwMode="auto">
          <a:xfrm>
            <a:off x="922338" y="3716338"/>
            <a:ext cx="6361112" cy="2736850"/>
            <a:chOff x="869" y="2205"/>
            <a:chExt cx="4007" cy="1724"/>
          </a:xfrm>
        </p:grpSpPr>
        <p:sp>
          <p:nvSpPr>
            <p:cNvPr id="15367" name="Rectangle 71"/>
            <p:cNvSpPr>
              <a:spLocks noChangeArrowheads="1"/>
            </p:cNvSpPr>
            <p:nvPr/>
          </p:nvSpPr>
          <p:spPr bwMode="auto">
            <a:xfrm>
              <a:off x="898" y="3602"/>
              <a:ext cx="24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为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点光源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时</a:t>
              </a:r>
              <a:endPara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5368" name="Group 72"/>
            <p:cNvGrpSpPr>
              <a:grpSpLocks/>
            </p:cNvGrpSpPr>
            <p:nvPr/>
          </p:nvGrpSpPr>
          <p:grpSpPr bwMode="auto">
            <a:xfrm rot="-235678">
              <a:off x="1338" y="2568"/>
              <a:ext cx="1145" cy="933"/>
              <a:chOff x="720" y="2208"/>
              <a:chExt cx="1152" cy="1056"/>
            </a:xfrm>
          </p:grpSpPr>
          <p:sp>
            <p:nvSpPr>
              <p:cNvPr id="15384" name="AutoShape 73"/>
              <p:cNvSpPr>
                <a:spLocks noChangeArrowheads="1"/>
              </p:cNvSpPr>
              <p:nvPr/>
            </p:nvSpPr>
            <p:spPr bwMode="auto">
              <a:xfrm rot="16200000" flipV="1">
                <a:off x="1032" y="1896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5385" name="AutoShape 74"/>
              <p:cNvSpPr>
                <a:spLocks noChangeArrowheads="1"/>
              </p:cNvSpPr>
              <p:nvPr/>
            </p:nvSpPr>
            <p:spPr bwMode="auto">
              <a:xfrm rot="16200000" flipV="1">
                <a:off x="1032" y="2424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369" name="Oval 75"/>
            <p:cNvSpPr>
              <a:spLocks noChangeArrowheads="1"/>
            </p:cNvSpPr>
            <p:nvPr/>
          </p:nvSpPr>
          <p:spPr bwMode="auto">
            <a:xfrm>
              <a:off x="2699" y="2253"/>
              <a:ext cx="144" cy="12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pSp>
          <p:nvGrpSpPr>
            <p:cNvPr id="15370" name="Group 76"/>
            <p:cNvGrpSpPr>
              <a:grpSpLocks/>
            </p:cNvGrpSpPr>
            <p:nvPr/>
          </p:nvGrpSpPr>
          <p:grpSpPr bwMode="auto">
            <a:xfrm>
              <a:off x="4012" y="2205"/>
              <a:ext cx="864" cy="1584"/>
              <a:chOff x="4032" y="624"/>
              <a:chExt cx="1152" cy="1584"/>
            </a:xfrm>
          </p:grpSpPr>
          <p:sp>
            <p:nvSpPr>
              <p:cNvPr id="15380" name="Line 77"/>
              <p:cNvSpPr>
                <a:spLocks noChangeShapeType="1"/>
              </p:cNvSpPr>
              <p:nvPr/>
            </p:nvSpPr>
            <p:spPr bwMode="auto">
              <a:xfrm flipV="1">
                <a:off x="4032" y="624"/>
                <a:ext cx="1152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1" name="Line 78"/>
              <p:cNvSpPr>
                <a:spLocks noChangeShapeType="1"/>
              </p:cNvSpPr>
              <p:nvPr/>
            </p:nvSpPr>
            <p:spPr bwMode="auto">
              <a:xfrm>
                <a:off x="4032" y="912"/>
                <a:ext cx="0" cy="12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2" name="Line 79"/>
              <p:cNvSpPr>
                <a:spLocks noChangeShapeType="1"/>
              </p:cNvSpPr>
              <p:nvPr/>
            </p:nvSpPr>
            <p:spPr bwMode="auto">
              <a:xfrm flipV="1">
                <a:off x="4032" y="1920"/>
                <a:ext cx="1152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3" name="Line 80"/>
              <p:cNvSpPr>
                <a:spLocks noChangeShapeType="1"/>
              </p:cNvSpPr>
              <p:nvPr/>
            </p:nvSpPr>
            <p:spPr bwMode="auto">
              <a:xfrm flipH="1">
                <a:off x="5184" y="624"/>
                <a:ext cx="0" cy="12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371" name="AutoShape 81"/>
            <p:cNvSpPr>
              <a:spLocks noChangeArrowheads="1"/>
            </p:cNvSpPr>
            <p:nvPr/>
          </p:nvSpPr>
          <p:spPr bwMode="auto">
            <a:xfrm rot="16200000" flipH="1">
              <a:off x="4300" y="2925"/>
              <a:ext cx="288" cy="96"/>
            </a:xfrm>
            <a:prstGeom prst="parallelogram">
              <a:avLst>
                <a:gd name="adj" fmla="val 1934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2" name="AutoShape 82"/>
            <p:cNvSpPr>
              <a:spLocks noChangeArrowheads="1"/>
            </p:cNvSpPr>
            <p:nvPr/>
          </p:nvSpPr>
          <p:spPr bwMode="auto">
            <a:xfrm rot="16200000" flipH="1">
              <a:off x="4372" y="2757"/>
              <a:ext cx="144" cy="96"/>
            </a:xfrm>
            <a:prstGeom prst="parallelogram">
              <a:avLst>
                <a:gd name="adj" fmla="val 9674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3" name="AutoShape 83"/>
            <p:cNvSpPr>
              <a:spLocks noChangeArrowheads="1"/>
            </p:cNvSpPr>
            <p:nvPr/>
          </p:nvSpPr>
          <p:spPr bwMode="auto">
            <a:xfrm rot="16200000" flipH="1">
              <a:off x="4372" y="3093"/>
              <a:ext cx="144" cy="96"/>
            </a:xfrm>
            <a:prstGeom prst="parallelogram">
              <a:avLst>
                <a:gd name="adj" fmla="val 9674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4" name="AutoShape 84"/>
            <p:cNvSpPr>
              <a:spLocks noChangeArrowheads="1"/>
            </p:cNvSpPr>
            <p:nvPr/>
          </p:nvSpPr>
          <p:spPr bwMode="auto">
            <a:xfrm rot="16200000" flipH="1">
              <a:off x="4396" y="2637"/>
              <a:ext cx="96" cy="96"/>
            </a:xfrm>
            <a:prstGeom prst="parallelogram">
              <a:avLst>
                <a:gd name="adj" fmla="val 6449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5" name="AutoShape 85"/>
            <p:cNvSpPr>
              <a:spLocks noChangeArrowheads="1"/>
            </p:cNvSpPr>
            <p:nvPr/>
          </p:nvSpPr>
          <p:spPr bwMode="auto">
            <a:xfrm rot="16200000" flipH="1">
              <a:off x="4396" y="3213"/>
              <a:ext cx="96" cy="96"/>
            </a:xfrm>
            <a:prstGeom prst="parallelogram">
              <a:avLst>
                <a:gd name="adj" fmla="val 6449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6" name="AutoShape 86"/>
            <p:cNvSpPr>
              <a:spLocks noChangeArrowheads="1"/>
            </p:cNvSpPr>
            <p:nvPr/>
          </p:nvSpPr>
          <p:spPr bwMode="auto">
            <a:xfrm rot="16200000" flipH="1">
              <a:off x="4372" y="2517"/>
              <a:ext cx="144" cy="96"/>
            </a:xfrm>
            <a:prstGeom prst="parallelogram">
              <a:avLst>
                <a:gd name="adj" fmla="val 9674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7" name="AutoShape 87"/>
            <p:cNvSpPr>
              <a:spLocks noChangeArrowheads="1"/>
            </p:cNvSpPr>
            <p:nvPr/>
          </p:nvSpPr>
          <p:spPr bwMode="auto">
            <a:xfrm rot="16200000" flipH="1">
              <a:off x="4372" y="3333"/>
              <a:ext cx="144" cy="96"/>
            </a:xfrm>
            <a:prstGeom prst="parallelogram">
              <a:avLst>
                <a:gd name="adj" fmla="val 9674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8" name="Oval 88"/>
            <p:cNvSpPr>
              <a:spLocks noChangeArrowheads="1"/>
            </p:cNvSpPr>
            <p:nvPr/>
          </p:nvSpPr>
          <p:spPr bwMode="auto">
            <a:xfrm>
              <a:off x="878" y="3083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aphicFrame>
          <p:nvGraphicFramePr>
            <p:cNvPr id="15379" name="Object 89"/>
            <p:cNvGraphicFramePr>
              <a:graphicFrameLocks noChangeAspect="1"/>
            </p:cNvGraphicFramePr>
            <p:nvPr/>
          </p:nvGraphicFramePr>
          <p:xfrm>
            <a:off x="869" y="2823"/>
            <a:ext cx="11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40" name="Equation" r:id="rId5" imgW="190417" imgH="241195" progId="Equation.DSMT4">
                    <p:embed/>
                  </p:oleObj>
                </mc:Choice>
                <mc:Fallback>
                  <p:oleObj name="Equation" r:id="rId5" imgW="190417" imgH="241195" progId="Equation.DSMT4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9" y="2823"/>
                          <a:ext cx="119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4" name="Text Box 93"/>
          <p:cNvSpPr txBox="1">
            <a:spLocks noChangeArrowheads="1"/>
          </p:cNvSpPr>
          <p:nvPr/>
        </p:nvSpPr>
        <p:spPr bwMode="auto">
          <a:xfrm>
            <a:off x="8788400" y="6376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6</a:t>
            </a:r>
            <a:endParaRPr lang="en-US" altLang="zh-CN" sz="1800"/>
          </a:p>
        </p:txBody>
      </p:sp>
      <p:pic>
        <p:nvPicPr>
          <p:cNvPr id="91" name="Picture 2" descr="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702550" y="282575"/>
            <a:ext cx="1223963" cy="2882900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" name="Picture 3" descr="2"/>
          <p:cNvPicPr>
            <a:picLocks noChangeAspect="1" noChangeArrowheads="1"/>
          </p:cNvPicPr>
          <p:nvPr/>
        </p:nvPicPr>
        <p:blipFill>
          <a:blip r:embed="rId8"/>
          <a:srcRect t="8565" b="11494"/>
          <a:stretch>
            <a:fillRect/>
          </a:stretch>
        </p:blipFill>
        <p:spPr bwMode="auto">
          <a:xfrm>
            <a:off x="8001000" y="3513138"/>
            <a:ext cx="717550" cy="31638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Oval 2"/>
          <p:cNvSpPr>
            <a:spLocks noChangeArrowheads="1"/>
          </p:cNvSpPr>
          <p:nvPr/>
        </p:nvSpPr>
        <p:spPr bwMode="auto">
          <a:xfrm>
            <a:off x="3756025" y="2046288"/>
            <a:ext cx="228600" cy="35052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411413" y="4713288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Oval 5"/>
          <p:cNvSpPr>
            <a:spLocks noChangeArrowheads="1"/>
          </p:cNvSpPr>
          <p:nvPr/>
        </p:nvSpPr>
        <p:spPr bwMode="auto">
          <a:xfrm>
            <a:off x="2384425" y="38750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9222" name="Oval 6"/>
          <p:cNvSpPr>
            <a:spLocks noChangeArrowheads="1"/>
          </p:cNvSpPr>
          <p:nvPr/>
        </p:nvSpPr>
        <p:spPr bwMode="auto">
          <a:xfrm>
            <a:off x="2384425" y="31892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9223" name="Oval 7"/>
          <p:cNvSpPr>
            <a:spLocks noChangeArrowheads="1"/>
          </p:cNvSpPr>
          <p:nvPr/>
        </p:nvSpPr>
        <p:spPr bwMode="auto">
          <a:xfrm>
            <a:off x="2384425" y="46370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484438" y="3284538"/>
            <a:ext cx="457200" cy="10668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 flipV="1">
            <a:off x="2484438" y="32131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104790" y="2851944"/>
            <a:ext cx="247650" cy="2198688"/>
            <a:chOff x="928" y="2045"/>
            <a:chExt cx="156" cy="1385"/>
          </a:xfrm>
        </p:grpSpPr>
        <p:sp>
          <p:nvSpPr>
            <p:cNvPr id="16433" name="Rectangle 11"/>
            <p:cNvSpPr>
              <a:spLocks noChangeArrowheads="1"/>
            </p:cNvSpPr>
            <p:nvPr/>
          </p:nvSpPr>
          <p:spPr bwMode="auto">
            <a:xfrm>
              <a:off x="928" y="3197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34" name="Rectangle 12"/>
            <p:cNvSpPr>
              <a:spLocks noChangeArrowheads="1"/>
            </p:cNvSpPr>
            <p:nvPr/>
          </p:nvSpPr>
          <p:spPr bwMode="auto">
            <a:xfrm>
              <a:off x="934" y="2621"/>
              <a:ext cx="1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35" name="Rectangle 13"/>
            <p:cNvSpPr>
              <a:spLocks noChangeArrowheads="1"/>
            </p:cNvSpPr>
            <p:nvPr/>
          </p:nvSpPr>
          <p:spPr bwMode="auto">
            <a:xfrm>
              <a:off x="934" y="2045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2628900" y="4437063"/>
            <a:ext cx="4302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solidFill>
                  <a:schemeClr val="tx1"/>
                </a:solidFill>
                <a:latin typeface="Symbol" panose="05050102010706020507" pitchFamily="18" charset="2"/>
              </a:rPr>
              <a:t>l</a:t>
            </a:r>
            <a:endParaRPr kumimoji="1" lang="en-US" altLang="zh-CN" sz="2400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3090863" y="2819400"/>
            <a:ext cx="473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solidFill>
                  <a:schemeClr val="tx1"/>
                </a:solidFill>
                <a:latin typeface="Symbol" panose="05050102010706020507" pitchFamily="18" charset="2"/>
              </a:rPr>
              <a:t>q</a:t>
            </a:r>
            <a:endParaRPr kumimoji="1" lang="en-US" altLang="zh-CN" sz="2400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2924175" y="4302125"/>
            <a:ext cx="495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G</a:t>
            </a:r>
            <a:endParaRPr kumimoji="1" lang="en-US" altLang="zh-CN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551613" y="2133600"/>
            <a:ext cx="2111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7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125413" y="336550"/>
            <a:ext cx="6343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2.2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明暗条件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菲涅耳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半波带法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592138" y="915988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先考虑一束特殊的光线</a:t>
            </a:r>
            <a:endParaRPr kumimoji="1" lang="zh-CN" altLang="en-US" sz="20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1666875" y="6149975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可以判断：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处为</a:t>
            </a:r>
            <a:endParaRPr kumimoji="1" lang="zh-CN" altLang="en-US" sz="20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45" name="Arc 29"/>
          <p:cNvSpPr>
            <a:spLocks/>
          </p:cNvSpPr>
          <p:nvPr/>
        </p:nvSpPr>
        <p:spPr bwMode="auto">
          <a:xfrm>
            <a:off x="2155825" y="2947988"/>
            <a:ext cx="914400" cy="271462"/>
          </a:xfrm>
          <a:custGeom>
            <a:avLst/>
            <a:gdLst>
              <a:gd name="T0" fmla="*/ 2147483646 w 21600"/>
              <a:gd name="T1" fmla="*/ 0 h 6403"/>
              <a:gd name="T2" fmla="*/ 2147483646 w 21600"/>
              <a:gd name="T3" fmla="*/ 2147483646 h 6403"/>
              <a:gd name="T4" fmla="*/ 0 w 21600"/>
              <a:gd name="T5" fmla="*/ 2147483646 h 6403"/>
              <a:gd name="T6" fmla="*/ 0 60000 65536"/>
              <a:gd name="T7" fmla="*/ 0 60000 65536"/>
              <a:gd name="T8" fmla="*/ 0 60000 65536"/>
              <a:gd name="T9" fmla="*/ 0 w 21600"/>
              <a:gd name="T10" fmla="*/ 0 h 6403"/>
              <a:gd name="T11" fmla="*/ 21600 w 21600"/>
              <a:gd name="T12" fmla="*/ 6403 h 64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6403" fill="none" extrusionOk="0">
                <a:moveTo>
                  <a:pt x="20629" y="-1"/>
                </a:moveTo>
                <a:cubicBezTo>
                  <a:pt x="21272" y="2073"/>
                  <a:pt x="21600" y="4231"/>
                  <a:pt x="21600" y="6403"/>
                </a:cubicBezTo>
              </a:path>
              <a:path w="21600" h="6403" stroke="0" extrusionOk="0">
                <a:moveTo>
                  <a:pt x="20629" y="-1"/>
                </a:moveTo>
                <a:cubicBezTo>
                  <a:pt x="21272" y="2073"/>
                  <a:pt x="21600" y="4231"/>
                  <a:pt x="21600" y="6403"/>
                </a:cubicBezTo>
                <a:lnTo>
                  <a:pt x="0" y="6403"/>
                </a:lnTo>
                <a:lnTo>
                  <a:pt x="20629" y="-1"/>
                </a:lnTo>
                <a:close/>
              </a:path>
            </a:pathLst>
          </a:cu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6" name="Line 30"/>
          <p:cNvSpPr>
            <a:spLocks noChangeShapeType="1"/>
          </p:cNvSpPr>
          <p:nvPr/>
        </p:nvSpPr>
        <p:spPr bwMode="auto">
          <a:xfrm>
            <a:off x="1317625" y="3265488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47" name="Object 31"/>
          <p:cNvGraphicFramePr>
            <a:graphicFrameLocks noChangeAspect="1"/>
          </p:cNvGraphicFramePr>
          <p:nvPr/>
        </p:nvGraphicFramePr>
        <p:xfrm>
          <a:off x="1187450" y="3789363"/>
          <a:ext cx="27305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5" name="公式" r:id="rId3" imgW="203024" imgH="215713" progId="Equation.3">
                  <p:embed/>
                </p:oleObj>
              </mc:Choice>
              <mc:Fallback>
                <p:oleObj name="公式" r:id="rId3" imgW="203024" imgH="215713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789363"/>
                        <a:ext cx="273050" cy="2905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CCFF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2"/>
          <p:cNvGrpSpPr>
            <a:grpSpLocks/>
          </p:cNvGrpSpPr>
          <p:nvPr/>
        </p:nvGrpSpPr>
        <p:grpSpPr bwMode="auto">
          <a:xfrm rot="229207">
            <a:off x="2481336" y="2531444"/>
            <a:ext cx="1313392" cy="2109367"/>
            <a:chOff x="1152" y="1807"/>
            <a:chExt cx="816" cy="1361"/>
          </a:xfrm>
        </p:grpSpPr>
        <p:sp>
          <p:nvSpPr>
            <p:cNvPr id="16430" name="Line 33"/>
            <p:cNvSpPr>
              <a:spLocks noChangeShapeType="1"/>
            </p:cNvSpPr>
            <p:nvPr/>
          </p:nvSpPr>
          <p:spPr bwMode="auto">
            <a:xfrm flipV="1">
              <a:off x="1152" y="1807"/>
              <a:ext cx="780" cy="44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1" name="Line 34"/>
            <p:cNvSpPr>
              <a:spLocks noChangeShapeType="1"/>
            </p:cNvSpPr>
            <p:nvPr/>
          </p:nvSpPr>
          <p:spPr bwMode="auto">
            <a:xfrm flipV="1">
              <a:off x="1152" y="2688"/>
              <a:ext cx="816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2" name="Line 35"/>
            <p:cNvSpPr>
              <a:spLocks noChangeShapeType="1"/>
            </p:cNvSpPr>
            <p:nvPr/>
          </p:nvSpPr>
          <p:spPr bwMode="auto">
            <a:xfrm flipV="1">
              <a:off x="1152" y="2256"/>
              <a:ext cx="816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3984625" y="2638425"/>
            <a:ext cx="2819400" cy="1295400"/>
            <a:chOff x="2112" y="1824"/>
            <a:chExt cx="1776" cy="816"/>
          </a:xfrm>
        </p:grpSpPr>
        <p:sp>
          <p:nvSpPr>
            <p:cNvPr id="16424" name="Line 37"/>
            <p:cNvSpPr>
              <a:spLocks noChangeShapeType="1"/>
            </p:cNvSpPr>
            <p:nvPr/>
          </p:nvSpPr>
          <p:spPr bwMode="auto">
            <a:xfrm flipV="1">
              <a:off x="2112" y="2016"/>
              <a:ext cx="1008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5" name="Line 38"/>
            <p:cNvSpPr>
              <a:spLocks noChangeShapeType="1"/>
            </p:cNvSpPr>
            <p:nvPr/>
          </p:nvSpPr>
          <p:spPr bwMode="auto">
            <a:xfrm flipV="1">
              <a:off x="3120" y="1824"/>
              <a:ext cx="768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6" name="Line 39"/>
            <p:cNvSpPr>
              <a:spLocks noChangeShapeType="1"/>
            </p:cNvSpPr>
            <p:nvPr/>
          </p:nvSpPr>
          <p:spPr bwMode="auto">
            <a:xfrm flipV="1">
              <a:off x="2112" y="1824"/>
              <a:ext cx="10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7" name="Line 40"/>
            <p:cNvSpPr>
              <a:spLocks noChangeShapeType="1"/>
            </p:cNvSpPr>
            <p:nvPr/>
          </p:nvSpPr>
          <p:spPr bwMode="auto">
            <a:xfrm flipV="1">
              <a:off x="2112" y="2160"/>
              <a:ext cx="1056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8" name="Line 41"/>
            <p:cNvSpPr>
              <a:spLocks noChangeShapeType="1"/>
            </p:cNvSpPr>
            <p:nvPr/>
          </p:nvSpPr>
          <p:spPr bwMode="auto">
            <a:xfrm flipV="1">
              <a:off x="3072" y="1824"/>
              <a:ext cx="81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9" name="Line 42"/>
            <p:cNvSpPr>
              <a:spLocks noChangeShapeType="1"/>
            </p:cNvSpPr>
            <p:nvPr/>
          </p:nvSpPr>
          <p:spPr bwMode="auto">
            <a:xfrm flipV="1">
              <a:off x="3072" y="1824"/>
              <a:ext cx="81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59" name="Line 43"/>
          <p:cNvSpPr>
            <a:spLocks noChangeShapeType="1"/>
          </p:cNvSpPr>
          <p:nvPr/>
        </p:nvSpPr>
        <p:spPr bwMode="auto">
          <a:xfrm flipV="1">
            <a:off x="2411413" y="3789363"/>
            <a:ext cx="288925" cy="144462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0" name="Line 44"/>
          <p:cNvSpPr>
            <a:spLocks noChangeShapeType="1"/>
          </p:cNvSpPr>
          <p:nvPr/>
        </p:nvSpPr>
        <p:spPr bwMode="auto">
          <a:xfrm flipV="1">
            <a:off x="2411413" y="4365625"/>
            <a:ext cx="506412" cy="249238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1" name="Line 45"/>
          <p:cNvSpPr>
            <a:spLocks noChangeShapeType="1"/>
          </p:cNvSpPr>
          <p:nvPr/>
        </p:nvSpPr>
        <p:spPr bwMode="auto">
          <a:xfrm>
            <a:off x="1012825" y="3265488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2" name="Line 46"/>
          <p:cNvSpPr>
            <a:spLocks noChangeShapeType="1"/>
          </p:cNvSpPr>
          <p:nvPr/>
        </p:nvSpPr>
        <p:spPr bwMode="auto">
          <a:xfrm>
            <a:off x="1089025" y="4637088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3" name="Rectangle 47"/>
          <p:cNvSpPr>
            <a:spLocks noChangeArrowheads="1"/>
          </p:cNvSpPr>
          <p:nvPr/>
        </p:nvSpPr>
        <p:spPr bwMode="auto">
          <a:xfrm>
            <a:off x="4529138" y="6157913"/>
            <a:ext cx="2328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一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暗纹</a:t>
            </a:r>
          </a:p>
        </p:txBody>
      </p: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6913109" y="959077"/>
            <a:ext cx="457200" cy="5334000"/>
            <a:chOff x="3888" y="672"/>
            <a:chExt cx="288" cy="3168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5158" name="Rectangle 49"/>
            <p:cNvSpPr>
              <a:spLocks noChangeArrowheads="1"/>
            </p:cNvSpPr>
            <p:nvPr/>
          </p:nvSpPr>
          <p:spPr bwMode="auto">
            <a:xfrm>
              <a:off x="3888" y="1576"/>
              <a:ext cx="288" cy="1458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134"/>
                </a:gs>
                <a:gs pos="100000">
                  <a:srgbClr val="00000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159" name="Rectangle 50"/>
            <p:cNvSpPr>
              <a:spLocks noChangeArrowheads="1"/>
            </p:cNvSpPr>
            <p:nvPr/>
          </p:nvSpPr>
          <p:spPr bwMode="auto">
            <a:xfrm>
              <a:off x="3888" y="672"/>
              <a:ext cx="288" cy="1007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BC0000"/>
                </a:gs>
                <a:gs pos="100000">
                  <a:srgbClr val="00000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160" name="Rectangle 51"/>
            <p:cNvSpPr>
              <a:spLocks noChangeArrowheads="1"/>
            </p:cNvSpPr>
            <p:nvPr/>
          </p:nvSpPr>
          <p:spPr bwMode="auto">
            <a:xfrm>
              <a:off x="3888" y="2932"/>
              <a:ext cx="288" cy="908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BC0000"/>
                </a:gs>
                <a:gs pos="100000">
                  <a:srgbClr val="00000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</p:grpSp>
      <p:sp>
        <p:nvSpPr>
          <p:cNvPr id="9268" name="Line 52"/>
          <p:cNvSpPr>
            <a:spLocks noChangeShapeType="1"/>
          </p:cNvSpPr>
          <p:nvPr/>
        </p:nvSpPr>
        <p:spPr bwMode="auto">
          <a:xfrm>
            <a:off x="6840538" y="944563"/>
            <a:ext cx="0" cy="533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53"/>
          <p:cNvGrpSpPr>
            <a:grpSpLocks/>
          </p:cNvGrpSpPr>
          <p:nvPr/>
        </p:nvGrpSpPr>
        <p:grpSpPr bwMode="auto">
          <a:xfrm>
            <a:off x="1317625" y="3265488"/>
            <a:ext cx="838200" cy="1371600"/>
            <a:chOff x="384" y="2304"/>
            <a:chExt cx="528" cy="864"/>
          </a:xfrm>
        </p:grpSpPr>
        <p:sp>
          <p:nvSpPr>
            <p:cNvPr id="16421" name="Line 54"/>
            <p:cNvSpPr>
              <a:spLocks noChangeShapeType="1"/>
            </p:cNvSpPr>
            <p:nvPr/>
          </p:nvSpPr>
          <p:spPr bwMode="auto">
            <a:xfrm>
              <a:off x="432" y="2304"/>
              <a:ext cx="4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2" name="Line 55"/>
            <p:cNvSpPr>
              <a:spLocks noChangeShapeType="1"/>
            </p:cNvSpPr>
            <p:nvPr/>
          </p:nvSpPr>
          <p:spPr bwMode="auto">
            <a:xfrm>
              <a:off x="384" y="3168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3" name="Line 56"/>
            <p:cNvSpPr>
              <a:spLocks noChangeShapeType="1"/>
            </p:cNvSpPr>
            <p:nvPr/>
          </p:nvSpPr>
          <p:spPr bwMode="auto">
            <a:xfrm>
              <a:off x="528" y="2736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77" name="Line 61"/>
          <p:cNvSpPr>
            <a:spLocks noChangeShapeType="1"/>
          </p:cNvSpPr>
          <p:nvPr/>
        </p:nvSpPr>
        <p:spPr bwMode="auto">
          <a:xfrm>
            <a:off x="2411413" y="2565400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7" name="Text Box 62"/>
          <p:cNvSpPr txBox="1">
            <a:spLocks noChangeArrowheads="1"/>
          </p:cNvSpPr>
          <p:nvPr/>
        </p:nvSpPr>
        <p:spPr bwMode="auto">
          <a:xfrm>
            <a:off x="8802688" y="63928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52" name="Rectangle 19"/>
          <p:cNvSpPr>
            <a:spLocks noChangeArrowheads="1"/>
          </p:cNvSpPr>
          <p:nvPr/>
        </p:nvSpPr>
        <p:spPr bwMode="auto">
          <a:xfrm>
            <a:off x="592138" y="1511300"/>
            <a:ext cx="5410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衍射角</a:t>
            </a:r>
            <a:r>
              <a:rPr kumimoji="1" lang="en-US" altLang="zh-CN" sz="2800" b="1" i="1">
                <a:solidFill>
                  <a:schemeClr val="tx1"/>
                </a:solidFill>
                <a:latin typeface="Symbol" panose="05050102010706020507" pitchFamily="18" charset="2"/>
              </a:rPr>
              <a:t>q</a:t>
            </a:r>
            <a:endParaRPr kumimoji="1" lang="en-US" altLang="zh-CN" sz="28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217988" y="5145088"/>
            <a:ext cx="25495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</a:rPr>
              <a:t>个“</a:t>
            </a:r>
            <a:r>
              <a:rPr lang="zh-CN" altLang="en-US" sz="2800" b="1" dirty="0">
                <a:solidFill>
                  <a:srgbClr val="0000CC"/>
                </a:solidFill>
              </a:rPr>
              <a:t>半波带</a:t>
            </a:r>
            <a:r>
              <a:rPr lang="zh-CN" altLang="en-US" sz="2800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54" name="Rectangle 18"/>
          <p:cNvSpPr>
            <a:spLocks noChangeArrowheads="1"/>
          </p:cNvSpPr>
          <p:nvPr/>
        </p:nvSpPr>
        <p:spPr bwMode="auto">
          <a:xfrm>
            <a:off x="5099050" y="287338"/>
            <a:ext cx="2043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重点！！！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43610"/>
              </p:ext>
            </p:extLst>
          </p:nvPr>
        </p:nvGraphicFramePr>
        <p:xfrm>
          <a:off x="2437074" y="3825945"/>
          <a:ext cx="239167" cy="507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6" name="Equation" r:id="rId5" imgW="317160" imgH="672840" progId="Equation.DSMT4">
                  <p:embed/>
                </p:oleObj>
              </mc:Choice>
              <mc:Fallback>
                <p:oleObj name="Equation" r:id="rId5" imgW="31716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37074" y="3825945"/>
                        <a:ext cx="239167" cy="507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87384"/>
              </p:ext>
            </p:extLst>
          </p:nvPr>
        </p:nvGraphicFramePr>
        <p:xfrm>
          <a:off x="2064483" y="5668067"/>
          <a:ext cx="3278310" cy="440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7" name="Equation" r:id="rId7" imgW="2361960" imgH="317160" progId="Equation.DSMT4">
                  <p:embed/>
                </p:oleObj>
              </mc:Choice>
              <mc:Fallback>
                <p:oleObj name="Equation" r:id="rId7" imgW="236196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64483" y="5668067"/>
                        <a:ext cx="3278310" cy="4406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75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75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9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9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/>
      <p:bldP spid="9220" grpId="0" animBg="1"/>
      <p:bldP spid="9221" grpId="0" animBg="1"/>
      <p:bldP spid="9222" grpId="0" animBg="1"/>
      <p:bldP spid="9223" grpId="0" animBg="1"/>
      <p:bldP spid="9224" grpId="0" animBg="1"/>
      <p:bldP spid="9225" grpId="0" animBg="1"/>
      <p:bldP spid="9230" grpId="0" autoUpdateAnimBg="0"/>
      <p:bldP spid="9231" grpId="0" autoUpdateAnimBg="0"/>
      <p:bldP spid="9232" grpId="0" autoUpdateAnimBg="0"/>
      <p:bldP spid="9233" grpId="0" autoUpdateAnimBg="0"/>
      <p:bldP spid="9234" grpId="0" autoUpdateAnimBg="0"/>
      <p:bldP spid="9235" grpId="0" autoUpdateAnimBg="0"/>
      <p:bldP spid="9236" grpId="0" autoUpdateAnimBg="0"/>
      <p:bldP spid="9245" grpId="0" animBg="1"/>
      <p:bldP spid="9246" grpId="0" animBg="1"/>
      <p:bldP spid="9259" grpId="0" animBg="1"/>
      <p:bldP spid="9260" grpId="0" animBg="1"/>
      <p:bldP spid="9261" grpId="0" animBg="1"/>
      <p:bldP spid="9262" grpId="0" animBg="1"/>
      <p:bldP spid="9263" grpId="0" autoUpdateAnimBg="0"/>
      <p:bldP spid="9268" grpId="0" animBg="1"/>
      <p:bldP spid="9277" grpId="0" animBg="1"/>
      <p:bldP spid="52" grpId="0" autoUpdateAnimBg="0"/>
      <p:bldP spid="7" grpId="0"/>
      <p:bldP spid="5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684213" y="404813"/>
            <a:ext cx="4248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再考虑另一束光线</a:t>
            </a: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5541963" y="366395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可以判断：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处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981075" y="5487988"/>
            <a:ext cx="368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以此类推，</a:t>
            </a:r>
            <a:r>
              <a:rPr kumimoji="1"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级暗纹：</a:t>
            </a:r>
            <a:endParaRPr kumimoji="1" lang="zh-CN" altLang="en-US" sz="20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9" name="Oval 19"/>
          <p:cNvSpPr>
            <a:spLocks noChangeArrowheads="1"/>
          </p:cNvSpPr>
          <p:nvPr/>
        </p:nvSpPr>
        <p:spPr bwMode="auto">
          <a:xfrm>
            <a:off x="2468563" y="1398588"/>
            <a:ext cx="228600" cy="41910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260" name="Line 20"/>
          <p:cNvSpPr>
            <a:spLocks noChangeShapeType="1"/>
          </p:cNvSpPr>
          <p:nvPr/>
        </p:nvSpPr>
        <p:spPr bwMode="auto">
          <a:xfrm>
            <a:off x="5364163" y="865188"/>
            <a:ext cx="0" cy="434340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Line 21"/>
          <p:cNvSpPr>
            <a:spLocks noChangeShapeType="1"/>
          </p:cNvSpPr>
          <p:nvPr/>
        </p:nvSpPr>
        <p:spPr bwMode="auto">
          <a:xfrm>
            <a:off x="1096963" y="3074988"/>
            <a:ext cx="68580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 flipV="1">
            <a:off x="1173163" y="3074988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1096963" y="3379788"/>
            <a:ext cx="76200" cy="762000"/>
            <a:chOff x="2304" y="3168"/>
            <a:chExt cx="48" cy="480"/>
          </a:xfrm>
        </p:grpSpPr>
        <p:sp>
          <p:nvSpPr>
            <p:cNvPr id="17458" name="Oval 24"/>
            <p:cNvSpPr>
              <a:spLocks noChangeArrowheads="1"/>
            </p:cNvSpPr>
            <p:nvPr/>
          </p:nvSpPr>
          <p:spPr bwMode="auto">
            <a:xfrm>
              <a:off x="2304" y="3168"/>
              <a:ext cx="48" cy="48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7459" name="Oval 25"/>
            <p:cNvSpPr>
              <a:spLocks noChangeArrowheads="1"/>
            </p:cNvSpPr>
            <p:nvPr/>
          </p:nvSpPr>
          <p:spPr bwMode="auto">
            <a:xfrm>
              <a:off x="2304" y="3600"/>
              <a:ext cx="48" cy="48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0266" name="Rectangle 26"/>
          <p:cNvSpPr>
            <a:spLocks noChangeArrowheads="1"/>
          </p:cNvSpPr>
          <p:nvPr/>
        </p:nvSpPr>
        <p:spPr bwMode="auto">
          <a:xfrm>
            <a:off x="1401763" y="3455988"/>
            <a:ext cx="168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Symbol" panose="05050102010706020507" pitchFamily="18" charset="2"/>
              </a:rPr>
              <a:t>l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9" name="Rectangle 28"/>
          <p:cNvSpPr>
            <a:spLocks noChangeArrowheads="1"/>
          </p:cNvSpPr>
          <p:nvPr/>
        </p:nvSpPr>
        <p:spPr bwMode="auto">
          <a:xfrm>
            <a:off x="1628775" y="4724400"/>
            <a:ext cx="15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10269" name="Rectangle 29"/>
          <p:cNvSpPr>
            <a:spLocks noChangeArrowheads="1"/>
          </p:cNvSpPr>
          <p:nvPr/>
        </p:nvSpPr>
        <p:spPr bwMode="auto">
          <a:xfrm>
            <a:off x="1547813" y="4005263"/>
            <a:ext cx="792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endParaRPr kumimoji="1" lang="en-US" altLang="zh-CN" sz="1800" b="1" i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0270" name="Rectangle 30"/>
          <p:cNvSpPr>
            <a:spLocks noChangeArrowheads="1"/>
          </p:cNvSpPr>
          <p:nvPr/>
        </p:nvSpPr>
        <p:spPr bwMode="auto">
          <a:xfrm>
            <a:off x="1630363" y="2617788"/>
            <a:ext cx="492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Symbol" panose="05050102010706020507" pitchFamily="18" charset="2"/>
              </a:rPr>
              <a:t>q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1" name="Rectangle 31"/>
          <p:cNvSpPr>
            <a:spLocks noChangeArrowheads="1"/>
          </p:cNvSpPr>
          <p:nvPr/>
        </p:nvSpPr>
        <p:spPr bwMode="auto">
          <a:xfrm>
            <a:off x="1865313" y="3730625"/>
            <a:ext cx="54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G</a:t>
            </a:r>
            <a:endParaRPr kumimoji="1" lang="en-US" altLang="zh-CN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5018088" y="1216025"/>
            <a:ext cx="285750" cy="369888"/>
            <a:chOff x="2854" y="509"/>
            <a:chExt cx="180" cy="233"/>
          </a:xfrm>
        </p:grpSpPr>
        <p:sp>
          <p:nvSpPr>
            <p:cNvPr id="17456" name="Rectangle 33"/>
            <p:cNvSpPr>
              <a:spLocks noChangeArrowheads="1"/>
            </p:cNvSpPr>
            <p:nvPr/>
          </p:nvSpPr>
          <p:spPr bwMode="auto">
            <a:xfrm>
              <a:off x="2980" y="509"/>
              <a:ext cx="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'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57" name="Rectangle 34"/>
            <p:cNvSpPr>
              <a:spLocks noChangeArrowheads="1"/>
            </p:cNvSpPr>
            <p:nvPr/>
          </p:nvSpPr>
          <p:spPr bwMode="auto">
            <a:xfrm>
              <a:off x="2854" y="509"/>
              <a:ext cx="1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0275" name="Arc 35"/>
          <p:cNvSpPr>
            <a:spLocks/>
          </p:cNvSpPr>
          <p:nvPr/>
        </p:nvSpPr>
        <p:spPr bwMode="auto">
          <a:xfrm>
            <a:off x="728663" y="2697163"/>
            <a:ext cx="909637" cy="449262"/>
          </a:xfrm>
          <a:custGeom>
            <a:avLst/>
            <a:gdLst>
              <a:gd name="T0" fmla="*/ 2147483646 w 21493"/>
              <a:gd name="T1" fmla="*/ 0 h 10597"/>
              <a:gd name="T2" fmla="*/ 2147483646 w 21493"/>
              <a:gd name="T3" fmla="*/ 2147483646 h 10597"/>
              <a:gd name="T4" fmla="*/ 0 w 21493"/>
              <a:gd name="T5" fmla="*/ 2147483646 h 10597"/>
              <a:gd name="T6" fmla="*/ 0 60000 65536"/>
              <a:gd name="T7" fmla="*/ 0 60000 65536"/>
              <a:gd name="T8" fmla="*/ 0 60000 65536"/>
              <a:gd name="T9" fmla="*/ 0 w 21493"/>
              <a:gd name="T10" fmla="*/ 0 h 10597"/>
              <a:gd name="T11" fmla="*/ 21493 w 21493"/>
              <a:gd name="T12" fmla="*/ 10597 h 105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493" h="10597" fill="none" extrusionOk="0">
                <a:moveTo>
                  <a:pt x="18821" y="0"/>
                </a:moveTo>
                <a:cubicBezTo>
                  <a:pt x="20286" y="2601"/>
                  <a:pt x="21196" y="5479"/>
                  <a:pt x="21493" y="8449"/>
                </a:cubicBezTo>
              </a:path>
              <a:path w="21493" h="10597" stroke="0" extrusionOk="0">
                <a:moveTo>
                  <a:pt x="18821" y="0"/>
                </a:moveTo>
                <a:cubicBezTo>
                  <a:pt x="20286" y="2601"/>
                  <a:pt x="21196" y="5479"/>
                  <a:pt x="21493" y="8449"/>
                </a:cubicBezTo>
                <a:lnTo>
                  <a:pt x="0" y="10597"/>
                </a:lnTo>
                <a:lnTo>
                  <a:pt x="18821" y="0"/>
                </a:lnTo>
                <a:close/>
              </a:path>
            </a:pathLst>
          </a:cu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1173163" y="1703388"/>
            <a:ext cx="1371600" cy="2743200"/>
            <a:chOff x="432" y="816"/>
            <a:chExt cx="864" cy="1728"/>
          </a:xfrm>
        </p:grpSpPr>
        <p:sp>
          <p:nvSpPr>
            <p:cNvPr id="17453" name="Line 37"/>
            <p:cNvSpPr>
              <a:spLocks noChangeShapeType="1"/>
            </p:cNvSpPr>
            <p:nvPr/>
          </p:nvSpPr>
          <p:spPr bwMode="auto">
            <a:xfrm flipV="1">
              <a:off x="432" y="816"/>
              <a:ext cx="864" cy="86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4" name="Line 38"/>
            <p:cNvSpPr>
              <a:spLocks noChangeShapeType="1"/>
            </p:cNvSpPr>
            <p:nvPr/>
          </p:nvSpPr>
          <p:spPr bwMode="auto">
            <a:xfrm flipV="1">
              <a:off x="432" y="1728"/>
              <a:ext cx="816" cy="816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5" name="Line 39"/>
            <p:cNvSpPr>
              <a:spLocks noChangeShapeType="1"/>
            </p:cNvSpPr>
            <p:nvPr/>
          </p:nvSpPr>
          <p:spPr bwMode="auto">
            <a:xfrm flipV="1">
              <a:off x="432" y="1296"/>
              <a:ext cx="816" cy="816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80" name="Line 40"/>
          <p:cNvSpPr>
            <a:spLocks noChangeShapeType="1"/>
          </p:cNvSpPr>
          <p:nvPr/>
        </p:nvSpPr>
        <p:spPr bwMode="auto">
          <a:xfrm flipV="1">
            <a:off x="1173163" y="3455988"/>
            <a:ext cx="304800" cy="30480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 flipV="1">
            <a:off x="1173163" y="3760788"/>
            <a:ext cx="685800" cy="68580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83"/>
          <p:cNvGrpSpPr>
            <a:grpSpLocks/>
          </p:cNvGrpSpPr>
          <p:nvPr/>
        </p:nvGrpSpPr>
        <p:grpSpPr bwMode="auto">
          <a:xfrm>
            <a:off x="2620963" y="1690688"/>
            <a:ext cx="2743200" cy="1308100"/>
            <a:chOff x="1651" y="1065"/>
            <a:chExt cx="1728" cy="824"/>
          </a:xfrm>
        </p:grpSpPr>
        <p:sp>
          <p:nvSpPr>
            <p:cNvPr id="17447" name="Line 43"/>
            <p:cNvSpPr>
              <a:spLocks noChangeShapeType="1"/>
            </p:cNvSpPr>
            <p:nvPr/>
          </p:nvSpPr>
          <p:spPr bwMode="auto">
            <a:xfrm flipV="1">
              <a:off x="1699" y="1217"/>
              <a:ext cx="1008" cy="28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8" name="Line 44"/>
            <p:cNvSpPr>
              <a:spLocks noChangeShapeType="1"/>
            </p:cNvSpPr>
            <p:nvPr/>
          </p:nvSpPr>
          <p:spPr bwMode="auto">
            <a:xfrm flipV="1">
              <a:off x="2619" y="1073"/>
              <a:ext cx="760" cy="359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9" name="Line 45"/>
            <p:cNvSpPr>
              <a:spLocks noChangeShapeType="1"/>
            </p:cNvSpPr>
            <p:nvPr/>
          </p:nvSpPr>
          <p:spPr bwMode="auto">
            <a:xfrm flipV="1">
              <a:off x="1651" y="1073"/>
              <a:ext cx="1104" cy="0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0" name="Line 46"/>
            <p:cNvSpPr>
              <a:spLocks noChangeShapeType="1"/>
            </p:cNvSpPr>
            <p:nvPr/>
          </p:nvSpPr>
          <p:spPr bwMode="auto">
            <a:xfrm flipV="1">
              <a:off x="1699" y="1409"/>
              <a:ext cx="960" cy="480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1" name="Line 47"/>
            <p:cNvSpPr>
              <a:spLocks noChangeShapeType="1"/>
            </p:cNvSpPr>
            <p:nvPr/>
          </p:nvSpPr>
          <p:spPr bwMode="auto">
            <a:xfrm>
              <a:off x="2730" y="1065"/>
              <a:ext cx="649" cy="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2" name="Line 48"/>
            <p:cNvSpPr>
              <a:spLocks noChangeShapeType="1"/>
            </p:cNvSpPr>
            <p:nvPr/>
          </p:nvSpPr>
          <p:spPr bwMode="auto">
            <a:xfrm flipV="1">
              <a:off x="2659" y="1073"/>
              <a:ext cx="720" cy="153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89" name="Rectangle 49"/>
          <p:cNvSpPr>
            <a:spLocks noChangeArrowheads="1"/>
          </p:cNvSpPr>
          <p:nvPr/>
        </p:nvSpPr>
        <p:spPr bwMode="auto">
          <a:xfrm>
            <a:off x="5835650" y="4167188"/>
            <a:ext cx="2952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也是暗纹！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91" name="Line 51"/>
          <p:cNvSpPr>
            <a:spLocks noChangeShapeType="1"/>
          </p:cNvSpPr>
          <p:nvPr/>
        </p:nvSpPr>
        <p:spPr bwMode="auto">
          <a:xfrm flipV="1">
            <a:off x="1171575" y="3074988"/>
            <a:ext cx="1198563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5" name="Line 65"/>
          <p:cNvSpPr>
            <a:spLocks noChangeShapeType="1"/>
          </p:cNvSpPr>
          <p:nvPr/>
        </p:nvSpPr>
        <p:spPr bwMode="auto">
          <a:xfrm>
            <a:off x="1096963" y="2160588"/>
            <a:ext cx="0" cy="838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6" name="Line 66"/>
          <p:cNvSpPr>
            <a:spLocks noChangeShapeType="1"/>
          </p:cNvSpPr>
          <p:nvPr/>
        </p:nvSpPr>
        <p:spPr bwMode="auto">
          <a:xfrm>
            <a:off x="1096963" y="4522788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67"/>
          <p:cNvGrpSpPr>
            <a:grpSpLocks/>
          </p:cNvGrpSpPr>
          <p:nvPr/>
        </p:nvGrpSpPr>
        <p:grpSpPr bwMode="auto">
          <a:xfrm>
            <a:off x="817563" y="2663825"/>
            <a:ext cx="247650" cy="2198688"/>
            <a:chOff x="208" y="2045"/>
            <a:chExt cx="156" cy="1385"/>
          </a:xfrm>
        </p:grpSpPr>
        <p:sp>
          <p:nvSpPr>
            <p:cNvPr id="17444" name="Rectangle 68"/>
            <p:cNvSpPr>
              <a:spLocks noChangeArrowheads="1"/>
            </p:cNvSpPr>
            <p:nvPr/>
          </p:nvSpPr>
          <p:spPr bwMode="auto">
            <a:xfrm>
              <a:off x="208" y="3197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45" name="Rectangle 69"/>
            <p:cNvSpPr>
              <a:spLocks noChangeArrowheads="1"/>
            </p:cNvSpPr>
            <p:nvPr/>
          </p:nvSpPr>
          <p:spPr bwMode="auto">
            <a:xfrm>
              <a:off x="214" y="2621"/>
              <a:ext cx="1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46" name="Rectangle 70"/>
            <p:cNvSpPr>
              <a:spLocks noChangeArrowheads="1"/>
            </p:cNvSpPr>
            <p:nvPr/>
          </p:nvSpPr>
          <p:spPr bwMode="auto">
            <a:xfrm>
              <a:off x="214" y="2045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71"/>
          <p:cNvGrpSpPr>
            <a:grpSpLocks/>
          </p:cNvGrpSpPr>
          <p:nvPr/>
        </p:nvGrpSpPr>
        <p:grpSpPr bwMode="auto">
          <a:xfrm>
            <a:off x="1096963" y="2998788"/>
            <a:ext cx="76200" cy="1524000"/>
            <a:chOff x="384" y="2256"/>
            <a:chExt cx="48" cy="960"/>
          </a:xfrm>
        </p:grpSpPr>
        <p:sp>
          <p:nvSpPr>
            <p:cNvPr id="17441" name="Oval 72"/>
            <p:cNvSpPr>
              <a:spLocks noChangeArrowheads="1"/>
            </p:cNvSpPr>
            <p:nvPr/>
          </p:nvSpPr>
          <p:spPr bwMode="auto">
            <a:xfrm>
              <a:off x="384" y="273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7442" name="Oval 73"/>
            <p:cNvSpPr>
              <a:spLocks noChangeArrowheads="1"/>
            </p:cNvSpPr>
            <p:nvPr/>
          </p:nvSpPr>
          <p:spPr bwMode="auto">
            <a:xfrm>
              <a:off x="384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7443" name="Oval 74"/>
            <p:cNvSpPr>
              <a:spLocks noChangeArrowheads="1"/>
            </p:cNvSpPr>
            <p:nvPr/>
          </p:nvSpPr>
          <p:spPr bwMode="auto">
            <a:xfrm>
              <a:off x="384" y="31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7439" name="Text Box 85"/>
          <p:cNvSpPr txBox="1">
            <a:spLocks noChangeArrowheads="1"/>
          </p:cNvSpPr>
          <p:nvPr/>
        </p:nvSpPr>
        <p:spPr bwMode="auto">
          <a:xfrm>
            <a:off x="8788400" y="6376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9</a:t>
            </a:r>
            <a:endParaRPr lang="en-US" altLang="zh-CN" sz="1800"/>
          </a:p>
        </p:txBody>
      </p:sp>
      <p:sp>
        <p:nvSpPr>
          <p:cNvPr id="51" name="矩形 50"/>
          <p:cNvSpPr>
            <a:spLocks noChangeArrowheads="1"/>
          </p:cNvSpPr>
          <p:nvPr/>
        </p:nvSpPr>
        <p:spPr bwMode="auto">
          <a:xfrm>
            <a:off x="5664200" y="3081338"/>
            <a:ext cx="2547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4</a:t>
            </a:r>
            <a:r>
              <a:rPr lang="zh-CN" altLang="en-US" sz="2800" b="1">
                <a:solidFill>
                  <a:schemeClr val="tx1"/>
                </a:solidFill>
              </a:rPr>
              <a:t>个“</a:t>
            </a:r>
            <a:r>
              <a:rPr lang="zh-CN" altLang="en-US" sz="2800" b="1">
                <a:solidFill>
                  <a:srgbClr val="0000CC"/>
                </a:solidFill>
              </a:rPr>
              <a:t>半波带</a:t>
            </a:r>
            <a:r>
              <a:rPr lang="zh-CN" altLang="en-US" sz="2800" b="1">
                <a:solidFill>
                  <a:schemeClr val="tx1"/>
                </a:solidFill>
              </a:rPr>
              <a:t>”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160518"/>
              </p:ext>
            </p:extLst>
          </p:nvPr>
        </p:nvGraphicFramePr>
        <p:xfrm>
          <a:off x="5522914" y="2514785"/>
          <a:ext cx="2946171" cy="518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1" name="Equation" r:id="rId3" imgW="2234880" imgH="393480" progId="Equation.DSMT4">
                  <p:embed/>
                </p:oleObj>
              </mc:Choice>
              <mc:Fallback>
                <p:oleObj name="Equation" r:id="rId3" imgW="22348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22914" y="2514785"/>
                        <a:ext cx="2946171" cy="5189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584694"/>
              </p:ext>
            </p:extLst>
          </p:nvPr>
        </p:nvGraphicFramePr>
        <p:xfrm>
          <a:off x="4512468" y="5516563"/>
          <a:ext cx="3022341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2" name="Equation" r:id="rId5" imgW="2425680" imgH="393480" progId="Equation.DSMT4">
                  <p:embed/>
                </p:oleObj>
              </mc:Choice>
              <mc:Fallback>
                <p:oleObj name="Equation" r:id="rId5" imgW="24256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12468" y="5516563"/>
                        <a:ext cx="3022341" cy="490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603201"/>
              </p:ext>
            </p:extLst>
          </p:nvPr>
        </p:nvGraphicFramePr>
        <p:xfrm>
          <a:off x="4694825" y="5937619"/>
          <a:ext cx="2809233" cy="401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3" name="Equation" r:id="rId7" imgW="1955520" imgH="279360" progId="Equation.DSMT4">
                  <p:embed/>
                </p:oleObj>
              </mc:Choice>
              <mc:Fallback>
                <p:oleObj name="Equation" r:id="rId7" imgW="19555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94825" y="5937619"/>
                        <a:ext cx="2809233" cy="4013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13"/>
          <p:cNvSpPr txBox="1">
            <a:spLocks noChangeArrowheads="1"/>
          </p:cNvSpPr>
          <p:nvPr/>
        </p:nvSpPr>
        <p:spPr bwMode="auto">
          <a:xfrm>
            <a:off x="5541963" y="6276975"/>
            <a:ext cx="3683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可分成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|2</a:t>
            </a:r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k|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个半波带！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75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0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0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52" grpId="0" autoUpdateAnimBg="0"/>
      <p:bldP spid="10253" grpId="0" autoUpdateAnimBg="0"/>
      <p:bldP spid="10259" grpId="0" animBg="1"/>
      <p:bldP spid="10260" grpId="0" animBg="1"/>
      <p:bldP spid="10261" grpId="0" animBg="1"/>
      <p:bldP spid="10262" grpId="0" animBg="1"/>
      <p:bldP spid="10266" grpId="0" autoUpdateAnimBg="0"/>
      <p:bldP spid="10269" grpId="0"/>
      <p:bldP spid="10270" grpId="0" autoUpdateAnimBg="0"/>
      <p:bldP spid="10271" grpId="0" autoUpdateAnimBg="0"/>
      <p:bldP spid="10275" grpId="0" animBg="1"/>
      <p:bldP spid="10280" grpId="0" animBg="1"/>
      <p:bldP spid="10281" grpId="0" animBg="1"/>
      <p:bldP spid="10289" grpId="0" autoUpdateAnimBg="0"/>
      <p:bldP spid="10291" grpId="0" animBg="1"/>
      <p:bldP spid="10305" grpId="0" animBg="1"/>
      <p:bldP spid="10306" grpId="0" animBg="1"/>
      <p:bldP spid="51" grpId="0"/>
      <p:bldP spid="5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84"/>
          <p:cNvGrpSpPr>
            <a:grpSpLocks/>
          </p:cNvGrpSpPr>
          <p:nvPr/>
        </p:nvGrpSpPr>
        <p:grpSpPr bwMode="auto">
          <a:xfrm>
            <a:off x="1033463" y="3436938"/>
            <a:ext cx="4267200" cy="1371600"/>
            <a:chOff x="691" y="1937"/>
            <a:chExt cx="2688" cy="864"/>
          </a:xfrm>
        </p:grpSpPr>
        <p:sp>
          <p:nvSpPr>
            <p:cNvPr id="18458" name="Line 52"/>
            <p:cNvSpPr>
              <a:spLocks noChangeShapeType="1"/>
            </p:cNvSpPr>
            <p:nvPr/>
          </p:nvSpPr>
          <p:spPr bwMode="auto">
            <a:xfrm flipV="1">
              <a:off x="691" y="1937"/>
              <a:ext cx="87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Line 53"/>
            <p:cNvSpPr>
              <a:spLocks noChangeShapeType="1"/>
            </p:cNvSpPr>
            <p:nvPr/>
          </p:nvSpPr>
          <p:spPr bwMode="auto">
            <a:xfrm flipV="1">
              <a:off x="691" y="2387"/>
              <a:ext cx="866" cy="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Line 54"/>
            <p:cNvSpPr>
              <a:spLocks noChangeShapeType="1"/>
            </p:cNvSpPr>
            <p:nvPr/>
          </p:nvSpPr>
          <p:spPr bwMode="auto">
            <a:xfrm flipV="1">
              <a:off x="691" y="2801"/>
              <a:ext cx="857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1" name="Line 55"/>
            <p:cNvSpPr>
              <a:spLocks noChangeShapeType="1"/>
            </p:cNvSpPr>
            <p:nvPr/>
          </p:nvSpPr>
          <p:spPr bwMode="auto">
            <a:xfrm>
              <a:off x="1696" y="2387"/>
              <a:ext cx="1683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Line 56"/>
            <p:cNvSpPr>
              <a:spLocks noChangeShapeType="1"/>
            </p:cNvSpPr>
            <p:nvPr/>
          </p:nvSpPr>
          <p:spPr bwMode="auto">
            <a:xfrm>
              <a:off x="1704" y="1963"/>
              <a:ext cx="1581" cy="4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3" name="Line 57"/>
            <p:cNvSpPr>
              <a:spLocks noChangeShapeType="1"/>
            </p:cNvSpPr>
            <p:nvPr/>
          </p:nvSpPr>
          <p:spPr bwMode="auto">
            <a:xfrm flipV="1">
              <a:off x="1688" y="2387"/>
              <a:ext cx="1597" cy="3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435" name="Text Box 85"/>
          <p:cNvSpPr txBox="1">
            <a:spLocks noChangeArrowheads="1"/>
          </p:cNvSpPr>
          <p:nvPr/>
        </p:nvSpPr>
        <p:spPr bwMode="auto">
          <a:xfrm>
            <a:off x="8788400" y="6376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37" name="Oval 19"/>
          <p:cNvSpPr>
            <a:spLocks noChangeArrowheads="1"/>
          </p:cNvSpPr>
          <p:nvPr/>
        </p:nvSpPr>
        <p:spPr bwMode="auto">
          <a:xfrm>
            <a:off x="2378075" y="1760538"/>
            <a:ext cx="228600" cy="41910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>
            <a:off x="5273675" y="1227138"/>
            <a:ext cx="0" cy="434340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" name="Group 23"/>
          <p:cNvGrpSpPr>
            <a:grpSpLocks/>
          </p:cNvGrpSpPr>
          <p:nvPr/>
        </p:nvGrpSpPr>
        <p:grpSpPr bwMode="auto">
          <a:xfrm>
            <a:off x="1006475" y="3741738"/>
            <a:ext cx="76200" cy="762000"/>
            <a:chOff x="2304" y="3168"/>
            <a:chExt cx="48" cy="480"/>
          </a:xfrm>
        </p:grpSpPr>
        <p:sp>
          <p:nvSpPr>
            <p:cNvPr id="18456" name="Oval 24"/>
            <p:cNvSpPr>
              <a:spLocks noChangeArrowheads="1"/>
            </p:cNvSpPr>
            <p:nvPr/>
          </p:nvSpPr>
          <p:spPr bwMode="auto">
            <a:xfrm>
              <a:off x="2304" y="3168"/>
              <a:ext cx="48" cy="48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8457" name="Oval 25"/>
            <p:cNvSpPr>
              <a:spLocks noChangeArrowheads="1"/>
            </p:cNvSpPr>
            <p:nvPr/>
          </p:nvSpPr>
          <p:spPr bwMode="auto">
            <a:xfrm>
              <a:off x="2304" y="3600"/>
              <a:ext cx="48" cy="48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8439" name="Rectangle 28"/>
          <p:cNvSpPr>
            <a:spLocks noChangeArrowheads="1"/>
          </p:cNvSpPr>
          <p:nvPr/>
        </p:nvSpPr>
        <p:spPr bwMode="auto">
          <a:xfrm>
            <a:off x="1538288" y="5086350"/>
            <a:ext cx="15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zh-CN" sz="2400" i="1">
              <a:latin typeface="Times New Roman" panose="02020603050405020304" pitchFamily="18" charset="0"/>
            </a:endParaRPr>
          </a:p>
        </p:txBody>
      </p:sp>
      <p:grpSp>
        <p:nvGrpSpPr>
          <p:cNvPr id="49" name="Group 32"/>
          <p:cNvGrpSpPr>
            <a:grpSpLocks/>
          </p:cNvGrpSpPr>
          <p:nvPr/>
        </p:nvGrpSpPr>
        <p:grpSpPr bwMode="auto">
          <a:xfrm>
            <a:off x="4927600" y="1577975"/>
            <a:ext cx="285750" cy="369888"/>
            <a:chOff x="2854" y="509"/>
            <a:chExt cx="180" cy="233"/>
          </a:xfrm>
        </p:grpSpPr>
        <p:sp>
          <p:nvSpPr>
            <p:cNvPr id="18454" name="Rectangle 33"/>
            <p:cNvSpPr>
              <a:spLocks noChangeArrowheads="1"/>
            </p:cNvSpPr>
            <p:nvPr/>
          </p:nvSpPr>
          <p:spPr bwMode="auto">
            <a:xfrm>
              <a:off x="2980" y="509"/>
              <a:ext cx="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'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55" name="Rectangle 34"/>
            <p:cNvSpPr>
              <a:spLocks noChangeArrowheads="1"/>
            </p:cNvSpPr>
            <p:nvPr/>
          </p:nvSpPr>
          <p:spPr bwMode="auto">
            <a:xfrm>
              <a:off x="2854" y="509"/>
              <a:ext cx="1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7" name="Line 65"/>
          <p:cNvSpPr>
            <a:spLocks noChangeShapeType="1"/>
          </p:cNvSpPr>
          <p:nvPr/>
        </p:nvSpPr>
        <p:spPr bwMode="auto">
          <a:xfrm>
            <a:off x="1006475" y="2522538"/>
            <a:ext cx="0" cy="838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Line 66"/>
          <p:cNvSpPr>
            <a:spLocks noChangeShapeType="1"/>
          </p:cNvSpPr>
          <p:nvPr/>
        </p:nvSpPr>
        <p:spPr bwMode="auto">
          <a:xfrm>
            <a:off x="1006475" y="4884738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9" name="Group 67"/>
          <p:cNvGrpSpPr>
            <a:grpSpLocks/>
          </p:cNvGrpSpPr>
          <p:nvPr/>
        </p:nvGrpSpPr>
        <p:grpSpPr bwMode="auto">
          <a:xfrm>
            <a:off x="727075" y="3025775"/>
            <a:ext cx="247650" cy="2198688"/>
            <a:chOff x="208" y="2045"/>
            <a:chExt cx="156" cy="1385"/>
          </a:xfrm>
        </p:grpSpPr>
        <p:sp>
          <p:nvSpPr>
            <p:cNvPr id="18451" name="Rectangle 68"/>
            <p:cNvSpPr>
              <a:spLocks noChangeArrowheads="1"/>
            </p:cNvSpPr>
            <p:nvPr/>
          </p:nvSpPr>
          <p:spPr bwMode="auto">
            <a:xfrm>
              <a:off x="208" y="3197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52" name="Rectangle 69"/>
            <p:cNvSpPr>
              <a:spLocks noChangeArrowheads="1"/>
            </p:cNvSpPr>
            <p:nvPr/>
          </p:nvSpPr>
          <p:spPr bwMode="auto">
            <a:xfrm>
              <a:off x="214" y="2621"/>
              <a:ext cx="1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53" name="Rectangle 70"/>
            <p:cNvSpPr>
              <a:spLocks noChangeArrowheads="1"/>
            </p:cNvSpPr>
            <p:nvPr/>
          </p:nvSpPr>
          <p:spPr bwMode="auto">
            <a:xfrm>
              <a:off x="214" y="2045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" name="Group 71"/>
          <p:cNvGrpSpPr>
            <a:grpSpLocks/>
          </p:cNvGrpSpPr>
          <p:nvPr/>
        </p:nvGrpSpPr>
        <p:grpSpPr bwMode="auto">
          <a:xfrm>
            <a:off x="1006475" y="3360738"/>
            <a:ext cx="76200" cy="1524000"/>
            <a:chOff x="384" y="2256"/>
            <a:chExt cx="48" cy="960"/>
          </a:xfrm>
        </p:grpSpPr>
        <p:sp>
          <p:nvSpPr>
            <p:cNvPr id="18448" name="Oval 72"/>
            <p:cNvSpPr>
              <a:spLocks noChangeArrowheads="1"/>
            </p:cNvSpPr>
            <p:nvPr/>
          </p:nvSpPr>
          <p:spPr bwMode="auto">
            <a:xfrm>
              <a:off x="384" y="273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8449" name="Oval 73"/>
            <p:cNvSpPr>
              <a:spLocks noChangeArrowheads="1"/>
            </p:cNvSpPr>
            <p:nvPr/>
          </p:nvSpPr>
          <p:spPr bwMode="auto">
            <a:xfrm>
              <a:off x="384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8450" name="Oval 74"/>
            <p:cNvSpPr>
              <a:spLocks noChangeArrowheads="1"/>
            </p:cNvSpPr>
            <p:nvPr/>
          </p:nvSpPr>
          <p:spPr bwMode="auto">
            <a:xfrm>
              <a:off x="384" y="31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8445" name="Rectangle 2"/>
          <p:cNvSpPr>
            <a:spLocks noChangeArrowheads="1"/>
          </p:cNvSpPr>
          <p:nvPr/>
        </p:nvSpPr>
        <p:spPr bwMode="auto">
          <a:xfrm>
            <a:off x="830263" y="603250"/>
            <a:ext cx="4248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</a:t>
            </a:r>
            <a:r>
              <a:rPr kumimoji="1" lang="el-GR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θ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=0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处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78" name="矩形 77"/>
          <p:cNvSpPr>
            <a:spLocks noChangeArrowheads="1"/>
          </p:cNvSpPr>
          <p:nvPr/>
        </p:nvSpPr>
        <p:spPr bwMode="auto">
          <a:xfrm>
            <a:off x="6253163" y="2522538"/>
            <a:ext cx="7477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=0</a:t>
            </a:r>
            <a:endParaRPr lang="zh-CN" altLang="en-US" sz="280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9" name="矩形 78"/>
          <p:cNvSpPr>
            <a:spLocks noChangeArrowheads="1"/>
          </p:cNvSpPr>
          <p:nvPr/>
        </p:nvSpPr>
        <p:spPr bwMode="auto">
          <a:xfrm>
            <a:off x="5735638" y="3479800"/>
            <a:ext cx="19796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中央主极大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67" grpId="0" animBg="1"/>
      <p:bldP spid="68" grpId="0" animBg="1"/>
      <p:bldP spid="78" grpId="0"/>
      <p:bldP spid="7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468313" y="404813"/>
            <a:ext cx="8588375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其它明纹的位置近似认为：</a:t>
            </a:r>
            <a:r>
              <a:rPr kumimoji="1"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                                                 </a:t>
            </a:r>
          </a:p>
          <a:p>
            <a:pPr eaLnBrk="1" hangingPunct="1">
              <a:buFontTx/>
              <a:buNone/>
            </a:pPr>
            <a:r>
              <a:rPr kumimoji="1" lang="zh-CN" altLang="en-US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k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级明纹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级暗纹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+1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级暗纹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之间</a:t>
            </a:r>
            <a:endParaRPr kumimoji="1" lang="zh-CN" altLang="en-US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187450" y="1443038"/>
            <a:ext cx="2808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k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级暗纹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971550" y="2033588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+1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级暗纹</a:t>
            </a: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2519363" y="2744788"/>
            <a:ext cx="3240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得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级明纹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1272" name="AutoShape 8"/>
          <p:cNvSpPr>
            <a:spLocks/>
          </p:cNvSpPr>
          <p:nvPr/>
        </p:nvSpPr>
        <p:spPr bwMode="auto">
          <a:xfrm>
            <a:off x="1387475" y="4797425"/>
            <a:ext cx="360363" cy="792163"/>
          </a:xfrm>
          <a:prstGeom prst="leftBrace">
            <a:avLst>
              <a:gd name="adj1" fmla="val 18319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5160963" y="5935663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中央明纹</a:t>
            </a:r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646113" y="3968750"/>
            <a:ext cx="327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明暗位置：</a:t>
            </a:r>
          </a:p>
        </p:txBody>
      </p:sp>
      <p:sp>
        <p:nvSpPr>
          <p:cNvPr id="19465" name="Text Box 25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35138" y="1414324"/>
            <a:ext cx="2206823" cy="52322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4" name="矩形 2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91594" y="2006806"/>
            <a:ext cx="3147015" cy="52322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21184" y="2088644"/>
            <a:ext cx="3342903" cy="400110"/>
          </a:xfrm>
          <a:prstGeom prst="rect">
            <a:avLst/>
          </a:prstGeom>
          <a:blipFill rotWithShape="0">
            <a:blip r:embed="rId4"/>
            <a:stretch>
              <a:fillRect b="-1846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5" name="矩形 2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32511" y="1516209"/>
            <a:ext cx="3342903" cy="400110"/>
          </a:xfrm>
          <a:prstGeom prst="rect">
            <a:avLst/>
          </a:prstGeom>
          <a:blipFill rotWithShape="0">
            <a:blip r:embed="rId5"/>
            <a:stretch>
              <a:fillRect b="-1846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4" name="矩形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02530" y="2686726"/>
            <a:ext cx="1293816" cy="687624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67656" y="3224472"/>
            <a:ext cx="2904962" cy="792333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6" name="矩形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72618" y="3452059"/>
            <a:ext cx="3653564" cy="461665"/>
          </a:xfrm>
          <a:prstGeom prst="rect">
            <a:avLst/>
          </a:prstGeom>
          <a:blipFill rotWithShape="0">
            <a:blip r:embed="rId8"/>
            <a:stretch>
              <a:fillRect b="-1973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39340" y="4338574"/>
            <a:ext cx="4496680" cy="908967"/>
          </a:xfrm>
          <a:prstGeom prst="rect">
            <a:avLst/>
          </a:prstGeom>
          <a:blipFill rotWithShape="0">
            <a:blip r:embed="rId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74598" y="5284906"/>
            <a:ext cx="3590150" cy="523220"/>
          </a:xfrm>
          <a:prstGeom prst="rect">
            <a:avLst/>
          </a:prstGeom>
          <a:blipFill rotWithShape="0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14182" y="5016708"/>
            <a:ext cx="2112501" cy="461665"/>
          </a:xfrm>
          <a:prstGeom prst="rect">
            <a:avLst/>
          </a:prstGeom>
          <a:blipFill rotWithShape="0">
            <a:blip r:embed="rId11"/>
            <a:stretch>
              <a:fillRect b="-394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0" name="矩形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95415" y="5935811"/>
            <a:ext cx="3165097" cy="523220"/>
          </a:xfrm>
          <a:prstGeom prst="rect">
            <a:avLst/>
          </a:prstGeom>
          <a:blipFill rotWithShape="0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11269" grpId="0"/>
      <p:bldP spid="11271" grpId="0"/>
      <p:bldP spid="11272" grpId="0" animBg="1"/>
      <p:bldP spid="11278" grpId="0"/>
      <p:bldP spid="1127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0" name="Text Box 3"/>
          <p:cNvSpPr txBox="1">
            <a:spLocks noChangeArrowheads="1"/>
          </p:cNvSpPr>
          <p:nvPr/>
        </p:nvSpPr>
        <p:spPr bwMode="auto">
          <a:xfrm>
            <a:off x="617538" y="165100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缝宽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47461" name="Text Box 5"/>
          <p:cNvSpPr txBox="1">
            <a:spLocks noChangeArrowheads="1"/>
          </p:cNvSpPr>
          <p:nvPr/>
        </p:nvSpPr>
        <p:spPr bwMode="auto">
          <a:xfrm>
            <a:off x="611188" y="1125538"/>
            <a:ext cx="2667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S</a:t>
            </a:r>
            <a:r>
              <a:rPr lang="en-US" altLang="zh-CN" sz="2800" b="1">
                <a:solidFill>
                  <a:schemeClr val="tx1"/>
                </a:solidFill>
              </a:rPr>
              <a:t>: </a:t>
            </a:r>
            <a:r>
              <a:rPr lang="zh-CN" altLang="en-US" sz="2800" b="1">
                <a:solidFill>
                  <a:schemeClr val="tx1"/>
                </a:solidFill>
              </a:rPr>
              <a:t>单色光源</a:t>
            </a:r>
          </a:p>
        </p:txBody>
      </p:sp>
      <p:sp>
        <p:nvSpPr>
          <p:cNvPr id="147462" name="Text Box 6"/>
          <p:cNvSpPr txBox="1">
            <a:spLocks noChangeArrowheads="1"/>
          </p:cNvSpPr>
          <p:nvPr/>
        </p:nvSpPr>
        <p:spPr bwMode="auto">
          <a:xfrm>
            <a:off x="585788" y="2278063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  <a:sym typeface="Symbol" panose="05050102010706020507" pitchFamily="18" charset="2"/>
              </a:rPr>
              <a:t> </a:t>
            </a:r>
            <a:r>
              <a:rPr lang="en-US" altLang="zh-CN" sz="2800" b="1" dirty="0">
                <a:solidFill>
                  <a:schemeClr val="tx1"/>
                </a:solidFill>
                <a:sym typeface="Symbol" panose="05050102010706020507" pitchFamily="18" charset="2"/>
              </a:rPr>
              <a:t>: </a:t>
            </a:r>
            <a:r>
              <a:rPr lang="zh-CN" altLang="en-US" sz="2800" b="1" dirty="0">
                <a:solidFill>
                  <a:schemeClr val="tx1"/>
                </a:solidFill>
              </a:rPr>
              <a:t>衍射角</a:t>
            </a:r>
          </a:p>
        </p:txBody>
      </p:sp>
      <p:sp>
        <p:nvSpPr>
          <p:cNvPr id="147533" name="Text Box 77"/>
          <p:cNvSpPr txBox="1">
            <a:spLocks noChangeArrowheads="1"/>
          </p:cNvSpPr>
          <p:nvPr/>
        </p:nvSpPr>
        <p:spPr bwMode="auto">
          <a:xfrm>
            <a:off x="1582738" y="1682750"/>
            <a:ext cx="10239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a&lt;&lt; </a:t>
            </a:r>
            <a:r>
              <a:rPr lang="en-US" altLang="zh-CN" sz="2800" b="1" i="1">
                <a:solidFill>
                  <a:schemeClr val="tx1"/>
                </a:solidFill>
              </a:rPr>
              <a:t>f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47760" name="Text Box 304"/>
          <p:cNvSpPr txBox="1">
            <a:spLocks noChangeArrowheads="1"/>
          </p:cNvSpPr>
          <p:nvPr/>
        </p:nvSpPr>
        <p:spPr bwMode="auto">
          <a:xfrm>
            <a:off x="384175" y="5972175"/>
            <a:ext cx="27781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P</a:t>
            </a:r>
            <a:r>
              <a:rPr lang="en-US" altLang="zh-CN" sz="2800" b="1" i="1" baseline="-25000">
                <a:solidFill>
                  <a:schemeClr val="tx1"/>
                </a:solidFill>
                <a:sym typeface="Symbol" panose="05050102010706020507" pitchFamily="18" charset="2"/>
              </a:rPr>
              <a:t> </a:t>
            </a:r>
            <a:r>
              <a:rPr lang="zh-CN" altLang="en-US" sz="2800" b="1">
                <a:solidFill>
                  <a:schemeClr val="tx1"/>
                </a:solidFill>
                <a:sym typeface="Symbol" panose="05050102010706020507" pitchFamily="18" charset="2"/>
              </a:rPr>
              <a:t>点的合振幅：</a:t>
            </a:r>
          </a:p>
        </p:txBody>
      </p:sp>
      <p:sp>
        <p:nvSpPr>
          <p:cNvPr id="147762" name="Text Box 306"/>
          <p:cNvSpPr txBox="1">
            <a:spLocks noChangeArrowheads="1"/>
          </p:cNvSpPr>
          <p:nvPr/>
        </p:nvSpPr>
        <p:spPr bwMode="auto">
          <a:xfrm>
            <a:off x="5292725" y="6019800"/>
            <a:ext cx="125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sym typeface="Symbol" panose="05050102010706020507" pitchFamily="18" charset="2"/>
              </a:rPr>
              <a:t>光强：</a:t>
            </a:r>
            <a:endParaRPr lang="zh-CN" altLang="en-US" sz="2800" b="1">
              <a:solidFill>
                <a:schemeClr val="tx1"/>
              </a:solidFill>
            </a:endParaRPr>
          </a:p>
        </p:txBody>
      </p:sp>
      <p:sp>
        <p:nvSpPr>
          <p:cNvPr id="147764" name="AutoShape 308"/>
          <p:cNvSpPr>
            <a:spLocks noChangeArrowheads="1"/>
          </p:cNvSpPr>
          <p:nvPr/>
        </p:nvSpPr>
        <p:spPr bwMode="auto">
          <a:xfrm>
            <a:off x="4932363" y="6162675"/>
            <a:ext cx="433387" cy="288925"/>
          </a:xfrm>
          <a:prstGeom prst="right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40" name="Rectangle 2"/>
          <p:cNvSpPr>
            <a:spLocks noChangeArrowheads="1"/>
          </p:cNvSpPr>
          <p:nvPr/>
        </p:nvSpPr>
        <p:spPr bwMode="auto">
          <a:xfrm>
            <a:off x="58738" y="50800"/>
            <a:ext cx="40227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2.3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单缝夫琅和费衍射的 </a:t>
            </a:r>
            <a:endParaRPr kumimoji="1" lang="en-US" altLang="zh-CN" sz="2800" b="1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强度分布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2728913"/>
            <a:ext cx="424815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38" y="3700463"/>
            <a:ext cx="4665662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25" y="4568825"/>
            <a:ext cx="4171950" cy="130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550" y="4654550"/>
            <a:ext cx="35734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825" y="5854700"/>
            <a:ext cx="1919288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495" name="Group 135"/>
          <p:cNvGrpSpPr>
            <a:grpSpLocks/>
          </p:cNvGrpSpPr>
          <p:nvPr/>
        </p:nvGrpSpPr>
        <p:grpSpPr bwMode="auto">
          <a:xfrm>
            <a:off x="5151438" y="228600"/>
            <a:ext cx="3770312" cy="2814638"/>
            <a:chOff x="2544" y="144"/>
            <a:chExt cx="3076" cy="1894"/>
          </a:xfrm>
        </p:grpSpPr>
        <p:sp>
          <p:nvSpPr>
            <p:cNvPr id="20552" name="Line 136"/>
            <p:cNvSpPr>
              <a:spLocks noChangeShapeType="1"/>
            </p:cNvSpPr>
            <p:nvPr/>
          </p:nvSpPr>
          <p:spPr bwMode="auto">
            <a:xfrm flipV="1">
              <a:off x="3604" y="735"/>
              <a:ext cx="1696" cy="6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Line 137"/>
            <p:cNvSpPr>
              <a:spLocks noChangeShapeType="1"/>
            </p:cNvSpPr>
            <p:nvPr/>
          </p:nvSpPr>
          <p:spPr bwMode="auto">
            <a:xfrm>
              <a:off x="5308" y="424"/>
              <a:ext cx="0" cy="1516"/>
            </a:xfrm>
            <a:prstGeom prst="line">
              <a:avLst/>
            </a:prstGeom>
            <a:noFill/>
            <a:ln w="57150">
              <a:solidFill>
                <a:srgbClr val="80008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Line 138"/>
            <p:cNvSpPr>
              <a:spLocks noChangeShapeType="1"/>
            </p:cNvSpPr>
            <p:nvPr/>
          </p:nvSpPr>
          <p:spPr bwMode="auto">
            <a:xfrm>
              <a:off x="2612" y="1212"/>
              <a:ext cx="2944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5" name="Rectangle 139"/>
            <p:cNvSpPr>
              <a:spLocks noChangeArrowheads="1"/>
            </p:cNvSpPr>
            <p:nvPr/>
          </p:nvSpPr>
          <p:spPr bwMode="auto">
            <a:xfrm>
              <a:off x="2544" y="1056"/>
              <a:ext cx="192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tx1"/>
                  </a:solidFill>
                </a:rPr>
                <a:t>*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grpSp>
          <p:nvGrpSpPr>
            <p:cNvPr id="20556" name="Group 140"/>
            <p:cNvGrpSpPr>
              <a:grpSpLocks/>
            </p:cNvGrpSpPr>
            <p:nvPr/>
          </p:nvGrpSpPr>
          <p:grpSpPr bwMode="auto">
            <a:xfrm>
              <a:off x="3068" y="969"/>
              <a:ext cx="424" cy="477"/>
              <a:chOff x="3068" y="969"/>
              <a:chExt cx="424" cy="477"/>
            </a:xfrm>
          </p:grpSpPr>
          <p:sp>
            <p:nvSpPr>
              <p:cNvPr id="20615" name="Line 141"/>
              <p:cNvSpPr>
                <a:spLocks noChangeShapeType="1"/>
              </p:cNvSpPr>
              <p:nvPr/>
            </p:nvSpPr>
            <p:spPr bwMode="auto">
              <a:xfrm>
                <a:off x="3068" y="1211"/>
                <a:ext cx="424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6" name="Line 142"/>
              <p:cNvSpPr>
                <a:spLocks noChangeShapeType="1"/>
              </p:cNvSpPr>
              <p:nvPr/>
            </p:nvSpPr>
            <p:spPr bwMode="auto">
              <a:xfrm>
                <a:off x="3156" y="969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7" name="Line 143"/>
              <p:cNvSpPr>
                <a:spLocks noChangeShapeType="1"/>
              </p:cNvSpPr>
              <p:nvPr/>
            </p:nvSpPr>
            <p:spPr bwMode="auto">
              <a:xfrm>
                <a:off x="3120" y="1440"/>
                <a:ext cx="372" cy="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57" name="Group 144"/>
            <p:cNvGrpSpPr>
              <a:grpSpLocks/>
            </p:cNvGrpSpPr>
            <p:nvPr/>
          </p:nvGrpSpPr>
          <p:grpSpPr bwMode="auto">
            <a:xfrm>
              <a:off x="2592" y="977"/>
              <a:ext cx="492" cy="460"/>
              <a:chOff x="2592" y="977"/>
              <a:chExt cx="492" cy="460"/>
            </a:xfrm>
          </p:grpSpPr>
          <p:sp>
            <p:nvSpPr>
              <p:cNvPr id="20612" name="Line 145"/>
              <p:cNvSpPr>
                <a:spLocks noChangeShapeType="1"/>
              </p:cNvSpPr>
              <p:nvPr/>
            </p:nvSpPr>
            <p:spPr bwMode="auto">
              <a:xfrm>
                <a:off x="2620" y="1211"/>
                <a:ext cx="448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3" name="Line 146"/>
              <p:cNvSpPr>
                <a:spLocks noChangeShapeType="1"/>
              </p:cNvSpPr>
              <p:nvPr/>
            </p:nvSpPr>
            <p:spPr bwMode="auto">
              <a:xfrm flipV="1">
                <a:off x="2618" y="977"/>
                <a:ext cx="466" cy="23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4" name="Line 147"/>
              <p:cNvSpPr>
                <a:spLocks noChangeShapeType="1"/>
              </p:cNvSpPr>
              <p:nvPr/>
            </p:nvSpPr>
            <p:spPr bwMode="auto">
              <a:xfrm>
                <a:off x="2592" y="1200"/>
                <a:ext cx="484" cy="23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558" name="Line 148"/>
            <p:cNvSpPr>
              <a:spLocks noChangeShapeType="1"/>
            </p:cNvSpPr>
            <p:nvPr/>
          </p:nvSpPr>
          <p:spPr bwMode="auto">
            <a:xfrm flipV="1">
              <a:off x="3484" y="1003"/>
              <a:ext cx="472" cy="20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9" name="Line 149"/>
            <p:cNvSpPr>
              <a:spLocks noChangeShapeType="1"/>
            </p:cNvSpPr>
            <p:nvPr/>
          </p:nvSpPr>
          <p:spPr bwMode="auto">
            <a:xfrm flipV="1">
              <a:off x="3492" y="761"/>
              <a:ext cx="488" cy="20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0" name="Line 150"/>
            <p:cNvSpPr>
              <a:spLocks noChangeShapeType="1"/>
            </p:cNvSpPr>
            <p:nvPr/>
          </p:nvSpPr>
          <p:spPr bwMode="auto">
            <a:xfrm flipV="1">
              <a:off x="3484" y="1254"/>
              <a:ext cx="488" cy="1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1" name="Line 151"/>
            <p:cNvSpPr>
              <a:spLocks noChangeShapeType="1"/>
            </p:cNvSpPr>
            <p:nvPr/>
          </p:nvSpPr>
          <p:spPr bwMode="auto">
            <a:xfrm>
              <a:off x="4068" y="744"/>
              <a:ext cx="123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Line 152"/>
            <p:cNvSpPr>
              <a:spLocks noChangeShapeType="1"/>
            </p:cNvSpPr>
            <p:nvPr/>
          </p:nvSpPr>
          <p:spPr bwMode="auto">
            <a:xfrm flipV="1">
              <a:off x="4100" y="744"/>
              <a:ext cx="1184" cy="25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Line 153"/>
            <p:cNvSpPr>
              <a:spLocks noChangeShapeType="1"/>
            </p:cNvSpPr>
            <p:nvPr/>
          </p:nvSpPr>
          <p:spPr bwMode="auto">
            <a:xfrm flipV="1">
              <a:off x="4116" y="752"/>
              <a:ext cx="1160" cy="4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Line 154"/>
            <p:cNvSpPr>
              <a:spLocks noChangeShapeType="1"/>
            </p:cNvSpPr>
            <p:nvPr/>
          </p:nvSpPr>
          <p:spPr bwMode="auto">
            <a:xfrm>
              <a:off x="3484" y="978"/>
              <a:ext cx="3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5" name="Arc 155"/>
            <p:cNvSpPr>
              <a:spLocks/>
            </p:cNvSpPr>
            <p:nvPr/>
          </p:nvSpPr>
          <p:spPr bwMode="auto">
            <a:xfrm>
              <a:off x="3694" y="883"/>
              <a:ext cx="32" cy="8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6" name="Arc 156"/>
            <p:cNvSpPr>
              <a:spLocks/>
            </p:cNvSpPr>
            <p:nvPr/>
          </p:nvSpPr>
          <p:spPr bwMode="auto">
            <a:xfrm>
              <a:off x="4468" y="1035"/>
              <a:ext cx="96" cy="18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7" name="Rectangle 157"/>
            <p:cNvSpPr>
              <a:spLocks noChangeArrowheads="1"/>
            </p:cNvSpPr>
            <p:nvPr/>
          </p:nvSpPr>
          <p:spPr bwMode="auto">
            <a:xfrm>
              <a:off x="2560" y="912"/>
              <a:ext cx="192" cy="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S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68" name="Line 158"/>
            <p:cNvSpPr>
              <a:spLocks noChangeShapeType="1"/>
            </p:cNvSpPr>
            <p:nvPr/>
          </p:nvSpPr>
          <p:spPr bwMode="auto">
            <a:xfrm>
              <a:off x="4028" y="1800"/>
              <a:ext cx="0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9" name="Rectangle 159"/>
            <p:cNvSpPr>
              <a:spLocks noChangeArrowheads="1"/>
            </p:cNvSpPr>
            <p:nvPr/>
          </p:nvSpPr>
          <p:spPr bwMode="auto">
            <a:xfrm>
              <a:off x="4598" y="1847"/>
              <a:ext cx="296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 </a:t>
              </a:r>
              <a:r>
                <a:rPr lang="en-US" altLang="zh-CN" sz="1800" b="1" i="1">
                  <a:solidFill>
                    <a:schemeClr val="tx1"/>
                  </a:solidFill>
                </a:rPr>
                <a:t>f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grpSp>
          <p:nvGrpSpPr>
            <p:cNvPr id="20570" name="Group 160"/>
            <p:cNvGrpSpPr>
              <a:grpSpLocks/>
            </p:cNvGrpSpPr>
            <p:nvPr/>
          </p:nvGrpSpPr>
          <p:grpSpPr bwMode="auto">
            <a:xfrm>
              <a:off x="2596" y="1237"/>
              <a:ext cx="524" cy="638"/>
              <a:chOff x="2596" y="1237"/>
              <a:chExt cx="524" cy="638"/>
            </a:xfrm>
          </p:grpSpPr>
          <p:sp>
            <p:nvSpPr>
              <p:cNvPr id="20608" name="Line 161"/>
              <p:cNvSpPr>
                <a:spLocks noChangeShapeType="1"/>
              </p:cNvSpPr>
              <p:nvPr/>
            </p:nvSpPr>
            <p:spPr bwMode="auto">
              <a:xfrm>
                <a:off x="2604" y="1644"/>
                <a:ext cx="51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9" name="Line 162"/>
              <p:cNvSpPr>
                <a:spLocks noChangeShapeType="1"/>
              </p:cNvSpPr>
              <p:nvPr/>
            </p:nvSpPr>
            <p:spPr bwMode="auto">
              <a:xfrm>
                <a:off x="2596" y="1237"/>
                <a:ext cx="0" cy="5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0" name="Line 163"/>
              <p:cNvSpPr>
                <a:spLocks noChangeShapeType="1"/>
              </p:cNvSpPr>
              <p:nvPr/>
            </p:nvSpPr>
            <p:spPr bwMode="auto">
              <a:xfrm>
                <a:off x="3116" y="1522"/>
                <a:ext cx="0" cy="22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1" name="Rectangle 164"/>
              <p:cNvSpPr>
                <a:spLocks noChangeArrowheads="1"/>
              </p:cNvSpPr>
              <p:nvPr/>
            </p:nvSpPr>
            <p:spPr bwMode="auto">
              <a:xfrm>
                <a:off x="2734" y="1615"/>
                <a:ext cx="240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>
                    <a:solidFill>
                      <a:schemeClr val="tx1"/>
                    </a:solidFill>
                  </a:rPr>
                  <a:t> f</a:t>
                </a:r>
                <a:r>
                  <a:rPr lang="en-US" altLang="zh-CN" sz="1800" b="1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800" b="1">
                    <a:solidFill>
                      <a:schemeClr val="tx1"/>
                    </a:solidFill>
                    <a:sym typeface="Symbol" panose="05050102010706020507" pitchFamily="18" charset="2"/>
                  </a:rPr>
                  <a:t></a:t>
                </a:r>
                <a:endParaRPr lang="en-US" altLang="zh-CN" sz="18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571" name="Group 165"/>
            <p:cNvGrpSpPr>
              <a:grpSpLocks/>
            </p:cNvGrpSpPr>
            <p:nvPr/>
          </p:nvGrpSpPr>
          <p:grpSpPr bwMode="auto">
            <a:xfrm>
              <a:off x="3264" y="554"/>
              <a:ext cx="228" cy="1308"/>
              <a:chOff x="3264" y="554"/>
              <a:chExt cx="228" cy="1308"/>
            </a:xfrm>
          </p:grpSpPr>
          <p:sp>
            <p:nvSpPr>
              <p:cNvPr id="20603" name="Line 166"/>
              <p:cNvSpPr>
                <a:spLocks noChangeShapeType="1"/>
              </p:cNvSpPr>
              <p:nvPr/>
            </p:nvSpPr>
            <p:spPr bwMode="auto">
              <a:xfrm>
                <a:off x="3388" y="969"/>
                <a:ext cx="0" cy="46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4" name="Line 167"/>
              <p:cNvSpPr>
                <a:spLocks noChangeShapeType="1"/>
              </p:cNvSpPr>
              <p:nvPr/>
            </p:nvSpPr>
            <p:spPr bwMode="auto">
              <a:xfrm>
                <a:off x="3492" y="554"/>
                <a:ext cx="0" cy="399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5" name="Line 168"/>
              <p:cNvSpPr>
                <a:spLocks noChangeShapeType="1"/>
              </p:cNvSpPr>
              <p:nvPr/>
            </p:nvSpPr>
            <p:spPr bwMode="auto">
              <a:xfrm>
                <a:off x="3492" y="1463"/>
                <a:ext cx="0" cy="399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6" name="Line 169"/>
              <p:cNvSpPr>
                <a:spLocks noChangeShapeType="1"/>
              </p:cNvSpPr>
              <p:nvPr/>
            </p:nvSpPr>
            <p:spPr bwMode="auto">
              <a:xfrm>
                <a:off x="3484" y="951"/>
                <a:ext cx="0" cy="52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sysDot"/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7" name="Rectangle 170"/>
              <p:cNvSpPr>
                <a:spLocks noChangeArrowheads="1"/>
              </p:cNvSpPr>
              <p:nvPr/>
            </p:nvSpPr>
            <p:spPr bwMode="auto">
              <a:xfrm>
                <a:off x="3264" y="987"/>
                <a:ext cx="144" cy="1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>
                    <a:solidFill>
                      <a:schemeClr val="tx1"/>
                    </a:solidFill>
                  </a:rPr>
                  <a:t>a</a:t>
                </a:r>
              </a:p>
            </p:txBody>
          </p:sp>
        </p:grpSp>
        <p:sp>
          <p:nvSpPr>
            <p:cNvPr id="20572" name="Rectangle 171"/>
            <p:cNvSpPr>
              <a:spLocks noChangeArrowheads="1"/>
            </p:cNvSpPr>
            <p:nvPr/>
          </p:nvSpPr>
          <p:spPr bwMode="auto">
            <a:xfrm>
              <a:off x="4584" y="960"/>
              <a:ext cx="168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1800" b="1" i="1">
                <a:solidFill>
                  <a:schemeClr val="tx1"/>
                </a:solidFill>
              </a:endParaRPr>
            </a:p>
          </p:txBody>
        </p:sp>
        <p:sp>
          <p:nvSpPr>
            <p:cNvPr id="20573" name="Rectangle 172"/>
            <p:cNvSpPr>
              <a:spLocks noChangeArrowheads="1"/>
            </p:cNvSpPr>
            <p:nvPr/>
          </p:nvSpPr>
          <p:spPr bwMode="auto">
            <a:xfrm>
              <a:off x="3742" y="754"/>
              <a:ext cx="14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1800" b="1" i="1">
                <a:solidFill>
                  <a:schemeClr val="tx1"/>
                </a:solidFill>
              </a:endParaRPr>
            </a:p>
          </p:txBody>
        </p:sp>
        <p:sp>
          <p:nvSpPr>
            <p:cNvPr id="20574" name="Rectangle 173"/>
            <p:cNvSpPr>
              <a:spLocks noChangeArrowheads="1"/>
            </p:cNvSpPr>
            <p:nvPr/>
          </p:nvSpPr>
          <p:spPr bwMode="auto">
            <a:xfrm>
              <a:off x="2784" y="624"/>
              <a:ext cx="600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透镜</a:t>
              </a:r>
              <a:r>
                <a:rPr lang="en-US" altLang="zh-CN" sz="1800" b="1" i="1">
                  <a:solidFill>
                    <a:schemeClr val="tx1"/>
                  </a:solidFill>
                </a:rPr>
                <a:t>L</a:t>
              </a:r>
              <a:r>
                <a:rPr lang="en-US" altLang="zh-CN" sz="1800" b="1">
                  <a:solidFill>
                    <a:schemeClr val="tx1"/>
                  </a:solidFill>
                  <a:sym typeface="Symbol" panose="05050102010706020507" pitchFamily="18" charset="2"/>
                </a:rPr>
                <a:t>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75" name="Rectangle 174"/>
            <p:cNvSpPr>
              <a:spLocks noChangeArrowheads="1"/>
            </p:cNvSpPr>
            <p:nvPr/>
          </p:nvSpPr>
          <p:spPr bwMode="auto">
            <a:xfrm>
              <a:off x="3930" y="342"/>
              <a:ext cx="67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透镜</a:t>
              </a:r>
              <a:r>
                <a:rPr lang="en-US" altLang="zh-CN" sz="1800" b="1" i="1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20576" name="Rectangle 175"/>
            <p:cNvSpPr>
              <a:spLocks noChangeArrowheads="1"/>
            </p:cNvSpPr>
            <p:nvPr/>
          </p:nvSpPr>
          <p:spPr bwMode="auto">
            <a:xfrm>
              <a:off x="5256" y="528"/>
              <a:ext cx="264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4000" b="1">
                  <a:solidFill>
                    <a:schemeClr val="tx1"/>
                  </a:solidFill>
                </a:rPr>
                <a:t>·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77" name="Rectangle 176"/>
            <p:cNvSpPr>
              <a:spLocks noChangeArrowheads="1"/>
            </p:cNvSpPr>
            <p:nvPr/>
          </p:nvSpPr>
          <p:spPr bwMode="auto">
            <a:xfrm>
              <a:off x="5346" y="613"/>
              <a:ext cx="192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P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78" name="Rectangle 177"/>
            <p:cNvSpPr>
              <a:spLocks noChangeArrowheads="1"/>
            </p:cNvSpPr>
            <p:nvPr/>
          </p:nvSpPr>
          <p:spPr bwMode="auto">
            <a:xfrm>
              <a:off x="3516" y="1437"/>
              <a:ext cx="17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A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79" name="Rectangle 178"/>
            <p:cNvSpPr>
              <a:spLocks noChangeArrowheads="1"/>
            </p:cNvSpPr>
            <p:nvPr/>
          </p:nvSpPr>
          <p:spPr bwMode="auto">
            <a:xfrm>
              <a:off x="3515" y="709"/>
              <a:ext cx="152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B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grpSp>
          <p:nvGrpSpPr>
            <p:cNvPr id="20580" name="Group 179"/>
            <p:cNvGrpSpPr>
              <a:grpSpLocks/>
            </p:cNvGrpSpPr>
            <p:nvPr/>
          </p:nvGrpSpPr>
          <p:grpSpPr bwMode="auto">
            <a:xfrm>
              <a:off x="3068" y="891"/>
              <a:ext cx="96" cy="642"/>
              <a:chOff x="3068" y="891"/>
              <a:chExt cx="96" cy="642"/>
            </a:xfrm>
          </p:grpSpPr>
          <p:sp>
            <p:nvSpPr>
              <p:cNvPr id="20597" name="Arc 180"/>
              <p:cNvSpPr>
                <a:spLocks/>
              </p:cNvSpPr>
              <p:nvPr/>
            </p:nvSpPr>
            <p:spPr bwMode="auto">
              <a:xfrm flipV="1">
                <a:off x="3116" y="1221"/>
                <a:ext cx="48" cy="31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8" name="Arc 181"/>
              <p:cNvSpPr>
                <a:spLocks/>
              </p:cNvSpPr>
              <p:nvPr/>
            </p:nvSpPr>
            <p:spPr bwMode="auto">
              <a:xfrm>
                <a:off x="3116" y="891"/>
                <a:ext cx="48" cy="31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9" name="Arc 182"/>
              <p:cNvSpPr>
                <a:spLocks/>
              </p:cNvSpPr>
              <p:nvPr/>
            </p:nvSpPr>
            <p:spPr bwMode="auto">
              <a:xfrm flipH="1" flipV="1">
                <a:off x="3068" y="1221"/>
                <a:ext cx="48" cy="31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0" name="Arc 183"/>
              <p:cNvSpPr>
                <a:spLocks/>
              </p:cNvSpPr>
              <p:nvPr/>
            </p:nvSpPr>
            <p:spPr bwMode="auto">
              <a:xfrm flipH="1">
                <a:off x="3068" y="891"/>
                <a:ext cx="48" cy="31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1" name="Line 184"/>
              <p:cNvSpPr>
                <a:spLocks noChangeShapeType="1"/>
              </p:cNvSpPr>
              <p:nvPr/>
            </p:nvSpPr>
            <p:spPr bwMode="auto">
              <a:xfrm>
                <a:off x="3076" y="969"/>
                <a:ext cx="64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2" name="Line 185"/>
              <p:cNvSpPr>
                <a:spLocks noChangeShapeType="1"/>
              </p:cNvSpPr>
              <p:nvPr/>
            </p:nvSpPr>
            <p:spPr bwMode="auto">
              <a:xfrm>
                <a:off x="3084" y="1428"/>
                <a:ext cx="64" cy="9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81" name="Group 186"/>
            <p:cNvGrpSpPr>
              <a:grpSpLocks/>
            </p:cNvGrpSpPr>
            <p:nvPr/>
          </p:nvGrpSpPr>
          <p:grpSpPr bwMode="auto">
            <a:xfrm>
              <a:off x="3956" y="605"/>
              <a:ext cx="152" cy="1205"/>
              <a:chOff x="3956" y="605"/>
              <a:chExt cx="152" cy="1205"/>
            </a:xfrm>
          </p:grpSpPr>
          <p:sp>
            <p:nvSpPr>
              <p:cNvPr id="20590" name="Arc 187"/>
              <p:cNvSpPr>
                <a:spLocks/>
              </p:cNvSpPr>
              <p:nvPr/>
            </p:nvSpPr>
            <p:spPr bwMode="auto">
              <a:xfrm flipV="1">
                <a:off x="4028" y="1224"/>
                <a:ext cx="72" cy="5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1" name="Arc 188"/>
              <p:cNvSpPr>
                <a:spLocks/>
              </p:cNvSpPr>
              <p:nvPr/>
            </p:nvSpPr>
            <p:spPr bwMode="auto">
              <a:xfrm>
                <a:off x="4028" y="605"/>
                <a:ext cx="72" cy="5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2" name="Arc 189"/>
              <p:cNvSpPr>
                <a:spLocks/>
              </p:cNvSpPr>
              <p:nvPr/>
            </p:nvSpPr>
            <p:spPr bwMode="auto">
              <a:xfrm flipH="1" flipV="1">
                <a:off x="3956" y="1224"/>
                <a:ext cx="72" cy="5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3" name="Arc 190"/>
              <p:cNvSpPr>
                <a:spLocks/>
              </p:cNvSpPr>
              <p:nvPr/>
            </p:nvSpPr>
            <p:spPr bwMode="auto">
              <a:xfrm flipH="1">
                <a:off x="3956" y="605"/>
                <a:ext cx="72" cy="5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4" name="Line 191"/>
              <p:cNvSpPr>
                <a:spLocks noChangeShapeType="1"/>
              </p:cNvSpPr>
              <p:nvPr/>
            </p:nvSpPr>
            <p:spPr bwMode="auto">
              <a:xfrm flipV="1">
                <a:off x="3956" y="1220"/>
                <a:ext cx="152" cy="44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5" name="Line 192"/>
              <p:cNvSpPr>
                <a:spLocks noChangeShapeType="1"/>
              </p:cNvSpPr>
              <p:nvPr/>
            </p:nvSpPr>
            <p:spPr bwMode="auto">
              <a:xfrm flipV="1">
                <a:off x="3964" y="995"/>
                <a:ext cx="128" cy="1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6" name="Line 193"/>
              <p:cNvSpPr>
                <a:spLocks noChangeShapeType="1"/>
              </p:cNvSpPr>
              <p:nvPr/>
            </p:nvSpPr>
            <p:spPr bwMode="auto">
              <a:xfrm flipV="1">
                <a:off x="3984" y="744"/>
                <a:ext cx="92" cy="22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582" name="Rectangle 194"/>
            <p:cNvSpPr>
              <a:spLocks noChangeArrowheads="1"/>
            </p:cNvSpPr>
            <p:nvPr/>
          </p:nvSpPr>
          <p:spPr bwMode="auto">
            <a:xfrm>
              <a:off x="3168" y="288"/>
              <a:ext cx="628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缝平面</a:t>
              </a:r>
            </a:p>
          </p:txBody>
        </p:sp>
        <p:sp>
          <p:nvSpPr>
            <p:cNvPr id="20583" name="Rectangle 195"/>
            <p:cNvSpPr>
              <a:spLocks noChangeArrowheads="1"/>
            </p:cNvSpPr>
            <p:nvPr/>
          </p:nvSpPr>
          <p:spPr bwMode="auto">
            <a:xfrm>
              <a:off x="4992" y="144"/>
              <a:ext cx="628" cy="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观察屏</a:t>
              </a:r>
            </a:p>
          </p:txBody>
        </p:sp>
        <p:grpSp>
          <p:nvGrpSpPr>
            <p:cNvPr id="20584" name="Group 196"/>
            <p:cNvGrpSpPr>
              <a:grpSpLocks/>
            </p:cNvGrpSpPr>
            <p:nvPr/>
          </p:nvGrpSpPr>
          <p:grpSpPr bwMode="auto">
            <a:xfrm>
              <a:off x="4630" y="738"/>
              <a:ext cx="96" cy="260"/>
              <a:chOff x="4630" y="738"/>
              <a:chExt cx="96" cy="260"/>
            </a:xfrm>
          </p:grpSpPr>
          <p:sp>
            <p:nvSpPr>
              <p:cNvPr id="20587" name="Line 197"/>
              <p:cNvSpPr>
                <a:spLocks noChangeShapeType="1"/>
              </p:cNvSpPr>
              <p:nvPr/>
            </p:nvSpPr>
            <p:spPr bwMode="auto">
              <a:xfrm>
                <a:off x="4630" y="738"/>
                <a:ext cx="7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8" name="Line 198"/>
              <p:cNvSpPr>
                <a:spLocks noChangeShapeType="1"/>
              </p:cNvSpPr>
              <p:nvPr/>
            </p:nvSpPr>
            <p:spPr bwMode="auto">
              <a:xfrm flipV="1">
                <a:off x="4642" y="855"/>
                <a:ext cx="78" cy="2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9" name="Line 199"/>
              <p:cNvSpPr>
                <a:spLocks noChangeShapeType="1"/>
              </p:cNvSpPr>
              <p:nvPr/>
            </p:nvSpPr>
            <p:spPr bwMode="auto">
              <a:xfrm flipV="1">
                <a:off x="4660" y="972"/>
                <a:ext cx="66" cy="2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585" name="Text Box 200"/>
            <p:cNvSpPr txBox="1">
              <a:spLocks noChangeArrowheads="1"/>
            </p:cNvSpPr>
            <p:nvPr/>
          </p:nvSpPr>
          <p:spPr bwMode="auto">
            <a:xfrm>
              <a:off x="5278" y="1180"/>
              <a:ext cx="198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20586" name="Line 201"/>
            <p:cNvSpPr>
              <a:spLocks noChangeShapeType="1"/>
            </p:cNvSpPr>
            <p:nvPr/>
          </p:nvSpPr>
          <p:spPr bwMode="auto">
            <a:xfrm>
              <a:off x="4032" y="1872"/>
              <a:ext cx="12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1" name="Rectangle 79"/>
          <p:cNvSpPr>
            <a:spLocks noChangeArrowheads="1"/>
          </p:cNvSpPr>
          <p:nvPr/>
        </p:nvSpPr>
        <p:spPr bwMode="auto">
          <a:xfrm>
            <a:off x="4856163" y="-12700"/>
            <a:ext cx="4283075" cy="3165475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50000">
                <a:srgbClr val="FFFFFF"/>
              </a:gs>
              <a:gs pos="100000">
                <a:srgbClr val="99CCFF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332" name="Group 108"/>
          <p:cNvGrpSpPr>
            <a:grpSpLocks/>
          </p:cNvGrpSpPr>
          <p:nvPr/>
        </p:nvGrpSpPr>
        <p:grpSpPr bwMode="auto">
          <a:xfrm>
            <a:off x="5835650" y="260350"/>
            <a:ext cx="385763" cy="2422525"/>
            <a:chOff x="760" y="1914"/>
            <a:chExt cx="187" cy="1494"/>
          </a:xfrm>
        </p:grpSpPr>
        <p:sp>
          <p:nvSpPr>
            <p:cNvPr id="20549" name="Line 109"/>
            <p:cNvSpPr>
              <a:spLocks noChangeShapeType="1"/>
            </p:cNvSpPr>
            <p:nvPr/>
          </p:nvSpPr>
          <p:spPr bwMode="auto">
            <a:xfrm>
              <a:off x="768" y="2688"/>
              <a:ext cx="0" cy="7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50" name="Line 110"/>
            <p:cNvSpPr>
              <a:spLocks noChangeShapeType="1"/>
            </p:cNvSpPr>
            <p:nvPr/>
          </p:nvSpPr>
          <p:spPr bwMode="auto">
            <a:xfrm flipV="1">
              <a:off x="768" y="2016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51" name="Text Box 111"/>
            <p:cNvSpPr txBox="1">
              <a:spLocks noChangeArrowheads="1"/>
            </p:cNvSpPr>
            <p:nvPr/>
          </p:nvSpPr>
          <p:spPr bwMode="auto">
            <a:xfrm>
              <a:off x="760" y="1914"/>
              <a:ext cx="187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x</a:t>
              </a:r>
            </a:p>
          </p:txBody>
        </p:sp>
      </p:grpSp>
      <p:grpSp>
        <p:nvGrpSpPr>
          <p:cNvPr id="337" name="Group 265"/>
          <p:cNvGrpSpPr>
            <a:grpSpLocks/>
          </p:cNvGrpSpPr>
          <p:nvPr/>
        </p:nvGrpSpPr>
        <p:grpSpPr bwMode="auto">
          <a:xfrm>
            <a:off x="5167313" y="0"/>
            <a:ext cx="3727450" cy="3138488"/>
            <a:chOff x="2516" y="0"/>
            <a:chExt cx="3040" cy="2112"/>
          </a:xfrm>
        </p:grpSpPr>
        <p:sp>
          <p:nvSpPr>
            <p:cNvPr id="20519" name="Oval 267"/>
            <p:cNvSpPr>
              <a:spLocks noChangeArrowheads="1"/>
            </p:cNvSpPr>
            <p:nvPr/>
          </p:nvSpPr>
          <p:spPr bwMode="auto">
            <a:xfrm>
              <a:off x="3839" y="307"/>
              <a:ext cx="128" cy="157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0520" name="Line 268"/>
            <p:cNvSpPr>
              <a:spLocks noChangeShapeType="1"/>
            </p:cNvSpPr>
            <p:nvPr/>
          </p:nvSpPr>
          <p:spPr bwMode="auto">
            <a:xfrm flipV="1">
              <a:off x="3061" y="663"/>
              <a:ext cx="817" cy="3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1" name="Line 269"/>
            <p:cNvSpPr>
              <a:spLocks noChangeShapeType="1"/>
            </p:cNvSpPr>
            <p:nvPr/>
          </p:nvSpPr>
          <p:spPr bwMode="auto">
            <a:xfrm flipV="1">
              <a:off x="3061" y="1382"/>
              <a:ext cx="778" cy="41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2" name="Line 270"/>
            <p:cNvSpPr>
              <a:spLocks noChangeShapeType="1"/>
            </p:cNvSpPr>
            <p:nvPr/>
          </p:nvSpPr>
          <p:spPr bwMode="auto">
            <a:xfrm flipV="1">
              <a:off x="3107" y="1037"/>
              <a:ext cx="732" cy="35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3" name="Line 271"/>
            <p:cNvSpPr>
              <a:spLocks noChangeShapeType="1"/>
            </p:cNvSpPr>
            <p:nvPr/>
          </p:nvSpPr>
          <p:spPr bwMode="auto">
            <a:xfrm>
              <a:off x="5547" y="0"/>
              <a:ext cx="0" cy="1574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4" name="Line 272"/>
            <p:cNvSpPr>
              <a:spLocks noChangeShapeType="1"/>
            </p:cNvSpPr>
            <p:nvPr/>
          </p:nvSpPr>
          <p:spPr bwMode="auto">
            <a:xfrm flipV="1">
              <a:off x="3967" y="845"/>
              <a:ext cx="897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5" name="Line 273"/>
            <p:cNvSpPr>
              <a:spLocks noChangeShapeType="1"/>
            </p:cNvSpPr>
            <p:nvPr/>
          </p:nvSpPr>
          <p:spPr bwMode="auto">
            <a:xfrm flipV="1">
              <a:off x="4864" y="691"/>
              <a:ext cx="683" cy="26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26" name="Group 274"/>
            <p:cNvGrpSpPr>
              <a:grpSpLocks/>
            </p:cNvGrpSpPr>
            <p:nvPr/>
          </p:nvGrpSpPr>
          <p:grpSpPr bwMode="auto">
            <a:xfrm>
              <a:off x="3071" y="614"/>
              <a:ext cx="42" cy="1498"/>
              <a:chOff x="1104" y="1728"/>
              <a:chExt cx="48" cy="1872"/>
            </a:xfrm>
          </p:grpSpPr>
          <p:sp>
            <p:nvSpPr>
              <p:cNvPr id="20544" name="Line 275"/>
              <p:cNvSpPr>
                <a:spLocks noChangeShapeType="1"/>
              </p:cNvSpPr>
              <p:nvPr/>
            </p:nvSpPr>
            <p:spPr bwMode="auto">
              <a:xfrm>
                <a:off x="1104" y="17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5" name="Line 276"/>
              <p:cNvSpPr>
                <a:spLocks noChangeShapeType="1"/>
              </p:cNvSpPr>
              <p:nvPr/>
            </p:nvSpPr>
            <p:spPr bwMode="auto">
              <a:xfrm>
                <a:off x="1104" y="321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6" name="Oval 277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0547" name="Oval 278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0548" name="Oval 279"/>
              <p:cNvSpPr>
                <a:spLocks noChangeArrowheads="1"/>
              </p:cNvSpPr>
              <p:nvPr/>
            </p:nvSpPr>
            <p:spPr bwMode="auto">
              <a:xfrm>
                <a:off x="1104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527" name="Line 280"/>
            <p:cNvSpPr>
              <a:spLocks noChangeShapeType="1"/>
            </p:cNvSpPr>
            <p:nvPr/>
          </p:nvSpPr>
          <p:spPr bwMode="auto">
            <a:xfrm flipV="1">
              <a:off x="3156" y="1037"/>
              <a:ext cx="68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8" name="Line 283"/>
            <p:cNvSpPr>
              <a:spLocks noChangeShapeType="1"/>
            </p:cNvSpPr>
            <p:nvPr/>
          </p:nvSpPr>
          <p:spPr bwMode="auto">
            <a:xfrm>
              <a:off x="3969" y="663"/>
              <a:ext cx="90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9" name="Line 284"/>
            <p:cNvSpPr>
              <a:spLocks noChangeShapeType="1"/>
            </p:cNvSpPr>
            <p:nvPr/>
          </p:nvSpPr>
          <p:spPr bwMode="auto">
            <a:xfrm flipV="1">
              <a:off x="3967" y="960"/>
              <a:ext cx="897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0" name="Line 285"/>
            <p:cNvSpPr>
              <a:spLocks noChangeShapeType="1"/>
            </p:cNvSpPr>
            <p:nvPr/>
          </p:nvSpPr>
          <p:spPr bwMode="auto">
            <a:xfrm flipV="1">
              <a:off x="4785" y="691"/>
              <a:ext cx="762" cy="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1" name="Line 286"/>
            <p:cNvSpPr>
              <a:spLocks noChangeShapeType="1"/>
            </p:cNvSpPr>
            <p:nvPr/>
          </p:nvSpPr>
          <p:spPr bwMode="auto">
            <a:xfrm flipV="1">
              <a:off x="4821" y="691"/>
              <a:ext cx="726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2" name="Line 287"/>
            <p:cNvSpPr>
              <a:spLocks noChangeShapeType="1"/>
            </p:cNvSpPr>
            <p:nvPr/>
          </p:nvSpPr>
          <p:spPr bwMode="auto">
            <a:xfrm>
              <a:off x="2558" y="1075"/>
              <a:ext cx="42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3" name="Line 288"/>
            <p:cNvSpPr>
              <a:spLocks noChangeShapeType="1"/>
            </p:cNvSpPr>
            <p:nvPr/>
          </p:nvSpPr>
          <p:spPr bwMode="auto">
            <a:xfrm>
              <a:off x="2516" y="1766"/>
              <a:ext cx="46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4" name="Line 289"/>
            <p:cNvSpPr>
              <a:spLocks noChangeShapeType="1"/>
            </p:cNvSpPr>
            <p:nvPr/>
          </p:nvSpPr>
          <p:spPr bwMode="auto">
            <a:xfrm>
              <a:off x="2644" y="1421"/>
              <a:ext cx="34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5" name="Line 290"/>
            <p:cNvSpPr>
              <a:spLocks noChangeShapeType="1"/>
            </p:cNvSpPr>
            <p:nvPr/>
          </p:nvSpPr>
          <p:spPr bwMode="auto">
            <a:xfrm flipV="1">
              <a:off x="2533" y="1075"/>
              <a:ext cx="0" cy="23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6" name="Line 291"/>
            <p:cNvSpPr>
              <a:spLocks noChangeShapeType="1"/>
            </p:cNvSpPr>
            <p:nvPr/>
          </p:nvSpPr>
          <p:spPr bwMode="auto">
            <a:xfrm rot="10800000" flipV="1">
              <a:off x="2533" y="1536"/>
              <a:ext cx="0" cy="23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7" name="Arc 292"/>
            <p:cNvSpPr>
              <a:spLocks/>
            </p:cNvSpPr>
            <p:nvPr/>
          </p:nvSpPr>
          <p:spPr bwMode="auto">
            <a:xfrm>
              <a:off x="2942" y="883"/>
              <a:ext cx="513" cy="169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8" name="Text Box 293"/>
            <p:cNvSpPr txBox="1">
              <a:spLocks noChangeArrowheads="1"/>
            </p:cNvSpPr>
            <p:nvPr/>
          </p:nvSpPr>
          <p:spPr bwMode="auto">
            <a:xfrm>
              <a:off x="3086" y="1344"/>
              <a:ext cx="29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20539" name="Line 295"/>
            <p:cNvSpPr>
              <a:spLocks noChangeShapeType="1"/>
            </p:cNvSpPr>
            <p:nvPr/>
          </p:nvSpPr>
          <p:spPr bwMode="auto">
            <a:xfrm flipV="1">
              <a:off x="3061" y="845"/>
              <a:ext cx="815" cy="36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0" name="Line 296"/>
            <p:cNvSpPr>
              <a:spLocks noChangeShapeType="1"/>
            </p:cNvSpPr>
            <p:nvPr/>
          </p:nvSpPr>
          <p:spPr bwMode="auto">
            <a:xfrm flipV="1">
              <a:off x="3969" y="754"/>
              <a:ext cx="907" cy="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1" name="Line 297"/>
            <p:cNvSpPr>
              <a:spLocks noChangeShapeType="1"/>
            </p:cNvSpPr>
            <p:nvPr/>
          </p:nvSpPr>
          <p:spPr bwMode="auto">
            <a:xfrm flipV="1">
              <a:off x="4694" y="663"/>
              <a:ext cx="86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42" name="Object 298"/>
            <p:cNvGraphicFramePr>
              <a:graphicFrameLocks noChangeAspect="1"/>
            </p:cNvGraphicFramePr>
            <p:nvPr/>
          </p:nvGraphicFramePr>
          <p:xfrm>
            <a:off x="3250" y="1017"/>
            <a:ext cx="158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46" name="公式" r:id="rId8" imgW="0" imgH="9450" progId="Equation.3">
                    <p:embed/>
                  </p:oleObj>
                </mc:Choice>
                <mc:Fallback>
                  <p:oleObj name="公式" r:id="rId8" imgW="0" imgH="945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0" y="1017"/>
                          <a:ext cx="158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43" name="Line 299"/>
            <p:cNvSpPr>
              <a:spLocks noChangeShapeType="1"/>
            </p:cNvSpPr>
            <p:nvPr/>
          </p:nvSpPr>
          <p:spPr bwMode="auto">
            <a:xfrm>
              <a:off x="3061" y="1207"/>
              <a:ext cx="91" cy="18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68" name="Object 76"/>
          <p:cNvGraphicFramePr>
            <a:graphicFrameLocks noChangeAspect="1"/>
          </p:cNvGraphicFramePr>
          <p:nvPr/>
        </p:nvGraphicFramePr>
        <p:xfrm>
          <a:off x="7175500" y="2408238"/>
          <a:ext cx="19685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7" name="MathType 6.0 Equation" r:id="rId10" imgW="1028666" imgH="304830" progId="Equation.DSMT4">
                  <p:embed/>
                </p:oleObj>
              </mc:Choice>
              <mc:Fallback>
                <p:oleObj name="MathType 6.0 Equation" r:id="rId10" imgW="1028666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0" y="2408238"/>
                        <a:ext cx="19685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" name="Object 305"/>
          <p:cNvGraphicFramePr>
            <a:graphicFrameLocks noChangeAspect="1"/>
          </p:cNvGraphicFramePr>
          <p:nvPr/>
        </p:nvGraphicFramePr>
        <p:xfrm>
          <a:off x="5499100" y="-17463"/>
          <a:ext cx="3211513" cy="600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8" name="MathType 6.0 Equation" r:id="rId12" imgW="2362313" imgH="342900" progId="Equation.DSMT4">
                  <p:embed/>
                </p:oleObj>
              </mc:Choice>
              <mc:Fallback>
                <p:oleObj name="MathType 6.0 Equation" r:id="rId12" imgW="2362313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100" y="-17463"/>
                        <a:ext cx="3211513" cy="600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" name="Text Box 293"/>
          <p:cNvSpPr txBox="1">
            <a:spLocks noChangeArrowheads="1"/>
          </p:cNvSpPr>
          <p:nvPr/>
        </p:nvSpPr>
        <p:spPr bwMode="auto">
          <a:xfrm>
            <a:off x="6184900" y="1614488"/>
            <a:ext cx="3587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chemeClr val="tx1"/>
                </a:solidFill>
              </a:rPr>
              <a:t>r</a:t>
            </a:r>
            <a:r>
              <a:rPr lang="en-US" altLang="zh-CN" sz="1800" b="1" i="1" baseline="-250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1" name="Text Box 293"/>
          <p:cNvSpPr txBox="1">
            <a:spLocks noChangeArrowheads="1"/>
          </p:cNvSpPr>
          <p:nvPr/>
        </p:nvSpPr>
        <p:spPr bwMode="auto">
          <a:xfrm>
            <a:off x="6273800" y="1092200"/>
            <a:ext cx="3571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l-GR" altLang="zh-CN" sz="2400" b="1" i="1" dirty="0">
                <a:solidFill>
                  <a:schemeClr val="tx1"/>
                </a:solidFill>
              </a:rPr>
              <a:t>θ</a:t>
            </a:r>
            <a:endParaRPr lang="en-US" altLang="zh-CN" sz="2400" b="1" i="1" baseline="-25000" dirty="0">
              <a:solidFill>
                <a:schemeClr val="tx1"/>
              </a:solidFill>
            </a:endParaRPr>
          </a:p>
        </p:txBody>
      </p:sp>
      <p:sp>
        <p:nvSpPr>
          <p:cNvPr id="20505" name="Text Box 293"/>
          <p:cNvSpPr txBox="1">
            <a:spLocks noChangeArrowheads="1"/>
          </p:cNvSpPr>
          <p:nvPr/>
        </p:nvSpPr>
        <p:spPr bwMode="auto">
          <a:xfrm>
            <a:off x="8843963" y="830263"/>
            <a:ext cx="33813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20506" name="Text Box 293"/>
          <p:cNvSpPr txBox="1">
            <a:spLocks noChangeArrowheads="1"/>
          </p:cNvSpPr>
          <p:nvPr/>
        </p:nvSpPr>
        <p:spPr bwMode="auto">
          <a:xfrm>
            <a:off x="5013325" y="1905000"/>
            <a:ext cx="3127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chemeClr val="tx1"/>
                </a:solidFill>
              </a:rPr>
              <a:t>a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0" y="5722938"/>
            <a:ext cx="208597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29728" y="3220777"/>
            <a:ext cx="1327415" cy="400110"/>
          </a:xfrm>
          <a:prstGeom prst="rect">
            <a:avLst/>
          </a:prstGeom>
          <a:blipFill rotWithShape="0"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85192" y="3228208"/>
            <a:ext cx="1237839" cy="400110"/>
          </a:xfrm>
          <a:prstGeom prst="rect">
            <a:avLst/>
          </a:prstGeom>
          <a:blipFill rotWithShape="0">
            <a:blip r:embed="rId1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0" name="矩形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98780" y="3230212"/>
            <a:ext cx="1968231" cy="400110"/>
          </a:xfrm>
          <a:prstGeom prst="rect">
            <a:avLst/>
          </a:prstGeom>
          <a:blipFill rotWithShape="0">
            <a:blip r:embed="rId17"/>
            <a:stretch>
              <a:fillRect b="-3030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1" name="矩形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970886" y="3771000"/>
            <a:ext cx="1319848" cy="400110"/>
          </a:xfrm>
          <a:prstGeom prst="rect">
            <a:avLst/>
          </a:prstGeom>
          <a:blipFill rotWithShape="0">
            <a:blip r:embed="rId18"/>
            <a:stretch>
              <a:fillRect b="-4615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2" name="矩形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41595" y="3648110"/>
            <a:ext cx="1622367" cy="673133"/>
          </a:xfrm>
          <a:prstGeom prst="rect">
            <a:avLst/>
          </a:prstGeom>
          <a:blipFill rotWithShape="0">
            <a:blip r:embed="rId1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5454973" y="1512152"/>
            <a:ext cx="460289" cy="641395"/>
            <a:chOff x="4169353" y="1573730"/>
            <a:chExt cx="460289" cy="641395"/>
          </a:xfrm>
        </p:grpSpPr>
        <p:sp>
          <p:nvSpPr>
            <p:cNvPr id="138" name="Line 113"/>
            <p:cNvSpPr>
              <a:spLocks noChangeShapeType="1"/>
            </p:cNvSpPr>
            <p:nvPr/>
          </p:nvSpPr>
          <p:spPr bwMode="auto">
            <a:xfrm flipH="1">
              <a:off x="4561377" y="1725084"/>
              <a:ext cx="4889" cy="169351"/>
            </a:xfrm>
            <a:prstGeom prst="line">
              <a:avLst/>
            </a:prstGeom>
            <a:noFill/>
            <a:ln w="82550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72" name="组合 1"/>
            <p:cNvGrpSpPr>
              <a:grpSpLocks/>
            </p:cNvGrpSpPr>
            <p:nvPr/>
          </p:nvGrpSpPr>
          <p:grpSpPr bwMode="auto">
            <a:xfrm>
              <a:off x="4169353" y="1573730"/>
              <a:ext cx="460289" cy="641395"/>
              <a:chOff x="4321012" y="1872215"/>
              <a:chExt cx="460592" cy="641912"/>
            </a:xfrm>
          </p:grpSpPr>
          <p:sp>
            <p:nvSpPr>
              <p:cNvPr id="20513" name="Line 115"/>
              <p:cNvSpPr>
                <a:spLocks noChangeShapeType="1"/>
              </p:cNvSpPr>
              <p:nvPr/>
            </p:nvSpPr>
            <p:spPr bwMode="auto">
              <a:xfrm>
                <a:off x="4578660" y="2205796"/>
                <a:ext cx="107929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4" name="Line 116"/>
              <p:cNvSpPr>
                <a:spLocks noChangeShapeType="1"/>
              </p:cNvSpPr>
              <p:nvPr/>
            </p:nvSpPr>
            <p:spPr bwMode="auto">
              <a:xfrm>
                <a:off x="4578660" y="2452421"/>
                <a:ext cx="107929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7" name="Text Box 293"/>
              <p:cNvSpPr txBox="1">
                <a:spLocks noChangeArrowheads="1"/>
              </p:cNvSpPr>
              <p:nvPr/>
            </p:nvSpPr>
            <p:spPr bwMode="auto">
              <a:xfrm>
                <a:off x="4443049" y="2052462"/>
                <a:ext cx="33855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CN" sz="24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518" name="Text Box 293"/>
              <p:cNvSpPr txBox="1">
                <a:spLocks noChangeArrowheads="1"/>
              </p:cNvSpPr>
              <p:nvPr/>
            </p:nvSpPr>
            <p:spPr bwMode="auto">
              <a:xfrm>
                <a:off x="4321012" y="1872215"/>
                <a:ext cx="4411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dx</a:t>
                </a:r>
                <a:endParaRPr lang="en-US" altLang="zh-CN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107089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7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47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4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4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80" grpId="0"/>
      <p:bldP spid="147461" grpId="0" autoUpdateAnimBg="0"/>
      <p:bldP spid="147462" grpId="0"/>
      <p:bldP spid="147533" grpId="0"/>
      <p:bldP spid="147760" grpId="0"/>
      <p:bldP spid="147762" grpId="0"/>
      <p:bldP spid="147764" grpId="0" animBg="1"/>
      <p:bldP spid="140" grpId="0" autoUpdateAnimBg="0"/>
      <p:bldP spid="331" grpId="0" animBg="1"/>
      <p:bldP spid="370" grpId="0"/>
      <p:bldP spid="37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95925" y="1881188"/>
            <a:ext cx="3570288" cy="3355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507" name="Oval 9"/>
          <p:cNvSpPr>
            <a:spLocks noChangeArrowheads="1"/>
          </p:cNvSpPr>
          <p:nvPr/>
        </p:nvSpPr>
        <p:spPr bwMode="auto">
          <a:xfrm>
            <a:off x="6973888" y="2185988"/>
            <a:ext cx="173037" cy="285115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1508" name="Line 10"/>
          <p:cNvSpPr>
            <a:spLocks noChangeShapeType="1"/>
          </p:cNvSpPr>
          <p:nvPr/>
        </p:nvSpPr>
        <p:spPr bwMode="auto">
          <a:xfrm flipV="1">
            <a:off x="6146800" y="2651125"/>
            <a:ext cx="876300" cy="5159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Line 11"/>
          <p:cNvSpPr>
            <a:spLocks noChangeShapeType="1"/>
          </p:cNvSpPr>
          <p:nvPr/>
        </p:nvSpPr>
        <p:spPr bwMode="auto">
          <a:xfrm flipV="1">
            <a:off x="6146800" y="3629025"/>
            <a:ext cx="827088" cy="5159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Line 12"/>
          <p:cNvSpPr>
            <a:spLocks noChangeShapeType="1"/>
          </p:cNvSpPr>
          <p:nvPr/>
        </p:nvSpPr>
        <p:spPr bwMode="auto">
          <a:xfrm flipV="1">
            <a:off x="6146800" y="3167063"/>
            <a:ext cx="827088" cy="5159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13"/>
          <p:cNvSpPr>
            <a:spLocks noChangeShapeType="1"/>
          </p:cNvSpPr>
          <p:nvPr/>
        </p:nvSpPr>
        <p:spPr bwMode="auto">
          <a:xfrm>
            <a:off x="8920163" y="2060575"/>
            <a:ext cx="0" cy="3078163"/>
          </a:xfrm>
          <a:prstGeom prst="line">
            <a:avLst/>
          </a:prstGeom>
          <a:noFill/>
          <a:ln w="57150">
            <a:solidFill>
              <a:srgbClr val="92D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Line 14"/>
          <p:cNvSpPr>
            <a:spLocks noChangeShapeType="1"/>
          </p:cNvSpPr>
          <p:nvPr/>
        </p:nvSpPr>
        <p:spPr bwMode="auto">
          <a:xfrm flipV="1">
            <a:off x="7119938" y="2908300"/>
            <a:ext cx="1020762" cy="2587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3" name="Line 15"/>
          <p:cNvSpPr>
            <a:spLocks noChangeShapeType="1"/>
          </p:cNvSpPr>
          <p:nvPr/>
        </p:nvSpPr>
        <p:spPr bwMode="auto">
          <a:xfrm flipV="1">
            <a:off x="8140700" y="2701925"/>
            <a:ext cx="779463" cy="3619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514" name="Group 16"/>
          <p:cNvGrpSpPr>
            <a:grpSpLocks/>
          </p:cNvGrpSpPr>
          <p:nvPr/>
        </p:nvGrpSpPr>
        <p:grpSpPr bwMode="auto">
          <a:xfrm>
            <a:off x="6099175" y="2598738"/>
            <a:ext cx="47625" cy="2012950"/>
            <a:chOff x="1104" y="1728"/>
            <a:chExt cx="48" cy="1872"/>
          </a:xfrm>
        </p:grpSpPr>
        <p:sp>
          <p:nvSpPr>
            <p:cNvPr id="21546" name="Line 17"/>
            <p:cNvSpPr>
              <a:spLocks noChangeShapeType="1"/>
            </p:cNvSpPr>
            <p:nvPr/>
          </p:nvSpPr>
          <p:spPr bwMode="auto">
            <a:xfrm>
              <a:off x="1104" y="1728"/>
              <a:ext cx="0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7" name="Line 18"/>
            <p:cNvSpPr>
              <a:spLocks noChangeShapeType="1"/>
            </p:cNvSpPr>
            <p:nvPr/>
          </p:nvSpPr>
          <p:spPr bwMode="auto">
            <a:xfrm>
              <a:off x="1104" y="321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8" name="Oval 19"/>
            <p:cNvSpPr>
              <a:spLocks noChangeArrowheads="1"/>
            </p:cNvSpPr>
            <p:nvPr/>
          </p:nvSpPr>
          <p:spPr bwMode="auto">
            <a:xfrm>
              <a:off x="1104" y="268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49" name="Oval 20"/>
            <p:cNvSpPr>
              <a:spLocks noChangeArrowheads="1"/>
            </p:cNvSpPr>
            <p:nvPr/>
          </p:nvSpPr>
          <p:spPr bwMode="auto">
            <a:xfrm>
              <a:off x="1104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0" name="Oval 21"/>
            <p:cNvSpPr>
              <a:spLocks noChangeArrowheads="1"/>
            </p:cNvSpPr>
            <p:nvPr/>
          </p:nvSpPr>
          <p:spPr bwMode="auto">
            <a:xfrm>
              <a:off x="1104" y="31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21515" name="Line 22"/>
          <p:cNvSpPr>
            <a:spLocks noChangeShapeType="1"/>
          </p:cNvSpPr>
          <p:nvPr/>
        </p:nvSpPr>
        <p:spPr bwMode="auto">
          <a:xfrm flipV="1">
            <a:off x="6196013" y="3167063"/>
            <a:ext cx="777875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16" name="Object 23"/>
          <p:cNvGraphicFramePr>
            <a:graphicFrameLocks noChangeAspect="1"/>
          </p:cNvGraphicFramePr>
          <p:nvPr/>
        </p:nvGraphicFramePr>
        <p:xfrm>
          <a:off x="6599238" y="2852738"/>
          <a:ext cx="2222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0" name="Equation" r:id="rId3" imgW="126725" imgH="177415" progId="Equation.DSMT4">
                  <p:embed/>
                </p:oleObj>
              </mc:Choice>
              <mc:Fallback>
                <p:oleObj name="Equation" r:id="rId3" imgW="126725" imgH="177415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238" y="2852738"/>
                        <a:ext cx="2222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24"/>
          <p:cNvGraphicFramePr>
            <a:graphicFrameLocks noChangeAspect="1"/>
          </p:cNvGraphicFramePr>
          <p:nvPr/>
        </p:nvGraphicFramePr>
        <p:xfrm>
          <a:off x="8615363" y="2349500"/>
          <a:ext cx="3175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" name="Equation" r:id="rId5" imgW="152268" imgH="164957" progId="Equation.DSMT4">
                  <p:embed/>
                </p:oleObj>
              </mc:Choice>
              <mc:Fallback>
                <p:oleObj name="Equation" r:id="rId5" imgW="152268" imgH="164957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5363" y="2349500"/>
                        <a:ext cx="3175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Line 25"/>
          <p:cNvSpPr>
            <a:spLocks noChangeShapeType="1"/>
          </p:cNvSpPr>
          <p:nvPr/>
        </p:nvSpPr>
        <p:spPr bwMode="auto">
          <a:xfrm flipV="1">
            <a:off x="7119938" y="2701925"/>
            <a:ext cx="10207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Line 26"/>
          <p:cNvSpPr>
            <a:spLocks noChangeShapeType="1"/>
          </p:cNvSpPr>
          <p:nvPr/>
        </p:nvSpPr>
        <p:spPr bwMode="auto">
          <a:xfrm flipV="1">
            <a:off x="7119938" y="3063875"/>
            <a:ext cx="1020762" cy="5159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27"/>
          <p:cNvSpPr>
            <a:spLocks noChangeShapeType="1"/>
          </p:cNvSpPr>
          <p:nvPr/>
        </p:nvSpPr>
        <p:spPr bwMode="auto">
          <a:xfrm flipV="1">
            <a:off x="8093075" y="2701925"/>
            <a:ext cx="8270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Line 28"/>
          <p:cNvSpPr>
            <a:spLocks noChangeShapeType="1"/>
          </p:cNvSpPr>
          <p:nvPr/>
        </p:nvSpPr>
        <p:spPr bwMode="auto">
          <a:xfrm flipV="1">
            <a:off x="8093075" y="2701925"/>
            <a:ext cx="827088" cy="2063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2" name="Line 29"/>
          <p:cNvSpPr>
            <a:spLocks noChangeShapeType="1"/>
          </p:cNvSpPr>
          <p:nvPr/>
        </p:nvSpPr>
        <p:spPr bwMode="auto">
          <a:xfrm>
            <a:off x="5580063" y="3213100"/>
            <a:ext cx="539750" cy="47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3" name="Line 30"/>
          <p:cNvSpPr>
            <a:spLocks noChangeShapeType="1"/>
          </p:cNvSpPr>
          <p:nvPr/>
        </p:nvSpPr>
        <p:spPr bwMode="auto">
          <a:xfrm>
            <a:off x="5584825" y="4144963"/>
            <a:ext cx="5349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4" name="Line 31"/>
          <p:cNvSpPr>
            <a:spLocks noChangeShapeType="1"/>
          </p:cNvSpPr>
          <p:nvPr/>
        </p:nvSpPr>
        <p:spPr bwMode="auto">
          <a:xfrm>
            <a:off x="5732463" y="3683000"/>
            <a:ext cx="3873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5" name="Line 32"/>
          <p:cNvSpPr>
            <a:spLocks noChangeShapeType="1"/>
          </p:cNvSpPr>
          <p:nvPr/>
        </p:nvSpPr>
        <p:spPr bwMode="auto">
          <a:xfrm flipV="1">
            <a:off x="5651500" y="3213100"/>
            <a:ext cx="0" cy="3095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6" name="Line 33"/>
          <p:cNvSpPr>
            <a:spLocks noChangeShapeType="1"/>
          </p:cNvSpPr>
          <p:nvPr/>
        </p:nvSpPr>
        <p:spPr bwMode="auto">
          <a:xfrm rot="10800000" flipV="1">
            <a:off x="5651500" y="3860800"/>
            <a:ext cx="0" cy="307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27" name="Object 34"/>
          <p:cNvGraphicFramePr>
            <a:graphicFrameLocks noChangeAspect="1"/>
          </p:cNvGraphicFramePr>
          <p:nvPr/>
        </p:nvGraphicFramePr>
        <p:xfrm>
          <a:off x="5508625" y="3573463"/>
          <a:ext cx="265113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2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573463"/>
                        <a:ext cx="265113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8" name="Arc 35"/>
          <p:cNvSpPr>
            <a:spLocks/>
          </p:cNvSpPr>
          <p:nvPr/>
        </p:nvSpPr>
        <p:spPr bwMode="auto">
          <a:xfrm>
            <a:off x="5951538" y="2960688"/>
            <a:ext cx="585787" cy="225425"/>
          </a:xfrm>
          <a:custGeom>
            <a:avLst/>
            <a:gdLst>
              <a:gd name="T0" fmla="*/ 2147483646 w 21600"/>
              <a:gd name="T1" fmla="*/ 0 h 7897"/>
              <a:gd name="T2" fmla="*/ 2147483646 w 21600"/>
              <a:gd name="T3" fmla="*/ 2147483646 h 7897"/>
              <a:gd name="T4" fmla="*/ 0 w 21600"/>
              <a:gd name="T5" fmla="*/ 2147483646 h 78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7897" fill="none" extrusionOk="0">
                <a:moveTo>
                  <a:pt x="20104" y="0"/>
                </a:moveTo>
                <a:cubicBezTo>
                  <a:pt x="21092" y="2515"/>
                  <a:pt x="21600" y="5194"/>
                  <a:pt x="21600" y="7897"/>
                </a:cubicBezTo>
              </a:path>
              <a:path w="21600" h="7897" stroke="0" extrusionOk="0">
                <a:moveTo>
                  <a:pt x="20104" y="0"/>
                </a:moveTo>
                <a:cubicBezTo>
                  <a:pt x="21092" y="2515"/>
                  <a:pt x="21600" y="5194"/>
                  <a:pt x="21600" y="7897"/>
                </a:cubicBezTo>
                <a:lnTo>
                  <a:pt x="0" y="7897"/>
                </a:lnTo>
                <a:lnTo>
                  <a:pt x="20104" y="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2" name="Text Box 36"/>
          <p:cNvSpPr txBox="1">
            <a:spLocks noChangeArrowheads="1"/>
          </p:cNvSpPr>
          <p:nvPr/>
        </p:nvSpPr>
        <p:spPr bwMode="auto">
          <a:xfrm>
            <a:off x="395288" y="242888"/>
            <a:ext cx="21034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明暗条件</a:t>
            </a:r>
          </a:p>
        </p:txBody>
      </p:sp>
      <p:sp>
        <p:nvSpPr>
          <p:cNvPr id="9281" name="Text Box 65"/>
          <p:cNvSpPr txBox="1">
            <a:spLocks noChangeArrowheads="1"/>
          </p:cNvSpPr>
          <p:nvPr/>
        </p:nvSpPr>
        <p:spPr bwMode="auto">
          <a:xfrm>
            <a:off x="192088" y="4903788"/>
            <a:ext cx="2733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衍射极小：</a:t>
            </a:r>
          </a:p>
        </p:txBody>
      </p:sp>
      <p:sp>
        <p:nvSpPr>
          <p:cNvPr id="9298" name="Text Box 82"/>
          <p:cNvSpPr txBox="1">
            <a:spLocks noChangeArrowheads="1"/>
          </p:cNvSpPr>
          <p:nvPr/>
        </p:nvSpPr>
        <p:spPr bwMode="auto">
          <a:xfrm>
            <a:off x="395288" y="1930400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衍射次极大：</a:t>
            </a:r>
          </a:p>
        </p:txBody>
      </p:sp>
      <p:sp>
        <p:nvSpPr>
          <p:cNvPr id="9300" name="Text Box 84"/>
          <p:cNvSpPr txBox="1">
            <a:spLocks noChangeArrowheads="1"/>
          </p:cNvSpPr>
          <p:nvPr/>
        </p:nvSpPr>
        <p:spPr bwMode="auto">
          <a:xfrm>
            <a:off x="395288" y="1165225"/>
            <a:ext cx="2422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主    极    大：</a:t>
            </a:r>
          </a:p>
        </p:txBody>
      </p:sp>
      <p:pic>
        <p:nvPicPr>
          <p:cNvPr id="21533" name="Picture 126" descr="dove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885113" y="260350"/>
            <a:ext cx="79057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4" name="图片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0" y="31750"/>
            <a:ext cx="3568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38627" y="1173583"/>
            <a:ext cx="2831160" cy="523220"/>
          </a:xfrm>
          <a:prstGeom prst="rect">
            <a:avLst/>
          </a:prstGeom>
          <a:blipFill rotWithShape="0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84793" y="1148434"/>
            <a:ext cx="1415837" cy="523220"/>
          </a:xfrm>
          <a:prstGeom prst="rect">
            <a:avLst/>
          </a:prstGeom>
          <a:blipFill rotWithShape="0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05517" y="1737288"/>
            <a:ext cx="2444772" cy="1004570"/>
          </a:xfrm>
          <a:prstGeom prst="rect">
            <a:avLst/>
          </a:prstGeom>
          <a:blipFill rotWithShape="0">
            <a:blip r:embed="rId1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4439" y="2791853"/>
            <a:ext cx="5149743" cy="461665"/>
          </a:xfrm>
          <a:prstGeom prst="rect">
            <a:avLst/>
          </a:prstGeom>
          <a:blipFill rotWithShape="0">
            <a:blip r:embed="rId14"/>
            <a:stretch>
              <a:fillRect b="-394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1" name="矩形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0268" y="3321844"/>
            <a:ext cx="5643562" cy="830997"/>
          </a:xfrm>
          <a:prstGeom prst="rect">
            <a:avLst/>
          </a:prstGeom>
          <a:blipFill rotWithShape="0"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897313"/>
            <a:ext cx="4337050" cy="98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91062" y="4915627"/>
            <a:ext cx="3225498" cy="523220"/>
          </a:xfrm>
          <a:prstGeom prst="rect">
            <a:avLst/>
          </a:prstGeom>
          <a:blipFill rotWithShape="0">
            <a:blip r:embed="rId1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4" name="矩形 1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81342" y="4924906"/>
            <a:ext cx="1301575" cy="523220"/>
          </a:xfrm>
          <a:prstGeom prst="rect">
            <a:avLst/>
          </a:prstGeom>
          <a:blipFill rotWithShape="0">
            <a:blip r:embed="rId1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5" name="矩形 1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5611" y="5455729"/>
            <a:ext cx="1762790" cy="523220"/>
          </a:xfrm>
          <a:prstGeom prst="rect">
            <a:avLst/>
          </a:prstGeom>
          <a:blipFill rotWithShape="0">
            <a:blip r:embed="rId1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5989638"/>
            <a:ext cx="21431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113" y="5970588"/>
            <a:ext cx="1979612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5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2" grpId="0"/>
      <p:bldP spid="9281" grpId="0" autoUpdateAnimBg="0"/>
      <p:bldP spid="9298" grpId="0"/>
      <p:bldP spid="930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1" name="Text Box 37"/>
          <p:cNvSpPr txBox="1">
            <a:spLocks noChangeArrowheads="1"/>
          </p:cNvSpPr>
          <p:nvPr/>
        </p:nvSpPr>
        <p:spPr bwMode="auto">
          <a:xfrm>
            <a:off x="211138" y="973138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中央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主极大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的光强 </a:t>
            </a:r>
          </a:p>
        </p:txBody>
      </p:sp>
      <p:sp>
        <p:nvSpPr>
          <p:cNvPr id="11302" name="Text Box 38"/>
          <p:cNvSpPr txBox="1">
            <a:spLocks noChangeArrowheads="1"/>
          </p:cNvSpPr>
          <p:nvPr/>
        </p:nvSpPr>
        <p:spPr bwMode="auto">
          <a:xfrm>
            <a:off x="409575" y="4794250"/>
            <a:ext cx="4895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0.045</a:t>
            </a:r>
            <a:r>
              <a:rPr lang="en-US" altLang="zh-CN" sz="2800" b="1" i="1">
                <a:solidFill>
                  <a:schemeClr val="tx1"/>
                </a:solidFill>
              </a:rPr>
              <a:t> </a:t>
            </a:r>
            <a:r>
              <a:rPr lang="en-US" altLang="zh-CN" sz="2800" b="1">
                <a:solidFill>
                  <a:schemeClr val="tx1"/>
                </a:solidFill>
              </a:rPr>
              <a:t>,  0.016</a:t>
            </a:r>
            <a:r>
              <a:rPr lang="en-US" altLang="zh-CN" sz="2800" b="1" i="1">
                <a:solidFill>
                  <a:schemeClr val="tx1"/>
                </a:solidFill>
              </a:rPr>
              <a:t> </a:t>
            </a:r>
            <a:r>
              <a:rPr lang="en-US" altLang="zh-CN" sz="2800" b="1" i="1" baseline="-25000">
                <a:solidFill>
                  <a:schemeClr val="tx1"/>
                </a:solidFill>
              </a:rPr>
              <a:t> </a:t>
            </a:r>
            <a:r>
              <a:rPr lang="en-US" altLang="zh-CN" sz="2800" b="1">
                <a:solidFill>
                  <a:schemeClr val="tx1"/>
                </a:solidFill>
              </a:rPr>
              <a:t>,  0.0083</a:t>
            </a:r>
            <a:r>
              <a:rPr lang="en-US" altLang="zh-CN" sz="2800" b="1" i="1">
                <a:solidFill>
                  <a:schemeClr val="tx1"/>
                </a:solidFill>
              </a:rPr>
              <a:t> </a:t>
            </a:r>
            <a:r>
              <a:rPr lang="en-US" altLang="zh-CN" sz="2800" b="1" i="1" baseline="-25000">
                <a:solidFill>
                  <a:schemeClr val="tx1"/>
                </a:solidFill>
              </a:rPr>
              <a:t> </a:t>
            </a:r>
            <a:r>
              <a:rPr lang="en-US" altLang="zh-CN" sz="2800" b="1">
                <a:solidFill>
                  <a:schemeClr val="tx1"/>
                </a:solidFill>
              </a:rPr>
              <a:t>,  …</a:t>
            </a:r>
          </a:p>
        </p:txBody>
      </p:sp>
      <p:sp>
        <p:nvSpPr>
          <p:cNvPr id="11303" name="Text Box 39"/>
          <p:cNvSpPr txBox="1">
            <a:spLocks noChangeArrowheads="1"/>
          </p:cNvSpPr>
          <p:nvPr/>
        </p:nvSpPr>
        <p:spPr bwMode="auto">
          <a:xfrm>
            <a:off x="4945063" y="479425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∴  </a:t>
            </a:r>
            <a:r>
              <a:rPr lang="en-US" altLang="zh-CN" sz="2800" b="1" i="1">
                <a:solidFill>
                  <a:srgbClr val="FF0000"/>
                </a:solidFill>
              </a:rPr>
              <a:t>I</a:t>
            </a:r>
            <a:r>
              <a:rPr lang="zh-CN" altLang="en-US" sz="2800" b="1" baseline="-25000">
                <a:solidFill>
                  <a:srgbClr val="FF0000"/>
                </a:solidFill>
              </a:rPr>
              <a:t>次极大</a:t>
            </a:r>
            <a:r>
              <a:rPr lang="zh-CN" altLang="en-US" sz="2800" b="1">
                <a:solidFill>
                  <a:srgbClr val="FF0000"/>
                </a:solidFill>
              </a:rPr>
              <a:t> </a:t>
            </a:r>
            <a:r>
              <a:rPr lang="en-US" altLang="zh-CN" sz="2800" b="1">
                <a:solidFill>
                  <a:srgbClr val="FF0000"/>
                </a:solidFill>
              </a:rPr>
              <a:t>&lt;&lt;  </a:t>
            </a:r>
            <a:r>
              <a:rPr lang="en-US" altLang="zh-CN" sz="2800" b="1" i="1">
                <a:solidFill>
                  <a:srgbClr val="FF0000"/>
                </a:solidFill>
              </a:rPr>
              <a:t>I</a:t>
            </a:r>
            <a:r>
              <a:rPr lang="zh-CN" altLang="en-US" sz="2800" b="1" baseline="-25000">
                <a:solidFill>
                  <a:srgbClr val="FF0000"/>
                </a:solidFill>
              </a:rPr>
              <a:t>主极大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11308" name="Text Box 44"/>
          <p:cNvSpPr txBox="1">
            <a:spLocks noChangeArrowheads="1"/>
          </p:cNvSpPr>
          <p:nvPr/>
        </p:nvSpPr>
        <p:spPr bwMode="auto">
          <a:xfrm>
            <a:off x="2627313" y="1695450"/>
            <a:ext cx="5784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从</a:t>
            </a:r>
            <a:r>
              <a:rPr lang="zh-CN" altLang="en-US" sz="2800" b="1">
                <a:solidFill>
                  <a:srgbClr val="FF0000"/>
                </a:solidFill>
              </a:rPr>
              <a:t>中央往外</a:t>
            </a:r>
            <a:r>
              <a:rPr lang="zh-CN" altLang="en-US" sz="2800" b="1">
                <a:solidFill>
                  <a:schemeClr val="tx1"/>
                </a:solidFill>
              </a:rPr>
              <a:t>各次极大的光强依次为</a:t>
            </a:r>
          </a:p>
        </p:txBody>
      </p:sp>
      <p:sp>
        <p:nvSpPr>
          <p:cNvPr id="11311" name="Text Box 47"/>
          <p:cNvSpPr txBox="1">
            <a:spLocks noChangeArrowheads="1"/>
          </p:cNvSpPr>
          <p:nvPr/>
        </p:nvSpPr>
        <p:spPr bwMode="auto">
          <a:xfrm>
            <a:off x="250825" y="1695450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次极大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的光强：</a:t>
            </a:r>
          </a:p>
        </p:txBody>
      </p:sp>
      <p:sp>
        <p:nvSpPr>
          <p:cNvPr id="22535" name="矩形 1"/>
          <p:cNvSpPr>
            <a:spLocks noChangeArrowheads="1"/>
          </p:cNvSpPr>
          <p:nvPr/>
        </p:nvSpPr>
        <p:spPr bwMode="auto">
          <a:xfrm>
            <a:off x="266700" y="328613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光强分布</a:t>
            </a:r>
            <a:endParaRPr lang="en-US" altLang="zh-CN" sz="28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463" y="752475"/>
            <a:ext cx="17526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363" y="720725"/>
            <a:ext cx="1809750" cy="93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2309813"/>
            <a:ext cx="6813550" cy="224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26" descr="dov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487299" y="194468"/>
            <a:ext cx="656701" cy="65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460" y="-20006"/>
            <a:ext cx="3133905" cy="911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71412BD-71CF-4250-B610-5936613F89F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086" r="10874"/>
          <a:stretch/>
        </p:blipFill>
        <p:spPr>
          <a:xfrm>
            <a:off x="922337" y="5388472"/>
            <a:ext cx="7227365" cy="1363081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75"/>
                                        <p:tgtEl>
                                          <p:spTgt spid="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1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01" grpId="0" autoUpdateAnimBg="0"/>
      <p:bldP spid="11302" grpId="0" autoUpdateAnimBg="0"/>
      <p:bldP spid="11303" grpId="0" autoUpdateAnimBg="0"/>
      <p:bldP spid="11308" grpId="0" autoUpdateAnimBg="0"/>
      <p:bldP spid="1131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43"/>
          <p:cNvGrpSpPr>
            <a:grpSpLocks/>
          </p:cNvGrpSpPr>
          <p:nvPr/>
        </p:nvGrpSpPr>
        <p:grpSpPr bwMode="auto">
          <a:xfrm>
            <a:off x="579438" y="1484313"/>
            <a:ext cx="7847012" cy="4152900"/>
            <a:chOff x="340" y="935"/>
            <a:chExt cx="4943" cy="2616"/>
          </a:xfrm>
        </p:grpSpPr>
        <p:graphicFrame>
          <p:nvGraphicFramePr>
            <p:cNvPr id="23582" name="Object 2"/>
            <p:cNvGraphicFramePr>
              <a:graphicFrameLocks noChangeAspect="1"/>
            </p:cNvGraphicFramePr>
            <p:nvPr/>
          </p:nvGraphicFramePr>
          <p:xfrm>
            <a:off x="340" y="935"/>
            <a:ext cx="4943" cy="2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52" name="BMP 图像" r:id="rId3" imgW="0" imgH="0" progId="Paint.Picture">
                    <p:embed/>
                  </p:oleObj>
                </mc:Choice>
                <mc:Fallback>
                  <p:oleObj name="BMP 图像" r:id="rId3" imgW="0" imgH="0" progId="Paint.Picture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935"/>
                          <a:ext cx="4943" cy="26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83" name="Group 25"/>
            <p:cNvGrpSpPr>
              <a:grpSpLocks/>
            </p:cNvGrpSpPr>
            <p:nvPr/>
          </p:nvGrpSpPr>
          <p:grpSpPr bwMode="auto">
            <a:xfrm>
              <a:off x="1066" y="3116"/>
              <a:ext cx="2976" cy="133"/>
              <a:chOff x="1344" y="2976"/>
              <a:chExt cx="2976" cy="144"/>
            </a:xfrm>
          </p:grpSpPr>
          <p:sp>
            <p:nvSpPr>
              <p:cNvPr id="23586" name="Line 26"/>
              <p:cNvSpPr>
                <a:spLocks noChangeShapeType="1"/>
              </p:cNvSpPr>
              <p:nvPr/>
            </p:nvSpPr>
            <p:spPr bwMode="auto">
              <a:xfrm>
                <a:off x="2352" y="297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7" name="Line 27"/>
              <p:cNvSpPr>
                <a:spLocks noChangeShapeType="1"/>
              </p:cNvSpPr>
              <p:nvPr/>
            </p:nvSpPr>
            <p:spPr bwMode="auto">
              <a:xfrm>
                <a:off x="3360" y="297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8" name="Line 28"/>
              <p:cNvSpPr>
                <a:spLocks noChangeShapeType="1"/>
              </p:cNvSpPr>
              <p:nvPr/>
            </p:nvSpPr>
            <p:spPr bwMode="auto">
              <a:xfrm>
                <a:off x="3840" y="297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9" name="Line 29"/>
              <p:cNvSpPr>
                <a:spLocks noChangeShapeType="1"/>
              </p:cNvSpPr>
              <p:nvPr/>
            </p:nvSpPr>
            <p:spPr bwMode="auto">
              <a:xfrm>
                <a:off x="1872" y="297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0" name="Line 30"/>
              <p:cNvSpPr>
                <a:spLocks noChangeShapeType="1"/>
              </p:cNvSpPr>
              <p:nvPr/>
            </p:nvSpPr>
            <p:spPr bwMode="auto">
              <a:xfrm>
                <a:off x="4320" y="3024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1" name="Line 31"/>
              <p:cNvSpPr>
                <a:spLocks noChangeShapeType="1"/>
              </p:cNvSpPr>
              <p:nvPr/>
            </p:nvSpPr>
            <p:spPr bwMode="auto">
              <a:xfrm>
                <a:off x="1344" y="297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584" name="Rectangle 33"/>
            <p:cNvSpPr>
              <a:spLocks noChangeArrowheads="1"/>
            </p:cNvSpPr>
            <p:nvPr/>
          </p:nvSpPr>
          <p:spPr bwMode="auto">
            <a:xfrm>
              <a:off x="1973" y="935"/>
              <a:ext cx="454" cy="4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aphicFrame>
          <p:nvGraphicFramePr>
            <p:cNvPr id="23585" name="Object 34"/>
            <p:cNvGraphicFramePr>
              <a:graphicFrameLocks noChangeAspect="1"/>
            </p:cNvGraphicFramePr>
            <p:nvPr/>
          </p:nvGraphicFramePr>
          <p:xfrm>
            <a:off x="2061" y="935"/>
            <a:ext cx="264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53" name="Equation" r:id="rId5" imgW="418918" imgH="774364" progId="Equation.DSMT4">
                    <p:embed/>
                  </p:oleObj>
                </mc:Choice>
                <mc:Fallback>
                  <p:oleObj name="Equation" r:id="rId5" imgW="418918" imgH="774364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1" y="935"/>
                          <a:ext cx="264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604843"/>
              </p:ext>
            </p:extLst>
          </p:nvPr>
        </p:nvGraphicFramePr>
        <p:xfrm>
          <a:off x="5457825" y="2200275"/>
          <a:ext cx="1612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54" name="Equation" r:id="rId7" imgW="1625600" imgH="673100" progId="Equation.DSMT4">
                  <p:embed/>
                </p:oleObj>
              </mc:Choice>
              <mc:Fallback>
                <p:oleObj name="Equation" r:id="rId7" imgW="1625600" imgH="6731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825" y="2200275"/>
                        <a:ext cx="1612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3" name="Object 21"/>
          <p:cNvGraphicFramePr>
            <a:graphicFrameLocks noChangeAspect="1"/>
          </p:cNvGraphicFramePr>
          <p:nvPr/>
        </p:nvGraphicFramePr>
        <p:xfrm>
          <a:off x="5486400" y="3044825"/>
          <a:ext cx="16573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55" name="Equation" r:id="rId9" imgW="1816100" imgH="1054100" progId="Equation.DSMT4">
                  <p:embed/>
                </p:oleObj>
              </mc:Choice>
              <mc:Fallback>
                <p:oleObj name="Equation" r:id="rId9" imgW="1816100" imgH="10541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044825"/>
                        <a:ext cx="165735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714375" y="404813"/>
            <a:ext cx="6305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单缝夫琅和费衍射的强度分布图</a:t>
            </a:r>
          </a:p>
        </p:txBody>
      </p:sp>
      <p:sp>
        <p:nvSpPr>
          <p:cNvPr id="23560" name="Rectangle 23"/>
          <p:cNvSpPr>
            <a:spLocks noChangeArrowheads="1"/>
          </p:cNvSpPr>
          <p:nvPr/>
        </p:nvSpPr>
        <p:spPr bwMode="auto">
          <a:xfrm>
            <a:off x="1403350" y="5229225"/>
            <a:ext cx="5616575" cy="504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13347" name="Object 35"/>
          <p:cNvGraphicFramePr>
            <a:graphicFrameLocks noChangeAspect="1"/>
          </p:cNvGraphicFramePr>
          <p:nvPr/>
        </p:nvGraphicFramePr>
        <p:xfrm>
          <a:off x="4727575" y="5099050"/>
          <a:ext cx="334963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56" name="Equation" r:id="rId11" imgW="317362" imgH="672808" progId="Equation.DSMT4">
                  <p:embed/>
                </p:oleObj>
              </mc:Choice>
              <mc:Fallback>
                <p:oleObj name="Equation" r:id="rId11" imgW="317362" imgH="672808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5099050"/>
                        <a:ext cx="334963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8" name="Object 36"/>
          <p:cNvGraphicFramePr>
            <a:graphicFrameLocks noChangeAspect="1"/>
          </p:cNvGraphicFramePr>
          <p:nvPr/>
        </p:nvGraphicFramePr>
        <p:xfrm>
          <a:off x="2938463" y="5099050"/>
          <a:ext cx="560387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57" name="Equation" r:id="rId13" imgW="533169" imgH="672808" progId="Equation.DSMT4">
                  <p:embed/>
                </p:oleObj>
              </mc:Choice>
              <mc:Fallback>
                <p:oleObj name="Equation" r:id="rId13" imgW="533169" imgH="672808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3" y="5099050"/>
                        <a:ext cx="560387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9" name="Object 37"/>
          <p:cNvGraphicFramePr>
            <a:graphicFrameLocks noChangeAspect="1"/>
          </p:cNvGraphicFramePr>
          <p:nvPr/>
        </p:nvGraphicFramePr>
        <p:xfrm>
          <a:off x="5434013" y="5099050"/>
          <a:ext cx="506412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58" name="Equation" r:id="rId15" imgW="482391" imgH="672808" progId="Equation.DSMT4">
                  <p:embed/>
                </p:oleObj>
              </mc:Choice>
              <mc:Fallback>
                <p:oleObj name="Equation" r:id="rId15" imgW="482391" imgH="672808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4013" y="5099050"/>
                        <a:ext cx="506412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0" name="Object 38"/>
          <p:cNvGraphicFramePr>
            <a:graphicFrameLocks noChangeAspect="1"/>
          </p:cNvGraphicFramePr>
          <p:nvPr/>
        </p:nvGraphicFramePr>
        <p:xfrm>
          <a:off x="2014538" y="5099050"/>
          <a:ext cx="733425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59" name="Equation" r:id="rId17" imgW="698197" imgH="672808" progId="Equation.DSMT4">
                  <p:embed/>
                </p:oleObj>
              </mc:Choice>
              <mc:Fallback>
                <p:oleObj name="Equation" r:id="rId17" imgW="698197" imgH="672808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38" y="5099050"/>
                        <a:ext cx="733425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5" name="Text Box 42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12</a:t>
            </a:r>
            <a:endParaRPr lang="en-US" altLang="zh-CN" sz="1800"/>
          </a:p>
        </p:txBody>
      </p:sp>
      <p:sp>
        <p:nvSpPr>
          <p:cNvPr id="23566" name="Line 44"/>
          <p:cNvSpPr>
            <a:spLocks noChangeShapeType="1"/>
          </p:cNvSpPr>
          <p:nvPr/>
        </p:nvSpPr>
        <p:spPr bwMode="auto">
          <a:xfrm>
            <a:off x="736600" y="5111750"/>
            <a:ext cx="7443788" cy="11113"/>
          </a:xfrm>
          <a:prstGeom prst="line">
            <a:avLst/>
          </a:prstGeom>
          <a:noFill/>
          <a:ln w="5715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7" name="Line 45"/>
          <p:cNvSpPr>
            <a:spLocks noChangeShapeType="1"/>
          </p:cNvSpPr>
          <p:nvPr/>
        </p:nvSpPr>
        <p:spPr bwMode="auto">
          <a:xfrm flipV="1">
            <a:off x="4114800" y="1558925"/>
            <a:ext cx="34925" cy="3517900"/>
          </a:xfrm>
          <a:prstGeom prst="line">
            <a:avLst/>
          </a:prstGeom>
          <a:noFill/>
          <a:ln w="5715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Rectangle 8"/>
          <p:cNvSpPr>
            <a:spLocks noChangeArrowheads="1"/>
          </p:cNvSpPr>
          <p:nvPr/>
        </p:nvSpPr>
        <p:spPr bwMode="auto">
          <a:xfrm>
            <a:off x="4932363" y="4183063"/>
            <a:ext cx="1217612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</a:rPr>
              <a:t>0.045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5757863" y="4346575"/>
            <a:ext cx="1370012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</a:rPr>
              <a:t>0.016</a:t>
            </a:r>
          </a:p>
        </p:txBody>
      </p:sp>
      <p:sp>
        <p:nvSpPr>
          <p:cNvPr id="37" name="Rectangle 28"/>
          <p:cNvSpPr>
            <a:spLocks noChangeArrowheads="1"/>
          </p:cNvSpPr>
          <p:nvPr/>
        </p:nvSpPr>
        <p:spPr bwMode="auto">
          <a:xfrm>
            <a:off x="2667000" y="4140200"/>
            <a:ext cx="100965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</a:rPr>
              <a:t>0.045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8" name="Rectangle 29"/>
          <p:cNvSpPr>
            <a:spLocks noChangeArrowheads="1"/>
          </p:cNvSpPr>
          <p:nvPr/>
        </p:nvSpPr>
        <p:spPr bwMode="auto">
          <a:xfrm>
            <a:off x="1836738" y="4398963"/>
            <a:ext cx="1141412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</a:rPr>
              <a:t>0.016</a:t>
            </a:r>
          </a:p>
        </p:txBody>
      </p:sp>
      <p:sp>
        <p:nvSpPr>
          <p:cNvPr id="23572" name="文本框 3"/>
          <p:cNvSpPr txBox="1">
            <a:spLocks noChangeArrowheads="1"/>
          </p:cNvSpPr>
          <p:nvPr/>
        </p:nvSpPr>
        <p:spPr bwMode="auto">
          <a:xfrm>
            <a:off x="7234238" y="5187950"/>
            <a:ext cx="722312" cy="460375"/>
          </a:xfrm>
          <a:prstGeom prst="rect">
            <a:avLst/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l-GR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75261" y="919754"/>
            <a:ext cx="3300549" cy="122734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6C1B843F-A280-46C7-81BA-2DF43F7840BD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10086" r="10874"/>
          <a:stretch/>
        </p:blipFill>
        <p:spPr>
          <a:xfrm>
            <a:off x="1125304" y="5834063"/>
            <a:ext cx="6029328" cy="923429"/>
          </a:xfrm>
          <a:prstGeom prst="rect">
            <a:avLst/>
          </a:prstGeom>
        </p:spPr>
      </p:pic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4" grpId="0" autoUpdateAnimBg="0"/>
      <p:bldP spid="35" grpId="0"/>
      <p:bldP spid="36" grpId="0"/>
      <p:bldP spid="37" grpId="0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003675" y="2019300"/>
            <a:ext cx="4895850" cy="352742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539750" y="177323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方正书宋简体"/>
              </a:rPr>
              <a:t>次极大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条纹的宽度 </a:t>
            </a:r>
          </a:p>
        </p:txBody>
      </p:sp>
      <p:sp>
        <p:nvSpPr>
          <p:cNvPr id="12366" name="Text Box 78"/>
          <p:cNvSpPr txBox="1">
            <a:spLocks noChangeArrowheads="1"/>
          </p:cNvSpPr>
          <p:nvPr/>
        </p:nvSpPr>
        <p:spPr bwMode="auto">
          <a:xfrm>
            <a:off x="827088" y="5421313"/>
            <a:ext cx="1152525" cy="538162"/>
          </a:xfrm>
          <a:prstGeom prst="rect">
            <a:avLst/>
          </a:prstGeom>
          <a:solidFill>
            <a:srgbClr val="FFFF00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结论</a:t>
            </a:r>
          </a:p>
        </p:txBody>
      </p:sp>
      <p:sp>
        <p:nvSpPr>
          <p:cNvPr id="12396" name="Text Box 108"/>
          <p:cNvSpPr txBox="1">
            <a:spLocks noChangeArrowheads="1"/>
          </p:cNvSpPr>
          <p:nvPr/>
        </p:nvSpPr>
        <p:spPr bwMode="auto">
          <a:xfrm>
            <a:off x="468313" y="549275"/>
            <a:ext cx="45354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方正书宋简体"/>
              </a:rPr>
              <a:t>中央主极大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条纹的宽度 </a:t>
            </a:r>
          </a:p>
        </p:txBody>
      </p:sp>
      <p:sp>
        <p:nvSpPr>
          <p:cNvPr id="12399" name="AutoShape 111"/>
          <p:cNvSpPr>
            <a:spLocks noChangeArrowheads="1"/>
          </p:cNvSpPr>
          <p:nvPr/>
        </p:nvSpPr>
        <p:spPr bwMode="auto">
          <a:xfrm>
            <a:off x="3348038" y="1341438"/>
            <a:ext cx="433387" cy="288925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400" name="AutoShape 112"/>
          <p:cNvSpPr>
            <a:spLocks noChangeArrowheads="1"/>
          </p:cNvSpPr>
          <p:nvPr/>
        </p:nvSpPr>
        <p:spPr bwMode="auto">
          <a:xfrm>
            <a:off x="6011863" y="1341438"/>
            <a:ext cx="433387" cy="288925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408" name="Text Box 120"/>
          <p:cNvSpPr txBox="1">
            <a:spLocks noChangeArrowheads="1"/>
          </p:cNvSpPr>
          <p:nvPr/>
        </p:nvSpPr>
        <p:spPr bwMode="auto">
          <a:xfrm>
            <a:off x="971550" y="6070600"/>
            <a:ext cx="7561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次极大条纹的宽度是中央主极大宽度的一半。</a:t>
            </a:r>
          </a:p>
        </p:txBody>
      </p:sp>
      <p:sp>
        <p:nvSpPr>
          <p:cNvPr id="24585" name="矩形 71"/>
          <p:cNvSpPr>
            <a:spLocks noChangeArrowheads="1"/>
          </p:cNvSpPr>
          <p:nvPr/>
        </p:nvSpPr>
        <p:spPr bwMode="auto">
          <a:xfrm>
            <a:off x="439738" y="87313"/>
            <a:ext cx="1627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条纹宽度</a:t>
            </a:r>
            <a:endParaRPr lang="en-US" altLang="zh-CN" sz="28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6" name="矩形 75"/>
          <p:cNvSpPr>
            <a:spLocks noChangeArrowheads="1"/>
          </p:cNvSpPr>
          <p:nvPr/>
        </p:nvSpPr>
        <p:spPr bwMode="auto">
          <a:xfrm>
            <a:off x="31750" y="2862263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角宽度</a:t>
            </a:r>
          </a:p>
        </p:txBody>
      </p:sp>
      <p:sp>
        <p:nvSpPr>
          <p:cNvPr id="77" name="矩形 76"/>
          <p:cNvSpPr>
            <a:spLocks noChangeArrowheads="1"/>
          </p:cNvSpPr>
          <p:nvPr/>
        </p:nvSpPr>
        <p:spPr bwMode="auto">
          <a:xfrm>
            <a:off x="38100" y="4492625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线宽度</a:t>
            </a:r>
          </a:p>
        </p:txBody>
      </p:sp>
      <p:pic>
        <p:nvPicPr>
          <p:cNvPr id="24588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25" y="2236788"/>
            <a:ext cx="4478338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8" y="1085850"/>
            <a:ext cx="2225675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088" y="1087438"/>
            <a:ext cx="2001837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288" y="1046163"/>
            <a:ext cx="1765300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2274888"/>
            <a:ext cx="2659063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25" y="2716213"/>
            <a:ext cx="263525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975" y="3376613"/>
            <a:ext cx="12573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4364038"/>
            <a:ext cx="2333625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281488" y="879475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角宽度</a:t>
            </a:r>
          </a:p>
        </p:txBody>
      </p:sp>
      <p:sp>
        <p:nvSpPr>
          <p:cNvPr id="75" name="矩形 74"/>
          <p:cNvSpPr>
            <a:spLocks noChangeArrowheads="1"/>
          </p:cNvSpPr>
          <p:nvPr/>
        </p:nvSpPr>
        <p:spPr bwMode="auto">
          <a:xfrm>
            <a:off x="6819900" y="838200"/>
            <a:ext cx="1106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线宽度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2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366" grpId="0" animBg="1"/>
      <p:bldP spid="12396" grpId="0"/>
      <p:bldP spid="12399" grpId="0" animBg="1"/>
      <p:bldP spid="12400" grpId="0" animBg="1"/>
      <p:bldP spid="12408" grpId="0"/>
      <p:bldP spid="76" grpId="0"/>
      <p:bldP spid="77" grpId="0"/>
      <p:bldP spid="3" grpId="0"/>
      <p:bldP spid="7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2427288" y="1544638"/>
            <a:ext cx="48244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波长越长，条纹宽度越宽</a:t>
            </a:r>
          </a:p>
        </p:txBody>
      </p:sp>
      <p:sp>
        <p:nvSpPr>
          <p:cNvPr id="152586" name="Text Box 10"/>
          <p:cNvSpPr txBox="1">
            <a:spLocks noChangeArrowheads="1"/>
          </p:cNvSpPr>
          <p:nvPr/>
        </p:nvSpPr>
        <p:spPr bwMode="auto">
          <a:xfrm>
            <a:off x="3798888" y="3508375"/>
            <a:ext cx="25923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方正书宋简体"/>
                <a:ea typeface="黑体" panose="02010609060101010101" pitchFamily="49" charset="-122"/>
              </a:rPr>
              <a:t>屏幕是一片亮</a:t>
            </a:r>
            <a:endParaRPr lang="zh-CN" altLang="en-US" sz="280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grpSp>
        <p:nvGrpSpPr>
          <p:cNvPr id="152587" name="Group 11"/>
          <p:cNvGrpSpPr>
            <a:grpSpLocks/>
          </p:cNvGrpSpPr>
          <p:nvPr/>
        </p:nvGrpSpPr>
        <p:grpSpPr bwMode="auto">
          <a:xfrm>
            <a:off x="5257800" y="3919538"/>
            <a:ext cx="3886200" cy="1447800"/>
            <a:chOff x="3312" y="288"/>
            <a:chExt cx="2448" cy="912"/>
          </a:xfrm>
        </p:grpSpPr>
        <p:grpSp>
          <p:nvGrpSpPr>
            <p:cNvPr id="25623" name="Group 12"/>
            <p:cNvGrpSpPr>
              <a:grpSpLocks/>
            </p:cNvGrpSpPr>
            <p:nvPr/>
          </p:nvGrpSpPr>
          <p:grpSpPr bwMode="auto">
            <a:xfrm>
              <a:off x="3312" y="288"/>
              <a:ext cx="1947" cy="822"/>
              <a:chOff x="3312" y="288"/>
              <a:chExt cx="1947" cy="822"/>
            </a:xfrm>
          </p:grpSpPr>
          <p:sp>
            <p:nvSpPr>
              <p:cNvPr id="25625" name="Line 13"/>
              <p:cNvSpPr>
                <a:spLocks noChangeShapeType="1"/>
              </p:cNvSpPr>
              <p:nvPr/>
            </p:nvSpPr>
            <p:spPr bwMode="auto">
              <a:xfrm>
                <a:off x="3312" y="921"/>
                <a:ext cx="194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6" name="Line 14"/>
              <p:cNvSpPr>
                <a:spLocks noChangeShapeType="1"/>
              </p:cNvSpPr>
              <p:nvPr/>
            </p:nvSpPr>
            <p:spPr bwMode="auto">
              <a:xfrm>
                <a:off x="4215" y="374"/>
                <a:ext cx="1" cy="5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7" name="Line 15"/>
              <p:cNvSpPr>
                <a:spLocks noChangeShapeType="1"/>
              </p:cNvSpPr>
              <p:nvPr/>
            </p:nvSpPr>
            <p:spPr bwMode="auto">
              <a:xfrm>
                <a:off x="3381" y="667"/>
                <a:ext cx="173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8" name="Rectangle 16"/>
              <p:cNvSpPr>
                <a:spLocks noChangeArrowheads="1"/>
              </p:cNvSpPr>
              <p:nvPr/>
            </p:nvSpPr>
            <p:spPr bwMode="auto">
              <a:xfrm>
                <a:off x="4320" y="288"/>
                <a:ext cx="144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800" i="1">
                    <a:solidFill>
                      <a:schemeClr val="tx1"/>
                    </a:solidFill>
                  </a:rPr>
                  <a:t>I</a:t>
                </a:r>
              </a:p>
            </p:txBody>
          </p:sp>
          <p:sp>
            <p:nvSpPr>
              <p:cNvPr id="25629" name="Rectangle 17"/>
              <p:cNvSpPr>
                <a:spLocks noChangeArrowheads="1"/>
              </p:cNvSpPr>
              <p:nvPr/>
            </p:nvSpPr>
            <p:spPr bwMode="auto">
              <a:xfrm>
                <a:off x="4192" y="923"/>
                <a:ext cx="279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chemeClr val="tx1"/>
                    </a:solidFill>
                  </a:rPr>
                  <a:t>0</a:t>
                </a:r>
                <a:endParaRPr lang="en-US" altLang="zh-C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624" name="Rectangle 18"/>
            <p:cNvSpPr>
              <a:spLocks noChangeArrowheads="1"/>
            </p:cNvSpPr>
            <p:nvPr/>
          </p:nvSpPr>
          <p:spPr bwMode="auto">
            <a:xfrm>
              <a:off x="5019" y="908"/>
              <a:ext cx="741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sin</a:t>
              </a:r>
              <a:r>
                <a:rPr lang="en-US" altLang="zh-CN" sz="1800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1800" i="1">
                <a:solidFill>
                  <a:schemeClr val="tx1"/>
                </a:solidFill>
              </a:endParaRPr>
            </a:p>
            <a:p>
              <a:pPr algn="just">
                <a:spcBef>
                  <a:spcPct val="0"/>
                </a:spcBef>
                <a:buFontTx/>
                <a:buNone/>
              </a:pPr>
              <a:endParaRPr lang="en-US" altLang="zh-CN" sz="1800" i="1">
                <a:solidFill>
                  <a:schemeClr val="tx1"/>
                </a:solidFill>
              </a:endParaRPr>
            </a:p>
          </p:txBody>
        </p:sp>
      </p:grpSp>
      <p:sp>
        <p:nvSpPr>
          <p:cNvPr id="152655" name="Text Box 79"/>
          <p:cNvSpPr txBox="1">
            <a:spLocks noChangeArrowheads="1"/>
          </p:cNvSpPr>
          <p:nvPr/>
        </p:nvSpPr>
        <p:spPr bwMode="auto">
          <a:xfrm>
            <a:off x="3563938" y="2636838"/>
            <a:ext cx="487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方正书宋简体"/>
                <a:ea typeface="黑体" panose="02010609060101010101" pitchFamily="49" charset="-122"/>
              </a:rPr>
              <a:t>缝宽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latin typeface="方正书宋简体"/>
                <a:ea typeface="黑体" panose="02010609060101010101" pitchFamily="49" charset="-122"/>
              </a:rPr>
              <a:t>越小，条纹宽度越宽</a:t>
            </a:r>
            <a:endParaRPr lang="zh-CN" altLang="en-US" sz="280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pSp>
        <p:nvGrpSpPr>
          <p:cNvPr id="152659" name="Group 83"/>
          <p:cNvGrpSpPr>
            <a:grpSpLocks/>
          </p:cNvGrpSpPr>
          <p:nvPr/>
        </p:nvGrpSpPr>
        <p:grpSpPr bwMode="auto">
          <a:xfrm>
            <a:off x="3746500" y="4530725"/>
            <a:ext cx="974725" cy="469900"/>
            <a:chOff x="2009" y="3443"/>
            <a:chExt cx="614" cy="296"/>
          </a:xfrm>
        </p:grpSpPr>
        <p:sp>
          <p:nvSpPr>
            <p:cNvPr id="25619" name="Rectangle 84"/>
            <p:cNvSpPr>
              <a:spLocks noChangeArrowheads="1"/>
            </p:cNvSpPr>
            <p:nvPr/>
          </p:nvSpPr>
          <p:spPr bwMode="auto">
            <a:xfrm>
              <a:off x="2497" y="3468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</a:rPr>
                <a:t>0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25620" name="Rectangle 85"/>
            <p:cNvSpPr>
              <a:spLocks noChangeArrowheads="1"/>
            </p:cNvSpPr>
            <p:nvPr/>
          </p:nvSpPr>
          <p:spPr bwMode="auto">
            <a:xfrm>
              <a:off x="2284" y="3443"/>
              <a:ext cx="22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®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25621" name="Rectangle 86"/>
            <p:cNvSpPr>
              <a:spLocks noChangeArrowheads="1"/>
            </p:cNvSpPr>
            <p:nvPr/>
          </p:nvSpPr>
          <p:spPr bwMode="auto">
            <a:xfrm>
              <a:off x="2137" y="3456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x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25622" name="Rectangle 87"/>
            <p:cNvSpPr>
              <a:spLocks noChangeArrowheads="1"/>
            </p:cNvSpPr>
            <p:nvPr/>
          </p:nvSpPr>
          <p:spPr bwMode="auto">
            <a:xfrm>
              <a:off x="2009" y="3443"/>
              <a:ext cx="13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D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</p:grpSp>
      <p:sp>
        <p:nvSpPr>
          <p:cNvPr id="152664" name="Text Box 88"/>
          <p:cNvSpPr txBox="1">
            <a:spLocks noChangeArrowheads="1"/>
          </p:cNvSpPr>
          <p:nvPr/>
        </p:nvSpPr>
        <p:spPr bwMode="auto">
          <a:xfrm>
            <a:off x="573088" y="5227638"/>
            <a:ext cx="7558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只显出单一的明条纹 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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单缝的几何光学像</a:t>
            </a:r>
            <a:endParaRPr lang="zh-CN" altLang="en-US" sz="280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152666" name="Text Box 90"/>
          <p:cNvSpPr txBox="1">
            <a:spLocks noChangeArrowheads="1"/>
          </p:cNvSpPr>
          <p:nvPr/>
        </p:nvSpPr>
        <p:spPr bwMode="auto">
          <a:xfrm>
            <a:off x="468313" y="10525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1º  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波长对条纹宽度的影响   </a:t>
            </a:r>
          </a:p>
        </p:txBody>
      </p:sp>
      <p:sp>
        <p:nvSpPr>
          <p:cNvPr id="152669" name="Text Box 93"/>
          <p:cNvSpPr txBox="1">
            <a:spLocks noChangeArrowheads="1"/>
          </p:cNvSpPr>
          <p:nvPr/>
        </p:nvSpPr>
        <p:spPr bwMode="auto">
          <a:xfrm>
            <a:off x="468313" y="2060575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2º  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缝宽变化对条纹的影响</a:t>
            </a:r>
          </a:p>
        </p:txBody>
      </p:sp>
      <p:sp>
        <p:nvSpPr>
          <p:cNvPr id="152671" name="Text Box 95"/>
          <p:cNvSpPr txBox="1">
            <a:spLocks noChangeArrowheads="1"/>
          </p:cNvSpPr>
          <p:nvPr/>
        </p:nvSpPr>
        <p:spPr bwMode="auto">
          <a:xfrm>
            <a:off x="563563" y="5876925"/>
            <a:ext cx="7920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ea typeface="黑体" panose="02010609060101010101" pitchFamily="49" charset="-122"/>
              </a:rPr>
              <a:t>∴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几何光学是波动光学在</a:t>
            </a:r>
            <a:r>
              <a:rPr lang="zh-CN" altLang="en-US" sz="2800" b="1" i="1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 </a:t>
            </a:r>
            <a:r>
              <a:rPr lang="en-US" altLang="zh-CN" sz="2800" b="1" i="1">
                <a:solidFill>
                  <a:srgbClr val="FF0000"/>
                </a:solidFill>
                <a:ea typeface="黑体" panose="02010609060101010101" pitchFamily="49" charset="-122"/>
              </a:rPr>
              <a:t>/a</a:t>
            </a: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i="1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0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时的极限情形</a:t>
            </a:r>
            <a:endParaRPr lang="zh-CN" altLang="en-US" sz="280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25611" name="AutoShape 101"/>
          <p:cNvSpPr>
            <a:spLocks noChangeArrowheads="1"/>
          </p:cNvSpPr>
          <p:nvPr/>
        </p:nvSpPr>
        <p:spPr bwMode="auto">
          <a:xfrm>
            <a:off x="323850" y="260350"/>
            <a:ext cx="1371600" cy="685800"/>
          </a:xfrm>
          <a:prstGeom prst="cloudCallout">
            <a:avLst>
              <a:gd name="adj1" fmla="val 69907"/>
              <a:gd name="adj2" fmla="val 66898"/>
            </a:avLst>
          </a:prstGeom>
          <a:solidFill>
            <a:srgbClr val="FFFF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讨论</a:t>
            </a:r>
          </a:p>
        </p:txBody>
      </p:sp>
      <p:sp>
        <p:nvSpPr>
          <p:cNvPr id="152678" name="AutoShape 102"/>
          <p:cNvSpPr>
            <a:spLocks noChangeArrowheads="1"/>
          </p:cNvSpPr>
          <p:nvPr/>
        </p:nvSpPr>
        <p:spPr bwMode="auto">
          <a:xfrm>
            <a:off x="6443663" y="3140075"/>
            <a:ext cx="1981200" cy="792163"/>
          </a:xfrm>
          <a:prstGeom prst="wedgeRoundRectCallout">
            <a:avLst>
              <a:gd name="adj1" fmla="val 4806"/>
              <a:gd name="adj2" fmla="val 157616"/>
              <a:gd name="adj3" fmla="val 16667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</a:rPr>
              <a:t>中央极大占据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</a:rPr>
              <a:t>了整个屏幕</a:t>
            </a:r>
            <a:endParaRPr lang="zh-CN" altLang="en-US" sz="3600" b="1">
              <a:solidFill>
                <a:schemeClr val="tx1"/>
              </a:solidFill>
              <a:latin typeface="方正书宋简体"/>
              <a:ea typeface="楷体_GB2312"/>
              <a:cs typeface="楷体_GB2312"/>
            </a:endParaRP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40037" y="1513076"/>
            <a:ext cx="1386085" cy="52322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578100"/>
            <a:ext cx="237648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" y="3484563"/>
            <a:ext cx="20256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138" y="3400425"/>
            <a:ext cx="1376362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4322763"/>
            <a:ext cx="22129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4322763"/>
            <a:ext cx="1163638" cy="89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2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5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52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52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52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1" grpId="0"/>
      <p:bldP spid="152586" grpId="0"/>
      <p:bldP spid="152655" grpId="0"/>
      <p:bldP spid="152664" grpId="0"/>
      <p:bldP spid="152666" grpId="0"/>
      <p:bldP spid="152669" grpId="0"/>
      <p:bldP spid="152671" grpId="0"/>
      <p:bldP spid="15267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2F2"/>
            </a:gs>
            <a:gs pos="48000">
              <a:srgbClr val="D9D9D9"/>
            </a:gs>
            <a:gs pos="100000">
              <a:srgbClr val="F2F2F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7" name="Group 3"/>
          <p:cNvGrpSpPr>
            <a:grpSpLocks/>
          </p:cNvGrpSpPr>
          <p:nvPr/>
        </p:nvGrpSpPr>
        <p:grpSpPr bwMode="auto">
          <a:xfrm>
            <a:off x="1168400" y="698500"/>
            <a:ext cx="7023100" cy="5575300"/>
            <a:chOff x="736" y="440"/>
            <a:chExt cx="4424" cy="3512"/>
          </a:xfrm>
        </p:grpSpPr>
        <p:grpSp>
          <p:nvGrpSpPr>
            <p:cNvPr id="26627" name="Group 4"/>
            <p:cNvGrpSpPr>
              <a:grpSpLocks/>
            </p:cNvGrpSpPr>
            <p:nvPr/>
          </p:nvGrpSpPr>
          <p:grpSpPr bwMode="auto">
            <a:xfrm>
              <a:off x="755" y="2941"/>
              <a:ext cx="4323" cy="989"/>
              <a:chOff x="779" y="2869"/>
              <a:chExt cx="4323" cy="989"/>
            </a:xfrm>
          </p:grpSpPr>
          <p:grpSp>
            <p:nvGrpSpPr>
              <p:cNvPr id="26681" name="Group 5"/>
              <p:cNvGrpSpPr>
                <a:grpSpLocks/>
              </p:cNvGrpSpPr>
              <p:nvPr/>
            </p:nvGrpSpPr>
            <p:grpSpPr bwMode="auto">
              <a:xfrm>
                <a:off x="787" y="2869"/>
                <a:ext cx="4311" cy="327"/>
                <a:chOff x="779" y="2629"/>
                <a:chExt cx="4311" cy="327"/>
              </a:xfrm>
            </p:grpSpPr>
            <p:sp>
              <p:nvSpPr>
                <p:cNvPr id="26705" name="Rectangle 6"/>
                <p:cNvSpPr>
                  <a:spLocks noChangeArrowheads="1"/>
                </p:cNvSpPr>
                <p:nvPr/>
              </p:nvSpPr>
              <p:spPr bwMode="auto">
                <a:xfrm>
                  <a:off x="779" y="2649"/>
                  <a:ext cx="4311" cy="294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660066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6" name="Rectangle 7"/>
                <p:cNvSpPr>
                  <a:spLocks noChangeArrowheads="1"/>
                </p:cNvSpPr>
                <p:nvPr/>
              </p:nvSpPr>
              <p:spPr bwMode="auto">
                <a:xfrm>
                  <a:off x="2626" y="2642"/>
                  <a:ext cx="591" cy="30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9900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7" name="Rectangle 8"/>
                <p:cNvSpPr>
                  <a:spLocks noChangeArrowheads="1"/>
                </p:cNvSpPr>
                <p:nvPr/>
              </p:nvSpPr>
              <p:spPr bwMode="auto">
                <a:xfrm>
                  <a:off x="2337" y="2642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9900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8" name="Rectangle 9"/>
                <p:cNvSpPr>
                  <a:spLocks noChangeArrowheads="1"/>
                </p:cNvSpPr>
                <p:nvPr/>
              </p:nvSpPr>
              <p:spPr bwMode="auto">
                <a:xfrm>
                  <a:off x="3217" y="2649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9900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754" name="Rectangle 10"/>
                <p:cNvSpPr>
                  <a:spLocks noChangeArrowheads="1"/>
                </p:cNvSpPr>
                <p:nvPr/>
              </p:nvSpPr>
              <p:spPr bwMode="auto">
                <a:xfrm>
                  <a:off x="3525" y="2642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9933FF">
                        <a:gamma/>
                        <a:shade val="0"/>
                        <a:invGamma/>
                      </a:srgbClr>
                    </a:gs>
                    <a:gs pos="50000">
                      <a:srgbClr val="9933FF">
                        <a:alpha val="80000"/>
                      </a:srgbClr>
                    </a:gs>
                    <a:gs pos="100000">
                      <a:srgbClr val="9933FF">
                        <a:gamma/>
                        <a:shade val="0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755" name="Rectangle 11"/>
                <p:cNvSpPr>
                  <a:spLocks noChangeArrowheads="1"/>
                </p:cNvSpPr>
                <p:nvPr/>
              </p:nvSpPr>
              <p:spPr bwMode="auto">
                <a:xfrm>
                  <a:off x="2029" y="2649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9933FF">
                        <a:gamma/>
                        <a:shade val="0"/>
                        <a:invGamma/>
                      </a:srgbClr>
                    </a:gs>
                    <a:gs pos="50000">
                      <a:srgbClr val="9933FF">
                        <a:alpha val="80000"/>
                      </a:srgbClr>
                    </a:gs>
                    <a:gs pos="100000">
                      <a:srgbClr val="9933FF">
                        <a:gamma/>
                        <a:shade val="0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756" name="Rectangle 12"/>
                <p:cNvSpPr>
                  <a:spLocks noChangeArrowheads="1"/>
                </p:cNvSpPr>
                <p:nvPr/>
              </p:nvSpPr>
              <p:spPr bwMode="auto">
                <a:xfrm>
                  <a:off x="3833" y="2636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9933FF">
                        <a:gamma/>
                        <a:shade val="0"/>
                        <a:invGamma/>
                      </a:srgbClr>
                    </a:gs>
                    <a:gs pos="50000">
                      <a:srgbClr val="9933FF">
                        <a:alpha val="64999"/>
                      </a:srgbClr>
                    </a:gs>
                    <a:gs pos="100000">
                      <a:srgbClr val="9933FF">
                        <a:gamma/>
                        <a:shade val="0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757" name="Rectangle 13"/>
                <p:cNvSpPr>
                  <a:spLocks noChangeArrowheads="1"/>
                </p:cNvSpPr>
                <p:nvPr/>
              </p:nvSpPr>
              <p:spPr bwMode="auto">
                <a:xfrm>
                  <a:off x="1721" y="2649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9900FF">
                        <a:gamma/>
                        <a:shade val="0"/>
                        <a:invGamma/>
                      </a:srgbClr>
                    </a:gs>
                    <a:gs pos="50000">
                      <a:srgbClr val="9900FF">
                        <a:alpha val="64999"/>
                      </a:srgbClr>
                    </a:gs>
                    <a:gs pos="100000">
                      <a:srgbClr val="9900FF">
                        <a:gamma/>
                        <a:shade val="0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721" name="Line 14"/>
                <p:cNvSpPr>
                  <a:spLocks noChangeShapeType="1"/>
                </p:cNvSpPr>
                <p:nvPr/>
              </p:nvSpPr>
              <p:spPr bwMode="auto">
                <a:xfrm>
                  <a:off x="779" y="2629"/>
                  <a:ext cx="4304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22" name="Line 15"/>
                <p:cNvSpPr>
                  <a:spLocks noChangeShapeType="1"/>
                </p:cNvSpPr>
                <p:nvPr/>
              </p:nvSpPr>
              <p:spPr bwMode="auto">
                <a:xfrm>
                  <a:off x="785" y="2956"/>
                  <a:ext cx="4305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682" name="Group 16"/>
              <p:cNvGrpSpPr>
                <a:grpSpLocks/>
              </p:cNvGrpSpPr>
              <p:nvPr/>
            </p:nvGrpSpPr>
            <p:grpSpPr bwMode="auto">
              <a:xfrm>
                <a:off x="785" y="3197"/>
                <a:ext cx="4317" cy="334"/>
                <a:chOff x="785" y="3061"/>
                <a:chExt cx="4317" cy="334"/>
              </a:xfrm>
            </p:grpSpPr>
            <p:sp>
              <p:nvSpPr>
                <p:cNvPr id="26695" name="Rectangle 17"/>
                <p:cNvSpPr>
                  <a:spLocks noChangeArrowheads="1"/>
                </p:cNvSpPr>
                <p:nvPr/>
              </p:nvSpPr>
              <p:spPr bwMode="auto">
                <a:xfrm>
                  <a:off x="785" y="3081"/>
                  <a:ext cx="4311" cy="295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0074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6" name="Rectangle 18"/>
                <p:cNvSpPr>
                  <a:spLocks noChangeArrowheads="1"/>
                </p:cNvSpPr>
                <p:nvPr/>
              </p:nvSpPr>
              <p:spPr bwMode="auto">
                <a:xfrm>
                  <a:off x="2507" y="3081"/>
                  <a:ext cx="842" cy="301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00CC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7" name="Rectangle 19"/>
                <p:cNvSpPr>
                  <a:spLocks noChangeArrowheads="1"/>
                </p:cNvSpPr>
                <p:nvPr/>
              </p:nvSpPr>
              <p:spPr bwMode="auto">
                <a:xfrm>
                  <a:off x="2080" y="3081"/>
                  <a:ext cx="421" cy="30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0096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8" name="Rectangle 20"/>
                <p:cNvSpPr>
                  <a:spLocks noChangeArrowheads="1"/>
                </p:cNvSpPr>
                <p:nvPr/>
              </p:nvSpPr>
              <p:spPr bwMode="auto">
                <a:xfrm>
                  <a:off x="3343" y="3074"/>
                  <a:ext cx="421" cy="30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0096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9" name="Rectangle 21"/>
                <p:cNvSpPr>
                  <a:spLocks noChangeArrowheads="1"/>
                </p:cNvSpPr>
                <p:nvPr/>
              </p:nvSpPr>
              <p:spPr bwMode="auto">
                <a:xfrm>
                  <a:off x="1677" y="3081"/>
                  <a:ext cx="422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008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0" name="Rectangle 22"/>
                <p:cNvSpPr>
                  <a:spLocks noChangeArrowheads="1"/>
                </p:cNvSpPr>
                <p:nvPr/>
              </p:nvSpPr>
              <p:spPr bwMode="auto">
                <a:xfrm>
                  <a:off x="3751" y="3074"/>
                  <a:ext cx="42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008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1" name="Rectangle 23"/>
                <p:cNvSpPr>
                  <a:spLocks noChangeArrowheads="1"/>
                </p:cNvSpPr>
                <p:nvPr/>
              </p:nvSpPr>
              <p:spPr bwMode="auto">
                <a:xfrm>
                  <a:off x="4166" y="3068"/>
                  <a:ext cx="42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008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2" name="Rectangle 24"/>
                <p:cNvSpPr>
                  <a:spLocks noChangeArrowheads="1"/>
                </p:cNvSpPr>
                <p:nvPr/>
              </p:nvSpPr>
              <p:spPr bwMode="auto">
                <a:xfrm>
                  <a:off x="1263" y="3081"/>
                  <a:ext cx="42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008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3" name="Line 25"/>
                <p:cNvSpPr>
                  <a:spLocks noChangeShapeType="1"/>
                </p:cNvSpPr>
                <p:nvPr/>
              </p:nvSpPr>
              <p:spPr bwMode="auto">
                <a:xfrm>
                  <a:off x="785" y="3061"/>
                  <a:ext cx="4305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04" name="Line 26"/>
                <p:cNvSpPr>
                  <a:spLocks noChangeShapeType="1"/>
                </p:cNvSpPr>
                <p:nvPr/>
              </p:nvSpPr>
              <p:spPr bwMode="auto">
                <a:xfrm>
                  <a:off x="798" y="3395"/>
                  <a:ext cx="4304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683" name="Group 27"/>
              <p:cNvGrpSpPr>
                <a:grpSpLocks/>
              </p:cNvGrpSpPr>
              <p:nvPr/>
            </p:nvGrpSpPr>
            <p:grpSpPr bwMode="auto">
              <a:xfrm>
                <a:off x="779" y="3524"/>
                <a:ext cx="4323" cy="334"/>
                <a:chOff x="779" y="3500"/>
                <a:chExt cx="4323" cy="334"/>
              </a:xfrm>
            </p:grpSpPr>
            <p:sp>
              <p:nvSpPr>
                <p:cNvPr id="26684" name="Line 28"/>
                <p:cNvSpPr>
                  <a:spLocks noChangeShapeType="1"/>
                </p:cNvSpPr>
                <p:nvPr/>
              </p:nvSpPr>
              <p:spPr bwMode="auto">
                <a:xfrm>
                  <a:off x="1005" y="3729"/>
                  <a:ext cx="374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85" name="Rectangle 29"/>
                <p:cNvSpPr>
                  <a:spLocks noChangeArrowheads="1"/>
                </p:cNvSpPr>
                <p:nvPr/>
              </p:nvSpPr>
              <p:spPr bwMode="auto">
                <a:xfrm>
                  <a:off x="791" y="3513"/>
                  <a:ext cx="4311" cy="295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86" name="Rectangle 30"/>
                <p:cNvSpPr>
                  <a:spLocks noChangeArrowheads="1"/>
                </p:cNvSpPr>
                <p:nvPr/>
              </p:nvSpPr>
              <p:spPr bwMode="auto">
                <a:xfrm>
                  <a:off x="2388" y="3513"/>
                  <a:ext cx="1074" cy="302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FF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87" name="Rectangle 31"/>
                <p:cNvSpPr>
                  <a:spLocks noChangeArrowheads="1"/>
                </p:cNvSpPr>
                <p:nvPr/>
              </p:nvSpPr>
              <p:spPr bwMode="auto">
                <a:xfrm>
                  <a:off x="1853" y="3500"/>
                  <a:ext cx="54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88" name="Rectangle 32"/>
                <p:cNvSpPr>
                  <a:spLocks noChangeArrowheads="1"/>
                </p:cNvSpPr>
                <p:nvPr/>
              </p:nvSpPr>
              <p:spPr bwMode="auto">
                <a:xfrm>
                  <a:off x="3456" y="3500"/>
                  <a:ext cx="540" cy="30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FF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89" name="Rectangle 33"/>
                <p:cNvSpPr>
                  <a:spLocks noChangeArrowheads="1"/>
                </p:cNvSpPr>
                <p:nvPr/>
              </p:nvSpPr>
              <p:spPr bwMode="auto">
                <a:xfrm>
                  <a:off x="1319" y="3507"/>
                  <a:ext cx="54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CC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0" name="Rectangle 34"/>
                <p:cNvSpPr>
                  <a:spLocks noChangeArrowheads="1"/>
                </p:cNvSpPr>
                <p:nvPr/>
              </p:nvSpPr>
              <p:spPr bwMode="auto">
                <a:xfrm>
                  <a:off x="3984" y="3513"/>
                  <a:ext cx="540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CC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1" name="Rectangle 35"/>
                <p:cNvSpPr>
                  <a:spLocks noChangeArrowheads="1"/>
                </p:cNvSpPr>
                <p:nvPr/>
              </p:nvSpPr>
              <p:spPr bwMode="auto">
                <a:xfrm>
                  <a:off x="785" y="3507"/>
                  <a:ext cx="54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A50021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2" name="Rectangle 36"/>
                <p:cNvSpPr>
                  <a:spLocks noChangeArrowheads="1"/>
                </p:cNvSpPr>
                <p:nvPr/>
              </p:nvSpPr>
              <p:spPr bwMode="auto">
                <a:xfrm>
                  <a:off x="4530" y="3513"/>
                  <a:ext cx="54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A50021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3" name="Line 37"/>
                <p:cNvSpPr>
                  <a:spLocks noChangeShapeType="1"/>
                </p:cNvSpPr>
                <p:nvPr/>
              </p:nvSpPr>
              <p:spPr bwMode="auto">
                <a:xfrm>
                  <a:off x="779" y="3500"/>
                  <a:ext cx="4304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94" name="Line 38"/>
                <p:cNvSpPr>
                  <a:spLocks noChangeShapeType="1"/>
                </p:cNvSpPr>
                <p:nvPr/>
              </p:nvSpPr>
              <p:spPr bwMode="auto">
                <a:xfrm>
                  <a:off x="785" y="3834"/>
                  <a:ext cx="4305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6628" name="Line 39"/>
            <p:cNvSpPr>
              <a:spLocks noChangeShapeType="1"/>
            </p:cNvSpPr>
            <p:nvPr/>
          </p:nvSpPr>
          <p:spPr bwMode="auto">
            <a:xfrm>
              <a:off x="5066" y="2675"/>
              <a:ext cx="0" cy="1277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29" name="Line 40"/>
            <p:cNvSpPr>
              <a:spLocks noChangeShapeType="1"/>
            </p:cNvSpPr>
            <p:nvPr/>
          </p:nvSpPr>
          <p:spPr bwMode="auto">
            <a:xfrm>
              <a:off x="767" y="2655"/>
              <a:ext cx="0" cy="1277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0" name="Freeform 41"/>
            <p:cNvSpPr>
              <a:spLocks/>
            </p:cNvSpPr>
            <p:nvPr/>
          </p:nvSpPr>
          <p:spPr bwMode="auto">
            <a:xfrm>
              <a:off x="1704" y="945"/>
              <a:ext cx="2381" cy="1655"/>
            </a:xfrm>
            <a:custGeom>
              <a:avLst/>
              <a:gdLst>
                <a:gd name="T0" fmla="*/ 0 w 3032"/>
                <a:gd name="T1" fmla="*/ 9 h 2022"/>
                <a:gd name="T2" fmla="*/ 2 w 3032"/>
                <a:gd name="T3" fmla="*/ 9 h 2022"/>
                <a:gd name="T4" fmla="*/ 2 w 3032"/>
                <a:gd name="T5" fmla="*/ 9 h 2022"/>
                <a:gd name="T6" fmla="*/ 2 w 3032"/>
                <a:gd name="T7" fmla="*/ 9 h 2022"/>
                <a:gd name="T8" fmla="*/ 2 w 3032"/>
                <a:gd name="T9" fmla="*/ 9 h 2022"/>
                <a:gd name="T10" fmla="*/ 2 w 3032"/>
                <a:gd name="T11" fmla="*/ 9 h 2022"/>
                <a:gd name="T12" fmla="*/ 2 w 3032"/>
                <a:gd name="T13" fmla="*/ 9 h 2022"/>
                <a:gd name="T14" fmla="*/ 2 w 3032"/>
                <a:gd name="T15" fmla="*/ 9 h 2022"/>
                <a:gd name="T16" fmla="*/ 2 w 3032"/>
                <a:gd name="T17" fmla="*/ 9 h 2022"/>
                <a:gd name="T18" fmla="*/ 2 w 3032"/>
                <a:gd name="T19" fmla="*/ 9 h 2022"/>
                <a:gd name="T20" fmla="*/ 2 w 3032"/>
                <a:gd name="T21" fmla="*/ 9 h 2022"/>
                <a:gd name="T22" fmla="*/ 2 w 3032"/>
                <a:gd name="T23" fmla="*/ 7 h 2022"/>
                <a:gd name="T24" fmla="*/ 2 w 3032"/>
                <a:gd name="T25" fmla="*/ 2 h 2022"/>
                <a:gd name="T26" fmla="*/ 2 w 3032"/>
                <a:gd name="T27" fmla="*/ 1 h 2022"/>
                <a:gd name="T28" fmla="*/ 2 w 3032"/>
                <a:gd name="T29" fmla="*/ 2 h 2022"/>
                <a:gd name="T30" fmla="*/ 2 w 3032"/>
                <a:gd name="T31" fmla="*/ 7 h 2022"/>
                <a:gd name="T32" fmla="*/ 2 w 3032"/>
                <a:gd name="T33" fmla="*/ 9 h 2022"/>
                <a:gd name="T34" fmla="*/ 2 w 3032"/>
                <a:gd name="T35" fmla="*/ 9 h 2022"/>
                <a:gd name="T36" fmla="*/ 3 w 3032"/>
                <a:gd name="T37" fmla="*/ 9 h 2022"/>
                <a:gd name="T38" fmla="*/ 3 w 3032"/>
                <a:gd name="T39" fmla="*/ 9 h 2022"/>
                <a:gd name="T40" fmla="*/ 3 w 3032"/>
                <a:gd name="T41" fmla="*/ 8 h 2022"/>
                <a:gd name="T42" fmla="*/ 3 w 3032"/>
                <a:gd name="T43" fmla="*/ 9 h 2022"/>
                <a:gd name="T44" fmla="*/ 3 w 3032"/>
                <a:gd name="T45" fmla="*/ 9 h 2022"/>
                <a:gd name="T46" fmla="*/ 3 w 3032"/>
                <a:gd name="T47" fmla="*/ 9 h 2022"/>
                <a:gd name="T48" fmla="*/ 4 w 3032"/>
                <a:gd name="T49" fmla="*/ 9 h 2022"/>
                <a:gd name="T50" fmla="*/ 4 w 3032"/>
                <a:gd name="T51" fmla="*/ 9 h 2022"/>
                <a:gd name="T52" fmla="*/ 4 w 3032"/>
                <a:gd name="T53" fmla="*/ 9 h 2022"/>
                <a:gd name="T54" fmla="*/ 4 w 3032"/>
                <a:gd name="T55" fmla="*/ 9 h 2022"/>
                <a:gd name="T56" fmla="*/ 4 w 3032"/>
                <a:gd name="T57" fmla="*/ 9 h 20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032" h="2022">
                  <a:moveTo>
                    <a:pt x="0" y="1961"/>
                  </a:moveTo>
                  <a:cubicBezTo>
                    <a:pt x="67" y="1931"/>
                    <a:pt x="135" y="1902"/>
                    <a:pt x="200" y="1905"/>
                  </a:cubicBezTo>
                  <a:cubicBezTo>
                    <a:pt x="265" y="1908"/>
                    <a:pt x="329" y="1985"/>
                    <a:pt x="392" y="1977"/>
                  </a:cubicBezTo>
                  <a:cubicBezTo>
                    <a:pt x="455" y="1969"/>
                    <a:pt x="516" y="1858"/>
                    <a:pt x="576" y="1857"/>
                  </a:cubicBezTo>
                  <a:cubicBezTo>
                    <a:pt x="636" y="1856"/>
                    <a:pt x="709" y="1957"/>
                    <a:pt x="752" y="1969"/>
                  </a:cubicBezTo>
                  <a:cubicBezTo>
                    <a:pt x="795" y="1981"/>
                    <a:pt x="808" y="1953"/>
                    <a:pt x="832" y="1929"/>
                  </a:cubicBezTo>
                  <a:cubicBezTo>
                    <a:pt x="856" y="1905"/>
                    <a:pt x="875" y="1845"/>
                    <a:pt x="896" y="1825"/>
                  </a:cubicBezTo>
                  <a:cubicBezTo>
                    <a:pt x="917" y="1805"/>
                    <a:pt x="936" y="1798"/>
                    <a:pt x="960" y="1809"/>
                  </a:cubicBezTo>
                  <a:cubicBezTo>
                    <a:pt x="984" y="1820"/>
                    <a:pt x="1020" y="1865"/>
                    <a:pt x="1040" y="1889"/>
                  </a:cubicBezTo>
                  <a:cubicBezTo>
                    <a:pt x="1060" y="1913"/>
                    <a:pt x="1061" y="1940"/>
                    <a:pt x="1080" y="1953"/>
                  </a:cubicBezTo>
                  <a:cubicBezTo>
                    <a:pt x="1099" y="1966"/>
                    <a:pt x="1131" y="2006"/>
                    <a:pt x="1152" y="1969"/>
                  </a:cubicBezTo>
                  <a:cubicBezTo>
                    <a:pt x="1173" y="1932"/>
                    <a:pt x="1169" y="1968"/>
                    <a:pt x="1208" y="1729"/>
                  </a:cubicBezTo>
                  <a:cubicBezTo>
                    <a:pt x="1247" y="1490"/>
                    <a:pt x="1333" y="825"/>
                    <a:pt x="1384" y="537"/>
                  </a:cubicBezTo>
                  <a:cubicBezTo>
                    <a:pt x="1435" y="249"/>
                    <a:pt x="1464" y="0"/>
                    <a:pt x="1512" y="1"/>
                  </a:cubicBezTo>
                  <a:cubicBezTo>
                    <a:pt x="1560" y="2"/>
                    <a:pt x="1617" y="246"/>
                    <a:pt x="1672" y="545"/>
                  </a:cubicBezTo>
                  <a:cubicBezTo>
                    <a:pt x="1727" y="844"/>
                    <a:pt x="1808" y="1564"/>
                    <a:pt x="1840" y="1793"/>
                  </a:cubicBezTo>
                  <a:cubicBezTo>
                    <a:pt x="1872" y="2022"/>
                    <a:pt x="1853" y="1892"/>
                    <a:pt x="1864" y="1921"/>
                  </a:cubicBezTo>
                  <a:cubicBezTo>
                    <a:pt x="1875" y="1950"/>
                    <a:pt x="1884" y="1970"/>
                    <a:pt x="1904" y="1969"/>
                  </a:cubicBezTo>
                  <a:cubicBezTo>
                    <a:pt x="1924" y="1968"/>
                    <a:pt x="1963" y="1940"/>
                    <a:pt x="1984" y="1913"/>
                  </a:cubicBezTo>
                  <a:cubicBezTo>
                    <a:pt x="2005" y="1886"/>
                    <a:pt x="2016" y="1828"/>
                    <a:pt x="2032" y="1809"/>
                  </a:cubicBezTo>
                  <a:cubicBezTo>
                    <a:pt x="2048" y="1790"/>
                    <a:pt x="2048" y="1781"/>
                    <a:pt x="2080" y="1801"/>
                  </a:cubicBezTo>
                  <a:cubicBezTo>
                    <a:pt x="2112" y="1821"/>
                    <a:pt x="2191" y="1901"/>
                    <a:pt x="2224" y="1929"/>
                  </a:cubicBezTo>
                  <a:cubicBezTo>
                    <a:pt x="2257" y="1957"/>
                    <a:pt x="2248" y="1978"/>
                    <a:pt x="2280" y="1969"/>
                  </a:cubicBezTo>
                  <a:cubicBezTo>
                    <a:pt x="2312" y="1960"/>
                    <a:pt x="2385" y="1893"/>
                    <a:pt x="2416" y="1873"/>
                  </a:cubicBezTo>
                  <a:cubicBezTo>
                    <a:pt x="2447" y="1853"/>
                    <a:pt x="2424" y="1833"/>
                    <a:pt x="2464" y="1849"/>
                  </a:cubicBezTo>
                  <a:cubicBezTo>
                    <a:pt x="2504" y="1865"/>
                    <a:pt x="2601" y="1960"/>
                    <a:pt x="2656" y="1969"/>
                  </a:cubicBezTo>
                  <a:cubicBezTo>
                    <a:pt x="2711" y="1978"/>
                    <a:pt x="2760" y="1916"/>
                    <a:pt x="2792" y="1905"/>
                  </a:cubicBezTo>
                  <a:cubicBezTo>
                    <a:pt x="2824" y="1894"/>
                    <a:pt x="2808" y="1894"/>
                    <a:pt x="2848" y="1905"/>
                  </a:cubicBezTo>
                  <a:cubicBezTo>
                    <a:pt x="2888" y="1916"/>
                    <a:pt x="2960" y="1942"/>
                    <a:pt x="3032" y="1969"/>
                  </a:cubicBezTo>
                </a:path>
              </a:pathLst>
            </a:custGeom>
            <a:noFill/>
            <a:ln w="38100" cmpd="sng">
              <a:solidFill>
                <a:srgbClr val="99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1" name="Freeform 42"/>
            <p:cNvSpPr>
              <a:spLocks/>
            </p:cNvSpPr>
            <p:nvPr/>
          </p:nvSpPr>
          <p:spPr bwMode="auto">
            <a:xfrm>
              <a:off x="736" y="925"/>
              <a:ext cx="4323" cy="1668"/>
            </a:xfrm>
            <a:custGeom>
              <a:avLst/>
              <a:gdLst>
                <a:gd name="T0" fmla="*/ 0 w 3032"/>
                <a:gd name="T1" fmla="*/ 11 h 2022"/>
                <a:gd name="T2" fmla="*/ 2886870 w 3032"/>
                <a:gd name="T3" fmla="*/ 10 h 2022"/>
                <a:gd name="T4" fmla="*/ 5661947 w 3032"/>
                <a:gd name="T5" fmla="*/ 11 h 2022"/>
                <a:gd name="T6" fmla="*/ 8319373 w 3032"/>
                <a:gd name="T7" fmla="*/ 10 h 2022"/>
                <a:gd name="T8" fmla="*/ 10854687 w 3032"/>
                <a:gd name="T9" fmla="*/ 11 h 2022"/>
                <a:gd name="T10" fmla="*/ 12011886 w 3032"/>
                <a:gd name="T11" fmla="*/ 10 h 2022"/>
                <a:gd name="T12" fmla="*/ 12941143 w 3032"/>
                <a:gd name="T13" fmla="*/ 10 h 2022"/>
                <a:gd name="T14" fmla="*/ 13864165 w 3032"/>
                <a:gd name="T15" fmla="*/ 10 h 2022"/>
                <a:gd name="T16" fmla="*/ 15014279 w 3032"/>
                <a:gd name="T17" fmla="*/ 10 h 2022"/>
                <a:gd name="T18" fmla="*/ 15596155 w 3032"/>
                <a:gd name="T19" fmla="*/ 11 h 2022"/>
                <a:gd name="T20" fmla="*/ 16642579 w 3032"/>
                <a:gd name="T21" fmla="*/ 11 h 2022"/>
                <a:gd name="T22" fmla="*/ 17435794 w 3032"/>
                <a:gd name="T23" fmla="*/ 10 h 2022"/>
                <a:gd name="T24" fmla="*/ 19980203 w 3032"/>
                <a:gd name="T25" fmla="*/ 3 h 2022"/>
                <a:gd name="T26" fmla="*/ 21832723 w 3032"/>
                <a:gd name="T27" fmla="*/ 1 h 2022"/>
                <a:gd name="T28" fmla="*/ 24137071 w 3032"/>
                <a:gd name="T29" fmla="*/ 3 h 2022"/>
                <a:gd name="T30" fmla="*/ 26559317 w 3032"/>
                <a:gd name="T31" fmla="*/ 10 h 2022"/>
                <a:gd name="T32" fmla="*/ 26921179 w 3032"/>
                <a:gd name="T33" fmla="*/ 10 h 2022"/>
                <a:gd name="T34" fmla="*/ 27491564 w 3032"/>
                <a:gd name="T35" fmla="*/ 11 h 2022"/>
                <a:gd name="T36" fmla="*/ 28652817 w 3032"/>
                <a:gd name="T37" fmla="*/ 10 h 2022"/>
                <a:gd name="T38" fmla="*/ 29339775 w 3032"/>
                <a:gd name="T39" fmla="*/ 10 h 2022"/>
                <a:gd name="T40" fmla="*/ 30038840 w 3032"/>
                <a:gd name="T41" fmla="*/ 10 h 2022"/>
                <a:gd name="T42" fmla="*/ 32109882 w 3032"/>
                <a:gd name="T43" fmla="*/ 10 h 2022"/>
                <a:gd name="T44" fmla="*/ 32921072 w 3032"/>
                <a:gd name="T45" fmla="*/ 11 h 2022"/>
                <a:gd name="T46" fmla="*/ 34885167 w 3032"/>
                <a:gd name="T47" fmla="*/ 10 h 2022"/>
                <a:gd name="T48" fmla="*/ 35576042 w 3032"/>
                <a:gd name="T49" fmla="*/ 10 h 2022"/>
                <a:gd name="T50" fmla="*/ 38345409 w 3032"/>
                <a:gd name="T51" fmla="*/ 11 h 2022"/>
                <a:gd name="T52" fmla="*/ 40313776 w 3032"/>
                <a:gd name="T53" fmla="*/ 10 h 2022"/>
                <a:gd name="T54" fmla="*/ 41122123 w 3032"/>
                <a:gd name="T55" fmla="*/ 10 h 2022"/>
                <a:gd name="T56" fmla="*/ 43781904 w 3032"/>
                <a:gd name="T57" fmla="*/ 11 h 20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032" h="2022">
                  <a:moveTo>
                    <a:pt x="0" y="1961"/>
                  </a:moveTo>
                  <a:cubicBezTo>
                    <a:pt x="67" y="1931"/>
                    <a:pt x="135" y="1902"/>
                    <a:pt x="200" y="1905"/>
                  </a:cubicBezTo>
                  <a:cubicBezTo>
                    <a:pt x="265" y="1908"/>
                    <a:pt x="329" y="1985"/>
                    <a:pt x="392" y="1977"/>
                  </a:cubicBezTo>
                  <a:cubicBezTo>
                    <a:pt x="455" y="1969"/>
                    <a:pt x="516" y="1858"/>
                    <a:pt x="576" y="1857"/>
                  </a:cubicBezTo>
                  <a:cubicBezTo>
                    <a:pt x="636" y="1856"/>
                    <a:pt x="709" y="1957"/>
                    <a:pt x="752" y="1969"/>
                  </a:cubicBezTo>
                  <a:cubicBezTo>
                    <a:pt x="795" y="1981"/>
                    <a:pt x="808" y="1953"/>
                    <a:pt x="832" y="1929"/>
                  </a:cubicBezTo>
                  <a:cubicBezTo>
                    <a:pt x="856" y="1905"/>
                    <a:pt x="875" y="1845"/>
                    <a:pt x="896" y="1825"/>
                  </a:cubicBezTo>
                  <a:cubicBezTo>
                    <a:pt x="917" y="1805"/>
                    <a:pt x="936" y="1798"/>
                    <a:pt x="960" y="1809"/>
                  </a:cubicBezTo>
                  <a:cubicBezTo>
                    <a:pt x="984" y="1820"/>
                    <a:pt x="1020" y="1865"/>
                    <a:pt x="1040" y="1889"/>
                  </a:cubicBezTo>
                  <a:cubicBezTo>
                    <a:pt x="1060" y="1913"/>
                    <a:pt x="1061" y="1940"/>
                    <a:pt x="1080" y="1953"/>
                  </a:cubicBezTo>
                  <a:cubicBezTo>
                    <a:pt x="1099" y="1966"/>
                    <a:pt x="1131" y="2006"/>
                    <a:pt x="1152" y="1969"/>
                  </a:cubicBezTo>
                  <a:cubicBezTo>
                    <a:pt x="1173" y="1932"/>
                    <a:pt x="1169" y="1968"/>
                    <a:pt x="1208" y="1729"/>
                  </a:cubicBezTo>
                  <a:cubicBezTo>
                    <a:pt x="1247" y="1490"/>
                    <a:pt x="1333" y="825"/>
                    <a:pt x="1384" y="537"/>
                  </a:cubicBezTo>
                  <a:cubicBezTo>
                    <a:pt x="1435" y="249"/>
                    <a:pt x="1464" y="0"/>
                    <a:pt x="1512" y="1"/>
                  </a:cubicBezTo>
                  <a:cubicBezTo>
                    <a:pt x="1560" y="2"/>
                    <a:pt x="1617" y="246"/>
                    <a:pt x="1672" y="545"/>
                  </a:cubicBezTo>
                  <a:cubicBezTo>
                    <a:pt x="1727" y="844"/>
                    <a:pt x="1808" y="1564"/>
                    <a:pt x="1840" y="1793"/>
                  </a:cubicBezTo>
                  <a:cubicBezTo>
                    <a:pt x="1872" y="2022"/>
                    <a:pt x="1853" y="1892"/>
                    <a:pt x="1864" y="1921"/>
                  </a:cubicBezTo>
                  <a:cubicBezTo>
                    <a:pt x="1875" y="1950"/>
                    <a:pt x="1884" y="1970"/>
                    <a:pt x="1904" y="1969"/>
                  </a:cubicBezTo>
                  <a:cubicBezTo>
                    <a:pt x="1924" y="1968"/>
                    <a:pt x="1963" y="1940"/>
                    <a:pt x="1984" y="1913"/>
                  </a:cubicBezTo>
                  <a:cubicBezTo>
                    <a:pt x="2005" y="1886"/>
                    <a:pt x="2016" y="1828"/>
                    <a:pt x="2032" y="1809"/>
                  </a:cubicBezTo>
                  <a:cubicBezTo>
                    <a:pt x="2048" y="1790"/>
                    <a:pt x="2048" y="1781"/>
                    <a:pt x="2080" y="1801"/>
                  </a:cubicBezTo>
                  <a:cubicBezTo>
                    <a:pt x="2112" y="1821"/>
                    <a:pt x="2191" y="1901"/>
                    <a:pt x="2224" y="1929"/>
                  </a:cubicBezTo>
                  <a:cubicBezTo>
                    <a:pt x="2257" y="1957"/>
                    <a:pt x="2248" y="1978"/>
                    <a:pt x="2280" y="1969"/>
                  </a:cubicBezTo>
                  <a:cubicBezTo>
                    <a:pt x="2312" y="1960"/>
                    <a:pt x="2385" y="1893"/>
                    <a:pt x="2416" y="1873"/>
                  </a:cubicBezTo>
                  <a:cubicBezTo>
                    <a:pt x="2447" y="1853"/>
                    <a:pt x="2424" y="1833"/>
                    <a:pt x="2464" y="1849"/>
                  </a:cubicBezTo>
                  <a:cubicBezTo>
                    <a:pt x="2504" y="1865"/>
                    <a:pt x="2601" y="1960"/>
                    <a:pt x="2656" y="1969"/>
                  </a:cubicBezTo>
                  <a:cubicBezTo>
                    <a:pt x="2711" y="1978"/>
                    <a:pt x="2760" y="1916"/>
                    <a:pt x="2792" y="1905"/>
                  </a:cubicBezTo>
                  <a:cubicBezTo>
                    <a:pt x="2824" y="1894"/>
                    <a:pt x="2808" y="1894"/>
                    <a:pt x="2848" y="1905"/>
                  </a:cubicBezTo>
                  <a:cubicBezTo>
                    <a:pt x="2888" y="1916"/>
                    <a:pt x="2960" y="1942"/>
                    <a:pt x="3032" y="1969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2" name="Freeform 43"/>
            <p:cNvSpPr>
              <a:spLocks/>
            </p:cNvSpPr>
            <p:nvPr/>
          </p:nvSpPr>
          <p:spPr bwMode="auto">
            <a:xfrm>
              <a:off x="1276" y="945"/>
              <a:ext cx="3243" cy="1655"/>
            </a:xfrm>
            <a:custGeom>
              <a:avLst/>
              <a:gdLst>
                <a:gd name="T0" fmla="*/ 0 w 3032"/>
                <a:gd name="T1" fmla="*/ 9 h 2022"/>
                <a:gd name="T2" fmla="*/ 1228 w 3032"/>
                <a:gd name="T3" fmla="*/ 9 h 2022"/>
                <a:gd name="T4" fmla="*/ 2411 w 3032"/>
                <a:gd name="T5" fmla="*/ 9 h 2022"/>
                <a:gd name="T6" fmla="*/ 3541 w 3032"/>
                <a:gd name="T7" fmla="*/ 9 h 2022"/>
                <a:gd name="T8" fmla="*/ 4623 w 3032"/>
                <a:gd name="T9" fmla="*/ 9 h 2022"/>
                <a:gd name="T10" fmla="*/ 5122 w 3032"/>
                <a:gd name="T11" fmla="*/ 9 h 2022"/>
                <a:gd name="T12" fmla="*/ 5508 w 3032"/>
                <a:gd name="T13" fmla="*/ 9 h 2022"/>
                <a:gd name="T14" fmla="*/ 5898 w 3032"/>
                <a:gd name="T15" fmla="*/ 9 h 2022"/>
                <a:gd name="T16" fmla="*/ 6397 w 3032"/>
                <a:gd name="T17" fmla="*/ 9 h 2022"/>
                <a:gd name="T18" fmla="*/ 6636 w 3032"/>
                <a:gd name="T19" fmla="*/ 9 h 2022"/>
                <a:gd name="T20" fmla="*/ 7085 w 3032"/>
                <a:gd name="T21" fmla="*/ 9 h 2022"/>
                <a:gd name="T22" fmla="*/ 7435 w 3032"/>
                <a:gd name="T23" fmla="*/ 7 h 2022"/>
                <a:gd name="T24" fmla="*/ 8512 w 3032"/>
                <a:gd name="T25" fmla="*/ 2 h 2022"/>
                <a:gd name="T26" fmla="*/ 9301 w 3032"/>
                <a:gd name="T27" fmla="*/ 1 h 2022"/>
                <a:gd name="T28" fmla="*/ 10274 w 3032"/>
                <a:gd name="T29" fmla="*/ 2 h 2022"/>
                <a:gd name="T30" fmla="*/ 11317 w 3032"/>
                <a:gd name="T31" fmla="*/ 7 h 2022"/>
                <a:gd name="T32" fmla="*/ 11468 w 3032"/>
                <a:gd name="T33" fmla="*/ 9 h 2022"/>
                <a:gd name="T34" fmla="*/ 11714 w 3032"/>
                <a:gd name="T35" fmla="*/ 9 h 2022"/>
                <a:gd name="T36" fmla="*/ 12204 w 3032"/>
                <a:gd name="T37" fmla="*/ 9 h 2022"/>
                <a:gd name="T38" fmla="*/ 12496 w 3032"/>
                <a:gd name="T39" fmla="*/ 9 h 2022"/>
                <a:gd name="T40" fmla="*/ 12794 w 3032"/>
                <a:gd name="T41" fmla="*/ 8 h 2022"/>
                <a:gd name="T42" fmla="*/ 13683 w 3032"/>
                <a:gd name="T43" fmla="*/ 9 h 2022"/>
                <a:gd name="T44" fmla="*/ 14032 w 3032"/>
                <a:gd name="T45" fmla="*/ 9 h 2022"/>
                <a:gd name="T46" fmla="*/ 14853 w 3032"/>
                <a:gd name="T47" fmla="*/ 9 h 2022"/>
                <a:gd name="T48" fmla="*/ 15146 w 3032"/>
                <a:gd name="T49" fmla="*/ 9 h 2022"/>
                <a:gd name="T50" fmla="*/ 16334 w 3032"/>
                <a:gd name="T51" fmla="*/ 9 h 2022"/>
                <a:gd name="T52" fmla="*/ 17172 w 3032"/>
                <a:gd name="T53" fmla="*/ 9 h 2022"/>
                <a:gd name="T54" fmla="*/ 17509 w 3032"/>
                <a:gd name="T55" fmla="*/ 9 h 2022"/>
                <a:gd name="T56" fmla="*/ 18642 w 3032"/>
                <a:gd name="T57" fmla="*/ 9 h 20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032" h="2022">
                  <a:moveTo>
                    <a:pt x="0" y="1961"/>
                  </a:moveTo>
                  <a:cubicBezTo>
                    <a:pt x="67" y="1931"/>
                    <a:pt x="135" y="1902"/>
                    <a:pt x="200" y="1905"/>
                  </a:cubicBezTo>
                  <a:cubicBezTo>
                    <a:pt x="265" y="1908"/>
                    <a:pt x="329" y="1985"/>
                    <a:pt x="392" y="1977"/>
                  </a:cubicBezTo>
                  <a:cubicBezTo>
                    <a:pt x="455" y="1969"/>
                    <a:pt x="516" y="1858"/>
                    <a:pt x="576" y="1857"/>
                  </a:cubicBezTo>
                  <a:cubicBezTo>
                    <a:pt x="636" y="1856"/>
                    <a:pt x="709" y="1957"/>
                    <a:pt x="752" y="1969"/>
                  </a:cubicBezTo>
                  <a:cubicBezTo>
                    <a:pt x="795" y="1981"/>
                    <a:pt x="808" y="1953"/>
                    <a:pt x="832" y="1929"/>
                  </a:cubicBezTo>
                  <a:cubicBezTo>
                    <a:pt x="856" y="1905"/>
                    <a:pt x="875" y="1845"/>
                    <a:pt x="896" y="1825"/>
                  </a:cubicBezTo>
                  <a:cubicBezTo>
                    <a:pt x="917" y="1805"/>
                    <a:pt x="936" y="1798"/>
                    <a:pt x="960" y="1809"/>
                  </a:cubicBezTo>
                  <a:cubicBezTo>
                    <a:pt x="984" y="1820"/>
                    <a:pt x="1020" y="1865"/>
                    <a:pt x="1040" y="1889"/>
                  </a:cubicBezTo>
                  <a:cubicBezTo>
                    <a:pt x="1060" y="1913"/>
                    <a:pt x="1061" y="1940"/>
                    <a:pt x="1080" y="1953"/>
                  </a:cubicBezTo>
                  <a:cubicBezTo>
                    <a:pt x="1099" y="1966"/>
                    <a:pt x="1131" y="2006"/>
                    <a:pt x="1152" y="1969"/>
                  </a:cubicBezTo>
                  <a:cubicBezTo>
                    <a:pt x="1173" y="1932"/>
                    <a:pt x="1169" y="1968"/>
                    <a:pt x="1208" y="1729"/>
                  </a:cubicBezTo>
                  <a:cubicBezTo>
                    <a:pt x="1247" y="1490"/>
                    <a:pt x="1333" y="825"/>
                    <a:pt x="1384" y="537"/>
                  </a:cubicBezTo>
                  <a:cubicBezTo>
                    <a:pt x="1435" y="249"/>
                    <a:pt x="1464" y="0"/>
                    <a:pt x="1512" y="1"/>
                  </a:cubicBezTo>
                  <a:cubicBezTo>
                    <a:pt x="1560" y="2"/>
                    <a:pt x="1617" y="246"/>
                    <a:pt x="1672" y="545"/>
                  </a:cubicBezTo>
                  <a:cubicBezTo>
                    <a:pt x="1727" y="844"/>
                    <a:pt x="1808" y="1564"/>
                    <a:pt x="1840" y="1793"/>
                  </a:cubicBezTo>
                  <a:cubicBezTo>
                    <a:pt x="1872" y="2022"/>
                    <a:pt x="1853" y="1892"/>
                    <a:pt x="1864" y="1921"/>
                  </a:cubicBezTo>
                  <a:cubicBezTo>
                    <a:pt x="1875" y="1950"/>
                    <a:pt x="1884" y="1970"/>
                    <a:pt x="1904" y="1969"/>
                  </a:cubicBezTo>
                  <a:cubicBezTo>
                    <a:pt x="1924" y="1968"/>
                    <a:pt x="1963" y="1940"/>
                    <a:pt x="1984" y="1913"/>
                  </a:cubicBezTo>
                  <a:cubicBezTo>
                    <a:pt x="2005" y="1886"/>
                    <a:pt x="2016" y="1828"/>
                    <a:pt x="2032" y="1809"/>
                  </a:cubicBezTo>
                  <a:cubicBezTo>
                    <a:pt x="2048" y="1790"/>
                    <a:pt x="2048" y="1781"/>
                    <a:pt x="2080" y="1801"/>
                  </a:cubicBezTo>
                  <a:cubicBezTo>
                    <a:pt x="2112" y="1821"/>
                    <a:pt x="2191" y="1901"/>
                    <a:pt x="2224" y="1929"/>
                  </a:cubicBezTo>
                  <a:cubicBezTo>
                    <a:pt x="2257" y="1957"/>
                    <a:pt x="2248" y="1978"/>
                    <a:pt x="2280" y="1969"/>
                  </a:cubicBezTo>
                  <a:cubicBezTo>
                    <a:pt x="2312" y="1960"/>
                    <a:pt x="2385" y="1893"/>
                    <a:pt x="2416" y="1873"/>
                  </a:cubicBezTo>
                  <a:cubicBezTo>
                    <a:pt x="2447" y="1853"/>
                    <a:pt x="2424" y="1833"/>
                    <a:pt x="2464" y="1849"/>
                  </a:cubicBezTo>
                  <a:cubicBezTo>
                    <a:pt x="2504" y="1865"/>
                    <a:pt x="2601" y="1960"/>
                    <a:pt x="2656" y="1969"/>
                  </a:cubicBezTo>
                  <a:cubicBezTo>
                    <a:pt x="2711" y="1978"/>
                    <a:pt x="2760" y="1916"/>
                    <a:pt x="2792" y="1905"/>
                  </a:cubicBezTo>
                  <a:cubicBezTo>
                    <a:pt x="2824" y="1894"/>
                    <a:pt x="2808" y="1894"/>
                    <a:pt x="2848" y="1905"/>
                  </a:cubicBezTo>
                  <a:cubicBezTo>
                    <a:pt x="2888" y="1916"/>
                    <a:pt x="2960" y="1942"/>
                    <a:pt x="3032" y="1969"/>
                  </a:cubicBezTo>
                </a:path>
              </a:pathLst>
            </a:custGeom>
            <a:noFill/>
            <a:ln w="38100" cmpd="sng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3" name="Freeform 44"/>
            <p:cNvSpPr>
              <a:spLocks/>
            </p:cNvSpPr>
            <p:nvPr/>
          </p:nvSpPr>
          <p:spPr bwMode="auto">
            <a:xfrm>
              <a:off x="3457" y="2386"/>
              <a:ext cx="1552" cy="184"/>
            </a:xfrm>
            <a:custGeom>
              <a:avLst/>
              <a:gdLst>
                <a:gd name="T0" fmla="*/ 0 w 1992"/>
                <a:gd name="T1" fmla="*/ 19 h 200"/>
                <a:gd name="T2" fmla="*/ 2 w 1992"/>
                <a:gd name="T3" fmla="*/ 18 h 200"/>
                <a:gd name="T4" fmla="*/ 2 w 1992"/>
                <a:gd name="T5" fmla="*/ 14 h 200"/>
                <a:gd name="T6" fmla="*/ 2 w 1992"/>
                <a:gd name="T7" fmla="*/ 6 h 200"/>
                <a:gd name="T8" fmla="*/ 2 w 1992"/>
                <a:gd name="T9" fmla="*/ 0 h 200"/>
                <a:gd name="T10" fmla="*/ 2 w 1992"/>
                <a:gd name="T11" fmla="*/ 6 h 200"/>
                <a:gd name="T12" fmla="*/ 2 w 1992"/>
                <a:gd name="T13" fmla="*/ 7 h 200"/>
                <a:gd name="T14" fmla="*/ 2 w 1992"/>
                <a:gd name="T15" fmla="*/ 12 h 200"/>
                <a:gd name="T16" fmla="*/ 2 w 1992"/>
                <a:gd name="T17" fmla="*/ 15 h 200"/>
                <a:gd name="T18" fmla="*/ 2 w 1992"/>
                <a:gd name="T19" fmla="*/ 16 h 200"/>
                <a:gd name="T20" fmla="*/ 2 w 1992"/>
                <a:gd name="T21" fmla="*/ 21 h 200"/>
                <a:gd name="T22" fmla="*/ 2 w 1992"/>
                <a:gd name="T23" fmla="*/ 16 h 200"/>
                <a:gd name="T24" fmla="*/ 2 w 1992"/>
                <a:gd name="T25" fmla="*/ 13 h 200"/>
                <a:gd name="T26" fmla="*/ 2 w 1992"/>
                <a:gd name="T27" fmla="*/ 10 h 200"/>
                <a:gd name="T28" fmla="*/ 2 w 1992"/>
                <a:gd name="T29" fmla="*/ 7 h 200"/>
                <a:gd name="T30" fmla="*/ 2 w 1992"/>
                <a:gd name="T31" fmla="*/ 9 h 200"/>
                <a:gd name="T32" fmla="*/ 2 w 1992"/>
                <a:gd name="T33" fmla="*/ 10 h 200"/>
                <a:gd name="T34" fmla="*/ 2 w 1992"/>
                <a:gd name="T35" fmla="*/ 15 h 200"/>
                <a:gd name="T36" fmla="*/ 2 w 1992"/>
                <a:gd name="T37" fmla="*/ 16 h 200"/>
                <a:gd name="T38" fmla="*/ 2 w 1992"/>
                <a:gd name="T39" fmla="*/ 21 h 200"/>
                <a:gd name="T40" fmla="*/ 2 w 1992"/>
                <a:gd name="T41" fmla="*/ 21 h 200"/>
                <a:gd name="T42" fmla="*/ 2 w 1992"/>
                <a:gd name="T43" fmla="*/ 21 h 200"/>
                <a:gd name="T44" fmla="*/ 2 w 1992"/>
                <a:gd name="T45" fmla="*/ 17 h 200"/>
                <a:gd name="T46" fmla="*/ 2 w 1992"/>
                <a:gd name="T47" fmla="*/ 15 h 200"/>
                <a:gd name="T48" fmla="*/ 2 w 1992"/>
                <a:gd name="T49" fmla="*/ 15 h 200"/>
                <a:gd name="T50" fmla="*/ 2 w 1992"/>
                <a:gd name="T51" fmla="*/ 13 h 200"/>
                <a:gd name="T52" fmla="*/ 2 w 1992"/>
                <a:gd name="T53" fmla="*/ 14 h 200"/>
                <a:gd name="T54" fmla="*/ 2 w 1992"/>
                <a:gd name="T55" fmla="*/ 15 h 200"/>
                <a:gd name="T56" fmla="*/ 2 w 1992"/>
                <a:gd name="T57" fmla="*/ 16 h 200"/>
                <a:gd name="T58" fmla="*/ 2 w 1992"/>
                <a:gd name="T59" fmla="*/ 16 h 200"/>
                <a:gd name="T60" fmla="*/ 2 w 1992"/>
                <a:gd name="T61" fmla="*/ 19 h 20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992" h="200">
                  <a:moveTo>
                    <a:pt x="0" y="184"/>
                  </a:moveTo>
                  <a:lnTo>
                    <a:pt x="72" y="176"/>
                  </a:lnTo>
                  <a:lnTo>
                    <a:pt x="128" y="128"/>
                  </a:lnTo>
                  <a:lnTo>
                    <a:pt x="184" y="64"/>
                  </a:lnTo>
                  <a:lnTo>
                    <a:pt x="256" y="0"/>
                  </a:lnTo>
                  <a:lnTo>
                    <a:pt x="392" y="40"/>
                  </a:lnTo>
                  <a:lnTo>
                    <a:pt x="432" y="72"/>
                  </a:lnTo>
                  <a:lnTo>
                    <a:pt x="496" y="112"/>
                  </a:lnTo>
                  <a:lnTo>
                    <a:pt x="560" y="136"/>
                  </a:lnTo>
                  <a:lnTo>
                    <a:pt x="616" y="152"/>
                  </a:lnTo>
                  <a:lnTo>
                    <a:pt x="680" y="200"/>
                  </a:lnTo>
                  <a:lnTo>
                    <a:pt x="800" y="152"/>
                  </a:lnTo>
                  <a:lnTo>
                    <a:pt x="840" y="120"/>
                  </a:lnTo>
                  <a:lnTo>
                    <a:pt x="912" y="96"/>
                  </a:lnTo>
                  <a:lnTo>
                    <a:pt x="976" y="72"/>
                  </a:lnTo>
                  <a:lnTo>
                    <a:pt x="1064" y="88"/>
                  </a:lnTo>
                  <a:lnTo>
                    <a:pt x="1120" y="96"/>
                  </a:lnTo>
                  <a:lnTo>
                    <a:pt x="1184" y="136"/>
                  </a:lnTo>
                  <a:lnTo>
                    <a:pt x="1232" y="160"/>
                  </a:lnTo>
                  <a:lnTo>
                    <a:pt x="1296" y="192"/>
                  </a:lnTo>
                  <a:lnTo>
                    <a:pt x="1344" y="192"/>
                  </a:lnTo>
                  <a:lnTo>
                    <a:pt x="1400" y="192"/>
                  </a:lnTo>
                  <a:lnTo>
                    <a:pt x="1472" y="168"/>
                  </a:lnTo>
                  <a:lnTo>
                    <a:pt x="1512" y="144"/>
                  </a:lnTo>
                  <a:lnTo>
                    <a:pt x="1576" y="136"/>
                  </a:lnTo>
                  <a:lnTo>
                    <a:pt x="1632" y="120"/>
                  </a:lnTo>
                  <a:lnTo>
                    <a:pt x="1736" y="128"/>
                  </a:lnTo>
                  <a:lnTo>
                    <a:pt x="1784" y="136"/>
                  </a:lnTo>
                  <a:lnTo>
                    <a:pt x="1848" y="160"/>
                  </a:lnTo>
                  <a:lnTo>
                    <a:pt x="1896" y="160"/>
                  </a:lnTo>
                  <a:lnTo>
                    <a:pt x="1992" y="184"/>
                  </a:lnTo>
                </a:path>
              </a:pathLst>
            </a:custGeom>
            <a:noFill/>
            <a:ln w="76200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4" name="Freeform 45"/>
            <p:cNvSpPr>
              <a:spLocks/>
            </p:cNvSpPr>
            <p:nvPr/>
          </p:nvSpPr>
          <p:spPr bwMode="auto">
            <a:xfrm>
              <a:off x="3312" y="2413"/>
              <a:ext cx="1176" cy="144"/>
            </a:xfrm>
            <a:custGeom>
              <a:avLst/>
              <a:gdLst>
                <a:gd name="T0" fmla="*/ 0 w 1992"/>
                <a:gd name="T1" fmla="*/ 1 h 200"/>
                <a:gd name="T2" fmla="*/ 1 w 1992"/>
                <a:gd name="T3" fmla="*/ 1 h 200"/>
                <a:gd name="T4" fmla="*/ 1 w 1992"/>
                <a:gd name="T5" fmla="*/ 1 h 200"/>
                <a:gd name="T6" fmla="*/ 1 w 1992"/>
                <a:gd name="T7" fmla="*/ 1 h 200"/>
                <a:gd name="T8" fmla="*/ 1 w 1992"/>
                <a:gd name="T9" fmla="*/ 0 h 200"/>
                <a:gd name="T10" fmla="*/ 1 w 1992"/>
                <a:gd name="T11" fmla="*/ 1 h 200"/>
                <a:gd name="T12" fmla="*/ 1 w 1992"/>
                <a:gd name="T13" fmla="*/ 1 h 200"/>
                <a:gd name="T14" fmla="*/ 1 w 1992"/>
                <a:gd name="T15" fmla="*/ 1 h 200"/>
                <a:gd name="T16" fmla="*/ 1 w 1992"/>
                <a:gd name="T17" fmla="*/ 1 h 200"/>
                <a:gd name="T18" fmla="*/ 1 w 1992"/>
                <a:gd name="T19" fmla="*/ 1 h 200"/>
                <a:gd name="T20" fmla="*/ 1 w 1992"/>
                <a:gd name="T21" fmla="*/ 1 h 200"/>
                <a:gd name="T22" fmla="*/ 1 w 1992"/>
                <a:gd name="T23" fmla="*/ 1 h 200"/>
                <a:gd name="T24" fmla="*/ 1 w 1992"/>
                <a:gd name="T25" fmla="*/ 1 h 200"/>
                <a:gd name="T26" fmla="*/ 1 w 1992"/>
                <a:gd name="T27" fmla="*/ 1 h 200"/>
                <a:gd name="T28" fmla="*/ 1 w 1992"/>
                <a:gd name="T29" fmla="*/ 1 h 200"/>
                <a:gd name="T30" fmla="*/ 1 w 1992"/>
                <a:gd name="T31" fmla="*/ 1 h 200"/>
                <a:gd name="T32" fmla="*/ 1 w 1992"/>
                <a:gd name="T33" fmla="*/ 1 h 200"/>
                <a:gd name="T34" fmla="*/ 1 w 1992"/>
                <a:gd name="T35" fmla="*/ 1 h 200"/>
                <a:gd name="T36" fmla="*/ 1 w 1992"/>
                <a:gd name="T37" fmla="*/ 1 h 200"/>
                <a:gd name="T38" fmla="*/ 1 w 1992"/>
                <a:gd name="T39" fmla="*/ 1 h 200"/>
                <a:gd name="T40" fmla="*/ 1 w 1992"/>
                <a:gd name="T41" fmla="*/ 1 h 200"/>
                <a:gd name="T42" fmla="*/ 1 w 1992"/>
                <a:gd name="T43" fmla="*/ 1 h 200"/>
                <a:gd name="T44" fmla="*/ 1 w 1992"/>
                <a:gd name="T45" fmla="*/ 1 h 200"/>
                <a:gd name="T46" fmla="*/ 1 w 1992"/>
                <a:gd name="T47" fmla="*/ 1 h 200"/>
                <a:gd name="T48" fmla="*/ 1 w 1992"/>
                <a:gd name="T49" fmla="*/ 1 h 200"/>
                <a:gd name="T50" fmla="*/ 1 w 1992"/>
                <a:gd name="T51" fmla="*/ 1 h 200"/>
                <a:gd name="T52" fmla="*/ 1 w 1992"/>
                <a:gd name="T53" fmla="*/ 1 h 200"/>
                <a:gd name="T54" fmla="*/ 1 w 1992"/>
                <a:gd name="T55" fmla="*/ 1 h 200"/>
                <a:gd name="T56" fmla="*/ 1 w 1992"/>
                <a:gd name="T57" fmla="*/ 1 h 200"/>
                <a:gd name="T58" fmla="*/ 1 w 1992"/>
                <a:gd name="T59" fmla="*/ 1 h 200"/>
                <a:gd name="T60" fmla="*/ 1 w 1992"/>
                <a:gd name="T61" fmla="*/ 1 h 20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992" h="200">
                  <a:moveTo>
                    <a:pt x="0" y="184"/>
                  </a:moveTo>
                  <a:lnTo>
                    <a:pt x="72" y="176"/>
                  </a:lnTo>
                  <a:lnTo>
                    <a:pt x="128" y="128"/>
                  </a:lnTo>
                  <a:lnTo>
                    <a:pt x="184" y="64"/>
                  </a:lnTo>
                  <a:lnTo>
                    <a:pt x="256" y="0"/>
                  </a:lnTo>
                  <a:lnTo>
                    <a:pt x="392" y="40"/>
                  </a:lnTo>
                  <a:lnTo>
                    <a:pt x="432" y="72"/>
                  </a:lnTo>
                  <a:lnTo>
                    <a:pt x="496" y="112"/>
                  </a:lnTo>
                  <a:lnTo>
                    <a:pt x="560" y="136"/>
                  </a:lnTo>
                  <a:lnTo>
                    <a:pt x="616" y="152"/>
                  </a:lnTo>
                  <a:lnTo>
                    <a:pt x="680" y="200"/>
                  </a:lnTo>
                  <a:lnTo>
                    <a:pt x="800" y="152"/>
                  </a:lnTo>
                  <a:lnTo>
                    <a:pt x="840" y="120"/>
                  </a:lnTo>
                  <a:lnTo>
                    <a:pt x="912" y="96"/>
                  </a:lnTo>
                  <a:lnTo>
                    <a:pt x="976" y="72"/>
                  </a:lnTo>
                  <a:lnTo>
                    <a:pt x="1064" y="88"/>
                  </a:lnTo>
                  <a:lnTo>
                    <a:pt x="1120" y="96"/>
                  </a:lnTo>
                  <a:lnTo>
                    <a:pt x="1184" y="136"/>
                  </a:lnTo>
                  <a:lnTo>
                    <a:pt x="1232" y="160"/>
                  </a:lnTo>
                  <a:lnTo>
                    <a:pt x="1296" y="192"/>
                  </a:lnTo>
                  <a:lnTo>
                    <a:pt x="1344" y="192"/>
                  </a:lnTo>
                  <a:lnTo>
                    <a:pt x="1400" y="192"/>
                  </a:lnTo>
                  <a:lnTo>
                    <a:pt x="1472" y="168"/>
                  </a:lnTo>
                  <a:lnTo>
                    <a:pt x="1512" y="144"/>
                  </a:lnTo>
                  <a:lnTo>
                    <a:pt x="1576" y="136"/>
                  </a:lnTo>
                  <a:lnTo>
                    <a:pt x="1632" y="120"/>
                  </a:lnTo>
                  <a:lnTo>
                    <a:pt x="1736" y="128"/>
                  </a:lnTo>
                  <a:lnTo>
                    <a:pt x="1784" y="136"/>
                  </a:lnTo>
                  <a:lnTo>
                    <a:pt x="1848" y="160"/>
                  </a:lnTo>
                  <a:lnTo>
                    <a:pt x="1896" y="160"/>
                  </a:lnTo>
                  <a:lnTo>
                    <a:pt x="1992" y="184"/>
                  </a:lnTo>
                </a:path>
              </a:pathLst>
            </a:custGeom>
            <a:noFill/>
            <a:ln w="76200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5" name="Freeform 46"/>
            <p:cNvSpPr>
              <a:spLocks/>
            </p:cNvSpPr>
            <p:nvPr/>
          </p:nvSpPr>
          <p:spPr bwMode="auto">
            <a:xfrm>
              <a:off x="3193" y="2406"/>
              <a:ext cx="892" cy="164"/>
            </a:xfrm>
            <a:custGeom>
              <a:avLst/>
              <a:gdLst>
                <a:gd name="T0" fmla="*/ 0 w 1992"/>
                <a:gd name="T1" fmla="*/ 2 h 200"/>
                <a:gd name="T2" fmla="*/ 0 w 1992"/>
                <a:gd name="T3" fmla="*/ 2 h 200"/>
                <a:gd name="T4" fmla="*/ 0 w 1992"/>
                <a:gd name="T5" fmla="*/ 2 h 200"/>
                <a:gd name="T6" fmla="*/ 0 w 1992"/>
                <a:gd name="T7" fmla="*/ 2 h 200"/>
                <a:gd name="T8" fmla="*/ 0 w 1992"/>
                <a:gd name="T9" fmla="*/ 0 h 200"/>
                <a:gd name="T10" fmla="*/ 0 w 1992"/>
                <a:gd name="T11" fmla="*/ 2 h 200"/>
                <a:gd name="T12" fmla="*/ 0 w 1992"/>
                <a:gd name="T13" fmla="*/ 2 h 200"/>
                <a:gd name="T14" fmla="*/ 0 w 1992"/>
                <a:gd name="T15" fmla="*/ 2 h 200"/>
                <a:gd name="T16" fmla="*/ 0 w 1992"/>
                <a:gd name="T17" fmla="*/ 2 h 200"/>
                <a:gd name="T18" fmla="*/ 0 w 1992"/>
                <a:gd name="T19" fmla="*/ 2 h 200"/>
                <a:gd name="T20" fmla="*/ 0 w 1992"/>
                <a:gd name="T21" fmla="*/ 2 h 200"/>
                <a:gd name="T22" fmla="*/ 0 w 1992"/>
                <a:gd name="T23" fmla="*/ 2 h 200"/>
                <a:gd name="T24" fmla="*/ 0 w 1992"/>
                <a:gd name="T25" fmla="*/ 2 h 200"/>
                <a:gd name="T26" fmla="*/ 0 w 1992"/>
                <a:gd name="T27" fmla="*/ 2 h 200"/>
                <a:gd name="T28" fmla="*/ 0 w 1992"/>
                <a:gd name="T29" fmla="*/ 2 h 200"/>
                <a:gd name="T30" fmla="*/ 0 w 1992"/>
                <a:gd name="T31" fmla="*/ 2 h 200"/>
                <a:gd name="T32" fmla="*/ 0 w 1992"/>
                <a:gd name="T33" fmla="*/ 2 h 200"/>
                <a:gd name="T34" fmla="*/ 0 w 1992"/>
                <a:gd name="T35" fmla="*/ 2 h 200"/>
                <a:gd name="T36" fmla="*/ 0 w 1992"/>
                <a:gd name="T37" fmla="*/ 2 h 200"/>
                <a:gd name="T38" fmla="*/ 0 w 1992"/>
                <a:gd name="T39" fmla="*/ 2 h 200"/>
                <a:gd name="T40" fmla="*/ 0 w 1992"/>
                <a:gd name="T41" fmla="*/ 2 h 200"/>
                <a:gd name="T42" fmla="*/ 0 w 1992"/>
                <a:gd name="T43" fmla="*/ 2 h 200"/>
                <a:gd name="T44" fmla="*/ 0 w 1992"/>
                <a:gd name="T45" fmla="*/ 2 h 200"/>
                <a:gd name="T46" fmla="*/ 0 w 1992"/>
                <a:gd name="T47" fmla="*/ 2 h 200"/>
                <a:gd name="T48" fmla="*/ 0 w 1992"/>
                <a:gd name="T49" fmla="*/ 2 h 200"/>
                <a:gd name="T50" fmla="*/ 0 w 1992"/>
                <a:gd name="T51" fmla="*/ 2 h 200"/>
                <a:gd name="T52" fmla="*/ 0 w 1992"/>
                <a:gd name="T53" fmla="*/ 2 h 200"/>
                <a:gd name="T54" fmla="*/ 0 w 1992"/>
                <a:gd name="T55" fmla="*/ 2 h 200"/>
                <a:gd name="T56" fmla="*/ 0 w 1992"/>
                <a:gd name="T57" fmla="*/ 2 h 200"/>
                <a:gd name="T58" fmla="*/ 0 w 1992"/>
                <a:gd name="T59" fmla="*/ 2 h 200"/>
                <a:gd name="T60" fmla="*/ 0 w 1992"/>
                <a:gd name="T61" fmla="*/ 2 h 20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992" h="200">
                  <a:moveTo>
                    <a:pt x="0" y="184"/>
                  </a:moveTo>
                  <a:lnTo>
                    <a:pt x="72" y="176"/>
                  </a:lnTo>
                  <a:lnTo>
                    <a:pt x="128" y="128"/>
                  </a:lnTo>
                  <a:lnTo>
                    <a:pt x="184" y="64"/>
                  </a:lnTo>
                  <a:lnTo>
                    <a:pt x="256" y="0"/>
                  </a:lnTo>
                  <a:lnTo>
                    <a:pt x="392" y="40"/>
                  </a:lnTo>
                  <a:lnTo>
                    <a:pt x="432" y="72"/>
                  </a:lnTo>
                  <a:lnTo>
                    <a:pt x="496" y="112"/>
                  </a:lnTo>
                  <a:lnTo>
                    <a:pt x="560" y="136"/>
                  </a:lnTo>
                  <a:lnTo>
                    <a:pt x="616" y="152"/>
                  </a:lnTo>
                  <a:lnTo>
                    <a:pt x="680" y="200"/>
                  </a:lnTo>
                  <a:lnTo>
                    <a:pt x="800" y="152"/>
                  </a:lnTo>
                  <a:lnTo>
                    <a:pt x="840" y="120"/>
                  </a:lnTo>
                  <a:lnTo>
                    <a:pt x="912" y="96"/>
                  </a:lnTo>
                  <a:lnTo>
                    <a:pt x="976" y="72"/>
                  </a:lnTo>
                  <a:lnTo>
                    <a:pt x="1064" y="88"/>
                  </a:lnTo>
                  <a:lnTo>
                    <a:pt x="1120" y="96"/>
                  </a:lnTo>
                  <a:lnTo>
                    <a:pt x="1184" y="136"/>
                  </a:lnTo>
                  <a:lnTo>
                    <a:pt x="1232" y="160"/>
                  </a:lnTo>
                  <a:lnTo>
                    <a:pt x="1296" y="192"/>
                  </a:lnTo>
                  <a:lnTo>
                    <a:pt x="1344" y="192"/>
                  </a:lnTo>
                  <a:lnTo>
                    <a:pt x="1400" y="192"/>
                  </a:lnTo>
                  <a:lnTo>
                    <a:pt x="1472" y="168"/>
                  </a:lnTo>
                  <a:lnTo>
                    <a:pt x="1512" y="144"/>
                  </a:lnTo>
                  <a:lnTo>
                    <a:pt x="1576" y="136"/>
                  </a:lnTo>
                  <a:lnTo>
                    <a:pt x="1632" y="120"/>
                  </a:lnTo>
                  <a:lnTo>
                    <a:pt x="1736" y="128"/>
                  </a:lnTo>
                  <a:lnTo>
                    <a:pt x="1784" y="136"/>
                  </a:lnTo>
                  <a:lnTo>
                    <a:pt x="1848" y="160"/>
                  </a:lnTo>
                  <a:lnTo>
                    <a:pt x="1896" y="160"/>
                  </a:lnTo>
                  <a:lnTo>
                    <a:pt x="1992" y="184"/>
                  </a:lnTo>
                </a:path>
              </a:pathLst>
            </a:custGeom>
            <a:noFill/>
            <a:ln w="76200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6" name="Freeform 47"/>
            <p:cNvSpPr>
              <a:spLocks/>
            </p:cNvSpPr>
            <p:nvPr/>
          </p:nvSpPr>
          <p:spPr bwMode="auto">
            <a:xfrm flipH="1">
              <a:off x="3432" y="2413"/>
              <a:ext cx="1590" cy="150"/>
            </a:xfrm>
            <a:custGeom>
              <a:avLst/>
              <a:gdLst>
                <a:gd name="T0" fmla="*/ 0 w 2024"/>
                <a:gd name="T1" fmla="*/ 2 h 183"/>
                <a:gd name="T2" fmla="*/ 2 w 2024"/>
                <a:gd name="T3" fmla="*/ 2 h 183"/>
                <a:gd name="T4" fmla="*/ 2 w 2024"/>
                <a:gd name="T5" fmla="*/ 2 h 183"/>
                <a:gd name="T6" fmla="*/ 2 w 2024"/>
                <a:gd name="T7" fmla="*/ 2 h 183"/>
                <a:gd name="T8" fmla="*/ 2 w 2024"/>
                <a:gd name="T9" fmla="*/ 2 h 183"/>
                <a:gd name="T10" fmla="*/ 2 w 2024"/>
                <a:gd name="T11" fmla="*/ 2 h 183"/>
                <a:gd name="T12" fmla="*/ 2 w 2024"/>
                <a:gd name="T13" fmla="*/ 2 h 183"/>
                <a:gd name="T14" fmla="*/ 2 w 2024"/>
                <a:gd name="T15" fmla="*/ 2 h 183"/>
                <a:gd name="T16" fmla="*/ 2 w 2024"/>
                <a:gd name="T17" fmla="*/ 2 h 183"/>
                <a:gd name="T18" fmla="*/ 2 w 2024"/>
                <a:gd name="T19" fmla="*/ 2 h 183"/>
                <a:gd name="T20" fmla="*/ 2 w 2024"/>
                <a:gd name="T21" fmla="*/ 2 h 183"/>
                <a:gd name="T22" fmla="*/ 2 w 2024"/>
                <a:gd name="T23" fmla="*/ 2 h 183"/>
                <a:gd name="T24" fmla="*/ 2 w 2024"/>
                <a:gd name="T25" fmla="*/ 2 h 183"/>
                <a:gd name="T26" fmla="*/ 2 w 2024"/>
                <a:gd name="T27" fmla="*/ 2 h 183"/>
                <a:gd name="T28" fmla="*/ 2 w 2024"/>
                <a:gd name="T29" fmla="*/ 2 h 183"/>
                <a:gd name="T30" fmla="*/ 2 w 2024"/>
                <a:gd name="T31" fmla="*/ 2 h 183"/>
                <a:gd name="T32" fmla="*/ 2 w 2024"/>
                <a:gd name="T33" fmla="*/ 2 h 183"/>
                <a:gd name="T34" fmla="*/ 2 w 2024"/>
                <a:gd name="T35" fmla="*/ 2 h 183"/>
                <a:gd name="T36" fmla="*/ 2 w 2024"/>
                <a:gd name="T37" fmla="*/ 2 h 183"/>
                <a:gd name="T38" fmla="*/ 2 w 2024"/>
                <a:gd name="T39" fmla="*/ 2 h 183"/>
                <a:gd name="T40" fmla="*/ 2 w 2024"/>
                <a:gd name="T41" fmla="*/ 2 h 183"/>
                <a:gd name="T42" fmla="*/ 2 w 2024"/>
                <a:gd name="T43" fmla="*/ 2 h 183"/>
                <a:gd name="T44" fmla="*/ 3 w 2024"/>
                <a:gd name="T45" fmla="*/ 2 h 183"/>
                <a:gd name="T46" fmla="*/ 3 w 2024"/>
                <a:gd name="T47" fmla="*/ 2 h 183"/>
                <a:gd name="T48" fmla="*/ 3 w 2024"/>
                <a:gd name="T49" fmla="*/ 2 h 18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024" h="183">
                  <a:moveTo>
                    <a:pt x="0" y="151"/>
                  </a:moveTo>
                  <a:cubicBezTo>
                    <a:pt x="92" y="131"/>
                    <a:pt x="185" y="111"/>
                    <a:pt x="248" y="103"/>
                  </a:cubicBezTo>
                  <a:cubicBezTo>
                    <a:pt x="311" y="95"/>
                    <a:pt x="336" y="99"/>
                    <a:pt x="376" y="103"/>
                  </a:cubicBezTo>
                  <a:cubicBezTo>
                    <a:pt x="416" y="107"/>
                    <a:pt x="453" y="119"/>
                    <a:pt x="488" y="127"/>
                  </a:cubicBezTo>
                  <a:cubicBezTo>
                    <a:pt x="523" y="135"/>
                    <a:pt x="553" y="142"/>
                    <a:pt x="584" y="151"/>
                  </a:cubicBezTo>
                  <a:cubicBezTo>
                    <a:pt x="615" y="160"/>
                    <a:pt x="636" y="183"/>
                    <a:pt x="672" y="183"/>
                  </a:cubicBezTo>
                  <a:cubicBezTo>
                    <a:pt x="708" y="183"/>
                    <a:pt x="763" y="164"/>
                    <a:pt x="800" y="151"/>
                  </a:cubicBezTo>
                  <a:cubicBezTo>
                    <a:pt x="837" y="138"/>
                    <a:pt x="861" y="119"/>
                    <a:pt x="896" y="103"/>
                  </a:cubicBezTo>
                  <a:cubicBezTo>
                    <a:pt x="931" y="87"/>
                    <a:pt x="980" y="63"/>
                    <a:pt x="1008" y="55"/>
                  </a:cubicBezTo>
                  <a:cubicBezTo>
                    <a:pt x="1036" y="47"/>
                    <a:pt x="1044" y="52"/>
                    <a:pt x="1064" y="55"/>
                  </a:cubicBezTo>
                  <a:cubicBezTo>
                    <a:pt x="1084" y="58"/>
                    <a:pt x="1105" y="62"/>
                    <a:pt x="1128" y="71"/>
                  </a:cubicBezTo>
                  <a:cubicBezTo>
                    <a:pt x="1151" y="80"/>
                    <a:pt x="1177" y="100"/>
                    <a:pt x="1200" y="111"/>
                  </a:cubicBezTo>
                  <a:cubicBezTo>
                    <a:pt x="1223" y="122"/>
                    <a:pt x="1243" y="127"/>
                    <a:pt x="1264" y="135"/>
                  </a:cubicBezTo>
                  <a:cubicBezTo>
                    <a:pt x="1285" y="143"/>
                    <a:pt x="1309" y="154"/>
                    <a:pt x="1328" y="159"/>
                  </a:cubicBezTo>
                  <a:cubicBezTo>
                    <a:pt x="1347" y="164"/>
                    <a:pt x="1356" y="167"/>
                    <a:pt x="1376" y="167"/>
                  </a:cubicBezTo>
                  <a:cubicBezTo>
                    <a:pt x="1396" y="167"/>
                    <a:pt x="1427" y="167"/>
                    <a:pt x="1448" y="159"/>
                  </a:cubicBezTo>
                  <a:cubicBezTo>
                    <a:pt x="1469" y="151"/>
                    <a:pt x="1481" y="136"/>
                    <a:pt x="1504" y="119"/>
                  </a:cubicBezTo>
                  <a:cubicBezTo>
                    <a:pt x="1527" y="102"/>
                    <a:pt x="1557" y="74"/>
                    <a:pt x="1584" y="55"/>
                  </a:cubicBezTo>
                  <a:cubicBezTo>
                    <a:pt x="1611" y="36"/>
                    <a:pt x="1637" y="14"/>
                    <a:pt x="1664" y="7"/>
                  </a:cubicBezTo>
                  <a:cubicBezTo>
                    <a:pt x="1691" y="0"/>
                    <a:pt x="1717" y="8"/>
                    <a:pt x="1744" y="15"/>
                  </a:cubicBezTo>
                  <a:cubicBezTo>
                    <a:pt x="1771" y="22"/>
                    <a:pt x="1802" y="35"/>
                    <a:pt x="1824" y="47"/>
                  </a:cubicBezTo>
                  <a:cubicBezTo>
                    <a:pt x="1846" y="59"/>
                    <a:pt x="1861" y="71"/>
                    <a:pt x="1880" y="87"/>
                  </a:cubicBezTo>
                  <a:cubicBezTo>
                    <a:pt x="1899" y="103"/>
                    <a:pt x="1920" y="128"/>
                    <a:pt x="1936" y="143"/>
                  </a:cubicBezTo>
                  <a:cubicBezTo>
                    <a:pt x="1952" y="158"/>
                    <a:pt x="1961" y="168"/>
                    <a:pt x="1976" y="175"/>
                  </a:cubicBezTo>
                  <a:cubicBezTo>
                    <a:pt x="1991" y="182"/>
                    <a:pt x="2007" y="182"/>
                    <a:pt x="2024" y="183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7" name="Freeform 48"/>
            <p:cNvSpPr>
              <a:spLocks/>
            </p:cNvSpPr>
            <p:nvPr/>
          </p:nvSpPr>
          <p:spPr bwMode="auto">
            <a:xfrm flipH="1">
              <a:off x="3199" y="2433"/>
              <a:ext cx="880" cy="124"/>
            </a:xfrm>
            <a:custGeom>
              <a:avLst/>
              <a:gdLst>
                <a:gd name="T0" fmla="*/ 0 w 2024"/>
                <a:gd name="T1" fmla="*/ 1 h 183"/>
                <a:gd name="T2" fmla="*/ 0 w 2024"/>
                <a:gd name="T3" fmla="*/ 1 h 183"/>
                <a:gd name="T4" fmla="*/ 0 w 2024"/>
                <a:gd name="T5" fmla="*/ 1 h 183"/>
                <a:gd name="T6" fmla="*/ 0 w 2024"/>
                <a:gd name="T7" fmla="*/ 1 h 183"/>
                <a:gd name="T8" fmla="*/ 0 w 2024"/>
                <a:gd name="T9" fmla="*/ 1 h 183"/>
                <a:gd name="T10" fmla="*/ 0 w 2024"/>
                <a:gd name="T11" fmla="*/ 1 h 183"/>
                <a:gd name="T12" fmla="*/ 0 w 2024"/>
                <a:gd name="T13" fmla="*/ 1 h 183"/>
                <a:gd name="T14" fmla="*/ 0 w 2024"/>
                <a:gd name="T15" fmla="*/ 1 h 183"/>
                <a:gd name="T16" fmla="*/ 0 w 2024"/>
                <a:gd name="T17" fmla="*/ 1 h 183"/>
                <a:gd name="T18" fmla="*/ 0 w 2024"/>
                <a:gd name="T19" fmla="*/ 1 h 183"/>
                <a:gd name="T20" fmla="*/ 0 w 2024"/>
                <a:gd name="T21" fmla="*/ 1 h 183"/>
                <a:gd name="T22" fmla="*/ 0 w 2024"/>
                <a:gd name="T23" fmla="*/ 1 h 183"/>
                <a:gd name="T24" fmla="*/ 0 w 2024"/>
                <a:gd name="T25" fmla="*/ 1 h 183"/>
                <a:gd name="T26" fmla="*/ 0 w 2024"/>
                <a:gd name="T27" fmla="*/ 1 h 183"/>
                <a:gd name="T28" fmla="*/ 0 w 2024"/>
                <a:gd name="T29" fmla="*/ 1 h 183"/>
                <a:gd name="T30" fmla="*/ 0 w 2024"/>
                <a:gd name="T31" fmla="*/ 1 h 183"/>
                <a:gd name="T32" fmla="*/ 0 w 2024"/>
                <a:gd name="T33" fmla="*/ 1 h 183"/>
                <a:gd name="T34" fmla="*/ 0 w 2024"/>
                <a:gd name="T35" fmla="*/ 1 h 183"/>
                <a:gd name="T36" fmla="*/ 0 w 2024"/>
                <a:gd name="T37" fmla="*/ 1 h 183"/>
                <a:gd name="T38" fmla="*/ 0 w 2024"/>
                <a:gd name="T39" fmla="*/ 1 h 183"/>
                <a:gd name="T40" fmla="*/ 0 w 2024"/>
                <a:gd name="T41" fmla="*/ 1 h 183"/>
                <a:gd name="T42" fmla="*/ 0 w 2024"/>
                <a:gd name="T43" fmla="*/ 1 h 183"/>
                <a:gd name="T44" fmla="*/ 0 w 2024"/>
                <a:gd name="T45" fmla="*/ 1 h 183"/>
                <a:gd name="T46" fmla="*/ 0 w 2024"/>
                <a:gd name="T47" fmla="*/ 1 h 183"/>
                <a:gd name="T48" fmla="*/ 0 w 2024"/>
                <a:gd name="T49" fmla="*/ 1 h 18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024" h="183">
                  <a:moveTo>
                    <a:pt x="0" y="151"/>
                  </a:moveTo>
                  <a:cubicBezTo>
                    <a:pt x="92" y="131"/>
                    <a:pt x="185" y="111"/>
                    <a:pt x="248" y="103"/>
                  </a:cubicBezTo>
                  <a:cubicBezTo>
                    <a:pt x="311" y="95"/>
                    <a:pt x="336" y="99"/>
                    <a:pt x="376" y="103"/>
                  </a:cubicBezTo>
                  <a:cubicBezTo>
                    <a:pt x="416" y="107"/>
                    <a:pt x="453" y="119"/>
                    <a:pt x="488" y="127"/>
                  </a:cubicBezTo>
                  <a:cubicBezTo>
                    <a:pt x="523" y="135"/>
                    <a:pt x="553" y="142"/>
                    <a:pt x="584" y="151"/>
                  </a:cubicBezTo>
                  <a:cubicBezTo>
                    <a:pt x="615" y="160"/>
                    <a:pt x="636" y="183"/>
                    <a:pt x="672" y="183"/>
                  </a:cubicBezTo>
                  <a:cubicBezTo>
                    <a:pt x="708" y="183"/>
                    <a:pt x="763" y="164"/>
                    <a:pt x="800" y="151"/>
                  </a:cubicBezTo>
                  <a:cubicBezTo>
                    <a:pt x="837" y="138"/>
                    <a:pt x="861" y="119"/>
                    <a:pt x="896" y="103"/>
                  </a:cubicBezTo>
                  <a:cubicBezTo>
                    <a:pt x="931" y="87"/>
                    <a:pt x="980" y="63"/>
                    <a:pt x="1008" y="55"/>
                  </a:cubicBezTo>
                  <a:cubicBezTo>
                    <a:pt x="1036" y="47"/>
                    <a:pt x="1044" y="52"/>
                    <a:pt x="1064" y="55"/>
                  </a:cubicBezTo>
                  <a:cubicBezTo>
                    <a:pt x="1084" y="58"/>
                    <a:pt x="1105" y="62"/>
                    <a:pt x="1128" y="71"/>
                  </a:cubicBezTo>
                  <a:cubicBezTo>
                    <a:pt x="1151" y="80"/>
                    <a:pt x="1177" y="100"/>
                    <a:pt x="1200" y="111"/>
                  </a:cubicBezTo>
                  <a:cubicBezTo>
                    <a:pt x="1223" y="122"/>
                    <a:pt x="1243" y="127"/>
                    <a:pt x="1264" y="135"/>
                  </a:cubicBezTo>
                  <a:cubicBezTo>
                    <a:pt x="1285" y="143"/>
                    <a:pt x="1309" y="154"/>
                    <a:pt x="1328" y="159"/>
                  </a:cubicBezTo>
                  <a:cubicBezTo>
                    <a:pt x="1347" y="164"/>
                    <a:pt x="1356" y="167"/>
                    <a:pt x="1376" y="167"/>
                  </a:cubicBezTo>
                  <a:cubicBezTo>
                    <a:pt x="1396" y="167"/>
                    <a:pt x="1427" y="167"/>
                    <a:pt x="1448" y="159"/>
                  </a:cubicBezTo>
                  <a:cubicBezTo>
                    <a:pt x="1469" y="151"/>
                    <a:pt x="1481" y="136"/>
                    <a:pt x="1504" y="119"/>
                  </a:cubicBezTo>
                  <a:cubicBezTo>
                    <a:pt x="1527" y="102"/>
                    <a:pt x="1557" y="74"/>
                    <a:pt x="1584" y="55"/>
                  </a:cubicBezTo>
                  <a:cubicBezTo>
                    <a:pt x="1611" y="36"/>
                    <a:pt x="1637" y="14"/>
                    <a:pt x="1664" y="7"/>
                  </a:cubicBezTo>
                  <a:cubicBezTo>
                    <a:pt x="1691" y="0"/>
                    <a:pt x="1717" y="8"/>
                    <a:pt x="1744" y="15"/>
                  </a:cubicBezTo>
                  <a:cubicBezTo>
                    <a:pt x="1771" y="22"/>
                    <a:pt x="1802" y="35"/>
                    <a:pt x="1824" y="47"/>
                  </a:cubicBezTo>
                  <a:cubicBezTo>
                    <a:pt x="1846" y="59"/>
                    <a:pt x="1861" y="71"/>
                    <a:pt x="1880" y="87"/>
                  </a:cubicBezTo>
                  <a:cubicBezTo>
                    <a:pt x="1899" y="103"/>
                    <a:pt x="1920" y="128"/>
                    <a:pt x="1936" y="143"/>
                  </a:cubicBezTo>
                  <a:cubicBezTo>
                    <a:pt x="1952" y="158"/>
                    <a:pt x="1961" y="168"/>
                    <a:pt x="1976" y="175"/>
                  </a:cubicBezTo>
                  <a:cubicBezTo>
                    <a:pt x="1991" y="182"/>
                    <a:pt x="2007" y="182"/>
                    <a:pt x="2024" y="183"/>
                  </a:cubicBezTo>
                </a:path>
              </a:pathLst>
            </a:custGeom>
            <a:noFill/>
            <a:ln w="38100" cmpd="sng">
              <a:solidFill>
                <a:srgbClr val="99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8" name="Freeform 49"/>
            <p:cNvSpPr>
              <a:spLocks/>
            </p:cNvSpPr>
            <p:nvPr/>
          </p:nvSpPr>
          <p:spPr bwMode="auto">
            <a:xfrm>
              <a:off x="3369" y="2426"/>
              <a:ext cx="57" cy="131"/>
            </a:xfrm>
            <a:custGeom>
              <a:avLst/>
              <a:gdLst>
                <a:gd name="T0" fmla="*/ 0 w 72"/>
                <a:gd name="T1" fmla="*/ 0 h 160"/>
                <a:gd name="T2" fmla="*/ 2 w 72"/>
                <a:gd name="T3" fmla="*/ 2 h 160"/>
                <a:gd name="T4" fmla="*/ 2 w 72"/>
                <a:gd name="T5" fmla="*/ 2 h 160"/>
                <a:gd name="T6" fmla="*/ 2 w 72"/>
                <a:gd name="T7" fmla="*/ 2 h 1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" h="160">
                  <a:moveTo>
                    <a:pt x="0" y="0"/>
                  </a:moveTo>
                  <a:cubicBezTo>
                    <a:pt x="1" y="17"/>
                    <a:pt x="3" y="35"/>
                    <a:pt x="8" y="56"/>
                  </a:cubicBezTo>
                  <a:cubicBezTo>
                    <a:pt x="13" y="77"/>
                    <a:pt x="21" y="111"/>
                    <a:pt x="32" y="128"/>
                  </a:cubicBezTo>
                  <a:cubicBezTo>
                    <a:pt x="43" y="145"/>
                    <a:pt x="57" y="152"/>
                    <a:pt x="72" y="160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Freeform 50"/>
            <p:cNvSpPr>
              <a:spLocks/>
            </p:cNvSpPr>
            <p:nvPr/>
          </p:nvSpPr>
          <p:spPr bwMode="auto">
            <a:xfrm flipH="1">
              <a:off x="3325" y="2407"/>
              <a:ext cx="1163" cy="156"/>
            </a:xfrm>
            <a:custGeom>
              <a:avLst/>
              <a:gdLst>
                <a:gd name="T0" fmla="*/ 0 w 2024"/>
                <a:gd name="T1" fmla="*/ 3 h 183"/>
                <a:gd name="T2" fmla="*/ 1 w 2024"/>
                <a:gd name="T3" fmla="*/ 3 h 183"/>
                <a:gd name="T4" fmla="*/ 1 w 2024"/>
                <a:gd name="T5" fmla="*/ 3 h 183"/>
                <a:gd name="T6" fmla="*/ 1 w 2024"/>
                <a:gd name="T7" fmla="*/ 3 h 183"/>
                <a:gd name="T8" fmla="*/ 1 w 2024"/>
                <a:gd name="T9" fmla="*/ 3 h 183"/>
                <a:gd name="T10" fmla="*/ 1 w 2024"/>
                <a:gd name="T11" fmla="*/ 3 h 183"/>
                <a:gd name="T12" fmla="*/ 1 w 2024"/>
                <a:gd name="T13" fmla="*/ 3 h 183"/>
                <a:gd name="T14" fmla="*/ 1 w 2024"/>
                <a:gd name="T15" fmla="*/ 3 h 183"/>
                <a:gd name="T16" fmla="*/ 1 w 2024"/>
                <a:gd name="T17" fmla="*/ 3 h 183"/>
                <a:gd name="T18" fmla="*/ 1 w 2024"/>
                <a:gd name="T19" fmla="*/ 3 h 183"/>
                <a:gd name="T20" fmla="*/ 1 w 2024"/>
                <a:gd name="T21" fmla="*/ 3 h 183"/>
                <a:gd name="T22" fmla="*/ 1 w 2024"/>
                <a:gd name="T23" fmla="*/ 3 h 183"/>
                <a:gd name="T24" fmla="*/ 1 w 2024"/>
                <a:gd name="T25" fmla="*/ 3 h 183"/>
                <a:gd name="T26" fmla="*/ 1 w 2024"/>
                <a:gd name="T27" fmla="*/ 3 h 183"/>
                <a:gd name="T28" fmla="*/ 1 w 2024"/>
                <a:gd name="T29" fmla="*/ 3 h 183"/>
                <a:gd name="T30" fmla="*/ 1 w 2024"/>
                <a:gd name="T31" fmla="*/ 3 h 183"/>
                <a:gd name="T32" fmla="*/ 1 w 2024"/>
                <a:gd name="T33" fmla="*/ 3 h 183"/>
                <a:gd name="T34" fmla="*/ 1 w 2024"/>
                <a:gd name="T35" fmla="*/ 3 h 183"/>
                <a:gd name="T36" fmla="*/ 1 w 2024"/>
                <a:gd name="T37" fmla="*/ 3 h 183"/>
                <a:gd name="T38" fmla="*/ 1 w 2024"/>
                <a:gd name="T39" fmla="*/ 3 h 183"/>
                <a:gd name="T40" fmla="*/ 1 w 2024"/>
                <a:gd name="T41" fmla="*/ 3 h 183"/>
                <a:gd name="T42" fmla="*/ 1 w 2024"/>
                <a:gd name="T43" fmla="*/ 3 h 183"/>
                <a:gd name="T44" fmla="*/ 1 w 2024"/>
                <a:gd name="T45" fmla="*/ 3 h 183"/>
                <a:gd name="T46" fmla="*/ 1 w 2024"/>
                <a:gd name="T47" fmla="*/ 3 h 183"/>
                <a:gd name="T48" fmla="*/ 1 w 2024"/>
                <a:gd name="T49" fmla="*/ 3 h 18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024" h="183">
                  <a:moveTo>
                    <a:pt x="0" y="151"/>
                  </a:moveTo>
                  <a:cubicBezTo>
                    <a:pt x="92" y="131"/>
                    <a:pt x="185" y="111"/>
                    <a:pt x="248" y="103"/>
                  </a:cubicBezTo>
                  <a:cubicBezTo>
                    <a:pt x="311" y="95"/>
                    <a:pt x="336" y="99"/>
                    <a:pt x="376" y="103"/>
                  </a:cubicBezTo>
                  <a:cubicBezTo>
                    <a:pt x="416" y="107"/>
                    <a:pt x="453" y="119"/>
                    <a:pt x="488" y="127"/>
                  </a:cubicBezTo>
                  <a:cubicBezTo>
                    <a:pt x="523" y="135"/>
                    <a:pt x="553" y="142"/>
                    <a:pt x="584" y="151"/>
                  </a:cubicBezTo>
                  <a:cubicBezTo>
                    <a:pt x="615" y="160"/>
                    <a:pt x="636" y="183"/>
                    <a:pt x="672" y="183"/>
                  </a:cubicBezTo>
                  <a:cubicBezTo>
                    <a:pt x="708" y="183"/>
                    <a:pt x="763" y="164"/>
                    <a:pt x="800" y="151"/>
                  </a:cubicBezTo>
                  <a:cubicBezTo>
                    <a:pt x="837" y="138"/>
                    <a:pt x="861" y="119"/>
                    <a:pt x="896" y="103"/>
                  </a:cubicBezTo>
                  <a:cubicBezTo>
                    <a:pt x="931" y="87"/>
                    <a:pt x="980" y="63"/>
                    <a:pt x="1008" y="55"/>
                  </a:cubicBezTo>
                  <a:cubicBezTo>
                    <a:pt x="1036" y="47"/>
                    <a:pt x="1044" y="52"/>
                    <a:pt x="1064" y="55"/>
                  </a:cubicBezTo>
                  <a:cubicBezTo>
                    <a:pt x="1084" y="58"/>
                    <a:pt x="1105" y="62"/>
                    <a:pt x="1128" y="71"/>
                  </a:cubicBezTo>
                  <a:cubicBezTo>
                    <a:pt x="1151" y="80"/>
                    <a:pt x="1177" y="100"/>
                    <a:pt x="1200" y="111"/>
                  </a:cubicBezTo>
                  <a:cubicBezTo>
                    <a:pt x="1223" y="122"/>
                    <a:pt x="1243" y="127"/>
                    <a:pt x="1264" y="135"/>
                  </a:cubicBezTo>
                  <a:cubicBezTo>
                    <a:pt x="1285" y="143"/>
                    <a:pt x="1309" y="154"/>
                    <a:pt x="1328" y="159"/>
                  </a:cubicBezTo>
                  <a:cubicBezTo>
                    <a:pt x="1347" y="164"/>
                    <a:pt x="1356" y="167"/>
                    <a:pt x="1376" y="167"/>
                  </a:cubicBezTo>
                  <a:cubicBezTo>
                    <a:pt x="1396" y="167"/>
                    <a:pt x="1427" y="167"/>
                    <a:pt x="1448" y="159"/>
                  </a:cubicBezTo>
                  <a:cubicBezTo>
                    <a:pt x="1469" y="151"/>
                    <a:pt x="1481" y="136"/>
                    <a:pt x="1504" y="119"/>
                  </a:cubicBezTo>
                  <a:cubicBezTo>
                    <a:pt x="1527" y="102"/>
                    <a:pt x="1557" y="74"/>
                    <a:pt x="1584" y="55"/>
                  </a:cubicBezTo>
                  <a:cubicBezTo>
                    <a:pt x="1611" y="36"/>
                    <a:pt x="1637" y="14"/>
                    <a:pt x="1664" y="7"/>
                  </a:cubicBezTo>
                  <a:cubicBezTo>
                    <a:pt x="1691" y="0"/>
                    <a:pt x="1717" y="8"/>
                    <a:pt x="1744" y="15"/>
                  </a:cubicBezTo>
                  <a:cubicBezTo>
                    <a:pt x="1771" y="22"/>
                    <a:pt x="1802" y="35"/>
                    <a:pt x="1824" y="47"/>
                  </a:cubicBezTo>
                  <a:cubicBezTo>
                    <a:pt x="1846" y="59"/>
                    <a:pt x="1861" y="71"/>
                    <a:pt x="1880" y="87"/>
                  </a:cubicBezTo>
                  <a:cubicBezTo>
                    <a:pt x="1899" y="103"/>
                    <a:pt x="1920" y="128"/>
                    <a:pt x="1936" y="143"/>
                  </a:cubicBezTo>
                  <a:cubicBezTo>
                    <a:pt x="1952" y="158"/>
                    <a:pt x="1961" y="168"/>
                    <a:pt x="1976" y="175"/>
                  </a:cubicBezTo>
                  <a:cubicBezTo>
                    <a:pt x="1991" y="182"/>
                    <a:pt x="2007" y="182"/>
                    <a:pt x="2024" y="183"/>
                  </a:cubicBezTo>
                </a:path>
              </a:pathLst>
            </a:custGeom>
            <a:noFill/>
            <a:ln w="38100" cmpd="sng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Line 51"/>
            <p:cNvSpPr>
              <a:spLocks noChangeShapeType="1"/>
            </p:cNvSpPr>
            <p:nvPr/>
          </p:nvSpPr>
          <p:spPr bwMode="auto">
            <a:xfrm flipH="1">
              <a:off x="2885" y="440"/>
              <a:ext cx="0" cy="21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641" name="Group 52"/>
            <p:cNvGrpSpPr>
              <a:grpSpLocks/>
            </p:cNvGrpSpPr>
            <p:nvPr/>
          </p:nvGrpSpPr>
          <p:grpSpPr bwMode="auto">
            <a:xfrm>
              <a:off x="3656" y="1247"/>
              <a:ext cx="1201" cy="650"/>
              <a:chOff x="3696" y="855"/>
              <a:chExt cx="1201" cy="650"/>
            </a:xfrm>
          </p:grpSpPr>
          <p:sp>
            <p:nvSpPr>
              <p:cNvPr id="26675" name="Line 53"/>
              <p:cNvSpPr>
                <a:spLocks noChangeShapeType="1"/>
              </p:cNvSpPr>
              <p:nvPr/>
            </p:nvSpPr>
            <p:spPr bwMode="auto">
              <a:xfrm>
                <a:off x="3696" y="920"/>
                <a:ext cx="304" cy="0"/>
              </a:xfrm>
              <a:prstGeom prst="line">
                <a:avLst/>
              </a:prstGeom>
              <a:noFill/>
              <a:ln w="38100">
                <a:solidFill>
                  <a:srgbClr val="99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76" name="Line 54"/>
              <p:cNvSpPr>
                <a:spLocks noChangeShapeType="1"/>
              </p:cNvSpPr>
              <p:nvPr/>
            </p:nvSpPr>
            <p:spPr bwMode="auto">
              <a:xfrm>
                <a:off x="3704" y="1152"/>
                <a:ext cx="304" cy="0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77" name="Line 55"/>
              <p:cNvSpPr>
                <a:spLocks noChangeShapeType="1"/>
              </p:cNvSpPr>
              <p:nvPr/>
            </p:nvSpPr>
            <p:spPr bwMode="auto">
              <a:xfrm>
                <a:off x="3704" y="1376"/>
                <a:ext cx="30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78" name="WordArt 56"/>
              <p:cNvSpPr>
                <a:spLocks noChangeArrowheads="1" noChangeShapeType="1" noTextEdit="1"/>
              </p:cNvSpPr>
              <p:nvPr/>
            </p:nvSpPr>
            <p:spPr bwMode="auto">
              <a:xfrm>
                <a:off x="4086" y="1095"/>
                <a:ext cx="796" cy="16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2000" b="1" kern="10">
                    <a:ln w="9525">
                      <a:solidFill>
                        <a:srgbClr val="00CC00"/>
                      </a:solidFill>
                      <a:round/>
                      <a:headEnd/>
                      <a:tailEnd/>
                    </a:ln>
                    <a:solidFill>
                      <a:srgbClr val="00CC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550 nm</a:t>
                </a:r>
              </a:p>
            </p:txBody>
          </p:sp>
          <p:sp>
            <p:nvSpPr>
              <p:cNvPr id="26679" name="WordArt 57"/>
              <p:cNvSpPr>
                <a:spLocks noChangeArrowheads="1" noChangeShapeType="1" noTextEdit="1"/>
              </p:cNvSpPr>
              <p:nvPr/>
            </p:nvSpPr>
            <p:spPr bwMode="auto">
              <a:xfrm>
                <a:off x="4102" y="1343"/>
                <a:ext cx="795" cy="16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2000" b="1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650 nm</a:t>
                </a:r>
              </a:p>
            </p:txBody>
          </p:sp>
          <p:sp>
            <p:nvSpPr>
              <p:cNvPr id="26680" name="WordArt 58"/>
              <p:cNvSpPr>
                <a:spLocks noChangeArrowheads="1" noChangeShapeType="1" noTextEdit="1"/>
              </p:cNvSpPr>
              <p:nvPr/>
            </p:nvSpPr>
            <p:spPr bwMode="auto">
              <a:xfrm>
                <a:off x="4087" y="855"/>
                <a:ext cx="795" cy="16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2000" b="1" kern="10">
                    <a:ln w="9525">
                      <a:solidFill>
                        <a:srgbClr val="9900FF"/>
                      </a:solidFill>
                      <a:round/>
                      <a:headEnd/>
                      <a:tailEnd/>
                    </a:ln>
                    <a:solidFill>
                      <a:srgbClr val="99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450 nm</a:t>
                </a:r>
              </a:p>
            </p:txBody>
          </p:sp>
        </p:grpSp>
        <p:sp>
          <p:nvSpPr>
            <p:cNvPr id="26642" name="WordArt 59"/>
            <p:cNvSpPr>
              <a:spLocks noChangeArrowheads="1" noChangeShapeType="1" noTextEdit="1"/>
            </p:cNvSpPr>
            <p:nvPr/>
          </p:nvSpPr>
          <p:spPr bwMode="auto">
            <a:xfrm>
              <a:off x="2977" y="491"/>
              <a:ext cx="702" cy="2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相对光强</a:t>
              </a:r>
              <a:endParaRPr lang="en-US" sz="3600" b="1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6643" name="Line 60"/>
            <p:cNvSpPr>
              <a:spLocks noChangeShapeType="1"/>
            </p:cNvSpPr>
            <p:nvPr/>
          </p:nvSpPr>
          <p:spPr bwMode="auto">
            <a:xfrm>
              <a:off x="736" y="2570"/>
              <a:ext cx="44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4" name="WordArt 61"/>
            <p:cNvSpPr>
              <a:spLocks noChangeArrowheads="1" noChangeShapeType="1" noTextEdit="1"/>
            </p:cNvSpPr>
            <p:nvPr/>
          </p:nvSpPr>
          <p:spPr bwMode="auto">
            <a:xfrm>
              <a:off x="2848" y="2632"/>
              <a:ext cx="112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6645" name="Line 62"/>
            <p:cNvSpPr>
              <a:spLocks noChangeShapeType="1"/>
            </p:cNvSpPr>
            <p:nvPr/>
          </p:nvSpPr>
          <p:spPr bwMode="auto">
            <a:xfrm flipH="1" flipV="1">
              <a:off x="3315" y="2873"/>
              <a:ext cx="8" cy="7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WordArt 63"/>
            <p:cNvSpPr>
              <a:spLocks noChangeArrowheads="1" noChangeShapeType="1" noTextEdit="1"/>
            </p:cNvSpPr>
            <p:nvPr/>
          </p:nvSpPr>
          <p:spPr bwMode="auto">
            <a:xfrm>
              <a:off x="3925" y="2636"/>
              <a:ext cx="49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647" name="WordArt 64"/>
            <p:cNvSpPr>
              <a:spLocks noChangeArrowheads="1" noChangeShapeType="1" noTextEdit="1"/>
            </p:cNvSpPr>
            <p:nvPr/>
          </p:nvSpPr>
          <p:spPr bwMode="auto">
            <a:xfrm>
              <a:off x="3742" y="2637"/>
              <a:ext cx="4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grpSp>
          <p:nvGrpSpPr>
            <p:cNvPr id="26648" name="Group 65"/>
            <p:cNvGrpSpPr>
              <a:grpSpLocks/>
            </p:cNvGrpSpPr>
            <p:nvPr/>
          </p:nvGrpSpPr>
          <p:grpSpPr bwMode="auto">
            <a:xfrm>
              <a:off x="4200" y="2194"/>
              <a:ext cx="707" cy="171"/>
              <a:chOff x="1080" y="1418"/>
              <a:chExt cx="779" cy="251"/>
            </a:xfrm>
          </p:grpSpPr>
          <p:sp>
            <p:nvSpPr>
              <p:cNvPr id="26672" name="WordArt 66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14" y="1458"/>
                <a:ext cx="145" cy="2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Symbol" panose="05050102010706020507" pitchFamily="18" charset="2"/>
                  </a:rPr>
                  <a:t>q</a:t>
                </a:r>
              </a:p>
            </p:txBody>
          </p:sp>
          <p:sp>
            <p:nvSpPr>
              <p:cNvPr id="26673" name="WordArt 67"/>
              <p:cNvSpPr>
                <a:spLocks noChangeArrowheads="1" noChangeShapeType="1" noTextEdit="1"/>
              </p:cNvSpPr>
              <p:nvPr/>
            </p:nvSpPr>
            <p:spPr bwMode="auto">
              <a:xfrm>
                <a:off x="1080" y="1441"/>
                <a:ext cx="155" cy="2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26674" name="WordArt 6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66" y="1418"/>
                <a:ext cx="399" cy="2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cs typeface="Arial" panose="020B0604020202020204" pitchFamily="34" charset="0"/>
                  </a:rPr>
                  <a:t>sin</a:t>
                </a:r>
              </a:p>
            </p:txBody>
          </p:sp>
        </p:grpSp>
        <p:sp>
          <p:nvSpPr>
            <p:cNvPr id="26649" name="WordArt 69"/>
            <p:cNvSpPr>
              <a:spLocks noChangeArrowheads="1" noChangeShapeType="1" noTextEdit="1"/>
            </p:cNvSpPr>
            <p:nvPr/>
          </p:nvSpPr>
          <p:spPr bwMode="auto">
            <a:xfrm>
              <a:off x="5030" y="2221"/>
              <a:ext cx="127" cy="1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8208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  <p:sp>
          <p:nvSpPr>
            <p:cNvPr id="26650" name="Line 70"/>
            <p:cNvSpPr>
              <a:spLocks noChangeShapeType="1"/>
            </p:cNvSpPr>
            <p:nvPr/>
          </p:nvSpPr>
          <p:spPr bwMode="auto">
            <a:xfrm flipH="1">
              <a:off x="4912" y="2208"/>
              <a:ext cx="120" cy="1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1" name="WordArt 71"/>
            <p:cNvSpPr>
              <a:spLocks noChangeArrowheads="1" noChangeShapeType="1" noTextEdit="1"/>
            </p:cNvSpPr>
            <p:nvPr/>
          </p:nvSpPr>
          <p:spPr bwMode="auto">
            <a:xfrm>
              <a:off x="2520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52" name="WordArt 72"/>
            <p:cNvSpPr>
              <a:spLocks noChangeArrowheads="1" noChangeShapeType="1" noTextEdit="1"/>
            </p:cNvSpPr>
            <p:nvPr/>
          </p:nvSpPr>
          <p:spPr bwMode="auto">
            <a:xfrm>
              <a:off x="2598" y="2643"/>
              <a:ext cx="39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653" name="WordArt 73"/>
            <p:cNvSpPr>
              <a:spLocks noChangeArrowheads="1" noChangeShapeType="1" noTextEdit="1"/>
            </p:cNvSpPr>
            <p:nvPr/>
          </p:nvSpPr>
          <p:spPr bwMode="auto">
            <a:xfrm>
              <a:off x="3158" y="2643"/>
              <a:ext cx="39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654" name="WordArt 74"/>
            <p:cNvSpPr>
              <a:spLocks noChangeArrowheads="1" noChangeShapeType="1" noTextEdit="1"/>
            </p:cNvSpPr>
            <p:nvPr/>
          </p:nvSpPr>
          <p:spPr bwMode="auto">
            <a:xfrm>
              <a:off x="2312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55" name="WordArt 75"/>
            <p:cNvSpPr>
              <a:spLocks noChangeArrowheads="1" noChangeShapeType="1" noTextEdit="1"/>
            </p:cNvSpPr>
            <p:nvPr/>
          </p:nvSpPr>
          <p:spPr bwMode="auto">
            <a:xfrm>
              <a:off x="2390" y="2643"/>
              <a:ext cx="39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656" name="WordArt 76"/>
            <p:cNvSpPr>
              <a:spLocks noChangeArrowheads="1" noChangeShapeType="1" noTextEdit="1"/>
            </p:cNvSpPr>
            <p:nvPr/>
          </p:nvSpPr>
          <p:spPr bwMode="auto">
            <a:xfrm>
              <a:off x="3398" y="2643"/>
              <a:ext cx="39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657" name="WordArt 77"/>
            <p:cNvSpPr>
              <a:spLocks noChangeArrowheads="1" noChangeShapeType="1" noTextEdit="1"/>
            </p:cNvSpPr>
            <p:nvPr/>
          </p:nvSpPr>
          <p:spPr bwMode="auto">
            <a:xfrm>
              <a:off x="3485" y="2636"/>
              <a:ext cx="49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658" name="WordArt 78"/>
            <p:cNvSpPr>
              <a:spLocks noChangeArrowheads="1" noChangeShapeType="1" noTextEdit="1"/>
            </p:cNvSpPr>
            <p:nvPr/>
          </p:nvSpPr>
          <p:spPr bwMode="auto">
            <a:xfrm>
              <a:off x="2237" y="2636"/>
              <a:ext cx="49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659" name="WordArt 79"/>
            <p:cNvSpPr>
              <a:spLocks noChangeArrowheads="1" noChangeShapeType="1" noTextEdit="1"/>
            </p:cNvSpPr>
            <p:nvPr/>
          </p:nvSpPr>
          <p:spPr bwMode="auto">
            <a:xfrm>
              <a:off x="1773" y="2644"/>
              <a:ext cx="49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660" name="WordArt 80"/>
            <p:cNvSpPr>
              <a:spLocks noChangeArrowheads="1" noChangeShapeType="1" noTextEdit="1"/>
            </p:cNvSpPr>
            <p:nvPr/>
          </p:nvSpPr>
          <p:spPr bwMode="auto">
            <a:xfrm>
              <a:off x="4470" y="2629"/>
              <a:ext cx="4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6661" name="WordArt 81"/>
            <p:cNvSpPr>
              <a:spLocks noChangeArrowheads="1" noChangeShapeType="1" noTextEdit="1"/>
            </p:cNvSpPr>
            <p:nvPr/>
          </p:nvSpPr>
          <p:spPr bwMode="auto">
            <a:xfrm>
              <a:off x="1896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62" name="WordArt 82"/>
            <p:cNvSpPr>
              <a:spLocks noChangeArrowheads="1" noChangeShapeType="1" noTextEdit="1"/>
            </p:cNvSpPr>
            <p:nvPr/>
          </p:nvSpPr>
          <p:spPr bwMode="auto">
            <a:xfrm>
              <a:off x="2144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63" name="WordArt 83"/>
            <p:cNvSpPr>
              <a:spLocks noChangeArrowheads="1" noChangeShapeType="1" noTextEdit="1"/>
            </p:cNvSpPr>
            <p:nvPr/>
          </p:nvSpPr>
          <p:spPr bwMode="auto">
            <a:xfrm>
              <a:off x="1998" y="2637"/>
              <a:ext cx="4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6664" name="WordArt 84"/>
            <p:cNvSpPr>
              <a:spLocks noChangeArrowheads="1" noChangeShapeType="1" noTextEdit="1"/>
            </p:cNvSpPr>
            <p:nvPr/>
          </p:nvSpPr>
          <p:spPr bwMode="auto">
            <a:xfrm>
              <a:off x="1688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65" name="WordArt 85"/>
            <p:cNvSpPr>
              <a:spLocks noChangeArrowheads="1" noChangeShapeType="1" noTextEdit="1"/>
            </p:cNvSpPr>
            <p:nvPr/>
          </p:nvSpPr>
          <p:spPr bwMode="auto">
            <a:xfrm>
              <a:off x="1254" y="2637"/>
              <a:ext cx="4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6666" name="WordArt 86"/>
            <p:cNvSpPr>
              <a:spLocks noChangeArrowheads="1" noChangeShapeType="1" noTextEdit="1"/>
            </p:cNvSpPr>
            <p:nvPr/>
          </p:nvSpPr>
          <p:spPr bwMode="auto">
            <a:xfrm>
              <a:off x="1152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67" name="WordArt 87"/>
            <p:cNvSpPr>
              <a:spLocks noChangeArrowheads="1" noChangeShapeType="1" noTextEdit="1"/>
            </p:cNvSpPr>
            <p:nvPr/>
          </p:nvSpPr>
          <p:spPr bwMode="auto">
            <a:xfrm>
              <a:off x="4486" y="989"/>
              <a:ext cx="175" cy="1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8208"/>
                </a:avLst>
              </a:prstTxWarp>
            </a:bodyPr>
            <a:lstStyle/>
            <a:p>
              <a:pPr algn="ctr"/>
              <a:r>
                <a:rPr lang="en-US" sz="3600" b="1" i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  <p:sp>
          <p:nvSpPr>
            <p:cNvPr id="31832" name="WordArt 88"/>
            <p:cNvSpPr>
              <a:spLocks noChangeArrowheads="1" noChangeShapeType="1" noTextEdit="1"/>
            </p:cNvSpPr>
            <p:nvPr/>
          </p:nvSpPr>
          <p:spPr bwMode="auto">
            <a:xfrm>
              <a:off x="823" y="1023"/>
              <a:ext cx="1410" cy="23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缝宽一定</a:t>
              </a:r>
              <a:r>
                <a:rPr lang="en-US" altLang="zh-CN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  <a:r>
                <a:rPr lang="zh-CN" altLang="en-US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波长越长</a:t>
              </a:r>
              <a:r>
                <a:rPr lang="en-US" altLang="zh-CN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  <a:endParaRPr lang="zh-CN" altLang="en-US" b="1" kern="10" dirty="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31833" name="WordArt 89"/>
            <p:cNvSpPr>
              <a:spLocks noChangeArrowheads="1" noChangeShapeType="1" noTextEdit="1"/>
            </p:cNvSpPr>
            <p:nvPr/>
          </p:nvSpPr>
          <p:spPr bwMode="auto">
            <a:xfrm>
              <a:off x="821" y="1385"/>
              <a:ext cx="1426" cy="221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3600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则各级衍射角越大</a:t>
              </a:r>
              <a:r>
                <a:rPr lang="en-US" altLang="zh-CN" sz="3600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  <a:endParaRPr lang="zh-CN" altLang="en-US" sz="3600" b="1" kern="10" dirty="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31834" name="WordArt 90"/>
            <p:cNvSpPr>
              <a:spLocks noChangeArrowheads="1" noChangeShapeType="1" noTextEdit="1"/>
            </p:cNvSpPr>
            <p:nvPr/>
          </p:nvSpPr>
          <p:spPr bwMode="auto">
            <a:xfrm>
              <a:off x="926" y="1703"/>
              <a:ext cx="1091" cy="23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3600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中央明纹越宽</a:t>
              </a:r>
              <a:r>
                <a:rPr lang="en-US" altLang="zh-CN" sz="3600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.</a:t>
              </a:r>
              <a:endParaRPr lang="zh-CN" altLang="en-US" sz="3600" b="1" kern="10" dirty="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6671" name="WordArt 91"/>
            <p:cNvSpPr>
              <a:spLocks noChangeArrowheads="1" noChangeShapeType="1" noTextEdit="1"/>
            </p:cNvSpPr>
            <p:nvPr/>
          </p:nvSpPr>
          <p:spPr bwMode="auto">
            <a:xfrm>
              <a:off x="3847" y="987"/>
              <a:ext cx="610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波长</a:t>
              </a:r>
              <a:endParaRPr lang="en-US" sz="3600" b="1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2F2"/>
            </a:gs>
            <a:gs pos="48000">
              <a:srgbClr val="D9D9D9"/>
            </a:gs>
            <a:gs pos="100000">
              <a:srgbClr val="F2F2F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6319838" y="1346200"/>
            <a:ext cx="2233612" cy="4764088"/>
          </a:xfrm>
          <a:prstGeom prst="rect">
            <a:avLst/>
          </a:prstGeom>
          <a:gradFill rotWithShape="0">
            <a:gsLst>
              <a:gs pos="0">
                <a:srgbClr val="110D07"/>
              </a:gs>
              <a:gs pos="50000">
                <a:srgbClr val="2A2100"/>
              </a:gs>
              <a:gs pos="100000">
                <a:srgbClr val="110D07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27651" name="Group 6"/>
          <p:cNvGrpSpPr>
            <a:grpSpLocks/>
          </p:cNvGrpSpPr>
          <p:nvPr/>
        </p:nvGrpSpPr>
        <p:grpSpPr bwMode="auto">
          <a:xfrm>
            <a:off x="1404938" y="2867025"/>
            <a:ext cx="7156450" cy="1581150"/>
            <a:chOff x="855" y="1600"/>
            <a:chExt cx="4357" cy="1094"/>
          </a:xfrm>
        </p:grpSpPr>
        <p:sp>
          <p:nvSpPr>
            <p:cNvPr id="27719" name="AutoShape 7"/>
            <p:cNvSpPr>
              <a:spLocks noChangeArrowheads="1"/>
            </p:cNvSpPr>
            <p:nvPr/>
          </p:nvSpPr>
          <p:spPr bwMode="auto">
            <a:xfrm rot="5400000">
              <a:off x="772" y="1691"/>
              <a:ext cx="1086" cy="9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890 w 21600"/>
                <a:gd name="T13" fmla="*/ 1878 h 21600"/>
                <a:gd name="T14" fmla="*/ 19710 w 21600"/>
                <a:gd name="T15" fmla="*/ 1972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66" y="21600"/>
                  </a:lnTo>
                  <a:lnTo>
                    <a:pt x="21434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20" name="AutoShape 8"/>
            <p:cNvSpPr>
              <a:spLocks noChangeArrowheads="1"/>
            </p:cNvSpPr>
            <p:nvPr/>
          </p:nvSpPr>
          <p:spPr bwMode="auto">
            <a:xfrm rot="5400000">
              <a:off x="2252" y="1283"/>
              <a:ext cx="1030" cy="1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803 w 21600"/>
                <a:gd name="T13" fmla="*/ 1804 h 21600"/>
                <a:gd name="T14" fmla="*/ 19797 w 21600"/>
                <a:gd name="T15" fmla="*/ 197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21" name="Rectangle 9"/>
            <p:cNvSpPr>
              <a:spLocks noChangeArrowheads="1"/>
            </p:cNvSpPr>
            <p:nvPr/>
          </p:nvSpPr>
          <p:spPr bwMode="auto">
            <a:xfrm>
              <a:off x="3837" y="1864"/>
              <a:ext cx="1375" cy="472"/>
            </a:xfrm>
            <a:prstGeom prst="rect">
              <a:avLst/>
            </a:prstGeom>
            <a:gradFill rotWithShape="0">
              <a:gsLst>
                <a:gs pos="0">
                  <a:srgbClr val="4C431D"/>
                </a:gs>
                <a:gs pos="50000">
                  <a:srgbClr val="FFE161"/>
                </a:gs>
                <a:gs pos="100000">
                  <a:srgbClr val="4C431D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0730" name="Group 10"/>
          <p:cNvGrpSpPr>
            <a:grpSpLocks/>
          </p:cNvGrpSpPr>
          <p:nvPr/>
        </p:nvGrpSpPr>
        <p:grpSpPr bwMode="auto">
          <a:xfrm>
            <a:off x="1443038" y="2247900"/>
            <a:ext cx="7104062" cy="2801938"/>
            <a:chOff x="879" y="1172"/>
            <a:chExt cx="4325" cy="1938"/>
          </a:xfrm>
        </p:grpSpPr>
        <p:sp>
          <p:nvSpPr>
            <p:cNvPr id="27709" name="AutoShape 11"/>
            <p:cNvSpPr>
              <a:spLocks noChangeArrowheads="1"/>
            </p:cNvSpPr>
            <p:nvPr/>
          </p:nvSpPr>
          <p:spPr bwMode="auto">
            <a:xfrm rot="5400000">
              <a:off x="760" y="1695"/>
              <a:ext cx="1102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6860 w 21600"/>
                <a:gd name="T13" fmla="*/ 6850 h 21600"/>
                <a:gd name="T14" fmla="*/ 14740 w 21600"/>
                <a:gd name="T15" fmla="*/ 147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111" y="21600"/>
                  </a:lnTo>
                  <a:lnTo>
                    <a:pt x="1148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10" name="AutoShape 12"/>
            <p:cNvSpPr>
              <a:spLocks noChangeArrowheads="1"/>
            </p:cNvSpPr>
            <p:nvPr/>
          </p:nvSpPr>
          <p:spPr bwMode="auto">
            <a:xfrm rot="5400000">
              <a:off x="1924" y="1323"/>
              <a:ext cx="1686" cy="1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806 w 21600"/>
                <a:gd name="T13" fmla="*/ 1804 h 21600"/>
                <a:gd name="T14" fmla="*/ 19806 w 21600"/>
                <a:gd name="T15" fmla="*/ 197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7711" name="Group 13"/>
            <p:cNvGrpSpPr>
              <a:grpSpLocks/>
            </p:cNvGrpSpPr>
            <p:nvPr/>
          </p:nvGrpSpPr>
          <p:grpSpPr bwMode="auto">
            <a:xfrm>
              <a:off x="3845" y="1172"/>
              <a:ext cx="1359" cy="1938"/>
              <a:chOff x="2149" y="500"/>
              <a:chExt cx="1335" cy="3242"/>
            </a:xfrm>
          </p:grpSpPr>
          <p:sp>
            <p:nvSpPr>
              <p:cNvPr id="27712" name="Rectangle 14"/>
              <p:cNvSpPr>
                <a:spLocks noChangeArrowheads="1"/>
              </p:cNvSpPr>
              <p:nvPr/>
            </p:nvSpPr>
            <p:spPr bwMode="auto">
              <a:xfrm>
                <a:off x="2157" y="2522"/>
                <a:ext cx="1316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3" name="Rectangle 15"/>
              <p:cNvSpPr>
                <a:spLocks noChangeArrowheads="1"/>
              </p:cNvSpPr>
              <p:nvPr/>
            </p:nvSpPr>
            <p:spPr bwMode="auto">
              <a:xfrm>
                <a:off x="2160" y="2929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4" name="Rectangle 16"/>
              <p:cNvSpPr>
                <a:spLocks noChangeArrowheads="1"/>
              </p:cNvSpPr>
              <p:nvPr/>
            </p:nvSpPr>
            <p:spPr bwMode="auto">
              <a:xfrm>
                <a:off x="2157" y="1310"/>
                <a:ext cx="1315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5" name="Rectangle 17"/>
              <p:cNvSpPr>
                <a:spLocks noChangeArrowheads="1"/>
              </p:cNvSpPr>
              <p:nvPr/>
            </p:nvSpPr>
            <p:spPr bwMode="auto">
              <a:xfrm>
                <a:off x="2160" y="907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6" name="Rectangle 18"/>
              <p:cNvSpPr>
                <a:spLocks noChangeArrowheads="1"/>
              </p:cNvSpPr>
              <p:nvPr/>
            </p:nvSpPr>
            <p:spPr bwMode="auto">
              <a:xfrm>
                <a:off x="2149" y="1724"/>
                <a:ext cx="1327" cy="79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FFE161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7" name="Rectangle 19"/>
              <p:cNvSpPr>
                <a:spLocks noChangeArrowheads="1"/>
              </p:cNvSpPr>
              <p:nvPr/>
            </p:nvSpPr>
            <p:spPr bwMode="auto">
              <a:xfrm>
                <a:off x="2160" y="500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8" name="Rectangle 20"/>
              <p:cNvSpPr>
                <a:spLocks noChangeArrowheads="1"/>
              </p:cNvSpPr>
              <p:nvPr/>
            </p:nvSpPr>
            <p:spPr bwMode="auto">
              <a:xfrm>
                <a:off x="2168" y="3332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0741" name="Group 21"/>
          <p:cNvGrpSpPr>
            <a:grpSpLocks/>
          </p:cNvGrpSpPr>
          <p:nvPr/>
        </p:nvGrpSpPr>
        <p:grpSpPr bwMode="auto">
          <a:xfrm>
            <a:off x="1654175" y="1773238"/>
            <a:ext cx="6880225" cy="3762375"/>
            <a:chOff x="1007" y="844"/>
            <a:chExt cx="4189" cy="2602"/>
          </a:xfrm>
        </p:grpSpPr>
        <p:sp>
          <p:nvSpPr>
            <p:cNvPr id="27699" name="AutoShape 22"/>
            <p:cNvSpPr>
              <a:spLocks noChangeArrowheads="1"/>
            </p:cNvSpPr>
            <p:nvPr/>
          </p:nvSpPr>
          <p:spPr bwMode="auto">
            <a:xfrm rot="5400000">
              <a:off x="556" y="1715"/>
              <a:ext cx="1742" cy="8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6857 w 21600"/>
                <a:gd name="T13" fmla="*/ 6866 h 21600"/>
                <a:gd name="T14" fmla="*/ 14743 w 21600"/>
                <a:gd name="T15" fmla="*/ 147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111" y="21600"/>
                  </a:lnTo>
                  <a:lnTo>
                    <a:pt x="1148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0" name="AutoShape 23"/>
            <p:cNvSpPr>
              <a:spLocks noChangeArrowheads="1"/>
            </p:cNvSpPr>
            <p:nvPr/>
          </p:nvSpPr>
          <p:spPr bwMode="auto">
            <a:xfrm rot="5400000">
              <a:off x="1568" y="1295"/>
              <a:ext cx="2414" cy="1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799 w 21600"/>
                <a:gd name="T13" fmla="*/ 1804 h 21600"/>
                <a:gd name="T14" fmla="*/ 19801 w 21600"/>
                <a:gd name="T15" fmla="*/ 197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7701" name="Group 24"/>
            <p:cNvGrpSpPr>
              <a:grpSpLocks/>
            </p:cNvGrpSpPr>
            <p:nvPr/>
          </p:nvGrpSpPr>
          <p:grpSpPr bwMode="auto">
            <a:xfrm>
              <a:off x="3837" y="844"/>
              <a:ext cx="1359" cy="2602"/>
              <a:chOff x="2149" y="500"/>
              <a:chExt cx="1335" cy="3242"/>
            </a:xfrm>
          </p:grpSpPr>
          <p:sp>
            <p:nvSpPr>
              <p:cNvPr id="27702" name="Rectangle 25"/>
              <p:cNvSpPr>
                <a:spLocks noChangeArrowheads="1"/>
              </p:cNvSpPr>
              <p:nvPr/>
            </p:nvSpPr>
            <p:spPr bwMode="auto">
              <a:xfrm>
                <a:off x="2157" y="2522"/>
                <a:ext cx="1316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3" name="Rectangle 26"/>
              <p:cNvSpPr>
                <a:spLocks noChangeArrowheads="1"/>
              </p:cNvSpPr>
              <p:nvPr/>
            </p:nvSpPr>
            <p:spPr bwMode="auto">
              <a:xfrm>
                <a:off x="2160" y="2929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4" name="Rectangle 27"/>
              <p:cNvSpPr>
                <a:spLocks noChangeArrowheads="1"/>
              </p:cNvSpPr>
              <p:nvPr/>
            </p:nvSpPr>
            <p:spPr bwMode="auto">
              <a:xfrm>
                <a:off x="2157" y="1310"/>
                <a:ext cx="1315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5" name="Rectangle 28"/>
              <p:cNvSpPr>
                <a:spLocks noChangeArrowheads="1"/>
              </p:cNvSpPr>
              <p:nvPr/>
            </p:nvSpPr>
            <p:spPr bwMode="auto">
              <a:xfrm>
                <a:off x="2160" y="907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6" name="Rectangle 29"/>
              <p:cNvSpPr>
                <a:spLocks noChangeArrowheads="1"/>
              </p:cNvSpPr>
              <p:nvPr/>
            </p:nvSpPr>
            <p:spPr bwMode="auto">
              <a:xfrm>
                <a:off x="2149" y="1724"/>
                <a:ext cx="1327" cy="79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FFE161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7" name="Rectangle 30"/>
              <p:cNvSpPr>
                <a:spLocks noChangeArrowheads="1"/>
              </p:cNvSpPr>
              <p:nvPr/>
            </p:nvSpPr>
            <p:spPr bwMode="auto">
              <a:xfrm>
                <a:off x="2160" y="500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8" name="Rectangle 31"/>
              <p:cNvSpPr>
                <a:spLocks noChangeArrowheads="1"/>
              </p:cNvSpPr>
              <p:nvPr/>
            </p:nvSpPr>
            <p:spPr bwMode="auto">
              <a:xfrm>
                <a:off x="2168" y="3332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0752" name="Group 32"/>
          <p:cNvGrpSpPr>
            <a:grpSpLocks/>
          </p:cNvGrpSpPr>
          <p:nvPr/>
        </p:nvGrpSpPr>
        <p:grpSpPr bwMode="auto">
          <a:xfrm>
            <a:off x="1706563" y="1143000"/>
            <a:ext cx="6815137" cy="5005388"/>
            <a:chOff x="1039" y="408"/>
            <a:chExt cx="4149" cy="3462"/>
          </a:xfrm>
        </p:grpSpPr>
        <p:sp>
          <p:nvSpPr>
            <p:cNvPr id="27689" name="AutoShape 33"/>
            <p:cNvSpPr>
              <a:spLocks noChangeArrowheads="1"/>
            </p:cNvSpPr>
            <p:nvPr/>
          </p:nvSpPr>
          <p:spPr bwMode="auto">
            <a:xfrm rot="5400000">
              <a:off x="-348" y="1795"/>
              <a:ext cx="3462" cy="6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7200 w 21600"/>
                <a:gd name="T13" fmla="*/ 7190 h 21600"/>
                <a:gd name="T14" fmla="*/ 14400 w 21600"/>
                <a:gd name="T15" fmla="*/ 144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8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0" name="AutoShape 34"/>
            <p:cNvSpPr>
              <a:spLocks noChangeArrowheads="1"/>
            </p:cNvSpPr>
            <p:nvPr/>
          </p:nvSpPr>
          <p:spPr bwMode="auto">
            <a:xfrm rot="5400000">
              <a:off x="1128" y="1311"/>
              <a:ext cx="3294" cy="1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803 w 21600"/>
                <a:gd name="T13" fmla="*/ 1804 h 21600"/>
                <a:gd name="T14" fmla="*/ 19803 w 21600"/>
                <a:gd name="T15" fmla="*/ 197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7691" name="Group 35"/>
            <p:cNvGrpSpPr>
              <a:grpSpLocks/>
            </p:cNvGrpSpPr>
            <p:nvPr/>
          </p:nvGrpSpPr>
          <p:grpSpPr bwMode="auto">
            <a:xfrm>
              <a:off x="3853" y="524"/>
              <a:ext cx="1335" cy="3242"/>
              <a:chOff x="2149" y="500"/>
              <a:chExt cx="1335" cy="3242"/>
            </a:xfrm>
          </p:grpSpPr>
          <p:sp>
            <p:nvSpPr>
              <p:cNvPr id="27692" name="Rectangle 36"/>
              <p:cNvSpPr>
                <a:spLocks noChangeArrowheads="1"/>
              </p:cNvSpPr>
              <p:nvPr/>
            </p:nvSpPr>
            <p:spPr bwMode="auto">
              <a:xfrm>
                <a:off x="2157" y="2522"/>
                <a:ext cx="1316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3" name="Rectangle 37"/>
              <p:cNvSpPr>
                <a:spLocks noChangeArrowheads="1"/>
              </p:cNvSpPr>
              <p:nvPr/>
            </p:nvSpPr>
            <p:spPr bwMode="auto">
              <a:xfrm>
                <a:off x="2160" y="2929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4" name="Rectangle 38"/>
              <p:cNvSpPr>
                <a:spLocks noChangeArrowheads="1"/>
              </p:cNvSpPr>
              <p:nvPr/>
            </p:nvSpPr>
            <p:spPr bwMode="auto">
              <a:xfrm>
                <a:off x="2157" y="1310"/>
                <a:ext cx="1315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5" name="Rectangle 39"/>
              <p:cNvSpPr>
                <a:spLocks noChangeArrowheads="1"/>
              </p:cNvSpPr>
              <p:nvPr/>
            </p:nvSpPr>
            <p:spPr bwMode="auto">
              <a:xfrm>
                <a:off x="2160" y="907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6" name="Rectangle 40"/>
              <p:cNvSpPr>
                <a:spLocks noChangeArrowheads="1"/>
              </p:cNvSpPr>
              <p:nvPr/>
            </p:nvSpPr>
            <p:spPr bwMode="auto">
              <a:xfrm>
                <a:off x="2149" y="1724"/>
                <a:ext cx="1327" cy="79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FFE161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7" name="Rectangle 41"/>
              <p:cNvSpPr>
                <a:spLocks noChangeArrowheads="1"/>
              </p:cNvSpPr>
              <p:nvPr/>
            </p:nvSpPr>
            <p:spPr bwMode="auto">
              <a:xfrm>
                <a:off x="2160" y="500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8" name="Rectangle 42"/>
              <p:cNvSpPr>
                <a:spLocks noChangeArrowheads="1"/>
              </p:cNvSpPr>
              <p:nvPr/>
            </p:nvSpPr>
            <p:spPr bwMode="auto">
              <a:xfrm>
                <a:off x="2168" y="3332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655" name="Group 43"/>
          <p:cNvGrpSpPr>
            <a:grpSpLocks/>
          </p:cNvGrpSpPr>
          <p:nvPr/>
        </p:nvGrpSpPr>
        <p:grpSpPr bwMode="auto">
          <a:xfrm>
            <a:off x="0" y="1339850"/>
            <a:ext cx="5946775" cy="4772025"/>
            <a:chOff x="0" y="544"/>
            <a:chExt cx="3621" cy="3301"/>
          </a:xfrm>
        </p:grpSpPr>
        <p:grpSp>
          <p:nvGrpSpPr>
            <p:cNvPr id="27681" name="Group 44"/>
            <p:cNvGrpSpPr>
              <a:grpSpLocks/>
            </p:cNvGrpSpPr>
            <p:nvPr/>
          </p:nvGrpSpPr>
          <p:grpSpPr bwMode="auto">
            <a:xfrm>
              <a:off x="1676" y="1016"/>
              <a:ext cx="323" cy="2272"/>
              <a:chOff x="1308" y="1048"/>
              <a:chExt cx="323" cy="2272"/>
            </a:xfrm>
          </p:grpSpPr>
          <p:sp>
            <p:nvSpPr>
              <p:cNvPr id="27684" name="Arc 45"/>
              <p:cNvSpPr>
                <a:spLocks/>
              </p:cNvSpPr>
              <p:nvPr/>
            </p:nvSpPr>
            <p:spPr bwMode="auto">
              <a:xfrm rot="5386920">
                <a:off x="413" y="2087"/>
                <a:ext cx="2258" cy="179"/>
              </a:xfrm>
              <a:custGeom>
                <a:avLst/>
                <a:gdLst>
                  <a:gd name="T0" fmla="*/ 0 w 40634"/>
                  <a:gd name="T1" fmla="*/ 0 h 21600"/>
                  <a:gd name="T2" fmla="*/ 0 w 40634"/>
                  <a:gd name="T3" fmla="*/ 0 h 21600"/>
                  <a:gd name="T4" fmla="*/ 0 w 40634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634" h="21600" fill="none" extrusionOk="0">
                    <a:moveTo>
                      <a:pt x="-1" y="14300"/>
                    </a:moveTo>
                    <a:cubicBezTo>
                      <a:pt x="3079" y="5721"/>
                      <a:pt x="11213" y="0"/>
                      <a:pt x="20329" y="0"/>
                    </a:cubicBezTo>
                    <a:cubicBezTo>
                      <a:pt x="29418" y="0"/>
                      <a:pt x="37534" y="5689"/>
                      <a:pt x="40634" y="14233"/>
                    </a:cubicBezTo>
                  </a:path>
                  <a:path w="40634" h="21600" stroke="0" extrusionOk="0">
                    <a:moveTo>
                      <a:pt x="-1" y="14300"/>
                    </a:moveTo>
                    <a:cubicBezTo>
                      <a:pt x="3079" y="5721"/>
                      <a:pt x="11213" y="0"/>
                      <a:pt x="20329" y="0"/>
                    </a:cubicBezTo>
                    <a:cubicBezTo>
                      <a:pt x="29418" y="0"/>
                      <a:pt x="37534" y="5689"/>
                      <a:pt x="40634" y="14233"/>
                    </a:cubicBezTo>
                    <a:lnTo>
                      <a:pt x="20329" y="21600"/>
                    </a:lnTo>
                    <a:lnTo>
                      <a:pt x="-1" y="143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6FFFF"/>
                  </a:gs>
                  <a:gs pos="50000">
                    <a:srgbClr val="44AAAA"/>
                  </a:gs>
                  <a:gs pos="100000">
                    <a:srgbClr val="66FFFF"/>
                  </a:gs>
                </a:gsLst>
                <a:lin ang="2700000" scaled="1"/>
              </a:gradFill>
              <a:ln w="28575">
                <a:solidFill>
                  <a:srgbClr val="3366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5" name="Arc 46"/>
              <p:cNvSpPr>
                <a:spLocks/>
              </p:cNvSpPr>
              <p:nvPr/>
            </p:nvSpPr>
            <p:spPr bwMode="auto">
              <a:xfrm rot="5386920" flipV="1">
                <a:off x="265" y="2108"/>
                <a:ext cx="2247" cy="161"/>
              </a:xfrm>
              <a:custGeom>
                <a:avLst/>
                <a:gdLst>
                  <a:gd name="T0" fmla="*/ 0 w 40187"/>
                  <a:gd name="T1" fmla="*/ 0 h 21600"/>
                  <a:gd name="T2" fmla="*/ 0 w 40187"/>
                  <a:gd name="T3" fmla="*/ 0 h 21600"/>
                  <a:gd name="T4" fmla="*/ 0 w 40187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187" h="21600" fill="none" extrusionOk="0">
                    <a:moveTo>
                      <a:pt x="-1" y="13158"/>
                    </a:moveTo>
                    <a:cubicBezTo>
                      <a:pt x="3386" y="5180"/>
                      <a:pt x="11214" y="0"/>
                      <a:pt x="19882" y="0"/>
                    </a:cubicBezTo>
                    <a:cubicBezTo>
                      <a:pt x="28971" y="0"/>
                      <a:pt x="37087" y="5689"/>
                      <a:pt x="40187" y="14233"/>
                    </a:cubicBezTo>
                  </a:path>
                  <a:path w="40187" h="21600" stroke="0" extrusionOk="0">
                    <a:moveTo>
                      <a:pt x="-1" y="13158"/>
                    </a:moveTo>
                    <a:cubicBezTo>
                      <a:pt x="3386" y="5180"/>
                      <a:pt x="11214" y="0"/>
                      <a:pt x="19882" y="0"/>
                    </a:cubicBezTo>
                    <a:cubicBezTo>
                      <a:pt x="28971" y="0"/>
                      <a:pt x="37087" y="5689"/>
                      <a:pt x="40187" y="14233"/>
                    </a:cubicBezTo>
                    <a:lnTo>
                      <a:pt x="19882" y="21600"/>
                    </a:lnTo>
                    <a:lnTo>
                      <a:pt x="-1" y="131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6FFFF"/>
                  </a:gs>
                  <a:gs pos="50000">
                    <a:srgbClr val="47B2B2"/>
                  </a:gs>
                  <a:gs pos="100000">
                    <a:srgbClr val="66FFFF"/>
                  </a:gs>
                </a:gsLst>
                <a:lin ang="2700000" scaled="1"/>
              </a:gradFill>
              <a:ln w="28575">
                <a:solidFill>
                  <a:srgbClr val="3366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6" name="Rectangle 47"/>
              <p:cNvSpPr>
                <a:spLocks noChangeArrowheads="1"/>
              </p:cNvSpPr>
              <p:nvPr/>
            </p:nvSpPr>
            <p:spPr bwMode="auto">
              <a:xfrm rot="5386920">
                <a:off x="334" y="2136"/>
                <a:ext cx="2267" cy="99"/>
              </a:xfrm>
              <a:prstGeom prst="rect">
                <a:avLst/>
              </a:prstGeom>
              <a:solidFill>
                <a:srgbClr val="66FFFF"/>
              </a:solidFill>
              <a:ln w="28575">
                <a:solidFill>
                  <a:srgbClr val="00CC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87" name="Line 48"/>
              <p:cNvSpPr>
                <a:spLocks noChangeShapeType="1"/>
              </p:cNvSpPr>
              <p:nvPr/>
            </p:nvSpPr>
            <p:spPr bwMode="auto">
              <a:xfrm rot="68555">
                <a:off x="1416" y="1059"/>
                <a:ext cx="108" cy="2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88" name="Line 49"/>
              <p:cNvSpPr>
                <a:spLocks noChangeShapeType="1"/>
              </p:cNvSpPr>
              <p:nvPr/>
            </p:nvSpPr>
            <p:spPr bwMode="auto">
              <a:xfrm rot="68555" flipV="1">
                <a:off x="1406" y="3317"/>
                <a:ext cx="108" cy="3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770" name="Rectangle 50"/>
            <p:cNvSpPr>
              <a:spLocks noChangeArrowheads="1"/>
            </p:cNvSpPr>
            <p:nvPr/>
          </p:nvSpPr>
          <p:spPr bwMode="auto">
            <a:xfrm>
              <a:off x="0" y="608"/>
              <a:ext cx="976" cy="304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rgbClr val="FFE77F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E16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7683" name="Line 51"/>
            <p:cNvSpPr>
              <a:spLocks noChangeShapeType="1"/>
            </p:cNvSpPr>
            <p:nvPr/>
          </p:nvSpPr>
          <p:spPr bwMode="auto">
            <a:xfrm>
              <a:off x="3621" y="544"/>
              <a:ext cx="0" cy="3301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72" name="Group 52"/>
          <p:cNvGrpSpPr>
            <a:grpSpLocks/>
          </p:cNvGrpSpPr>
          <p:nvPr/>
        </p:nvGrpSpPr>
        <p:grpSpPr bwMode="auto">
          <a:xfrm>
            <a:off x="1612900" y="2563813"/>
            <a:ext cx="123825" cy="2154237"/>
            <a:chOff x="982" y="1391"/>
            <a:chExt cx="75" cy="1490"/>
          </a:xfrm>
        </p:grpSpPr>
        <p:sp>
          <p:nvSpPr>
            <p:cNvPr id="27679" name="Rectangle 53"/>
            <p:cNvSpPr>
              <a:spLocks noChangeArrowheads="1"/>
            </p:cNvSpPr>
            <p:nvPr/>
          </p:nvSpPr>
          <p:spPr bwMode="auto">
            <a:xfrm>
              <a:off x="982" y="1391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7680" name="Rectangle 54"/>
            <p:cNvSpPr>
              <a:spLocks noChangeArrowheads="1"/>
            </p:cNvSpPr>
            <p:nvPr/>
          </p:nvSpPr>
          <p:spPr bwMode="auto">
            <a:xfrm>
              <a:off x="982" y="2160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0775" name="Group 55"/>
          <p:cNvGrpSpPr>
            <a:grpSpLocks/>
          </p:cNvGrpSpPr>
          <p:nvPr/>
        </p:nvGrpSpPr>
        <p:grpSpPr bwMode="auto">
          <a:xfrm>
            <a:off x="1612900" y="2495550"/>
            <a:ext cx="123825" cy="2292350"/>
            <a:chOff x="974" y="1335"/>
            <a:chExt cx="75" cy="1586"/>
          </a:xfrm>
        </p:grpSpPr>
        <p:sp>
          <p:nvSpPr>
            <p:cNvPr id="27677" name="Rectangle 56"/>
            <p:cNvSpPr>
              <a:spLocks noChangeArrowheads="1"/>
            </p:cNvSpPr>
            <p:nvPr/>
          </p:nvSpPr>
          <p:spPr bwMode="auto">
            <a:xfrm>
              <a:off x="974" y="1335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7678" name="Rectangle 57"/>
            <p:cNvSpPr>
              <a:spLocks noChangeArrowheads="1"/>
            </p:cNvSpPr>
            <p:nvPr/>
          </p:nvSpPr>
          <p:spPr bwMode="auto">
            <a:xfrm>
              <a:off x="974" y="2200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0778" name="Group 58"/>
          <p:cNvGrpSpPr>
            <a:grpSpLocks/>
          </p:cNvGrpSpPr>
          <p:nvPr/>
        </p:nvGrpSpPr>
        <p:grpSpPr bwMode="auto">
          <a:xfrm>
            <a:off x="1612900" y="2414588"/>
            <a:ext cx="123825" cy="2465387"/>
            <a:chOff x="974" y="1279"/>
            <a:chExt cx="75" cy="1706"/>
          </a:xfrm>
        </p:grpSpPr>
        <p:sp>
          <p:nvSpPr>
            <p:cNvPr id="27675" name="Rectangle 59"/>
            <p:cNvSpPr>
              <a:spLocks noChangeArrowheads="1"/>
            </p:cNvSpPr>
            <p:nvPr/>
          </p:nvSpPr>
          <p:spPr bwMode="auto">
            <a:xfrm>
              <a:off x="974" y="1279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7676" name="Rectangle 60"/>
            <p:cNvSpPr>
              <a:spLocks noChangeArrowheads="1"/>
            </p:cNvSpPr>
            <p:nvPr/>
          </p:nvSpPr>
          <p:spPr bwMode="auto">
            <a:xfrm>
              <a:off x="974" y="2264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27659" name="Group 61"/>
          <p:cNvGrpSpPr>
            <a:grpSpLocks/>
          </p:cNvGrpSpPr>
          <p:nvPr/>
        </p:nvGrpSpPr>
        <p:grpSpPr bwMode="auto">
          <a:xfrm>
            <a:off x="1612900" y="2274888"/>
            <a:ext cx="123825" cy="2698750"/>
            <a:chOff x="974" y="1191"/>
            <a:chExt cx="75" cy="1866"/>
          </a:xfrm>
        </p:grpSpPr>
        <p:sp>
          <p:nvSpPr>
            <p:cNvPr id="27673" name="Rectangle 62"/>
            <p:cNvSpPr>
              <a:spLocks noChangeArrowheads="1"/>
            </p:cNvSpPr>
            <p:nvPr/>
          </p:nvSpPr>
          <p:spPr bwMode="auto">
            <a:xfrm>
              <a:off x="974" y="1191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7674" name="Rectangle 63"/>
            <p:cNvSpPr>
              <a:spLocks noChangeArrowheads="1"/>
            </p:cNvSpPr>
            <p:nvPr/>
          </p:nvSpPr>
          <p:spPr bwMode="auto">
            <a:xfrm>
              <a:off x="974" y="2336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27660" name="Rectangle 64"/>
          <p:cNvSpPr>
            <a:spLocks noChangeArrowheads="1"/>
          </p:cNvSpPr>
          <p:nvPr/>
        </p:nvSpPr>
        <p:spPr bwMode="auto">
          <a:xfrm>
            <a:off x="8475663" y="1189038"/>
            <a:ext cx="249237" cy="49847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7661" name="Rectangle 65"/>
          <p:cNvSpPr>
            <a:spLocks noChangeArrowheads="1"/>
          </p:cNvSpPr>
          <p:nvPr/>
        </p:nvSpPr>
        <p:spPr bwMode="auto">
          <a:xfrm>
            <a:off x="6110288" y="1247775"/>
            <a:ext cx="276225" cy="49498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7662" name="WordArt 66"/>
          <p:cNvSpPr>
            <a:spLocks noChangeArrowheads="1" noChangeShapeType="1" noTextEdit="1"/>
          </p:cNvSpPr>
          <p:nvPr/>
        </p:nvSpPr>
        <p:spPr bwMode="auto">
          <a:xfrm>
            <a:off x="569913" y="2384425"/>
            <a:ext cx="369887" cy="3857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i="1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27663" name="Line 67"/>
          <p:cNvSpPr>
            <a:spLocks noChangeShapeType="1"/>
          </p:cNvSpPr>
          <p:nvPr/>
        </p:nvSpPr>
        <p:spPr bwMode="auto">
          <a:xfrm>
            <a:off x="223838" y="2913063"/>
            <a:ext cx="1168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4" name="Line 68"/>
          <p:cNvSpPr>
            <a:spLocks noChangeShapeType="1"/>
          </p:cNvSpPr>
          <p:nvPr/>
        </p:nvSpPr>
        <p:spPr bwMode="auto">
          <a:xfrm>
            <a:off x="249238" y="3282950"/>
            <a:ext cx="11699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5" name="Line 69"/>
          <p:cNvSpPr>
            <a:spLocks noChangeShapeType="1"/>
          </p:cNvSpPr>
          <p:nvPr/>
        </p:nvSpPr>
        <p:spPr bwMode="auto">
          <a:xfrm>
            <a:off x="249238" y="3976688"/>
            <a:ext cx="11699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Line 70"/>
          <p:cNvSpPr>
            <a:spLocks noChangeShapeType="1"/>
          </p:cNvSpPr>
          <p:nvPr/>
        </p:nvSpPr>
        <p:spPr bwMode="auto">
          <a:xfrm>
            <a:off x="236538" y="3617913"/>
            <a:ext cx="11699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7" name="Line 71"/>
          <p:cNvSpPr>
            <a:spLocks noChangeShapeType="1"/>
          </p:cNvSpPr>
          <p:nvPr/>
        </p:nvSpPr>
        <p:spPr bwMode="auto">
          <a:xfrm>
            <a:off x="196850" y="4335463"/>
            <a:ext cx="11699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8" name="Line 72"/>
          <p:cNvSpPr>
            <a:spLocks noChangeShapeType="1"/>
          </p:cNvSpPr>
          <p:nvPr/>
        </p:nvSpPr>
        <p:spPr bwMode="auto">
          <a:xfrm>
            <a:off x="2995613" y="5514975"/>
            <a:ext cx="0" cy="612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9" name="Line 73"/>
          <p:cNvSpPr>
            <a:spLocks noChangeShapeType="1"/>
          </p:cNvSpPr>
          <p:nvPr/>
        </p:nvSpPr>
        <p:spPr bwMode="auto">
          <a:xfrm>
            <a:off x="4900613" y="5781675"/>
            <a:ext cx="1012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0" name="Line 74"/>
          <p:cNvSpPr>
            <a:spLocks noChangeShapeType="1"/>
          </p:cNvSpPr>
          <p:nvPr/>
        </p:nvSpPr>
        <p:spPr bwMode="auto">
          <a:xfrm flipH="1">
            <a:off x="2982913" y="5827713"/>
            <a:ext cx="10112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1" name="WordArt 75"/>
          <p:cNvSpPr>
            <a:spLocks noChangeArrowheads="1" noChangeShapeType="1" noTextEdit="1"/>
          </p:cNvSpPr>
          <p:nvPr/>
        </p:nvSpPr>
        <p:spPr bwMode="auto">
          <a:xfrm>
            <a:off x="4227513" y="5686425"/>
            <a:ext cx="242887" cy="3127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b="1" i="1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cs typeface="Arial" panose="020B0604020202020204" pitchFamily="34" charset="0"/>
              </a:rPr>
              <a:t>f</a:t>
            </a:r>
          </a:p>
        </p:txBody>
      </p:sp>
      <p:sp>
        <p:nvSpPr>
          <p:cNvPr id="30796" name="WordArt 76"/>
          <p:cNvSpPr>
            <a:spLocks noChangeArrowheads="1" noChangeShapeType="1" noTextEdit="1"/>
          </p:cNvSpPr>
          <p:nvPr/>
        </p:nvSpPr>
        <p:spPr bwMode="auto">
          <a:xfrm>
            <a:off x="950913" y="735013"/>
            <a:ext cx="7153275" cy="30797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zh-CN" altLang="en-US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波长一定</a:t>
            </a:r>
            <a:r>
              <a:rPr lang="en-US" altLang="zh-CN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缝宽越窄</a:t>
            </a:r>
            <a:r>
              <a:rPr lang="en-US" altLang="zh-CN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衍射现象越显著</a:t>
            </a:r>
            <a:r>
              <a:rPr lang="en-US" altLang="zh-CN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endParaRPr lang="zh-CN" altLang="en-US" b="1" kern="10">
              <a:ln w="9525">
                <a:solidFill>
                  <a:srgbClr val="000080"/>
                </a:solidFill>
                <a:round/>
                <a:headEnd/>
                <a:tailEnd/>
              </a:ln>
              <a:solidFill>
                <a:srgbClr val="00008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3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3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3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2"/>
          <p:cNvGrpSpPr>
            <a:grpSpLocks/>
          </p:cNvGrpSpPr>
          <p:nvPr/>
        </p:nvGrpSpPr>
        <p:grpSpPr bwMode="auto">
          <a:xfrm>
            <a:off x="2627313" y="2349500"/>
            <a:ext cx="2089150" cy="2520950"/>
            <a:chOff x="1680" y="1440"/>
            <a:chExt cx="1296" cy="1440"/>
          </a:xfrm>
        </p:grpSpPr>
        <p:sp>
          <p:nvSpPr>
            <p:cNvPr id="28794" name="Line 93"/>
            <p:cNvSpPr>
              <a:spLocks noChangeShapeType="1"/>
            </p:cNvSpPr>
            <p:nvPr/>
          </p:nvSpPr>
          <p:spPr bwMode="auto">
            <a:xfrm flipV="1">
              <a:off x="1728" y="1440"/>
              <a:ext cx="1248" cy="81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5" name="Line 94"/>
            <p:cNvSpPr>
              <a:spLocks noChangeShapeType="1"/>
            </p:cNvSpPr>
            <p:nvPr/>
          </p:nvSpPr>
          <p:spPr bwMode="auto">
            <a:xfrm flipV="1">
              <a:off x="1728" y="1488"/>
              <a:ext cx="1200" cy="105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6" name="Line 95"/>
            <p:cNvSpPr>
              <a:spLocks noChangeShapeType="1"/>
            </p:cNvSpPr>
            <p:nvPr/>
          </p:nvSpPr>
          <p:spPr bwMode="auto">
            <a:xfrm flipV="1">
              <a:off x="1680" y="1440"/>
              <a:ext cx="1296" cy="144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7" name="Line 96"/>
            <p:cNvSpPr>
              <a:spLocks noChangeShapeType="1"/>
            </p:cNvSpPr>
            <p:nvPr/>
          </p:nvSpPr>
          <p:spPr bwMode="auto">
            <a:xfrm flipV="1">
              <a:off x="2208" y="2160"/>
              <a:ext cx="144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8" name="Line 97"/>
            <p:cNvSpPr>
              <a:spLocks noChangeShapeType="1"/>
            </p:cNvSpPr>
            <p:nvPr/>
          </p:nvSpPr>
          <p:spPr bwMode="auto">
            <a:xfrm flipV="1">
              <a:off x="2112" y="2064"/>
              <a:ext cx="144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9" name="Line 98"/>
            <p:cNvSpPr>
              <a:spLocks noChangeShapeType="1"/>
            </p:cNvSpPr>
            <p:nvPr/>
          </p:nvSpPr>
          <p:spPr bwMode="auto">
            <a:xfrm flipV="1">
              <a:off x="2016" y="1968"/>
              <a:ext cx="144" cy="9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5"/>
          <p:cNvGrpSpPr>
            <a:grpSpLocks/>
          </p:cNvGrpSpPr>
          <p:nvPr/>
        </p:nvGrpSpPr>
        <p:grpSpPr bwMode="auto">
          <a:xfrm>
            <a:off x="900113" y="2276475"/>
            <a:ext cx="3795712" cy="1728788"/>
            <a:chOff x="3841" y="2709"/>
            <a:chExt cx="2346" cy="1011"/>
          </a:xfrm>
        </p:grpSpPr>
        <p:sp>
          <p:nvSpPr>
            <p:cNvPr id="28779" name="Line 6"/>
            <p:cNvSpPr>
              <a:spLocks noChangeShapeType="1"/>
            </p:cNvSpPr>
            <p:nvPr/>
          </p:nvSpPr>
          <p:spPr bwMode="auto">
            <a:xfrm flipV="1">
              <a:off x="4236" y="2709"/>
              <a:ext cx="616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0" name="Line 7"/>
            <p:cNvSpPr>
              <a:spLocks noChangeShapeType="1"/>
            </p:cNvSpPr>
            <p:nvPr/>
          </p:nvSpPr>
          <p:spPr bwMode="auto">
            <a:xfrm flipV="1">
              <a:off x="4236" y="3371"/>
              <a:ext cx="582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1" name="Line 8"/>
            <p:cNvSpPr>
              <a:spLocks noChangeShapeType="1"/>
            </p:cNvSpPr>
            <p:nvPr/>
          </p:nvSpPr>
          <p:spPr bwMode="auto">
            <a:xfrm flipV="1">
              <a:off x="4241" y="3067"/>
              <a:ext cx="582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2" name="Line 9"/>
            <p:cNvSpPr>
              <a:spLocks noChangeShapeType="1"/>
            </p:cNvSpPr>
            <p:nvPr/>
          </p:nvSpPr>
          <p:spPr bwMode="auto">
            <a:xfrm flipV="1">
              <a:off x="4921" y="2883"/>
              <a:ext cx="718" cy="1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3" name="Line 10"/>
            <p:cNvSpPr>
              <a:spLocks noChangeShapeType="1"/>
            </p:cNvSpPr>
            <p:nvPr/>
          </p:nvSpPr>
          <p:spPr bwMode="auto">
            <a:xfrm flipV="1">
              <a:off x="5639" y="2743"/>
              <a:ext cx="548" cy="24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4" name="Line 11"/>
            <p:cNvSpPr>
              <a:spLocks noChangeShapeType="1"/>
            </p:cNvSpPr>
            <p:nvPr/>
          </p:nvSpPr>
          <p:spPr bwMode="auto">
            <a:xfrm flipV="1">
              <a:off x="4271" y="3058"/>
              <a:ext cx="54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85" name="Object 12"/>
            <p:cNvGraphicFramePr>
              <a:graphicFrameLocks noChangeAspect="1"/>
            </p:cNvGraphicFramePr>
            <p:nvPr/>
          </p:nvGraphicFramePr>
          <p:xfrm>
            <a:off x="4555" y="2840"/>
            <a:ext cx="13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58" name="公式" r:id="rId3" imgW="139579" imgH="177646" progId="Equation.3">
                    <p:embed/>
                  </p:oleObj>
                </mc:Choice>
                <mc:Fallback>
                  <p:oleObj name="公式" r:id="rId3" imgW="139579" imgH="177646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5" y="2840"/>
                          <a:ext cx="139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86" name="Line 13"/>
            <p:cNvSpPr>
              <a:spLocks noChangeShapeType="1"/>
            </p:cNvSpPr>
            <p:nvPr/>
          </p:nvSpPr>
          <p:spPr bwMode="auto">
            <a:xfrm flipV="1">
              <a:off x="4921" y="2743"/>
              <a:ext cx="7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7" name="Line 14"/>
            <p:cNvSpPr>
              <a:spLocks noChangeShapeType="1"/>
            </p:cNvSpPr>
            <p:nvPr/>
          </p:nvSpPr>
          <p:spPr bwMode="auto">
            <a:xfrm flipV="1">
              <a:off x="4921" y="2988"/>
              <a:ext cx="718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8" name="Line 15"/>
            <p:cNvSpPr>
              <a:spLocks noChangeShapeType="1"/>
            </p:cNvSpPr>
            <p:nvPr/>
          </p:nvSpPr>
          <p:spPr bwMode="auto">
            <a:xfrm flipV="1">
              <a:off x="5605" y="2743"/>
              <a:ext cx="58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9" name="Line 16"/>
            <p:cNvSpPr>
              <a:spLocks noChangeShapeType="1"/>
            </p:cNvSpPr>
            <p:nvPr/>
          </p:nvSpPr>
          <p:spPr bwMode="auto">
            <a:xfrm flipV="1">
              <a:off x="5605" y="2743"/>
              <a:ext cx="582" cy="1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0" name="Line 17"/>
            <p:cNvSpPr>
              <a:spLocks noChangeShapeType="1"/>
            </p:cNvSpPr>
            <p:nvPr/>
          </p:nvSpPr>
          <p:spPr bwMode="auto">
            <a:xfrm>
              <a:off x="3875" y="3092"/>
              <a:ext cx="34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1" name="Line 18"/>
            <p:cNvSpPr>
              <a:spLocks noChangeShapeType="1"/>
            </p:cNvSpPr>
            <p:nvPr/>
          </p:nvSpPr>
          <p:spPr bwMode="auto">
            <a:xfrm>
              <a:off x="3841" y="3720"/>
              <a:ext cx="3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2" name="Line 19"/>
            <p:cNvSpPr>
              <a:spLocks noChangeShapeType="1"/>
            </p:cNvSpPr>
            <p:nvPr/>
          </p:nvSpPr>
          <p:spPr bwMode="auto">
            <a:xfrm>
              <a:off x="3944" y="3407"/>
              <a:ext cx="27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3" name="Arc 20"/>
            <p:cNvSpPr>
              <a:spLocks/>
            </p:cNvSpPr>
            <p:nvPr/>
          </p:nvSpPr>
          <p:spPr bwMode="auto">
            <a:xfrm>
              <a:off x="4099" y="2918"/>
              <a:ext cx="412" cy="153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6" name="Group 21"/>
          <p:cNvGrpSpPr>
            <a:grpSpLocks/>
          </p:cNvGrpSpPr>
          <p:nvPr/>
        </p:nvGrpSpPr>
        <p:grpSpPr bwMode="auto">
          <a:xfrm>
            <a:off x="755650" y="1484313"/>
            <a:ext cx="5000625" cy="3816350"/>
            <a:chOff x="476" y="935"/>
            <a:chExt cx="3150" cy="2404"/>
          </a:xfrm>
        </p:grpSpPr>
        <p:graphicFrame>
          <p:nvGraphicFramePr>
            <p:cNvPr id="28760" name="Object 22"/>
            <p:cNvGraphicFramePr>
              <a:graphicFrameLocks noChangeAspect="1"/>
            </p:cNvGraphicFramePr>
            <p:nvPr/>
          </p:nvGraphicFramePr>
          <p:xfrm>
            <a:off x="2789" y="1253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59" name="公式" r:id="rId5" imgW="164885" imgH="164885" progId="Equation.3">
                    <p:embed/>
                  </p:oleObj>
                </mc:Choice>
                <mc:Fallback>
                  <p:oleObj name="公式" r:id="rId5" imgW="164885" imgH="164885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1253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761" name="Group 23"/>
            <p:cNvGrpSpPr>
              <a:grpSpLocks/>
            </p:cNvGrpSpPr>
            <p:nvPr/>
          </p:nvGrpSpPr>
          <p:grpSpPr bwMode="auto">
            <a:xfrm>
              <a:off x="953" y="1399"/>
              <a:ext cx="33" cy="1392"/>
              <a:chOff x="1104" y="1728"/>
              <a:chExt cx="48" cy="1872"/>
            </a:xfrm>
          </p:grpSpPr>
          <p:sp>
            <p:nvSpPr>
              <p:cNvPr id="28774" name="Line 24"/>
              <p:cNvSpPr>
                <a:spLocks noChangeShapeType="1"/>
              </p:cNvSpPr>
              <p:nvPr/>
            </p:nvSpPr>
            <p:spPr bwMode="auto">
              <a:xfrm>
                <a:off x="1104" y="17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5" name="Line 25"/>
              <p:cNvSpPr>
                <a:spLocks noChangeShapeType="1"/>
              </p:cNvSpPr>
              <p:nvPr/>
            </p:nvSpPr>
            <p:spPr bwMode="auto">
              <a:xfrm>
                <a:off x="1104" y="321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6" name="Oval 26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77" name="Oval 27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78" name="Oval 28"/>
              <p:cNvSpPr>
                <a:spLocks noChangeArrowheads="1"/>
              </p:cNvSpPr>
              <p:nvPr/>
            </p:nvSpPr>
            <p:spPr bwMode="auto">
              <a:xfrm>
                <a:off x="1104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762" name="Line 29"/>
            <p:cNvSpPr>
              <a:spLocks noChangeShapeType="1"/>
            </p:cNvSpPr>
            <p:nvPr/>
          </p:nvSpPr>
          <p:spPr bwMode="auto">
            <a:xfrm flipV="1">
              <a:off x="657" y="1797"/>
              <a:ext cx="0" cy="21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63" name="Line 30"/>
            <p:cNvSpPr>
              <a:spLocks noChangeShapeType="1"/>
            </p:cNvSpPr>
            <p:nvPr/>
          </p:nvSpPr>
          <p:spPr bwMode="auto">
            <a:xfrm rot="10800000" flipV="1">
              <a:off x="657" y="2296"/>
              <a:ext cx="0" cy="21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64" name="Object 31"/>
            <p:cNvGraphicFramePr>
              <a:graphicFrameLocks noChangeAspect="1"/>
            </p:cNvGraphicFramePr>
            <p:nvPr/>
          </p:nvGraphicFramePr>
          <p:xfrm>
            <a:off x="567" y="2069"/>
            <a:ext cx="160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60" name="公式" r:id="rId7" imgW="126835" imgH="139518" progId="Equation.3">
                    <p:embed/>
                  </p:oleObj>
                </mc:Choice>
                <mc:Fallback>
                  <p:oleObj name="公式" r:id="rId7" imgW="126835" imgH="139518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069"/>
                          <a:ext cx="160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765" name="Group 32"/>
            <p:cNvGrpSpPr>
              <a:grpSpLocks/>
            </p:cNvGrpSpPr>
            <p:nvPr/>
          </p:nvGrpSpPr>
          <p:grpSpPr bwMode="auto">
            <a:xfrm>
              <a:off x="1034" y="935"/>
              <a:ext cx="2592" cy="2404"/>
              <a:chOff x="1056" y="935"/>
              <a:chExt cx="2592" cy="2352"/>
            </a:xfrm>
          </p:grpSpPr>
          <p:sp>
            <p:nvSpPr>
              <p:cNvPr id="28770" name="Oval 33"/>
              <p:cNvSpPr>
                <a:spLocks noChangeArrowheads="1"/>
              </p:cNvSpPr>
              <p:nvPr/>
            </p:nvSpPr>
            <p:spPr bwMode="auto">
              <a:xfrm>
                <a:off x="1610" y="1162"/>
                <a:ext cx="121" cy="192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71" name="Line 34"/>
              <p:cNvSpPr>
                <a:spLocks noChangeShapeType="1"/>
              </p:cNvSpPr>
              <p:nvPr/>
            </p:nvSpPr>
            <p:spPr bwMode="auto">
              <a:xfrm>
                <a:off x="2971" y="935"/>
                <a:ext cx="0" cy="2352"/>
              </a:xfrm>
              <a:prstGeom prst="line">
                <a:avLst/>
              </a:pr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2" name="Line 35"/>
              <p:cNvSpPr>
                <a:spLocks noChangeShapeType="1"/>
              </p:cNvSpPr>
              <p:nvPr/>
            </p:nvSpPr>
            <p:spPr bwMode="auto">
              <a:xfrm>
                <a:off x="1056" y="2112"/>
                <a:ext cx="259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3" name="Line 36"/>
              <p:cNvSpPr>
                <a:spLocks noChangeShapeType="1"/>
              </p:cNvSpPr>
              <p:nvPr/>
            </p:nvSpPr>
            <p:spPr bwMode="auto">
              <a:xfrm flipV="1">
                <a:off x="1655" y="1480"/>
                <a:ext cx="1270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766" name="Arc 37"/>
            <p:cNvSpPr>
              <a:spLocks/>
            </p:cNvSpPr>
            <p:nvPr/>
          </p:nvSpPr>
          <p:spPr bwMode="auto">
            <a:xfrm>
              <a:off x="1565" y="1979"/>
              <a:ext cx="412" cy="153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67" name="Object 38"/>
            <p:cNvGraphicFramePr>
              <a:graphicFrameLocks noChangeAspect="1"/>
            </p:cNvGraphicFramePr>
            <p:nvPr/>
          </p:nvGraphicFramePr>
          <p:xfrm>
            <a:off x="2018" y="1933"/>
            <a:ext cx="13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61" name="公式" r:id="rId9" imgW="139579" imgH="177646" progId="Equation.3">
                    <p:embed/>
                  </p:oleObj>
                </mc:Choice>
                <mc:Fallback>
                  <p:oleObj name="公式" r:id="rId9" imgW="139579" imgH="177646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1933"/>
                          <a:ext cx="139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68" name="Line 39"/>
            <p:cNvSpPr>
              <a:spLocks noChangeShapeType="1"/>
            </p:cNvSpPr>
            <p:nvPr/>
          </p:nvSpPr>
          <p:spPr bwMode="auto">
            <a:xfrm>
              <a:off x="476" y="1797"/>
              <a:ext cx="49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9" name="Line 40"/>
            <p:cNvSpPr>
              <a:spLocks noChangeShapeType="1"/>
            </p:cNvSpPr>
            <p:nvPr/>
          </p:nvSpPr>
          <p:spPr bwMode="auto">
            <a:xfrm>
              <a:off x="476" y="2523"/>
              <a:ext cx="49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1"/>
          <p:cNvGrpSpPr>
            <a:grpSpLocks/>
          </p:cNvGrpSpPr>
          <p:nvPr/>
        </p:nvGrpSpPr>
        <p:grpSpPr bwMode="auto">
          <a:xfrm>
            <a:off x="5980113" y="1592263"/>
            <a:ext cx="2325687" cy="3741737"/>
            <a:chOff x="3959" y="156"/>
            <a:chExt cx="1417" cy="2291"/>
          </a:xfrm>
        </p:grpSpPr>
        <p:sp>
          <p:nvSpPr>
            <p:cNvPr id="28739" name="Rectangle 42"/>
            <p:cNvSpPr>
              <a:spLocks noChangeArrowheads="1"/>
            </p:cNvSpPr>
            <p:nvPr/>
          </p:nvSpPr>
          <p:spPr bwMode="auto">
            <a:xfrm>
              <a:off x="4837" y="934"/>
              <a:ext cx="539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I </a:t>
              </a:r>
              <a:r>
                <a:rPr lang="en-US" altLang="zh-CN" sz="1800" b="1">
                  <a:solidFill>
                    <a:schemeClr val="tx1"/>
                  </a:solidFill>
                </a:rPr>
                <a:t>/ </a:t>
              </a:r>
              <a:r>
                <a:rPr lang="en-US" altLang="zh-CN" sz="1800" b="1" i="1">
                  <a:solidFill>
                    <a:schemeClr val="tx1"/>
                  </a:solidFill>
                </a:rPr>
                <a:t>I</a:t>
              </a:r>
              <a:r>
                <a:rPr lang="en-US" altLang="zh-CN" sz="1800" b="1" baseline="-25000">
                  <a:solidFill>
                    <a:schemeClr val="tx1"/>
                  </a:solidFill>
                </a:rPr>
                <a:t>0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8740" name="Line 43"/>
            <p:cNvSpPr>
              <a:spLocks noChangeShapeType="1"/>
            </p:cNvSpPr>
            <p:nvPr/>
          </p:nvSpPr>
          <p:spPr bwMode="auto">
            <a:xfrm rot="5400000">
              <a:off x="2834" y="1300"/>
              <a:ext cx="2289" cy="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1" name="Line 44"/>
            <p:cNvSpPr>
              <a:spLocks noChangeShapeType="1"/>
            </p:cNvSpPr>
            <p:nvPr/>
          </p:nvSpPr>
          <p:spPr bwMode="auto">
            <a:xfrm rot="5400000">
              <a:off x="4557" y="663"/>
              <a:ext cx="1" cy="115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2" name="Freeform 45"/>
            <p:cNvSpPr>
              <a:spLocks/>
            </p:cNvSpPr>
            <p:nvPr/>
          </p:nvSpPr>
          <p:spPr bwMode="auto">
            <a:xfrm rot="5400000">
              <a:off x="4238" y="782"/>
              <a:ext cx="485" cy="8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105"/>
                  </a:moveTo>
                  <a:lnTo>
                    <a:pt x="211" y="18494"/>
                  </a:lnTo>
                  <a:lnTo>
                    <a:pt x="469" y="17894"/>
                  </a:lnTo>
                  <a:lnTo>
                    <a:pt x="680" y="17283"/>
                  </a:lnTo>
                  <a:lnTo>
                    <a:pt x="890" y="16683"/>
                  </a:lnTo>
                  <a:lnTo>
                    <a:pt x="1111" y="16072"/>
                  </a:lnTo>
                  <a:lnTo>
                    <a:pt x="1331" y="15483"/>
                  </a:lnTo>
                  <a:lnTo>
                    <a:pt x="1541" y="14894"/>
                  </a:lnTo>
                  <a:lnTo>
                    <a:pt x="1771" y="14304"/>
                  </a:lnTo>
                  <a:lnTo>
                    <a:pt x="1953" y="13715"/>
                  </a:lnTo>
                  <a:lnTo>
                    <a:pt x="2231" y="13159"/>
                  </a:lnTo>
                  <a:lnTo>
                    <a:pt x="2470" y="12591"/>
                  </a:lnTo>
                  <a:lnTo>
                    <a:pt x="2681" y="12024"/>
                  </a:lnTo>
                  <a:lnTo>
                    <a:pt x="2891" y="11468"/>
                  </a:lnTo>
                  <a:lnTo>
                    <a:pt x="3112" y="10900"/>
                  </a:lnTo>
                  <a:lnTo>
                    <a:pt x="3332" y="10344"/>
                  </a:lnTo>
                  <a:lnTo>
                    <a:pt x="3552" y="9809"/>
                  </a:lnTo>
                  <a:lnTo>
                    <a:pt x="3791" y="9285"/>
                  </a:lnTo>
                  <a:lnTo>
                    <a:pt x="4011" y="8751"/>
                  </a:lnTo>
                  <a:lnTo>
                    <a:pt x="4203" y="8249"/>
                  </a:lnTo>
                  <a:lnTo>
                    <a:pt x="4442" y="7747"/>
                  </a:lnTo>
                  <a:lnTo>
                    <a:pt x="4682" y="7256"/>
                  </a:lnTo>
                  <a:lnTo>
                    <a:pt x="4883" y="6787"/>
                  </a:lnTo>
                  <a:lnTo>
                    <a:pt x="5103" y="6339"/>
                  </a:lnTo>
                  <a:lnTo>
                    <a:pt x="5352" y="5892"/>
                  </a:lnTo>
                  <a:lnTo>
                    <a:pt x="5572" y="5434"/>
                  </a:lnTo>
                  <a:lnTo>
                    <a:pt x="5744" y="4986"/>
                  </a:lnTo>
                  <a:lnTo>
                    <a:pt x="5945" y="4572"/>
                  </a:lnTo>
                  <a:lnTo>
                    <a:pt x="6204" y="4179"/>
                  </a:lnTo>
                  <a:lnTo>
                    <a:pt x="6415" y="3775"/>
                  </a:lnTo>
                  <a:lnTo>
                    <a:pt x="6644" y="3404"/>
                  </a:lnTo>
                  <a:lnTo>
                    <a:pt x="6865" y="3066"/>
                  </a:lnTo>
                  <a:lnTo>
                    <a:pt x="7085" y="2717"/>
                  </a:lnTo>
                  <a:lnTo>
                    <a:pt x="7295" y="2411"/>
                  </a:lnTo>
                  <a:lnTo>
                    <a:pt x="7487" y="2095"/>
                  </a:lnTo>
                  <a:lnTo>
                    <a:pt x="7755" y="1811"/>
                  </a:lnTo>
                  <a:lnTo>
                    <a:pt x="7985" y="1571"/>
                  </a:lnTo>
                  <a:lnTo>
                    <a:pt x="8138" y="1298"/>
                  </a:lnTo>
                  <a:lnTo>
                    <a:pt x="8368" y="1069"/>
                  </a:lnTo>
                  <a:lnTo>
                    <a:pt x="8578" y="873"/>
                  </a:lnTo>
                  <a:lnTo>
                    <a:pt x="8837" y="655"/>
                  </a:lnTo>
                  <a:lnTo>
                    <a:pt x="8990" y="502"/>
                  </a:lnTo>
                  <a:lnTo>
                    <a:pt x="9248" y="382"/>
                  </a:lnTo>
                  <a:lnTo>
                    <a:pt x="9469" y="240"/>
                  </a:lnTo>
                  <a:lnTo>
                    <a:pt x="9631" y="153"/>
                  </a:lnTo>
                  <a:lnTo>
                    <a:pt x="9852" y="87"/>
                  </a:lnTo>
                  <a:lnTo>
                    <a:pt x="10101" y="22"/>
                  </a:lnTo>
                  <a:lnTo>
                    <a:pt x="10321" y="0"/>
                  </a:lnTo>
                  <a:lnTo>
                    <a:pt x="10474" y="22"/>
                  </a:lnTo>
                  <a:lnTo>
                    <a:pt x="10685" y="22"/>
                  </a:lnTo>
                  <a:lnTo>
                    <a:pt x="10962" y="87"/>
                  </a:lnTo>
                  <a:lnTo>
                    <a:pt x="11125" y="207"/>
                  </a:lnTo>
                  <a:lnTo>
                    <a:pt x="11336" y="349"/>
                  </a:lnTo>
                  <a:lnTo>
                    <a:pt x="11546" y="524"/>
                  </a:lnTo>
                  <a:lnTo>
                    <a:pt x="11776" y="742"/>
                  </a:lnTo>
                  <a:lnTo>
                    <a:pt x="11987" y="993"/>
                  </a:lnTo>
                  <a:lnTo>
                    <a:pt x="12226" y="1244"/>
                  </a:lnTo>
                  <a:lnTo>
                    <a:pt x="12504" y="1571"/>
                  </a:lnTo>
                  <a:lnTo>
                    <a:pt x="12695" y="1909"/>
                  </a:lnTo>
                  <a:lnTo>
                    <a:pt x="12915" y="2280"/>
                  </a:lnTo>
                  <a:lnTo>
                    <a:pt x="13145" y="2706"/>
                  </a:lnTo>
                  <a:lnTo>
                    <a:pt x="13404" y="3099"/>
                  </a:lnTo>
                  <a:lnTo>
                    <a:pt x="13585" y="3524"/>
                  </a:lnTo>
                  <a:lnTo>
                    <a:pt x="13806" y="3983"/>
                  </a:lnTo>
                  <a:lnTo>
                    <a:pt x="14102" y="4430"/>
                  </a:lnTo>
                  <a:lnTo>
                    <a:pt x="14275" y="4932"/>
                  </a:lnTo>
                  <a:lnTo>
                    <a:pt x="14552" y="5466"/>
                  </a:lnTo>
                  <a:lnTo>
                    <a:pt x="14725" y="5990"/>
                  </a:lnTo>
                  <a:lnTo>
                    <a:pt x="14983" y="6514"/>
                  </a:lnTo>
                  <a:lnTo>
                    <a:pt x="15184" y="7059"/>
                  </a:lnTo>
                  <a:lnTo>
                    <a:pt x="15433" y="7616"/>
                  </a:lnTo>
                  <a:lnTo>
                    <a:pt x="15711" y="8194"/>
                  </a:lnTo>
                  <a:lnTo>
                    <a:pt x="15912" y="8783"/>
                  </a:lnTo>
                  <a:lnTo>
                    <a:pt x="16103" y="9340"/>
                  </a:lnTo>
                  <a:lnTo>
                    <a:pt x="16324" y="9907"/>
                  </a:lnTo>
                  <a:lnTo>
                    <a:pt x="16534" y="10475"/>
                  </a:lnTo>
                  <a:lnTo>
                    <a:pt x="16726" y="11053"/>
                  </a:lnTo>
                  <a:lnTo>
                    <a:pt x="16946" y="11620"/>
                  </a:lnTo>
                  <a:lnTo>
                    <a:pt x="17157" y="12188"/>
                  </a:lnTo>
                  <a:lnTo>
                    <a:pt x="17338" y="12755"/>
                  </a:lnTo>
                  <a:lnTo>
                    <a:pt x="17530" y="13301"/>
                  </a:lnTo>
                  <a:lnTo>
                    <a:pt x="17741" y="13835"/>
                  </a:lnTo>
                  <a:lnTo>
                    <a:pt x="17894" y="14392"/>
                  </a:lnTo>
                  <a:lnTo>
                    <a:pt x="18124" y="14926"/>
                  </a:lnTo>
                  <a:lnTo>
                    <a:pt x="18267" y="15428"/>
                  </a:lnTo>
                  <a:lnTo>
                    <a:pt x="18468" y="15941"/>
                  </a:lnTo>
                  <a:lnTo>
                    <a:pt x="18593" y="16432"/>
                  </a:lnTo>
                  <a:lnTo>
                    <a:pt x="18842" y="16869"/>
                  </a:lnTo>
                  <a:lnTo>
                    <a:pt x="18947" y="17338"/>
                  </a:lnTo>
                  <a:lnTo>
                    <a:pt x="19110" y="17752"/>
                  </a:lnTo>
                  <a:lnTo>
                    <a:pt x="19244" y="18145"/>
                  </a:lnTo>
                  <a:lnTo>
                    <a:pt x="19387" y="18538"/>
                  </a:lnTo>
                  <a:lnTo>
                    <a:pt x="19512" y="18898"/>
                  </a:lnTo>
                  <a:lnTo>
                    <a:pt x="19627" y="19193"/>
                  </a:lnTo>
                  <a:lnTo>
                    <a:pt x="19789" y="19509"/>
                  </a:lnTo>
                  <a:lnTo>
                    <a:pt x="19876" y="19782"/>
                  </a:lnTo>
                  <a:lnTo>
                    <a:pt x="19990" y="19989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3" name="Freeform 46"/>
            <p:cNvSpPr>
              <a:spLocks/>
            </p:cNvSpPr>
            <p:nvPr/>
          </p:nvSpPr>
          <p:spPr bwMode="auto">
            <a:xfrm rot="5400000">
              <a:off x="3934" y="1654"/>
              <a:ext cx="194" cy="5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16"/>
                  </a:moveTo>
                  <a:lnTo>
                    <a:pt x="198" y="19244"/>
                  </a:lnTo>
                  <a:lnTo>
                    <a:pt x="372" y="18739"/>
                  </a:lnTo>
                  <a:lnTo>
                    <a:pt x="570" y="17983"/>
                  </a:lnTo>
                  <a:lnTo>
                    <a:pt x="818" y="17479"/>
                  </a:lnTo>
                  <a:lnTo>
                    <a:pt x="1016" y="16723"/>
                  </a:lnTo>
                  <a:lnTo>
                    <a:pt x="1214" y="16134"/>
                  </a:lnTo>
                  <a:lnTo>
                    <a:pt x="1388" y="15630"/>
                  </a:lnTo>
                  <a:lnTo>
                    <a:pt x="1561" y="15042"/>
                  </a:lnTo>
                  <a:lnTo>
                    <a:pt x="1735" y="14454"/>
                  </a:lnTo>
                  <a:lnTo>
                    <a:pt x="1958" y="13697"/>
                  </a:lnTo>
                  <a:lnTo>
                    <a:pt x="2156" y="13277"/>
                  </a:lnTo>
                  <a:lnTo>
                    <a:pt x="2354" y="12689"/>
                  </a:lnTo>
                  <a:lnTo>
                    <a:pt x="2553" y="12017"/>
                  </a:lnTo>
                  <a:lnTo>
                    <a:pt x="2825" y="11513"/>
                  </a:lnTo>
                  <a:lnTo>
                    <a:pt x="2949" y="10924"/>
                  </a:lnTo>
                  <a:lnTo>
                    <a:pt x="3172" y="10336"/>
                  </a:lnTo>
                  <a:lnTo>
                    <a:pt x="3346" y="9748"/>
                  </a:lnTo>
                  <a:lnTo>
                    <a:pt x="3544" y="9244"/>
                  </a:lnTo>
                  <a:lnTo>
                    <a:pt x="3767" y="8739"/>
                  </a:lnTo>
                  <a:lnTo>
                    <a:pt x="3941" y="8319"/>
                  </a:lnTo>
                  <a:lnTo>
                    <a:pt x="4139" y="7731"/>
                  </a:lnTo>
                  <a:lnTo>
                    <a:pt x="4362" y="7143"/>
                  </a:lnTo>
                  <a:lnTo>
                    <a:pt x="4560" y="6723"/>
                  </a:lnTo>
                  <a:lnTo>
                    <a:pt x="4783" y="6303"/>
                  </a:lnTo>
                  <a:lnTo>
                    <a:pt x="4932" y="5714"/>
                  </a:lnTo>
                  <a:lnTo>
                    <a:pt x="5130" y="5462"/>
                  </a:lnTo>
                  <a:lnTo>
                    <a:pt x="5304" y="4874"/>
                  </a:lnTo>
                  <a:lnTo>
                    <a:pt x="5551" y="4454"/>
                  </a:lnTo>
                  <a:lnTo>
                    <a:pt x="5799" y="4118"/>
                  </a:lnTo>
                  <a:lnTo>
                    <a:pt x="5973" y="3866"/>
                  </a:lnTo>
                  <a:lnTo>
                    <a:pt x="6171" y="3445"/>
                  </a:lnTo>
                  <a:lnTo>
                    <a:pt x="6369" y="3109"/>
                  </a:lnTo>
                  <a:lnTo>
                    <a:pt x="6568" y="2689"/>
                  </a:lnTo>
                  <a:lnTo>
                    <a:pt x="6766" y="2353"/>
                  </a:lnTo>
                  <a:lnTo>
                    <a:pt x="6964" y="2101"/>
                  </a:lnTo>
                  <a:lnTo>
                    <a:pt x="7237" y="1681"/>
                  </a:lnTo>
                  <a:lnTo>
                    <a:pt x="7410" y="1513"/>
                  </a:lnTo>
                  <a:lnTo>
                    <a:pt x="7608" y="1176"/>
                  </a:lnTo>
                  <a:lnTo>
                    <a:pt x="7807" y="1092"/>
                  </a:lnTo>
                  <a:lnTo>
                    <a:pt x="7980" y="756"/>
                  </a:lnTo>
                  <a:lnTo>
                    <a:pt x="8253" y="672"/>
                  </a:lnTo>
                  <a:lnTo>
                    <a:pt x="8401" y="504"/>
                  </a:lnTo>
                  <a:lnTo>
                    <a:pt x="8649" y="420"/>
                  </a:lnTo>
                  <a:lnTo>
                    <a:pt x="8848" y="252"/>
                  </a:lnTo>
                  <a:lnTo>
                    <a:pt x="9046" y="84"/>
                  </a:lnTo>
                  <a:lnTo>
                    <a:pt x="9269" y="84"/>
                  </a:lnTo>
                  <a:lnTo>
                    <a:pt x="9442" y="0"/>
                  </a:lnTo>
                  <a:lnTo>
                    <a:pt x="9690" y="0"/>
                  </a:lnTo>
                  <a:lnTo>
                    <a:pt x="9888" y="0"/>
                  </a:lnTo>
                  <a:lnTo>
                    <a:pt x="10112" y="84"/>
                  </a:lnTo>
                  <a:lnTo>
                    <a:pt x="10310" y="84"/>
                  </a:lnTo>
                  <a:lnTo>
                    <a:pt x="10508" y="252"/>
                  </a:lnTo>
                  <a:lnTo>
                    <a:pt x="10781" y="420"/>
                  </a:lnTo>
                  <a:lnTo>
                    <a:pt x="11004" y="672"/>
                  </a:lnTo>
                  <a:lnTo>
                    <a:pt x="11202" y="840"/>
                  </a:lnTo>
                  <a:lnTo>
                    <a:pt x="11475" y="1092"/>
                  </a:lnTo>
                  <a:lnTo>
                    <a:pt x="11698" y="1513"/>
                  </a:lnTo>
                  <a:lnTo>
                    <a:pt x="11995" y="1681"/>
                  </a:lnTo>
                  <a:lnTo>
                    <a:pt x="12193" y="2101"/>
                  </a:lnTo>
                  <a:lnTo>
                    <a:pt x="12441" y="2437"/>
                  </a:lnTo>
                  <a:lnTo>
                    <a:pt x="12689" y="2773"/>
                  </a:lnTo>
                  <a:lnTo>
                    <a:pt x="12912" y="3277"/>
                  </a:lnTo>
                  <a:lnTo>
                    <a:pt x="13209" y="3866"/>
                  </a:lnTo>
                  <a:lnTo>
                    <a:pt x="13432" y="4118"/>
                  </a:lnTo>
                  <a:lnTo>
                    <a:pt x="13680" y="4706"/>
                  </a:lnTo>
                  <a:lnTo>
                    <a:pt x="13953" y="5126"/>
                  </a:lnTo>
                  <a:lnTo>
                    <a:pt x="14176" y="5546"/>
                  </a:lnTo>
                  <a:lnTo>
                    <a:pt x="14399" y="6050"/>
                  </a:lnTo>
                  <a:lnTo>
                    <a:pt x="14696" y="6723"/>
                  </a:lnTo>
                  <a:lnTo>
                    <a:pt x="14895" y="7143"/>
                  </a:lnTo>
                  <a:lnTo>
                    <a:pt x="15192" y="7731"/>
                  </a:lnTo>
                  <a:lnTo>
                    <a:pt x="15415" y="8319"/>
                  </a:lnTo>
                  <a:lnTo>
                    <a:pt x="15638" y="8739"/>
                  </a:lnTo>
                  <a:lnTo>
                    <a:pt x="15911" y="9328"/>
                  </a:lnTo>
                  <a:lnTo>
                    <a:pt x="16084" y="9916"/>
                  </a:lnTo>
                  <a:lnTo>
                    <a:pt x="16332" y="10420"/>
                  </a:lnTo>
                  <a:lnTo>
                    <a:pt x="16605" y="11176"/>
                  </a:lnTo>
                  <a:lnTo>
                    <a:pt x="16803" y="11513"/>
                  </a:lnTo>
                  <a:lnTo>
                    <a:pt x="17051" y="12017"/>
                  </a:lnTo>
                  <a:lnTo>
                    <a:pt x="17249" y="12689"/>
                  </a:lnTo>
                  <a:lnTo>
                    <a:pt x="17472" y="13109"/>
                  </a:lnTo>
                  <a:lnTo>
                    <a:pt x="17670" y="13697"/>
                  </a:lnTo>
                  <a:lnTo>
                    <a:pt x="17918" y="14286"/>
                  </a:lnTo>
                  <a:lnTo>
                    <a:pt x="18116" y="14706"/>
                  </a:lnTo>
                  <a:lnTo>
                    <a:pt x="18290" y="15210"/>
                  </a:lnTo>
                  <a:lnTo>
                    <a:pt x="18463" y="15630"/>
                  </a:lnTo>
                  <a:lnTo>
                    <a:pt x="18686" y="16134"/>
                  </a:lnTo>
                  <a:lnTo>
                    <a:pt x="18810" y="16555"/>
                  </a:lnTo>
                  <a:lnTo>
                    <a:pt x="18984" y="16891"/>
                  </a:lnTo>
                  <a:lnTo>
                    <a:pt x="19133" y="17227"/>
                  </a:lnTo>
                  <a:lnTo>
                    <a:pt x="19306" y="17647"/>
                  </a:lnTo>
                  <a:lnTo>
                    <a:pt x="19480" y="17983"/>
                  </a:lnTo>
                  <a:lnTo>
                    <a:pt x="19603" y="18319"/>
                  </a:lnTo>
                  <a:lnTo>
                    <a:pt x="19703" y="18487"/>
                  </a:lnTo>
                  <a:lnTo>
                    <a:pt x="19851" y="18908"/>
                  </a:lnTo>
                  <a:lnTo>
                    <a:pt x="19975" y="19076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4" name="Freeform 47"/>
            <p:cNvSpPr>
              <a:spLocks/>
            </p:cNvSpPr>
            <p:nvPr/>
          </p:nvSpPr>
          <p:spPr bwMode="auto">
            <a:xfrm rot="5400000">
              <a:off x="3898" y="1839"/>
              <a:ext cx="203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62" y="599"/>
                  </a:lnTo>
                  <a:lnTo>
                    <a:pt x="452" y="1317"/>
                  </a:lnTo>
                  <a:lnTo>
                    <a:pt x="523" y="1677"/>
                  </a:lnTo>
                  <a:lnTo>
                    <a:pt x="785" y="2635"/>
                  </a:lnTo>
                  <a:lnTo>
                    <a:pt x="999" y="3353"/>
                  </a:lnTo>
                  <a:lnTo>
                    <a:pt x="1070" y="3832"/>
                  </a:lnTo>
                  <a:lnTo>
                    <a:pt x="1379" y="4072"/>
                  </a:lnTo>
                  <a:lnTo>
                    <a:pt x="1546" y="5030"/>
                  </a:lnTo>
                  <a:lnTo>
                    <a:pt x="1807" y="5389"/>
                  </a:lnTo>
                  <a:lnTo>
                    <a:pt x="1998" y="5988"/>
                  </a:lnTo>
                  <a:lnTo>
                    <a:pt x="2069" y="6467"/>
                  </a:lnTo>
                  <a:lnTo>
                    <a:pt x="2402" y="7066"/>
                  </a:lnTo>
                  <a:lnTo>
                    <a:pt x="2568" y="7665"/>
                  </a:lnTo>
                  <a:lnTo>
                    <a:pt x="2711" y="8383"/>
                  </a:lnTo>
                  <a:lnTo>
                    <a:pt x="2878" y="8862"/>
                  </a:lnTo>
                  <a:lnTo>
                    <a:pt x="3092" y="9461"/>
                  </a:lnTo>
                  <a:lnTo>
                    <a:pt x="3401" y="10060"/>
                  </a:lnTo>
                  <a:lnTo>
                    <a:pt x="3639" y="10659"/>
                  </a:lnTo>
                  <a:lnTo>
                    <a:pt x="3781" y="11018"/>
                  </a:lnTo>
                  <a:lnTo>
                    <a:pt x="3948" y="11497"/>
                  </a:lnTo>
                  <a:lnTo>
                    <a:pt x="4185" y="12096"/>
                  </a:lnTo>
                  <a:lnTo>
                    <a:pt x="4352" y="12455"/>
                  </a:lnTo>
                  <a:lnTo>
                    <a:pt x="4542" y="13054"/>
                  </a:lnTo>
                  <a:lnTo>
                    <a:pt x="4780" y="13653"/>
                  </a:lnTo>
                  <a:lnTo>
                    <a:pt x="4946" y="13892"/>
                  </a:lnTo>
                  <a:lnTo>
                    <a:pt x="5065" y="14491"/>
                  </a:lnTo>
                  <a:lnTo>
                    <a:pt x="5327" y="14850"/>
                  </a:lnTo>
                  <a:lnTo>
                    <a:pt x="5612" y="15090"/>
                  </a:lnTo>
                  <a:lnTo>
                    <a:pt x="5707" y="15689"/>
                  </a:lnTo>
                  <a:lnTo>
                    <a:pt x="5969" y="16048"/>
                  </a:lnTo>
                  <a:lnTo>
                    <a:pt x="6183" y="16407"/>
                  </a:lnTo>
                  <a:lnTo>
                    <a:pt x="6350" y="16527"/>
                  </a:lnTo>
                  <a:lnTo>
                    <a:pt x="6564" y="16886"/>
                  </a:lnTo>
                  <a:lnTo>
                    <a:pt x="6825" y="17126"/>
                  </a:lnTo>
                  <a:lnTo>
                    <a:pt x="6968" y="17844"/>
                  </a:lnTo>
                  <a:lnTo>
                    <a:pt x="7182" y="18084"/>
                  </a:lnTo>
                  <a:lnTo>
                    <a:pt x="7348" y="18084"/>
                  </a:lnTo>
                  <a:lnTo>
                    <a:pt x="7562" y="18683"/>
                  </a:lnTo>
                  <a:lnTo>
                    <a:pt x="7800" y="18683"/>
                  </a:lnTo>
                  <a:lnTo>
                    <a:pt x="7990" y="18683"/>
                  </a:lnTo>
                  <a:lnTo>
                    <a:pt x="8228" y="18922"/>
                  </a:lnTo>
                  <a:lnTo>
                    <a:pt x="8466" y="19162"/>
                  </a:lnTo>
                  <a:lnTo>
                    <a:pt x="8704" y="19162"/>
                  </a:lnTo>
                  <a:lnTo>
                    <a:pt x="8799" y="19521"/>
                  </a:lnTo>
                  <a:lnTo>
                    <a:pt x="8989" y="19880"/>
                  </a:lnTo>
                  <a:lnTo>
                    <a:pt x="9227" y="19880"/>
                  </a:lnTo>
                  <a:lnTo>
                    <a:pt x="9441" y="19880"/>
                  </a:lnTo>
                  <a:lnTo>
                    <a:pt x="9655" y="19880"/>
                  </a:lnTo>
                  <a:lnTo>
                    <a:pt x="9822" y="19880"/>
                  </a:lnTo>
                  <a:lnTo>
                    <a:pt x="10178" y="19880"/>
                  </a:lnTo>
                  <a:lnTo>
                    <a:pt x="10321" y="19521"/>
                  </a:lnTo>
                  <a:lnTo>
                    <a:pt x="10559" y="19162"/>
                  </a:lnTo>
                  <a:lnTo>
                    <a:pt x="10773" y="19162"/>
                  </a:lnTo>
                  <a:lnTo>
                    <a:pt x="11011" y="18922"/>
                  </a:lnTo>
                  <a:lnTo>
                    <a:pt x="11201" y="18683"/>
                  </a:lnTo>
                  <a:lnTo>
                    <a:pt x="11463" y="18683"/>
                  </a:lnTo>
                  <a:lnTo>
                    <a:pt x="11724" y="18443"/>
                  </a:lnTo>
                  <a:lnTo>
                    <a:pt x="12010" y="18084"/>
                  </a:lnTo>
                  <a:lnTo>
                    <a:pt x="12200" y="17844"/>
                  </a:lnTo>
                  <a:lnTo>
                    <a:pt x="12438" y="17126"/>
                  </a:lnTo>
                  <a:lnTo>
                    <a:pt x="12652" y="16886"/>
                  </a:lnTo>
                  <a:lnTo>
                    <a:pt x="12842" y="16527"/>
                  </a:lnTo>
                  <a:lnTo>
                    <a:pt x="13175" y="16048"/>
                  </a:lnTo>
                  <a:lnTo>
                    <a:pt x="13341" y="15689"/>
                  </a:lnTo>
                  <a:lnTo>
                    <a:pt x="13650" y="15090"/>
                  </a:lnTo>
                  <a:lnTo>
                    <a:pt x="13936" y="14491"/>
                  </a:lnTo>
                  <a:lnTo>
                    <a:pt x="14150" y="14132"/>
                  </a:lnTo>
                  <a:lnTo>
                    <a:pt x="14388" y="13653"/>
                  </a:lnTo>
                  <a:lnTo>
                    <a:pt x="14673" y="13054"/>
                  </a:lnTo>
                  <a:lnTo>
                    <a:pt x="14958" y="12814"/>
                  </a:lnTo>
                  <a:lnTo>
                    <a:pt x="15220" y="12096"/>
                  </a:lnTo>
                  <a:lnTo>
                    <a:pt x="15458" y="11497"/>
                  </a:lnTo>
                  <a:lnTo>
                    <a:pt x="15672" y="11018"/>
                  </a:lnTo>
                  <a:lnTo>
                    <a:pt x="15815" y="10659"/>
                  </a:lnTo>
                  <a:lnTo>
                    <a:pt x="16171" y="10060"/>
                  </a:lnTo>
                  <a:lnTo>
                    <a:pt x="16290" y="9102"/>
                  </a:lnTo>
                  <a:lnTo>
                    <a:pt x="16552" y="8862"/>
                  </a:lnTo>
                  <a:lnTo>
                    <a:pt x="16790" y="8383"/>
                  </a:lnTo>
                  <a:lnTo>
                    <a:pt x="17122" y="7665"/>
                  </a:lnTo>
                  <a:lnTo>
                    <a:pt x="17218" y="7066"/>
                  </a:lnTo>
                  <a:lnTo>
                    <a:pt x="17432" y="6467"/>
                  </a:lnTo>
                  <a:lnTo>
                    <a:pt x="17693" y="5988"/>
                  </a:lnTo>
                  <a:lnTo>
                    <a:pt x="17955" y="5629"/>
                  </a:lnTo>
                  <a:lnTo>
                    <a:pt x="18002" y="5030"/>
                  </a:lnTo>
                  <a:lnTo>
                    <a:pt x="18335" y="4671"/>
                  </a:lnTo>
                  <a:lnTo>
                    <a:pt x="18454" y="4072"/>
                  </a:lnTo>
                  <a:lnTo>
                    <a:pt x="18668" y="3832"/>
                  </a:lnTo>
                  <a:lnTo>
                    <a:pt x="18716" y="3353"/>
                  </a:lnTo>
                  <a:lnTo>
                    <a:pt x="19001" y="2994"/>
                  </a:lnTo>
                  <a:lnTo>
                    <a:pt x="19191" y="2635"/>
                  </a:lnTo>
                  <a:lnTo>
                    <a:pt x="19405" y="2036"/>
                  </a:lnTo>
                  <a:lnTo>
                    <a:pt x="19501" y="1677"/>
                  </a:lnTo>
                  <a:lnTo>
                    <a:pt x="19548" y="1677"/>
                  </a:lnTo>
                  <a:lnTo>
                    <a:pt x="19667" y="1317"/>
                  </a:lnTo>
                  <a:lnTo>
                    <a:pt x="19810" y="1317"/>
                  </a:lnTo>
                  <a:lnTo>
                    <a:pt x="19976" y="958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5" name="Freeform 48"/>
            <p:cNvSpPr>
              <a:spLocks/>
            </p:cNvSpPr>
            <p:nvPr/>
          </p:nvSpPr>
          <p:spPr bwMode="auto">
            <a:xfrm rot="5400000">
              <a:off x="3872" y="2162"/>
              <a:ext cx="251" cy="2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81" y="0"/>
                  </a:moveTo>
                  <a:lnTo>
                    <a:pt x="19731" y="826"/>
                  </a:lnTo>
                  <a:lnTo>
                    <a:pt x="19481" y="1157"/>
                  </a:lnTo>
                  <a:lnTo>
                    <a:pt x="19443" y="1818"/>
                  </a:lnTo>
                  <a:lnTo>
                    <a:pt x="19174" y="2314"/>
                  </a:lnTo>
                  <a:lnTo>
                    <a:pt x="19001" y="3140"/>
                  </a:lnTo>
                  <a:lnTo>
                    <a:pt x="18847" y="3802"/>
                  </a:lnTo>
                  <a:lnTo>
                    <a:pt x="18540" y="4132"/>
                  </a:lnTo>
                  <a:lnTo>
                    <a:pt x="18329" y="5124"/>
                  </a:lnTo>
                  <a:lnTo>
                    <a:pt x="18271" y="5289"/>
                  </a:lnTo>
                  <a:lnTo>
                    <a:pt x="17963" y="6116"/>
                  </a:lnTo>
                  <a:lnTo>
                    <a:pt x="17810" y="6942"/>
                  </a:lnTo>
                  <a:lnTo>
                    <a:pt x="17541" y="7107"/>
                  </a:lnTo>
                  <a:lnTo>
                    <a:pt x="17329" y="7438"/>
                  </a:lnTo>
                  <a:lnTo>
                    <a:pt x="17253" y="8264"/>
                  </a:lnTo>
                  <a:lnTo>
                    <a:pt x="17022" y="9091"/>
                  </a:lnTo>
                  <a:lnTo>
                    <a:pt x="16849" y="9752"/>
                  </a:lnTo>
                  <a:lnTo>
                    <a:pt x="16580" y="10248"/>
                  </a:lnTo>
                  <a:lnTo>
                    <a:pt x="16330" y="10744"/>
                  </a:lnTo>
                  <a:lnTo>
                    <a:pt x="16177" y="11074"/>
                  </a:lnTo>
                  <a:lnTo>
                    <a:pt x="16004" y="11736"/>
                  </a:lnTo>
                  <a:lnTo>
                    <a:pt x="15773" y="12231"/>
                  </a:lnTo>
                  <a:lnTo>
                    <a:pt x="15581" y="12893"/>
                  </a:lnTo>
                  <a:lnTo>
                    <a:pt x="15312" y="13058"/>
                  </a:lnTo>
                  <a:lnTo>
                    <a:pt x="15255" y="13719"/>
                  </a:lnTo>
                  <a:lnTo>
                    <a:pt x="14966" y="14215"/>
                  </a:lnTo>
                  <a:lnTo>
                    <a:pt x="14832" y="14711"/>
                  </a:lnTo>
                  <a:lnTo>
                    <a:pt x="14563" y="14711"/>
                  </a:lnTo>
                  <a:lnTo>
                    <a:pt x="14428" y="15041"/>
                  </a:lnTo>
                  <a:lnTo>
                    <a:pt x="14179" y="16033"/>
                  </a:lnTo>
                  <a:lnTo>
                    <a:pt x="14006" y="16198"/>
                  </a:lnTo>
                  <a:lnTo>
                    <a:pt x="13718" y="16364"/>
                  </a:lnTo>
                  <a:lnTo>
                    <a:pt x="13660" y="16860"/>
                  </a:lnTo>
                  <a:lnTo>
                    <a:pt x="13295" y="17190"/>
                  </a:lnTo>
                  <a:lnTo>
                    <a:pt x="13103" y="17355"/>
                  </a:lnTo>
                  <a:lnTo>
                    <a:pt x="12968" y="17686"/>
                  </a:lnTo>
                  <a:lnTo>
                    <a:pt x="12795" y="18347"/>
                  </a:lnTo>
                  <a:lnTo>
                    <a:pt x="12546" y="18347"/>
                  </a:lnTo>
                  <a:lnTo>
                    <a:pt x="12315" y="18678"/>
                  </a:lnTo>
                  <a:lnTo>
                    <a:pt x="12161" y="18678"/>
                  </a:lnTo>
                  <a:lnTo>
                    <a:pt x="11988" y="19008"/>
                  </a:lnTo>
                  <a:lnTo>
                    <a:pt x="11758" y="19174"/>
                  </a:lnTo>
                  <a:lnTo>
                    <a:pt x="11547" y="19174"/>
                  </a:lnTo>
                  <a:lnTo>
                    <a:pt x="11316" y="19504"/>
                  </a:lnTo>
                  <a:lnTo>
                    <a:pt x="11085" y="19835"/>
                  </a:lnTo>
                  <a:lnTo>
                    <a:pt x="10951" y="19835"/>
                  </a:lnTo>
                  <a:lnTo>
                    <a:pt x="10720" y="19835"/>
                  </a:lnTo>
                  <a:lnTo>
                    <a:pt x="10548" y="19835"/>
                  </a:lnTo>
                  <a:lnTo>
                    <a:pt x="10240" y="19835"/>
                  </a:lnTo>
                  <a:lnTo>
                    <a:pt x="10086" y="19835"/>
                  </a:lnTo>
                  <a:lnTo>
                    <a:pt x="9798" y="19835"/>
                  </a:lnTo>
                  <a:lnTo>
                    <a:pt x="9606" y="19835"/>
                  </a:lnTo>
                  <a:lnTo>
                    <a:pt x="9414" y="19504"/>
                  </a:lnTo>
                  <a:lnTo>
                    <a:pt x="9183" y="19504"/>
                  </a:lnTo>
                  <a:lnTo>
                    <a:pt x="9011" y="19174"/>
                  </a:lnTo>
                  <a:lnTo>
                    <a:pt x="8703" y="19008"/>
                  </a:lnTo>
                  <a:lnTo>
                    <a:pt x="8473" y="18678"/>
                  </a:lnTo>
                  <a:lnTo>
                    <a:pt x="8184" y="18347"/>
                  </a:lnTo>
                  <a:lnTo>
                    <a:pt x="7915" y="18347"/>
                  </a:lnTo>
                  <a:lnTo>
                    <a:pt x="7762" y="17686"/>
                  </a:lnTo>
                  <a:lnTo>
                    <a:pt x="7493" y="17190"/>
                  </a:lnTo>
                  <a:lnTo>
                    <a:pt x="7262" y="16860"/>
                  </a:lnTo>
                  <a:lnTo>
                    <a:pt x="7012" y="16364"/>
                  </a:lnTo>
                  <a:lnTo>
                    <a:pt x="6724" y="16198"/>
                  </a:lnTo>
                  <a:lnTo>
                    <a:pt x="6590" y="16033"/>
                  </a:lnTo>
                  <a:lnTo>
                    <a:pt x="6321" y="15041"/>
                  </a:lnTo>
                  <a:lnTo>
                    <a:pt x="6013" y="14711"/>
                  </a:lnTo>
                  <a:lnTo>
                    <a:pt x="5744" y="14215"/>
                  </a:lnTo>
                  <a:lnTo>
                    <a:pt x="5533" y="13719"/>
                  </a:lnTo>
                  <a:lnTo>
                    <a:pt x="5303" y="13223"/>
                  </a:lnTo>
                  <a:lnTo>
                    <a:pt x="4995" y="12893"/>
                  </a:lnTo>
                  <a:lnTo>
                    <a:pt x="4707" y="12231"/>
                  </a:lnTo>
                  <a:lnTo>
                    <a:pt x="4553" y="11736"/>
                  </a:lnTo>
                  <a:lnTo>
                    <a:pt x="4304" y="11074"/>
                  </a:lnTo>
                  <a:lnTo>
                    <a:pt x="4092" y="10744"/>
                  </a:lnTo>
                  <a:lnTo>
                    <a:pt x="3804" y="10248"/>
                  </a:lnTo>
                  <a:lnTo>
                    <a:pt x="3689" y="9256"/>
                  </a:lnTo>
                  <a:lnTo>
                    <a:pt x="3247" y="9091"/>
                  </a:lnTo>
                  <a:lnTo>
                    <a:pt x="3112" y="8264"/>
                  </a:lnTo>
                  <a:lnTo>
                    <a:pt x="2843" y="7438"/>
                  </a:lnTo>
                  <a:lnTo>
                    <a:pt x="2690" y="7107"/>
                  </a:lnTo>
                  <a:lnTo>
                    <a:pt x="2536" y="6942"/>
                  </a:lnTo>
                  <a:lnTo>
                    <a:pt x="2229" y="6116"/>
                  </a:lnTo>
                  <a:lnTo>
                    <a:pt x="2017" y="5620"/>
                  </a:lnTo>
                  <a:lnTo>
                    <a:pt x="1902" y="5124"/>
                  </a:lnTo>
                  <a:lnTo>
                    <a:pt x="1691" y="4793"/>
                  </a:lnTo>
                  <a:lnTo>
                    <a:pt x="1479" y="4132"/>
                  </a:lnTo>
                  <a:lnTo>
                    <a:pt x="1306" y="3802"/>
                  </a:lnTo>
                  <a:lnTo>
                    <a:pt x="1095" y="3140"/>
                  </a:lnTo>
                  <a:lnTo>
                    <a:pt x="903" y="2975"/>
                  </a:lnTo>
                  <a:lnTo>
                    <a:pt x="826" y="2810"/>
                  </a:lnTo>
                  <a:lnTo>
                    <a:pt x="596" y="2149"/>
                  </a:lnTo>
                  <a:lnTo>
                    <a:pt x="480" y="1818"/>
                  </a:lnTo>
                  <a:lnTo>
                    <a:pt x="365" y="1818"/>
                  </a:lnTo>
                  <a:lnTo>
                    <a:pt x="288" y="1157"/>
                  </a:lnTo>
                  <a:lnTo>
                    <a:pt x="96" y="1157"/>
                  </a:lnTo>
                  <a:lnTo>
                    <a:pt x="0" y="826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6" name="Freeform 49"/>
            <p:cNvSpPr>
              <a:spLocks/>
            </p:cNvSpPr>
            <p:nvPr/>
          </p:nvSpPr>
          <p:spPr bwMode="auto">
            <a:xfrm rot="5400000">
              <a:off x="3965" y="1995"/>
              <a:ext cx="106" cy="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655"/>
                  </a:moveTo>
                  <a:lnTo>
                    <a:pt x="181" y="18621"/>
                  </a:lnTo>
                  <a:lnTo>
                    <a:pt x="363" y="17931"/>
                  </a:lnTo>
                  <a:lnTo>
                    <a:pt x="590" y="17931"/>
                  </a:lnTo>
                  <a:lnTo>
                    <a:pt x="771" y="16897"/>
                  </a:lnTo>
                  <a:lnTo>
                    <a:pt x="998" y="15862"/>
                  </a:lnTo>
                  <a:lnTo>
                    <a:pt x="1224" y="15862"/>
                  </a:lnTo>
                  <a:lnTo>
                    <a:pt x="1406" y="14828"/>
                  </a:lnTo>
                  <a:lnTo>
                    <a:pt x="1542" y="14828"/>
                  </a:lnTo>
                  <a:lnTo>
                    <a:pt x="1769" y="14138"/>
                  </a:lnTo>
                  <a:lnTo>
                    <a:pt x="1905" y="13103"/>
                  </a:lnTo>
                  <a:lnTo>
                    <a:pt x="2132" y="13103"/>
                  </a:lnTo>
                  <a:lnTo>
                    <a:pt x="2358" y="12069"/>
                  </a:lnTo>
                  <a:lnTo>
                    <a:pt x="2540" y="12069"/>
                  </a:lnTo>
                  <a:lnTo>
                    <a:pt x="2766" y="11034"/>
                  </a:lnTo>
                  <a:lnTo>
                    <a:pt x="2948" y="10345"/>
                  </a:lnTo>
                  <a:lnTo>
                    <a:pt x="3129" y="10345"/>
                  </a:lnTo>
                  <a:lnTo>
                    <a:pt x="3356" y="9310"/>
                  </a:lnTo>
                  <a:lnTo>
                    <a:pt x="3537" y="9310"/>
                  </a:lnTo>
                  <a:lnTo>
                    <a:pt x="3764" y="8276"/>
                  </a:lnTo>
                  <a:lnTo>
                    <a:pt x="3900" y="8276"/>
                  </a:lnTo>
                  <a:lnTo>
                    <a:pt x="4127" y="7586"/>
                  </a:lnTo>
                  <a:lnTo>
                    <a:pt x="4354" y="7586"/>
                  </a:lnTo>
                  <a:lnTo>
                    <a:pt x="4535" y="6552"/>
                  </a:lnTo>
                  <a:lnTo>
                    <a:pt x="4762" y="6552"/>
                  </a:lnTo>
                  <a:lnTo>
                    <a:pt x="4943" y="5517"/>
                  </a:lnTo>
                  <a:lnTo>
                    <a:pt x="5125" y="5517"/>
                  </a:lnTo>
                  <a:lnTo>
                    <a:pt x="5351" y="4483"/>
                  </a:lnTo>
                  <a:lnTo>
                    <a:pt x="5533" y="4483"/>
                  </a:lnTo>
                  <a:lnTo>
                    <a:pt x="5760" y="3793"/>
                  </a:lnTo>
                  <a:lnTo>
                    <a:pt x="5941" y="3793"/>
                  </a:lnTo>
                  <a:lnTo>
                    <a:pt x="6122" y="2759"/>
                  </a:lnTo>
                  <a:lnTo>
                    <a:pt x="6440" y="2759"/>
                  </a:lnTo>
                  <a:lnTo>
                    <a:pt x="6576" y="2759"/>
                  </a:lnTo>
                  <a:lnTo>
                    <a:pt x="6803" y="2759"/>
                  </a:lnTo>
                  <a:lnTo>
                    <a:pt x="6893" y="1724"/>
                  </a:lnTo>
                  <a:lnTo>
                    <a:pt x="7211" y="1724"/>
                  </a:lnTo>
                  <a:lnTo>
                    <a:pt x="7392" y="1724"/>
                  </a:lnTo>
                  <a:lnTo>
                    <a:pt x="7574" y="1724"/>
                  </a:lnTo>
                  <a:lnTo>
                    <a:pt x="7846" y="690"/>
                  </a:lnTo>
                  <a:lnTo>
                    <a:pt x="7982" y="690"/>
                  </a:lnTo>
                  <a:lnTo>
                    <a:pt x="8254" y="690"/>
                  </a:lnTo>
                  <a:lnTo>
                    <a:pt x="8390" y="690"/>
                  </a:lnTo>
                  <a:lnTo>
                    <a:pt x="8662" y="0"/>
                  </a:lnTo>
                  <a:lnTo>
                    <a:pt x="8844" y="0"/>
                  </a:lnTo>
                  <a:lnTo>
                    <a:pt x="9025" y="0"/>
                  </a:lnTo>
                  <a:lnTo>
                    <a:pt x="9252" y="0"/>
                  </a:lnTo>
                  <a:lnTo>
                    <a:pt x="9433" y="0"/>
                  </a:lnTo>
                  <a:lnTo>
                    <a:pt x="9660" y="0"/>
                  </a:lnTo>
                  <a:lnTo>
                    <a:pt x="9887" y="0"/>
                  </a:lnTo>
                  <a:lnTo>
                    <a:pt x="10113" y="0"/>
                  </a:lnTo>
                  <a:lnTo>
                    <a:pt x="10340" y="0"/>
                  </a:lnTo>
                  <a:lnTo>
                    <a:pt x="10567" y="0"/>
                  </a:lnTo>
                  <a:lnTo>
                    <a:pt x="10748" y="0"/>
                  </a:lnTo>
                  <a:lnTo>
                    <a:pt x="10975" y="690"/>
                  </a:lnTo>
                  <a:lnTo>
                    <a:pt x="11247" y="690"/>
                  </a:lnTo>
                  <a:lnTo>
                    <a:pt x="11474" y="690"/>
                  </a:lnTo>
                  <a:lnTo>
                    <a:pt x="11655" y="1724"/>
                  </a:lnTo>
                  <a:lnTo>
                    <a:pt x="11973" y="1724"/>
                  </a:lnTo>
                  <a:lnTo>
                    <a:pt x="12154" y="1724"/>
                  </a:lnTo>
                  <a:lnTo>
                    <a:pt x="12426" y="2759"/>
                  </a:lnTo>
                  <a:lnTo>
                    <a:pt x="12744" y="2759"/>
                  </a:lnTo>
                  <a:lnTo>
                    <a:pt x="12971" y="2759"/>
                  </a:lnTo>
                  <a:lnTo>
                    <a:pt x="13152" y="3793"/>
                  </a:lnTo>
                  <a:lnTo>
                    <a:pt x="13424" y="3793"/>
                  </a:lnTo>
                  <a:lnTo>
                    <a:pt x="13651" y="4483"/>
                  </a:lnTo>
                  <a:lnTo>
                    <a:pt x="13968" y="4483"/>
                  </a:lnTo>
                  <a:lnTo>
                    <a:pt x="14195" y="5517"/>
                  </a:lnTo>
                  <a:lnTo>
                    <a:pt x="14376" y="6552"/>
                  </a:lnTo>
                  <a:lnTo>
                    <a:pt x="14649" y="6552"/>
                  </a:lnTo>
                  <a:lnTo>
                    <a:pt x="14875" y="7586"/>
                  </a:lnTo>
                  <a:lnTo>
                    <a:pt x="15147" y="7586"/>
                  </a:lnTo>
                  <a:lnTo>
                    <a:pt x="15420" y="8276"/>
                  </a:lnTo>
                  <a:lnTo>
                    <a:pt x="15646" y="8276"/>
                  </a:lnTo>
                  <a:lnTo>
                    <a:pt x="15873" y="9310"/>
                  </a:lnTo>
                  <a:lnTo>
                    <a:pt x="16100" y="9310"/>
                  </a:lnTo>
                  <a:lnTo>
                    <a:pt x="16327" y="10345"/>
                  </a:lnTo>
                  <a:lnTo>
                    <a:pt x="16553" y="10345"/>
                  </a:lnTo>
                  <a:lnTo>
                    <a:pt x="16871" y="11034"/>
                  </a:lnTo>
                  <a:lnTo>
                    <a:pt x="17052" y="12069"/>
                  </a:lnTo>
                  <a:lnTo>
                    <a:pt x="17234" y="12069"/>
                  </a:lnTo>
                  <a:lnTo>
                    <a:pt x="17506" y="13103"/>
                  </a:lnTo>
                  <a:lnTo>
                    <a:pt x="17687" y="13103"/>
                  </a:lnTo>
                  <a:lnTo>
                    <a:pt x="17868" y="13103"/>
                  </a:lnTo>
                  <a:lnTo>
                    <a:pt x="18141" y="14138"/>
                  </a:lnTo>
                  <a:lnTo>
                    <a:pt x="18322" y="14828"/>
                  </a:lnTo>
                  <a:lnTo>
                    <a:pt x="18458" y="14828"/>
                  </a:lnTo>
                  <a:lnTo>
                    <a:pt x="18639" y="15862"/>
                  </a:lnTo>
                  <a:lnTo>
                    <a:pt x="18821" y="15862"/>
                  </a:lnTo>
                  <a:lnTo>
                    <a:pt x="18957" y="16897"/>
                  </a:lnTo>
                  <a:lnTo>
                    <a:pt x="19184" y="16897"/>
                  </a:lnTo>
                  <a:lnTo>
                    <a:pt x="19229" y="17931"/>
                  </a:lnTo>
                  <a:lnTo>
                    <a:pt x="19546" y="17931"/>
                  </a:lnTo>
                  <a:lnTo>
                    <a:pt x="19592" y="17931"/>
                  </a:lnTo>
                  <a:lnTo>
                    <a:pt x="19773" y="17931"/>
                  </a:lnTo>
                  <a:lnTo>
                    <a:pt x="19819" y="18621"/>
                  </a:lnTo>
                  <a:lnTo>
                    <a:pt x="19955" y="18621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7" name="Freeform 50"/>
            <p:cNvSpPr>
              <a:spLocks/>
            </p:cNvSpPr>
            <p:nvPr/>
          </p:nvSpPr>
          <p:spPr bwMode="auto">
            <a:xfrm rot="5753380">
              <a:off x="3941" y="1516"/>
              <a:ext cx="141" cy="5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9" y="738"/>
                  </a:lnTo>
                  <a:lnTo>
                    <a:pt x="444" y="1148"/>
                  </a:lnTo>
                  <a:lnTo>
                    <a:pt x="512" y="1885"/>
                  </a:lnTo>
                  <a:lnTo>
                    <a:pt x="785" y="2541"/>
                  </a:lnTo>
                  <a:lnTo>
                    <a:pt x="990" y="3115"/>
                  </a:lnTo>
                  <a:lnTo>
                    <a:pt x="1058" y="3852"/>
                  </a:lnTo>
                  <a:lnTo>
                    <a:pt x="1365" y="4262"/>
                  </a:lnTo>
                  <a:lnTo>
                    <a:pt x="1604" y="4918"/>
                  </a:lnTo>
                  <a:lnTo>
                    <a:pt x="1843" y="5328"/>
                  </a:lnTo>
                  <a:lnTo>
                    <a:pt x="2014" y="6148"/>
                  </a:lnTo>
                  <a:lnTo>
                    <a:pt x="2116" y="6803"/>
                  </a:lnTo>
                  <a:lnTo>
                    <a:pt x="2423" y="7213"/>
                  </a:lnTo>
                  <a:lnTo>
                    <a:pt x="2560" y="7869"/>
                  </a:lnTo>
                  <a:lnTo>
                    <a:pt x="2696" y="8443"/>
                  </a:lnTo>
                  <a:lnTo>
                    <a:pt x="2867" y="8934"/>
                  </a:lnTo>
                  <a:lnTo>
                    <a:pt x="3106" y="9590"/>
                  </a:lnTo>
                  <a:lnTo>
                    <a:pt x="3379" y="10082"/>
                  </a:lnTo>
                  <a:lnTo>
                    <a:pt x="3584" y="10574"/>
                  </a:lnTo>
                  <a:lnTo>
                    <a:pt x="3720" y="11148"/>
                  </a:lnTo>
                  <a:lnTo>
                    <a:pt x="3959" y="11639"/>
                  </a:lnTo>
                  <a:lnTo>
                    <a:pt x="4164" y="12131"/>
                  </a:lnTo>
                  <a:lnTo>
                    <a:pt x="4403" y="12705"/>
                  </a:lnTo>
                  <a:lnTo>
                    <a:pt x="4573" y="13115"/>
                  </a:lnTo>
                  <a:lnTo>
                    <a:pt x="4812" y="13607"/>
                  </a:lnTo>
                  <a:lnTo>
                    <a:pt x="5017" y="14098"/>
                  </a:lnTo>
                  <a:lnTo>
                    <a:pt x="5119" y="14672"/>
                  </a:lnTo>
                  <a:lnTo>
                    <a:pt x="5358" y="14918"/>
                  </a:lnTo>
                  <a:lnTo>
                    <a:pt x="5597" y="15328"/>
                  </a:lnTo>
                  <a:lnTo>
                    <a:pt x="5734" y="15738"/>
                  </a:lnTo>
                  <a:lnTo>
                    <a:pt x="5939" y="16148"/>
                  </a:lnTo>
                  <a:lnTo>
                    <a:pt x="6177" y="16393"/>
                  </a:lnTo>
                  <a:lnTo>
                    <a:pt x="6348" y="16885"/>
                  </a:lnTo>
                  <a:lnTo>
                    <a:pt x="6587" y="17131"/>
                  </a:lnTo>
                  <a:lnTo>
                    <a:pt x="6826" y="17459"/>
                  </a:lnTo>
                  <a:lnTo>
                    <a:pt x="6928" y="17705"/>
                  </a:lnTo>
                  <a:lnTo>
                    <a:pt x="7167" y="18115"/>
                  </a:lnTo>
                  <a:lnTo>
                    <a:pt x="7406" y="18361"/>
                  </a:lnTo>
                  <a:lnTo>
                    <a:pt x="7611" y="18689"/>
                  </a:lnTo>
                  <a:lnTo>
                    <a:pt x="7816" y="18852"/>
                  </a:lnTo>
                  <a:lnTo>
                    <a:pt x="7986" y="19098"/>
                  </a:lnTo>
                  <a:lnTo>
                    <a:pt x="8191" y="19262"/>
                  </a:lnTo>
                  <a:lnTo>
                    <a:pt x="8464" y="19262"/>
                  </a:lnTo>
                  <a:lnTo>
                    <a:pt x="8703" y="19590"/>
                  </a:lnTo>
                  <a:lnTo>
                    <a:pt x="8771" y="19672"/>
                  </a:lnTo>
                  <a:lnTo>
                    <a:pt x="8942" y="19754"/>
                  </a:lnTo>
                  <a:lnTo>
                    <a:pt x="9215" y="19754"/>
                  </a:lnTo>
                  <a:lnTo>
                    <a:pt x="9386" y="19918"/>
                  </a:lnTo>
                  <a:lnTo>
                    <a:pt x="9625" y="19918"/>
                  </a:lnTo>
                  <a:lnTo>
                    <a:pt x="9795" y="19918"/>
                  </a:lnTo>
                  <a:lnTo>
                    <a:pt x="10205" y="19754"/>
                  </a:lnTo>
                  <a:lnTo>
                    <a:pt x="10341" y="19672"/>
                  </a:lnTo>
                  <a:lnTo>
                    <a:pt x="10614" y="19590"/>
                  </a:lnTo>
                  <a:lnTo>
                    <a:pt x="10785" y="19344"/>
                  </a:lnTo>
                  <a:lnTo>
                    <a:pt x="11058" y="19262"/>
                  </a:lnTo>
                  <a:lnTo>
                    <a:pt x="11229" y="19098"/>
                  </a:lnTo>
                  <a:lnTo>
                    <a:pt x="11433" y="18852"/>
                  </a:lnTo>
                  <a:lnTo>
                    <a:pt x="11741" y="18443"/>
                  </a:lnTo>
                  <a:lnTo>
                    <a:pt x="12014" y="18115"/>
                  </a:lnTo>
                  <a:lnTo>
                    <a:pt x="12184" y="17705"/>
                  </a:lnTo>
                  <a:lnTo>
                    <a:pt x="12389" y="17295"/>
                  </a:lnTo>
                  <a:lnTo>
                    <a:pt x="12594" y="17049"/>
                  </a:lnTo>
                  <a:lnTo>
                    <a:pt x="12901" y="16639"/>
                  </a:lnTo>
                  <a:lnTo>
                    <a:pt x="13174" y="16148"/>
                  </a:lnTo>
                  <a:lnTo>
                    <a:pt x="13345" y="15738"/>
                  </a:lnTo>
                  <a:lnTo>
                    <a:pt x="13652" y="15246"/>
                  </a:lnTo>
                  <a:lnTo>
                    <a:pt x="13925" y="14754"/>
                  </a:lnTo>
                  <a:lnTo>
                    <a:pt x="14130" y="14344"/>
                  </a:lnTo>
                  <a:lnTo>
                    <a:pt x="14403" y="13689"/>
                  </a:lnTo>
                  <a:lnTo>
                    <a:pt x="14642" y="13115"/>
                  </a:lnTo>
                  <a:lnTo>
                    <a:pt x="14915" y="12787"/>
                  </a:lnTo>
                  <a:lnTo>
                    <a:pt x="15188" y="12131"/>
                  </a:lnTo>
                  <a:lnTo>
                    <a:pt x="15427" y="11639"/>
                  </a:lnTo>
                  <a:lnTo>
                    <a:pt x="15631" y="11148"/>
                  </a:lnTo>
                  <a:lnTo>
                    <a:pt x="15836" y="10574"/>
                  </a:lnTo>
                  <a:lnTo>
                    <a:pt x="16212" y="10082"/>
                  </a:lnTo>
                  <a:lnTo>
                    <a:pt x="16348" y="9426"/>
                  </a:lnTo>
                  <a:lnTo>
                    <a:pt x="16587" y="8852"/>
                  </a:lnTo>
                  <a:lnTo>
                    <a:pt x="16792" y="8361"/>
                  </a:lnTo>
                  <a:lnTo>
                    <a:pt x="17133" y="7869"/>
                  </a:lnTo>
                  <a:lnTo>
                    <a:pt x="17304" y="7213"/>
                  </a:lnTo>
                  <a:lnTo>
                    <a:pt x="17440" y="6803"/>
                  </a:lnTo>
                  <a:lnTo>
                    <a:pt x="17645" y="6148"/>
                  </a:lnTo>
                  <a:lnTo>
                    <a:pt x="17918" y="5656"/>
                  </a:lnTo>
                  <a:lnTo>
                    <a:pt x="17986" y="5164"/>
                  </a:lnTo>
                  <a:lnTo>
                    <a:pt x="18294" y="4754"/>
                  </a:lnTo>
                  <a:lnTo>
                    <a:pt x="18396" y="4262"/>
                  </a:lnTo>
                  <a:lnTo>
                    <a:pt x="18669" y="3852"/>
                  </a:lnTo>
                  <a:lnTo>
                    <a:pt x="18771" y="3361"/>
                  </a:lnTo>
                  <a:lnTo>
                    <a:pt x="19010" y="2951"/>
                  </a:lnTo>
                  <a:lnTo>
                    <a:pt x="19181" y="2705"/>
                  </a:lnTo>
                  <a:lnTo>
                    <a:pt x="19454" y="2295"/>
                  </a:lnTo>
                  <a:lnTo>
                    <a:pt x="19522" y="1885"/>
                  </a:lnTo>
                  <a:lnTo>
                    <a:pt x="19556" y="1639"/>
                  </a:lnTo>
                  <a:lnTo>
                    <a:pt x="19693" y="1230"/>
                  </a:lnTo>
                  <a:lnTo>
                    <a:pt x="19829" y="1066"/>
                  </a:lnTo>
                  <a:lnTo>
                    <a:pt x="19966" y="820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8" name="Freeform 51"/>
            <p:cNvSpPr>
              <a:spLocks/>
            </p:cNvSpPr>
            <p:nvPr/>
          </p:nvSpPr>
          <p:spPr bwMode="auto">
            <a:xfrm rot="4709659">
              <a:off x="3944" y="886"/>
              <a:ext cx="141" cy="6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66" y="0"/>
                  </a:moveTo>
                  <a:lnTo>
                    <a:pt x="19727" y="738"/>
                  </a:lnTo>
                  <a:lnTo>
                    <a:pt x="19522" y="1148"/>
                  </a:lnTo>
                  <a:lnTo>
                    <a:pt x="19454" y="1885"/>
                  </a:lnTo>
                  <a:lnTo>
                    <a:pt x="19181" y="2541"/>
                  </a:lnTo>
                  <a:lnTo>
                    <a:pt x="18976" y="3115"/>
                  </a:lnTo>
                  <a:lnTo>
                    <a:pt x="18908" y="3852"/>
                  </a:lnTo>
                  <a:lnTo>
                    <a:pt x="18601" y="4262"/>
                  </a:lnTo>
                  <a:lnTo>
                    <a:pt x="18396" y="4918"/>
                  </a:lnTo>
                  <a:lnTo>
                    <a:pt x="18123" y="5328"/>
                  </a:lnTo>
                  <a:lnTo>
                    <a:pt x="17952" y="6148"/>
                  </a:lnTo>
                  <a:lnTo>
                    <a:pt x="17850" y="6803"/>
                  </a:lnTo>
                  <a:lnTo>
                    <a:pt x="17543" y="7213"/>
                  </a:lnTo>
                  <a:lnTo>
                    <a:pt x="17406" y="7869"/>
                  </a:lnTo>
                  <a:lnTo>
                    <a:pt x="17304" y="8443"/>
                  </a:lnTo>
                  <a:lnTo>
                    <a:pt x="17099" y="8934"/>
                  </a:lnTo>
                  <a:lnTo>
                    <a:pt x="16860" y="9590"/>
                  </a:lnTo>
                  <a:lnTo>
                    <a:pt x="16587" y="10082"/>
                  </a:lnTo>
                  <a:lnTo>
                    <a:pt x="16382" y="10574"/>
                  </a:lnTo>
                  <a:lnTo>
                    <a:pt x="16246" y="11148"/>
                  </a:lnTo>
                  <a:lnTo>
                    <a:pt x="16041" y="11639"/>
                  </a:lnTo>
                  <a:lnTo>
                    <a:pt x="15802" y="12131"/>
                  </a:lnTo>
                  <a:lnTo>
                    <a:pt x="15563" y="12705"/>
                  </a:lnTo>
                  <a:lnTo>
                    <a:pt x="15358" y="13115"/>
                  </a:lnTo>
                  <a:lnTo>
                    <a:pt x="15154" y="13607"/>
                  </a:lnTo>
                  <a:lnTo>
                    <a:pt x="14983" y="14098"/>
                  </a:lnTo>
                  <a:lnTo>
                    <a:pt x="14846" y="14672"/>
                  </a:lnTo>
                  <a:lnTo>
                    <a:pt x="14608" y="14918"/>
                  </a:lnTo>
                  <a:lnTo>
                    <a:pt x="14369" y="15328"/>
                  </a:lnTo>
                  <a:lnTo>
                    <a:pt x="14232" y="15738"/>
                  </a:lnTo>
                  <a:lnTo>
                    <a:pt x="14027" y="16148"/>
                  </a:lnTo>
                  <a:lnTo>
                    <a:pt x="13788" y="16393"/>
                  </a:lnTo>
                  <a:lnTo>
                    <a:pt x="13618" y="16885"/>
                  </a:lnTo>
                  <a:lnTo>
                    <a:pt x="13379" y="17131"/>
                  </a:lnTo>
                  <a:lnTo>
                    <a:pt x="13140" y="17459"/>
                  </a:lnTo>
                  <a:lnTo>
                    <a:pt x="13038" y="17705"/>
                  </a:lnTo>
                  <a:lnTo>
                    <a:pt x="12730" y="18115"/>
                  </a:lnTo>
                  <a:lnTo>
                    <a:pt x="12560" y="18361"/>
                  </a:lnTo>
                  <a:lnTo>
                    <a:pt x="12355" y="18689"/>
                  </a:lnTo>
                  <a:lnTo>
                    <a:pt x="12150" y="18852"/>
                  </a:lnTo>
                  <a:lnTo>
                    <a:pt x="11980" y="19098"/>
                  </a:lnTo>
                  <a:lnTo>
                    <a:pt x="11775" y="19262"/>
                  </a:lnTo>
                  <a:lnTo>
                    <a:pt x="11502" y="19262"/>
                  </a:lnTo>
                  <a:lnTo>
                    <a:pt x="11263" y="19590"/>
                  </a:lnTo>
                  <a:lnTo>
                    <a:pt x="11195" y="19672"/>
                  </a:lnTo>
                  <a:lnTo>
                    <a:pt x="11024" y="19754"/>
                  </a:lnTo>
                  <a:lnTo>
                    <a:pt x="10751" y="19754"/>
                  </a:lnTo>
                  <a:lnTo>
                    <a:pt x="10580" y="19918"/>
                  </a:lnTo>
                  <a:lnTo>
                    <a:pt x="10341" y="19918"/>
                  </a:lnTo>
                  <a:lnTo>
                    <a:pt x="10171" y="19918"/>
                  </a:lnTo>
                  <a:lnTo>
                    <a:pt x="9761" y="19754"/>
                  </a:lnTo>
                  <a:lnTo>
                    <a:pt x="9625" y="19672"/>
                  </a:lnTo>
                  <a:lnTo>
                    <a:pt x="9352" y="19590"/>
                  </a:lnTo>
                  <a:lnTo>
                    <a:pt x="9181" y="19344"/>
                  </a:lnTo>
                  <a:lnTo>
                    <a:pt x="8908" y="19262"/>
                  </a:lnTo>
                  <a:lnTo>
                    <a:pt x="8737" y="19098"/>
                  </a:lnTo>
                  <a:lnTo>
                    <a:pt x="8532" y="18852"/>
                  </a:lnTo>
                  <a:lnTo>
                    <a:pt x="8225" y="18443"/>
                  </a:lnTo>
                  <a:lnTo>
                    <a:pt x="7952" y="18115"/>
                  </a:lnTo>
                  <a:lnTo>
                    <a:pt x="7782" y="17705"/>
                  </a:lnTo>
                  <a:lnTo>
                    <a:pt x="7577" y="17295"/>
                  </a:lnTo>
                  <a:lnTo>
                    <a:pt x="7372" y="17049"/>
                  </a:lnTo>
                  <a:lnTo>
                    <a:pt x="7065" y="16639"/>
                  </a:lnTo>
                  <a:lnTo>
                    <a:pt x="6792" y="16148"/>
                  </a:lnTo>
                  <a:lnTo>
                    <a:pt x="6621" y="15738"/>
                  </a:lnTo>
                  <a:lnTo>
                    <a:pt x="6314" y="15246"/>
                  </a:lnTo>
                  <a:lnTo>
                    <a:pt x="6041" y="14754"/>
                  </a:lnTo>
                  <a:lnTo>
                    <a:pt x="5836" y="14344"/>
                  </a:lnTo>
                  <a:lnTo>
                    <a:pt x="5563" y="13689"/>
                  </a:lnTo>
                  <a:lnTo>
                    <a:pt x="5324" y="13115"/>
                  </a:lnTo>
                  <a:lnTo>
                    <a:pt x="5051" y="12787"/>
                  </a:lnTo>
                  <a:lnTo>
                    <a:pt x="4778" y="12131"/>
                  </a:lnTo>
                  <a:lnTo>
                    <a:pt x="4539" y="11639"/>
                  </a:lnTo>
                  <a:lnTo>
                    <a:pt x="4334" y="11148"/>
                  </a:lnTo>
                  <a:lnTo>
                    <a:pt x="4130" y="10574"/>
                  </a:lnTo>
                  <a:lnTo>
                    <a:pt x="3754" y="10082"/>
                  </a:lnTo>
                  <a:lnTo>
                    <a:pt x="3618" y="9426"/>
                  </a:lnTo>
                  <a:lnTo>
                    <a:pt x="3379" y="8852"/>
                  </a:lnTo>
                  <a:lnTo>
                    <a:pt x="3174" y="8361"/>
                  </a:lnTo>
                  <a:lnTo>
                    <a:pt x="2833" y="7869"/>
                  </a:lnTo>
                  <a:lnTo>
                    <a:pt x="2696" y="7213"/>
                  </a:lnTo>
                  <a:lnTo>
                    <a:pt x="2526" y="6803"/>
                  </a:lnTo>
                  <a:lnTo>
                    <a:pt x="2321" y="6148"/>
                  </a:lnTo>
                  <a:lnTo>
                    <a:pt x="2048" y="5656"/>
                  </a:lnTo>
                  <a:lnTo>
                    <a:pt x="1980" y="5164"/>
                  </a:lnTo>
                  <a:lnTo>
                    <a:pt x="1604" y="4754"/>
                  </a:lnTo>
                  <a:lnTo>
                    <a:pt x="1570" y="4262"/>
                  </a:lnTo>
                  <a:lnTo>
                    <a:pt x="1297" y="3852"/>
                  </a:lnTo>
                  <a:lnTo>
                    <a:pt x="1195" y="3361"/>
                  </a:lnTo>
                  <a:lnTo>
                    <a:pt x="956" y="2951"/>
                  </a:lnTo>
                  <a:lnTo>
                    <a:pt x="785" y="2705"/>
                  </a:lnTo>
                  <a:lnTo>
                    <a:pt x="546" y="2295"/>
                  </a:lnTo>
                  <a:lnTo>
                    <a:pt x="444" y="1885"/>
                  </a:lnTo>
                  <a:lnTo>
                    <a:pt x="410" y="1639"/>
                  </a:lnTo>
                  <a:lnTo>
                    <a:pt x="273" y="1230"/>
                  </a:lnTo>
                  <a:lnTo>
                    <a:pt x="137" y="1066"/>
                  </a:lnTo>
                  <a:lnTo>
                    <a:pt x="0" y="820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9" name="Freeform 52"/>
            <p:cNvSpPr>
              <a:spLocks/>
            </p:cNvSpPr>
            <p:nvPr/>
          </p:nvSpPr>
          <p:spPr bwMode="auto">
            <a:xfrm rot="5400000">
              <a:off x="3939" y="757"/>
              <a:ext cx="184" cy="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4" y="19867"/>
                  </a:moveTo>
                  <a:lnTo>
                    <a:pt x="19764" y="19200"/>
                  </a:lnTo>
                  <a:lnTo>
                    <a:pt x="19607" y="18800"/>
                  </a:lnTo>
                  <a:lnTo>
                    <a:pt x="19398" y="18000"/>
                  </a:lnTo>
                  <a:lnTo>
                    <a:pt x="19162" y="17600"/>
                  </a:lnTo>
                  <a:lnTo>
                    <a:pt x="18953" y="16667"/>
                  </a:lnTo>
                  <a:lnTo>
                    <a:pt x="18770" y="16133"/>
                  </a:lnTo>
                  <a:lnTo>
                    <a:pt x="18586" y="15733"/>
                  </a:lnTo>
                  <a:lnTo>
                    <a:pt x="18403" y="15067"/>
                  </a:lnTo>
                  <a:lnTo>
                    <a:pt x="18246" y="14400"/>
                  </a:lnTo>
                  <a:lnTo>
                    <a:pt x="18010" y="13733"/>
                  </a:lnTo>
                  <a:lnTo>
                    <a:pt x="17827" y="13200"/>
                  </a:lnTo>
                  <a:lnTo>
                    <a:pt x="17618" y="12667"/>
                  </a:lnTo>
                  <a:lnTo>
                    <a:pt x="17435" y="12000"/>
                  </a:lnTo>
                  <a:lnTo>
                    <a:pt x="17147" y="11600"/>
                  </a:lnTo>
                  <a:lnTo>
                    <a:pt x="17016" y="10933"/>
                  </a:lnTo>
                  <a:lnTo>
                    <a:pt x="16806" y="10267"/>
                  </a:lnTo>
                  <a:lnTo>
                    <a:pt x="16623" y="9733"/>
                  </a:lnTo>
                  <a:lnTo>
                    <a:pt x="16440" y="9200"/>
                  </a:lnTo>
                  <a:lnTo>
                    <a:pt x="16204" y="8800"/>
                  </a:lnTo>
                  <a:lnTo>
                    <a:pt x="16047" y="8267"/>
                  </a:lnTo>
                  <a:lnTo>
                    <a:pt x="15838" y="7733"/>
                  </a:lnTo>
                  <a:lnTo>
                    <a:pt x="15602" y="7067"/>
                  </a:lnTo>
                  <a:lnTo>
                    <a:pt x="15419" y="6800"/>
                  </a:lnTo>
                  <a:lnTo>
                    <a:pt x="15183" y="6267"/>
                  </a:lnTo>
                  <a:lnTo>
                    <a:pt x="15052" y="5733"/>
                  </a:lnTo>
                  <a:lnTo>
                    <a:pt x="14843" y="5333"/>
                  </a:lnTo>
                  <a:lnTo>
                    <a:pt x="14660" y="4933"/>
                  </a:lnTo>
                  <a:lnTo>
                    <a:pt x="14424" y="4400"/>
                  </a:lnTo>
                  <a:lnTo>
                    <a:pt x="14188" y="4133"/>
                  </a:lnTo>
                  <a:lnTo>
                    <a:pt x="14005" y="3867"/>
                  </a:lnTo>
                  <a:lnTo>
                    <a:pt x="13796" y="3333"/>
                  </a:lnTo>
                  <a:lnTo>
                    <a:pt x="13613" y="3067"/>
                  </a:lnTo>
                  <a:lnTo>
                    <a:pt x="13403" y="2800"/>
                  </a:lnTo>
                  <a:lnTo>
                    <a:pt x="13220" y="2267"/>
                  </a:lnTo>
                  <a:lnTo>
                    <a:pt x="13010" y="2133"/>
                  </a:lnTo>
                  <a:lnTo>
                    <a:pt x="12749" y="1733"/>
                  </a:lnTo>
                  <a:lnTo>
                    <a:pt x="12565" y="1600"/>
                  </a:lnTo>
                  <a:lnTo>
                    <a:pt x="12356" y="1200"/>
                  </a:lnTo>
                  <a:lnTo>
                    <a:pt x="12173" y="1067"/>
                  </a:lnTo>
                  <a:lnTo>
                    <a:pt x="11990" y="800"/>
                  </a:lnTo>
                  <a:lnTo>
                    <a:pt x="11728" y="800"/>
                  </a:lnTo>
                  <a:lnTo>
                    <a:pt x="11571" y="400"/>
                  </a:lnTo>
                  <a:lnTo>
                    <a:pt x="11335" y="400"/>
                  </a:lnTo>
                  <a:lnTo>
                    <a:pt x="11126" y="267"/>
                  </a:lnTo>
                  <a:lnTo>
                    <a:pt x="10942" y="133"/>
                  </a:lnTo>
                  <a:lnTo>
                    <a:pt x="10707" y="133"/>
                  </a:lnTo>
                  <a:lnTo>
                    <a:pt x="10524" y="0"/>
                  </a:lnTo>
                  <a:lnTo>
                    <a:pt x="10288" y="0"/>
                  </a:lnTo>
                  <a:lnTo>
                    <a:pt x="10079" y="0"/>
                  </a:lnTo>
                  <a:lnTo>
                    <a:pt x="9869" y="133"/>
                  </a:lnTo>
                  <a:lnTo>
                    <a:pt x="9660" y="133"/>
                  </a:lnTo>
                  <a:lnTo>
                    <a:pt x="9476" y="267"/>
                  </a:lnTo>
                  <a:lnTo>
                    <a:pt x="9188" y="400"/>
                  </a:lnTo>
                  <a:lnTo>
                    <a:pt x="8979" y="800"/>
                  </a:lnTo>
                  <a:lnTo>
                    <a:pt x="8770" y="800"/>
                  </a:lnTo>
                  <a:lnTo>
                    <a:pt x="8508" y="1067"/>
                  </a:lnTo>
                  <a:lnTo>
                    <a:pt x="8272" y="1600"/>
                  </a:lnTo>
                  <a:lnTo>
                    <a:pt x="7984" y="1733"/>
                  </a:lnTo>
                  <a:lnTo>
                    <a:pt x="7775" y="2133"/>
                  </a:lnTo>
                  <a:lnTo>
                    <a:pt x="7539" y="2400"/>
                  </a:lnTo>
                  <a:lnTo>
                    <a:pt x="7277" y="2800"/>
                  </a:lnTo>
                  <a:lnTo>
                    <a:pt x="7068" y="3333"/>
                  </a:lnTo>
                  <a:lnTo>
                    <a:pt x="6754" y="3867"/>
                  </a:lnTo>
                  <a:lnTo>
                    <a:pt x="6545" y="4133"/>
                  </a:lnTo>
                  <a:lnTo>
                    <a:pt x="6283" y="4800"/>
                  </a:lnTo>
                  <a:lnTo>
                    <a:pt x="6021" y="5067"/>
                  </a:lnTo>
                  <a:lnTo>
                    <a:pt x="5812" y="5600"/>
                  </a:lnTo>
                  <a:lnTo>
                    <a:pt x="5576" y="6000"/>
                  </a:lnTo>
                  <a:lnTo>
                    <a:pt x="5288" y="6800"/>
                  </a:lnTo>
                  <a:lnTo>
                    <a:pt x="5079" y="7067"/>
                  </a:lnTo>
                  <a:lnTo>
                    <a:pt x="4791" y="7733"/>
                  </a:lnTo>
                  <a:lnTo>
                    <a:pt x="4555" y="8267"/>
                  </a:lnTo>
                  <a:lnTo>
                    <a:pt x="4346" y="8800"/>
                  </a:lnTo>
                  <a:lnTo>
                    <a:pt x="4058" y="9333"/>
                  </a:lnTo>
                  <a:lnTo>
                    <a:pt x="3901" y="10000"/>
                  </a:lnTo>
                  <a:lnTo>
                    <a:pt x="3639" y="10400"/>
                  </a:lnTo>
                  <a:lnTo>
                    <a:pt x="3377" y="11067"/>
                  </a:lnTo>
                  <a:lnTo>
                    <a:pt x="3168" y="11600"/>
                  </a:lnTo>
                  <a:lnTo>
                    <a:pt x="2932" y="12000"/>
                  </a:lnTo>
                  <a:lnTo>
                    <a:pt x="2723" y="12667"/>
                  </a:lnTo>
                  <a:lnTo>
                    <a:pt x="2513" y="13067"/>
                  </a:lnTo>
                  <a:lnTo>
                    <a:pt x="2304" y="13733"/>
                  </a:lnTo>
                  <a:lnTo>
                    <a:pt x="2068" y="14267"/>
                  </a:lnTo>
                  <a:lnTo>
                    <a:pt x="1859" y="14667"/>
                  </a:lnTo>
                  <a:lnTo>
                    <a:pt x="1675" y="15200"/>
                  </a:lnTo>
                  <a:lnTo>
                    <a:pt x="1518" y="15733"/>
                  </a:lnTo>
                  <a:lnTo>
                    <a:pt x="1283" y="16133"/>
                  </a:lnTo>
                  <a:lnTo>
                    <a:pt x="1152" y="16667"/>
                  </a:lnTo>
                  <a:lnTo>
                    <a:pt x="995" y="16933"/>
                  </a:lnTo>
                  <a:lnTo>
                    <a:pt x="838" y="17200"/>
                  </a:lnTo>
                  <a:lnTo>
                    <a:pt x="681" y="17733"/>
                  </a:lnTo>
                  <a:lnTo>
                    <a:pt x="497" y="18000"/>
                  </a:lnTo>
                  <a:lnTo>
                    <a:pt x="366" y="18267"/>
                  </a:lnTo>
                  <a:lnTo>
                    <a:pt x="262" y="18400"/>
                  </a:lnTo>
                  <a:lnTo>
                    <a:pt x="131" y="18933"/>
                  </a:lnTo>
                  <a:lnTo>
                    <a:pt x="0" y="19067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0" name="Freeform 53"/>
            <p:cNvSpPr>
              <a:spLocks/>
            </p:cNvSpPr>
            <p:nvPr/>
          </p:nvSpPr>
          <p:spPr bwMode="auto">
            <a:xfrm rot="5400000">
              <a:off x="3904" y="573"/>
              <a:ext cx="192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5" y="0"/>
                  </a:moveTo>
                  <a:lnTo>
                    <a:pt x="19724" y="755"/>
                  </a:lnTo>
                  <a:lnTo>
                    <a:pt x="19523" y="1258"/>
                  </a:lnTo>
                  <a:lnTo>
                    <a:pt x="19447" y="1761"/>
                  </a:lnTo>
                  <a:lnTo>
                    <a:pt x="19196" y="2642"/>
                  </a:lnTo>
                  <a:lnTo>
                    <a:pt x="18970" y="3396"/>
                  </a:lnTo>
                  <a:lnTo>
                    <a:pt x="18894" y="3899"/>
                  </a:lnTo>
                  <a:lnTo>
                    <a:pt x="18593" y="4025"/>
                  </a:lnTo>
                  <a:lnTo>
                    <a:pt x="18442" y="5031"/>
                  </a:lnTo>
                  <a:lnTo>
                    <a:pt x="18166" y="5535"/>
                  </a:lnTo>
                  <a:lnTo>
                    <a:pt x="17990" y="6038"/>
                  </a:lnTo>
                  <a:lnTo>
                    <a:pt x="17915" y="6415"/>
                  </a:lnTo>
                  <a:lnTo>
                    <a:pt x="17563" y="7044"/>
                  </a:lnTo>
                  <a:lnTo>
                    <a:pt x="17412" y="7799"/>
                  </a:lnTo>
                  <a:lnTo>
                    <a:pt x="17261" y="8428"/>
                  </a:lnTo>
                  <a:lnTo>
                    <a:pt x="17111" y="8931"/>
                  </a:lnTo>
                  <a:lnTo>
                    <a:pt x="16884" y="9434"/>
                  </a:lnTo>
                  <a:lnTo>
                    <a:pt x="16583" y="10189"/>
                  </a:lnTo>
                  <a:lnTo>
                    <a:pt x="16332" y="10692"/>
                  </a:lnTo>
                  <a:lnTo>
                    <a:pt x="16206" y="11195"/>
                  </a:lnTo>
                  <a:lnTo>
                    <a:pt x="16030" y="11447"/>
                  </a:lnTo>
                  <a:lnTo>
                    <a:pt x="15779" y="12201"/>
                  </a:lnTo>
                  <a:lnTo>
                    <a:pt x="15628" y="12579"/>
                  </a:lnTo>
                  <a:lnTo>
                    <a:pt x="15427" y="13208"/>
                  </a:lnTo>
                  <a:lnTo>
                    <a:pt x="15201" y="13585"/>
                  </a:lnTo>
                  <a:lnTo>
                    <a:pt x="15025" y="14088"/>
                  </a:lnTo>
                  <a:lnTo>
                    <a:pt x="14899" y="14465"/>
                  </a:lnTo>
                  <a:lnTo>
                    <a:pt x="14648" y="14969"/>
                  </a:lnTo>
                  <a:lnTo>
                    <a:pt x="14372" y="15220"/>
                  </a:lnTo>
                  <a:lnTo>
                    <a:pt x="14271" y="15597"/>
                  </a:lnTo>
                  <a:lnTo>
                    <a:pt x="13995" y="15975"/>
                  </a:lnTo>
                  <a:lnTo>
                    <a:pt x="13794" y="16478"/>
                  </a:lnTo>
                  <a:lnTo>
                    <a:pt x="13618" y="16478"/>
                  </a:lnTo>
                  <a:lnTo>
                    <a:pt x="13417" y="16981"/>
                  </a:lnTo>
                  <a:lnTo>
                    <a:pt x="13141" y="17233"/>
                  </a:lnTo>
                  <a:lnTo>
                    <a:pt x="13015" y="17862"/>
                  </a:lnTo>
                  <a:lnTo>
                    <a:pt x="12789" y="18239"/>
                  </a:lnTo>
                  <a:lnTo>
                    <a:pt x="12638" y="18239"/>
                  </a:lnTo>
                  <a:lnTo>
                    <a:pt x="12412" y="18868"/>
                  </a:lnTo>
                  <a:lnTo>
                    <a:pt x="12186" y="18868"/>
                  </a:lnTo>
                  <a:lnTo>
                    <a:pt x="11985" y="18868"/>
                  </a:lnTo>
                  <a:lnTo>
                    <a:pt x="11759" y="19119"/>
                  </a:lnTo>
                  <a:lnTo>
                    <a:pt x="11508" y="19245"/>
                  </a:lnTo>
                  <a:lnTo>
                    <a:pt x="11281" y="19245"/>
                  </a:lnTo>
                  <a:lnTo>
                    <a:pt x="11181" y="19623"/>
                  </a:lnTo>
                  <a:lnTo>
                    <a:pt x="10980" y="19874"/>
                  </a:lnTo>
                  <a:lnTo>
                    <a:pt x="10754" y="19874"/>
                  </a:lnTo>
                  <a:lnTo>
                    <a:pt x="10528" y="19874"/>
                  </a:lnTo>
                  <a:lnTo>
                    <a:pt x="10327" y="19874"/>
                  </a:lnTo>
                  <a:lnTo>
                    <a:pt x="10151" y="19874"/>
                  </a:lnTo>
                  <a:lnTo>
                    <a:pt x="9799" y="19874"/>
                  </a:lnTo>
                  <a:lnTo>
                    <a:pt x="9648" y="19623"/>
                  </a:lnTo>
                  <a:lnTo>
                    <a:pt x="9422" y="19245"/>
                  </a:lnTo>
                  <a:lnTo>
                    <a:pt x="9196" y="19245"/>
                  </a:lnTo>
                  <a:lnTo>
                    <a:pt x="8970" y="19119"/>
                  </a:lnTo>
                  <a:lnTo>
                    <a:pt x="8769" y="18868"/>
                  </a:lnTo>
                  <a:lnTo>
                    <a:pt x="8518" y="18868"/>
                  </a:lnTo>
                  <a:lnTo>
                    <a:pt x="8241" y="18491"/>
                  </a:lnTo>
                  <a:lnTo>
                    <a:pt x="7965" y="18239"/>
                  </a:lnTo>
                  <a:lnTo>
                    <a:pt x="7789" y="17862"/>
                  </a:lnTo>
                  <a:lnTo>
                    <a:pt x="7538" y="17233"/>
                  </a:lnTo>
                  <a:lnTo>
                    <a:pt x="7337" y="16981"/>
                  </a:lnTo>
                  <a:lnTo>
                    <a:pt x="7136" y="16478"/>
                  </a:lnTo>
                  <a:lnTo>
                    <a:pt x="6809" y="15975"/>
                  </a:lnTo>
                  <a:lnTo>
                    <a:pt x="6633" y="15597"/>
                  </a:lnTo>
                  <a:lnTo>
                    <a:pt x="6332" y="15220"/>
                  </a:lnTo>
                  <a:lnTo>
                    <a:pt x="6030" y="14465"/>
                  </a:lnTo>
                  <a:lnTo>
                    <a:pt x="5829" y="14214"/>
                  </a:lnTo>
                  <a:lnTo>
                    <a:pt x="5578" y="13585"/>
                  </a:lnTo>
                  <a:lnTo>
                    <a:pt x="5302" y="13208"/>
                  </a:lnTo>
                  <a:lnTo>
                    <a:pt x="5025" y="12956"/>
                  </a:lnTo>
                  <a:lnTo>
                    <a:pt x="4749" y="12201"/>
                  </a:lnTo>
                  <a:lnTo>
                    <a:pt x="4523" y="11447"/>
                  </a:lnTo>
                  <a:lnTo>
                    <a:pt x="4296" y="11195"/>
                  </a:lnTo>
                  <a:lnTo>
                    <a:pt x="4171" y="10692"/>
                  </a:lnTo>
                  <a:lnTo>
                    <a:pt x="3794" y="10189"/>
                  </a:lnTo>
                  <a:lnTo>
                    <a:pt x="3693" y="9182"/>
                  </a:lnTo>
                  <a:lnTo>
                    <a:pt x="3417" y="8931"/>
                  </a:lnTo>
                  <a:lnTo>
                    <a:pt x="3191" y="8428"/>
                  </a:lnTo>
                  <a:lnTo>
                    <a:pt x="2864" y="7799"/>
                  </a:lnTo>
                  <a:lnTo>
                    <a:pt x="2764" y="7044"/>
                  </a:lnTo>
                  <a:lnTo>
                    <a:pt x="2538" y="6415"/>
                  </a:lnTo>
                  <a:lnTo>
                    <a:pt x="2286" y="6038"/>
                  </a:lnTo>
                  <a:lnTo>
                    <a:pt x="2010" y="5535"/>
                  </a:lnTo>
                  <a:lnTo>
                    <a:pt x="1985" y="5031"/>
                  </a:lnTo>
                  <a:lnTo>
                    <a:pt x="1633" y="4780"/>
                  </a:lnTo>
                  <a:lnTo>
                    <a:pt x="1533" y="4025"/>
                  </a:lnTo>
                  <a:lnTo>
                    <a:pt x="1307" y="3899"/>
                  </a:lnTo>
                  <a:lnTo>
                    <a:pt x="1256" y="3396"/>
                  </a:lnTo>
                  <a:lnTo>
                    <a:pt x="980" y="3019"/>
                  </a:lnTo>
                  <a:lnTo>
                    <a:pt x="779" y="2642"/>
                  </a:lnTo>
                  <a:lnTo>
                    <a:pt x="578" y="2013"/>
                  </a:lnTo>
                  <a:lnTo>
                    <a:pt x="477" y="1761"/>
                  </a:lnTo>
                  <a:lnTo>
                    <a:pt x="427" y="1761"/>
                  </a:lnTo>
                  <a:lnTo>
                    <a:pt x="302" y="1258"/>
                  </a:lnTo>
                  <a:lnTo>
                    <a:pt x="176" y="1258"/>
                  </a:lnTo>
                  <a:lnTo>
                    <a:pt x="0" y="1006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1" name="Freeform 54"/>
            <p:cNvSpPr>
              <a:spLocks/>
            </p:cNvSpPr>
            <p:nvPr/>
          </p:nvSpPr>
          <p:spPr bwMode="auto">
            <a:xfrm rot="5400000">
              <a:off x="3880" y="260"/>
              <a:ext cx="238" cy="2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44" y="889"/>
                  </a:lnTo>
                  <a:lnTo>
                    <a:pt x="508" y="1185"/>
                  </a:lnTo>
                  <a:lnTo>
                    <a:pt x="528" y="1926"/>
                  </a:lnTo>
                  <a:lnTo>
                    <a:pt x="812" y="2370"/>
                  </a:lnTo>
                  <a:lnTo>
                    <a:pt x="975" y="3259"/>
                  </a:lnTo>
                  <a:lnTo>
                    <a:pt x="1137" y="3704"/>
                  </a:lnTo>
                  <a:lnTo>
                    <a:pt x="1442" y="4296"/>
                  </a:lnTo>
                  <a:lnTo>
                    <a:pt x="1645" y="5185"/>
                  </a:lnTo>
                  <a:lnTo>
                    <a:pt x="1706" y="5481"/>
                  </a:lnTo>
                  <a:lnTo>
                    <a:pt x="2010" y="5926"/>
                  </a:lnTo>
                  <a:lnTo>
                    <a:pt x="2173" y="6963"/>
                  </a:lnTo>
                  <a:lnTo>
                    <a:pt x="2437" y="7111"/>
                  </a:lnTo>
                  <a:lnTo>
                    <a:pt x="2660" y="7556"/>
                  </a:lnTo>
                  <a:lnTo>
                    <a:pt x="2721" y="8444"/>
                  </a:lnTo>
                  <a:lnTo>
                    <a:pt x="2964" y="9037"/>
                  </a:lnTo>
                  <a:lnTo>
                    <a:pt x="3127" y="9926"/>
                  </a:lnTo>
                  <a:lnTo>
                    <a:pt x="3391" y="10222"/>
                  </a:lnTo>
                  <a:lnTo>
                    <a:pt x="3655" y="10815"/>
                  </a:lnTo>
                  <a:lnTo>
                    <a:pt x="3797" y="11111"/>
                  </a:lnTo>
                  <a:lnTo>
                    <a:pt x="3980" y="11852"/>
                  </a:lnTo>
                  <a:lnTo>
                    <a:pt x="4203" y="12296"/>
                  </a:lnTo>
                  <a:lnTo>
                    <a:pt x="4406" y="12889"/>
                  </a:lnTo>
                  <a:lnTo>
                    <a:pt x="4670" y="13185"/>
                  </a:lnTo>
                  <a:lnTo>
                    <a:pt x="4731" y="13778"/>
                  </a:lnTo>
                  <a:lnTo>
                    <a:pt x="5015" y="14370"/>
                  </a:lnTo>
                  <a:lnTo>
                    <a:pt x="5157" y="14667"/>
                  </a:lnTo>
                  <a:lnTo>
                    <a:pt x="5421" y="14667"/>
                  </a:lnTo>
                  <a:lnTo>
                    <a:pt x="5543" y="15259"/>
                  </a:lnTo>
                  <a:lnTo>
                    <a:pt x="5807" y="16296"/>
                  </a:lnTo>
                  <a:lnTo>
                    <a:pt x="5970" y="16444"/>
                  </a:lnTo>
                  <a:lnTo>
                    <a:pt x="6254" y="16444"/>
                  </a:lnTo>
                  <a:lnTo>
                    <a:pt x="6315" y="16889"/>
                  </a:lnTo>
                  <a:lnTo>
                    <a:pt x="6680" y="17481"/>
                  </a:lnTo>
                  <a:lnTo>
                    <a:pt x="6883" y="17481"/>
                  </a:lnTo>
                  <a:lnTo>
                    <a:pt x="7005" y="17778"/>
                  </a:lnTo>
                  <a:lnTo>
                    <a:pt x="7188" y="18667"/>
                  </a:lnTo>
                  <a:lnTo>
                    <a:pt x="7431" y="18667"/>
                  </a:lnTo>
                  <a:lnTo>
                    <a:pt x="7675" y="18667"/>
                  </a:lnTo>
                  <a:lnTo>
                    <a:pt x="7817" y="18667"/>
                  </a:lnTo>
                  <a:lnTo>
                    <a:pt x="8000" y="19111"/>
                  </a:lnTo>
                  <a:lnTo>
                    <a:pt x="8223" y="19111"/>
                  </a:lnTo>
                  <a:lnTo>
                    <a:pt x="8426" y="19111"/>
                  </a:lnTo>
                  <a:lnTo>
                    <a:pt x="8670" y="19704"/>
                  </a:lnTo>
                  <a:lnTo>
                    <a:pt x="8893" y="19852"/>
                  </a:lnTo>
                  <a:lnTo>
                    <a:pt x="9036" y="19852"/>
                  </a:lnTo>
                  <a:lnTo>
                    <a:pt x="9259" y="19852"/>
                  </a:lnTo>
                  <a:lnTo>
                    <a:pt x="9442" y="19852"/>
                  </a:lnTo>
                  <a:lnTo>
                    <a:pt x="9746" y="19852"/>
                  </a:lnTo>
                  <a:lnTo>
                    <a:pt x="9888" y="19852"/>
                  </a:lnTo>
                  <a:lnTo>
                    <a:pt x="10173" y="19852"/>
                  </a:lnTo>
                  <a:lnTo>
                    <a:pt x="10376" y="19852"/>
                  </a:lnTo>
                  <a:lnTo>
                    <a:pt x="10558" y="19704"/>
                  </a:lnTo>
                  <a:lnTo>
                    <a:pt x="10802" y="19704"/>
                  </a:lnTo>
                  <a:lnTo>
                    <a:pt x="10964" y="19111"/>
                  </a:lnTo>
                  <a:lnTo>
                    <a:pt x="11269" y="19111"/>
                  </a:lnTo>
                  <a:lnTo>
                    <a:pt x="11513" y="18667"/>
                  </a:lnTo>
                  <a:lnTo>
                    <a:pt x="11797" y="18667"/>
                  </a:lnTo>
                  <a:lnTo>
                    <a:pt x="12061" y="18667"/>
                  </a:lnTo>
                  <a:lnTo>
                    <a:pt x="12223" y="17778"/>
                  </a:lnTo>
                  <a:lnTo>
                    <a:pt x="12487" y="17481"/>
                  </a:lnTo>
                  <a:lnTo>
                    <a:pt x="12711" y="16889"/>
                  </a:lnTo>
                  <a:lnTo>
                    <a:pt x="12975" y="16444"/>
                  </a:lnTo>
                  <a:lnTo>
                    <a:pt x="13259" y="16444"/>
                  </a:lnTo>
                  <a:lnTo>
                    <a:pt x="13401" y="16296"/>
                  </a:lnTo>
                  <a:lnTo>
                    <a:pt x="13665" y="15259"/>
                  </a:lnTo>
                  <a:lnTo>
                    <a:pt x="13970" y="14667"/>
                  </a:lnTo>
                  <a:lnTo>
                    <a:pt x="14234" y="14370"/>
                  </a:lnTo>
                  <a:lnTo>
                    <a:pt x="14457" y="13778"/>
                  </a:lnTo>
                  <a:lnTo>
                    <a:pt x="14680" y="13333"/>
                  </a:lnTo>
                  <a:lnTo>
                    <a:pt x="14985" y="12889"/>
                  </a:lnTo>
                  <a:lnTo>
                    <a:pt x="15269" y="12296"/>
                  </a:lnTo>
                  <a:lnTo>
                    <a:pt x="15431" y="11852"/>
                  </a:lnTo>
                  <a:lnTo>
                    <a:pt x="15675" y="11111"/>
                  </a:lnTo>
                  <a:lnTo>
                    <a:pt x="15898" y="10815"/>
                  </a:lnTo>
                  <a:lnTo>
                    <a:pt x="16183" y="10222"/>
                  </a:lnTo>
                  <a:lnTo>
                    <a:pt x="16284" y="9333"/>
                  </a:lnTo>
                  <a:lnTo>
                    <a:pt x="16731" y="9037"/>
                  </a:lnTo>
                  <a:lnTo>
                    <a:pt x="16873" y="8444"/>
                  </a:lnTo>
                  <a:lnTo>
                    <a:pt x="17137" y="7556"/>
                  </a:lnTo>
                  <a:lnTo>
                    <a:pt x="17299" y="7111"/>
                  </a:lnTo>
                  <a:lnTo>
                    <a:pt x="17442" y="6963"/>
                  </a:lnTo>
                  <a:lnTo>
                    <a:pt x="17746" y="5926"/>
                  </a:lnTo>
                  <a:lnTo>
                    <a:pt x="17970" y="5630"/>
                  </a:lnTo>
                  <a:lnTo>
                    <a:pt x="18071" y="5185"/>
                  </a:lnTo>
                  <a:lnTo>
                    <a:pt x="18294" y="4741"/>
                  </a:lnTo>
                  <a:lnTo>
                    <a:pt x="18497" y="4296"/>
                  </a:lnTo>
                  <a:lnTo>
                    <a:pt x="18680" y="3704"/>
                  </a:lnTo>
                  <a:lnTo>
                    <a:pt x="18883" y="3259"/>
                  </a:lnTo>
                  <a:lnTo>
                    <a:pt x="19086" y="3111"/>
                  </a:lnTo>
                  <a:lnTo>
                    <a:pt x="19147" y="2667"/>
                  </a:lnTo>
                  <a:lnTo>
                    <a:pt x="19391" y="2074"/>
                  </a:lnTo>
                  <a:lnTo>
                    <a:pt x="19492" y="1926"/>
                  </a:lnTo>
                  <a:lnTo>
                    <a:pt x="19614" y="1926"/>
                  </a:lnTo>
                  <a:lnTo>
                    <a:pt x="19695" y="1185"/>
                  </a:lnTo>
                  <a:lnTo>
                    <a:pt x="19878" y="1185"/>
                  </a:lnTo>
                  <a:lnTo>
                    <a:pt x="19980" y="889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2" name="Freeform 55"/>
            <p:cNvSpPr>
              <a:spLocks/>
            </p:cNvSpPr>
            <p:nvPr/>
          </p:nvSpPr>
          <p:spPr bwMode="auto">
            <a:xfrm rot="5400000">
              <a:off x="3966" y="440"/>
              <a:ext cx="101" cy="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52" y="19444"/>
                  </a:moveTo>
                  <a:lnTo>
                    <a:pt x="19760" y="18889"/>
                  </a:lnTo>
                  <a:lnTo>
                    <a:pt x="19568" y="18333"/>
                  </a:lnTo>
                  <a:lnTo>
                    <a:pt x="19376" y="18333"/>
                  </a:lnTo>
                  <a:lnTo>
                    <a:pt x="19185" y="16667"/>
                  </a:lnTo>
                  <a:lnTo>
                    <a:pt x="18945" y="16111"/>
                  </a:lnTo>
                  <a:lnTo>
                    <a:pt x="18753" y="16111"/>
                  </a:lnTo>
                  <a:lnTo>
                    <a:pt x="18561" y="15000"/>
                  </a:lnTo>
                  <a:lnTo>
                    <a:pt x="18417" y="15000"/>
                  </a:lnTo>
                  <a:lnTo>
                    <a:pt x="18177" y="14444"/>
                  </a:lnTo>
                  <a:lnTo>
                    <a:pt x="18034" y="12778"/>
                  </a:lnTo>
                  <a:lnTo>
                    <a:pt x="17842" y="12778"/>
                  </a:lnTo>
                  <a:lnTo>
                    <a:pt x="17602" y="12222"/>
                  </a:lnTo>
                  <a:lnTo>
                    <a:pt x="17410" y="12222"/>
                  </a:lnTo>
                  <a:lnTo>
                    <a:pt x="17170" y="11111"/>
                  </a:lnTo>
                  <a:lnTo>
                    <a:pt x="17026" y="10556"/>
                  </a:lnTo>
                  <a:lnTo>
                    <a:pt x="16835" y="10556"/>
                  </a:lnTo>
                  <a:lnTo>
                    <a:pt x="16595" y="8889"/>
                  </a:lnTo>
                  <a:lnTo>
                    <a:pt x="16403" y="8889"/>
                  </a:lnTo>
                  <a:lnTo>
                    <a:pt x="16211" y="8333"/>
                  </a:lnTo>
                  <a:lnTo>
                    <a:pt x="16067" y="8333"/>
                  </a:lnTo>
                  <a:lnTo>
                    <a:pt x="15827" y="7778"/>
                  </a:lnTo>
                  <a:lnTo>
                    <a:pt x="15588" y="7778"/>
                  </a:lnTo>
                  <a:lnTo>
                    <a:pt x="15396" y="6667"/>
                  </a:lnTo>
                  <a:lnTo>
                    <a:pt x="15204" y="6667"/>
                  </a:lnTo>
                  <a:lnTo>
                    <a:pt x="15012" y="5000"/>
                  </a:lnTo>
                  <a:lnTo>
                    <a:pt x="14820" y="5000"/>
                  </a:lnTo>
                  <a:lnTo>
                    <a:pt x="14580" y="4444"/>
                  </a:lnTo>
                  <a:lnTo>
                    <a:pt x="14436" y="4444"/>
                  </a:lnTo>
                  <a:lnTo>
                    <a:pt x="14197" y="3889"/>
                  </a:lnTo>
                  <a:lnTo>
                    <a:pt x="14005" y="3889"/>
                  </a:lnTo>
                  <a:lnTo>
                    <a:pt x="13813" y="3333"/>
                  </a:lnTo>
                  <a:lnTo>
                    <a:pt x="13525" y="3333"/>
                  </a:lnTo>
                  <a:lnTo>
                    <a:pt x="13381" y="3333"/>
                  </a:lnTo>
                  <a:lnTo>
                    <a:pt x="13141" y="3333"/>
                  </a:lnTo>
                  <a:lnTo>
                    <a:pt x="13046" y="1667"/>
                  </a:lnTo>
                  <a:lnTo>
                    <a:pt x="12758" y="1667"/>
                  </a:lnTo>
                  <a:lnTo>
                    <a:pt x="12566" y="1667"/>
                  </a:lnTo>
                  <a:lnTo>
                    <a:pt x="12374" y="1667"/>
                  </a:lnTo>
                  <a:lnTo>
                    <a:pt x="12086" y="556"/>
                  </a:lnTo>
                  <a:lnTo>
                    <a:pt x="11990" y="556"/>
                  </a:lnTo>
                  <a:lnTo>
                    <a:pt x="11703" y="556"/>
                  </a:lnTo>
                  <a:lnTo>
                    <a:pt x="11559" y="556"/>
                  </a:lnTo>
                  <a:lnTo>
                    <a:pt x="11271" y="0"/>
                  </a:lnTo>
                  <a:lnTo>
                    <a:pt x="11127" y="0"/>
                  </a:lnTo>
                  <a:lnTo>
                    <a:pt x="10935" y="0"/>
                  </a:lnTo>
                  <a:lnTo>
                    <a:pt x="10695" y="0"/>
                  </a:lnTo>
                  <a:lnTo>
                    <a:pt x="10504" y="0"/>
                  </a:lnTo>
                  <a:lnTo>
                    <a:pt x="10312" y="0"/>
                  </a:lnTo>
                  <a:lnTo>
                    <a:pt x="10072" y="0"/>
                  </a:lnTo>
                  <a:lnTo>
                    <a:pt x="9832" y="0"/>
                  </a:lnTo>
                  <a:lnTo>
                    <a:pt x="9592" y="0"/>
                  </a:lnTo>
                  <a:lnTo>
                    <a:pt x="9400" y="0"/>
                  </a:lnTo>
                  <a:lnTo>
                    <a:pt x="9209" y="0"/>
                  </a:lnTo>
                  <a:lnTo>
                    <a:pt x="8969" y="556"/>
                  </a:lnTo>
                  <a:lnTo>
                    <a:pt x="8729" y="556"/>
                  </a:lnTo>
                  <a:lnTo>
                    <a:pt x="8489" y="556"/>
                  </a:lnTo>
                  <a:lnTo>
                    <a:pt x="8297" y="1667"/>
                  </a:lnTo>
                  <a:lnTo>
                    <a:pt x="7962" y="1667"/>
                  </a:lnTo>
                  <a:lnTo>
                    <a:pt x="7818" y="1667"/>
                  </a:lnTo>
                  <a:lnTo>
                    <a:pt x="7530" y="3333"/>
                  </a:lnTo>
                  <a:lnTo>
                    <a:pt x="7194" y="3333"/>
                  </a:lnTo>
                  <a:lnTo>
                    <a:pt x="7002" y="3333"/>
                  </a:lnTo>
                  <a:lnTo>
                    <a:pt x="6811" y="3889"/>
                  </a:lnTo>
                  <a:lnTo>
                    <a:pt x="6523" y="3889"/>
                  </a:lnTo>
                  <a:lnTo>
                    <a:pt x="6283" y="4444"/>
                  </a:lnTo>
                  <a:lnTo>
                    <a:pt x="5995" y="4444"/>
                  </a:lnTo>
                  <a:lnTo>
                    <a:pt x="5755" y="5000"/>
                  </a:lnTo>
                  <a:lnTo>
                    <a:pt x="5564" y="6667"/>
                  </a:lnTo>
                  <a:lnTo>
                    <a:pt x="5324" y="6667"/>
                  </a:lnTo>
                  <a:lnTo>
                    <a:pt x="5084" y="7778"/>
                  </a:lnTo>
                  <a:lnTo>
                    <a:pt x="4796" y="7778"/>
                  </a:lnTo>
                  <a:lnTo>
                    <a:pt x="4556" y="8333"/>
                  </a:lnTo>
                  <a:lnTo>
                    <a:pt x="4317" y="8333"/>
                  </a:lnTo>
                  <a:lnTo>
                    <a:pt x="4077" y="8889"/>
                  </a:lnTo>
                  <a:lnTo>
                    <a:pt x="3837" y="8889"/>
                  </a:lnTo>
                  <a:lnTo>
                    <a:pt x="3645" y="10556"/>
                  </a:lnTo>
                  <a:lnTo>
                    <a:pt x="3405" y="10556"/>
                  </a:lnTo>
                  <a:lnTo>
                    <a:pt x="3070" y="11111"/>
                  </a:lnTo>
                  <a:lnTo>
                    <a:pt x="2926" y="12222"/>
                  </a:lnTo>
                  <a:lnTo>
                    <a:pt x="2734" y="12222"/>
                  </a:lnTo>
                  <a:lnTo>
                    <a:pt x="2446" y="12778"/>
                  </a:lnTo>
                  <a:lnTo>
                    <a:pt x="2254" y="12778"/>
                  </a:lnTo>
                  <a:lnTo>
                    <a:pt x="2062" y="12778"/>
                  </a:lnTo>
                  <a:lnTo>
                    <a:pt x="1823" y="14444"/>
                  </a:lnTo>
                  <a:lnTo>
                    <a:pt x="1631" y="15000"/>
                  </a:lnTo>
                  <a:lnTo>
                    <a:pt x="1487" y="15000"/>
                  </a:lnTo>
                  <a:lnTo>
                    <a:pt x="1295" y="16111"/>
                  </a:lnTo>
                  <a:lnTo>
                    <a:pt x="1151" y="16111"/>
                  </a:lnTo>
                  <a:lnTo>
                    <a:pt x="1007" y="16667"/>
                  </a:lnTo>
                  <a:lnTo>
                    <a:pt x="767" y="16667"/>
                  </a:lnTo>
                  <a:lnTo>
                    <a:pt x="719" y="18333"/>
                  </a:lnTo>
                  <a:lnTo>
                    <a:pt x="432" y="18333"/>
                  </a:lnTo>
                  <a:lnTo>
                    <a:pt x="384" y="18333"/>
                  </a:lnTo>
                  <a:lnTo>
                    <a:pt x="192" y="18333"/>
                  </a:lnTo>
                  <a:lnTo>
                    <a:pt x="144" y="18889"/>
                  </a:lnTo>
                  <a:lnTo>
                    <a:pt x="0" y="18889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3" name="Line 56"/>
            <p:cNvSpPr>
              <a:spLocks noChangeShapeType="1"/>
            </p:cNvSpPr>
            <p:nvPr/>
          </p:nvSpPr>
          <p:spPr bwMode="auto">
            <a:xfrm rot="5400000" flipH="1">
              <a:off x="4064" y="956"/>
              <a:ext cx="15" cy="4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4" name="Line 57"/>
            <p:cNvSpPr>
              <a:spLocks noChangeShapeType="1"/>
            </p:cNvSpPr>
            <p:nvPr/>
          </p:nvSpPr>
          <p:spPr bwMode="auto">
            <a:xfrm rot="5400000">
              <a:off x="3981" y="250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5" name="Line 58"/>
            <p:cNvSpPr>
              <a:spLocks noChangeShapeType="1"/>
            </p:cNvSpPr>
            <p:nvPr/>
          </p:nvSpPr>
          <p:spPr bwMode="auto">
            <a:xfrm rot="5400000">
              <a:off x="3977" y="571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6" name="Line 59"/>
            <p:cNvSpPr>
              <a:spLocks noChangeShapeType="1"/>
            </p:cNvSpPr>
            <p:nvPr/>
          </p:nvSpPr>
          <p:spPr bwMode="auto">
            <a:xfrm rot="5400000">
              <a:off x="3977" y="901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7" name="Line 60"/>
            <p:cNvSpPr>
              <a:spLocks noChangeShapeType="1"/>
            </p:cNvSpPr>
            <p:nvPr/>
          </p:nvSpPr>
          <p:spPr bwMode="auto">
            <a:xfrm rot="5400000">
              <a:off x="3977" y="1522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8" name="Line 61"/>
            <p:cNvSpPr>
              <a:spLocks noChangeShapeType="1"/>
            </p:cNvSpPr>
            <p:nvPr/>
          </p:nvSpPr>
          <p:spPr bwMode="auto">
            <a:xfrm rot="5400000">
              <a:off x="3977" y="1832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9" name="Line 62"/>
            <p:cNvSpPr>
              <a:spLocks noChangeShapeType="1"/>
            </p:cNvSpPr>
            <p:nvPr/>
          </p:nvSpPr>
          <p:spPr bwMode="auto">
            <a:xfrm rot="5400000">
              <a:off x="3981" y="2167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3"/>
          <p:cNvGrpSpPr>
            <a:grpSpLocks/>
          </p:cNvGrpSpPr>
          <p:nvPr/>
        </p:nvGrpSpPr>
        <p:grpSpPr bwMode="auto">
          <a:xfrm>
            <a:off x="4876800" y="1343025"/>
            <a:ext cx="457200" cy="4067175"/>
            <a:chOff x="3072" y="702"/>
            <a:chExt cx="288" cy="2610"/>
          </a:xfrm>
        </p:grpSpPr>
        <p:sp>
          <p:nvSpPr>
            <p:cNvPr id="28731" name="Rectangle 64"/>
            <p:cNvSpPr>
              <a:spLocks noChangeArrowheads="1"/>
            </p:cNvSpPr>
            <p:nvPr/>
          </p:nvSpPr>
          <p:spPr bwMode="auto">
            <a:xfrm>
              <a:off x="3072" y="702"/>
              <a:ext cx="288" cy="2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2" name="Rectangle 65"/>
            <p:cNvSpPr>
              <a:spLocks noChangeArrowheads="1"/>
            </p:cNvSpPr>
            <p:nvPr/>
          </p:nvSpPr>
          <p:spPr bwMode="auto">
            <a:xfrm>
              <a:off x="3072" y="1710"/>
              <a:ext cx="288" cy="57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3" name="Rectangle 66"/>
            <p:cNvSpPr>
              <a:spLocks noChangeArrowheads="1"/>
            </p:cNvSpPr>
            <p:nvPr/>
          </p:nvSpPr>
          <p:spPr bwMode="auto">
            <a:xfrm>
              <a:off x="3072" y="137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5050">
                    <a:alpha val="87999"/>
                  </a:srgbClr>
                </a:gs>
                <a:gs pos="50000">
                  <a:srgbClr val="FF0000">
                    <a:alpha val="87999"/>
                  </a:srgbClr>
                </a:gs>
                <a:gs pos="100000">
                  <a:srgbClr val="FF5050">
                    <a:alpha val="87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4" name="Rectangle 67"/>
            <p:cNvSpPr>
              <a:spLocks noChangeArrowheads="1"/>
            </p:cNvSpPr>
            <p:nvPr/>
          </p:nvSpPr>
          <p:spPr bwMode="auto">
            <a:xfrm>
              <a:off x="3072" y="103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50000">
                  <a:srgbClr val="FF5050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5" name="Rectangle 68"/>
            <p:cNvSpPr>
              <a:spLocks noChangeArrowheads="1"/>
            </p:cNvSpPr>
            <p:nvPr/>
          </p:nvSpPr>
          <p:spPr bwMode="auto">
            <a:xfrm>
              <a:off x="3072" y="70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CCCC"/>
                </a:gs>
                <a:gs pos="50000">
                  <a:srgbClr val="FF5050"/>
                </a:gs>
                <a:gs pos="100000">
                  <a:srgbClr val="FFCCC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6" name="Rectangle 69"/>
            <p:cNvSpPr>
              <a:spLocks noChangeArrowheads="1"/>
            </p:cNvSpPr>
            <p:nvPr/>
          </p:nvSpPr>
          <p:spPr bwMode="auto">
            <a:xfrm>
              <a:off x="3072" y="235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5050">
                    <a:alpha val="87999"/>
                  </a:srgbClr>
                </a:gs>
                <a:gs pos="50000">
                  <a:srgbClr val="FF0000">
                    <a:alpha val="87999"/>
                  </a:srgbClr>
                </a:gs>
                <a:gs pos="100000">
                  <a:srgbClr val="FF5050">
                    <a:alpha val="87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7" name="Rectangle 70"/>
            <p:cNvSpPr>
              <a:spLocks noChangeArrowheads="1"/>
            </p:cNvSpPr>
            <p:nvPr/>
          </p:nvSpPr>
          <p:spPr bwMode="auto">
            <a:xfrm>
              <a:off x="3072" y="268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50000">
                  <a:srgbClr val="FF5050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8" name="Rectangle 71"/>
            <p:cNvSpPr>
              <a:spLocks noChangeArrowheads="1"/>
            </p:cNvSpPr>
            <p:nvPr/>
          </p:nvSpPr>
          <p:spPr bwMode="auto">
            <a:xfrm>
              <a:off x="3072" y="302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CCCC"/>
                </a:gs>
                <a:gs pos="50000">
                  <a:srgbClr val="FF5050"/>
                </a:gs>
                <a:gs pos="100000">
                  <a:srgbClr val="FFCCC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142"/>
          <p:cNvGrpSpPr>
            <a:grpSpLocks/>
          </p:cNvGrpSpPr>
          <p:nvPr/>
        </p:nvGrpSpPr>
        <p:grpSpPr bwMode="auto">
          <a:xfrm>
            <a:off x="5410200" y="1343025"/>
            <a:ext cx="457200" cy="4067175"/>
            <a:chOff x="3072" y="702"/>
            <a:chExt cx="288" cy="2610"/>
          </a:xfrm>
        </p:grpSpPr>
        <p:sp>
          <p:nvSpPr>
            <p:cNvPr id="28723" name="Rectangle 143"/>
            <p:cNvSpPr>
              <a:spLocks noChangeArrowheads="1"/>
            </p:cNvSpPr>
            <p:nvPr/>
          </p:nvSpPr>
          <p:spPr bwMode="auto">
            <a:xfrm>
              <a:off x="3072" y="702"/>
              <a:ext cx="288" cy="2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4" name="Rectangle 144"/>
            <p:cNvSpPr>
              <a:spLocks noChangeArrowheads="1"/>
            </p:cNvSpPr>
            <p:nvPr/>
          </p:nvSpPr>
          <p:spPr bwMode="auto">
            <a:xfrm>
              <a:off x="3072" y="1710"/>
              <a:ext cx="288" cy="576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5" name="Rectangle 145"/>
            <p:cNvSpPr>
              <a:spLocks noChangeArrowheads="1"/>
            </p:cNvSpPr>
            <p:nvPr/>
          </p:nvSpPr>
          <p:spPr bwMode="auto">
            <a:xfrm>
              <a:off x="3072" y="137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79999"/>
                  </a:srgbClr>
                </a:gs>
                <a:gs pos="50000">
                  <a:srgbClr val="0000FF">
                    <a:alpha val="79999"/>
                  </a:srgbClr>
                </a:gs>
                <a:gs pos="100000">
                  <a:srgbClr val="0066FF">
                    <a:alpha val="79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6" name="Rectangle 146"/>
            <p:cNvSpPr>
              <a:spLocks noChangeArrowheads="1"/>
            </p:cNvSpPr>
            <p:nvPr/>
          </p:nvSpPr>
          <p:spPr bwMode="auto">
            <a:xfrm>
              <a:off x="3072" y="103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92000"/>
                  </a:srgbClr>
                </a:gs>
                <a:gs pos="50000">
                  <a:srgbClr val="0000FF">
                    <a:alpha val="92000"/>
                  </a:srgbClr>
                </a:gs>
                <a:gs pos="100000">
                  <a:srgbClr val="0066FF">
                    <a:alpha val="92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7" name="Rectangle 147"/>
            <p:cNvSpPr>
              <a:spLocks noChangeArrowheads="1"/>
            </p:cNvSpPr>
            <p:nvPr/>
          </p:nvSpPr>
          <p:spPr bwMode="auto">
            <a:xfrm>
              <a:off x="3072" y="70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50000">
                  <a:srgbClr val="0033CC"/>
                </a:gs>
                <a:gs pos="100000">
                  <a:srgbClr val="33CC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8" name="Rectangle 148"/>
            <p:cNvSpPr>
              <a:spLocks noChangeArrowheads="1"/>
            </p:cNvSpPr>
            <p:nvPr/>
          </p:nvSpPr>
          <p:spPr bwMode="auto">
            <a:xfrm>
              <a:off x="3072" y="235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78000"/>
                  </a:srgbClr>
                </a:gs>
                <a:gs pos="50000">
                  <a:srgbClr val="0000FF">
                    <a:alpha val="78000"/>
                  </a:srgbClr>
                </a:gs>
                <a:gs pos="100000">
                  <a:srgbClr val="0066FF">
                    <a:alpha val="78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9" name="Rectangle 149"/>
            <p:cNvSpPr>
              <a:spLocks noChangeArrowheads="1"/>
            </p:cNvSpPr>
            <p:nvPr/>
          </p:nvSpPr>
          <p:spPr bwMode="auto">
            <a:xfrm>
              <a:off x="3072" y="268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79999"/>
                  </a:srgbClr>
                </a:gs>
                <a:gs pos="50000">
                  <a:srgbClr val="0000FF">
                    <a:alpha val="79999"/>
                  </a:srgbClr>
                </a:gs>
                <a:gs pos="100000">
                  <a:srgbClr val="0066FF">
                    <a:alpha val="79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0" name="Rectangle 150"/>
            <p:cNvSpPr>
              <a:spLocks noChangeArrowheads="1"/>
            </p:cNvSpPr>
            <p:nvPr/>
          </p:nvSpPr>
          <p:spPr bwMode="auto">
            <a:xfrm>
              <a:off x="3072" y="302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99FF">
                    <a:alpha val="98000"/>
                  </a:srgbClr>
                </a:gs>
                <a:gs pos="50000">
                  <a:srgbClr val="0033CC">
                    <a:alpha val="98000"/>
                  </a:srgbClr>
                </a:gs>
                <a:gs pos="100000">
                  <a:srgbClr val="0099FF">
                    <a:alpha val="98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oup 151"/>
          <p:cNvGrpSpPr>
            <a:grpSpLocks/>
          </p:cNvGrpSpPr>
          <p:nvPr/>
        </p:nvGrpSpPr>
        <p:grpSpPr bwMode="auto">
          <a:xfrm>
            <a:off x="6011863" y="1557338"/>
            <a:ext cx="1584325" cy="3600450"/>
            <a:chOff x="4343" y="864"/>
            <a:chExt cx="971" cy="2207"/>
          </a:xfrm>
        </p:grpSpPr>
        <p:sp>
          <p:nvSpPr>
            <p:cNvPr id="28705" name="Freeform 152"/>
            <p:cNvSpPr>
              <a:spLocks/>
            </p:cNvSpPr>
            <p:nvPr/>
          </p:nvSpPr>
          <p:spPr bwMode="auto">
            <a:xfrm rot="5400000">
              <a:off x="4615" y="1521"/>
              <a:ext cx="499" cy="8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105"/>
                  </a:moveTo>
                  <a:lnTo>
                    <a:pt x="211" y="18494"/>
                  </a:lnTo>
                  <a:lnTo>
                    <a:pt x="469" y="17894"/>
                  </a:lnTo>
                  <a:lnTo>
                    <a:pt x="680" y="17283"/>
                  </a:lnTo>
                  <a:lnTo>
                    <a:pt x="890" y="16683"/>
                  </a:lnTo>
                  <a:lnTo>
                    <a:pt x="1111" y="16072"/>
                  </a:lnTo>
                  <a:lnTo>
                    <a:pt x="1331" y="15483"/>
                  </a:lnTo>
                  <a:lnTo>
                    <a:pt x="1541" y="14894"/>
                  </a:lnTo>
                  <a:lnTo>
                    <a:pt x="1771" y="14304"/>
                  </a:lnTo>
                  <a:lnTo>
                    <a:pt x="1953" y="13715"/>
                  </a:lnTo>
                  <a:lnTo>
                    <a:pt x="2231" y="13159"/>
                  </a:lnTo>
                  <a:lnTo>
                    <a:pt x="2470" y="12591"/>
                  </a:lnTo>
                  <a:lnTo>
                    <a:pt x="2681" y="12024"/>
                  </a:lnTo>
                  <a:lnTo>
                    <a:pt x="2891" y="11468"/>
                  </a:lnTo>
                  <a:lnTo>
                    <a:pt x="3112" y="10900"/>
                  </a:lnTo>
                  <a:lnTo>
                    <a:pt x="3332" y="10344"/>
                  </a:lnTo>
                  <a:lnTo>
                    <a:pt x="3552" y="9809"/>
                  </a:lnTo>
                  <a:lnTo>
                    <a:pt x="3791" y="9285"/>
                  </a:lnTo>
                  <a:lnTo>
                    <a:pt x="4011" y="8751"/>
                  </a:lnTo>
                  <a:lnTo>
                    <a:pt x="4203" y="8249"/>
                  </a:lnTo>
                  <a:lnTo>
                    <a:pt x="4442" y="7747"/>
                  </a:lnTo>
                  <a:lnTo>
                    <a:pt x="4682" y="7256"/>
                  </a:lnTo>
                  <a:lnTo>
                    <a:pt x="4883" y="6787"/>
                  </a:lnTo>
                  <a:lnTo>
                    <a:pt x="5103" y="6339"/>
                  </a:lnTo>
                  <a:lnTo>
                    <a:pt x="5352" y="5892"/>
                  </a:lnTo>
                  <a:lnTo>
                    <a:pt x="5572" y="5434"/>
                  </a:lnTo>
                  <a:lnTo>
                    <a:pt x="5744" y="4986"/>
                  </a:lnTo>
                  <a:lnTo>
                    <a:pt x="5945" y="4572"/>
                  </a:lnTo>
                  <a:lnTo>
                    <a:pt x="6204" y="4179"/>
                  </a:lnTo>
                  <a:lnTo>
                    <a:pt x="6415" y="3775"/>
                  </a:lnTo>
                  <a:lnTo>
                    <a:pt x="6644" y="3404"/>
                  </a:lnTo>
                  <a:lnTo>
                    <a:pt x="6865" y="3066"/>
                  </a:lnTo>
                  <a:lnTo>
                    <a:pt x="7085" y="2717"/>
                  </a:lnTo>
                  <a:lnTo>
                    <a:pt x="7295" y="2411"/>
                  </a:lnTo>
                  <a:lnTo>
                    <a:pt x="7487" y="2095"/>
                  </a:lnTo>
                  <a:lnTo>
                    <a:pt x="7755" y="1811"/>
                  </a:lnTo>
                  <a:lnTo>
                    <a:pt x="7985" y="1571"/>
                  </a:lnTo>
                  <a:lnTo>
                    <a:pt x="8138" y="1298"/>
                  </a:lnTo>
                  <a:lnTo>
                    <a:pt x="8368" y="1069"/>
                  </a:lnTo>
                  <a:lnTo>
                    <a:pt x="8578" y="873"/>
                  </a:lnTo>
                  <a:lnTo>
                    <a:pt x="8837" y="655"/>
                  </a:lnTo>
                  <a:lnTo>
                    <a:pt x="8990" y="502"/>
                  </a:lnTo>
                  <a:lnTo>
                    <a:pt x="9248" y="382"/>
                  </a:lnTo>
                  <a:lnTo>
                    <a:pt x="9469" y="240"/>
                  </a:lnTo>
                  <a:lnTo>
                    <a:pt x="9631" y="153"/>
                  </a:lnTo>
                  <a:lnTo>
                    <a:pt x="9852" y="87"/>
                  </a:lnTo>
                  <a:lnTo>
                    <a:pt x="10101" y="22"/>
                  </a:lnTo>
                  <a:lnTo>
                    <a:pt x="10321" y="0"/>
                  </a:lnTo>
                  <a:lnTo>
                    <a:pt x="10474" y="22"/>
                  </a:lnTo>
                  <a:lnTo>
                    <a:pt x="10685" y="22"/>
                  </a:lnTo>
                  <a:lnTo>
                    <a:pt x="10962" y="87"/>
                  </a:lnTo>
                  <a:lnTo>
                    <a:pt x="11125" y="207"/>
                  </a:lnTo>
                  <a:lnTo>
                    <a:pt x="11336" y="349"/>
                  </a:lnTo>
                  <a:lnTo>
                    <a:pt x="11546" y="524"/>
                  </a:lnTo>
                  <a:lnTo>
                    <a:pt x="11776" y="742"/>
                  </a:lnTo>
                  <a:lnTo>
                    <a:pt x="11987" y="993"/>
                  </a:lnTo>
                  <a:lnTo>
                    <a:pt x="12226" y="1244"/>
                  </a:lnTo>
                  <a:lnTo>
                    <a:pt x="12504" y="1571"/>
                  </a:lnTo>
                  <a:lnTo>
                    <a:pt x="12695" y="1909"/>
                  </a:lnTo>
                  <a:lnTo>
                    <a:pt x="12915" y="2280"/>
                  </a:lnTo>
                  <a:lnTo>
                    <a:pt x="13145" y="2706"/>
                  </a:lnTo>
                  <a:lnTo>
                    <a:pt x="13404" y="3099"/>
                  </a:lnTo>
                  <a:lnTo>
                    <a:pt x="13585" y="3524"/>
                  </a:lnTo>
                  <a:lnTo>
                    <a:pt x="13806" y="3983"/>
                  </a:lnTo>
                  <a:lnTo>
                    <a:pt x="14102" y="4430"/>
                  </a:lnTo>
                  <a:lnTo>
                    <a:pt x="14275" y="4932"/>
                  </a:lnTo>
                  <a:lnTo>
                    <a:pt x="14552" y="5466"/>
                  </a:lnTo>
                  <a:lnTo>
                    <a:pt x="14725" y="5990"/>
                  </a:lnTo>
                  <a:lnTo>
                    <a:pt x="14983" y="6514"/>
                  </a:lnTo>
                  <a:lnTo>
                    <a:pt x="15184" y="7059"/>
                  </a:lnTo>
                  <a:lnTo>
                    <a:pt x="15433" y="7616"/>
                  </a:lnTo>
                  <a:lnTo>
                    <a:pt x="15711" y="8194"/>
                  </a:lnTo>
                  <a:lnTo>
                    <a:pt x="15912" y="8783"/>
                  </a:lnTo>
                  <a:lnTo>
                    <a:pt x="16103" y="9340"/>
                  </a:lnTo>
                  <a:lnTo>
                    <a:pt x="16324" y="9907"/>
                  </a:lnTo>
                  <a:lnTo>
                    <a:pt x="16534" y="10475"/>
                  </a:lnTo>
                  <a:lnTo>
                    <a:pt x="16726" y="11053"/>
                  </a:lnTo>
                  <a:lnTo>
                    <a:pt x="16946" y="11620"/>
                  </a:lnTo>
                  <a:lnTo>
                    <a:pt x="17157" y="12188"/>
                  </a:lnTo>
                  <a:lnTo>
                    <a:pt x="17338" y="12755"/>
                  </a:lnTo>
                  <a:lnTo>
                    <a:pt x="17530" y="13301"/>
                  </a:lnTo>
                  <a:lnTo>
                    <a:pt x="17741" y="13835"/>
                  </a:lnTo>
                  <a:lnTo>
                    <a:pt x="17894" y="14392"/>
                  </a:lnTo>
                  <a:lnTo>
                    <a:pt x="18124" y="14926"/>
                  </a:lnTo>
                  <a:lnTo>
                    <a:pt x="18267" y="15428"/>
                  </a:lnTo>
                  <a:lnTo>
                    <a:pt x="18468" y="15941"/>
                  </a:lnTo>
                  <a:lnTo>
                    <a:pt x="18593" y="16432"/>
                  </a:lnTo>
                  <a:lnTo>
                    <a:pt x="18842" y="16869"/>
                  </a:lnTo>
                  <a:lnTo>
                    <a:pt x="18947" y="17338"/>
                  </a:lnTo>
                  <a:lnTo>
                    <a:pt x="19110" y="17752"/>
                  </a:lnTo>
                  <a:lnTo>
                    <a:pt x="19244" y="18145"/>
                  </a:lnTo>
                  <a:lnTo>
                    <a:pt x="19387" y="18538"/>
                  </a:lnTo>
                  <a:lnTo>
                    <a:pt x="19512" y="18898"/>
                  </a:lnTo>
                  <a:lnTo>
                    <a:pt x="19627" y="19193"/>
                  </a:lnTo>
                  <a:lnTo>
                    <a:pt x="19789" y="19509"/>
                  </a:lnTo>
                  <a:lnTo>
                    <a:pt x="19876" y="19782"/>
                  </a:lnTo>
                  <a:lnTo>
                    <a:pt x="19990" y="19989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6" name="Freeform 153"/>
            <p:cNvSpPr>
              <a:spLocks/>
            </p:cNvSpPr>
            <p:nvPr/>
          </p:nvSpPr>
          <p:spPr bwMode="auto">
            <a:xfrm rot="5400000">
              <a:off x="4315" y="2406"/>
              <a:ext cx="200" cy="5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16"/>
                  </a:moveTo>
                  <a:lnTo>
                    <a:pt x="198" y="19244"/>
                  </a:lnTo>
                  <a:lnTo>
                    <a:pt x="372" y="18739"/>
                  </a:lnTo>
                  <a:lnTo>
                    <a:pt x="570" y="17983"/>
                  </a:lnTo>
                  <a:lnTo>
                    <a:pt x="818" y="17479"/>
                  </a:lnTo>
                  <a:lnTo>
                    <a:pt x="1016" y="16723"/>
                  </a:lnTo>
                  <a:lnTo>
                    <a:pt x="1214" y="16134"/>
                  </a:lnTo>
                  <a:lnTo>
                    <a:pt x="1388" y="15630"/>
                  </a:lnTo>
                  <a:lnTo>
                    <a:pt x="1561" y="15042"/>
                  </a:lnTo>
                  <a:lnTo>
                    <a:pt x="1735" y="14454"/>
                  </a:lnTo>
                  <a:lnTo>
                    <a:pt x="1958" y="13697"/>
                  </a:lnTo>
                  <a:lnTo>
                    <a:pt x="2156" y="13277"/>
                  </a:lnTo>
                  <a:lnTo>
                    <a:pt x="2354" y="12689"/>
                  </a:lnTo>
                  <a:lnTo>
                    <a:pt x="2553" y="12017"/>
                  </a:lnTo>
                  <a:lnTo>
                    <a:pt x="2825" y="11513"/>
                  </a:lnTo>
                  <a:lnTo>
                    <a:pt x="2949" y="10924"/>
                  </a:lnTo>
                  <a:lnTo>
                    <a:pt x="3172" y="10336"/>
                  </a:lnTo>
                  <a:lnTo>
                    <a:pt x="3346" y="9748"/>
                  </a:lnTo>
                  <a:lnTo>
                    <a:pt x="3544" y="9244"/>
                  </a:lnTo>
                  <a:lnTo>
                    <a:pt x="3767" y="8739"/>
                  </a:lnTo>
                  <a:lnTo>
                    <a:pt x="3941" y="8319"/>
                  </a:lnTo>
                  <a:lnTo>
                    <a:pt x="4139" y="7731"/>
                  </a:lnTo>
                  <a:lnTo>
                    <a:pt x="4362" y="7143"/>
                  </a:lnTo>
                  <a:lnTo>
                    <a:pt x="4560" y="6723"/>
                  </a:lnTo>
                  <a:lnTo>
                    <a:pt x="4783" y="6303"/>
                  </a:lnTo>
                  <a:lnTo>
                    <a:pt x="4932" y="5714"/>
                  </a:lnTo>
                  <a:lnTo>
                    <a:pt x="5130" y="5462"/>
                  </a:lnTo>
                  <a:lnTo>
                    <a:pt x="5304" y="4874"/>
                  </a:lnTo>
                  <a:lnTo>
                    <a:pt x="5551" y="4454"/>
                  </a:lnTo>
                  <a:lnTo>
                    <a:pt x="5799" y="4118"/>
                  </a:lnTo>
                  <a:lnTo>
                    <a:pt x="5973" y="3866"/>
                  </a:lnTo>
                  <a:lnTo>
                    <a:pt x="6171" y="3445"/>
                  </a:lnTo>
                  <a:lnTo>
                    <a:pt x="6369" y="3109"/>
                  </a:lnTo>
                  <a:lnTo>
                    <a:pt x="6568" y="2689"/>
                  </a:lnTo>
                  <a:lnTo>
                    <a:pt x="6766" y="2353"/>
                  </a:lnTo>
                  <a:lnTo>
                    <a:pt x="6964" y="2101"/>
                  </a:lnTo>
                  <a:lnTo>
                    <a:pt x="7237" y="1681"/>
                  </a:lnTo>
                  <a:lnTo>
                    <a:pt x="7410" y="1513"/>
                  </a:lnTo>
                  <a:lnTo>
                    <a:pt x="7608" y="1176"/>
                  </a:lnTo>
                  <a:lnTo>
                    <a:pt x="7807" y="1092"/>
                  </a:lnTo>
                  <a:lnTo>
                    <a:pt x="7980" y="756"/>
                  </a:lnTo>
                  <a:lnTo>
                    <a:pt x="8253" y="672"/>
                  </a:lnTo>
                  <a:lnTo>
                    <a:pt x="8401" y="504"/>
                  </a:lnTo>
                  <a:lnTo>
                    <a:pt x="8649" y="420"/>
                  </a:lnTo>
                  <a:lnTo>
                    <a:pt x="8848" y="252"/>
                  </a:lnTo>
                  <a:lnTo>
                    <a:pt x="9046" y="84"/>
                  </a:lnTo>
                  <a:lnTo>
                    <a:pt x="9269" y="84"/>
                  </a:lnTo>
                  <a:lnTo>
                    <a:pt x="9442" y="0"/>
                  </a:lnTo>
                  <a:lnTo>
                    <a:pt x="9690" y="0"/>
                  </a:lnTo>
                  <a:lnTo>
                    <a:pt x="9888" y="0"/>
                  </a:lnTo>
                  <a:lnTo>
                    <a:pt x="10112" y="84"/>
                  </a:lnTo>
                  <a:lnTo>
                    <a:pt x="10310" y="84"/>
                  </a:lnTo>
                  <a:lnTo>
                    <a:pt x="10508" y="252"/>
                  </a:lnTo>
                  <a:lnTo>
                    <a:pt x="10781" y="420"/>
                  </a:lnTo>
                  <a:lnTo>
                    <a:pt x="11004" y="672"/>
                  </a:lnTo>
                  <a:lnTo>
                    <a:pt x="11202" y="840"/>
                  </a:lnTo>
                  <a:lnTo>
                    <a:pt x="11475" y="1092"/>
                  </a:lnTo>
                  <a:lnTo>
                    <a:pt x="11698" y="1513"/>
                  </a:lnTo>
                  <a:lnTo>
                    <a:pt x="11995" y="1681"/>
                  </a:lnTo>
                  <a:lnTo>
                    <a:pt x="12193" y="2101"/>
                  </a:lnTo>
                  <a:lnTo>
                    <a:pt x="12441" y="2437"/>
                  </a:lnTo>
                  <a:lnTo>
                    <a:pt x="12689" y="2773"/>
                  </a:lnTo>
                  <a:lnTo>
                    <a:pt x="12912" y="3277"/>
                  </a:lnTo>
                  <a:lnTo>
                    <a:pt x="13209" y="3866"/>
                  </a:lnTo>
                  <a:lnTo>
                    <a:pt x="13432" y="4118"/>
                  </a:lnTo>
                  <a:lnTo>
                    <a:pt x="13680" y="4706"/>
                  </a:lnTo>
                  <a:lnTo>
                    <a:pt x="13953" y="5126"/>
                  </a:lnTo>
                  <a:lnTo>
                    <a:pt x="14176" y="5546"/>
                  </a:lnTo>
                  <a:lnTo>
                    <a:pt x="14399" y="6050"/>
                  </a:lnTo>
                  <a:lnTo>
                    <a:pt x="14696" y="6723"/>
                  </a:lnTo>
                  <a:lnTo>
                    <a:pt x="14895" y="7143"/>
                  </a:lnTo>
                  <a:lnTo>
                    <a:pt x="15192" y="7731"/>
                  </a:lnTo>
                  <a:lnTo>
                    <a:pt x="15415" y="8319"/>
                  </a:lnTo>
                  <a:lnTo>
                    <a:pt x="15638" y="8739"/>
                  </a:lnTo>
                  <a:lnTo>
                    <a:pt x="15911" y="9328"/>
                  </a:lnTo>
                  <a:lnTo>
                    <a:pt x="16084" y="9916"/>
                  </a:lnTo>
                  <a:lnTo>
                    <a:pt x="16332" y="10420"/>
                  </a:lnTo>
                  <a:lnTo>
                    <a:pt x="16605" y="11176"/>
                  </a:lnTo>
                  <a:lnTo>
                    <a:pt x="16803" y="11513"/>
                  </a:lnTo>
                  <a:lnTo>
                    <a:pt x="17051" y="12017"/>
                  </a:lnTo>
                  <a:lnTo>
                    <a:pt x="17249" y="12689"/>
                  </a:lnTo>
                  <a:lnTo>
                    <a:pt x="17472" y="13109"/>
                  </a:lnTo>
                  <a:lnTo>
                    <a:pt x="17670" y="13697"/>
                  </a:lnTo>
                  <a:lnTo>
                    <a:pt x="17918" y="14286"/>
                  </a:lnTo>
                  <a:lnTo>
                    <a:pt x="18116" y="14706"/>
                  </a:lnTo>
                  <a:lnTo>
                    <a:pt x="18290" y="15210"/>
                  </a:lnTo>
                  <a:lnTo>
                    <a:pt x="18463" y="15630"/>
                  </a:lnTo>
                  <a:lnTo>
                    <a:pt x="18686" y="16134"/>
                  </a:lnTo>
                  <a:lnTo>
                    <a:pt x="18810" y="16555"/>
                  </a:lnTo>
                  <a:lnTo>
                    <a:pt x="18984" y="16891"/>
                  </a:lnTo>
                  <a:lnTo>
                    <a:pt x="19133" y="17227"/>
                  </a:lnTo>
                  <a:lnTo>
                    <a:pt x="19306" y="17647"/>
                  </a:lnTo>
                  <a:lnTo>
                    <a:pt x="19480" y="17983"/>
                  </a:lnTo>
                  <a:lnTo>
                    <a:pt x="19603" y="18319"/>
                  </a:lnTo>
                  <a:lnTo>
                    <a:pt x="19703" y="18487"/>
                  </a:lnTo>
                  <a:lnTo>
                    <a:pt x="19851" y="18908"/>
                  </a:lnTo>
                  <a:lnTo>
                    <a:pt x="19975" y="19076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7" name="Freeform 154"/>
            <p:cNvSpPr>
              <a:spLocks/>
            </p:cNvSpPr>
            <p:nvPr/>
          </p:nvSpPr>
          <p:spPr bwMode="auto">
            <a:xfrm rot="5400000">
              <a:off x="4279" y="2596"/>
              <a:ext cx="209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62" y="599"/>
                  </a:lnTo>
                  <a:lnTo>
                    <a:pt x="452" y="1317"/>
                  </a:lnTo>
                  <a:lnTo>
                    <a:pt x="523" y="1677"/>
                  </a:lnTo>
                  <a:lnTo>
                    <a:pt x="785" y="2635"/>
                  </a:lnTo>
                  <a:lnTo>
                    <a:pt x="999" y="3353"/>
                  </a:lnTo>
                  <a:lnTo>
                    <a:pt x="1070" y="3832"/>
                  </a:lnTo>
                  <a:lnTo>
                    <a:pt x="1379" y="4072"/>
                  </a:lnTo>
                  <a:lnTo>
                    <a:pt x="1546" y="5030"/>
                  </a:lnTo>
                  <a:lnTo>
                    <a:pt x="1807" y="5389"/>
                  </a:lnTo>
                  <a:lnTo>
                    <a:pt x="1998" y="5988"/>
                  </a:lnTo>
                  <a:lnTo>
                    <a:pt x="2069" y="6467"/>
                  </a:lnTo>
                  <a:lnTo>
                    <a:pt x="2402" y="7066"/>
                  </a:lnTo>
                  <a:lnTo>
                    <a:pt x="2568" y="7665"/>
                  </a:lnTo>
                  <a:lnTo>
                    <a:pt x="2711" y="8383"/>
                  </a:lnTo>
                  <a:lnTo>
                    <a:pt x="2878" y="8862"/>
                  </a:lnTo>
                  <a:lnTo>
                    <a:pt x="3092" y="9461"/>
                  </a:lnTo>
                  <a:lnTo>
                    <a:pt x="3401" y="10060"/>
                  </a:lnTo>
                  <a:lnTo>
                    <a:pt x="3639" y="10659"/>
                  </a:lnTo>
                  <a:lnTo>
                    <a:pt x="3781" y="11018"/>
                  </a:lnTo>
                  <a:lnTo>
                    <a:pt x="3948" y="11497"/>
                  </a:lnTo>
                  <a:lnTo>
                    <a:pt x="4185" y="12096"/>
                  </a:lnTo>
                  <a:lnTo>
                    <a:pt x="4352" y="12455"/>
                  </a:lnTo>
                  <a:lnTo>
                    <a:pt x="4542" y="13054"/>
                  </a:lnTo>
                  <a:lnTo>
                    <a:pt x="4780" y="13653"/>
                  </a:lnTo>
                  <a:lnTo>
                    <a:pt x="4946" y="13892"/>
                  </a:lnTo>
                  <a:lnTo>
                    <a:pt x="5065" y="14491"/>
                  </a:lnTo>
                  <a:lnTo>
                    <a:pt x="5327" y="14850"/>
                  </a:lnTo>
                  <a:lnTo>
                    <a:pt x="5612" y="15090"/>
                  </a:lnTo>
                  <a:lnTo>
                    <a:pt x="5707" y="15689"/>
                  </a:lnTo>
                  <a:lnTo>
                    <a:pt x="5969" y="16048"/>
                  </a:lnTo>
                  <a:lnTo>
                    <a:pt x="6183" y="16407"/>
                  </a:lnTo>
                  <a:lnTo>
                    <a:pt x="6350" y="16527"/>
                  </a:lnTo>
                  <a:lnTo>
                    <a:pt x="6564" y="16886"/>
                  </a:lnTo>
                  <a:lnTo>
                    <a:pt x="6825" y="17126"/>
                  </a:lnTo>
                  <a:lnTo>
                    <a:pt x="6968" y="17844"/>
                  </a:lnTo>
                  <a:lnTo>
                    <a:pt x="7182" y="18084"/>
                  </a:lnTo>
                  <a:lnTo>
                    <a:pt x="7348" y="18084"/>
                  </a:lnTo>
                  <a:lnTo>
                    <a:pt x="7562" y="18683"/>
                  </a:lnTo>
                  <a:lnTo>
                    <a:pt x="7800" y="18683"/>
                  </a:lnTo>
                  <a:lnTo>
                    <a:pt x="7990" y="18683"/>
                  </a:lnTo>
                  <a:lnTo>
                    <a:pt x="8228" y="18922"/>
                  </a:lnTo>
                  <a:lnTo>
                    <a:pt x="8466" y="19162"/>
                  </a:lnTo>
                  <a:lnTo>
                    <a:pt x="8704" y="19162"/>
                  </a:lnTo>
                  <a:lnTo>
                    <a:pt x="8799" y="19521"/>
                  </a:lnTo>
                  <a:lnTo>
                    <a:pt x="8989" y="19880"/>
                  </a:lnTo>
                  <a:lnTo>
                    <a:pt x="9227" y="19880"/>
                  </a:lnTo>
                  <a:lnTo>
                    <a:pt x="9441" y="19880"/>
                  </a:lnTo>
                  <a:lnTo>
                    <a:pt x="9655" y="19880"/>
                  </a:lnTo>
                  <a:lnTo>
                    <a:pt x="9822" y="19880"/>
                  </a:lnTo>
                  <a:lnTo>
                    <a:pt x="10178" y="19880"/>
                  </a:lnTo>
                  <a:lnTo>
                    <a:pt x="10321" y="19521"/>
                  </a:lnTo>
                  <a:lnTo>
                    <a:pt x="10559" y="19162"/>
                  </a:lnTo>
                  <a:lnTo>
                    <a:pt x="10773" y="19162"/>
                  </a:lnTo>
                  <a:lnTo>
                    <a:pt x="11011" y="18922"/>
                  </a:lnTo>
                  <a:lnTo>
                    <a:pt x="11201" y="18683"/>
                  </a:lnTo>
                  <a:lnTo>
                    <a:pt x="11463" y="18683"/>
                  </a:lnTo>
                  <a:lnTo>
                    <a:pt x="11724" y="18443"/>
                  </a:lnTo>
                  <a:lnTo>
                    <a:pt x="12010" y="18084"/>
                  </a:lnTo>
                  <a:lnTo>
                    <a:pt x="12200" y="17844"/>
                  </a:lnTo>
                  <a:lnTo>
                    <a:pt x="12438" y="17126"/>
                  </a:lnTo>
                  <a:lnTo>
                    <a:pt x="12652" y="16886"/>
                  </a:lnTo>
                  <a:lnTo>
                    <a:pt x="12842" y="16527"/>
                  </a:lnTo>
                  <a:lnTo>
                    <a:pt x="13175" y="16048"/>
                  </a:lnTo>
                  <a:lnTo>
                    <a:pt x="13341" y="15689"/>
                  </a:lnTo>
                  <a:lnTo>
                    <a:pt x="13650" y="15090"/>
                  </a:lnTo>
                  <a:lnTo>
                    <a:pt x="13936" y="14491"/>
                  </a:lnTo>
                  <a:lnTo>
                    <a:pt x="14150" y="14132"/>
                  </a:lnTo>
                  <a:lnTo>
                    <a:pt x="14388" y="13653"/>
                  </a:lnTo>
                  <a:lnTo>
                    <a:pt x="14673" y="13054"/>
                  </a:lnTo>
                  <a:lnTo>
                    <a:pt x="14958" y="12814"/>
                  </a:lnTo>
                  <a:lnTo>
                    <a:pt x="15220" y="12096"/>
                  </a:lnTo>
                  <a:lnTo>
                    <a:pt x="15458" y="11497"/>
                  </a:lnTo>
                  <a:lnTo>
                    <a:pt x="15672" y="11018"/>
                  </a:lnTo>
                  <a:lnTo>
                    <a:pt x="15815" y="10659"/>
                  </a:lnTo>
                  <a:lnTo>
                    <a:pt x="16171" y="10060"/>
                  </a:lnTo>
                  <a:lnTo>
                    <a:pt x="16290" y="9102"/>
                  </a:lnTo>
                  <a:lnTo>
                    <a:pt x="16552" y="8862"/>
                  </a:lnTo>
                  <a:lnTo>
                    <a:pt x="16790" y="8383"/>
                  </a:lnTo>
                  <a:lnTo>
                    <a:pt x="17122" y="7665"/>
                  </a:lnTo>
                  <a:lnTo>
                    <a:pt x="17218" y="7066"/>
                  </a:lnTo>
                  <a:lnTo>
                    <a:pt x="17432" y="6467"/>
                  </a:lnTo>
                  <a:lnTo>
                    <a:pt x="17693" y="5988"/>
                  </a:lnTo>
                  <a:lnTo>
                    <a:pt x="17955" y="5629"/>
                  </a:lnTo>
                  <a:lnTo>
                    <a:pt x="18002" y="5030"/>
                  </a:lnTo>
                  <a:lnTo>
                    <a:pt x="18335" y="4671"/>
                  </a:lnTo>
                  <a:lnTo>
                    <a:pt x="18454" y="4072"/>
                  </a:lnTo>
                  <a:lnTo>
                    <a:pt x="18668" y="3832"/>
                  </a:lnTo>
                  <a:lnTo>
                    <a:pt x="18716" y="3353"/>
                  </a:lnTo>
                  <a:lnTo>
                    <a:pt x="19001" y="2994"/>
                  </a:lnTo>
                  <a:lnTo>
                    <a:pt x="19191" y="2635"/>
                  </a:lnTo>
                  <a:lnTo>
                    <a:pt x="19405" y="2036"/>
                  </a:lnTo>
                  <a:lnTo>
                    <a:pt x="19501" y="1677"/>
                  </a:lnTo>
                  <a:lnTo>
                    <a:pt x="19548" y="1677"/>
                  </a:lnTo>
                  <a:lnTo>
                    <a:pt x="19667" y="1317"/>
                  </a:lnTo>
                  <a:lnTo>
                    <a:pt x="19810" y="1317"/>
                  </a:lnTo>
                  <a:lnTo>
                    <a:pt x="19976" y="958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8" name="Freeform 155"/>
            <p:cNvSpPr>
              <a:spLocks/>
            </p:cNvSpPr>
            <p:nvPr/>
          </p:nvSpPr>
          <p:spPr bwMode="auto">
            <a:xfrm rot="5400000">
              <a:off x="4253" y="2928"/>
              <a:ext cx="258" cy="2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81" y="0"/>
                  </a:moveTo>
                  <a:lnTo>
                    <a:pt x="19731" y="826"/>
                  </a:lnTo>
                  <a:lnTo>
                    <a:pt x="19481" y="1157"/>
                  </a:lnTo>
                  <a:lnTo>
                    <a:pt x="19443" y="1818"/>
                  </a:lnTo>
                  <a:lnTo>
                    <a:pt x="19174" y="2314"/>
                  </a:lnTo>
                  <a:lnTo>
                    <a:pt x="19001" y="3140"/>
                  </a:lnTo>
                  <a:lnTo>
                    <a:pt x="18847" y="3802"/>
                  </a:lnTo>
                  <a:lnTo>
                    <a:pt x="18540" y="4132"/>
                  </a:lnTo>
                  <a:lnTo>
                    <a:pt x="18329" y="5124"/>
                  </a:lnTo>
                  <a:lnTo>
                    <a:pt x="18271" y="5289"/>
                  </a:lnTo>
                  <a:lnTo>
                    <a:pt x="17963" y="6116"/>
                  </a:lnTo>
                  <a:lnTo>
                    <a:pt x="17810" y="6942"/>
                  </a:lnTo>
                  <a:lnTo>
                    <a:pt x="17541" y="7107"/>
                  </a:lnTo>
                  <a:lnTo>
                    <a:pt x="17329" y="7438"/>
                  </a:lnTo>
                  <a:lnTo>
                    <a:pt x="17253" y="8264"/>
                  </a:lnTo>
                  <a:lnTo>
                    <a:pt x="17022" y="9091"/>
                  </a:lnTo>
                  <a:lnTo>
                    <a:pt x="16849" y="9752"/>
                  </a:lnTo>
                  <a:lnTo>
                    <a:pt x="16580" y="10248"/>
                  </a:lnTo>
                  <a:lnTo>
                    <a:pt x="16330" y="10744"/>
                  </a:lnTo>
                  <a:lnTo>
                    <a:pt x="16177" y="11074"/>
                  </a:lnTo>
                  <a:lnTo>
                    <a:pt x="16004" y="11736"/>
                  </a:lnTo>
                  <a:lnTo>
                    <a:pt x="15773" y="12231"/>
                  </a:lnTo>
                  <a:lnTo>
                    <a:pt x="15581" y="12893"/>
                  </a:lnTo>
                  <a:lnTo>
                    <a:pt x="15312" y="13058"/>
                  </a:lnTo>
                  <a:lnTo>
                    <a:pt x="15255" y="13719"/>
                  </a:lnTo>
                  <a:lnTo>
                    <a:pt x="14966" y="14215"/>
                  </a:lnTo>
                  <a:lnTo>
                    <a:pt x="14832" y="14711"/>
                  </a:lnTo>
                  <a:lnTo>
                    <a:pt x="14563" y="14711"/>
                  </a:lnTo>
                  <a:lnTo>
                    <a:pt x="14428" y="15041"/>
                  </a:lnTo>
                  <a:lnTo>
                    <a:pt x="14179" y="16033"/>
                  </a:lnTo>
                  <a:lnTo>
                    <a:pt x="14006" y="16198"/>
                  </a:lnTo>
                  <a:lnTo>
                    <a:pt x="13718" y="16364"/>
                  </a:lnTo>
                  <a:lnTo>
                    <a:pt x="13660" y="16860"/>
                  </a:lnTo>
                  <a:lnTo>
                    <a:pt x="13295" y="17190"/>
                  </a:lnTo>
                  <a:lnTo>
                    <a:pt x="13103" y="17355"/>
                  </a:lnTo>
                  <a:lnTo>
                    <a:pt x="12968" y="17686"/>
                  </a:lnTo>
                  <a:lnTo>
                    <a:pt x="12795" y="18347"/>
                  </a:lnTo>
                  <a:lnTo>
                    <a:pt x="12546" y="18347"/>
                  </a:lnTo>
                  <a:lnTo>
                    <a:pt x="12315" y="18678"/>
                  </a:lnTo>
                  <a:lnTo>
                    <a:pt x="12161" y="18678"/>
                  </a:lnTo>
                  <a:lnTo>
                    <a:pt x="11988" y="19008"/>
                  </a:lnTo>
                  <a:lnTo>
                    <a:pt x="11758" y="19174"/>
                  </a:lnTo>
                  <a:lnTo>
                    <a:pt x="11547" y="19174"/>
                  </a:lnTo>
                  <a:lnTo>
                    <a:pt x="11316" y="19504"/>
                  </a:lnTo>
                  <a:lnTo>
                    <a:pt x="11085" y="19835"/>
                  </a:lnTo>
                  <a:lnTo>
                    <a:pt x="10951" y="19835"/>
                  </a:lnTo>
                  <a:lnTo>
                    <a:pt x="10720" y="19835"/>
                  </a:lnTo>
                  <a:lnTo>
                    <a:pt x="10548" y="19835"/>
                  </a:lnTo>
                  <a:lnTo>
                    <a:pt x="10240" y="19835"/>
                  </a:lnTo>
                  <a:lnTo>
                    <a:pt x="10086" y="19835"/>
                  </a:lnTo>
                  <a:lnTo>
                    <a:pt x="9798" y="19835"/>
                  </a:lnTo>
                  <a:lnTo>
                    <a:pt x="9606" y="19835"/>
                  </a:lnTo>
                  <a:lnTo>
                    <a:pt x="9414" y="19504"/>
                  </a:lnTo>
                  <a:lnTo>
                    <a:pt x="9183" y="19504"/>
                  </a:lnTo>
                  <a:lnTo>
                    <a:pt x="9011" y="19174"/>
                  </a:lnTo>
                  <a:lnTo>
                    <a:pt x="8703" y="19008"/>
                  </a:lnTo>
                  <a:lnTo>
                    <a:pt x="8473" y="18678"/>
                  </a:lnTo>
                  <a:lnTo>
                    <a:pt x="8184" y="18347"/>
                  </a:lnTo>
                  <a:lnTo>
                    <a:pt x="7915" y="18347"/>
                  </a:lnTo>
                  <a:lnTo>
                    <a:pt x="7762" y="17686"/>
                  </a:lnTo>
                  <a:lnTo>
                    <a:pt x="7493" y="17190"/>
                  </a:lnTo>
                  <a:lnTo>
                    <a:pt x="7262" y="16860"/>
                  </a:lnTo>
                  <a:lnTo>
                    <a:pt x="7012" y="16364"/>
                  </a:lnTo>
                  <a:lnTo>
                    <a:pt x="6724" y="16198"/>
                  </a:lnTo>
                  <a:lnTo>
                    <a:pt x="6590" y="16033"/>
                  </a:lnTo>
                  <a:lnTo>
                    <a:pt x="6321" y="15041"/>
                  </a:lnTo>
                  <a:lnTo>
                    <a:pt x="6013" y="14711"/>
                  </a:lnTo>
                  <a:lnTo>
                    <a:pt x="5744" y="14215"/>
                  </a:lnTo>
                  <a:lnTo>
                    <a:pt x="5533" y="13719"/>
                  </a:lnTo>
                  <a:lnTo>
                    <a:pt x="5303" y="13223"/>
                  </a:lnTo>
                  <a:lnTo>
                    <a:pt x="4995" y="12893"/>
                  </a:lnTo>
                  <a:lnTo>
                    <a:pt x="4707" y="12231"/>
                  </a:lnTo>
                  <a:lnTo>
                    <a:pt x="4553" y="11736"/>
                  </a:lnTo>
                  <a:lnTo>
                    <a:pt x="4304" y="11074"/>
                  </a:lnTo>
                  <a:lnTo>
                    <a:pt x="4092" y="10744"/>
                  </a:lnTo>
                  <a:lnTo>
                    <a:pt x="3804" y="10248"/>
                  </a:lnTo>
                  <a:lnTo>
                    <a:pt x="3689" y="9256"/>
                  </a:lnTo>
                  <a:lnTo>
                    <a:pt x="3247" y="9091"/>
                  </a:lnTo>
                  <a:lnTo>
                    <a:pt x="3112" y="8264"/>
                  </a:lnTo>
                  <a:lnTo>
                    <a:pt x="2843" y="7438"/>
                  </a:lnTo>
                  <a:lnTo>
                    <a:pt x="2690" y="7107"/>
                  </a:lnTo>
                  <a:lnTo>
                    <a:pt x="2536" y="6942"/>
                  </a:lnTo>
                  <a:lnTo>
                    <a:pt x="2229" y="6116"/>
                  </a:lnTo>
                  <a:lnTo>
                    <a:pt x="2017" y="5620"/>
                  </a:lnTo>
                  <a:lnTo>
                    <a:pt x="1902" y="5124"/>
                  </a:lnTo>
                  <a:lnTo>
                    <a:pt x="1691" y="4793"/>
                  </a:lnTo>
                  <a:lnTo>
                    <a:pt x="1479" y="4132"/>
                  </a:lnTo>
                  <a:lnTo>
                    <a:pt x="1306" y="3802"/>
                  </a:lnTo>
                  <a:lnTo>
                    <a:pt x="1095" y="3140"/>
                  </a:lnTo>
                  <a:lnTo>
                    <a:pt x="903" y="2975"/>
                  </a:lnTo>
                  <a:lnTo>
                    <a:pt x="826" y="2810"/>
                  </a:lnTo>
                  <a:lnTo>
                    <a:pt x="596" y="2149"/>
                  </a:lnTo>
                  <a:lnTo>
                    <a:pt x="480" y="1818"/>
                  </a:lnTo>
                  <a:lnTo>
                    <a:pt x="365" y="1818"/>
                  </a:lnTo>
                  <a:lnTo>
                    <a:pt x="288" y="1157"/>
                  </a:lnTo>
                  <a:lnTo>
                    <a:pt x="96" y="1157"/>
                  </a:lnTo>
                  <a:lnTo>
                    <a:pt x="0" y="826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9" name="Freeform 156"/>
            <p:cNvSpPr>
              <a:spLocks/>
            </p:cNvSpPr>
            <p:nvPr/>
          </p:nvSpPr>
          <p:spPr bwMode="auto">
            <a:xfrm rot="5400000">
              <a:off x="4347" y="2757"/>
              <a:ext cx="109" cy="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655"/>
                  </a:moveTo>
                  <a:lnTo>
                    <a:pt x="181" y="18621"/>
                  </a:lnTo>
                  <a:lnTo>
                    <a:pt x="363" y="17931"/>
                  </a:lnTo>
                  <a:lnTo>
                    <a:pt x="590" y="17931"/>
                  </a:lnTo>
                  <a:lnTo>
                    <a:pt x="771" y="16897"/>
                  </a:lnTo>
                  <a:lnTo>
                    <a:pt x="998" y="15862"/>
                  </a:lnTo>
                  <a:lnTo>
                    <a:pt x="1224" y="15862"/>
                  </a:lnTo>
                  <a:lnTo>
                    <a:pt x="1406" y="14828"/>
                  </a:lnTo>
                  <a:lnTo>
                    <a:pt x="1542" y="14828"/>
                  </a:lnTo>
                  <a:lnTo>
                    <a:pt x="1769" y="14138"/>
                  </a:lnTo>
                  <a:lnTo>
                    <a:pt x="1905" y="13103"/>
                  </a:lnTo>
                  <a:lnTo>
                    <a:pt x="2132" y="13103"/>
                  </a:lnTo>
                  <a:lnTo>
                    <a:pt x="2358" y="12069"/>
                  </a:lnTo>
                  <a:lnTo>
                    <a:pt x="2540" y="12069"/>
                  </a:lnTo>
                  <a:lnTo>
                    <a:pt x="2766" y="11034"/>
                  </a:lnTo>
                  <a:lnTo>
                    <a:pt x="2948" y="10345"/>
                  </a:lnTo>
                  <a:lnTo>
                    <a:pt x="3129" y="10345"/>
                  </a:lnTo>
                  <a:lnTo>
                    <a:pt x="3356" y="9310"/>
                  </a:lnTo>
                  <a:lnTo>
                    <a:pt x="3537" y="9310"/>
                  </a:lnTo>
                  <a:lnTo>
                    <a:pt x="3764" y="8276"/>
                  </a:lnTo>
                  <a:lnTo>
                    <a:pt x="3900" y="8276"/>
                  </a:lnTo>
                  <a:lnTo>
                    <a:pt x="4127" y="7586"/>
                  </a:lnTo>
                  <a:lnTo>
                    <a:pt x="4354" y="7586"/>
                  </a:lnTo>
                  <a:lnTo>
                    <a:pt x="4535" y="6552"/>
                  </a:lnTo>
                  <a:lnTo>
                    <a:pt x="4762" y="6552"/>
                  </a:lnTo>
                  <a:lnTo>
                    <a:pt x="4943" y="5517"/>
                  </a:lnTo>
                  <a:lnTo>
                    <a:pt x="5125" y="5517"/>
                  </a:lnTo>
                  <a:lnTo>
                    <a:pt x="5351" y="4483"/>
                  </a:lnTo>
                  <a:lnTo>
                    <a:pt x="5533" y="4483"/>
                  </a:lnTo>
                  <a:lnTo>
                    <a:pt x="5760" y="3793"/>
                  </a:lnTo>
                  <a:lnTo>
                    <a:pt x="5941" y="3793"/>
                  </a:lnTo>
                  <a:lnTo>
                    <a:pt x="6122" y="2759"/>
                  </a:lnTo>
                  <a:lnTo>
                    <a:pt x="6440" y="2759"/>
                  </a:lnTo>
                  <a:lnTo>
                    <a:pt x="6576" y="2759"/>
                  </a:lnTo>
                  <a:lnTo>
                    <a:pt x="6803" y="2759"/>
                  </a:lnTo>
                  <a:lnTo>
                    <a:pt x="6893" y="1724"/>
                  </a:lnTo>
                  <a:lnTo>
                    <a:pt x="7211" y="1724"/>
                  </a:lnTo>
                  <a:lnTo>
                    <a:pt x="7392" y="1724"/>
                  </a:lnTo>
                  <a:lnTo>
                    <a:pt x="7574" y="1724"/>
                  </a:lnTo>
                  <a:lnTo>
                    <a:pt x="7846" y="690"/>
                  </a:lnTo>
                  <a:lnTo>
                    <a:pt x="7982" y="690"/>
                  </a:lnTo>
                  <a:lnTo>
                    <a:pt x="8254" y="690"/>
                  </a:lnTo>
                  <a:lnTo>
                    <a:pt x="8390" y="690"/>
                  </a:lnTo>
                  <a:lnTo>
                    <a:pt x="8662" y="0"/>
                  </a:lnTo>
                  <a:lnTo>
                    <a:pt x="8844" y="0"/>
                  </a:lnTo>
                  <a:lnTo>
                    <a:pt x="9025" y="0"/>
                  </a:lnTo>
                  <a:lnTo>
                    <a:pt x="9252" y="0"/>
                  </a:lnTo>
                  <a:lnTo>
                    <a:pt x="9433" y="0"/>
                  </a:lnTo>
                  <a:lnTo>
                    <a:pt x="9660" y="0"/>
                  </a:lnTo>
                  <a:lnTo>
                    <a:pt x="9887" y="0"/>
                  </a:lnTo>
                  <a:lnTo>
                    <a:pt x="10113" y="0"/>
                  </a:lnTo>
                  <a:lnTo>
                    <a:pt x="10340" y="0"/>
                  </a:lnTo>
                  <a:lnTo>
                    <a:pt x="10567" y="0"/>
                  </a:lnTo>
                  <a:lnTo>
                    <a:pt x="10748" y="0"/>
                  </a:lnTo>
                  <a:lnTo>
                    <a:pt x="10975" y="690"/>
                  </a:lnTo>
                  <a:lnTo>
                    <a:pt x="11247" y="690"/>
                  </a:lnTo>
                  <a:lnTo>
                    <a:pt x="11474" y="690"/>
                  </a:lnTo>
                  <a:lnTo>
                    <a:pt x="11655" y="1724"/>
                  </a:lnTo>
                  <a:lnTo>
                    <a:pt x="11973" y="1724"/>
                  </a:lnTo>
                  <a:lnTo>
                    <a:pt x="12154" y="1724"/>
                  </a:lnTo>
                  <a:lnTo>
                    <a:pt x="12426" y="2759"/>
                  </a:lnTo>
                  <a:lnTo>
                    <a:pt x="12744" y="2759"/>
                  </a:lnTo>
                  <a:lnTo>
                    <a:pt x="12971" y="2759"/>
                  </a:lnTo>
                  <a:lnTo>
                    <a:pt x="13152" y="3793"/>
                  </a:lnTo>
                  <a:lnTo>
                    <a:pt x="13424" y="3793"/>
                  </a:lnTo>
                  <a:lnTo>
                    <a:pt x="13651" y="4483"/>
                  </a:lnTo>
                  <a:lnTo>
                    <a:pt x="13968" y="4483"/>
                  </a:lnTo>
                  <a:lnTo>
                    <a:pt x="14195" y="5517"/>
                  </a:lnTo>
                  <a:lnTo>
                    <a:pt x="14376" y="6552"/>
                  </a:lnTo>
                  <a:lnTo>
                    <a:pt x="14649" y="6552"/>
                  </a:lnTo>
                  <a:lnTo>
                    <a:pt x="14875" y="7586"/>
                  </a:lnTo>
                  <a:lnTo>
                    <a:pt x="15147" y="7586"/>
                  </a:lnTo>
                  <a:lnTo>
                    <a:pt x="15420" y="8276"/>
                  </a:lnTo>
                  <a:lnTo>
                    <a:pt x="15646" y="8276"/>
                  </a:lnTo>
                  <a:lnTo>
                    <a:pt x="15873" y="9310"/>
                  </a:lnTo>
                  <a:lnTo>
                    <a:pt x="16100" y="9310"/>
                  </a:lnTo>
                  <a:lnTo>
                    <a:pt x="16327" y="10345"/>
                  </a:lnTo>
                  <a:lnTo>
                    <a:pt x="16553" y="10345"/>
                  </a:lnTo>
                  <a:lnTo>
                    <a:pt x="16871" y="11034"/>
                  </a:lnTo>
                  <a:lnTo>
                    <a:pt x="17052" y="12069"/>
                  </a:lnTo>
                  <a:lnTo>
                    <a:pt x="17234" y="12069"/>
                  </a:lnTo>
                  <a:lnTo>
                    <a:pt x="17506" y="13103"/>
                  </a:lnTo>
                  <a:lnTo>
                    <a:pt x="17687" y="13103"/>
                  </a:lnTo>
                  <a:lnTo>
                    <a:pt x="17868" y="13103"/>
                  </a:lnTo>
                  <a:lnTo>
                    <a:pt x="18141" y="14138"/>
                  </a:lnTo>
                  <a:lnTo>
                    <a:pt x="18322" y="14828"/>
                  </a:lnTo>
                  <a:lnTo>
                    <a:pt x="18458" y="14828"/>
                  </a:lnTo>
                  <a:lnTo>
                    <a:pt x="18639" y="15862"/>
                  </a:lnTo>
                  <a:lnTo>
                    <a:pt x="18821" y="15862"/>
                  </a:lnTo>
                  <a:lnTo>
                    <a:pt x="18957" y="16897"/>
                  </a:lnTo>
                  <a:lnTo>
                    <a:pt x="19184" y="16897"/>
                  </a:lnTo>
                  <a:lnTo>
                    <a:pt x="19229" y="17931"/>
                  </a:lnTo>
                  <a:lnTo>
                    <a:pt x="19546" y="17931"/>
                  </a:lnTo>
                  <a:lnTo>
                    <a:pt x="19592" y="17931"/>
                  </a:lnTo>
                  <a:lnTo>
                    <a:pt x="19773" y="17931"/>
                  </a:lnTo>
                  <a:lnTo>
                    <a:pt x="19819" y="18621"/>
                  </a:lnTo>
                  <a:lnTo>
                    <a:pt x="19955" y="18621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0" name="Freeform 157"/>
            <p:cNvSpPr>
              <a:spLocks/>
            </p:cNvSpPr>
            <p:nvPr/>
          </p:nvSpPr>
          <p:spPr bwMode="auto">
            <a:xfrm rot="5753380">
              <a:off x="4323" y="2264"/>
              <a:ext cx="145" cy="5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9" y="738"/>
                  </a:lnTo>
                  <a:lnTo>
                    <a:pt x="444" y="1148"/>
                  </a:lnTo>
                  <a:lnTo>
                    <a:pt x="512" y="1885"/>
                  </a:lnTo>
                  <a:lnTo>
                    <a:pt x="785" y="2541"/>
                  </a:lnTo>
                  <a:lnTo>
                    <a:pt x="990" y="3115"/>
                  </a:lnTo>
                  <a:lnTo>
                    <a:pt x="1058" y="3852"/>
                  </a:lnTo>
                  <a:lnTo>
                    <a:pt x="1365" y="4262"/>
                  </a:lnTo>
                  <a:lnTo>
                    <a:pt x="1604" y="4918"/>
                  </a:lnTo>
                  <a:lnTo>
                    <a:pt x="1843" y="5328"/>
                  </a:lnTo>
                  <a:lnTo>
                    <a:pt x="2014" y="6148"/>
                  </a:lnTo>
                  <a:lnTo>
                    <a:pt x="2116" y="6803"/>
                  </a:lnTo>
                  <a:lnTo>
                    <a:pt x="2423" y="7213"/>
                  </a:lnTo>
                  <a:lnTo>
                    <a:pt x="2560" y="7869"/>
                  </a:lnTo>
                  <a:lnTo>
                    <a:pt x="2696" y="8443"/>
                  </a:lnTo>
                  <a:lnTo>
                    <a:pt x="2867" y="8934"/>
                  </a:lnTo>
                  <a:lnTo>
                    <a:pt x="3106" y="9590"/>
                  </a:lnTo>
                  <a:lnTo>
                    <a:pt x="3379" y="10082"/>
                  </a:lnTo>
                  <a:lnTo>
                    <a:pt x="3584" y="10574"/>
                  </a:lnTo>
                  <a:lnTo>
                    <a:pt x="3720" y="11148"/>
                  </a:lnTo>
                  <a:lnTo>
                    <a:pt x="3959" y="11639"/>
                  </a:lnTo>
                  <a:lnTo>
                    <a:pt x="4164" y="12131"/>
                  </a:lnTo>
                  <a:lnTo>
                    <a:pt x="4403" y="12705"/>
                  </a:lnTo>
                  <a:lnTo>
                    <a:pt x="4573" y="13115"/>
                  </a:lnTo>
                  <a:lnTo>
                    <a:pt x="4812" y="13607"/>
                  </a:lnTo>
                  <a:lnTo>
                    <a:pt x="5017" y="14098"/>
                  </a:lnTo>
                  <a:lnTo>
                    <a:pt x="5119" y="14672"/>
                  </a:lnTo>
                  <a:lnTo>
                    <a:pt x="5358" y="14918"/>
                  </a:lnTo>
                  <a:lnTo>
                    <a:pt x="5597" y="15328"/>
                  </a:lnTo>
                  <a:lnTo>
                    <a:pt x="5734" y="15738"/>
                  </a:lnTo>
                  <a:lnTo>
                    <a:pt x="5939" y="16148"/>
                  </a:lnTo>
                  <a:lnTo>
                    <a:pt x="6177" y="16393"/>
                  </a:lnTo>
                  <a:lnTo>
                    <a:pt x="6348" y="16885"/>
                  </a:lnTo>
                  <a:lnTo>
                    <a:pt x="6587" y="17131"/>
                  </a:lnTo>
                  <a:lnTo>
                    <a:pt x="6826" y="17459"/>
                  </a:lnTo>
                  <a:lnTo>
                    <a:pt x="6928" y="17705"/>
                  </a:lnTo>
                  <a:lnTo>
                    <a:pt x="7167" y="18115"/>
                  </a:lnTo>
                  <a:lnTo>
                    <a:pt x="7406" y="18361"/>
                  </a:lnTo>
                  <a:lnTo>
                    <a:pt x="7611" y="18689"/>
                  </a:lnTo>
                  <a:lnTo>
                    <a:pt x="7816" y="18852"/>
                  </a:lnTo>
                  <a:lnTo>
                    <a:pt x="7986" y="19098"/>
                  </a:lnTo>
                  <a:lnTo>
                    <a:pt x="8191" y="19262"/>
                  </a:lnTo>
                  <a:lnTo>
                    <a:pt x="8464" y="19262"/>
                  </a:lnTo>
                  <a:lnTo>
                    <a:pt x="8703" y="19590"/>
                  </a:lnTo>
                  <a:lnTo>
                    <a:pt x="8771" y="19672"/>
                  </a:lnTo>
                  <a:lnTo>
                    <a:pt x="8942" y="19754"/>
                  </a:lnTo>
                  <a:lnTo>
                    <a:pt x="9215" y="19754"/>
                  </a:lnTo>
                  <a:lnTo>
                    <a:pt x="9386" y="19918"/>
                  </a:lnTo>
                  <a:lnTo>
                    <a:pt x="9625" y="19918"/>
                  </a:lnTo>
                  <a:lnTo>
                    <a:pt x="9795" y="19918"/>
                  </a:lnTo>
                  <a:lnTo>
                    <a:pt x="10205" y="19754"/>
                  </a:lnTo>
                  <a:lnTo>
                    <a:pt x="10341" y="19672"/>
                  </a:lnTo>
                  <a:lnTo>
                    <a:pt x="10614" y="19590"/>
                  </a:lnTo>
                  <a:lnTo>
                    <a:pt x="10785" y="19344"/>
                  </a:lnTo>
                  <a:lnTo>
                    <a:pt x="11058" y="19262"/>
                  </a:lnTo>
                  <a:lnTo>
                    <a:pt x="11229" y="19098"/>
                  </a:lnTo>
                  <a:lnTo>
                    <a:pt x="11433" y="18852"/>
                  </a:lnTo>
                  <a:lnTo>
                    <a:pt x="11741" y="18443"/>
                  </a:lnTo>
                  <a:lnTo>
                    <a:pt x="12014" y="18115"/>
                  </a:lnTo>
                  <a:lnTo>
                    <a:pt x="12184" y="17705"/>
                  </a:lnTo>
                  <a:lnTo>
                    <a:pt x="12389" y="17295"/>
                  </a:lnTo>
                  <a:lnTo>
                    <a:pt x="12594" y="17049"/>
                  </a:lnTo>
                  <a:lnTo>
                    <a:pt x="12901" y="16639"/>
                  </a:lnTo>
                  <a:lnTo>
                    <a:pt x="13174" y="16148"/>
                  </a:lnTo>
                  <a:lnTo>
                    <a:pt x="13345" y="15738"/>
                  </a:lnTo>
                  <a:lnTo>
                    <a:pt x="13652" y="15246"/>
                  </a:lnTo>
                  <a:lnTo>
                    <a:pt x="13925" y="14754"/>
                  </a:lnTo>
                  <a:lnTo>
                    <a:pt x="14130" y="14344"/>
                  </a:lnTo>
                  <a:lnTo>
                    <a:pt x="14403" y="13689"/>
                  </a:lnTo>
                  <a:lnTo>
                    <a:pt x="14642" y="13115"/>
                  </a:lnTo>
                  <a:lnTo>
                    <a:pt x="14915" y="12787"/>
                  </a:lnTo>
                  <a:lnTo>
                    <a:pt x="15188" y="12131"/>
                  </a:lnTo>
                  <a:lnTo>
                    <a:pt x="15427" y="11639"/>
                  </a:lnTo>
                  <a:lnTo>
                    <a:pt x="15631" y="11148"/>
                  </a:lnTo>
                  <a:lnTo>
                    <a:pt x="15836" y="10574"/>
                  </a:lnTo>
                  <a:lnTo>
                    <a:pt x="16212" y="10082"/>
                  </a:lnTo>
                  <a:lnTo>
                    <a:pt x="16348" y="9426"/>
                  </a:lnTo>
                  <a:lnTo>
                    <a:pt x="16587" y="8852"/>
                  </a:lnTo>
                  <a:lnTo>
                    <a:pt x="16792" y="8361"/>
                  </a:lnTo>
                  <a:lnTo>
                    <a:pt x="17133" y="7869"/>
                  </a:lnTo>
                  <a:lnTo>
                    <a:pt x="17304" y="7213"/>
                  </a:lnTo>
                  <a:lnTo>
                    <a:pt x="17440" y="6803"/>
                  </a:lnTo>
                  <a:lnTo>
                    <a:pt x="17645" y="6148"/>
                  </a:lnTo>
                  <a:lnTo>
                    <a:pt x="17918" y="5656"/>
                  </a:lnTo>
                  <a:lnTo>
                    <a:pt x="17986" y="5164"/>
                  </a:lnTo>
                  <a:lnTo>
                    <a:pt x="18294" y="4754"/>
                  </a:lnTo>
                  <a:lnTo>
                    <a:pt x="18396" y="4262"/>
                  </a:lnTo>
                  <a:lnTo>
                    <a:pt x="18669" y="3852"/>
                  </a:lnTo>
                  <a:lnTo>
                    <a:pt x="18771" y="3361"/>
                  </a:lnTo>
                  <a:lnTo>
                    <a:pt x="19010" y="2951"/>
                  </a:lnTo>
                  <a:lnTo>
                    <a:pt x="19181" y="2705"/>
                  </a:lnTo>
                  <a:lnTo>
                    <a:pt x="19454" y="2295"/>
                  </a:lnTo>
                  <a:lnTo>
                    <a:pt x="19522" y="1885"/>
                  </a:lnTo>
                  <a:lnTo>
                    <a:pt x="19556" y="1639"/>
                  </a:lnTo>
                  <a:lnTo>
                    <a:pt x="19693" y="1230"/>
                  </a:lnTo>
                  <a:lnTo>
                    <a:pt x="19829" y="1066"/>
                  </a:lnTo>
                  <a:lnTo>
                    <a:pt x="19966" y="820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1" name="Freeform 158"/>
            <p:cNvSpPr>
              <a:spLocks/>
            </p:cNvSpPr>
            <p:nvPr/>
          </p:nvSpPr>
          <p:spPr bwMode="auto">
            <a:xfrm rot="4709659">
              <a:off x="4326" y="1616"/>
              <a:ext cx="145" cy="6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66" y="0"/>
                  </a:moveTo>
                  <a:lnTo>
                    <a:pt x="19727" y="738"/>
                  </a:lnTo>
                  <a:lnTo>
                    <a:pt x="19522" y="1148"/>
                  </a:lnTo>
                  <a:lnTo>
                    <a:pt x="19454" y="1885"/>
                  </a:lnTo>
                  <a:lnTo>
                    <a:pt x="19181" y="2541"/>
                  </a:lnTo>
                  <a:lnTo>
                    <a:pt x="18976" y="3115"/>
                  </a:lnTo>
                  <a:lnTo>
                    <a:pt x="18908" y="3852"/>
                  </a:lnTo>
                  <a:lnTo>
                    <a:pt x="18601" y="4262"/>
                  </a:lnTo>
                  <a:lnTo>
                    <a:pt x="18396" y="4918"/>
                  </a:lnTo>
                  <a:lnTo>
                    <a:pt x="18123" y="5328"/>
                  </a:lnTo>
                  <a:lnTo>
                    <a:pt x="17952" y="6148"/>
                  </a:lnTo>
                  <a:lnTo>
                    <a:pt x="17850" y="6803"/>
                  </a:lnTo>
                  <a:lnTo>
                    <a:pt x="17543" y="7213"/>
                  </a:lnTo>
                  <a:lnTo>
                    <a:pt x="17406" y="7869"/>
                  </a:lnTo>
                  <a:lnTo>
                    <a:pt x="17304" y="8443"/>
                  </a:lnTo>
                  <a:lnTo>
                    <a:pt x="17099" y="8934"/>
                  </a:lnTo>
                  <a:lnTo>
                    <a:pt x="16860" y="9590"/>
                  </a:lnTo>
                  <a:lnTo>
                    <a:pt x="16587" y="10082"/>
                  </a:lnTo>
                  <a:lnTo>
                    <a:pt x="16382" y="10574"/>
                  </a:lnTo>
                  <a:lnTo>
                    <a:pt x="16246" y="11148"/>
                  </a:lnTo>
                  <a:lnTo>
                    <a:pt x="16041" y="11639"/>
                  </a:lnTo>
                  <a:lnTo>
                    <a:pt x="15802" y="12131"/>
                  </a:lnTo>
                  <a:lnTo>
                    <a:pt x="15563" y="12705"/>
                  </a:lnTo>
                  <a:lnTo>
                    <a:pt x="15358" y="13115"/>
                  </a:lnTo>
                  <a:lnTo>
                    <a:pt x="15154" y="13607"/>
                  </a:lnTo>
                  <a:lnTo>
                    <a:pt x="14983" y="14098"/>
                  </a:lnTo>
                  <a:lnTo>
                    <a:pt x="14846" y="14672"/>
                  </a:lnTo>
                  <a:lnTo>
                    <a:pt x="14608" y="14918"/>
                  </a:lnTo>
                  <a:lnTo>
                    <a:pt x="14369" y="15328"/>
                  </a:lnTo>
                  <a:lnTo>
                    <a:pt x="14232" y="15738"/>
                  </a:lnTo>
                  <a:lnTo>
                    <a:pt x="14027" y="16148"/>
                  </a:lnTo>
                  <a:lnTo>
                    <a:pt x="13788" y="16393"/>
                  </a:lnTo>
                  <a:lnTo>
                    <a:pt x="13618" y="16885"/>
                  </a:lnTo>
                  <a:lnTo>
                    <a:pt x="13379" y="17131"/>
                  </a:lnTo>
                  <a:lnTo>
                    <a:pt x="13140" y="17459"/>
                  </a:lnTo>
                  <a:lnTo>
                    <a:pt x="13038" y="17705"/>
                  </a:lnTo>
                  <a:lnTo>
                    <a:pt x="12730" y="18115"/>
                  </a:lnTo>
                  <a:lnTo>
                    <a:pt x="12560" y="18361"/>
                  </a:lnTo>
                  <a:lnTo>
                    <a:pt x="12355" y="18689"/>
                  </a:lnTo>
                  <a:lnTo>
                    <a:pt x="12150" y="18852"/>
                  </a:lnTo>
                  <a:lnTo>
                    <a:pt x="11980" y="19098"/>
                  </a:lnTo>
                  <a:lnTo>
                    <a:pt x="11775" y="19262"/>
                  </a:lnTo>
                  <a:lnTo>
                    <a:pt x="11502" y="19262"/>
                  </a:lnTo>
                  <a:lnTo>
                    <a:pt x="11263" y="19590"/>
                  </a:lnTo>
                  <a:lnTo>
                    <a:pt x="11195" y="19672"/>
                  </a:lnTo>
                  <a:lnTo>
                    <a:pt x="11024" y="19754"/>
                  </a:lnTo>
                  <a:lnTo>
                    <a:pt x="10751" y="19754"/>
                  </a:lnTo>
                  <a:lnTo>
                    <a:pt x="10580" y="19918"/>
                  </a:lnTo>
                  <a:lnTo>
                    <a:pt x="10341" y="19918"/>
                  </a:lnTo>
                  <a:lnTo>
                    <a:pt x="10171" y="19918"/>
                  </a:lnTo>
                  <a:lnTo>
                    <a:pt x="9761" y="19754"/>
                  </a:lnTo>
                  <a:lnTo>
                    <a:pt x="9625" y="19672"/>
                  </a:lnTo>
                  <a:lnTo>
                    <a:pt x="9352" y="19590"/>
                  </a:lnTo>
                  <a:lnTo>
                    <a:pt x="9181" y="19344"/>
                  </a:lnTo>
                  <a:lnTo>
                    <a:pt x="8908" y="19262"/>
                  </a:lnTo>
                  <a:lnTo>
                    <a:pt x="8737" y="19098"/>
                  </a:lnTo>
                  <a:lnTo>
                    <a:pt x="8532" y="18852"/>
                  </a:lnTo>
                  <a:lnTo>
                    <a:pt x="8225" y="18443"/>
                  </a:lnTo>
                  <a:lnTo>
                    <a:pt x="7952" y="18115"/>
                  </a:lnTo>
                  <a:lnTo>
                    <a:pt x="7782" y="17705"/>
                  </a:lnTo>
                  <a:lnTo>
                    <a:pt x="7577" y="17295"/>
                  </a:lnTo>
                  <a:lnTo>
                    <a:pt x="7372" y="17049"/>
                  </a:lnTo>
                  <a:lnTo>
                    <a:pt x="7065" y="16639"/>
                  </a:lnTo>
                  <a:lnTo>
                    <a:pt x="6792" y="16148"/>
                  </a:lnTo>
                  <a:lnTo>
                    <a:pt x="6621" y="15738"/>
                  </a:lnTo>
                  <a:lnTo>
                    <a:pt x="6314" y="15246"/>
                  </a:lnTo>
                  <a:lnTo>
                    <a:pt x="6041" y="14754"/>
                  </a:lnTo>
                  <a:lnTo>
                    <a:pt x="5836" y="14344"/>
                  </a:lnTo>
                  <a:lnTo>
                    <a:pt x="5563" y="13689"/>
                  </a:lnTo>
                  <a:lnTo>
                    <a:pt x="5324" y="13115"/>
                  </a:lnTo>
                  <a:lnTo>
                    <a:pt x="5051" y="12787"/>
                  </a:lnTo>
                  <a:lnTo>
                    <a:pt x="4778" y="12131"/>
                  </a:lnTo>
                  <a:lnTo>
                    <a:pt x="4539" y="11639"/>
                  </a:lnTo>
                  <a:lnTo>
                    <a:pt x="4334" y="11148"/>
                  </a:lnTo>
                  <a:lnTo>
                    <a:pt x="4130" y="10574"/>
                  </a:lnTo>
                  <a:lnTo>
                    <a:pt x="3754" y="10082"/>
                  </a:lnTo>
                  <a:lnTo>
                    <a:pt x="3618" y="9426"/>
                  </a:lnTo>
                  <a:lnTo>
                    <a:pt x="3379" y="8852"/>
                  </a:lnTo>
                  <a:lnTo>
                    <a:pt x="3174" y="8361"/>
                  </a:lnTo>
                  <a:lnTo>
                    <a:pt x="2833" y="7869"/>
                  </a:lnTo>
                  <a:lnTo>
                    <a:pt x="2696" y="7213"/>
                  </a:lnTo>
                  <a:lnTo>
                    <a:pt x="2526" y="6803"/>
                  </a:lnTo>
                  <a:lnTo>
                    <a:pt x="2321" y="6148"/>
                  </a:lnTo>
                  <a:lnTo>
                    <a:pt x="2048" y="5656"/>
                  </a:lnTo>
                  <a:lnTo>
                    <a:pt x="1980" y="5164"/>
                  </a:lnTo>
                  <a:lnTo>
                    <a:pt x="1604" y="4754"/>
                  </a:lnTo>
                  <a:lnTo>
                    <a:pt x="1570" y="4262"/>
                  </a:lnTo>
                  <a:lnTo>
                    <a:pt x="1297" y="3852"/>
                  </a:lnTo>
                  <a:lnTo>
                    <a:pt x="1195" y="3361"/>
                  </a:lnTo>
                  <a:lnTo>
                    <a:pt x="956" y="2951"/>
                  </a:lnTo>
                  <a:lnTo>
                    <a:pt x="785" y="2705"/>
                  </a:lnTo>
                  <a:lnTo>
                    <a:pt x="546" y="2295"/>
                  </a:lnTo>
                  <a:lnTo>
                    <a:pt x="444" y="1885"/>
                  </a:lnTo>
                  <a:lnTo>
                    <a:pt x="410" y="1639"/>
                  </a:lnTo>
                  <a:lnTo>
                    <a:pt x="273" y="1230"/>
                  </a:lnTo>
                  <a:lnTo>
                    <a:pt x="137" y="1066"/>
                  </a:lnTo>
                  <a:lnTo>
                    <a:pt x="0" y="820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2" name="Freeform 159"/>
            <p:cNvSpPr>
              <a:spLocks/>
            </p:cNvSpPr>
            <p:nvPr/>
          </p:nvSpPr>
          <p:spPr bwMode="auto">
            <a:xfrm rot="5400000">
              <a:off x="4320" y="1483"/>
              <a:ext cx="189" cy="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4" y="19867"/>
                  </a:moveTo>
                  <a:lnTo>
                    <a:pt x="19764" y="19200"/>
                  </a:lnTo>
                  <a:lnTo>
                    <a:pt x="19607" y="18800"/>
                  </a:lnTo>
                  <a:lnTo>
                    <a:pt x="19398" y="18000"/>
                  </a:lnTo>
                  <a:lnTo>
                    <a:pt x="19162" y="17600"/>
                  </a:lnTo>
                  <a:lnTo>
                    <a:pt x="18953" y="16667"/>
                  </a:lnTo>
                  <a:lnTo>
                    <a:pt x="18770" y="16133"/>
                  </a:lnTo>
                  <a:lnTo>
                    <a:pt x="18586" y="15733"/>
                  </a:lnTo>
                  <a:lnTo>
                    <a:pt x="18403" y="15067"/>
                  </a:lnTo>
                  <a:lnTo>
                    <a:pt x="18246" y="14400"/>
                  </a:lnTo>
                  <a:lnTo>
                    <a:pt x="18010" y="13733"/>
                  </a:lnTo>
                  <a:lnTo>
                    <a:pt x="17827" y="13200"/>
                  </a:lnTo>
                  <a:lnTo>
                    <a:pt x="17618" y="12667"/>
                  </a:lnTo>
                  <a:lnTo>
                    <a:pt x="17435" y="12000"/>
                  </a:lnTo>
                  <a:lnTo>
                    <a:pt x="17147" y="11600"/>
                  </a:lnTo>
                  <a:lnTo>
                    <a:pt x="17016" y="10933"/>
                  </a:lnTo>
                  <a:lnTo>
                    <a:pt x="16806" y="10267"/>
                  </a:lnTo>
                  <a:lnTo>
                    <a:pt x="16623" y="9733"/>
                  </a:lnTo>
                  <a:lnTo>
                    <a:pt x="16440" y="9200"/>
                  </a:lnTo>
                  <a:lnTo>
                    <a:pt x="16204" y="8800"/>
                  </a:lnTo>
                  <a:lnTo>
                    <a:pt x="16047" y="8267"/>
                  </a:lnTo>
                  <a:lnTo>
                    <a:pt x="15838" y="7733"/>
                  </a:lnTo>
                  <a:lnTo>
                    <a:pt x="15602" y="7067"/>
                  </a:lnTo>
                  <a:lnTo>
                    <a:pt x="15419" y="6800"/>
                  </a:lnTo>
                  <a:lnTo>
                    <a:pt x="15183" y="6267"/>
                  </a:lnTo>
                  <a:lnTo>
                    <a:pt x="15052" y="5733"/>
                  </a:lnTo>
                  <a:lnTo>
                    <a:pt x="14843" y="5333"/>
                  </a:lnTo>
                  <a:lnTo>
                    <a:pt x="14660" y="4933"/>
                  </a:lnTo>
                  <a:lnTo>
                    <a:pt x="14424" y="4400"/>
                  </a:lnTo>
                  <a:lnTo>
                    <a:pt x="14188" y="4133"/>
                  </a:lnTo>
                  <a:lnTo>
                    <a:pt x="14005" y="3867"/>
                  </a:lnTo>
                  <a:lnTo>
                    <a:pt x="13796" y="3333"/>
                  </a:lnTo>
                  <a:lnTo>
                    <a:pt x="13613" y="3067"/>
                  </a:lnTo>
                  <a:lnTo>
                    <a:pt x="13403" y="2800"/>
                  </a:lnTo>
                  <a:lnTo>
                    <a:pt x="13220" y="2267"/>
                  </a:lnTo>
                  <a:lnTo>
                    <a:pt x="13010" y="2133"/>
                  </a:lnTo>
                  <a:lnTo>
                    <a:pt x="12749" y="1733"/>
                  </a:lnTo>
                  <a:lnTo>
                    <a:pt x="12565" y="1600"/>
                  </a:lnTo>
                  <a:lnTo>
                    <a:pt x="12356" y="1200"/>
                  </a:lnTo>
                  <a:lnTo>
                    <a:pt x="12173" y="1067"/>
                  </a:lnTo>
                  <a:lnTo>
                    <a:pt x="11990" y="800"/>
                  </a:lnTo>
                  <a:lnTo>
                    <a:pt x="11728" y="800"/>
                  </a:lnTo>
                  <a:lnTo>
                    <a:pt x="11571" y="400"/>
                  </a:lnTo>
                  <a:lnTo>
                    <a:pt x="11335" y="400"/>
                  </a:lnTo>
                  <a:lnTo>
                    <a:pt x="11126" y="267"/>
                  </a:lnTo>
                  <a:lnTo>
                    <a:pt x="10942" y="133"/>
                  </a:lnTo>
                  <a:lnTo>
                    <a:pt x="10707" y="133"/>
                  </a:lnTo>
                  <a:lnTo>
                    <a:pt x="10524" y="0"/>
                  </a:lnTo>
                  <a:lnTo>
                    <a:pt x="10288" y="0"/>
                  </a:lnTo>
                  <a:lnTo>
                    <a:pt x="10079" y="0"/>
                  </a:lnTo>
                  <a:lnTo>
                    <a:pt x="9869" y="133"/>
                  </a:lnTo>
                  <a:lnTo>
                    <a:pt x="9660" y="133"/>
                  </a:lnTo>
                  <a:lnTo>
                    <a:pt x="9476" y="267"/>
                  </a:lnTo>
                  <a:lnTo>
                    <a:pt x="9188" y="400"/>
                  </a:lnTo>
                  <a:lnTo>
                    <a:pt x="8979" y="800"/>
                  </a:lnTo>
                  <a:lnTo>
                    <a:pt x="8770" y="800"/>
                  </a:lnTo>
                  <a:lnTo>
                    <a:pt x="8508" y="1067"/>
                  </a:lnTo>
                  <a:lnTo>
                    <a:pt x="8272" y="1600"/>
                  </a:lnTo>
                  <a:lnTo>
                    <a:pt x="7984" y="1733"/>
                  </a:lnTo>
                  <a:lnTo>
                    <a:pt x="7775" y="2133"/>
                  </a:lnTo>
                  <a:lnTo>
                    <a:pt x="7539" y="2400"/>
                  </a:lnTo>
                  <a:lnTo>
                    <a:pt x="7277" y="2800"/>
                  </a:lnTo>
                  <a:lnTo>
                    <a:pt x="7068" y="3333"/>
                  </a:lnTo>
                  <a:lnTo>
                    <a:pt x="6754" y="3867"/>
                  </a:lnTo>
                  <a:lnTo>
                    <a:pt x="6545" y="4133"/>
                  </a:lnTo>
                  <a:lnTo>
                    <a:pt x="6283" y="4800"/>
                  </a:lnTo>
                  <a:lnTo>
                    <a:pt x="6021" y="5067"/>
                  </a:lnTo>
                  <a:lnTo>
                    <a:pt x="5812" y="5600"/>
                  </a:lnTo>
                  <a:lnTo>
                    <a:pt x="5576" y="6000"/>
                  </a:lnTo>
                  <a:lnTo>
                    <a:pt x="5288" y="6800"/>
                  </a:lnTo>
                  <a:lnTo>
                    <a:pt x="5079" y="7067"/>
                  </a:lnTo>
                  <a:lnTo>
                    <a:pt x="4791" y="7733"/>
                  </a:lnTo>
                  <a:lnTo>
                    <a:pt x="4555" y="8267"/>
                  </a:lnTo>
                  <a:lnTo>
                    <a:pt x="4346" y="8800"/>
                  </a:lnTo>
                  <a:lnTo>
                    <a:pt x="4058" y="9333"/>
                  </a:lnTo>
                  <a:lnTo>
                    <a:pt x="3901" y="10000"/>
                  </a:lnTo>
                  <a:lnTo>
                    <a:pt x="3639" y="10400"/>
                  </a:lnTo>
                  <a:lnTo>
                    <a:pt x="3377" y="11067"/>
                  </a:lnTo>
                  <a:lnTo>
                    <a:pt x="3168" y="11600"/>
                  </a:lnTo>
                  <a:lnTo>
                    <a:pt x="2932" y="12000"/>
                  </a:lnTo>
                  <a:lnTo>
                    <a:pt x="2723" y="12667"/>
                  </a:lnTo>
                  <a:lnTo>
                    <a:pt x="2513" y="13067"/>
                  </a:lnTo>
                  <a:lnTo>
                    <a:pt x="2304" y="13733"/>
                  </a:lnTo>
                  <a:lnTo>
                    <a:pt x="2068" y="14267"/>
                  </a:lnTo>
                  <a:lnTo>
                    <a:pt x="1859" y="14667"/>
                  </a:lnTo>
                  <a:lnTo>
                    <a:pt x="1675" y="15200"/>
                  </a:lnTo>
                  <a:lnTo>
                    <a:pt x="1518" y="15733"/>
                  </a:lnTo>
                  <a:lnTo>
                    <a:pt x="1283" y="16133"/>
                  </a:lnTo>
                  <a:lnTo>
                    <a:pt x="1152" y="16667"/>
                  </a:lnTo>
                  <a:lnTo>
                    <a:pt x="995" y="16933"/>
                  </a:lnTo>
                  <a:lnTo>
                    <a:pt x="838" y="17200"/>
                  </a:lnTo>
                  <a:lnTo>
                    <a:pt x="681" y="17733"/>
                  </a:lnTo>
                  <a:lnTo>
                    <a:pt x="497" y="18000"/>
                  </a:lnTo>
                  <a:lnTo>
                    <a:pt x="366" y="18267"/>
                  </a:lnTo>
                  <a:lnTo>
                    <a:pt x="262" y="18400"/>
                  </a:lnTo>
                  <a:lnTo>
                    <a:pt x="131" y="18933"/>
                  </a:lnTo>
                  <a:lnTo>
                    <a:pt x="0" y="19067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3" name="Freeform 160"/>
            <p:cNvSpPr>
              <a:spLocks/>
            </p:cNvSpPr>
            <p:nvPr/>
          </p:nvSpPr>
          <p:spPr bwMode="auto">
            <a:xfrm rot="5400000">
              <a:off x="4285" y="1294"/>
              <a:ext cx="197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5" y="0"/>
                  </a:moveTo>
                  <a:lnTo>
                    <a:pt x="19724" y="755"/>
                  </a:lnTo>
                  <a:lnTo>
                    <a:pt x="19523" y="1258"/>
                  </a:lnTo>
                  <a:lnTo>
                    <a:pt x="19447" y="1761"/>
                  </a:lnTo>
                  <a:lnTo>
                    <a:pt x="19196" y="2642"/>
                  </a:lnTo>
                  <a:lnTo>
                    <a:pt x="18970" y="3396"/>
                  </a:lnTo>
                  <a:lnTo>
                    <a:pt x="18894" y="3899"/>
                  </a:lnTo>
                  <a:lnTo>
                    <a:pt x="18593" y="4025"/>
                  </a:lnTo>
                  <a:lnTo>
                    <a:pt x="18442" y="5031"/>
                  </a:lnTo>
                  <a:lnTo>
                    <a:pt x="18166" y="5535"/>
                  </a:lnTo>
                  <a:lnTo>
                    <a:pt x="17990" y="6038"/>
                  </a:lnTo>
                  <a:lnTo>
                    <a:pt x="17915" y="6415"/>
                  </a:lnTo>
                  <a:lnTo>
                    <a:pt x="17563" y="7044"/>
                  </a:lnTo>
                  <a:lnTo>
                    <a:pt x="17412" y="7799"/>
                  </a:lnTo>
                  <a:lnTo>
                    <a:pt x="17261" y="8428"/>
                  </a:lnTo>
                  <a:lnTo>
                    <a:pt x="17111" y="8931"/>
                  </a:lnTo>
                  <a:lnTo>
                    <a:pt x="16884" y="9434"/>
                  </a:lnTo>
                  <a:lnTo>
                    <a:pt x="16583" y="10189"/>
                  </a:lnTo>
                  <a:lnTo>
                    <a:pt x="16332" y="10692"/>
                  </a:lnTo>
                  <a:lnTo>
                    <a:pt x="16206" y="11195"/>
                  </a:lnTo>
                  <a:lnTo>
                    <a:pt x="16030" y="11447"/>
                  </a:lnTo>
                  <a:lnTo>
                    <a:pt x="15779" y="12201"/>
                  </a:lnTo>
                  <a:lnTo>
                    <a:pt x="15628" y="12579"/>
                  </a:lnTo>
                  <a:lnTo>
                    <a:pt x="15427" y="13208"/>
                  </a:lnTo>
                  <a:lnTo>
                    <a:pt x="15201" y="13585"/>
                  </a:lnTo>
                  <a:lnTo>
                    <a:pt x="15025" y="14088"/>
                  </a:lnTo>
                  <a:lnTo>
                    <a:pt x="14899" y="14465"/>
                  </a:lnTo>
                  <a:lnTo>
                    <a:pt x="14648" y="14969"/>
                  </a:lnTo>
                  <a:lnTo>
                    <a:pt x="14372" y="15220"/>
                  </a:lnTo>
                  <a:lnTo>
                    <a:pt x="14271" y="15597"/>
                  </a:lnTo>
                  <a:lnTo>
                    <a:pt x="13995" y="15975"/>
                  </a:lnTo>
                  <a:lnTo>
                    <a:pt x="13794" y="16478"/>
                  </a:lnTo>
                  <a:lnTo>
                    <a:pt x="13618" y="16478"/>
                  </a:lnTo>
                  <a:lnTo>
                    <a:pt x="13417" y="16981"/>
                  </a:lnTo>
                  <a:lnTo>
                    <a:pt x="13141" y="17233"/>
                  </a:lnTo>
                  <a:lnTo>
                    <a:pt x="13015" y="17862"/>
                  </a:lnTo>
                  <a:lnTo>
                    <a:pt x="12789" y="18239"/>
                  </a:lnTo>
                  <a:lnTo>
                    <a:pt x="12638" y="18239"/>
                  </a:lnTo>
                  <a:lnTo>
                    <a:pt x="12412" y="18868"/>
                  </a:lnTo>
                  <a:lnTo>
                    <a:pt x="12186" y="18868"/>
                  </a:lnTo>
                  <a:lnTo>
                    <a:pt x="11985" y="18868"/>
                  </a:lnTo>
                  <a:lnTo>
                    <a:pt x="11759" y="19119"/>
                  </a:lnTo>
                  <a:lnTo>
                    <a:pt x="11508" y="19245"/>
                  </a:lnTo>
                  <a:lnTo>
                    <a:pt x="11281" y="19245"/>
                  </a:lnTo>
                  <a:lnTo>
                    <a:pt x="11181" y="19623"/>
                  </a:lnTo>
                  <a:lnTo>
                    <a:pt x="10980" y="19874"/>
                  </a:lnTo>
                  <a:lnTo>
                    <a:pt x="10754" y="19874"/>
                  </a:lnTo>
                  <a:lnTo>
                    <a:pt x="10528" y="19874"/>
                  </a:lnTo>
                  <a:lnTo>
                    <a:pt x="10327" y="19874"/>
                  </a:lnTo>
                  <a:lnTo>
                    <a:pt x="10151" y="19874"/>
                  </a:lnTo>
                  <a:lnTo>
                    <a:pt x="9799" y="19874"/>
                  </a:lnTo>
                  <a:lnTo>
                    <a:pt x="9648" y="19623"/>
                  </a:lnTo>
                  <a:lnTo>
                    <a:pt x="9422" y="19245"/>
                  </a:lnTo>
                  <a:lnTo>
                    <a:pt x="9196" y="19245"/>
                  </a:lnTo>
                  <a:lnTo>
                    <a:pt x="8970" y="19119"/>
                  </a:lnTo>
                  <a:lnTo>
                    <a:pt x="8769" y="18868"/>
                  </a:lnTo>
                  <a:lnTo>
                    <a:pt x="8518" y="18868"/>
                  </a:lnTo>
                  <a:lnTo>
                    <a:pt x="8241" y="18491"/>
                  </a:lnTo>
                  <a:lnTo>
                    <a:pt x="7965" y="18239"/>
                  </a:lnTo>
                  <a:lnTo>
                    <a:pt x="7789" y="17862"/>
                  </a:lnTo>
                  <a:lnTo>
                    <a:pt x="7538" y="17233"/>
                  </a:lnTo>
                  <a:lnTo>
                    <a:pt x="7337" y="16981"/>
                  </a:lnTo>
                  <a:lnTo>
                    <a:pt x="7136" y="16478"/>
                  </a:lnTo>
                  <a:lnTo>
                    <a:pt x="6809" y="15975"/>
                  </a:lnTo>
                  <a:lnTo>
                    <a:pt x="6633" y="15597"/>
                  </a:lnTo>
                  <a:lnTo>
                    <a:pt x="6332" y="15220"/>
                  </a:lnTo>
                  <a:lnTo>
                    <a:pt x="6030" y="14465"/>
                  </a:lnTo>
                  <a:lnTo>
                    <a:pt x="5829" y="14214"/>
                  </a:lnTo>
                  <a:lnTo>
                    <a:pt x="5578" y="13585"/>
                  </a:lnTo>
                  <a:lnTo>
                    <a:pt x="5302" y="13208"/>
                  </a:lnTo>
                  <a:lnTo>
                    <a:pt x="5025" y="12956"/>
                  </a:lnTo>
                  <a:lnTo>
                    <a:pt x="4749" y="12201"/>
                  </a:lnTo>
                  <a:lnTo>
                    <a:pt x="4523" y="11447"/>
                  </a:lnTo>
                  <a:lnTo>
                    <a:pt x="4296" y="11195"/>
                  </a:lnTo>
                  <a:lnTo>
                    <a:pt x="4171" y="10692"/>
                  </a:lnTo>
                  <a:lnTo>
                    <a:pt x="3794" y="10189"/>
                  </a:lnTo>
                  <a:lnTo>
                    <a:pt x="3693" y="9182"/>
                  </a:lnTo>
                  <a:lnTo>
                    <a:pt x="3417" y="8931"/>
                  </a:lnTo>
                  <a:lnTo>
                    <a:pt x="3191" y="8428"/>
                  </a:lnTo>
                  <a:lnTo>
                    <a:pt x="2864" y="7799"/>
                  </a:lnTo>
                  <a:lnTo>
                    <a:pt x="2764" y="7044"/>
                  </a:lnTo>
                  <a:lnTo>
                    <a:pt x="2538" y="6415"/>
                  </a:lnTo>
                  <a:lnTo>
                    <a:pt x="2286" y="6038"/>
                  </a:lnTo>
                  <a:lnTo>
                    <a:pt x="2010" y="5535"/>
                  </a:lnTo>
                  <a:lnTo>
                    <a:pt x="1985" y="5031"/>
                  </a:lnTo>
                  <a:lnTo>
                    <a:pt x="1633" y="4780"/>
                  </a:lnTo>
                  <a:lnTo>
                    <a:pt x="1533" y="4025"/>
                  </a:lnTo>
                  <a:lnTo>
                    <a:pt x="1307" y="3899"/>
                  </a:lnTo>
                  <a:lnTo>
                    <a:pt x="1256" y="3396"/>
                  </a:lnTo>
                  <a:lnTo>
                    <a:pt x="980" y="3019"/>
                  </a:lnTo>
                  <a:lnTo>
                    <a:pt x="779" y="2642"/>
                  </a:lnTo>
                  <a:lnTo>
                    <a:pt x="578" y="2013"/>
                  </a:lnTo>
                  <a:lnTo>
                    <a:pt x="477" y="1761"/>
                  </a:lnTo>
                  <a:lnTo>
                    <a:pt x="427" y="1761"/>
                  </a:lnTo>
                  <a:lnTo>
                    <a:pt x="302" y="1258"/>
                  </a:lnTo>
                  <a:lnTo>
                    <a:pt x="176" y="1258"/>
                  </a:lnTo>
                  <a:lnTo>
                    <a:pt x="0" y="1006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4" name="Freeform 161"/>
            <p:cNvSpPr>
              <a:spLocks/>
            </p:cNvSpPr>
            <p:nvPr/>
          </p:nvSpPr>
          <p:spPr bwMode="auto">
            <a:xfrm rot="5400000">
              <a:off x="4260" y="972"/>
              <a:ext cx="245" cy="2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44" y="889"/>
                  </a:lnTo>
                  <a:lnTo>
                    <a:pt x="508" y="1185"/>
                  </a:lnTo>
                  <a:lnTo>
                    <a:pt x="528" y="1926"/>
                  </a:lnTo>
                  <a:lnTo>
                    <a:pt x="812" y="2370"/>
                  </a:lnTo>
                  <a:lnTo>
                    <a:pt x="975" y="3259"/>
                  </a:lnTo>
                  <a:lnTo>
                    <a:pt x="1137" y="3704"/>
                  </a:lnTo>
                  <a:lnTo>
                    <a:pt x="1442" y="4296"/>
                  </a:lnTo>
                  <a:lnTo>
                    <a:pt x="1645" y="5185"/>
                  </a:lnTo>
                  <a:lnTo>
                    <a:pt x="1706" y="5481"/>
                  </a:lnTo>
                  <a:lnTo>
                    <a:pt x="2010" y="5926"/>
                  </a:lnTo>
                  <a:lnTo>
                    <a:pt x="2173" y="6963"/>
                  </a:lnTo>
                  <a:lnTo>
                    <a:pt x="2437" y="7111"/>
                  </a:lnTo>
                  <a:lnTo>
                    <a:pt x="2660" y="7556"/>
                  </a:lnTo>
                  <a:lnTo>
                    <a:pt x="2721" y="8444"/>
                  </a:lnTo>
                  <a:lnTo>
                    <a:pt x="2964" y="9037"/>
                  </a:lnTo>
                  <a:lnTo>
                    <a:pt x="3127" y="9926"/>
                  </a:lnTo>
                  <a:lnTo>
                    <a:pt x="3391" y="10222"/>
                  </a:lnTo>
                  <a:lnTo>
                    <a:pt x="3655" y="10815"/>
                  </a:lnTo>
                  <a:lnTo>
                    <a:pt x="3797" y="11111"/>
                  </a:lnTo>
                  <a:lnTo>
                    <a:pt x="3980" y="11852"/>
                  </a:lnTo>
                  <a:lnTo>
                    <a:pt x="4203" y="12296"/>
                  </a:lnTo>
                  <a:lnTo>
                    <a:pt x="4406" y="12889"/>
                  </a:lnTo>
                  <a:lnTo>
                    <a:pt x="4670" y="13185"/>
                  </a:lnTo>
                  <a:lnTo>
                    <a:pt x="4731" y="13778"/>
                  </a:lnTo>
                  <a:lnTo>
                    <a:pt x="5015" y="14370"/>
                  </a:lnTo>
                  <a:lnTo>
                    <a:pt x="5157" y="14667"/>
                  </a:lnTo>
                  <a:lnTo>
                    <a:pt x="5421" y="14667"/>
                  </a:lnTo>
                  <a:lnTo>
                    <a:pt x="5543" y="15259"/>
                  </a:lnTo>
                  <a:lnTo>
                    <a:pt x="5807" y="16296"/>
                  </a:lnTo>
                  <a:lnTo>
                    <a:pt x="5970" y="16444"/>
                  </a:lnTo>
                  <a:lnTo>
                    <a:pt x="6254" y="16444"/>
                  </a:lnTo>
                  <a:lnTo>
                    <a:pt x="6315" y="16889"/>
                  </a:lnTo>
                  <a:lnTo>
                    <a:pt x="6680" y="17481"/>
                  </a:lnTo>
                  <a:lnTo>
                    <a:pt x="6883" y="17481"/>
                  </a:lnTo>
                  <a:lnTo>
                    <a:pt x="7005" y="17778"/>
                  </a:lnTo>
                  <a:lnTo>
                    <a:pt x="7188" y="18667"/>
                  </a:lnTo>
                  <a:lnTo>
                    <a:pt x="7431" y="18667"/>
                  </a:lnTo>
                  <a:lnTo>
                    <a:pt x="7675" y="18667"/>
                  </a:lnTo>
                  <a:lnTo>
                    <a:pt x="7817" y="18667"/>
                  </a:lnTo>
                  <a:lnTo>
                    <a:pt x="8000" y="19111"/>
                  </a:lnTo>
                  <a:lnTo>
                    <a:pt x="8223" y="19111"/>
                  </a:lnTo>
                  <a:lnTo>
                    <a:pt x="8426" y="19111"/>
                  </a:lnTo>
                  <a:lnTo>
                    <a:pt x="8670" y="19704"/>
                  </a:lnTo>
                  <a:lnTo>
                    <a:pt x="8893" y="19852"/>
                  </a:lnTo>
                  <a:lnTo>
                    <a:pt x="9036" y="19852"/>
                  </a:lnTo>
                  <a:lnTo>
                    <a:pt x="9259" y="19852"/>
                  </a:lnTo>
                  <a:lnTo>
                    <a:pt x="9442" y="19852"/>
                  </a:lnTo>
                  <a:lnTo>
                    <a:pt x="9746" y="19852"/>
                  </a:lnTo>
                  <a:lnTo>
                    <a:pt x="9888" y="19852"/>
                  </a:lnTo>
                  <a:lnTo>
                    <a:pt x="10173" y="19852"/>
                  </a:lnTo>
                  <a:lnTo>
                    <a:pt x="10376" y="19852"/>
                  </a:lnTo>
                  <a:lnTo>
                    <a:pt x="10558" y="19704"/>
                  </a:lnTo>
                  <a:lnTo>
                    <a:pt x="10802" y="19704"/>
                  </a:lnTo>
                  <a:lnTo>
                    <a:pt x="10964" y="19111"/>
                  </a:lnTo>
                  <a:lnTo>
                    <a:pt x="11269" y="19111"/>
                  </a:lnTo>
                  <a:lnTo>
                    <a:pt x="11513" y="18667"/>
                  </a:lnTo>
                  <a:lnTo>
                    <a:pt x="11797" y="18667"/>
                  </a:lnTo>
                  <a:lnTo>
                    <a:pt x="12061" y="18667"/>
                  </a:lnTo>
                  <a:lnTo>
                    <a:pt x="12223" y="17778"/>
                  </a:lnTo>
                  <a:lnTo>
                    <a:pt x="12487" y="17481"/>
                  </a:lnTo>
                  <a:lnTo>
                    <a:pt x="12711" y="16889"/>
                  </a:lnTo>
                  <a:lnTo>
                    <a:pt x="12975" y="16444"/>
                  </a:lnTo>
                  <a:lnTo>
                    <a:pt x="13259" y="16444"/>
                  </a:lnTo>
                  <a:lnTo>
                    <a:pt x="13401" y="16296"/>
                  </a:lnTo>
                  <a:lnTo>
                    <a:pt x="13665" y="15259"/>
                  </a:lnTo>
                  <a:lnTo>
                    <a:pt x="13970" y="14667"/>
                  </a:lnTo>
                  <a:lnTo>
                    <a:pt x="14234" y="14370"/>
                  </a:lnTo>
                  <a:lnTo>
                    <a:pt x="14457" y="13778"/>
                  </a:lnTo>
                  <a:lnTo>
                    <a:pt x="14680" y="13333"/>
                  </a:lnTo>
                  <a:lnTo>
                    <a:pt x="14985" y="12889"/>
                  </a:lnTo>
                  <a:lnTo>
                    <a:pt x="15269" y="12296"/>
                  </a:lnTo>
                  <a:lnTo>
                    <a:pt x="15431" y="11852"/>
                  </a:lnTo>
                  <a:lnTo>
                    <a:pt x="15675" y="11111"/>
                  </a:lnTo>
                  <a:lnTo>
                    <a:pt x="15898" y="10815"/>
                  </a:lnTo>
                  <a:lnTo>
                    <a:pt x="16183" y="10222"/>
                  </a:lnTo>
                  <a:lnTo>
                    <a:pt x="16284" y="9333"/>
                  </a:lnTo>
                  <a:lnTo>
                    <a:pt x="16731" y="9037"/>
                  </a:lnTo>
                  <a:lnTo>
                    <a:pt x="16873" y="8444"/>
                  </a:lnTo>
                  <a:lnTo>
                    <a:pt x="17137" y="7556"/>
                  </a:lnTo>
                  <a:lnTo>
                    <a:pt x="17299" y="7111"/>
                  </a:lnTo>
                  <a:lnTo>
                    <a:pt x="17442" y="6963"/>
                  </a:lnTo>
                  <a:lnTo>
                    <a:pt x="17746" y="5926"/>
                  </a:lnTo>
                  <a:lnTo>
                    <a:pt x="17970" y="5630"/>
                  </a:lnTo>
                  <a:lnTo>
                    <a:pt x="18071" y="5185"/>
                  </a:lnTo>
                  <a:lnTo>
                    <a:pt x="18294" y="4741"/>
                  </a:lnTo>
                  <a:lnTo>
                    <a:pt x="18497" y="4296"/>
                  </a:lnTo>
                  <a:lnTo>
                    <a:pt x="18680" y="3704"/>
                  </a:lnTo>
                  <a:lnTo>
                    <a:pt x="18883" y="3259"/>
                  </a:lnTo>
                  <a:lnTo>
                    <a:pt x="19086" y="3111"/>
                  </a:lnTo>
                  <a:lnTo>
                    <a:pt x="19147" y="2667"/>
                  </a:lnTo>
                  <a:lnTo>
                    <a:pt x="19391" y="2074"/>
                  </a:lnTo>
                  <a:lnTo>
                    <a:pt x="19492" y="1926"/>
                  </a:lnTo>
                  <a:lnTo>
                    <a:pt x="19614" y="1926"/>
                  </a:lnTo>
                  <a:lnTo>
                    <a:pt x="19695" y="1185"/>
                  </a:lnTo>
                  <a:lnTo>
                    <a:pt x="19878" y="1185"/>
                  </a:lnTo>
                  <a:lnTo>
                    <a:pt x="19980" y="889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5" name="Freeform 162"/>
            <p:cNvSpPr>
              <a:spLocks/>
            </p:cNvSpPr>
            <p:nvPr/>
          </p:nvSpPr>
          <p:spPr bwMode="auto">
            <a:xfrm rot="5400000">
              <a:off x="4349" y="1156"/>
              <a:ext cx="104" cy="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52" y="19444"/>
                  </a:moveTo>
                  <a:lnTo>
                    <a:pt x="19760" y="18889"/>
                  </a:lnTo>
                  <a:lnTo>
                    <a:pt x="19568" y="18333"/>
                  </a:lnTo>
                  <a:lnTo>
                    <a:pt x="19376" y="18333"/>
                  </a:lnTo>
                  <a:lnTo>
                    <a:pt x="19185" y="16667"/>
                  </a:lnTo>
                  <a:lnTo>
                    <a:pt x="18945" y="16111"/>
                  </a:lnTo>
                  <a:lnTo>
                    <a:pt x="18753" y="16111"/>
                  </a:lnTo>
                  <a:lnTo>
                    <a:pt x="18561" y="15000"/>
                  </a:lnTo>
                  <a:lnTo>
                    <a:pt x="18417" y="15000"/>
                  </a:lnTo>
                  <a:lnTo>
                    <a:pt x="18177" y="14444"/>
                  </a:lnTo>
                  <a:lnTo>
                    <a:pt x="18034" y="12778"/>
                  </a:lnTo>
                  <a:lnTo>
                    <a:pt x="17842" y="12778"/>
                  </a:lnTo>
                  <a:lnTo>
                    <a:pt x="17602" y="12222"/>
                  </a:lnTo>
                  <a:lnTo>
                    <a:pt x="17410" y="12222"/>
                  </a:lnTo>
                  <a:lnTo>
                    <a:pt x="17170" y="11111"/>
                  </a:lnTo>
                  <a:lnTo>
                    <a:pt x="17026" y="10556"/>
                  </a:lnTo>
                  <a:lnTo>
                    <a:pt x="16835" y="10556"/>
                  </a:lnTo>
                  <a:lnTo>
                    <a:pt x="16595" y="8889"/>
                  </a:lnTo>
                  <a:lnTo>
                    <a:pt x="16403" y="8889"/>
                  </a:lnTo>
                  <a:lnTo>
                    <a:pt x="16211" y="8333"/>
                  </a:lnTo>
                  <a:lnTo>
                    <a:pt x="16067" y="8333"/>
                  </a:lnTo>
                  <a:lnTo>
                    <a:pt x="15827" y="7778"/>
                  </a:lnTo>
                  <a:lnTo>
                    <a:pt x="15588" y="7778"/>
                  </a:lnTo>
                  <a:lnTo>
                    <a:pt x="15396" y="6667"/>
                  </a:lnTo>
                  <a:lnTo>
                    <a:pt x="15204" y="6667"/>
                  </a:lnTo>
                  <a:lnTo>
                    <a:pt x="15012" y="5000"/>
                  </a:lnTo>
                  <a:lnTo>
                    <a:pt x="14820" y="5000"/>
                  </a:lnTo>
                  <a:lnTo>
                    <a:pt x="14580" y="4444"/>
                  </a:lnTo>
                  <a:lnTo>
                    <a:pt x="14436" y="4444"/>
                  </a:lnTo>
                  <a:lnTo>
                    <a:pt x="14197" y="3889"/>
                  </a:lnTo>
                  <a:lnTo>
                    <a:pt x="14005" y="3889"/>
                  </a:lnTo>
                  <a:lnTo>
                    <a:pt x="13813" y="3333"/>
                  </a:lnTo>
                  <a:lnTo>
                    <a:pt x="13525" y="3333"/>
                  </a:lnTo>
                  <a:lnTo>
                    <a:pt x="13381" y="3333"/>
                  </a:lnTo>
                  <a:lnTo>
                    <a:pt x="13141" y="3333"/>
                  </a:lnTo>
                  <a:lnTo>
                    <a:pt x="13046" y="1667"/>
                  </a:lnTo>
                  <a:lnTo>
                    <a:pt x="12758" y="1667"/>
                  </a:lnTo>
                  <a:lnTo>
                    <a:pt x="12566" y="1667"/>
                  </a:lnTo>
                  <a:lnTo>
                    <a:pt x="12374" y="1667"/>
                  </a:lnTo>
                  <a:lnTo>
                    <a:pt x="12086" y="556"/>
                  </a:lnTo>
                  <a:lnTo>
                    <a:pt x="11990" y="556"/>
                  </a:lnTo>
                  <a:lnTo>
                    <a:pt x="11703" y="556"/>
                  </a:lnTo>
                  <a:lnTo>
                    <a:pt x="11559" y="556"/>
                  </a:lnTo>
                  <a:lnTo>
                    <a:pt x="11271" y="0"/>
                  </a:lnTo>
                  <a:lnTo>
                    <a:pt x="11127" y="0"/>
                  </a:lnTo>
                  <a:lnTo>
                    <a:pt x="10935" y="0"/>
                  </a:lnTo>
                  <a:lnTo>
                    <a:pt x="10695" y="0"/>
                  </a:lnTo>
                  <a:lnTo>
                    <a:pt x="10504" y="0"/>
                  </a:lnTo>
                  <a:lnTo>
                    <a:pt x="10312" y="0"/>
                  </a:lnTo>
                  <a:lnTo>
                    <a:pt x="10072" y="0"/>
                  </a:lnTo>
                  <a:lnTo>
                    <a:pt x="9832" y="0"/>
                  </a:lnTo>
                  <a:lnTo>
                    <a:pt x="9592" y="0"/>
                  </a:lnTo>
                  <a:lnTo>
                    <a:pt x="9400" y="0"/>
                  </a:lnTo>
                  <a:lnTo>
                    <a:pt x="9209" y="0"/>
                  </a:lnTo>
                  <a:lnTo>
                    <a:pt x="8969" y="556"/>
                  </a:lnTo>
                  <a:lnTo>
                    <a:pt x="8729" y="556"/>
                  </a:lnTo>
                  <a:lnTo>
                    <a:pt x="8489" y="556"/>
                  </a:lnTo>
                  <a:lnTo>
                    <a:pt x="8297" y="1667"/>
                  </a:lnTo>
                  <a:lnTo>
                    <a:pt x="7962" y="1667"/>
                  </a:lnTo>
                  <a:lnTo>
                    <a:pt x="7818" y="1667"/>
                  </a:lnTo>
                  <a:lnTo>
                    <a:pt x="7530" y="3333"/>
                  </a:lnTo>
                  <a:lnTo>
                    <a:pt x="7194" y="3333"/>
                  </a:lnTo>
                  <a:lnTo>
                    <a:pt x="7002" y="3333"/>
                  </a:lnTo>
                  <a:lnTo>
                    <a:pt x="6811" y="3889"/>
                  </a:lnTo>
                  <a:lnTo>
                    <a:pt x="6523" y="3889"/>
                  </a:lnTo>
                  <a:lnTo>
                    <a:pt x="6283" y="4444"/>
                  </a:lnTo>
                  <a:lnTo>
                    <a:pt x="5995" y="4444"/>
                  </a:lnTo>
                  <a:lnTo>
                    <a:pt x="5755" y="5000"/>
                  </a:lnTo>
                  <a:lnTo>
                    <a:pt x="5564" y="6667"/>
                  </a:lnTo>
                  <a:lnTo>
                    <a:pt x="5324" y="6667"/>
                  </a:lnTo>
                  <a:lnTo>
                    <a:pt x="5084" y="7778"/>
                  </a:lnTo>
                  <a:lnTo>
                    <a:pt x="4796" y="7778"/>
                  </a:lnTo>
                  <a:lnTo>
                    <a:pt x="4556" y="8333"/>
                  </a:lnTo>
                  <a:lnTo>
                    <a:pt x="4317" y="8333"/>
                  </a:lnTo>
                  <a:lnTo>
                    <a:pt x="4077" y="8889"/>
                  </a:lnTo>
                  <a:lnTo>
                    <a:pt x="3837" y="8889"/>
                  </a:lnTo>
                  <a:lnTo>
                    <a:pt x="3645" y="10556"/>
                  </a:lnTo>
                  <a:lnTo>
                    <a:pt x="3405" y="10556"/>
                  </a:lnTo>
                  <a:lnTo>
                    <a:pt x="3070" y="11111"/>
                  </a:lnTo>
                  <a:lnTo>
                    <a:pt x="2926" y="12222"/>
                  </a:lnTo>
                  <a:lnTo>
                    <a:pt x="2734" y="12222"/>
                  </a:lnTo>
                  <a:lnTo>
                    <a:pt x="2446" y="12778"/>
                  </a:lnTo>
                  <a:lnTo>
                    <a:pt x="2254" y="12778"/>
                  </a:lnTo>
                  <a:lnTo>
                    <a:pt x="2062" y="12778"/>
                  </a:lnTo>
                  <a:lnTo>
                    <a:pt x="1823" y="14444"/>
                  </a:lnTo>
                  <a:lnTo>
                    <a:pt x="1631" y="15000"/>
                  </a:lnTo>
                  <a:lnTo>
                    <a:pt x="1487" y="15000"/>
                  </a:lnTo>
                  <a:lnTo>
                    <a:pt x="1295" y="16111"/>
                  </a:lnTo>
                  <a:lnTo>
                    <a:pt x="1151" y="16111"/>
                  </a:lnTo>
                  <a:lnTo>
                    <a:pt x="1007" y="16667"/>
                  </a:lnTo>
                  <a:lnTo>
                    <a:pt x="767" y="16667"/>
                  </a:lnTo>
                  <a:lnTo>
                    <a:pt x="719" y="18333"/>
                  </a:lnTo>
                  <a:lnTo>
                    <a:pt x="432" y="18333"/>
                  </a:lnTo>
                  <a:lnTo>
                    <a:pt x="384" y="18333"/>
                  </a:lnTo>
                  <a:lnTo>
                    <a:pt x="192" y="18333"/>
                  </a:lnTo>
                  <a:lnTo>
                    <a:pt x="144" y="18889"/>
                  </a:lnTo>
                  <a:lnTo>
                    <a:pt x="0" y="18889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6" name="Line 163"/>
            <p:cNvSpPr>
              <a:spLocks noChangeShapeType="1"/>
            </p:cNvSpPr>
            <p:nvPr/>
          </p:nvSpPr>
          <p:spPr bwMode="auto">
            <a:xfrm rot="5400000" flipH="1">
              <a:off x="4448" y="1688"/>
              <a:ext cx="15" cy="49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7" name="Line 164"/>
            <p:cNvSpPr>
              <a:spLocks noChangeShapeType="1"/>
            </p:cNvSpPr>
            <p:nvPr/>
          </p:nvSpPr>
          <p:spPr bwMode="auto">
            <a:xfrm rot="5400000">
              <a:off x="4365" y="961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8" name="Line 165"/>
            <p:cNvSpPr>
              <a:spLocks noChangeShapeType="1"/>
            </p:cNvSpPr>
            <p:nvPr/>
          </p:nvSpPr>
          <p:spPr bwMode="auto">
            <a:xfrm rot="5400000">
              <a:off x="4361" y="1291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9" name="Line 166"/>
            <p:cNvSpPr>
              <a:spLocks noChangeShapeType="1"/>
            </p:cNvSpPr>
            <p:nvPr/>
          </p:nvSpPr>
          <p:spPr bwMode="auto">
            <a:xfrm rot="5400000">
              <a:off x="4361" y="1631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0" name="Line 167"/>
            <p:cNvSpPr>
              <a:spLocks noChangeShapeType="1"/>
            </p:cNvSpPr>
            <p:nvPr/>
          </p:nvSpPr>
          <p:spPr bwMode="auto">
            <a:xfrm rot="5400000">
              <a:off x="4361" y="2270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1" name="Line 168"/>
            <p:cNvSpPr>
              <a:spLocks noChangeShapeType="1"/>
            </p:cNvSpPr>
            <p:nvPr/>
          </p:nvSpPr>
          <p:spPr bwMode="auto">
            <a:xfrm rot="5400000">
              <a:off x="4361" y="2589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2" name="Line 169"/>
            <p:cNvSpPr>
              <a:spLocks noChangeShapeType="1"/>
            </p:cNvSpPr>
            <p:nvPr/>
          </p:nvSpPr>
          <p:spPr bwMode="auto">
            <a:xfrm rot="5400000">
              <a:off x="4365" y="2933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5" name="Group 184"/>
          <p:cNvGrpSpPr>
            <a:grpSpLocks/>
          </p:cNvGrpSpPr>
          <p:nvPr/>
        </p:nvGrpSpPr>
        <p:grpSpPr bwMode="auto">
          <a:xfrm>
            <a:off x="827088" y="2205038"/>
            <a:ext cx="1635125" cy="3743325"/>
            <a:chOff x="521" y="1389"/>
            <a:chExt cx="1030" cy="2358"/>
          </a:xfrm>
        </p:grpSpPr>
        <p:sp>
          <p:nvSpPr>
            <p:cNvPr id="28693" name="Text Box 185"/>
            <p:cNvSpPr txBox="1">
              <a:spLocks noChangeArrowheads="1"/>
            </p:cNvSpPr>
            <p:nvPr/>
          </p:nvSpPr>
          <p:spPr bwMode="auto">
            <a:xfrm>
              <a:off x="521" y="1389"/>
              <a:ext cx="1030" cy="23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</p:txBody>
        </p:sp>
        <p:grpSp>
          <p:nvGrpSpPr>
            <p:cNvPr id="28694" name="Group 186"/>
            <p:cNvGrpSpPr>
              <a:grpSpLocks/>
            </p:cNvGrpSpPr>
            <p:nvPr/>
          </p:nvGrpSpPr>
          <p:grpSpPr bwMode="auto">
            <a:xfrm>
              <a:off x="915" y="2420"/>
              <a:ext cx="35" cy="1261"/>
              <a:chOff x="1104" y="1728"/>
              <a:chExt cx="48" cy="1872"/>
            </a:xfrm>
          </p:grpSpPr>
          <p:sp>
            <p:nvSpPr>
              <p:cNvPr id="28700" name="Line 187"/>
              <p:cNvSpPr>
                <a:spLocks noChangeShapeType="1"/>
              </p:cNvSpPr>
              <p:nvPr/>
            </p:nvSpPr>
            <p:spPr bwMode="auto">
              <a:xfrm>
                <a:off x="1104" y="17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1" name="Line 188"/>
              <p:cNvSpPr>
                <a:spLocks noChangeShapeType="1"/>
              </p:cNvSpPr>
              <p:nvPr/>
            </p:nvSpPr>
            <p:spPr bwMode="auto">
              <a:xfrm>
                <a:off x="1104" y="321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2" name="Oval 189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03" name="Oval 190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04" name="Oval 191"/>
              <p:cNvSpPr>
                <a:spLocks noChangeArrowheads="1"/>
              </p:cNvSpPr>
              <p:nvPr/>
            </p:nvSpPr>
            <p:spPr bwMode="auto">
              <a:xfrm>
                <a:off x="1104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695" name="Line 192"/>
            <p:cNvSpPr>
              <a:spLocks noChangeShapeType="1"/>
            </p:cNvSpPr>
            <p:nvPr/>
          </p:nvSpPr>
          <p:spPr bwMode="auto">
            <a:xfrm flipV="1">
              <a:off x="566" y="2797"/>
              <a:ext cx="0" cy="19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6" name="Line 193"/>
            <p:cNvSpPr>
              <a:spLocks noChangeShapeType="1"/>
            </p:cNvSpPr>
            <p:nvPr/>
          </p:nvSpPr>
          <p:spPr bwMode="auto">
            <a:xfrm rot="10800000" flipH="1" flipV="1">
              <a:off x="566" y="3175"/>
              <a:ext cx="0" cy="25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697" name="Object 194"/>
            <p:cNvGraphicFramePr>
              <a:graphicFrameLocks noChangeAspect="1"/>
            </p:cNvGraphicFramePr>
            <p:nvPr/>
          </p:nvGraphicFramePr>
          <p:xfrm>
            <a:off x="521" y="3049"/>
            <a:ext cx="129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62" name="公式" r:id="rId11" imgW="203024" imgH="215713" progId="Equation.3">
                    <p:embed/>
                  </p:oleObj>
                </mc:Choice>
                <mc:Fallback>
                  <p:oleObj name="公式" r:id="rId11" imgW="203024" imgH="215713" progId="Equation.3">
                    <p:embed/>
                    <p:pic>
                      <p:nvPicPr>
                        <p:cNvPr id="0" name="Object 1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3049"/>
                          <a:ext cx="129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8" name="Line 195"/>
            <p:cNvSpPr>
              <a:spLocks noChangeShapeType="1"/>
            </p:cNvSpPr>
            <p:nvPr/>
          </p:nvSpPr>
          <p:spPr bwMode="auto">
            <a:xfrm>
              <a:off x="522" y="2797"/>
              <a:ext cx="33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9" name="Line 196"/>
            <p:cNvSpPr>
              <a:spLocks noChangeShapeType="1"/>
            </p:cNvSpPr>
            <p:nvPr/>
          </p:nvSpPr>
          <p:spPr bwMode="auto">
            <a:xfrm>
              <a:off x="522" y="3428"/>
              <a:ext cx="33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8" name="Group 140"/>
          <p:cNvGrpSpPr>
            <a:grpSpLocks/>
          </p:cNvGrpSpPr>
          <p:nvPr/>
        </p:nvGrpSpPr>
        <p:grpSpPr bwMode="auto">
          <a:xfrm>
            <a:off x="900113" y="3860800"/>
            <a:ext cx="1655762" cy="1584325"/>
            <a:chOff x="4162" y="2816"/>
            <a:chExt cx="1032" cy="981"/>
          </a:xfrm>
        </p:grpSpPr>
        <p:sp>
          <p:nvSpPr>
            <p:cNvPr id="28684" name="Line 74"/>
            <p:cNvSpPr>
              <a:spLocks noChangeShapeType="1"/>
            </p:cNvSpPr>
            <p:nvPr/>
          </p:nvSpPr>
          <p:spPr bwMode="auto">
            <a:xfrm flipV="1">
              <a:off x="4511" y="2816"/>
              <a:ext cx="650" cy="3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5" name="Line 75"/>
            <p:cNvSpPr>
              <a:spLocks noChangeShapeType="1"/>
            </p:cNvSpPr>
            <p:nvPr/>
          </p:nvSpPr>
          <p:spPr bwMode="auto">
            <a:xfrm flipV="1">
              <a:off x="4579" y="3448"/>
              <a:ext cx="615" cy="3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6" name="Line 76"/>
            <p:cNvSpPr>
              <a:spLocks noChangeShapeType="1"/>
            </p:cNvSpPr>
            <p:nvPr/>
          </p:nvSpPr>
          <p:spPr bwMode="auto">
            <a:xfrm flipV="1">
              <a:off x="4579" y="3135"/>
              <a:ext cx="615" cy="3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7" name="Line 83"/>
            <p:cNvSpPr>
              <a:spLocks noChangeShapeType="1"/>
            </p:cNvSpPr>
            <p:nvPr/>
          </p:nvSpPr>
          <p:spPr bwMode="auto">
            <a:xfrm flipV="1">
              <a:off x="4616" y="3135"/>
              <a:ext cx="57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688" name="Object 84"/>
            <p:cNvGraphicFramePr>
              <a:graphicFrameLocks noChangeAspect="1"/>
            </p:cNvGraphicFramePr>
            <p:nvPr/>
          </p:nvGraphicFramePr>
          <p:xfrm>
            <a:off x="4916" y="2931"/>
            <a:ext cx="136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63" name="公式" r:id="rId13" imgW="139579" imgH="177646" progId="Equation.3">
                    <p:embed/>
                  </p:oleObj>
                </mc:Choice>
                <mc:Fallback>
                  <p:oleObj name="公式" r:id="rId13" imgW="139579" imgH="177646" progId="Equation.3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6" y="2931"/>
                          <a:ext cx="136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9" name="Line 85"/>
            <p:cNvSpPr>
              <a:spLocks noChangeShapeType="1"/>
            </p:cNvSpPr>
            <p:nvPr/>
          </p:nvSpPr>
          <p:spPr bwMode="auto">
            <a:xfrm>
              <a:off x="4198" y="3169"/>
              <a:ext cx="36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0" name="Line 86"/>
            <p:cNvSpPr>
              <a:spLocks noChangeShapeType="1"/>
            </p:cNvSpPr>
            <p:nvPr/>
          </p:nvSpPr>
          <p:spPr bwMode="auto">
            <a:xfrm>
              <a:off x="4162" y="3797"/>
              <a:ext cx="397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1" name="Line 87"/>
            <p:cNvSpPr>
              <a:spLocks noChangeShapeType="1"/>
            </p:cNvSpPr>
            <p:nvPr/>
          </p:nvSpPr>
          <p:spPr bwMode="auto">
            <a:xfrm>
              <a:off x="4271" y="3484"/>
              <a:ext cx="28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2" name="Arc 91"/>
            <p:cNvSpPr>
              <a:spLocks/>
            </p:cNvSpPr>
            <p:nvPr/>
          </p:nvSpPr>
          <p:spPr bwMode="auto">
            <a:xfrm>
              <a:off x="4435" y="2995"/>
              <a:ext cx="435" cy="153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83" name="Text Box 4"/>
          <p:cNvSpPr txBox="1">
            <a:spLocks noChangeArrowheads="1"/>
          </p:cNvSpPr>
          <p:nvPr/>
        </p:nvSpPr>
        <p:spPr bwMode="auto">
          <a:xfrm>
            <a:off x="814388" y="488950"/>
            <a:ext cx="82438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将单缝衍射的狭缝</a:t>
            </a:r>
            <a:r>
              <a:rPr lang="zh-CN" altLang="en-US" sz="2800" b="1" dirty="0">
                <a:solidFill>
                  <a:srgbClr val="FF0000"/>
                </a:solidFill>
              </a:rPr>
              <a:t>上下平移</a:t>
            </a:r>
            <a:r>
              <a:rPr lang="zh-CN" altLang="en-US" sz="2800" b="1" dirty="0">
                <a:solidFill>
                  <a:schemeClr val="tx1"/>
                </a:solidFill>
              </a:rPr>
              <a:t>，衍射条纹是否变化？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084888" y="1035050"/>
            <a:ext cx="2293937" cy="2506663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234950" y="230188"/>
            <a:ext cx="7991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单缝 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= 0.1 mm  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=100 mm  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=500 nm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1012825" y="806450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点在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=1.75 mm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处是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明纹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求：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809625" y="1427163"/>
            <a:ext cx="5545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点的条纹级数 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= ?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823913" y="4606925"/>
            <a:ext cx="744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）对应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点的亮纹缝可分成多少个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半波带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？</a:t>
            </a:r>
          </a:p>
        </p:txBody>
      </p:sp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2252663" y="1943100"/>
          <a:ext cx="2455862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69" name="Equation" r:id="rId3" imgW="1968500" imgH="622300" progId="Equation.DSMT4">
                  <p:embed/>
                </p:oleObj>
              </mc:Choice>
              <mc:Fallback>
                <p:oleObj name="Equation" r:id="rId3" imgW="1968500" imgH="622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1943100"/>
                        <a:ext cx="2455862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523875" y="2119313"/>
            <a:ext cx="2879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解：明纹</a:t>
            </a:r>
          </a:p>
        </p:txBody>
      </p:sp>
      <p:graphicFrame>
        <p:nvGraphicFramePr>
          <p:cNvPr id="15371" name="Object 11"/>
          <p:cNvGraphicFramePr>
            <a:graphicFrameLocks noChangeAspect="1"/>
          </p:cNvGraphicFramePr>
          <p:nvPr/>
        </p:nvGraphicFramePr>
        <p:xfrm>
          <a:off x="2352675" y="2757488"/>
          <a:ext cx="235267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70" name="Equation" r:id="rId5" imgW="1726451" imgH="672808" progId="Equation.DSMT4">
                  <p:embed/>
                </p:oleObj>
              </mc:Choice>
              <mc:Fallback>
                <p:oleObj name="Equation" r:id="rId5" imgW="1726451" imgH="67280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2757488"/>
                        <a:ext cx="235267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Line 12"/>
          <p:cNvSpPr>
            <a:spLocks noChangeShapeType="1"/>
          </p:cNvSpPr>
          <p:nvPr/>
        </p:nvSpPr>
        <p:spPr bwMode="auto">
          <a:xfrm>
            <a:off x="1887538" y="3240088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2433638" y="3541713"/>
          <a:ext cx="23606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71" name="Equation" r:id="rId7" imgW="1637589" imgH="672808" progId="Equation.DSMT4">
                  <p:embed/>
                </p:oleObj>
              </mc:Choice>
              <mc:Fallback>
                <p:oleObj name="Equation" r:id="rId7" imgW="1637589" imgH="672808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3541713"/>
                        <a:ext cx="236061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4" name="Line 14"/>
          <p:cNvSpPr>
            <a:spLocks noChangeShapeType="1"/>
          </p:cNvSpPr>
          <p:nvPr/>
        </p:nvSpPr>
        <p:spPr bwMode="auto">
          <a:xfrm>
            <a:off x="1763713" y="401796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5" name="Rectangle 15"/>
          <p:cNvSpPr>
            <a:spLocks noChangeArrowheads="1"/>
          </p:cNvSpPr>
          <p:nvPr/>
        </p:nvSpPr>
        <p:spPr bwMode="auto">
          <a:xfrm>
            <a:off x="4967288" y="3736975"/>
            <a:ext cx="1979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</a:t>
            </a:r>
          </a:p>
        </p:txBody>
      </p:sp>
      <p:graphicFrame>
        <p:nvGraphicFramePr>
          <p:cNvPr id="15376" name="Object 16"/>
          <p:cNvGraphicFramePr>
            <a:graphicFrameLocks noChangeAspect="1"/>
          </p:cNvGraphicFramePr>
          <p:nvPr/>
        </p:nvGraphicFramePr>
        <p:xfrm>
          <a:off x="1808163" y="5284788"/>
          <a:ext cx="2592387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72" name="Equation" r:id="rId9" imgW="2463800" imgH="673100" progId="Equation.DSMT4">
                  <p:embed/>
                </p:oleObj>
              </mc:Choice>
              <mc:Fallback>
                <p:oleObj name="Equation" r:id="rId9" imgW="2463800" imgH="6731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5284788"/>
                        <a:ext cx="2592387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Object 17"/>
          <p:cNvGraphicFramePr>
            <a:graphicFrameLocks noChangeAspect="1"/>
          </p:cNvGraphicFramePr>
          <p:nvPr/>
        </p:nvGraphicFramePr>
        <p:xfrm>
          <a:off x="4862513" y="5189538"/>
          <a:ext cx="24590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73" name="Equation" r:id="rId11" imgW="1866900" imgH="622300" progId="Equation.DSMT4">
                  <p:embed/>
                </p:oleObj>
              </mc:Choice>
              <mc:Fallback>
                <p:oleObj name="Equation" r:id="rId11" imgW="1866900" imgH="6223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5189538"/>
                        <a:ext cx="245903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Rectangle 18"/>
          <p:cNvSpPr>
            <a:spLocks noChangeArrowheads="1"/>
          </p:cNvSpPr>
          <p:nvPr/>
        </p:nvSpPr>
        <p:spPr bwMode="auto">
          <a:xfrm>
            <a:off x="1781175" y="6092825"/>
            <a:ext cx="2601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个“半波带”</a:t>
            </a:r>
          </a:p>
        </p:txBody>
      </p:sp>
      <p:sp>
        <p:nvSpPr>
          <p:cNvPr id="15385" name="Line 25"/>
          <p:cNvSpPr>
            <a:spLocks noChangeShapeType="1"/>
          </p:cNvSpPr>
          <p:nvPr/>
        </p:nvSpPr>
        <p:spPr bwMode="auto">
          <a:xfrm>
            <a:off x="6627813" y="2011363"/>
            <a:ext cx="152400" cy="49212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6084888" y="1363663"/>
            <a:ext cx="2293937" cy="2209800"/>
            <a:chOff x="4292" y="528"/>
            <a:chExt cx="1351" cy="1056"/>
          </a:xfrm>
        </p:grpSpPr>
        <p:sp>
          <p:nvSpPr>
            <p:cNvPr id="29716" name="Line 27"/>
            <p:cNvSpPr>
              <a:spLocks noChangeShapeType="1"/>
            </p:cNvSpPr>
            <p:nvPr/>
          </p:nvSpPr>
          <p:spPr bwMode="auto">
            <a:xfrm>
              <a:off x="4606" y="564"/>
              <a:ext cx="0" cy="30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7" name="Line 28"/>
            <p:cNvSpPr>
              <a:spLocks noChangeShapeType="1"/>
            </p:cNvSpPr>
            <p:nvPr/>
          </p:nvSpPr>
          <p:spPr bwMode="auto">
            <a:xfrm>
              <a:off x="4606" y="1104"/>
              <a:ext cx="0" cy="30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8" name="Oval 29"/>
            <p:cNvSpPr>
              <a:spLocks noChangeArrowheads="1"/>
            </p:cNvSpPr>
            <p:nvPr/>
          </p:nvSpPr>
          <p:spPr bwMode="auto">
            <a:xfrm>
              <a:off x="4829" y="624"/>
              <a:ext cx="55" cy="7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9719" name="Line 30"/>
            <p:cNvSpPr>
              <a:spLocks noChangeShapeType="1"/>
            </p:cNvSpPr>
            <p:nvPr/>
          </p:nvSpPr>
          <p:spPr bwMode="auto">
            <a:xfrm>
              <a:off x="5328" y="528"/>
              <a:ext cx="0" cy="91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0" name="Line 31"/>
            <p:cNvSpPr>
              <a:spLocks noChangeShapeType="1"/>
            </p:cNvSpPr>
            <p:nvPr/>
          </p:nvSpPr>
          <p:spPr bwMode="auto">
            <a:xfrm>
              <a:off x="4606" y="984"/>
              <a:ext cx="947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1" name="Line 32"/>
            <p:cNvSpPr>
              <a:spLocks noChangeShapeType="1"/>
            </p:cNvSpPr>
            <p:nvPr/>
          </p:nvSpPr>
          <p:spPr bwMode="auto">
            <a:xfrm flipV="1">
              <a:off x="4829" y="804"/>
              <a:ext cx="501" cy="18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2" name="Line 33"/>
            <p:cNvSpPr>
              <a:spLocks noChangeShapeType="1"/>
            </p:cNvSpPr>
            <p:nvPr/>
          </p:nvSpPr>
          <p:spPr bwMode="auto">
            <a:xfrm>
              <a:off x="4495" y="86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3" name="Line 34"/>
            <p:cNvSpPr>
              <a:spLocks noChangeShapeType="1"/>
            </p:cNvSpPr>
            <p:nvPr/>
          </p:nvSpPr>
          <p:spPr bwMode="auto">
            <a:xfrm>
              <a:off x="4495" y="110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4" name="Line 35"/>
            <p:cNvSpPr>
              <a:spLocks noChangeShapeType="1"/>
            </p:cNvSpPr>
            <p:nvPr/>
          </p:nvSpPr>
          <p:spPr bwMode="auto">
            <a:xfrm>
              <a:off x="4550" y="864"/>
              <a:ext cx="0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5" name="Line 36"/>
            <p:cNvSpPr>
              <a:spLocks noChangeShapeType="1"/>
            </p:cNvSpPr>
            <p:nvPr/>
          </p:nvSpPr>
          <p:spPr bwMode="auto">
            <a:xfrm>
              <a:off x="4884" y="1344"/>
              <a:ext cx="446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9726" name="Object 37"/>
            <p:cNvGraphicFramePr>
              <a:graphicFrameLocks noChangeAspect="1"/>
            </p:cNvGraphicFramePr>
            <p:nvPr/>
          </p:nvGraphicFramePr>
          <p:xfrm>
            <a:off x="4292" y="886"/>
            <a:ext cx="16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74" name="Equation" r:id="rId13" imgW="101468" imgH="114151" progId="Equation.DSMT4">
                    <p:embed/>
                  </p:oleObj>
                </mc:Choice>
                <mc:Fallback>
                  <p:oleObj name="Equation" r:id="rId13" imgW="101468" imgH="114151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2" y="886"/>
                          <a:ext cx="160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7" name="Object 38"/>
            <p:cNvGraphicFramePr>
              <a:graphicFrameLocks noChangeAspect="1"/>
            </p:cNvGraphicFramePr>
            <p:nvPr/>
          </p:nvGraphicFramePr>
          <p:xfrm>
            <a:off x="5348" y="591"/>
            <a:ext cx="170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75" name="Equation" r:id="rId15" imgW="126725" imgH="126725" progId="Equation.DSMT4">
                    <p:embed/>
                  </p:oleObj>
                </mc:Choice>
                <mc:Fallback>
                  <p:oleObj name="Equation" r:id="rId15" imgW="126725" imgH="126725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8" y="591"/>
                          <a:ext cx="170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8" name="Object 39"/>
            <p:cNvGraphicFramePr>
              <a:graphicFrameLocks noChangeAspect="1"/>
            </p:cNvGraphicFramePr>
            <p:nvPr/>
          </p:nvGraphicFramePr>
          <p:xfrm>
            <a:off x="4996" y="1344"/>
            <a:ext cx="16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76" name="Equation" r:id="rId17" imgW="152268" imgH="203024" progId="Equation.DSMT4">
                    <p:embed/>
                  </p:oleObj>
                </mc:Choice>
                <mc:Fallback>
                  <p:oleObj name="Equation" r:id="rId17" imgW="152268" imgH="203024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6" y="1344"/>
                          <a:ext cx="16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9" name="Line 40"/>
            <p:cNvSpPr>
              <a:spLocks noChangeShapeType="1"/>
            </p:cNvSpPr>
            <p:nvPr/>
          </p:nvSpPr>
          <p:spPr bwMode="auto">
            <a:xfrm flipV="1">
              <a:off x="4606" y="804"/>
              <a:ext cx="223" cy="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0" name="Line 41"/>
            <p:cNvSpPr>
              <a:spLocks noChangeShapeType="1"/>
            </p:cNvSpPr>
            <p:nvPr/>
          </p:nvSpPr>
          <p:spPr bwMode="auto">
            <a:xfrm flipV="1">
              <a:off x="4606" y="1044"/>
              <a:ext cx="223" cy="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1" name="Line 42"/>
            <p:cNvSpPr>
              <a:spLocks noChangeShapeType="1"/>
            </p:cNvSpPr>
            <p:nvPr/>
          </p:nvSpPr>
          <p:spPr bwMode="auto">
            <a:xfrm>
              <a:off x="4829" y="804"/>
              <a:ext cx="501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2" name="Line 43"/>
            <p:cNvSpPr>
              <a:spLocks noChangeShapeType="1"/>
            </p:cNvSpPr>
            <p:nvPr/>
          </p:nvSpPr>
          <p:spPr bwMode="auto">
            <a:xfrm flipV="1">
              <a:off x="4829" y="804"/>
              <a:ext cx="501" cy="24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3" name="Line 44"/>
            <p:cNvSpPr>
              <a:spLocks noChangeShapeType="1"/>
            </p:cNvSpPr>
            <p:nvPr/>
          </p:nvSpPr>
          <p:spPr bwMode="auto">
            <a:xfrm>
              <a:off x="5330" y="80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4" name="Line 45"/>
            <p:cNvSpPr>
              <a:spLocks noChangeShapeType="1"/>
            </p:cNvSpPr>
            <p:nvPr/>
          </p:nvSpPr>
          <p:spPr bwMode="auto">
            <a:xfrm>
              <a:off x="5441" y="804"/>
              <a:ext cx="0" cy="18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9735" name="Object 46"/>
            <p:cNvGraphicFramePr>
              <a:graphicFrameLocks noChangeAspect="1"/>
            </p:cNvGraphicFramePr>
            <p:nvPr/>
          </p:nvGraphicFramePr>
          <p:xfrm>
            <a:off x="5461" y="825"/>
            <a:ext cx="182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77" name="Equation" r:id="rId19" imgW="114102" imgH="114102" progId="Equation.DSMT4">
                    <p:embed/>
                  </p:oleObj>
                </mc:Choice>
                <mc:Fallback>
                  <p:oleObj name="Equation" r:id="rId19" imgW="114102" imgH="114102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1" y="825"/>
                          <a:ext cx="182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6" name="Object 47"/>
            <p:cNvGraphicFramePr>
              <a:graphicFrameLocks noChangeAspect="1"/>
            </p:cNvGraphicFramePr>
            <p:nvPr/>
          </p:nvGraphicFramePr>
          <p:xfrm>
            <a:off x="5089" y="864"/>
            <a:ext cx="13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78" name="Equation" r:id="rId21" imgW="126725" imgH="177415" progId="Equation.DSMT4">
                    <p:embed/>
                  </p:oleObj>
                </mc:Choice>
                <mc:Fallback>
                  <p:oleObj name="Equation" r:id="rId21" imgW="126725" imgH="177415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9" y="864"/>
                          <a:ext cx="13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7" name="Arc 48"/>
            <p:cNvSpPr>
              <a:spLocks/>
            </p:cNvSpPr>
            <p:nvPr/>
          </p:nvSpPr>
          <p:spPr bwMode="auto">
            <a:xfrm>
              <a:off x="5040" y="912"/>
              <a:ext cx="48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8" name="Line 49"/>
            <p:cNvSpPr>
              <a:spLocks noChangeShapeType="1"/>
            </p:cNvSpPr>
            <p:nvPr/>
          </p:nvSpPr>
          <p:spPr bwMode="auto">
            <a:xfrm>
              <a:off x="4608" y="864"/>
              <a:ext cx="0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715" name="Text Box 61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  <a:endParaRPr lang="en-US" altLang="zh-CN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950"/>
                            </p:stCondLst>
                            <p:childTnLst>
                              <p:par>
                                <p:cTn id="1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45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95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75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363" grpId="0" autoUpdateAnimBg="0"/>
      <p:bldP spid="15364" grpId="0" autoUpdateAnimBg="0"/>
      <p:bldP spid="15365" grpId="0" autoUpdateAnimBg="0"/>
      <p:bldP spid="15366" grpId="0" autoUpdateAnimBg="0"/>
      <p:bldP spid="15370" grpId="0" autoUpdateAnimBg="0"/>
      <p:bldP spid="15372" grpId="0" animBg="1"/>
      <p:bldP spid="15374" grpId="0" animBg="1"/>
      <p:bldP spid="15375" grpId="0" autoUpdateAnimBg="0"/>
      <p:bldP spid="15378" grpId="0" autoUpdateAnimBg="0"/>
      <p:bldP spid="1538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450013" y="223838"/>
            <a:ext cx="2293937" cy="23320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539750" y="404813"/>
            <a:ext cx="4752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点的相对光强？</a:t>
            </a:r>
          </a:p>
        </p:txBody>
      </p:sp>
      <p:sp>
        <p:nvSpPr>
          <p:cNvPr id="50186" name="Text Box 10"/>
          <p:cNvSpPr txBox="1">
            <a:spLocks noChangeArrowheads="1"/>
          </p:cNvSpPr>
          <p:nvPr/>
        </p:nvSpPr>
        <p:spPr bwMode="auto">
          <a:xfrm>
            <a:off x="539750" y="2924175"/>
            <a:ext cx="7443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）将缝宽增加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倍，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点将变为什么条纹？</a:t>
            </a:r>
          </a:p>
        </p:txBody>
      </p:sp>
      <p:graphicFrame>
        <p:nvGraphicFramePr>
          <p:cNvPr id="50197" name="Object 21"/>
          <p:cNvGraphicFramePr>
            <a:graphicFrameLocks noChangeAspect="1"/>
          </p:cNvGraphicFramePr>
          <p:nvPr/>
        </p:nvGraphicFramePr>
        <p:xfrm>
          <a:off x="1620838" y="1117600"/>
          <a:ext cx="13620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0" name="Equation" r:id="rId3" imgW="850531" imgH="279279" progId="Equation.DSMT4">
                  <p:embed/>
                </p:oleObj>
              </mc:Choice>
              <mc:Fallback>
                <p:oleObj name="Equation" r:id="rId3" imgW="850531" imgH="279279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1117600"/>
                        <a:ext cx="13620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8" name="Object 22"/>
          <p:cNvGraphicFramePr>
            <a:graphicFrameLocks noChangeAspect="1"/>
          </p:cNvGraphicFramePr>
          <p:nvPr/>
        </p:nvGraphicFramePr>
        <p:xfrm>
          <a:off x="1565275" y="1731963"/>
          <a:ext cx="3090863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1" name="Equation" r:id="rId5" imgW="3314700" imgH="1028700" progId="Equation.DSMT4">
                  <p:embed/>
                </p:oleObj>
              </mc:Choice>
              <mc:Fallback>
                <p:oleObj name="Equation" r:id="rId5" imgW="3314700" imgH="10287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1731963"/>
                        <a:ext cx="3090863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0" name="Object 24"/>
          <p:cNvGraphicFramePr>
            <a:graphicFrameLocks noChangeAspect="1"/>
          </p:cNvGraphicFramePr>
          <p:nvPr/>
        </p:nvGraphicFramePr>
        <p:xfrm>
          <a:off x="2047875" y="3811588"/>
          <a:ext cx="143986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2" name="Equation" r:id="rId7" imgW="1231366" imgH="330057" progId="Equation.DSMT4">
                  <p:embed/>
                </p:oleObj>
              </mc:Choice>
              <mc:Fallback>
                <p:oleObj name="Equation" r:id="rId7" imgW="1231366" imgH="330057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3811588"/>
                        <a:ext cx="1439863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1" name="Rectangle 25"/>
          <p:cNvSpPr>
            <a:spLocks noChangeArrowheads="1"/>
          </p:cNvSpPr>
          <p:nvPr/>
        </p:nvSpPr>
        <p:spPr bwMode="auto">
          <a:xfrm>
            <a:off x="1574800" y="4518025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级暗纹</a:t>
            </a:r>
          </a:p>
        </p:txBody>
      </p:sp>
      <p:graphicFrame>
        <p:nvGraphicFramePr>
          <p:cNvPr id="50236" name="Object 60"/>
          <p:cNvGraphicFramePr>
            <a:graphicFrameLocks noChangeAspect="1"/>
          </p:cNvGraphicFramePr>
          <p:nvPr/>
        </p:nvGraphicFramePr>
        <p:xfrm>
          <a:off x="3201988" y="908050"/>
          <a:ext cx="1217612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3" name="Equation" r:id="rId9" imgW="812447" imgH="622030" progId="Equation.DSMT4">
                  <p:embed/>
                </p:oleObj>
              </mc:Choice>
              <mc:Fallback>
                <p:oleObj name="Equation" r:id="rId9" imgW="812447" imgH="62203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1988" y="908050"/>
                        <a:ext cx="1217612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63" name="Object 87"/>
          <p:cNvGraphicFramePr>
            <a:graphicFrameLocks noChangeAspect="1"/>
          </p:cNvGraphicFramePr>
          <p:nvPr/>
        </p:nvGraphicFramePr>
        <p:xfrm>
          <a:off x="3635375" y="3676650"/>
          <a:ext cx="180022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4" name="Equation" r:id="rId11" imgW="1701800" imgH="673100" progId="Equation.DSMT4">
                  <p:embed/>
                </p:oleObj>
              </mc:Choice>
              <mc:Fallback>
                <p:oleObj name="Equation" r:id="rId11" imgW="1701800" imgH="673100" progId="Equation.DSMT4">
                  <p:embed/>
                  <p:pic>
                    <p:nvPicPr>
                      <p:cNvPr id="0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676650"/>
                        <a:ext cx="180022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1" name="Text Box 88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16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6453188" y="346075"/>
            <a:ext cx="2293937" cy="2209800"/>
            <a:chOff x="4292" y="528"/>
            <a:chExt cx="1351" cy="1056"/>
          </a:xfrm>
        </p:grpSpPr>
        <p:sp>
          <p:nvSpPr>
            <p:cNvPr id="30734" name="Line 27"/>
            <p:cNvSpPr>
              <a:spLocks noChangeShapeType="1"/>
            </p:cNvSpPr>
            <p:nvPr/>
          </p:nvSpPr>
          <p:spPr bwMode="auto">
            <a:xfrm>
              <a:off x="4606" y="564"/>
              <a:ext cx="0" cy="30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5" name="Line 28"/>
            <p:cNvSpPr>
              <a:spLocks noChangeShapeType="1"/>
            </p:cNvSpPr>
            <p:nvPr/>
          </p:nvSpPr>
          <p:spPr bwMode="auto">
            <a:xfrm>
              <a:off x="4606" y="1104"/>
              <a:ext cx="0" cy="30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6" name="Oval 29"/>
            <p:cNvSpPr>
              <a:spLocks noChangeArrowheads="1"/>
            </p:cNvSpPr>
            <p:nvPr/>
          </p:nvSpPr>
          <p:spPr bwMode="auto">
            <a:xfrm>
              <a:off x="4829" y="624"/>
              <a:ext cx="55" cy="7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0737" name="Line 30"/>
            <p:cNvSpPr>
              <a:spLocks noChangeShapeType="1"/>
            </p:cNvSpPr>
            <p:nvPr/>
          </p:nvSpPr>
          <p:spPr bwMode="auto">
            <a:xfrm>
              <a:off x="5328" y="528"/>
              <a:ext cx="0" cy="91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8" name="Line 31"/>
            <p:cNvSpPr>
              <a:spLocks noChangeShapeType="1"/>
            </p:cNvSpPr>
            <p:nvPr/>
          </p:nvSpPr>
          <p:spPr bwMode="auto">
            <a:xfrm>
              <a:off x="4606" y="984"/>
              <a:ext cx="947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9" name="Line 32"/>
            <p:cNvSpPr>
              <a:spLocks noChangeShapeType="1"/>
            </p:cNvSpPr>
            <p:nvPr/>
          </p:nvSpPr>
          <p:spPr bwMode="auto">
            <a:xfrm flipV="1">
              <a:off x="4829" y="804"/>
              <a:ext cx="501" cy="18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0" name="Line 33"/>
            <p:cNvSpPr>
              <a:spLocks noChangeShapeType="1"/>
            </p:cNvSpPr>
            <p:nvPr/>
          </p:nvSpPr>
          <p:spPr bwMode="auto">
            <a:xfrm>
              <a:off x="4495" y="86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1" name="Line 34"/>
            <p:cNvSpPr>
              <a:spLocks noChangeShapeType="1"/>
            </p:cNvSpPr>
            <p:nvPr/>
          </p:nvSpPr>
          <p:spPr bwMode="auto">
            <a:xfrm>
              <a:off x="4495" y="110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2" name="Line 35"/>
            <p:cNvSpPr>
              <a:spLocks noChangeShapeType="1"/>
            </p:cNvSpPr>
            <p:nvPr/>
          </p:nvSpPr>
          <p:spPr bwMode="auto">
            <a:xfrm>
              <a:off x="4550" y="864"/>
              <a:ext cx="0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3" name="Line 36"/>
            <p:cNvSpPr>
              <a:spLocks noChangeShapeType="1"/>
            </p:cNvSpPr>
            <p:nvPr/>
          </p:nvSpPr>
          <p:spPr bwMode="auto">
            <a:xfrm>
              <a:off x="4884" y="1344"/>
              <a:ext cx="446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44" name="Object 37"/>
            <p:cNvGraphicFramePr>
              <a:graphicFrameLocks noChangeAspect="1"/>
            </p:cNvGraphicFramePr>
            <p:nvPr/>
          </p:nvGraphicFramePr>
          <p:xfrm>
            <a:off x="4292" y="886"/>
            <a:ext cx="16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5" name="Equation" r:id="rId13" imgW="101468" imgH="114151" progId="Equation.DSMT4">
                    <p:embed/>
                  </p:oleObj>
                </mc:Choice>
                <mc:Fallback>
                  <p:oleObj name="Equation" r:id="rId13" imgW="101468" imgH="114151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2" y="886"/>
                          <a:ext cx="160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5" name="Object 38"/>
            <p:cNvGraphicFramePr>
              <a:graphicFrameLocks noChangeAspect="1"/>
            </p:cNvGraphicFramePr>
            <p:nvPr/>
          </p:nvGraphicFramePr>
          <p:xfrm>
            <a:off x="5348" y="591"/>
            <a:ext cx="170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6" name="Equation" r:id="rId15" imgW="126725" imgH="126725" progId="Equation.DSMT4">
                    <p:embed/>
                  </p:oleObj>
                </mc:Choice>
                <mc:Fallback>
                  <p:oleObj name="Equation" r:id="rId15" imgW="126725" imgH="126725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8" y="591"/>
                          <a:ext cx="170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6" name="Object 39"/>
            <p:cNvGraphicFramePr>
              <a:graphicFrameLocks noChangeAspect="1"/>
            </p:cNvGraphicFramePr>
            <p:nvPr/>
          </p:nvGraphicFramePr>
          <p:xfrm>
            <a:off x="4996" y="1344"/>
            <a:ext cx="16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7" name="Equation" r:id="rId17" imgW="152268" imgH="203024" progId="Equation.DSMT4">
                    <p:embed/>
                  </p:oleObj>
                </mc:Choice>
                <mc:Fallback>
                  <p:oleObj name="Equation" r:id="rId17" imgW="152268" imgH="203024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6" y="1344"/>
                          <a:ext cx="16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7" name="Line 40"/>
            <p:cNvSpPr>
              <a:spLocks noChangeShapeType="1"/>
            </p:cNvSpPr>
            <p:nvPr/>
          </p:nvSpPr>
          <p:spPr bwMode="auto">
            <a:xfrm flipV="1">
              <a:off x="4606" y="804"/>
              <a:ext cx="223" cy="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8" name="Line 41"/>
            <p:cNvSpPr>
              <a:spLocks noChangeShapeType="1"/>
            </p:cNvSpPr>
            <p:nvPr/>
          </p:nvSpPr>
          <p:spPr bwMode="auto">
            <a:xfrm flipV="1">
              <a:off x="4606" y="1044"/>
              <a:ext cx="223" cy="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9" name="Line 42"/>
            <p:cNvSpPr>
              <a:spLocks noChangeShapeType="1"/>
            </p:cNvSpPr>
            <p:nvPr/>
          </p:nvSpPr>
          <p:spPr bwMode="auto">
            <a:xfrm>
              <a:off x="4829" y="804"/>
              <a:ext cx="501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0" name="Line 43"/>
            <p:cNvSpPr>
              <a:spLocks noChangeShapeType="1"/>
            </p:cNvSpPr>
            <p:nvPr/>
          </p:nvSpPr>
          <p:spPr bwMode="auto">
            <a:xfrm flipV="1">
              <a:off x="4829" y="804"/>
              <a:ext cx="501" cy="24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1" name="Line 44"/>
            <p:cNvSpPr>
              <a:spLocks noChangeShapeType="1"/>
            </p:cNvSpPr>
            <p:nvPr/>
          </p:nvSpPr>
          <p:spPr bwMode="auto">
            <a:xfrm>
              <a:off x="5330" y="80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2" name="Line 45"/>
            <p:cNvSpPr>
              <a:spLocks noChangeShapeType="1"/>
            </p:cNvSpPr>
            <p:nvPr/>
          </p:nvSpPr>
          <p:spPr bwMode="auto">
            <a:xfrm>
              <a:off x="5441" y="804"/>
              <a:ext cx="0" cy="18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53" name="Object 46"/>
            <p:cNvGraphicFramePr>
              <a:graphicFrameLocks noChangeAspect="1"/>
            </p:cNvGraphicFramePr>
            <p:nvPr/>
          </p:nvGraphicFramePr>
          <p:xfrm>
            <a:off x="5461" y="825"/>
            <a:ext cx="182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8" name="Equation" r:id="rId19" imgW="114102" imgH="114102" progId="Equation.DSMT4">
                    <p:embed/>
                  </p:oleObj>
                </mc:Choice>
                <mc:Fallback>
                  <p:oleObj name="Equation" r:id="rId19" imgW="114102" imgH="114102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1" y="825"/>
                          <a:ext cx="182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4" name="Object 47"/>
            <p:cNvGraphicFramePr>
              <a:graphicFrameLocks noChangeAspect="1"/>
            </p:cNvGraphicFramePr>
            <p:nvPr/>
          </p:nvGraphicFramePr>
          <p:xfrm>
            <a:off x="5089" y="864"/>
            <a:ext cx="13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9" name="Equation" r:id="rId21" imgW="126725" imgH="177415" progId="Equation.DSMT4">
                    <p:embed/>
                  </p:oleObj>
                </mc:Choice>
                <mc:Fallback>
                  <p:oleObj name="Equation" r:id="rId21" imgW="126725" imgH="177415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9" y="864"/>
                          <a:ext cx="13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5" name="Arc 48"/>
            <p:cNvSpPr>
              <a:spLocks/>
            </p:cNvSpPr>
            <p:nvPr/>
          </p:nvSpPr>
          <p:spPr bwMode="auto">
            <a:xfrm>
              <a:off x="5040" y="912"/>
              <a:ext cx="48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6" name="Line 49"/>
            <p:cNvSpPr>
              <a:spLocks noChangeShapeType="1"/>
            </p:cNvSpPr>
            <p:nvPr/>
          </p:nvSpPr>
          <p:spPr bwMode="auto">
            <a:xfrm>
              <a:off x="4608" y="864"/>
              <a:ext cx="0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8" name="Object 21"/>
          <p:cNvGraphicFramePr>
            <a:graphicFrameLocks noChangeAspect="1"/>
          </p:cNvGraphicFramePr>
          <p:nvPr/>
        </p:nvGraphicFramePr>
        <p:xfrm>
          <a:off x="4756150" y="1912938"/>
          <a:ext cx="15049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0" name="Equation" r:id="rId23" imgW="939392" imgH="241195" progId="Equation.DSMT4">
                  <p:embed/>
                </p:oleObj>
              </mc:Choice>
              <mc:Fallback>
                <p:oleObj name="Equation" r:id="rId23" imgW="939392" imgH="241195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0" y="1912938"/>
                        <a:ext cx="15049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0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0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5" grpId="0" autoUpdateAnimBg="0"/>
      <p:bldP spid="50186" grpId="0" autoUpdateAnimBg="0"/>
      <p:bldP spid="5020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2388" y="682625"/>
            <a:ext cx="4651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惠更斯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—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菲涅耳原理</a:t>
            </a:r>
          </a:p>
        </p:txBody>
      </p:sp>
      <p:sp>
        <p:nvSpPr>
          <p:cNvPr id="31747" name="Text Box 74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26</a:t>
            </a:r>
            <a:endParaRPr lang="en-US" altLang="zh-CN" sz="18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1748" name="Rectangle 2"/>
          <p:cNvSpPr>
            <a:spLocks noChangeArrowheads="1"/>
          </p:cNvSpPr>
          <p:nvPr/>
        </p:nvSpPr>
        <p:spPr bwMode="auto">
          <a:xfrm>
            <a:off x="3565525" y="107950"/>
            <a:ext cx="2560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108" name="Rectangle 41"/>
          <p:cNvSpPr>
            <a:spLocks noChangeArrowheads="1"/>
          </p:cNvSpPr>
          <p:nvPr/>
        </p:nvSpPr>
        <p:spPr bwMode="auto">
          <a:xfrm>
            <a:off x="112713" y="1227138"/>
            <a:ext cx="2725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点的合振动</a:t>
            </a:r>
          </a:p>
        </p:txBody>
      </p:sp>
      <p:graphicFrame>
        <p:nvGraphicFramePr>
          <p:cNvPr id="109" name="Object 44"/>
          <p:cNvGraphicFramePr>
            <a:graphicFrameLocks noChangeAspect="1"/>
          </p:cNvGraphicFramePr>
          <p:nvPr/>
        </p:nvGraphicFramePr>
        <p:xfrm>
          <a:off x="179388" y="1647825"/>
          <a:ext cx="5335587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1" name="Equation" r:id="rId3" imgW="2616120" imgH="444240" progId="Equation.DSMT4">
                  <p:embed/>
                </p:oleObj>
              </mc:Choice>
              <mc:Fallback>
                <p:oleObj name="Equation" r:id="rId3" imgW="26161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647825"/>
                        <a:ext cx="5335587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" name="Group 48"/>
          <p:cNvGrpSpPr>
            <a:grpSpLocks/>
          </p:cNvGrpSpPr>
          <p:nvPr/>
        </p:nvGrpSpPr>
        <p:grpSpPr bwMode="auto">
          <a:xfrm>
            <a:off x="2266950" y="1217613"/>
            <a:ext cx="3800475" cy="519112"/>
            <a:chOff x="1910" y="3400"/>
            <a:chExt cx="1951" cy="327"/>
          </a:xfrm>
        </p:grpSpPr>
        <p:sp>
          <p:nvSpPr>
            <p:cNvPr id="31802" name="Line 49"/>
            <p:cNvSpPr>
              <a:spLocks noChangeShapeType="1"/>
            </p:cNvSpPr>
            <p:nvPr/>
          </p:nvSpPr>
          <p:spPr bwMode="auto">
            <a:xfrm>
              <a:off x="1910" y="3600"/>
              <a:ext cx="248" cy="0"/>
            </a:xfrm>
            <a:prstGeom prst="line">
              <a:avLst/>
            </a:prstGeom>
            <a:noFill/>
            <a:ln w="28575">
              <a:solidFill>
                <a:srgbClr val="EE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Rectangle 50"/>
            <p:cNvSpPr>
              <a:spLocks noChangeArrowheads="1"/>
            </p:cNvSpPr>
            <p:nvPr/>
          </p:nvSpPr>
          <p:spPr bwMode="auto">
            <a:xfrm>
              <a:off x="2170" y="3400"/>
              <a:ext cx="16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kumimoji="1" lang="zh-CN" altLang="en-US" sz="2800" b="1" dirty="0">
                  <a:solidFill>
                    <a:schemeClr val="tx1"/>
                  </a:solidFill>
                  <a:latin typeface="+mn-ea"/>
                  <a:ea typeface="+mn-ea"/>
                </a:rPr>
                <a:t>菲涅耳衍射公式</a:t>
              </a:r>
            </a:p>
          </p:txBody>
        </p:sp>
      </p:grpSp>
      <p:sp>
        <p:nvSpPr>
          <p:cNvPr id="113" name="Rectangle 2"/>
          <p:cNvSpPr>
            <a:spLocks noChangeArrowheads="1"/>
          </p:cNvSpPr>
          <p:nvPr/>
        </p:nvSpPr>
        <p:spPr bwMode="auto">
          <a:xfrm>
            <a:off x="68263" y="2682875"/>
            <a:ext cx="37449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单缝夫琅禾费衍射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7641" y="462112"/>
            <a:ext cx="2530045" cy="2258496"/>
          </a:xfrm>
          <a:prstGeom prst="rect">
            <a:avLst/>
          </a:prstGeom>
        </p:spPr>
      </p:pic>
      <p:pic>
        <p:nvPicPr>
          <p:cNvPr id="60" name="Picture 4" descr="18-6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53217" y="3257904"/>
            <a:ext cx="5976110" cy="348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84623800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108" grpId="0"/>
      <p:bldP spid="1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125413" y="656147"/>
            <a:ext cx="6343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明暗条件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菲涅耳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半波带法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592138" y="1191199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先考虑一束特殊的光线</a:t>
            </a:r>
            <a:endParaRPr kumimoji="1"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1666875" y="6149975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可以判断：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处为</a:t>
            </a:r>
            <a:endParaRPr kumimoji="1" lang="zh-CN" altLang="en-US" sz="20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63" name="Rectangle 47"/>
          <p:cNvSpPr>
            <a:spLocks noChangeArrowheads="1"/>
          </p:cNvSpPr>
          <p:nvPr/>
        </p:nvSpPr>
        <p:spPr bwMode="auto">
          <a:xfrm>
            <a:off x="4529138" y="6157913"/>
            <a:ext cx="2328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一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暗纹</a:t>
            </a:r>
          </a:p>
        </p:txBody>
      </p:sp>
      <p:sp>
        <p:nvSpPr>
          <p:cNvPr id="16417" name="Text Box 62"/>
          <p:cNvSpPr txBox="1">
            <a:spLocks noChangeArrowheads="1"/>
          </p:cNvSpPr>
          <p:nvPr/>
        </p:nvSpPr>
        <p:spPr bwMode="auto">
          <a:xfrm>
            <a:off x="8802688" y="63928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52" name="Rectangle 19"/>
          <p:cNvSpPr>
            <a:spLocks noChangeArrowheads="1"/>
          </p:cNvSpPr>
          <p:nvPr/>
        </p:nvSpPr>
        <p:spPr bwMode="auto">
          <a:xfrm>
            <a:off x="592138" y="1786511"/>
            <a:ext cx="5410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衍射角</a:t>
            </a:r>
            <a:r>
              <a:rPr kumimoji="1" lang="en-US" altLang="zh-CN" sz="2800" b="1" i="1" dirty="0">
                <a:solidFill>
                  <a:schemeClr val="tx1"/>
                </a:solidFill>
                <a:latin typeface="Symbol" panose="05050102010706020507" pitchFamily="18" charset="2"/>
              </a:rPr>
              <a:t>q</a:t>
            </a:r>
            <a:endParaRPr kumimoji="1" lang="en-US" altLang="zh-CN" sz="2800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217988" y="5145088"/>
            <a:ext cx="29514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2|</a:t>
            </a:r>
            <a:r>
              <a:rPr lang="en-US" altLang="zh-CN" sz="2800" b="1" i="1" dirty="0">
                <a:solidFill>
                  <a:schemeClr val="tx1"/>
                </a:solidFill>
              </a:rPr>
              <a:t>k|</a:t>
            </a:r>
            <a:r>
              <a:rPr lang="zh-CN" altLang="en-US" sz="2800" b="1" dirty="0">
                <a:solidFill>
                  <a:schemeClr val="tx1"/>
                </a:solidFill>
              </a:rPr>
              <a:t>个“</a:t>
            </a:r>
            <a:r>
              <a:rPr lang="zh-CN" altLang="en-US" sz="2800" b="1" dirty="0">
                <a:solidFill>
                  <a:srgbClr val="0000CC"/>
                </a:solidFill>
              </a:rPr>
              <a:t>半波带</a:t>
            </a:r>
            <a:r>
              <a:rPr lang="zh-CN" altLang="en-US" sz="2800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54" name="Rectangle 18"/>
          <p:cNvSpPr>
            <a:spLocks noChangeArrowheads="1"/>
          </p:cNvSpPr>
          <p:nvPr/>
        </p:nvSpPr>
        <p:spPr bwMode="auto">
          <a:xfrm>
            <a:off x="4922191" y="616744"/>
            <a:ext cx="2043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重点！！！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2294508-4148-460F-B6E5-620CEEE4E793}"/>
              </a:ext>
            </a:extLst>
          </p:cNvPr>
          <p:cNvGrpSpPr/>
          <p:nvPr/>
        </p:nvGrpSpPr>
        <p:grpSpPr>
          <a:xfrm>
            <a:off x="1039246" y="878681"/>
            <a:ext cx="6357484" cy="5348514"/>
            <a:chOff x="1012825" y="944563"/>
            <a:chExt cx="6357484" cy="5348514"/>
          </a:xfrm>
        </p:grpSpPr>
        <p:sp>
          <p:nvSpPr>
            <p:cNvPr id="9218" name="Oval 2"/>
            <p:cNvSpPr>
              <a:spLocks noChangeArrowheads="1"/>
            </p:cNvSpPr>
            <p:nvPr/>
          </p:nvSpPr>
          <p:spPr bwMode="auto">
            <a:xfrm>
              <a:off x="3756025" y="2046288"/>
              <a:ext cx="228600" cy="350520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20" name="Line 4"/>
            <p:cNvSpPr>
              <a:spLocks noChangeShapeType="1"/>
            </p:cNvSpPr>
            <p:nvPr/>
          </p:nvSpPr>
          <p:spPr bwMode="auto">
            <a:xfrm>
              <a:off x="2411413" y="4713288"/>
              <a:ext cx="0" cy="6096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1" name="Oval 5"/>
            <p:cNvSpPr>
              <a:spLocks noChangeArrowheads="1"/>
            </p:cNvSpPr>
            <p:nvPr/>
          </p:nvSpPr>
          <p:spPr bwMode="auto">
            <a:xfrm>
              <a:off x="2384425" y="3875088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22" name="Oval 6"/>
            <p:cNvSpPr>
              <a:spLocks noChangeArrowheads="1"/>
            </p:cNvSpPr>
            <p:nvPr/>
          </p:nvSpPr>
          <p:spPr bwMode="auto">
            <a:xfrm>
              <a:off x="2384425" y="3189288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23" name="Oval 7"/>
            <p:cNvSpPr>
              <a:spLocks noChangeArrowheads="1"/>
            </p:cNvSpPr>
            <p:nvPr/>
          </p:nvSpPr>
          <p:spPr bwMode="auto">
            <a:xfrm>
              <a:off x="2384425" y="4637088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24" name="Line 8"/>
            <p:cNvSpPr>
              <a:spLocks noChangeShapeType="1"/>
            </p:cNvSpPr>
            <p:nvPr/>
          </p:nvSpPr>
          <p:spPr bwMode="auto">
            <a:xfrm>
              <a:off x="2484438" y="3284538"/>
              <a:ext cx="457200" cy="1066800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5" name="Line 9"/>
            <p:cNvSpPr>
              <a:spLocks noChangeShapeType="1"/>
            </p:cNvSpPr>
            <p:nvPr/>
          </p:nvSpPr>
          <p:spPr bwMode="auto">
            <a:xfrm flipV="1">
              <a:off x="2484438" y="3213100"/>
              <a:ext cx="1219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" name="Group 10"/>
            <p:cNvGrpSpPr>
              <a:grpSpLocks/>
            </p:cNvGrpSpPr>
            <p:nvPr/>
          </p:nvGrpSpPr>
          <p:grpSpPr bwMode="auto">
            <a:xfrm>
              <a:off x="2104790" y="2851944"/>
              <a:ext cx="247650" cy="2198688"/>
              <a:chOff x="928" y="2045"/>
              <a:chExt cx="156" cy="1385"/>
            </a:xfrm>
          </p:grpSpPr>
          <p:sp>
            <p:nvSpPr>
              <p:cNvPr id="16433" name="Rectangle 11"/>
              <p:cNvSpPr>
                <a:spLocks noChangeArrowheads="1"/>
              </p:cNvSpPr>
              <p:nvPr/>
            </p:nvSpPr>
            <p:spPr bwMode="auto">
              <a:xfrm>
                <a:off x="928" y="3197"/>
                <a:ext cx="12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F</a:t>
                </a:r>
                <a:endParaRPr kumimoji="1"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34" name="Rectangle 12"/>
              <p:cNvSpPr>
                <a:spLocks noChangeArrowheads="1"/>
              </p:cNvSpPr>
              <p:nvPr/>
            </p:nvSpPr>
            <p:spPr bwMode="auto">
              <a:xfrm>
                <a:off x="934" y="2621"/>
                <a:ext cx="15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H</a:t>
                </a:r>
                <a:endParaRPr kumimoji="1"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35" name="Rectangle 13"/>
              <p:cNvSpPr>
                <a:spLocks noChangeArrowheads="1"/>
              </p:cNvSpPr>
              <p:nvPr/>
            </p:nvSpPr>
            <p:spPr bwMode="auto">
              <a:xfrm>
                <a:off x="934" y="2045"/>
                <a:ext cx="12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E</a:t>
                </a:r>
                <a:endParaRPr kumimoji="1"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9230" name="Rectangle 14"/>
            <p:cNvSpPr>
              <a:spLocks noChangeArrowheads="1"/>
            </p:cNvSpPr>
            <p:nvPr/>
          </p:nvSpPr>
          <p:spPr bwMode="auto">
            <a:xfrm>
              <a:off x="2628900" y="4437063"/>
              <a:ext cx="430213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 dirty="0">
                  <a:solidFill>
                    <a:schemeClr val="tx1"/>
                  </a:solidFill>
                  <a:latin typeface="Symbol" panose="05050102010706020507" pitchFamily="18" charset="2"/>
                </a:rPr>
                <a:t>l</a:t>
              </a:r>
              <a:endParaRPr kumimoji="1"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31" name="Rectangle 15"/>
            <p:cNvSpPr>
              <a:spLocks noChangeArrowheads="1"/>
            </p:cNvSpPr>
            <p:nvPr/>
          </p:nvSpPr>
          <p:spPr bwMode="auto">
            <a:xfrm>
              <a:off x="3090863" y="2819400"/>
              <a:ext cx="47307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 dirty="0">
                  <a:solidFill>
                    <a:schemeClr val="tx1"/>
                  </a:solidFill>
                  <a:latin typeface="Symbol" panose="05050102010706020507" pitchFamily="18" charset="2"/>
                </a:rPr>
                <a:t>q</a:t>
              </a:r>
              <a:endParaRPr kumimoji="1"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32" name="Rectangle 16"/>
            <p:cNvSpPr>
              <a:spLocks noChangeArrowheads="1"/>
            </p:cNvSpPr>
            <p:nvPr/>
          </p:nvSpPr>
          <p:spPr bwMode="auto">
            <a:xfrm>
              <a:off x="2924175" y="4302125"/>
              <a:ext cx="4953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33" name="Rectangle 17"/>
            <p:cNvSpPr>
              <a:spLocks noChangeArrowheads="1"/>
            </p:cNvSpPr>
            <p:nvPr/>
          </p:nvSpPr>
          <p:spPr bwMode="auto">
            <a:xfrm>
              <a:off x="6551613" y="2133600"/>
              <a:ext cx="211137" cy="415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7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45" name="Arc 29"/>
            <p:cNvSpPr>
              <a:spLocks/>
            </p:cNvSpPr>
            <p:nvPr/>
          </p:nvSpPr>
          <p:spPr bwMode="auto">
            <a:xfrm>
              <a:off x="2155825" y="2947988"/>
              <a:ext cx="914400" cy="271462"/>
            </a:xfrm>
            <a:custGeom>
              <a:avLst/>
              <a:gdLst>
                <a:gd name="T0" fmla="*/ 2147483646 w 21600"/>
                <a:gd name="T1" fmla="*/ 0 h 6403"/>
                <a:gd name="T2" fmla="*/ 2147483646 w 21600"/>
                <a:gd name="T3" fmla="*/ 2147483646 h 6403"/>
                <a:gd name="T4" fmla="*/ 0 w 21600"/>
                <a:gd name="T5" fmla="*/ 2147483646 h 64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6403"/>
                <a:gd name="T11" fmla="*/ 21600 w 21600"/>
                <a:gd name="T12" fmla="*/ 6403 h 64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6403" fill="none" extrusionOk="0">
                  <a:moveTo>
                    <a:pt x="20629" y="-1"/>
                  </a:moveTo>
                  <a:cubicBezTo>
                    <a:pt x="21272" y="2073"/>
                    <a:pt x="21600" y="4231"/>
                    <a:pt x="21600" y="6403"/>
                  </a:cubicBezTo>
                </a:path>
                <a:path w="21600" h="6403" stroke="0" extrusionOk="0">
                  <a:moveTo>
                    <a:pt x="20629" y="-1"/>
                  </a:moveTo>
                  <a:cubicBezTo>
                    <a:pt x="21272" y="2073"/>
                    <a:pt x="21600" y="4231"/>
                    <a:pt x="21600" y="6403"/>
                  </a:cubicBezTo>
                  <a:lnTo>
                    <a:pt x="0" y="6403"/>
                  </a:lnTo>
                  <a:lnTo>
                    <a:pt x="20629" y="-1"/>
                  </a:lnTo>
                  <a:close/>
                </a:path>
              </a:pathLst>
            </a:custGeom>
            <a:noFill/>
            <a:ln w="381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6" name="Line 30"/>
            <p:cNvSpPr>
              <a:spLocks noChangeShapeType="1"/>
            </p:cNvSpPr>
            <p:nvPr/>
          </p:nvSpPr>
          <p:spPr bwMode="auto">
            <a:xfrm>
              <a:off x="1317625" y="3265488"/>
              <a:ext cx="0" cy="1371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9247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2099309"/>
                </p:ext>
              </p:extLst>
            </p:nvPr>
          </p:nvGraphicFramePr>
          <p:xfrm>
            <a:off x="1187450" y="3789363"/>
            <a:ext cx="273050" cy="290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96" name="公式" r:id="rId3" imgW="203024" imgH="215713" progId="Equation.3">
                    <p:embed/>
                  </p:oleObj>
                </mc:Choice>
                <mc:Fallback>
                  <p:oleObj name="公式" r:id="rId3" imgW="203024" imgH="215713" progId="Equation.3">
                    <p:embed/>
                    <p:pic>
                      <p:nvPicPr>
                        <p:cNvPr id="9247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450" y="3789363"/>
                          <a:ext cx="273050" cy="29051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9525">
                          <a:solidFill>
                            <a:srgbClr val="CCFFCC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32"/>
            <p:cNvGrpSpPr>
              <a:grpSpLocks/>
            </p:cNvGrpSpPr>
            <p:nvPr/>
          </p:nvGrpSpPr>
          <p:grpSpPr bwMode="auto">
            <a:xfrm rot="229207">
              <a:off x="2481336" y="2531444"/>
              <a:ext cx="1313392" cy="2109367"/>
              <a:chOff x="1152" y="1807"/>
              <a:chExt cx="816" cy="1361"/>
            </a:xfrm>
          </p:grpSpPr>
          <p:sp>
            <p:nvSpPr>
              <p:cNvPr id="16430" name="Line 33"/>
              <p:cNvSpPr>
                <a:spLocks noChangeShapeType="1"/>
              </p:cNvSpPr>
              <p:nvPr/>
            </p:nvSpPr>
            <p:spPr bwMode="auto">
              <a:xfrm flipV="1">
                <a:off x="1152" y="1807"/>
                <a:ext cx="780" cy="44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1" name="Line 34"/>
              <p:cNvSpPr>
                <a:spLocks noChangeShapeType="1"/>
              </p:cNvSpPr>
              <p:nvPr/>
            </p:nvSpPr>
            <p:spPr bwMode="auto">
              <a:xfrm flipV="1">
                <a:off x="1152" y="2688"/>
                <a:ext cx="816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2" name="Line 35"/>
              <p:cNvSpPr>
                <a:spLocks noChangeShapeType="1"/>
              </p:cNvSpPr>
              <p:nvPr/>
            </p:nvSpPr>
            <p:spPr bwMode="auto">
              <a:xfrm flipV="1">
                <a:off x="1152" y="2256"/>
                <a:ext cx="816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36"/>
            <p:cNvGrpSpPr>
              <a:grpSpLocks/>
            </p:cNvGrpSpPr>
            <p:nvPr/>
          </p:nvGrpSpPr>
          <p:grpSpPr bwMode="auto">
            <a:xfrm>
              <a:off x="3984625" y="2638425"/>
              <a:ext cx="2819400" cy="1295400"/>
              <a:chOff x="2112" y="1824"/>
              <a:chExt cx="1776" cy="816"/>
            </a:xfrm>
          </p:grpSpPr>
          <p:sp>
            <p:nvSpPr>
              <p:cNvPr id="16424" name="Line 37"/>
              <p:cNvSpPr>
                <a:spLocks noChangeShapeType="1"/>
              </p:cNvSpPr>
              <p:nvPr/>
            </p:nvSpPr>
            <p:spPr bwMode="auto">
              <a:xfrm flipV="1">
                <a:off x="2112" y="2016"/>
                <a:ext cx="1008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5" name="Line 38"/>
              <p:cNvSpPr>
                <a:spLocks noChangeShapeType="1"/>
              </p:cNvSpPr>
              <p:nvPr/>
            </p:nvSpPr>
            <p:spPr bwMode="auto">
              <a:xfrm flipV="1">
                <a:off x="3120" y="1824"/>
                <a:ext cx="768" cy="3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6" name="Line 39"/>
              <p:cNvSpPr>
                <a:spLocks noChangeShapeType="1"/>
              </p:cNvSpPr>
              <p:nvPr/>
            </p:nvSpPr>
            <p:spPr bwMode="auto">
              <a:xfrm flipV="1">
                <a:off x="2112" y="1824"/>
                <a:ext cx="100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7" name="Line 40"/>
              <p:cNvSpPr>
                <a:spLocks noChangeShapeType="1"/>
              </p:cNvSpPr>
              <p:nvPr/>
            </p:nvSpPr>
            <p:spPr bwMode="auto">
              <a:xfrm flipV="1">
                <a:off x="2112" y="2160"/>
                <a:ext cx="1056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8" name="Line 41"/>
              <p:cNvSpPr>
                <a:spLocks noChangeShapeType="1"/>
              </p:cNvSpPr>
              <p:nvPr/>
            </p:nvSpPr>
            <p:spPr bwMode="auto">
              <a:xfrm flipV="1">
                <a:off x="3072" y="1824"/>
                <a:ext cx="81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9" name="Line 42"/>
              <p:cNvSpPr>
                <a:spLocks noChangeShapeType="1"/>
              </p:cNvSpPr>
              <p:nvPr/>
            </p:nvSpPr>
            <p:spPr bwMode="auto">
              <a:xfrm flipV="1">
                <a:off x="3072" y="1824"/>
                <a:ext cx="816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259" name="Line 43"/>
            <p:cNvSpPr>
              <a:spLocks noChangeShapeType="1"/>
            </p:cNvSpPr>
            <p:nvPr/>
          </p:nvSpPr>
          <p:spPr bwMode="auto">
            <a:xfrm flipV="1">
              <a:off x="2411413" y="3789363"/>
              <a:ext cx="288925" cy="144462"/>
            </a:xfrm>
            <a:prstGeom prst="line">
              <a:avLst/>
            </a:prstGeom>
            <a:noFill/>
            <a:ln w="5715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0" name="Line 44"/>
            <p:cNvSpPr>
              <a:spLocks noChangeShapeType="1"/>
            </p:cNvSpPr>
            <p:nvPr/>
          </p:nvSpPr>
          <p:spPr bwMode="auto">
            <a:xfrm flipV="1">
              <a:off x="2411413" y="4365625"/>
              <a:ext cx="506412" cy="249238"/>
            </a:xfrm>
            <a:prstGeom prst="line">
              <a:avLst/>
            </a:prstGeom>
            <a:noFill/>
            <a:ln w="5715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1" name="Line 45"/>
            <p:cNvSpPr>
              <a:spLocks noChangeShapeType="1"/>
            </p:cNvSpPr>
            <p:nvPr/>
          </p:nvSpPr>
          <p:spPr bwMode="auto">
            <a:xfrm>
              <a:off x="1012825" y="3265488"/>
              <a:ext cx="1371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2" name="Line 46"/>
            <p:cNvSpPr>
              <a:spLocks noChangeShapeType="1"/>
            </p:cNvSpPr>
            <p:nvPr/>
          </p:nvSpPr>
          <p:spPr bwMode="auto">
            <a:xfrm>
              <a:off x="1089025" y="4637088"/>
              <a:ext cx="1371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48"/>
            <p:cNvGrpSpPr>
              <a:grpSpLocks/>
            </p:cNvGrpSpPr>
            <p:nvPr/>
          </p:nvGrpSpPr>
          <p:grpSpPr bwMode="auto">
            <a:xfrm>
              <a:off x="6913109" y="959077"/>
              <a:ext cx="457200" cy="5334000"/>
              <a:chOff x="3888" y="672"/>
              <a:chExt cx="288" cy="3168"/>
            </a:xfrm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</p:grpSpPr>
          <p:sp>
            <p:nvSpPr>
              <p:cNvPr id="5158" name="Rectangle 49"/>
              <p:cNvSpPr>
                <a:spLocks noChangeArrowheads="1"/>
              </p:cNvSpPr>
              <p:nvPr/>
            </p:nvSpPr>
            <p:spPr bwMode="auto">
              <a:xfrm>
                <a:off x="3888" y="1576"/>
                <a:ext cx="288" cy="145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FF3134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p3d prstMaterial="metal">
                <a:bevelT w="88900" h="88900"/>
              </a:sp3d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5159" name="Rectangle 50"/>
              <p:cNvSpPr>
                <a:spLocks noChangeArrowheads="1"/>
              </p:cNvSpPr>
              <p:nvPr/>
            </p:nvSpPr>
            <p:spPr bwMode="auto">
              <a:xfrm>
                <a:off x="3888" y="672"/>
                <a:ext cx="288" cy="1007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BC00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p3d prstMaterial="metal">
                <a:bevelT w="88900" h="88900"/>
              </a:sp3d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5160" name="Rectangle 51"/>
              <p:cNvSpPr>
                <a:spLocks noChangeArrowheads="1"/>
              </p:cNvSpPr>
              <p:nvPr/>
            </p:nvSpPr>
            <p:spPr bwMode="auto">
              <a:xfrm>
                <a:off x="3888" y="2932"/>
                <a:ext cx="288" cy="9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BC00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p3d prstMaterial="metal">
                <a:bevelT w="88900" h="88900"/>
              </a:sp3d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9268" name="Line 52"/>
            <p:cNvSpPr>
              <a:spLocks noChangeShapeType="1"/>
            </p:cNvSpPr>
            <p:nvPr/>
          </p:nvSpPr>
          <p:spPr bwMode="auto">
            <a:xfrm>
              <a:off x="6840538" y="944563"/>
              <a:ext cx="0" cy="53340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" name="Group 53"/>
            <p:cNvGrpSpPr>
              <a:grpSpLocks/>
            </p:cNvGrpSpPr>
            <p:nvPr/>
          </p:nvGrpSpPr>
          <p:grpSpPr bwMode="auto">
            <a:xfrm>
              <a:off x="1317625" y="3265488"/>
              <a:ext cx="838200" cy="1371600"/>
              <a:chOff x="384" y="2304"/>
              <a:chExt cx="528" cy="864"/>
            </a:xfrm>
          </p:grpSpPr>
          <p:sp>
            <p:nvSpPr>
              <p:cNvPr id="16421" name="Line 54"/>
              <p:cNvSpPr>
                <a:spLocks noChangeShapeType="1"/>
              </p:cNvSpPr>
              <p:nvPr/>
            </p:nvSpPr>
            <p:spPr bwMode="auto">
              <a:xfrm>
                <a:off x="432" y="2304"/>
                <a:ext cx="48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2" name="Line 55"/>
              <p:cNvSpPr>
                <a:spLocks noChangeShapeType="1"/>
              </p:cNvSpPr>
              <p:nvPr/>
            </p:nvSpPr>
            <p:spPr bwMode="auto">
              <a:xfrm>
                <a:off x="384" y="3168"/>
                <a:ext cx="52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3" name="Line 56"/>
              <p:cNvSpPr>
                <a:spLocks noChangeShapeType="1"/>
              </p:cNvSpPr>
              <p:nvPr/>
            </p:nvSpPr>
            <p:spPr bwMode="auto">
              <a:xfrm>
                <a:off x="528" y="2736"/>
                <a:ext cx="38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277" name="Line 61"/>
            <p:cNvSpPr>
              <a:spLocks noChangeShapeType="1"/>
            </p:cNvSpPr>
            <p:nvPr/>
          </p:nvSpPr>
          <p:spPr bwMode="auto">
            <a:xfrm>
              <a:off x="2411413" y="2565400"/>
              <a:ext cx="0" cy="6096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9193205"/>
                </p:ext>
              </p:extLst>
            </p:nvPr>
          </p:nvGraphicFramePr>
          <p:xfrm>
            <a:off x="2437074" y="3825945"/>
            <a:ext cx="239167" cy="507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97" name="Equation" r:id="rId5" imgW="317160" imgH="672840" progId="Equation.DSMT4">
                    <p:embed/>
                  </p:oleObj>
                </mc:Choice>
                <mc:Fallback>
                  <p:oleObj name="Equation" r:id="rId5" imgW="317160" imgH="672840" progId="Equation.DSMT4">
                    <p:embed/>
                    <p:pic>
                      <p:nvPicPr>
                        <p:cNvPr id="8" name="对象 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437074" y="3825945"/>
                          <a:ext cx="239167" cy="507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593159"/>
              </p:ext>
            </p:extLst>
          </p:nvPr>
        </p:nvGraphicFramePr>
        <p:xfrm>
          <a:off x="1931988" y="5667375"/>
          <a:ext cx="35433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8" name="Equation" r:id="rId7" imgW="2552400" imgH="317160" progId="Equation.DSMT4">
                  <p:embed/>
                </p:oleObj>
              </mc:Choice>
              <mc:Fallback>
                <p:oleObj name="Equation" r:id="rId7" imgW="2552400" imgH="31716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31988" y="5667375"/>
                        <a:ext cx="3543300" cy="441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2">
            <a:extLst>
              <a:ext uri="{FF2B5EF4-FFF2-40B4-BE49-F238E27FC236}">
                <a16:creationId xmlns:a16="http://schemas.microsoft.com/office/drawing/2014/main" id="{2E98AEC6-75F5-42D9-8D32-1A153AEF8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525" y="107950"/>
            <a:ext cx="2560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2522891084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75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4" grpId="0" autoUpdateAnimBg="0"/>
      <p:bldP spid="9235" grpId="0" autoUpdateAnimBg="0"/>
      <p:bldP spid="9236" grpId="0" autoUpdateAnimBg="0"/>
      <p:bldP spid="9263" grpId="0" autoUpdateAnimBg="0"/>
      <p:bldP spid="52" grpId="0" autoUpdateAnimBg="0"/>
      <p:bldP spid="7" grpId="0"/>
      <p:bldP spid="54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74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26</a:t>
            </a:r>
            <a:endParaRPr lang="en-US" altLang="zh-CN" sz="18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3565525" y="65088"/>
            <a:ext cx="2560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pic>
        <p:nvPicPr>
          <p:cNvPr id="185" name="图片 18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7" r="6931"/>
          <a:stretch>
            <a:fillRect/>
          </a:stretch>
        </p:blipFill>
        <p:spPr bwMode="auto">
          <a:xfrm>
            <a:off x="8582025" y="438150"/>
            <a:ext cx="354013" cy="248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CD9AF9B-D6EC-4298-BBAD-4A2C344AB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7" y="605050"/>
            <a:ext cx="3624701" cy="126112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252338F-D8C8-449A-9210-6FE7E88DD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0" y="1953450"/>
            <a:ext cx="6467476" cy="21052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1631904-F48B-41E6-AE43-99DAB20A4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87" y="4110507"/>
            <a:ext cx="7588574" cy="2537737"/>
          </a:xfrm>
          <a:prstGeom prst="rect">
            <a:avLst/>
          </a:prstGeom>
        </p:spPr>
      </p:pic>
      <p:sp>
        <p:nvSpPr>
          <p:cNvPr id="35" name="Rectangle 2">
            <a:extLst>
              <a:ext uri="{FF2B5EF4-FFF2-40B4-BE49-F238E27FC236}">
                <a16:creationId xmlns:a16="http://schemas.microsoft.com/office/drawing/2014/main" id="{46ACF292-2FB8-47EC-BC4A-FA0E11009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085" y="3998184"/>
            <a:ext cx="40505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与菲涅尔半波带法一致！</a:t>
            </a:r>
          </a:p>
        </p:txBody>
      </p:sp>
      <p:pic>
        <p:nvPicPr>
          <p:cNvPr id="32796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25" y="438150"/>
            <a:ext cx="3327400" cy="247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2"/>
          <p:cNvGrpSpPr>
            <a:grpSpLocks/>
          </p:cNvGrpSpPr>
          <p:nvPr/>
        </p:nvGrpSpPr>
        <p:grpSpPr bwMode="auto">
          <a:xfrm>
            <a:off x="2627313" y="2349500"/>
            <a:ext cx="2089150" cy="2520950"/>
            <a:chOff x="1680" y="1440"/>
            <a:chExt cx="1296" cy="1440"/>
          </a:xfrm>
        </p:grpSpPr>
        <p:sp>
          <p:nvSpPr>
            <p:cNvPr id="28794" name="Line 93"/>
            <p:cNvSpPr>
              <a:spLocks noChangeShapeType="1"/>
            </p:cNvSpPr>
            <p:nvPr/>
          </p:nvSpPr>
          <p:spPr bwMode="auto">
            <a:xfrm flipV="1">
              <a:off x="1728" y="1440"/>
              <a:ext cx="1248" cy="81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5" name="Line 94"/>
            <p:cNvSpPr>
              <a:spLocks noChangeShapeType="1"/>
            </p:cNvSpPr>
            <p:nvPr/>
          </p:nvSpPr>
          <p:spPr bwMode="auto">
            <a:xfrm flipV="1">
              <a:off x="1728" y="1488"/>
              <a:ext cx="1200" cy="105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6" name="Line 95"/>
            <p:cNvSpPr>
              <a:spLocks noChangeShapeType="1"/>
            </p:cNvSpPr>
            <p:nvPr/>
          </p:nvSpPr>
          <p:spPr bwMode="auto">
            <a:xfrm flipV="1">
              <a:off x="1680" y="1440"/>
              <a:ext cx="1296" cy="144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7" name="Line 96"/>
            <p:cNvSpPr>
              <a:spLocks noChangeShapeType="1"/>
            </p:cNvSpPr>
            <p:nvPr/>
          </p:nvSpPr>
          <p:spPr bwMode="auto">
            <a:xfrm flipV="1">
              <a:off x="2208" y="2160"/>
              <a:ext cx="144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8" name="Line 97"/>
            <p:cNvSpPr>
              <a:spLocks noChangeShapeType="1"/>
            </p:cNvSpPr>
            <p:nvPr/>
          </p:nvSpPr>
          <p:spPr bwMode="auto">
            <a:xfrm flipV="1">
              <a:off x="2112" y="2064"/>
              <a:ext cx="144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9" name="Line 98"/>
            <p:cNvSpPr>
              <a:spLocks noChangeShapeType="1"/>
            </p:cNvSpPr>
            <p:nvPr/>
          </p:nvSpPr>
          <p:spPr bwMode="auto">
            <a:xfrm flipV="1">
              <a:off x="2016" y="1968"/>
              <a:ext cx="144" cy="9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5"/>
          <p:cNvGrpSpPr>
            <a:grpSpLocks/>
          </p:cNvGrpSpPr>
          <p:nvPr/>
        </p:nvGrpSpPr>
        <p:grpSpPr bwMode="auto">
          <a:xfrm>
            <a:off x="900113" y="2276475"/>
            <a:ext cx="3795712" cy="1728788"/>
            <a:chOff x="3841" y="2709"/>
            <a:chExt cx="2346" cy="1011"/>
          </a:xfrm>
        </p:grpSpPr>
        <p:sp>
          <p:nvSpPr>
            <p:cNvPr id="28779" name="Line 6"/>
            <p:cNvSpPr>
              <a:spLocks noChangeShapeType="1"/>
            </p:cNvSpPr>
            <p:nvPr/>
          </p:nvSpPr>
          <p:spPr bwMode="auto">
            <a:xfrm flipV="1">
              <a:off x="4236" y="2709"/>
              <a:ext cx="616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0" name="Line 7"/>
            <p:cNvSpPr>
              <a:spLocks noChangeShapeType="1"/>
            </p:cNvSpPr>
            <p:nvPr/>
          </p:nvSpPr>
          <p:spPr bwMode="auto">
            <a:xfrm flipV="1">
              <a:off x="4236" y="3371"/>
              <a:ext cx="582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1" name="Line 8"/>
            <p:cNvSpPr>
              <a:spLocks noChangeShapeType="1"/>
            </p:cNvSpPr>
            <p:nvPr/>
          </p:nvSpPr>
          <p:spPr bwMode="auto">
            <a:xfrm flipV="1">
              <a:off x="4241" y="3067"/>
              <a:ext cx="582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2" name="Line 9"/>
            <p:cNvSpPr>
              <a:spLocks noChangeShapeType="1"/>
            </p:cNvSpPr>
            <p:nvPr/>
          </p:nvSpPr>
          <p:spPr bwMode="auto">
            <a:xfrm flipV="1">
              <a:off x="4921" y="2883"/>
              <a:ext cx="718" cy="1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3" name="Line 10"/>
            <p:cNvSpPr>
              <a:spLocks noChangeShapeType="1"/>
            </p:cNvSpPr>
            <p:nvPr/>
          </p:nvSpPr>
          <p:spPr bwMode="auto">
            <a:xfrm flipV="1">
              <a:off x="5639" y="2743"/>
              <a:ext cx="548" cy="24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4" name="Line 11"/>
            <p:cNvSpPr>
              <a:spLocks noChangeShapeType="1"/>
            </p:cNvSpPr>
            <p:nvPr/>
          </p:nvSpPr>
          <p:spPr bwMode="auto">
            <a:xfrm flipV="1">
              <a:off x="4271" y="3058"/>
              <a:ext cx="54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85" name="Object 12"/>
            <p:cNvGraphicFramePr>
              <a:graphicFrameLocks noChangeAspect="1"/>
            </p:cNvGraphicFramePr>
            <p:nvPr/>
          </p:nvGraphicFramePr>
          <p:xfrm>
            <a:off x="4555" y="2840"/>
            <a:ext cx="13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44" name="公式" r:id="rId3" imgW="139579" imgH="177646" progId="Equation.3">
                    <p:embed/>
                  </p:oleObj>
                </mc:Choice>
                <mc:Fallback>
                  <p:oleObj name="公式" r:id="rId3" imgW="139579" imgH="177646" progId="Equation.3">
                    <p:embed/>
                    <p:pic>
                      <p:nvPicPr>
                        <p:cNvPr id="2878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5" y="2840"/>
                          <a:ext cx="139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86" name="Line 13"/>
            <p:cNvSpPr>
              <a:spLocks noChangeShapeType="1"/>
            </p:cNvSpPr>
            <p:nvPr/>
          </p:nvSpPr>
          <p:spPr bwMode="auto">
            <a:xfrm flipV="1">
              <a:off x="4921" y="2743"/>
              <a:ext cx="7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7" name="Line 14"/>
            <p:cNvSpPr>
              <a:spLocks noChangeShapeType="1"/>
            </p:cNvSpPr>
            <p:nvPr/>
          </p:nvSpPr>
          <p:spPr bwMode="auto">
            <a:xfrm flipV="1">
              <a:off x="4921" y="2988"/>
              <a:ext cx="718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8" name="Line 15"/>
            <p:cNvSpPr>
              <a:spLocks noChangeShapeType="1"/>
            </p:cNvSpPr>
            <p:nvPr/>
          </p:nvSpPr>
          <p:spPr bwMode="auto">
            <a:xfrm flipV="1">
              <a:off x="5605" y="2743"/>
              <a:ext cx="58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9" name="Line 16"/>
            <p:cNvSpPr>
              <a:spLocks noChangeShapeType="1"/>
            </p:cNvSpPr>
            <p:nvPr/>
          </p:nvSpPr>
          <p:spPr bwMode="auto">
            <a:xfrm flipV="1">
              <a:off x="5605" y="2743"/>
              <a:ext cx="582" cy="1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0" name="Line 17"/>
            <p:cNvSpPr>
              <a:spLocks noChangeShapeType="1"/>
            </p:cNvSpPr>
            <p:nvPr/>
          </p:nvSpPr>
          <p:spPr bwMode="auto">
            <a:xfrm>
              <a:off x="3875" y="3092"/>
              <a:ext cx="34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1" name="Line 18"/>
            <p:cNvSpPr>
              <a:spLocks noChangeShapeType="1"/>
            </p:cNvSpPr>
            <p:nvPr/>
          </p:nvSpPr>
          <p:spPr bwMode="auto">
            <a:xfrm>
              <a:off x="3841" y="3720"/>
              <a:ext cx="3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2" name="Line 19"/>
            <p:cNvSpPr>
              <a:spLocks noChangeShapeType="1"/>
            </p:cNvSpPr>
            <p:nvPr/>
          </p:nvSpPr>
          <p:spPr bwMode="auto">
            <a:xfrm>
              <a:off x="3944" y="3407"/>
              <a:ext cx="27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3" name="Arc 20"/>
            <p:cNvSpPr>
              <a:spLocks/>
            </p:cNvSpPr>
            <p:nvPr/>
          </p:nvSpPr>
          <p:spPr bwMode="auto">
            <a:xfrm>
              <a:off x="4099" y="2918"/>
              <a:ext cx="412" cy="153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6" name="Group 21"/>
          <p:cNvGrpSpPr>
            <a:grpSpLocks/>
          </p:cNvGrpSpPr>
          <p:nvPr/>
        </p:nvGrpSpPr>
        <p:grpSpPr bwMode="auto">
          <a:xfrm>
            <a:off x="755650" y="1484313"/>
            <a:ext cx="5000625" cy="3816350"/>
            <a:chOff x="476" y="935"/>
            <a:chExt cx="3150" cy="2404"/>
          </a:xfrm>
        </p:grpSpPr>
        <p:graphicFrame>
          <p:nvGraphicFramePr>
            <p:cNvPr id="28760" name="Object 22"/>
            <p:cNvGraphicFramePr>
              <a:graphicFrameLocks noChangeAspect="1"/>
            </p:cNvGraphicFramePr>
            <p:nvPr/>
          </p:nvGraphicFramePr>
          <p:xfrm>
            <a:off x="2789" y="1253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45" name="公式" r:id="rId5" imgW="164885" imgH="164885" progId="Equation.3">
                    <p:embed/>
                  </p:oleObj>
                </mc:Choice>
                <mc:Fallback>
                  <p:oleObj name="公式" r:id="rId5" imgW="164885" imgH="164885" progId="Equation.3">
                    <p:embed/>
                    <p:pic>
                      <p:nvPicPr>
                        <p:cNvPr id="2876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1253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761" name="Group 23"/>
            <p:cNvGrpSpPr>
              <a:grpSpLocks/>
            </p:cNvGrpSpPr>
            <p:nvPr/>
          </p:nvGrpSpPr>
          <p:grpSpPr bwMode="auto">
            <a:xfrm>
              <a:off x="953" y="1399"/>
              <a:ext cx="33" cy="1392"/>
              <a:chOff x="1104" y="1728"/>
              <a:chExt cx="48" cy="1872"/>
            </a:xfrm>
          </p:grpSpPr>
          <p:sp>
            <p:nvSpPr>
              <p:cNvPr id="28774" name="Line 24"/>
              <p:cNvSpPr>
                <a:spLocks noChangeShapeType="1"/>
              </p:cNvSpPr>
              <p:nvPr/>
            </p:nvSpPr>
            <p:spPr bwMode="auto">
              <a:xfrm>
                <a:off x="1104" y="17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5" name="Line 25"/>
              <p:cNvSpPr>
                <a:spLocks noChangeShapeType="1"/>
              </p:cNvSpPr>
              <p:nvPr/>
            </p:nvSpPr>
            <p:spPr bwMode="auto">
              <a:xfrm>
                <a:off x="1104" y="321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6" name="Oval 26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77" name="Oval 27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78" name="Oval 28"/>
              <p:cNvSpPr>
                <a:spLocks noChangeArrowheads="1"/>
              </p:cNvSpPr>
              <p:nvPr/>
            </p:nvSpPr>
            <p:spPr bwMode="auto">
              <a:xfrm>
                <a:off x="1104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762" name="Line 29"/>
            <p:cNvSpPr>
              <a:spLocks noChangeShapeType="1"/>
            </p:cNvSpPr>
            <p:nvPr/>
          </p:nvSpPr>
          <p:spPr bwMode="auto">
            <a:xfrm flipV="1">
              <a:off x="657" y="1797"/>
              <a:ext cx="0" cy="21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63" name="Line 30"/>
            <p:cNvSpPr>
              <a:spLocks noChangeShapeType="1"/>
            </p:cNvSpPr>
            <p:nvPr/>
          </p:nvSpPr>
          <p:spPr bwMode="auto">
            <a:xfrm rot="10800000" flipV="1">
              <a:off x="657" y="2296"/>
              <a:ext cx="0" cy="21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64" name="Object 31"/>
            <p:cNvGraphicFramePr>
              <a:graphicFrameLocks noChangeAspect="1"/>
            </p:cNvGraphicFramePr>
            <p:nvPr/>
          </p:nvGraphicFramePr>
          <p:xfrm>
            <a:off x="567" y="2069"/>
            <a:ext cx="160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46" name="公式" r:id="rId7" imgW="126835" imgH="139518" progId="Equation.3">
                    <p:embed/>
                  </p:oleObj>
                </mc:Choice>
                <mc:Fallback>
                  <p:oleObj name="公式" r:id="rId7" imgW="126835" imgH="139518" progId="Equation.3">
                    <p:embed/>
                    <p:pic>
                      <p:nvPicPr>
                        <p:cNvPr id="28764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069"/>
                          <a:ext cx="160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765" name="Group 32"/>
            <p:cNvGrpSpPr>
              <a:grpSpLocks/>
            </p:cNvGrpSpPr>
            <p:nvPr/>
          </p:nvGrpSpPr>
          <p:grpSpPr bwMode="auto">
            <a:xfrm>
              <a:off x="1034" y="935"/>
              <a:ext cx="2592" cy="2404"/>
              <a:chOff x="1056" y="935"/>
              <a:chExt cx="2592" cy="2352"/>
            </a:xfrm>
          </p:grpSpPr>
          <p:sp>
            <p:nvSpPr>
              <p:cNvPr id="28770" name="Oval 33"/>
              <p:cNvSpPr>
                <a:spLocks noChangeArrowheads="1"/>
              </p:cNvSpPr>
              <p:nvPr/>
            </p:nvSpPr>
            <p:spPr bwMode="auto">
              <a:xfrm>
                <a:off x="1610" y="1162"/>
                <a:ext cx="121" cy="192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71" name="Line 34"/>
              <p:cNvSpPr>
                <a:spLocks noChangeShapeType="1"/>
              </p:cNvSpPr>
              <p:nvPr/>
            </p:nvSpPr>
            <p:spPr bwMode="auto">
              <a:xfrm>
                <a:off x="2971" y="935"/>
                <a:ext cx="0" cy="2352"/>
              </a:xfrm>
              <a:prstGeom prst="line">
                <a:avLst/>
              </a:pr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2" name="Line 35"/>
              <p:cNvSpPr>
                <a:spLocks noChangeShapeType="1"/>
              </p:cNvSpPr>
              <p:nvPr/>
            </p:nvSpPr>
            <p:spPr bwMode="auto">
              <a:xfrm>
                <a:off x="1056" y="2112"/>
                <a:ext cx="259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3" name="Line 36"/>
              <p:cNvSpPr>
                <a:spLocks noChangeShapeType="1"/>
              </p:cNvSpPr>
              <p:nvPr/>
            </p:nvSpPr>
            <p:spPr bwMode="auto">
              <a:xfrm flipV="1">
                <a:off x="1655" y="1480"/>
                <a:ext cx="1270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766" name="Arc 37"/>
            <p:cNvSpPr>
              <a:spLocks/>
            </p:cNvSpPr>
            <p:nvPr/>
          </p:nvSpPr>
          <p:spPr bwMode="auto">
            <a:xfrm>
              <a:off x="1565" y="1979"/>
              <a:ext cx="412" cy="153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67" name="Object 38"/>
            <p:cNvGraphicFramePr>
              <a:graphicFrameLocks noChangeAspect="1"/>
            </p:cNvGraphicFramePr>
            <p:nvPr/>
          </p:nvGraphicFramePr>
          <p:xfrm>
            <a:off x="2018" y="1933"/>
            <a:ext cx="13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47" name="公式" r:id="rId9" imgW="139579" imgH="177646" progId="Equation.3">
                    <p:embed/>
                  </p:oleObj>
                </mc:Choice>
                <mc:Fallback>
                  <p:oleObj name="公式" r:id="rId9" imgW="139579" imgH="177646" progId="Equation.3">
                    <p:embed/>
                    <p:pic>
                      <p:nvPicPr>
                        <p:cNvPr id="28767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1933"/>
                          <a:ext cx="139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68" name="Line 39"/>
            <p:cNvSpPr>
              <a:spLocks noChangeShapeType="1"/>
            </p:cNvSpPr>
            <p:nvPr/>
          </p:nvSpPr>
          <p:spPr bwMode="auto">
            <a:xfrm>
              <a:off x="476" y="1797"/>
              <a:ext cx="49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9" name="Line 40"/>
            <p:cNvSpPr>
              <a:spLocks noChangeShapeType="1"/>
            </p:cNvSpPr>
            <p:nvPr/>
          </p:nvSpPr>
          <p:spPr bwMode="auto">
            <a:xfrm>
              <a:off x="476" y="2523"/>
              <a:ext cx="49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1"/>
          <p:cNvGrpSpPr>
            <a:grpSpLocks/>
          </p:cNvGrpSpPr>
          <p:nvPr/>
        </p:nvGrpSpPr>
        <p:grpSpPr bwMode="auto">
          <a:xfrm>
            <a:off x="5980113" y="1592263"/>
            <a:ext cx="2325687" cy="3741737"/>
            <a:chOff x="3959" y="156"/>
            <a:chExt cx="1417" cy="2291"/>
          </a:xfrm>
        </p:grpSpPr>
        <p:sp>
          <p:nvSpPr>
            <p:cNvPr id="28739" name="Rectangle 42"/>
            <p:cNvSpPr>
              <a:spLocks noChangeArrowheads="1"/>
            </p:cNvSpPr>
            <p:nvPr/>
          </p:nvSpPr>
          <p:spPr bwMode="auto">
            <a:xfrm>
              <a:off x="4837" y="934"/>
              <a:ext cx="539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I </a:t>
              </a:r>
              <a:r>
                <a:rPr lang="en-US" altLang="zh-CN" sz="1800" b="1">
                  <a:solidFill>
                    <a:schemeClr val="tx1"/>
                  </a:solidFill>
                </a:rPr>
                <a:t>/ </a:t>
              </a:r>
              <a:r>
                <a:rPr lang="en-US" altLang="zh-CN" sz="1800" b="1" i="1">
                  <a:solidFill>
                    <a:schemeClr val="tx1"/>
                  </a:solidFill>
                </a:rPr>
                <a:t>I</a:t>
              </a:r>
              <a:r>
                <a:rPr lang="en-US" altLang="zh-CN" sz="1800" b="1" baseline="-25000">
                  <a:solidFill>
                    <a:schemeClr val="tx1"/>
                  </a:solidFill>
                </a:rPr>
                <a:t>0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8740" name="Line 43"/>
            <p:cNvSpPr>
              <a:spLocks noChangeShapeType="1"/>
            </p:cNvSpPr>
            <p:nvPr/>
          </p:nvSpPr>
          <p:spPr bwMode="auto">
            <a:xfrm rot="5400000">
              <a:off x="2834" y="1300"/>
              <a:ext cx="2289" cy="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1" name="Line 44"/>
            <p:cNvSpPr>
              <a:spLocks noChangeShapeType="1"/>
            </p:cNvSpPr>
            <p:nvPr/>
          </p:nvSpPr>
          <p:spPr bwMode="auto">
            <a:xfrm rot="5400000">
              <a:off x="4557" y="663"/>
              <a:ext cx="1" cy="115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2" name="Freeform 45"/>
            <p:cNvSpPr>
              <a:spLocks/>
            </p:cNvSpPr>
            <p:nvPr/>
          </p:nvSpPr>
          <p:spPr bwMode="auto">
            <a:xfrm rot="5400000">
              <a:off x="4238" y="782"/>
              <a:ext cx="485" cy="8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105"/>
                  </a:moveTo>
                  <a:lnTo>
                    <a:pt x="211" y="18494"/>
                  </a:lnTo>
                  <a:lnTo>
                    <a:pt x="469" y="17894"/>
                  </a:lnTo>
                  <a:lnTo>
                    <a:pt x="680" y="17283"/>
                  </a:lnTo>
                  <a:lnTo>
                    <a:pt x="890" y="16683"/>
                  </a:lnTo>
                  <a:lnTo>
                    <a:pt x="1111" y="16072"/>
                  </a:lnTo>
                  <a:lnTo>
                    <a:pt x="1331" y="15483"/>
                  </a:lnTo>
                  <a:lnTo>
                    <a:pt x="1541" y="14894"/>
                  </a:lnTo>
                  <a:lnTo>
                    <a:pt x="1771" y="14304"/>
                  </a:lnTo>
                  <a:lnTo>
                    <a:pt x="1953" y="13715"/>
                  </a:lnTo>
                  <a:lnTo>
                    <a:pt x="2231" y="13159"/>
                  </a:lnTo>
                  <a:lnTo>
                    <a:pt x="2470" y="12591"/>
                  </a:lnTo>
                  <a:lnTo>
                    <a:pt x="2681" y="12024"/>
                  </a:lnTo>
                  <a:lnTo>
                    <a:pt x="2891" y="11468"/>
                  </a:lnTo>
                  <a:lnTo>
                    <a:pt x="3112" y="10900"/>
                  </a:lnTo>
                  <a:lnTo>
                    <a:pt x="3332" y="10344"/>
                  </a:lnTo>
                  <a:lnTo>
                    <a:pt x="3552" y="9809"/>
                  </a:lnTo>
                  <a:lnTo>
                    <a:pt x="3791" y="9285"/>
                  </a:lnTo>
                  <a:lnTo>
                    <a:pt x="4011" y="8751"/>
                  </a:lnTo>
                  <a:lnTo>
                    <a:pt x="4203" y="8249"/>
                  </a:lnTo>
                  <a:lnTo>
                    <a:pt x="4442" y="7747"/>
                  </a:lnTo>
                  <a:lnTo>
                    <a:pt x="4682" y="7256"/>
                  </a:lnTo>
                  <a:lnTo>
                    <a:pt x="4883" y="6787"/>
                  </a:lnTo>
                  <a:lnTo>
                    <a:pt x="5103" y="6339"/>
                  </a:lnTo>
                  <a:lnTo>
                    <a:pt x="5352" y="5892"/>
                  </a:lnTo>
                  <a:lnTo>
                    <a:pt x="5572" y="5434"/>
                  </a:lnTo>
                  <a:lnTo>
                    <a:pt x="5744" y="4986"/>
                  </a:lnTo>
                  <a:lnTo>
                    <a:pt x="5945" y="4572"/>
                  </a:lnTo>
                  <a:lnTo>
                    <a:pt x="6204" y="4179"/>
                  </a:lnTo>
                  <a:lnTo>
                    <a:pt x="6415" y="3775"/>
                  </a:lnTo>
                  <a:lnTo>
                    <a:pt x="6644" y="3404"/>
                  </a:lnTo>
                  <a:lnTo>
                    <a:pt x="6865" y="3066"/>
                  </a:lnTo>
                  <a:lnTo>
                    <a:pt x="7085" y="2717"/>
                  </a:lnTo>
                  <a:lnTo>
                    <a:pt x="7295" y="2411"/>
                  </a:lnTo>
                  <a:lnTo>
                    <a:pt x="7487" y="2095"/>
                  </a:lnTo>
                  <a:lnTo>
                    <a:pt x="7755" y="1811"/>
                  </a:lnTo>
                  <a:lnTo>
                    <a:pt x="7985" y="1571"/>
                  </a:lnTo>
                  <a:lnTo>
                    <a:pt x="8138" y="1298"/>
                  </a:lnTo>
                  <a:lnTo>
                    <a:pt x="8368" y="1069"/>
                  </a:lnTo>
                  <a:lnTo>
                    <a:pt x="8578" y="873"/>
                  </a:lnTo>
                  <a:lnTo>
                    <a:pt x="8837" y="655"/>
                  </a:lnTo>
                  <a:lnTo>
                    <a:pt x="8990" y="502"/>
                  </a:lnTo>
                  <a:lnTo>
                    <a:pt x="9248" y="382"/>
                  </a:lnTo>
                  <a:lnTo>
                    <a:pt x="9469" y="240"/>
                  </a:lnTo>
                  <a:lnTo>
                    <a:pt x="9631" y="153"/>
                  </a:lnTo>
                  <a:lnTo>
                    <a:pt x="9852" y="87"/>
                  </a:lnTo>
                  <a:lnTo>
                    <a:pt x="10101" y="22"/>
                  </a:lnTo>
                  <a:lnTo>
                    <a:pt x="10321" y="0"/>
                  </a:lnTo>
                  <a:lnTo>
                    <a:pt x="10474" y="22"/>
                  </a:lnTo>
                  <a:lnTo>
                    <a:pt x="10685" y="22"/>
                  </a:lnTo>
                  <a:lnTo>
                    <a:pt x="10962" y="87"/>
                  </a:lnTo>
                  <a:lnTo>
                    <a:pt x="11125" y="207"/>
                  </a:lnTo>
                  <a:lnTo>
                    <a:pt x="11336" y="349"/>
                  </a:lnTo>
                  <a:lnTo>
                    <a:pt x="11546" y="524"/>
                  </a:lnTo>
                  <a:lnTo>
                    <a:pt x="11776" y="742"/>
                  </a:lnTo>
                  <a:lnTo>
                    <a:pt x="11987" y="993"/>
                  </a:lnTo>
                  <a:lnTo>
                    <a:pt x="12226" y="1244"/>
                  </a:lnTo>
                  <a:lnTo>
                    <a:pt x="12504" y="1571"/>
                  </a:lnTo>
                  <a:lnTo>
                    <a:pt x="12695" y="1909"/>
                  </a:lnTo>
                  <a:lnTo>
                    <a:pt x="12915" y="2280"/>
                  </a:lnTo>
                  <a:lnTo>
                    <a:pt x="13145" y="2706"/>
                  </a:lnTo>
                  <a:lnTo>
                    <a:pt x="13404" y="3099"/>
                  </a:lnTo>
                  <a:lnTo>
                    <a:pt x="13585" y="3524"/>
                  </a:lnTo>
                  <a:lnTo>
                    <a:pt x="13806" y="3983"/>
                  </a:lnTo>
                  <a:lnTo>
                    <a:pt x="14102" y="4430"/>
                  </a:lnTo>
                  <a:lnTo>
                    <a:pt x="14275" y="4932"/>
                  </a:lnTo>
                  <a:lnTo>
                    <a:pt x="14552" y="5466"/>
                  </a:lnTo>
                  <a:lnTo>
                    <a:pt x="14725" y="5990"/>
                  </a:lnTo>
                  <a:lnTo>
                    <a:pt x="14983" y="6514"/>
                  </a:lnTo>
                  <a:lnTo>
                    <a:pt x="15184" y="7059"/>
                  </a:lnTo>
                  <a:lnTo>
                    <a:pt x="15433" y="7616"/>
                  </a:lnTo>
                  <a:lnTo>
                    <a:pt x="15711" y="8194"/>
                  </a:lnTo>
                  <a:lnTo>
                    <a:pt x="15912" y="8783"/>
                  </a:lnTo>
                  <a:lnTo>
                    <a:pt x="16103" y="9340"/>
                  </a:lnTo>
                  <a:lnTo>
                    <a:pt x="16324" y="9907"/>
                  </a:lnTo>
                  <a:lnTo>
                    <a:pt x="16534" y="10475"/>
                  </a:lnTo>
                  <a:lnTo>
                    <a:pt x="16726" y="11053"/>
                  </a:lnTo>
                  <a:lnTo>
                    <a:pt x="16946" y="11620"/>
                  </a:lnTo>
                  <a:lnTo>
                    <a:pt x="17157" y="12188"/>
                  </a:lnTo>
                  <a:lnTo>
                    <a:pt x="17338" y="12755"/>
                  </a:lnTo>
                  <a:lnTo>
                    <a:pt x="17530" y="13301"/>
                  </a:lnTo>
                  <a:lnTo>
                    <a:pt x="17741" y="13835"/>
                  </a:lnTo>
                  <a:lnTo>
                    <a:pt x="17894" y="14392"/>
                  </a:lnTo>
                  <a:lnTo>
                    <a:pt x="18124" y="14926"/>
                  </a:lnTo>
                  <a:lnTo>
                    <a:pt x="18267" y="15428"/>
                  </a:lnTo>
                  <a:lnTo>
                    <a:pt x="18468" y="15941"/>
                  </a:lnTo>
                  <a:lnTo>
                    <a:pt x="18593" y="16432"/>
                  </a:lnTo>
                  <a:lnTo>
                    <a:pt x="18842" y="16869"/>
                  </a:lnTo>
                  <a:lnTo>
                    <a:pt x="18947" y="17338"/>
                  </a:lnTo>
                  <a:lnTo>
                    <a:pt x="19110" y="17752"/>
                  </a:lnTo>
                  <a:lnTo>
                    <a:pt x="19244" y="18145"/>
                  </a:lnTo>
                  <a:lnTo>
                    <a:pt x="19387" y="18538"/>
                  </a:lnTo>
                  <a:lnTo>
                    <a:pt x="19512" y="18898"/>
                  </a:lnTo>
                  <a:lnTo>
                    <a:pt x="19627" y="19193"/>
                  </a:lnTo>
                  <a:lnTo>
                    <a:pt x="19789" y="19509"/>
                  </a:lnTo>
                  <a:lnTo>
                    <a:pt x="19876" y="19782"/>
                  </a:lnTo>
                  <a:lnTo>
                    <a:pt x="19990" y="19989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3" name="Freeform 46"/>
            <p:cNvSpPr>
              <a:spLocks/>
            </p:cNvSpPr>
            <p:nvPr/>
          </p:nvSpPr>
          <p:spPr bwMode="auto">
            <a:xfrm rot="5400000">
              <a:off x="3934" y="1654"/>
              <a:ext cx="194" cy="5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16"/>
                  </a:moveTo>
                  <a:lnTo>
                    <a:pt x="198" y="19244"/>
                  </a:lnTo>
                  <a:lnTo>
                    <a:pt x="372" y="18739"/>
                  </a:lnTo>
                  <a:lnTo>
                    <a:pt x="570" y="17983"/>
                  </a:lnTo>
                  <a:lnTo>
                    <a:pt x="818" y="17479"/>
                  </a:lnTo>
                  <a:lnTo>
                    <a:pt x="1016" y="16723"/>
                  </a:lnTo>
                  <a:lnTo>
                    <a:pt x="1214" y="16134"/>
                  </a:lnTo>
                  <a:lnTo>
                    <a:pt x="1388" y="15630"/>
                  </a:lnTo>
                  <a:lnTo>
                    <a:pt x="1561" y="15042"/>
                  </a:lnTo>
                  <a:lnTo>
                    <a:pt x="1735" y="14454"/>
                  </a:lnTo>
                  <a:lnTo>
                    <a:pt x="1958" y="13697"/>
                  </a:lnTo>
                  <a:lnTo>
                    <a:pt x="2156" y="13277"/>
                  </a:lnTo>
                  <a:lnTo>
                    <a:pt x="2354" y="12689"/>
                  </a:lnTo>
                  <a:lnTo>
                    <a:pt x="2553" y="12017"/>
                  </a:lnTo>
                  <a:lnTo>
                    <a:pt x="2825" y="11513"/>
                  </a:lnTo>
                  <a:lnTo>
                    <a:pt x="2949" y="10924"/>
                  </a:lnTo>
                  <a:lnTo>
                    <a:pt x="3172" y="10336"/>
                  </a:lnTo>
                  <a:lnTo>
                    <a:pt x="3346" y="9748"/>
                  </a:lnTo>
                  <a:lnTo>
                    <a:pt x="3544" y="9244"/>
                  </a:lnTo>
                  <a:lnTo>
                    <a:pt x="3767" y="8739"/>
                  </a:lnTo>
                  <a:lnTo>
                    <a:pt x="3941" y="8319"/>
                  </a:lnTo>
                  <a:lnTo>
                    <a:pt x="4139" y="7731"/>
                  </a:lnTo>
                  <a:lnTo>
                    <a:pt x="4362" y="7143"/>
                  </a:lnTo>
                  <a:lnTo>
                    <a:pt x="4560" y="6723"/>
                  </a:lnTo>
                  <a:lnTo>
                    <a:pt x="4783" y="6303"/>
                  </a:lnTo>
                  <a:lnTo>
                    <a:pt x="4932" y="5714"/>
                  </a:lnTo>
                  <a:lnTo>
                    <a:pt x="5130" y="5462"/>
                  </a:lnTo>
                  <a:lnTo>
                    <a:pt x="5304" y="4874"/>
                  </a:lnTo>
                  <a:lnTo>
                    <a:pt x="5551" y="4454"/>
                  </a:lnTo>
                  <a:lnTo>
                    <a:pt x="5799" y="4118"/>
                  </a:lnTo>
                  <a:lnTo>
                    <a:pt x="5973" y="3866"/>
                  </a:lnTo>
                  <a:lnTo>
                    <a:pt x="6171" y="3445"/>
                  </a:lnTo>
                  <a:lnTo>
                    <a:pt x="6369" y="3109"/>
                  </a:lnTo>
                  <a:lnTo>
                    <a:pt x="6568" y="2689"/>
                  </a:lnTo>
                  <a:lnTo>
                    <a:pt x="6766" y="2353"/>
                  </a:lnTo>
                  <a:lnTo>
                    <a:pt x="6964" y="2101"/>
                  </a:lnTo>
                  <a:lnTo>
                    <a:pt x="7237" y="1681"/>
                  </a:lnTo>
                  <a:lnTo>
                    <a:pt x="7410" y="1513"/>
                  </a:lnTo>
                  <a:lnTo>
                    <a:pt x="7608" y="1176"/>
                  </a:lnTo>
                  <a:lnTo>
                    <a:pt x="7807" y="1092"/>
                  </a:lnTo>
                  <a:lnTo>
                    <a:pt x="7980" y="756"/>
                  </a:lnTo>
                  <a:lnTo>
                    <a:pt x="8253" y="672"/>
                  </a:lnTo>
                  <a:lnTo>
                    <a:pt x="8401" y="504"/>
                  </a:lnTo>
                  <a:lnTo>
                    <a:pt x="8649" y="420"/>
                  </a:lnTo>
                  <a:lnTo>
                    <a:pt x="8848" y="252"/>
                  </a:lnTo>
                  <a:lnTo>
                    <a:pt x="9046" y="84"/>
                  </a:lnTo>
                  <a:lnTo>
                    <a:pt x="9269" y="84"/>
                  </a:lnTo>
                  <a:lnTo>
                    <a:pt x="9442" y="0"/>
                  </a:lnTo>
                  <a:lnTo>
                    <a:pt x="9690" y="0"/>
                  </a:lnTo>
                  <a:lnTo>
                    <a:pt x="9888" y="0"/>
                  </a:lnTo>
                  <a:lnTo>
                    <a:pt x="10112" y="84"/>
                  </a:lnTo>
                  <a:lnTo>
                    <a:pt x="10310" y="84"/>
                  </a:lnTo>
                  <a:lnTo>
                    <a:pt x="10508" y="252"/>
                  </a:lnTo>
                  <a:lnTo>
                    <a:pt x="10781" y="420"/>
                  </a:lnTo>
                  <a:lnTo>
                    <a:pt x="11004" y="672"/>
                  </a:lnTo>
                  <a:lnTo>
                    <a:pt x="11202" y="840"/>
                  </a:lnTo>
                  <a:lnTo>
                    <a:pt x="11475" y="1092"/>
                  </a:lnTo>
                  <a:lnTo>
                    <a:pt x="11698" y="1513"/>
                  </a:lnTo>
                  <a:lnTo>
                    <a:pt x="11995" y="1681"/>
                  </a:lnTo>
                  <a:lnTo>
                    <a:pt x="12193" y="2101"/>
                  </a:lnTo>
                  <a:lnTo>
                    <a:pt x="12441" y="2437"/>
                  </a:lnTo>
                  <a:lnTo>
                    <a:pt x="12689" y="2773"/>
                  </a:lnTo>
                  <a:lnTo>
                    <a:pt x="12912" y="3277"/>
                  </a:lnTo>
                  <a:lnTo>
                    <a:pt x="13209" y="3866"/>
                  </a:lnTo>
                  <a:lnTo>
                    <a:pt x="13432" y="4118"/>
                  </a:lnTo>
                  <a:lnTo>
                    <a:pt x="13680" y="4706"/>
                  </a:lnTo>
                  <a:lnTo>
                    <a:pt x="13953" y="5126"/>
                  </a:lnTo>
                  <a:lnTo>
                    <a:pt x="14176" y="5546"/>
                  </a:lnTo>
                  <a:lnTo>
                    <a:pt x="14399" y="6050"/>
                  </a:lnTo>
                  <a:lnTo>
                    <a:pt x="14696" y="6723"/>
                  </a:lnTo>
                  <a:lnTo>
                    <a:pt x="14895" y="7143"/>
                  </a:lnTo>
                  <a:lnTo>
                    <a:pt x="15192" y="7731"/>
                  </a:lnTo>
                  <a:lnTo>
                    <a:pt x="15415" y="8319"/>
                  </a:lnTo>
                  <a:lnTo>
                    <a:pt x="15638" y="8739"/>
                  </a:lnTo>
                  <a:lnTo>
                    <a:pt x="15911" y="9328"/>
                  </a:lnTo>
                  <a:lnTo>
                    <a:pt x="16084" y="9916"/>
                  </a:lnTo>
                  <a:lnTo>
                    <a:pt x="16332" y="10420"/>
                  </a:lnTo>
                  <a:lnTo>
                    <a:pt x="16605" y="11176"/>
                  </a:lnTo>
                  <a:lnTo>
                    <a:pt x="16803" y="11513"/>
                  </a:lnTo>
                  <a:lnTo>
                    <a:pt x="17051" y="12017"/>
                  </a:lnTo>
                  <a:lnTo>
                    <a:pt x="17249" y="12689"/>
                  </a:lnTo>
                  <a:lnTo>
                    <a:pt x="17472" y="13109"/>
                  </a:lnTo>
                  <a:lnTo>
                    <a:pt x="17670" y="13697"/>
                  </a:lnTo>
                  <a:lnTo>
                    <a:pt x="17918" y="14286"/>
                  </a:lnTo>
                  <a:lnTo>
                    <a:pt x="18116" y="14706"/>
                  </a:lnTo>
                  <a:lnTo>
                    <a:pt x="18290" y="15210"/>
                  </a:lnTo>
                  <a:lnTo>
                    <a:pt x="18463" y="15630"/>
                  </a:lnTo>
                  <a:lnTo>
                    <a:pt x="18686" y="16134"/>
                  </a:lnTo>
                  <a:lnTo>
                    <a:pt x="18810" y="16555"/>
                  </a:lnTo>
                  <a:lnTo>
                    <a:pt x="18984" y="16891"/>
                  </a:lnTo>
                  <a:lnTo>
                    <a:pt x="19133" y="17227"/>
                  </a:lnTo>
                  <a:lnTo>
                    <a:pt x="19306" y="17647"/>
                  </a:lnTo>
                  <a:lnTo>
                    <a:pt x="19480" y="17983"/>
                  </a:lnTo>
                  <a:lnTo>
                    <a:pt x="19603" y="18319"/>
                  </a:lnTo>
                  <a:lnTo>
                    <a:pt x="19703" y="18487"/>
                  </a:lnTo>
                  <a:lnTo>
                    <a:pt x="19851" y="18908"/>
                  </a:lnTo>
                  <a:lnTo>
                    <a:pt x="19975" y="19076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4" name="Freeform 47"/>
            <p:cNvSpPr>
              <a:spLocks/>
            </p:cNvSpPr>
            <p:nvPr/>
          </p:nvSpPr>
          <p:spPr bwMode="auto">
            <a:xfrm rot="5400000">
              <a:off x="3898" y="1839"/>
              <a:ext cx="203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62" y="599"/>
                  </a:lnTo>
                  <a:lnTo>
                    <a:pt x="452" y="1317"/>
                  </a:lnTo>
                  <a:lnTo>
                    <a:pt x="523" y="1677"/>
                  </a:lnTo>
                  <a:lnTo>
                    <a:pt x="785" y="2635"/>
                  </a:lnTo>
                  <a:lnTo>
                    <a:pt x="999" y="3353"/>
                  </a:lnTo>
                  <a:lnTo>
                    <a:pt x="1070" y="3832"/>
                  </a:lnTo>
                  <a:lnTo>
                    <a:pt x="1379" y="4072"/>
                  </a:lnTo>
                  <a:lnTo>
                    <a:pt x="1546" y="5030"/>
                  </a:lnTo>
                  <a:lnTo>
                    <a:pt x="1807" y="5389"/>
                  </a:lnTo>
                  <a:lnTo>
                    <a:pt x="1998" y="5988"/>
                  </a:lnTo>
                  <a:lnTo>
                    <a:pt x="2069" y="6467"/>
                  </a:lnTo>
                  <a:lnTo>
                    <a:pt x="2402" y="7066"/>
                  </a:lnTo>
                  <a:lnTo>
                    <a:pt x="2568" y="7665"/>
                  </a:lnTo>
                  <a:lnTo>
                    <a:pt x="2711" y="8383"/>
                  </a:lnTo>
                  <a:lnTo>
                    <a:pt x="2878" y="8862"/>
                  </a:lnTo>
                  <a:lnTo>
                    <a:pt x="3092" y="9461"/>
                  </a:lnTo>
                  <a:lnTo>
                    <a:pt x="3401" y="10060"/>
                  </a:lnTo>
                  <a:lnTo>
                    <a:pt x="3639" y="10659"/>
                  </a:lnTo>
                  <a:lnTo>
                    <a:pt x="3781" y="11018"/>
                  </a:lnTo>
                  <a:lnTo>
                    <a:pt x="3948" y="11497"/>
                  </a:lnTo>
                  <a:lnTo>
                    <a:pt x="4185" y="12096"/>
                  </a:lnTo>
                  <a:lnTo>
                    <a:pt x="4352" y="12455"/>
                  </a:lnTo>
                  <a:lnTo>
                    <a:pt x="4542" y="13054"/>
                  </a:lnTo>
                  <a:lnTo>
                    <a:pt x="4780" y="13653"/>
                  </a:lnTo>
                  <a:lnTo>
                    <a:pt x="4946" y="13892"/>
                  </a:lnTo>
                  <a:lnTo>
                    <a:pt x="5065" y="14491"/>
                  </a:lnTo>
                  <a:lnTo>
                    <a:pt x="5327" y="14850"/>
                  </a:lnTo>
                  <a:lnTo>
                    <a:pt x="5612" y="15090"/>
                  </a:lnTo>
                  <a:lnTo>
                    <a:pt x="5707" y="15689"/>
                  </a:lnTo>
                  <a:lnTo>
                    <a:pt x="5969" y="16048"/>
                  </a:lnTo>
                  <a:lnTo>
                    <a:pt x="6183" y="16407"/>
                  </a:lnTo>
                  <a:lnTo>
                    <a:pt x="6350" y="16527"/>
                  </a:lnTo>
                  <a:lnTo>
                    <a:pt x="6564" y="16886"/>
                  </a:lnTo>
                  <a:lnTo>
                    <a:pt x="6825" y="17126"/>
                  </a:lnTo>
                  <a:lnTo>
                    <a:pt x="6968" y="17844"/>
                  </a:lnTo>
                  <a:lnTo>
                    <a:pt x="7182" y="18084"/>
                  </a:lnTo>
                  <a:lnTo>
                    <a:pt x="7348" y="18084"/>
                  </a:lnTo>
                  <a:lnTo>
                    <a:pt x="7562" y="18683"/>
                  </a:lnTo>
                  <a:lnTo>
                    <a:pt x="7800" y="18683"/>
                  </a:lnTo>
                  <a:lnTo>
                    <a:pt x="7990" y="18683"/>
                  </a:lnTo>
                  <a:lnTo>
                    <a:pt x="8228" y="18922"/>
                  </a:lnTo>
                  <a:lnTo>
                    <a:pt x="8466" y="19162"/>
                  </a:lnTo>
                  <a:lnTo>
                    <a:pt x="8704" y="19162"/>
                  </a:lnTo>
                  <a:lnTo>
                    <a:pt x="8799" y="19521"/>
                  </a:lnTo>
                  <a:lnTo>
                    <a:pt x="8989" y="19880"/>
                  </a:lnTo>
                  <a:lnTo>
                    <a:pt x="9227" y="19880"/>
                  </a:lnTo>
                  <a:lnTo>
                    <a:pt x="9441" y="19880"/>
                  </a:lnTo>
                  <a:lnTo>
                    <a:pt x="9655" y="19880"/>
                  </a:lnTo>
                  <a:lnTo>
                    <a:pt x="9822" y="19880"/>
                  </a:lnTo>
                  <a:lnTo>
                    <a:pt x="10178" y="19880"/>
                  </a:lnTo>
                  <a:lnTo>
                    <a:pt x="10321" y="19521"/>
                  </a:lnTo>
                  <a:lnTo>
                    <a:pt x="10559" y="19162"/>
                  </a:lnTo>
                  <a:lnTo>
                    <a:pt x="10773" y="19162"/>
                  </a:lnTo>
                  <a:lnTo>
                    <a:pt x="11011" y="18922"/>
                  </a:lnTo>
                  <a:lnTo>
                    <a:pt x="11201" y="18683"/>
                  </a:lnTo>
                  <a:lnTo>
                    <a:pt x="11463" y="18683"/>
                  </a:lnTo>
                  <a:lnTo>
                    <a:pt x="11724" y="18443"/>
                  </a:lnTo>
                  <a:lnTo>
                    <a:pt x="12010" y="18084"/>
                  </a:lnTo>
                  <a:lnTo>
                    <a:pt x="12200" y="17844"/>
                  </a:lnTo>
                  <a:lnTo>
                    <a:pt x="12438" y="17126"/>
                  </a:lnTo>
                  <a:lnTo>
                    <a:pt x="12652" y="16886"/>
                  </a:lnTo>
                  <a:lnTo>
                    <a:pt x="12842" y="16527"/>
                  </a:lnTo>
                  <a:lnTo>
                    <a:pt x="13175" y="16048"/>
                  </a:lnTo>
                  <a:lnTo>
                    <a:pt x="13341" y="15689"/>
                  </a:lnTo>
                  <a:lnTo>
                    <a:pt x="13650" y="15090"/>
                  </a:lnTo>
                  <a:lnTo>
                    <a:pt x="13936" y="14491"/>
                  </a:lnTo>
                  <a:lnTo>
                    <a:pt x="14150" y="14132"/>
                  </a:lnTo>
                  <a:lnTo>
                    <a:pt x="14388" y="13653"/>
                  </a:lnTo>
                  <a:lnTo>
                    <a:pt x="14673" y="13054"/>
                  </a:lnTo>
                  <a:lnTo>
                    <a:pt x="14958" y="12814"/>
                  </a:lnTo>
                  <a:lnTo>
                    <a:pt x="15220" y="12096"/>
                  </a:lnTo>
                  <a:lnTo>
                    <a:pt x="15458" y="11497"/>
                  </a:lnTo>
                  <a:lnTo>
                    <a:pt x="15672" y="11018"/>
                  </a:lnTo>
                  <a:lnTo>
                    <a:pt x="15815" y="10659"/>
                  </a:lnTo>
                  <a:lnTo>
                    <a:pt x="16171" y="10060"/>
                  </a:lnTo>
                  <a:lnTo>
                    <a:pt x="16290" y="9102"/>
                  </a:lnTo>
                  <a:lnTo>
                    <a:pt x="16552" y="8862"/>
                  </a:lnTo>
                  <a:lnTo>
                    <a:pt x="16790" y="8383"/>
                  </a:lnTo>
                  <a:lnTo>
                    <a:pt x="17122" y="7665"/>
                  </a:lnTo>
                  <a:lnTo>
                    <a:pt x="17218" y="7066"/>
                  </a:lnTo>
                  <a:lnTo>
                    <a:pt x="17432" y="6467"/>
                  </a:lnTo>
                  <a:lnTo>
                    <a:pt x="17693" y="5988"/>
                  </a:lnTo>
                  <a:lnTo>
                    <a:pt x="17955" y="5629"/>
                  </a:lnTo>
                  <a:lnTo>
                    <a:pt x="18002" y="5030"/>
                  </a:lnTo>
                  <a:lnTo>
                    <a:pt x="18335" y="4671"/>
                  </a:lnTo>
                  <a:lnTo>
                    <a:pt x="18454" y="4072"/>
                  </a:lnTo>
                  <a:lnTo>
                    <a:pt x="18668" y="3832"/>
                  </a:lnTo>
                  <a:lnTo>
                    <a:pt x="18716" y="3353"/>
                  </a:lnTo>
                  <a:lnTo>
                    <a:pt x="19001" y="2994"/>
                  </a:lnTo>
                  <a:lnTo>
                    <a:pt x="19191" y="2635"/>
                  </a:lnTo>
                  <a:lnTo>
                    <a:pt x="19405" y="2036"/>
                  </a:lnTo>
                  <a:lnTo>
                    <a:pt x="19501" y="1677"/>
                  </a:lnTo>
                  <a:lnTo>
                    <a:pt x="19548" y="1677"/>
                  </a:lnTo>
                  <a:lnTo>
                    <a:pt x="19667" y="1317"/>
                  </a:lnTo>
                  <a:lnTo>
                    <a:pt x="19810" y="1317"/>
                  </a:lnTo>
                  <a:lnTo>
                    <a:pt x="19976" y="958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5" name="Freeform 48"/>
            <p:cNvSpPr>
              <a:spLocks/>
            </p:cNvSpPr>
            <p:nvPr/>
          </p:nvSpPr>
          <p:spPr bwMode="auto">
            <a:xfrm rot="5400000">
              <a:off x="3872" y="2162"/>
              <a:ext cx="251" cy="2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81" y="0"/>
                  </a:moveTo>
                  <a:lnTo>
                    <a:pt x="19731" y="826"/>
                  </a:lnTo>
                  <a:lnTo>
                    <a:pt x="19481" y="1157"/>
                  </a:lnTo>
                  <a:lnTo>
                    <a:pt x="19443" y="1818"/>
                  </a:lnTo>
                  <a:lnTo>
                    <a:pt x="19174" y="2314"/>
                  </a:lnTo>
                  <a:lnTo>
                    <a:pt x="19001" y="3140"/>
                  </a:lnTo>
                  <a:lnTo>
                    <a:pt x="18847" y="3802"/>
                  </a:lnTo>
                  <a:lnTo>
                    <a:pt x="18540" y="4132"/>
                  </a:lnTo>
                  <a:lnTo>
                    <a:pt x="18329" y="5124"/>
                  </a:lnTo>
                  <a:lnTo>
                    <a:pt x="18271" y="5289"/>
                  </a:lnTo>
                  <a:lnTo>
                    <a:pt x="17963" y="6116"/>
                  </a:lnTo>
                  <a:lnTo>
                    <a:pt x="17810" y="6942"/>
                  </a:lnTo>
                  <a:lnTo>
                    <a:pt x="17541" y="7107"/>
                  </a:lnTo>
                  <a:lnTo>
                    <a:pt x="17329" y="7438"/>
                  </a:lnTo>
                  <a:lnTo>
                    <a:pt x="17253" y="8264"/>
                  </a:lnTo>
                  <a:lnTo>
                    <a:pt x="17022" y="9091"/>
                  </a:lnTo>
                  <a:lnTo>
                    <a:pt x="16849" y="9752"/>
                  </a:lnTo>
                  <a:lnTo>
                    <a:pt x="16580" y="10248"/>
                  </a:lnTo>
                  <a:lnTo>
                    <a:pt x="16330" y="10744"/>
                  </a:lnTo>
                  <a:lnTo>
                    <a:pt x="16177" y="11074"/>
                  </a:lnTo>
                  <a:lnTo>
                    <a:pt x="16004" y="11736"/>
                  </a:lnTo>
                  <a:lnTo>
                    <a:pt x="15773" y="12231"/>
                  </a:lnTo>
                  <a:lnTo>
                    <a:pt x="15581" y="12893"/>
                  </a:lnTo>
                  <a:lnTo>
                    <a:pt x="15312" y="13058"/>
                  </a:lnTo>
                  <a:lnTo>
                    <a:pt x="15255" y="13719"/>
                  </a:lnTo>
                  <a:lnTo>
                    <a:pt x="14966" y="14215"/>
                  </a:lnTo>
                  <a:lnTo>
                    <a:pt x="14832" y="14711"/>
                  </a:lnTo>
                  <a:lnTo>
                    <a:pt x="14563" y="14711"/>
                  </a:lnTo>
                  <a:lnTo>
                    <a:pt x="14428" y="15041"/>
                  </a:lnTo>
                  <a:lnTo>
                    <a:pt x="14179" y="16033"/>
                  </a:lnTo>
                  <a:lnTo>
                    <a:pt x="14006" y="16198"/>
                  </a:lnTo>
                  <a:lnTo>
                    <a:pt x="13718" y="16364"/>
                  </a:lnTo>
                  <a:lnTo>
                    <a:pt x="13660" y="16860"/>
                  </a:lnTo>
                  <a:lnTo>
                    <a:pt x="13295" y="17190"/>
                  </a:lnTo>
                  <a:lnTo>
                    <a:pt x="13103" y="17355"/>
                  </a:lnTo>
                  <a:lnTo>
                    <a:pt x="12968" y="17686"/>
                  </a:lnTo>
                  <a:lnTo>
                    <a:pt x="12795" y="18347"/>
                  </a:lnTo>
                  <a:lnTo>
                    <a:pt x="12546" y="18347"/>
                  </a:lnTo>
                  <a:lnTo>
                    <a:pt x="12315" y="18678"/>
                  </a:lnTo>
                  <a:lnTo>
                    <a:pt x="12161" y="18678"/>
                  </a:lnTo>
                  <a:lnTo>
                    <a:pt x="11988" y="19008"/>
                  </a:lnTo>
                  <a:lnTo>
                    <a:pt x="11758" y="19174"/>
                  </a:lnTo>
                  <a:lnTo>
                    <a:pt x="11547" y="19174"/>
                  </a:lnTo>
                  <a:lnTo>
                    <a:pt x="11316" y="19504"/>
                  </a:lnTo>
                  <a:lnTo>
                    <a:pt x="11085" y="19835"/>
                  </a:lnTo>
                  <a:lnTo>
                    <a:pt x="10951" y="19835"/>
                  </a:lnTo>
                  <a:lnTo>
                    <a:pt x="10720" y="19835"/>
                  </a:lnTo>
                  <a:lnTo>
                    <a:pt x="10548" y="19835"/>
                  </a:lnTo>
                  <a:lnTo>
                    <a:pt x="10240" y="19835"/>
                  </a:lnTo>
                  <a:lnTo>
                    <a:pt x="10086" y="19835"/>
                  </a:lnTo>
                  <a:lnTo>
                    <a:pt x="9798" y="19835"/>
                  </a:lnTo>
                  <a:lnTo>
                    <a:pt x="9606" y="19835"/>
                  </a:lnTo>
                  <a:lnTo>
                    <a:pt x="9414" y="19504"/>
                  </a:lnTo>
                  <a:lnTo>
                    <a:pt x="9183" y="19504"/>
                  </a:lnTo>
                  <a:lnTo>
                    <a:pt x="9011" y="19174"/>
                  </a:lnTo>
                  <a:lnTo>
                    <a:pt x="8703" y="19008"/>
                  </a:lnTo>
                  <a:lnTo>
                    <a:pt x="8473" y="18678"/>
                  </a:lnTo>
                  <a:lnTo>
                    <a:pt x="8184" y="18347"/>
                  </a:lnTo>
                  <a:lnTo>
                    <a:pt x="7915" y="18347"/>
                  </a:lnTo>
                  <a:lnTo>
                    <a:pt x="7762" y="17686"/>
                  </a:lnTo>
                  <a:lnTo>
                    <a:pt x="7493" y="17190"/>
                  </a:lnTo>
                  <a:lnTo>
                    <a:pt x="7262" y="16860"/>
                  </a:lnTo>
                  <a:lnTo>
                    <a:pt x="7012" y="16364"/>
                  </a:lnTo>
                  <a:lnTo>
                    <a:pt x="6724" y="16198"/>
                  </a:lnTo>
                  <a:lnTo>
                    <a:pt x="6590" y="16033"/>
                  </a:lnTo>
                  <a:lnTo>
                    <a:pt x="6321" y="15041"/>
                  </a:lnTo>
                  <a:lnTo>
                    <a:pt x="6013" y="14711"/>
                  </a:lnTo>
                  <a:lnTo>
                    <a:pt x="5744" y="14215"/>
                  </a:lnTo>
                  <a:lnTo>
                    <a:pt x="5533" y="13719"/>
                  </a:lnTo>
                  <a:lnTo>
                    <a:pt x="5303" y="13223"/>
                  </a:lnTo>
                  <a:lnTo>
                    <a:pt x="4995" y="12893"/>
                  </a:lnTo>
                  <a:lnTo>
                    <a:pt x="4707" y="12231"/>
                  </a:lnTo>
                  <a:lnTo>
                    <a:pt x="4553" y="11736"/>
                  </a:lnTo>
                  <a:lnTo>
                    <a:pt x="4304" y="11074"/>
                  </a:lnTo>
                  <a:lnTo>
                    <a:pt x="4092" y="10744"/>
                  </a:lnTo>
                  <a:lnTo>
                    <a:pt x="3804" y="10248"/>
                  </a:lnTo>
                  <a:lnTo>
                    <a:pt x="3689" y="9256"/>
                  </a:lnTo>
                  <a:lnTo>
                    <a:pt x="3247" y="9091"/>
                  </a:lnTo>
                  <a:lnTo>
                    <a:pt x="3112" y="8264"/>
                  </a:lnTo>
                  <a:lnTo>
                    <a:pt x="2843" y="7438"/>
                  </a:lnTo>
                  <a:lnTo>
                    <a:pt x="2690" y="7107"/>
                  </a:lnTo>
                  <a:lnTo>
                    <a:pt x="2536" y="6942"/>
                  </a:lnTo>
                  <a:lnTo>
                    <a:pt x="2229" y="6116"/>
                  </a:lnTo>
                  <a:lnTo>
                    <a:pt x="2017" y="5620"/>
                  </a:lnTo>
                  <a:lnTo>
                    <a:pt x="1902" y="5124"/>
                  </a:lnTo>
                  <a:lnTo>
                    <a:pt x="1691" y="4793"/>
                  </a:lnTo>
                  <a:lnTo>
                    <a:pt x="1479" y="4132"/>
                  </a:lnTo>
                  <a:lnTo>
                    <a:pt x="1306" y="3802"/>
                  </a:lnTo>
                  <a:lnTo>
                    <a:pt x="1095" y="3140"/>
                  </a:lnTo>
                  <a:lnTo>
                    <a:pt x="903" y="2975"/>
                  </a:lnTo>
                  <a:lnTo>
                    <a:pt x="826" y="2810"/>
                  </a:lnTo>
                  <a:lnTo>
                    <a:pt x="596" y="2149"/>
                  </a:lnTo>
                  <a:lnTo>
                    <a:pt x="480" y="1818"/>
                  </a:lnTo>
                  <a:lnTo>
                    <a:pt x="365" y="1818"/>
                  </a:lnTo>
                  <a:lnTo>
                    <a:pt x="288" y="1157"/>
                  </a:lnTo>
                  <a:lnTo>
                    <a:pt x="96" y="1157"/>
                  </a:lnTo>
                  <a:lnTo>
                    <a:pt x="0" y="826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6" name="Freeform 49"/>
            <p:cNvSpPr>
              <a:spLocks/>
            </p:cNvSpPr>
            <p:nvPr/>
          </p:nvSpPr>
          <p:spPr bwMode="auto">
            <a:xfrm rot="5400000">
              <a:off x="3965" y="1995"/>
              <a:ext cx="106" cy="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655"/>
                  </a:moveTo>
                  <a:lnTo>
                    <a:pt x="181" y="18621"/>
                  </a:lnTo>
                  <a:lnTo>
                    <a:pt x="363" y="17931"/>
                  </a:lnTo>
                  <a:lnTo>
                    <a:pt x="590" y="17931"/>
                  </a:lnTo>
                  <a:lnTo>
                    <a:pt x="771" y="16897"/>
                  </a:lnTo>
                  <a:lnTo>
                    <a:pt x="998" y="15862"/>
                  </a:lnTo>
                  <a:lnTo>
                    <a:pt x="1224" y="15862"/>
                  </a:lnTo>
                  <a:lnTo>
                    <a:pt x="1406" y="14828"/>
                  </a:lnTo>
                  <a:lnTo>
                    <a:pt x="1542" y="14828"/>
                  </a:lnTo>
                  <a:lnTo>
                    <a:pt x="1769" y="14138"/>
                  </a:lnTo>
                  <a:lnTo>
                    <a:pt x="1905" y="13103"/>
                  </a:lnTo>
                  <a:lnTo>
                    <a:pt x="2132" y="13103"/>
                  </a:lnTo>
                  <a:lnTo>
                    <a:pt x="2358" y="12069"/>
                  </a:lnTo>
                  <a:lnTo>
                    <a:pt x="2540" y="12069"/>
                  </a:lnTo>
                  <a:lnTo>
                    <a:pt x="2766" y="11034"/>
                  </a:lnTo>
                  <a:lnTo>
                    <a:pt x="2948" y="10345"/>
                  </a:lnTo>
                  <a:lnTo>
                    <a:pt x="3129" y="10345"/>
                  </a:lnTo>
                  <a:lnTo>
                    <a:pt x="3356" y="9310"/>
                  </a:lnTo>
                  <a:lnTo>
                    <a:pt x="3537" y="9310"/>
                  </a:lnTo>
                  <a:lnTo>
                    <a:pt x="3764" y="8276"/>
                  </a:lnTo>
                  <a:lnTo>
                    <a:pt x="3900" y="8276"/>
                  </a:lnTo>
                  <a:lnTo>
                    <a:pt x="4127" y="7586"/>
                  </a:lnTo>
                  <a:lnTo>
                    <a:pt x="4354" y="7586"/>
                  </a:lnTo>
                  <a:lnTo>
                    <a:pt x="4535" y="6552"/>
                  </a:lnTo>
                  <a:lnTo>
                    <a:pt x="4762" y="6552"/>
                  </a:lnTo>
                  <a:lnTo>
                    <a:pt x="4943" y="5517"/>
                  </a:lnTo>
                  <a:lnTo>
                    <a:pt x="5125" y="5517"/>
                  </a:lnTo>
                  <a:lnTo>
                    <a:pt x="5351" y="4483"/>
                  </a:lnTo>
                  <a:lnTo>
                    <a:pt x="5533" y="4483"/>
                  </a:lnTo>
                  <a:lnTo>
                    <a:pt x="5760" y="3793"/>
                  </a:lnTo>
                  <a:lnTo>
                    <a:pt x="5941" y="3793"/>
                  </a:lnTo>
                  <a:lnTo>
                    <a:pt x="6122" y="2759"/>
                  </a:lnTo>
                  <a:lnTo>
                    <a:pt x="6440" y="2759"/>
                  </a:lnTo>
                  <a:lnTo>
                    <a:pt x="6576" y="2759"/>
                  </a:lnTo>
                  <a:lnTo>
                    <a:pt x="6803" y="2759"/>
                  </a:lnTo>
                  <a:lnTo>
                    <a:pt x="6893" y="1724"/>
                  </a:lnTo>
                  <a:lnTo>
                    <a:pt x="7211" y="1724"/>
                  </a:lnTo>
                  <a:lnTo>
                    <a:pt x="7392" y="1724"/>
                  </a:lnTo>
                  <a:lnTo>
                    <a:pt x="7574" y="1724"/>
                  </a:lnTo>
                  <a:lnTo>
                    <a:pt x="7846" y="690"/>
                  </a:lnTo>
                  <a:lnTo>
                    <a:pt x="7982" y="690"/>
                  </a:lnTo>
                  <a:lnTo>
                    <a:pt x="8254" y="690"/>
                  </a:lnTo>
                  <a:lnTo>
                    <a:pt x="8390" y="690"/>
                  </a:lnTo>
                  <a:lnTo>
                    <a:pt x="8662" y="0"/>
                  </a:lnTo>
                  <a:lnTo>
                    <a:pt x="8844" y="0"/>
                  </a:lnTo>
                  <a:lnTo>
                    <a:pt x="9025" y="0"/>
                  </a:lnTo>
                  <a:lnTo>
                    <a:pt x="9252" y="0"/>
                  </a:lnTo>
                  <a:lnTo>
                    <a:pt x="9433" y="0"/>
                  </a:lnTo>
                  <a:lnTo>
                    <a:pt x="9660" y="0"/>
                  </a:lnTo>
                  <a:lnTo>
                    <a:pt x="9887" y="0"/>
                  </a:lnTo>
                  <a:lnTo>
                    <a:pt x="10113" y="0"/>
                  </a:lnTo>
                  <a:lnTo>
                    <a:pt x="10340" y="0"/>
                  </a:lnTo>
                  <a:lnTo>
                    <a:pt x="10567" y="0"/>
                  </a:lnTo>
                  <a:lnTo>
                    <a:pt x="10748" y="0"/>
                  </a:lnTo>
                  <a:lnTo>
                    <a:pt x="10975" y="690"/>
                  </a:lnTo>
                  <a:lnTo>
                    <a:pt x="11247" y="690"/>
                  </a:lnTo>
                  <a:lnTo>
                    <a:pt x="11474" y="690"/>
                  </a:lnTo>
                  <a:lnTo>
                    <a:pt x="11655" y="1724"/>
                  </a:lnTo>
                  <a:lnTo>
                    <a:pt x="11973" y="1724"/>
                  </a:lnTo>
                  <a:lnTo>
                    <a:pt x="12154" y="1724"/>
                  </a:lnTo>
                  <a:lnTo>
                    <a:pt x="12426" y="2759"/>
                  </a:lnTo>
                  <a:lnTo>
                    <a:pt x="12744" y="2759"/>
                  </a:lnTo>
                  <a:lnTo>
                    <a:pt x="12971" y="2759"/>
                  </a:lnTo>
                  <a:lnTo>
                    <a:pt x="13152" y="3793"/>
                  </a:lnTo>
                  <a:lnTo>
                    <a:pt x="13424" y="3793"/>
                  </a:lnTo>
                  <a:lnTo>
                    <a:pt x="13651" y="4483"/>
                  </a:lnTo>
                  <a:lnTo>
                    <a:pt x="13968" y="4483"/>
                  </a:lnTo>
                  <a:lnTo>
                    <a:pt x="14195" y="5517"/>
                  </a:lnTo>
                  <a:lnTo>
                    <a:pt x="14376" y="6552"/>
                  </a:lnTo>
                  <a:lnTo>
                    <a:pt x="14649" y="6552"/>
                  </a:lnTo>
                  <a:lnTo>
                    <a:pt x="14875" y="7586"/>
                  </a:lnTo>
                  <a:lnTo>
                    <a:pt x="15147" y="7586"/>
                  </a:lnTo>
                  <a:lnTo>
                    <a:pt x="15420" y="8276"/>
                  </a:lnTo>
                  <a:lnTo>
                    <a:pt x="15646" y="8276"/>
                  </a:lnTo>
                  <a:lnTo>
                    <a:pt x="15873" y="9310"/>
                  </a:lnTo>
                  <a:lnTo>
                    <a:pt x="16100" y="9310"/>
                  </a:lnTo>
                  <a:lnTo>
                    <a:pt x="16327" y="10345"/>
                  </a:lnTo>
                  <a:lnTo>
                    <a:pt x="16553" y="10345"/>
                  </a:lnTo>
                  <a:lnTo>
                    <a:pt x="16871" y="11034"/>
                  </a:lnTo>
                  <a:lnTo>
                    <a:pt x="17052" y="12069"/>
                  </a:lnTo>
                  <a:lnTo>
                    <a:pt x="17234" y="12069"/>
                  </a:lnTo>
                  <a:lnTo>
                    <a:pt x="17506" y="13103"/>
                  </a:lnTo>
                  <a:lnTo>
                    <a:pt x="17687" y="13103"/>
                  </a:lnTo>
                  <a:lnTo>
                    <a:pt x="17868" y="13103"/>
                  </a:lnTo>
                  <a:lnTo>
                    <a:pt x="18141" y="14138"/>
                  </a:lnTo>
                  <a:lnTo>
                    <a:pt x="18322" y="14828"/>
                  </a:lnTo>
                  <a:lnTo>
                    <a:pt x="18458" y="14828"/>
                  </a:lnTo>
                  <a:lnTo>
                    <a:pt x="18639" y="15862"/>
                  </a:lnTo>
                  <a:lnTo>
                    <a:pt x="18821" y="15862"/>
                  </a:lnTo>
                  <a:lnTo>
                    <a:pt x="18957" y="16897"/>
                  </a:lnTo>
                  <a:lnTo>
                    <a:pt x="19184" y="16897"/>
                  </a:lnTo>
                  <a:lnTo>
                    <a:pt x="19229" y="17931"/>
                  </a:lnTo>
                  <a:lnTo>
                    <a:pt x="19546" y="17931"/>
                  </a:lnTo>
                  <a:lnTo>
                    <a:pt x="19592" y="17931"/>
                  </a:lnTo>
                  <a:lnTo>
                    <a:pt x="19773" y="17931"/>
                  </a:lnTo>
                  <a:lnTo>
                    <a:pt x="19819" y="18621"/>
                  </a:lnTo>
                  <a:lnTo>
                    <a:pt x="19955" y="18621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7" name="Freeform 50"/>
            <p:cNvSpPr>
              <a:spLocks/>
            </p:cNvSpPr>
            <p:nvPr/>
          </p:nvSpPr>
          <p:spPr bwMode="auto">
            <a:xfrm rot="5753380">
              <a:off x="3941" y="1516"/>
              <a:ext cx="141" cy="5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9" y="738"/>
                  </a:lnTo>
                  <a:lnTo>
                    <a:pt x="444" y="1148"/>
                  </a:lnTo>
                  <a:lnTo>
                    <a:pt x="512" y="1885"/>
                  </a:lnTo>
                  <a:lnTo>
                    <a:pt x="785" y="2541"/>
                  </a:lnTo>
                  <a:lnTo>
                    <a:pt x="990" y="3115"/>
                  </a:lnTo>
                  <a:lnTo>
                    <a:pt x="1058" y="3852"/>
                  </a:lnTo>
                  <a:lnTo>
                    <a:pt x="1365" y="4262"/>
                  </a:lnTo>
                  <a:lnTo>
                    <a:pt x="1604" y="4918"/>
                  </a:lnTo>
                  <a:lnTo>
                    <a:pt x="1843" y="5328"/>
                  </a:lnTo>
                  <a:lnTo>
                    <a:pt x="2014" y="6148"/>
                  </a:lnTo>
                  <a:lnTo>
                    <a:pt x="2116" y="6803"/>
                  </a:lnTo>
                  <a:lnTo>
                    <a:pt x="2423" y="7213"/>
                  </a:lnTo>
                  <a:lnTo>
                    <a:pt x="2560" y="7869"/>
                  </a:lnTo>
                  <a:lnTo>
                    <a:pt x="2696" y="8443"/>
                  </a:lnTo>
                  <a:lnTo>
                    <a:pt x="2867" y="8934"/>
                  </a:lnTo>
                  <a:lnTo>
                    <a:pt x="3106" y="9590"/>
                  </a:lnTo>
                  <a:lnTo>
                    <a:pt x="3379" y="10082"/>
                  </a:lnTo>
                  <a:lnTo>
                    <a:pt x="3584" y="10574"/>
                  </a:lnTo>
                  <a:lnTo>
                    <a:pt x="3720" y="11148"/>
                  </a:lnTo>
                  <a:lnTo>
                    <a:pt x="3959" y="11639"/>
                  </a:lnTo>
                  <a:lnTo>
                    <a:pt x="4164" y="12131"/>
                  </a:lnTo>
                  <a:lnTo>
                    <a:pt x="4403" y="12705"/>
                  </a:lnTo>
                  <a:lnTo>
                    <a:pt x="4573" y="13115"/>
                  </a:lnTo>
                  <a:lnTo>
                    <a:pt x="4812" y="13607"/>
                  </a:lnTo>
                  <a:lnTo>
                    <a:pt x="5017" y="14098"/>
                  </a:lnTo>
                  <a:lnTo>
                    <a:pt x="5119" y="14672"/>
                  </a:lnTo>
                  <a:lnTo>
                    <a:pt x="5358" y="14918"/>
                  </a:lnTo>
                  <a:lnTo>
                    <a:pt x="5597" y="15328"/>
                  </a:lnTo>
                  <a:lnTo>
                    <a:pt x="5734" y="15738"/>
                  </a:lnTo>
                  <a:lnTo>
                    <a:pt x="5939" y="16148"/>
                  </a:lnTo>
                  <a:lnTo>
                    <a:pt x="6177" y="16393"/>
                  </a:lnTo>
                  <a:lnTo>
                    <a:pt x="6348" y="16885"/>
                  </a:lnTo>
                  <a:lnTo>
                    <a:pt x="6587" y="17131"/>
                  </a:lnTo>
                  <a:lnTo>
                    <a:pt x="6826" y="17459"/>
                  </a:lnTo>
                  <a:lnTo>
                    <a:pt x="6928" y="17705"/>
                  </a:lnTo>
                  <a:lnTo>
                    <a:pt x="7167" y="18115"/>
                  </a:lnTo>
                  <a:lnTo>
                    <a:pt x="7406" y="18361"/>
                  </a:lnTo>
                  <a:lnTo>
                    <a:pt x="7611" y="18689"/>
                  </a:lnTo>
                  <a:lnTo>
                    <a:pt x="7816" y="18852"/>
                  </a:lnTo>
                  <a:lnTo>
                    <a:pt x="7986" y="19098"/>
                  </a:lnTo>
                  <a:lnTo>
                    <a:pt x="8191" y="19262"/>
                  </a:lnTo>
                  <a:lnTo>
                    <a:pt x="8464" y="19262"/>
                  </a:lnTo>
                  <a:lnTo>
                    <a:pt x="8703" y="19590"/>
                  </a:lnTo>
                  <a:lnTo>
                    <a:pt x="8771" y="19672"/>
                  </a:lnTo>
                  <a:lnTo>
                    <a:pt x="8942" y="19754"/>
                  </a:lnTo>
                  <a:lnTo>
                    <a:pt x="9215" y="19754"/>
                  </a:lnTo>
                  <a:lnTo>
                    <a:pt x="9386" y="19918"/>
                  </a:lnTo>
                  <a:lnTo>
                    <a:pt x="9625" y="19918"/>
                  </a:lnTo>
                  <a:lnTo>
                    <a:pt x="9795" y="19918"/>
                  </a:lnTo>
                  <a:lnTo>
                    <a:pt x="10205" y="19754"/>
                  </a:lnTo>
                  <a:lnTo>
                    <a:pt x="10341" y="19672"/>
                  </a:lnTo>
                  <a:lnTo>
                    <a:pt x="10614" y="19590"/>
                  </a:lnTo>
                  <a:lnTo>
                    <a:pt x="10785" y="19344"/>
                  </a:lnTo>
                  <a:lnTo>
                    <a:pt x="11058" y="19262"/>
                  </a:lnTo>
                  <a:lnTo>
                    <a:pt x="11229" y="19098"/>
                  </a:lnTo>
                  <a:lnTo>
                    <a:pt x="11433" y="18852"/>
                  </a:lnTo>
                  <a:lnTo>
                    <a:pt x="11741" y="18443"/>
                  </a:lnTo>
                  <a:lnTo>
                    <a:pt x="12014" y="18115"/>
                  </a:lnTo>
                  <a:lnTo>
                    <a:pt x="12184" y="17705"/>
                  </a:lnTo>
                  <a:lnTo>
                    <a:pt x="12389" y="17295"/>
                  </a:lnTo>
                  <a:lnTo>
                    <a:pt x="12594" y="17049"/>
                  </a:lnTo>
                  <a:lnTo>
                    <a:pt x="12901" y="16639"/>
                  </a:lnTo>
                  <a:lnTo>
                    <a:pt x="13174" y="16148"/>
                  </a:lnTo>
                  <a:lnTo>
                    <a:pt x="13345" y="15738"/>
                  </a:lnTo>
                  <a:lnTo>
                    <a:pt x="13652" y="15246"/>
                  </a:lnTo>
                  <a:lnTo>
                    <a:pt x="13925" y="14754"/>
                  </a:lnTo>
                  <a:lnTo>
                    <a:pt x="14130" y="14344"/>
                  </a:lnTo>
                  <a:lnTo>
                    <a:pt x="14403" y="13689"/>
                  </a:lnTo>
                  <a:lnTo>
                    <a:pt x="14642" y="13115"/>
                  </a:lnTo>
                  <a:lnTo>
                    <a:pt x="14915" y="12787"/>
                  </a:lnTo>
                  <a:lnTo>
                    <a:pt x="15188" y="12131"/>
                  </a:lnTo>
                  <a:lnTo>
                    <a:pt x="15427" y="11639"/>
                  </a:lnTo>
                  <a:lnTo>
                    <a:pt x="15631" y="11148"/>
                  </a:lnTo>
                  <a:lnTo>
                    <a:pt x="15836" y="10574"/>
                  </a:lnTo>
                  <a:lnTo>
                    <a:pt x="16212" y="10082"/>
                  </a:lnTo>
                  <a:lnTo>
                    <a:pt x="16348" y="9426"/>
                  </a:lnTo>
                  <a:lnTo>
                    <a:pt x="16587" y="8852"/>
                  </a:lnTo>
                  <a:lnTo>
                    <a:pt x="16792" y="8361"/>
                  </a:lnTo>
                  <a:lnTo>
                    <a:pt x="17133" y="7869"/>
                  </a:lnTo>
                  <a:lnTo>
                    <a:pt x="17304" y="7213"/>
                  </a:lnTo>
                  <a:lnTo>
                    <a:pt x="17440" y="6803"/>
                  </a:lnTo>
                  <a:lnTo>
                    <a:pt x="17645" y="6148"/>
                  </a:lnTo>
                  <a:lnTo>
                    <a:pt x="17918" y="5656"/>
                  </a:lnTo>
                  <a:lnTo>
                    <a:pt x="17986" y="5164"/>
                  </a:lnTo>
                  <a:lnTo>
                    <a:pt x="18294" y="4754"/>
                  </a:lnTo>
                  <a:lnTo>
                    <a:pt x="18396" y="4262"/>
                  </a:lnTo>
                  <a:lnTo>
                    <a:pt x="18669" y="3852"/>
                  </a:lnTo>
                  <a:lnTo>
                    <a:pt x="18771" y="3361"/>
                  </a:lnTo>
                  <a:lnTo>
                    <a:pt x="19010" y="2951"/>
                  </a:lnTo>
                  <a:lnTo>
                    <a:pt x="19181" y="2705"/>
                  </a:lnTo>
                  <a:lnTo>
                    <a:pt x="19454" y="2295"/>
                  </a:lnTo>
                  <a:lnTo>
                    <a:pt x="19522" y="1885"/>
                  </a:lnTo>
                  <a:lnTo>
                    <a:pt x="19556" y="1639"/>
                  </a:lnTo>
                  <a:lnTo>
                    <a:pt x="19693" y="1230"/>
                  </a:lnTo>
                  <a:lnTo>
                    <a:pt x="19829" y="1066"/>
                  </a:lnTo>
                  <a:lnTo>
                    <a:pt x="19966" y="820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8" name="Freeform 51"/>
            <p:cNvSpPr>
              <a:spLocks/>
            </p:cNvSpPr>
            <p:nvPr/>
          </p:nvSpPr>
          <p:spPr bwMode="auto">
            <a:xfrm rot="4709659">
              <a:off x="3944" y="886"/>
              <a:ext cx="141" cy="6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66" y="0"/>
                  </a:moveTo>
                  <a:lnTo>
                    <a:pt x="19727" y="738"/>
                  </a:lnTo>
                  <a:lnTo>
                    <a:pt x="19522" y="1148"/>
                  </a:lnTo>
                  <a:lnTo>
                    <a:pt x="19454" y="1885"/>
                  </a:lnTo>
                  <a:lnTo>
                    <a:pt x="19181" y="2541"/>
                  </a:lnTo>
                  <a:lnTo>
                    <a:pt x="18976" y="3115"/>
                  </a:lnTo>
                  <a:lnTo>
                    <a:pt x="18908" y="3852"/>
                  </a:lnTo>
                  <a:lnTo>
                    <a:pt x="18601" y="4262"/>
                  </a:lnTo>
                  <a:lnTo>
                    <a:pt x="18396" y="4918"/>
                  </a:lnTo>
                  <a:lnTo>
                    <a:pt x="18123" y="5328"/>
                  </a:lnTo>
                  <a:lnTo>
                    <a:pt x="17952" y="6148"/>
                  </a:lnTo>
                  <a:lnTo>
                    <a:pt x="17850" y="6803"/>
                  </a:lnTo>
                  <a:lnTo>
                    <a:pt x="17543" y="7213"/>
                  </a:lnTo>
                  <a:lnTo>
                    <a:pt x="17406" y="7869"/>
                  </a:lnTo>
                  <a:lnTo>
                    <a:pt x="17304" y="8443"/>
                  </a:lnTo>
                  <a:lnTo>
                    <a:pt x="17099" y="8934"/>
                  </a:lnTo>
                  <a:lnTo>
                    <a:pt x="16860" y="9590"/>
                  </a:lnTo>
                  <a:lnTo>
                    <a:pt x="16587" y="10082"/>
                  </a:lnTo>
                  <a:lnTo>
                    <a:pt x="16382" y="10574"/>
                  </a:lnTo>
                  <a:lnTo>
                    <a:pt x="16246" y="11148"/>
                  </a:lnTo>
                  <a:lnTo>
                    <a:pt x="16041" y="11639"/>
                  </a:lnTo>
                  <a:lnTo>
                    <a:pt x="15802" y="12131"/>
                  </a:lnTo>
                  <a:lnTo>
                    <a:pt x="15563" y="12705"/>
                  </a:lnTo>
                  <a:lnTo>
                    <a:pt x="15358" y="13115"/>
                  </a:lnTo>
                  <a:lnTo>
                    <a:pt x="15154" y="13607"/>
                  </a:lnTo>
                  <a:lnTo>
                    <a:pt x="14983" y="14098"/>
                  </a:lnTo>
                  <a:lnTo>
                    <a:pt x="14846" y="14672"/>
                  </a:lnTo>
                  <a:lnTo>
                    <a:pt x="14608" y="14918"/>
                  </a:lnTo>
                  <a:lnTo>
                    <a:pt x="14369" y="15328"/>
                  </a:lnTo>
                  <a:lnTo>
                    <a:pt x="14232" y="15738"/>
                  </a:lnTo>
                  <a:lnTo>
                    <a:pt x="14027" y="16148"/>
                  </a:lnTo>
                  <a:lnTo>
                    <a:pt x="13788" y="16393"/>
                  </a:lnTo>
                  <a:lnTo>
                    <a:pt x="13618" y="16885"/>
                  </a:lnTo>
                  <a:lnTo>
                    <a:pt x="13379" y="17131"/>
                  </a:lnTo>
                  <a:lnTo>
                    <a:pt x="13140" y="17459"/>
                  </a:lnTo>
                  <a:lnTo>
                    <a:pt x="13038" y="17705"/>
                  </a:lnTo>
                  <a:lnTo>
                    <a:pt x="12730" y="18115"/>
                  </a:lnTo>
                  <a:lnTo>
                    <a:pt x="12560" y="18361"/>
                  </a:lnTo>
                  <a:lnTo>
                    <a:pt x="12355" y="18689"/>
                  </a:lnTo>
                  <a:lnTo>
                    <a:pt x="12150" y="18852"/>
                  </a:lnTo>
                  <a:lnTo>
                    <a:pt x="11980" y="19098"/>
                  </a:lnTo>
                  <a:lnTo>
                    <a:pt x="11775" y="19262"/>
                  </a:lnTo>
                  <a:lnTo>
                    <a:pt x="11502" y="19262"/>
                  </a:lnTo>
                  <a:lnTo>
                    <a:pt x="11263" y="19590"/>
                  </a:lnTo>
                  <a:lnTo>
                    <a:pt x="11195" y="19672"/>
                  </a:lnTo>
                  <a:lnTo>
                    <a:pt x="11024" y="19754"/>
                  </a:lnTo>
                  <a:lnTo>
                    <a:pt x="10751" y="19754"/>
                  </a:lnTo>
                  <a:lnTo>
                    <a:pt x="10580" y="19918"/>
                  </a:lnTo>
                  <a:lnTo>
                    <a:pt x="10341" y="19918"/>
                  </a:lnTo>
                  <a:lnTo>
                    <a:pt x="10171" y="19918"/>
                  </a:lnTo>
                  <a:lnTo>
                    <a:pt x="9761" y="19754"/>
                  </a:lnTo>
                  <a:lnTo>
                    <a:pt x="9625" y="19672"/>
                  </a:lnTo>
                  <a:lnTo>
                    <a:pt x="9352" y="19590"/>
                  </a:lnTo>
                  <a:lnTo>
                    <a:pt x="9181" y="19344"/>
                  </a:lnTo>
                  <a:lnTo>
                    <a:pt x="8908" y="19262"/>
                  </a:lnTo>
                  <a:lnTo>
                    <a:pt x="8737" y="19098"/>
                  </a:lnTo>
                  <a:lnTo>
                    <a:pt x="8532" y="18852"/>
                  </a:lnTo>
                  <a:lnTo>
                    <a:pt x="8225" y="18443"/>
                  </a:lnTo>
                  <a:lnTo>
                    <a:pt x="7952" y="18115"/>
                  </a:lnTo>
                  <a:lnTo>
                    <a:pt x="7782" y="17705"/>
                  </a:lnTo>
                  <a:lnTo>
                    <a:pt x="7577" y="17295"/>
                  </a:lnTo>
                  <a:lnTo>
                    <a:pt x="7372" y="17049"/>
                  </a:lnTo>
                  <a:lnTo>
                    <a:pt x="7065" y="16639"/>
                  </a:lnTo>
                  <a:lnTo>
                    <a:pt x="6792" y="16148"/>
                  </a:lnTo>
                  <a:lnTo>
                    <a:pt x="6621" y="15738"/>
                  </a:lnTo>
                  <a:lnTo>
                    <a:pt x="6314" y="15246"/>
                  </a:lnTo>
                  <a:lnTo>
                    <a:pt x="6041" y="14754"/>
                  </a:lnTo>
                  <a:lnTo>
                    <a:pt x="5836" y="14344"/>
                  </a:lnTo>
                  <a:lnTo>
                    <a:pt x="5563" y="13689"/>
                  </a:lnTo>
                  <a:lnTo>
                    <a:pt x="5324" y="13115"/>
                  </a:lnTo>
                  <a:lnTo>
                    <a:pt x="5051" y="12787"/>
                  </a:lnTo>
                  <a:lnTo>
                    <a:pt x="4778" y="12131"/>
                  </a:lnTo>
                  <a:lnTo>
                    <a:pt x="4539" y="11639"/>
                  </a:lnTo>
                  <a:lnTo>
                    <a:pt x="4334" y="11148"/>
                  </a:lnTo>
                  <a:lnTo>
                    <a:pt x="4130" y="10574"/>
                  </a:lnTo>
                  <a:lnTo>
                    <a:pt x="3754" y="10082"/>
                  </a:lnTo>
                  <a:lnTo>
                    <a:pt x="3618" y="9426"/>
                  </a:lnTo>
                  <a:lnTo>
                    <a:pt x="3379" y="8852"/>
                  </a:lnTo>
                  <a:lnTo>
                    <a:pt x="3174" y="8361"/>
                  </a:lnTo>
                  <a:lnTo>
                    <a:pt x="2833" y="7869"/>
                  </a:lnTo>
                  <a:lnTo>
                    <a:pt x="2696" y="7213"/>
                  </a:lnTo>
                  <a:lnTo>
                    <a:pt x="2526" y="6803"/>
                  </a:lnTo>
                  <a:lnTo>
                    <a:pt x="2321" y="6148"/>
                  </a:lnTo>
                  <a:lnTo>
                    <a:pt x="2048" y="5656"/>
                  </a:lnTo>
                  <a:lnTo>
                    <a:pt x="1980" y="5164"/>
                  </a:lnTo>
                  <a:lnTo>
                    <a:pt x="1604" y="4754"/>
                  </a:lnTo>
                  <a:lnTo>
                    <a:pt x="1570" y="4262"/>
                  </a:lnTo>
                  <a:lnTo>
                    <a:pt x="1297" y="3852"/>
                  </a:lnTo>
                  <a:lnTo>
                    <a:pt x="1195" y="3361"/>
                  </a:lnTo>
                  <a:lnTo>
                    <a:pt x="956" y="2951"/>
                  </a:lnTo>
                  <a:lnTo>
                    <a:pt x="785" y="2705"/>
                  </a:lnTo>
                  <a:lnTo>
                    <a:pt x="546" y="2295"/>
                  </a:lnTo>
                  <a:lnTo>
                    <a:pt x="444" y="1885"/>
                  </a:lnTo>
                  <a:lnTo>
                    <a:pt x="410" y="1639"/>
                  </a:lnTo>
                  <a:lnTo>
                    <a:pt x="273" y="1230"/>
                  </a:lnTo>
                  <a:lnTo>
                    <a:pt x="137" y="1066"/>
                  </a:lnTo>
                  <a:lnTo>
                    <a:pt x="0" y="820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9" name="Freeform 52"/>
            <p:cNvSpPr>
              <a:spLocks/>
            </p:cNvSpPr>
            <p:nvPr/>
          </p:nvSpPr>
          <p:spPr bwMode="auto">
            <a:xfrm rot="5400000">
              <a:off x="3939" y="757"/>
              <a:ext cx="184" cy="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4" y="19867"/>
                  </a:moveTo>
                  <a:lnTo>
                    <a:pt x="19764" y="19200"/>
                  </a:lnTo>
                  <a:lnTo>
                    <a:pt x="19607" y="18800"/>
                  </a:lnTo>
                  <a:lnTo>
                    <a:pt x="19398" y="18000"/>
                  </a:lnTo>
                  <a:lnTo>
                    <a:pt x="19162" y="17600"/>
                  </a:lnTo>
                  <a:lnTo>
                    <a:pt x="18953" y="16667"/>
                  </a:lnTo>
                  <a:lnTo>
                    <a:pt x="18770" y="16133"/>
                  </a:lnTo>
                  <a:lnTo>
                    <a:pt x="18586" y="15733"/>
                  </a:lnTo>
                  <a:lnTo>
                    <a:pt x="18403" y="15067"/>
                  </a:lnTo>
                  <a:lnTo>
                    <a:pt x="18246" y="14400"/>
                  </a:lnTo>
                  <a:lnTo>
                    <a:pt x="18010" y="13733"/>
                  </a:lnTo>
                  <a:lnTo>
                    <a:pt x="17827" y="13200"/>
                  </a:lnTo>
                  <a:lnTo>
                    <a:pt x="17618" y="12667"/>
                  </a:lnTo>
                  <a:lnTo>
                    <a:pt x="17435" y="12000"/>
                  </a:lnTo>
                  <a:lnTo>
                    <a:pt x="17147" y="11600"/>
                  </a:lnTo>
                  <a:lnTo>
                    <a:pt x="17016" y="10933"/>
                  </a:lnTo>
                  <a:lnTo>
                    <a:pt x="16806" y="10267"/>
                  </a:lnTo>
                  <a:lnTo>
                    <a:pt x="16623" y="9733"/>
                  </a:lnTo>
                  <a:lnTo>
                    <a:pt x="16440" y="9200"/>
                  </a:lnTo>
                  <a:lnTo>
                    <a:pt x="16204" y="8800"/>
                  </a:lnTo>
                  <a:lnTo>
                    <a:pt x="16047" y="8267"/>
                  </a:lnTo>
                  <a:lnTo>
                    <a:pt x="15838" y="7733"/>
                  </a:lnTo>
                  <a:lnTo>
                    <a:pt x="15602" y="7067"/>
                  </a:lnTo>
                  <a:lnTo>
                    <a:pt x="15419" y="6800"/>
                  </a:lnTo>
                  <a:lnTo>
                    <a:pt x="15183" y="6267"/>
                  </a:lnTo>
                  <a:lnTo>
                    <a:pt x="15052" y="5733"/>
                  </a:lnTo>
                  <a:lnTo>
                    <a:pt x="14843" y="5333"/>
                  </a:lnTo>
                  <a:lnTo>
                    <a:pt x="14660" y="4933"/>
                  </a:lnTo>
                  <a:lnTo>
                    <a:pt x="14424" y="4400"/>
                  </a:lnTo>
                  <a:lnTo>
                    <a:pt x="14188" y="4133"/>
                  </a:lnTo>
                  <a:lnTo>
                    <a:pt x="14005" y="3867"/>
                  </a:lnTo>
                  <a:lnTo>
                    <a:pt x="13796" y="3333"/>
                  </a:lnTo>
                  <a:lnTo>
                    <a:pt x="13613" y="3067"/>
                  </a:lnTo>
                  <a:lnTo>
                    <a:pt x="13403" y="2800"/>
                  </a:lnTo>
                  <a:lnTo>
                    <a:pt x="13220" y="2267"/>
                  </a:lnTo>
                  <a:lnTo>
                    <a:pt x="13010" y="2133"/>
                  </a:lnTo>
                  <a:lnTo>
                    <a:pt x="12749" y="1733"/>
                  </a:lnTo>
                  <a:lnTo>
                    <a:pt x="12565" y="1600"/>
                  </a:lnTo>
                  <a:lnTo>
                    <a:pt x="12356" y="1200"/>
                  </a:lnTo>
                  <a:lnTo>
                    <a:pt x="12173" y="1067"/>
                  </a:lnTo>
                  <a:lnTo>
                    <a:pt x="11990" y="800"/>
                  </a:lnTo>
                  <a:lnTo>
                    <a:pt x="11728" y="800"/>
                  </a:lnTo>
                  <a:lnTo>
                    <a:pt x="11571" y="400"/>
                  </a:lnTo>
                  <a:lnTo>
                    <a:pt x="11335" y="400"/>
                  </a:lnTo>
                  <a:lnTo>
                    <a:pt x="11126" y="267"/>
                  </a:lnTo>
                  <a:lnTo>
                    <a:pt x="10942" y="133"/>
                  </a:lnTo>
                  <a:lnTo>
                    <a:pt x="10707" y="133"/>
                  </a:lnTo>
                  <a:lnTo>
                    <a:pt x="10524" y="0"/>
                  </a:lnTo>
                  <a:lnTo>
                    <a:pt x="10288" y="0"/>
                  </a:lnTo>
                  <a:lnTo>
                    <a:pt x="10079" y="0"/>
                  </a:lnTo>
                  <a:lnTo>
                    <a:pt x="9869" y="133"/>
                  </a:lnTo>
                  <a:lnTo>
                    <a:pt x="9660" y="133"/>
                  </a:lnTo>
                  <a:lnTo>
                    <a:pt x="9476" y="267"/>
                  </a:lnTo>
                  <a:lnTo>
                    <a:pt x="9188" y="400"/>
                  </a:lnTo>
                  <a:lnTo>
                    <a:pt x="8979" y="800"/>
                  </a:lnTo>
                  <a:lnTo>
                    <a:pt x="8770" y="800"/>
                  </a:lnTo>
                  <a:lnTo>
                    <a:pt x="8508" y="1067"/>
                  </a:lnTo>
                  <a:lnTo>
                    <a:pt x="8272" y="1600"/>
                  </a:lnTo>
                  <a:lnTo>
                    <a:pt x="7984" y="1733"/>
                  </a:lnTo>
                  <a:lnTo>
                    <a:pt x="7775" y="2133"/>
                  </a:lnTo>
                  <a:lnTo>
                    <a:pt x="7539" y="2400"/>
                  </a:lnTo>
                  <a:lnTo>
                    <a:pt x="7277" y="2800"/>
                  </a:lnTo>
                  <a:lnTo>
                    <a:pt x="7068" y="3333"/>
                  </a:lnTo>
                  <a:lnTo>
                    <a:pt x="6754" y="3867"/>
                  </a:lnTo>
                  <a:lnTo>
                    <a:pt x="6545" y="4133"/>
                  </a:lnTo>
                  <a:lnTo>
                    <a:pt x="6283" y="4800"/>
                  </a:lnTo>
                  <a:lnTo>
                    <a:pt x="6021" y="5067"/>
                  </a:lnTo>
                  <a:lnTo>
                    <a:pt x="5812" y="5600"/>
                  </a:lnTo>
                  <a:lnTo>
                    <a:pt x="5576" y="6000"/>
                  </a:lnTo>
                  <a:lnTo>
                    <a:pt x="5288" y="6800"/>
                  </a:lnTo>
                  <a:lnTo>
                    <a:pt x="5079" y="7067"/>
                  </a:lnTo>
                  <a:lnTo>
                    <a:pt x="4791" y="7733"/>
                  </a:lnTo>
                  <a:lnTo>
                    <a:pt x="4555" y="8267"/>
                  </a:lnTo>
                  <a:lnTo>
                    <a:pt x="4346" y="8800"/>
                  </a:lnTo>
                  <a:lnTo>
                    <a:pt x="4058" y="9333"/>
                  </a:lnTo>
                  <a:lnTo>
                    <a:pt x="3901" y="10000"/>
                  </a:lnTo>
                  <a:lnTo>
                    <a:pt x="3639" y="10400"/>
                  </a:lnTo>
                  <a:lnTo>
                    <a:pt x="3377" y="11067"/>
                  </a:lnTo>
                  <a:lnTo>
                    <a:pt x="3168" y="11600"/>
                  </a:lnTo>
                  <a:lnTo>
                    <a:pt x="2932" y="12000"/>
                  </a:lnTo>
                  <a:lnTo>
                    <a:pt x="2723" y="12667"/>
                  </a:lnTo>
                  <a:lnTo>
                    <a:pt x="2513" y="13067"/>
                  </a:lnTo>
                  <a:lnTo>
                    <a:pt x="2304" y="13733"/>
                  </a:lnTo>
                  <a:lnTo>
                    <a:pt x="2068" y="14267"/>
                  </a:lnTo>
                  <a:lnTo>
                    <a:pt x="1859" y="14667"/>
                  </a:lnTo>
                  <a:lnTo>
                    <a:pt x="1675" y="15200"/>
                  </a:lnTo>
                  <a:lnTo>
                    <a:pt x="1518" y="15733"/>
                  </a:lnTo>
                  <a:lnTo>
                    <a:pt x="1283" y="16133"/>
                  </a:lnTo>
                  <a:lnTo>
                    <a:pt x="1152" y="16667"/>
                  </a:lnTo>
                  <a:lnTo>
                    <a:pt x="995" y="16933"/>
                  </a:lnTo>
                  <a:lnTo>
                    <a:pt x="838" y="17200"/>
                  </a:lnTo>
                  <a:lnTo>
                    <a:pt x="681" y="17733"/>
                  </a:lnTo>
                  <a:lnTo>
                    <a:pt x="497" y="18000"/>
                  </a:lnTo>
                  <a:lnTo>
                    <a:pt x="366" y="18267"/>
                  </a:lnTo>
                  <a:lnTo>
                    <a:pt x="262" y="18400"/>
                  </a:lnTo>
                  <a:lnTo>
                    <a:pt x="131" y="18933"/>
                  </a:lnTo>
                  <a:lnTo>
                    <a:pt x="0" y="19067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0" name="Freeform 53"/>
            <p:cNvSpPr>
              <a:spLocks/>
            </p:cNvSpPr>
            <p:nvPr/>
          </p:nvSpPr>
          <p:spPr bwMode="auto">
            <a:xfrm rot="5400000">
              <a:off x="3904" y="573"/>
              <a:ext cx="192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5" y="0"/>
                  </a:moveTo>
                  <a:lnTo>
                    <a:pt x="19724" y="755"/>
                  </a:lnTo>
                  <a:lnTo>
                    <a:pt x="19523" y="1258"/>
                  </a:lnTo>
                  <a:lnTo>
                    <a:pt x="19447" y="1761"/>
                  </a:lnTo>
                  <a:lnTo>
                    <a:pt x="19196" y="2642"/>
                  </a:lnTo>
                  <a:lnTo>
                    <a:pt x="18970" y="3396"/>
                  </a:lnTo>
                  <a:lnTo>
                    <a:pt x="18894" y="3899"/>
                  </a:lnTo>
                  <a:lnTo>
                    <a:pt x="18593" y="4025"/>
                  </a:lnTo>
                  <a:lnTo>
                    <a:pt x="18442" y="5031"/>
                  </a:lnTo>
                  <a:lnTo>
                    <a:pt x="18166" y="5535"/>
                  </a:lnTo>
                  <a:lnTo>
                    <a:pt x="17990" y="6038"/>
                  </a:lnTo>
                  <a:lnTo>
                    <a:pt x="17915" y="6415"/>
                  </a:lnTo>
                  <a:lnTo>
                    <a:pt x="17563" y="7044"/>
                  </a:lnTo>
                  <a:lnTo>
                    <a:pt x="17412" y="7799"/>
                  </a:lnTo>
                  <a:lnTo>
                    <a:pt x="17261" y="8428"/>
                  </a:lnTo>
                  <a:lnTo>
                    <a:pt x="17111" y="8931"/>
                  </a:lnTo>
                  <a:lnTo>
                    <a:pt x="16884" y="9434"/>
                  </a:lnTo>
                  <a:lnTo>
                    <a:pt x="16583" y="10189"/>
                  </a:lnTo>
                  <a:lnTo>
                    <a:pt x="16332" y="10692"/>
                  </a:lnTo>
                  <a:lnTo>
                    <a:pt x="16206" y="11195"/>
                  </a:lnTo>
                  <a:lnTo>
                    <a:pt x="16030" y="11447"/>
                  </a:lnTo>
                  <a:lnTo>
                    <a:pt x="15779" y="12201"/>
                  </a:lnTo>
                  <a:lnTo>
                    <a:pt x="15628" y="12579"/>
                  </a:lnTo>
                  <a:lnTo>
                    <a:pt x="15427" y="13208"/>
                  </a:lnTo>
                  <a:lnTo>
                    <a:pt x="15201" y="13585"/>
                  </a:lnTo>
                  <a:lnTo>
                    <a:pt x="15025" y="14088"/>
                  </a:lnTo>
                  <a:lnTo>
                    <a:pt x="14899" y="14465"/>
                  </a:lnTo>
                  <a:lnTo>
                    <a:pt x="14648" y="14969"/>
                  </a:lnTo>
                  <a:lnTo>
                    <a:pt x="14372" y="15220"/>
                  </a:lnTo>
                  <a:lnTo>
                    <a:pt x="14271" y="15597"/>
                  </a:lnTo>
                  <a:lnTo>
                    <a:pt x="13995" y="15975"/>
                  </a:lnTo>
                  <a:lnTo>
                    <a:pt x="13794" y="16478"/>
                  </a:lnTo>
                  <a:lnTo>
                    <a:pt x="13618" y="16478"/>
                  </a:lnTo>
                  <a:lnTo>
                    <a:pt x="13417" y="16981"/>
                  </a:lnTo>
                  <a:lnTo>
                    <a:pt x="13141" y="17233"/>
                  </a:lnTo>
                  <a:lnTo>
                    <a:pt x="13015" y="17862"/>
                  </a:lnTo>
                  <a:lnTo>
                    <a:pt x="12789" y="18239"/>
                  </a:lnTo>
                  <a:lnTo>
                    <a:pt x="12638" y="18239"/>
                  </a:lnTo>
                  <a:lnTo>
                    <a:pt x="12412" y="18868"/>
                  </a:lnTo>
                  <a:lnTo>
                    <a:pt x="12186" y="18868"/>
                  </a:lnTo>
                  <a:lnTo>
                    <a:pt x="11985" y="18868"/>
                  </a:lnTo>
                  <a:lnTo>
                    <a:pt x="11759" y="19119"/>
                  </a:lnTo>
                  <a:lnTo>
                    <a:pt x="11508" y="19245"/>
                  </a:lnTo>
                  <a:lnTo>
                    <a:pt x="11281" y="19245"/>
                  </a:lnTo>
                  <a:lnTo>
                    <a:pt x="11181" y="19623"/>
                  </a:lnTo>
                  <a:lnTo>
                    <a:pt x="10980" y="19874"/>
                  </a:lnTo>
                  <a:lnTo>
                    <a:pt x="10754" y="19874"/>
                  </a:lnTo>
                  <a:lnTo>
                    <a:pt x="10528" y="19874"/>
                  </a:lnTo>
                  <a:lnTo>
                    <a:pt x="10327" y="19874"/>
                  </a:lnTo>
                  <a:lnTo>
                    <a:pt x="10151" y="19874"/>
                  </a:lnTo>
                  <a:lnTo>
                    <a:pt x="9799" y="19874"/>
                  </a:lnTo>
                  <a:lnTo>
                    <a:pt x="9648" y="19623"/>
                  </a:lnTo>
                  <a:lnTo>
                    <a:pt x="9422" y="19245"/>
                  </a:lnTo>
                  <a:lnTo>
                    <a:pt x="9196" y="19245"/>
                  </a:lnTo>
                  <a:lnTo>
                    <a:pt x="8970" y="19119"/>
                  </a:lnTo>
                  <a:lnTo>
                    <a:pt x="8769" y="18868"/>
                  </a:lnTo>
                  <a:lnTo>
                    <a:pt x="8518" y="18868"/>
                  </a:lnTo>
                  <a:lnTo>
                    <a:pt x="8241" y="18491"/>
                  </a:lnTo>
                  <a:lnTo>
                    <a:pt x="7965" y="18239"/>
                  </a:lnTo>
                  <a:lnTo>
                    <a:pt x="7789" y="17862"/>
                  </a:lnTo>
                  <a:lnTo>
                    <a:pt x="7538" y="17233"/>
                  </a:lnTo>
                  <a:lnTo>
                    <a:pt x="7337" y="16981"/>
                  </a:lnTo>
                  <a:lnTo>
                    <a:pt x="7136" y="16478"/>
                  </a:lnTo>
                  <a:lnTo>
                    <a:pt x="6809" y="15975"/>
                  </a:lnTo>
                  <a:lnTo>
                    <a:pt x="6633" y="15597"/>
                  </a:lnTo>
                  <a:lnTo>
                    <a:pt x="6332" y="15220"/>
                  </a:lnTo>
                  <a:lnTo>
                    <a:pt x="6030" y="14465"/>
                  </a:lnTo>
                  <a:lnTo>
                    <a:pt x="5829" y="14214"/>
                  </a:lnTo>
                  <a:lnTo>
                    <a:pt x="5578" y="13585"/>
                  </a:lnTo>
                  <a:lnTo>
                    <a:pt x="5302" y="13208"/>
                  </a:lnTo>
                  <a:lnTo>
                    <a:pt x="5025" y="12956"/>
                  </a:lnTo>
                  <a:lnTo>
                    <a:pt x="4749" y="12201"/>
                  </a:lnTo>
                  <a:lnTo>
                    <a:pt x="4523" y="11447"/>
                  </a:lnTo>
                  <a:lnTo>
                    <a:pt x="4296" y="11195"/>
                  </a:lnTo>
                  <a:lnTo>
                    <a:pt x="4171" y="10692"/>
                  </a:lnTo>
                  <a:lnTo>
                    <a:pt x="3794" y="10189"/>
                  </a:lnTo>
                  <a:lnTo>
                    <a:pt x="3693" y="9182"/>
                  </a:lnTo>
                  <a:lnTo>
                    <a:pt x="3417" y="8931"/>
                  </a:lnTo>
                  <a:lnTo>
                    <a:pt x="3191" y="8428"/>
                  </a:lnTo>
                  <a:lnTo>
                    <a:pt x="2864" y="7799"/>
                  </a:lnTo>
                  <a:lnTo>
                    <a:pt x="2764" y="7044"/>
                  </a:lnTo>
                  <a:lnTo>
                    <a:pt x="2538" y="6415"/>
                  </a:lnTo>
                  <a:lnTo>
                    <a:pt x="2286" y="6038"/>
                  </a:lnTo>
                  <a:lnTo>
                    <a:pt x="2010" y="5535"/>
                  </a:lnTo>
                  <a:lnTo>
                    <a:pt x="1985" y="5031"/>
                  </a:lnTo>
                  <a:lnTo>
                    <a:pt x="1633" y="4780"/>
                  </a:lnTo>
                  <a:lnTo>
                    <a:pt x="1533" y="4025"/>
                  </a:lnTo>
                  <a:lnTo>
                    <a:pt x="1307" y="3899"/>
                  </a:lnTo>
                  <a:lnTo>
                    <a:pt x="1256" y="3396"/>
                  </a:lnTo>
                  <a:lnTo>
                    <a:pt x="980" y="3019"/>
                  </a:lnTo>
                  <a:lnTo>
                    <a:pt x="779" y="2642"/>
                  </a:lnTo>
                  <a:lnTo>
                    <a:pt x="578" y="2013"/>
                  </a:lnTo>
                  <a:lnTo>
                    <a:pt x="477" y="1761"/>
                  </a:lnTo>
                  <a:lnTo>
                    <a:pt x="427" y="1761"/>
                  </a:lnTo>
                  <a:lnTo>
                    <a:pt x="302" y="1258"/>
                  </a:lnTo>
                  <a:lnTo>
                    <a:pt x="176" y="1258"/>
                  </a:lnTo>
                  <a:lnTo>
                    <a:pt x="0" y="1006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1" name="Freeform 54"/>
            <p:cNvSpPr>
              <a:spLocks/>
            </p:cNvSpPr>
            <p:nvPr/>
          </p:nvSpPr>
          <p:spPr bwMode="auto">
            <a:xfrm rot="5400000">
              <a:off x="3880" y="260"/>
              <a:ext cx="238" cy="2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44" y="889"/>
                  </a:lnTo>
                  <a:lnTo>
                    <a:pt x="508" y="1185"/>
                  </a:lnTo>
                  <a:lnTo>
                    <a:pt x="528" y="1926"/>
                  </a:lnTo>
                  <a:lnTo>
                    <a:pt x="812" y="2370"/>
                  </a:lnTo>
                  <a:lnTo>
                    <a:pt x="975" y="3259"/>
                  </a:lnTo>
                  <a:lnTo>
                    <a:pt x="1137" y="3704"/>
                  </a:lnTo>
                  <a:lnTo>
                    <a:pt x="1442" y="4296"/>
                  </a:lnTo>
                  <a:lnTo>
                    <a:pt x="1645" y="5185"/>
                  </a:lnTo>
                  <a:lnTo>
                    <a:pt x="1706" y="5481"/>
                  </a:lnTo>
                  <a:lnTo>
                    <a:pt x="2010" y="5926"/>
                  </a:lnTo>
                  <a:lnTo>
                    <a:pt x="2173" y="6963"/>
                  </a:lnTo>
                  <a:lnTo>
                    <a:pt x="2437" y="7111"/>
                  </a:lnTo>
                  <a:lnTo>
                    <a:pt x="2660" y="7556"/>
                  </a:lnTo>
                  <a:lnTo>
                    <a:pt x="2721" y="8444"/>
                  </a:lnTo>
                  <a:lnTo>
                    <a:pt x="2964" y="9037"/>
                  </a:lnTo>
                  <a:lnTo>
                    <a:pt x="3127" y="9926"/>
                  </a:lnTo>
                  <a:lnTo>
                    <a:pt x="3391" y="10222"/>
                  </a:lnTo>
                  <a:lnTo>
                    <a:pt x="3655" y="10815"/>
                  </a:lnTo>
                  <a:lnTo>
                    <a:pt x="3797" y="11111"/>
                  </a:lnTo>
                  <a:lnTo>
                    <a:pt x="3980" y="11852"/>
                  </a:lnTo>
                  <a:lnTo>
                    <a:pt x="4203" y="12296"/>
                  </a:lnTo>
                  <a:lnTo>
                    <a:pt x="4406" y="12889"/>
                  </a:lnTo>
                  <a:lnTo>
                    <a:pt x="4670" y="13185"/>
                  </a:lnTo>
                  <a:lnTo>
                    <a:pt x="4731" y="13778"/>
                  </a:lnTo>
                  <a:lnTo>
                    <a:pt x="5015" y="14370"/>
                  </a:lnTo>
                  <a:lnTo>
                    <a:pt x="5157" y="14667"/>
                  </a:lnTo>
                  <a:lnTo>
                    <a:pt x="5421" y="14667"/>
                  </a:lnTo>
                  <a:lnTo>
                    <a:pt x="5543" y="15259"/>
                  </a:lnTo>
                  <a:lnTo>
                    <a:pt x="5807" y="16296"/>
                  </a:lnTo>
                  <a:lnTo>
                    <a:pt x="5970" y="16444"/>
                  </a:lnTo>
                  <a:lnTo>
                    <a:pt x="6254" y="16444"/>
                  </a:lnTo>
                  <a:lnTo>
                    <a:pt x="6315" y="16889"/>
                  </a:lnTo>
                  <a:lnTo>
                    <a:pt x="6680" y="17481"/>
                  </a:lnTo>
                  <a:lnTo>
                    <a:pt x="6883" y="17481"/>
                  </a:lnTo>
                  <a:lnTo>
                    <a:pt x="7005" y="17778"/>
                  </a:lnTo>
                  <a:lnTo>
                    <a:pt x="7188" y="18667"/>
                  </a:lnTo>
                  <a:lnTo>
                    <a:pt x="7431" y="18667"/>
                  </a:lnTo>
                  <a:lnTo>
                    <a:pt x="7675" y="18667"/>
                  </a:lnTo>
                  <a:lnTo>
                    <a:pt x="7817" y="18667"/>
                  </a:lnTo>
                  <a:lnTo>
                    <a:pt x="8000" y="19111"/>
                  </a:lnTo>
                  <a:lnTo>
                    <a:pt x="8223" y="19111"/>
                  </a:lnTo>
                  <a:lnTo>
                    <a:pt x="8426" y="19111"/>
                  </a:lnTo>
                  <a:lnTo>
                    <a:pt x="8670" y="19704"/>
                  </a:lnTo>
                  <a:lnTo>
                    <a:pt x="8893" y="19852"/>
                  </a:lnTo>
                  <a:lnTo>
                    <a:pt x="9036" y="19852"/>
                  </a:lnTo>
                  <a:lnTo>
                    <a:pt x="9259" y="19852"/>
                  </a:lnTo>
                  <a:lnTo>
                    <a:pt x="9442" y="19852"/>
                  </a:lnTo>
                  <a:lnTo>
                    <a:pt x="9746" y="19852"/>
                  </a:lnTo>
                  <a:lnTo>
                    <a:pt x="9888" y="19852"/>
                  </a:lnTo>
                  <a:lnTo>
                    <a:pt x="10173" y="19852"/>
                  </a:lnTo>
                  <a:lnTo>
                    <a:pt x="10376" y="19852"/>
                  </a:lnTo>
                  <a:lnTo>
                    <a:pt x="10558" y="19704"/>
                  </a:lnTo>
                  <a:lnTo>
                    <a:pt x="10802" y="19704"/>
                  </a:lnTo>
                  <a:lnTo>
                    <a:pt x="10964" y="19111"/>
                  </a:lnTo>
                  <a:lnTo>
                    <a:pt x="11269" y="19111"/>
                  </a:lnTo>
                  <a:lnTo>
                    <a:pt x="11513" y="18667"/>
                  </a:lnTo>
                  <a:lnTo>
                    <a:pt x="11797" y="18667"/>
                  </a:lnTo>
                  <a:lnTo>
                    <a:pt x="12061" y="18667"/>
                  </a:lnTo>
                  <a:lnTo>
                    <a:pt x="12223" y="17778"/>
                  </a:lnTo>
                  <a:lnTo>
                    <a:pt x="12487" y="17481"/>
                  </a:lnTo>
                  <a:lnTo>
                    <a:pt x="12711" y="16889"/>
                  </a:lnTo>
                  <a:lnTo>
                    <a:pt x="12975" y="16444"/>
                  </a:lnTo>
                  <a:lnTo>
                    <a:pt x="13259" y="16444"/>
                  </a:lnTo>
                  <a:lnTo>
                    <a:pt x="13401" y="16296"/>
                  </a:lnTo>
                  <a:lnTo>
                    <a:pt x="13665" y="15259"/>
                  </a:lnTo>
                  <a:lnTo>
                    <a:pt x="13970" y="14667"/>
                  </a:lnTo>
                  <a:lnTo>
                    <a:pt x="14234" y="14370"/>
                  </a:lnTo>
                  <a:lnTo>
                    <a:pt x="14457" y="13778"/>
                  </a:lnTo>
                  <a:lnTo>
                    <a:pt x="14680" y="13333"/>
                  </a:lnTo>
                  <a:lnTo>
                    <a:pt x="14985" y="12889"/>
                  </a:lnTo>
                  <a:lnTo>
                    <a:pt x="15269" y="12296"/>
                  </a:lnTo>
                  <a:lnTo>
                    <a:pt x="15431" y="11852"/>
                  </a:lnTo>
                  <a:lnTo>
                    <a:pt x="15675" y="11111"/>
                  </a:lnTo>
                  <a:lnTo>
                    <a:pt x="15898" y="10815"/>
                  </a:lnTo>
                  <a:lnTo>
                    <a:pt x="16183" y="10222"/>
                  </a:lnTo>
                  <a:lnTo>
                    <a:pt x="16284" y="9333"/>
                  </a:lnTo>
                  <a:lnTo>
                    <a:pt x="16731" y="9037"/>
                  </a:lnTo>
                  <a:lnTo>
                    <a:pt x="16873" y="8444"/>
                  </a:lnTo>
                  <a:lnTo>
                    <a:pt x="17137" y="7556"/>
                  </a:lnTo>
                  <a:lnTo>
                    <a:pt x="17299" y="7111"/>
                  </a:lnTo>
                  <a:lnTo>
                    <a:pt x="17442" y="6963"/>
                  </a:lnTo>
                  <a:lnTo>
                    <a:pt x="17746" y="5926"/>
                  </a:lnTo>
                  <a:lnTo>
                    <a:pt x="17970" y="5630"/>
                  </a:lnTo>
                  <a:lnTo>
                    <a:pt x="18071" y="5185"/>
                  </a:lnTo>
                  <a:lnTo>
                    <a:pt x="18294" y="4741"/>
                  </a:lnTo>
                  <a:lnTo>
                    <a:pt x="18497" y="4296"/>
                  </a:lnTo>
                  <a:lnTo>
                    <a:pt x="18680" y="3704"/>
                  </a:lnTo>
                  <a:lnTo>
                    <a:pt x="18883" y="3259"/>
                  </a:lnTo>
                  <a:lnTo>
                    <a:pt x="19086" y="3111"/>
                  </a:lnTo>
                  <a:lnTo>
                    <a:pt x="19147" y="2667"/>
                  </a:lnTo>
                  <a:lnTo>
                    <a:pt x="19391" y="2074"/>
                  </a:lnTo>
                  <a:lnTo>
                    <a:pt x="19492" y="1926"/>
                  </a:lnTo>
                  <a:lnTo>
                    <a:pt x="19614" y="1926"/>
                  </a:lnTo>
                  <a:lnTo>
                    <a:pt x="19695" y="1185"/>
                  </a:lnTo>
                  <a:lnTo>
                    <a:pt x="19878" y="1185"/>
                  </a:lnTo>
                  <a:lnTo>
                    <a:pt x="19980" y="889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2" name="Freeform 55"/>
            <p:cNvSpPr>
              <a:spLocks/>
            </p:cNvSpPr>
            <p:nvPr/>
          </p:nvSpPr>
          <p:spPr bwMode="auto">
            <a:xfrm rot="5400000">
              <a:off x="3966" y="440"/>
              <a:ext cx="101" cy="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52" y="19444"/>
                  </a:moveTo>
                  <a:lnTo>
                    <a:pt x="19760" y="18889"/>
                  </a:lnTo>
                  <a:lnTo>
                    <a:pt x="19568" y="18333"/>
                  </a:lnTo>
                  <a:lnTo>
                    <a:pt x="19376" y="18333"/>
                  </a:lnTo>
                  <a:lnTo>
                    <a:pt x="19185" y="16667"/>
                  </a:lnTo>
                  <a:lnTo>
                    <a:pt x="18945" y="16111"/>
                  </a:lnTo>
                  <a:lnTo>
                    <a:pt x="18753" y="16111"/>
                  </a:lnTo>
                  <a:lnTo>
                    <a:pt x="18561" y="15000"/>
                  </a:lnTo>
                  <a:lnTo>
                    <a:pt x="18417" y="15000"/>
                  </a:lnTo>
                  <a:lnTo>
                    <a:pt x="18177" y="14444"/>
                  </a:lnTo>
                  <a:lnTo>
                    <a:pt x="18034" y="12778"/>
                  </a:lnTo>
                  <a:lnTo>
                    <a:pt x="17842" y="12778"/>
                  </a:lnTo>
                  <a:lnTo>
                    <a:pt x="17602" y="12222"/>
                  </a:lnTo>
                  <a:lnTo>
                    <a:pt x="17410" y="12222"/>
                  </a:lnTo>
                  <a:lnTo>
                    <a:pt x="17170" y="11111"/>
                  </a:lnTo>
                  <a:lnTo>
                    <a:pt x="17026" y="10556"/>
                  </a:lnTo>
                  <a:lnTo>
                    <a:pt x="16835" y="10556"/>
                  </a:lnTo>
                  <a:lnTo>
                    <a:pt x="16595" y="8889"/>
                  </a:lnTo>
                  <a:lnTo>
                    <a:pt x="16403" y="8889"/>
                  </a:lnTo>
                  <a:lnTo>
                    <a:pt x="16211" y="8333"/>
                  </a:lnTo>
                  <a:lnTo>
                    <a:pt x="16067" y="8333"/>
                  </a:lnTo>
                  <a:lnTo>
                    <a:pt x="15827" y="7778"/>
                  </a:lnTo>
                  <a:lnTo>
                    <a:pt x="15588" y="7778"/>
                  </a:lnTo>
                  <a:lnTo>
                    <a:pt x="15396" y="6667"/>
                  </a:lnTo>
                  <a:lnTo>
                    <a:pt x="15204" y="6667"/>
                  </a:lnTo>
                  <a:lnTo>
                    <a:pt x="15012" y="5000"/>
                  </a:lnTo>
                  <a:lnTo>
                    <a:pt x="14820" y="5000"/>
                  </a:lnTo>
                  <a:lnTo>
                    <a:pt x="14580" y="4444"/>
                  </a:lnTo>
                  <a:lnTo>
                    <a:pt x="14436" y="4444"/>
                  </a:lnTo>
                  <a:lnTo>
                    <a:pt x="14197" y="3889"/>
                  </a:lnTo>
                  <a:lnTo>
                    <a:pt x="14005" y="3889"/>
                  </a:lnTo>
                  <a:lnTo>
                    <a:pt x="13813" y="3333"/>
                  </a:lnTo>
                  <a:lnTo>
                    <a:pt x="13525" y="3333"/>
                  </a:lnTo>
                  <a:lnTo>
                    <a:pt x="13381" y="3333"/>
                  </a:lnTo>
                  <a:lnTo>
                    <a:pt x="13141" y="3333"/>
                  </a:lnTo>
                  <a:lnTo>
                    <a:pt x="13046" y="1667"/>
                  </a:lnTo>
                  <a:lnTo>
                    <a:pt x="12758" y="1667"/>
                  </a:lnTo>
                  <a:lnTo>
                    <a:pt x="12566" y="1667"/>
                  </a:lnTo>
                  <a:lnTo>
                    <a:pt x="12374" y="1667"/>
                  </a:lnTo>
                  <a:lnTo>
                    <a:pt x="12086" y="556"/>
                  </a:lnTo>
                  <a:lnTo>
                    <a:pt x="11990" y="556"/>
                  </a:lnTo>
                  <a:lnTo>
                    <a:pt x="11703" y="556"/>
                  </a:lnTo>
                  <a:lnTo>
                    <a:pt x="11559" y="556"/>
                  </a:lnTo>
                  <a:lnTo>
                    <a:pt x="11271" y="0"/>
                  </a:lnTo>
                  <a:lnTo>
                    <a:pt x="11127" y="0"/>
                  </a:lnTo>
                  <a:lnTo>
                    <a:pt x="10935" y="0"/>
                  </a:lnTo>
                  <a:lnTo>
                    <a:pt x="10695" y="0"/>
                  </a:lnTo>
                  <a:lnTo>
                    <a:pt x="10504" y="0"/>
                  </a:lnTo>
                  <a:lnTo>
                    <a:pt x="10312" y="0"/>
                  </a:lnTo>
                  <a:lnTo>
                    <a:pt x="10072" y="0"/>
                  </a:lnTo>
                  <a:lnTo>
                    <a:pt x="9832" y="0"/>
                  </a:lnTo>
                  <a:lnTo>
                    <a:pt x="9592" y="0"/>
                  </a:lnTo>
                  <a:lnTo>
                    <a:pt x="9400" y="0"/>
                  </a:lnTo>
                  <a:lnTo>
                    <a:pt x="9209" y="0"/>
                  </a:lnTo>
                  <a:lnTo>
                    <a:pt x="8969" y="556"/>
                  </a:lnTo>
                  <a:lnTo>
                    <a:pt x="8729" y="556"/>
                  </a:lnTo>
                  <a:lnTo>
                    <a:pt x="8489" y="556"/>
                  </a:lnTo>
                  <a:lnTo>
                    <a:pt x="8297" y="1667"/>
                  </a:lnTo>
                  <a:lnTo>
                    <a:pt x="7962" y="1667"/>
                  </a:lnTo>
                  <a:lnTo>
                    <a:pt x="7818" y="1667"/>
                  </a:lnTo>
                  <a:lnTo>
                    <a:pt x="7530" y="3333"/>
                  </a:lnTo>
                  <a:lnTo>
                    <a:pt x="7194" y="3333"/>
                  </a:lnTo>
                  <a:lnTo>
                    <a:pt x="7002" y="3333"/>
                  </a:lnTo>
                  <a:lnTo>
                    <a:pt x="6811" y="3889"/>
                  </a:lnTo>
                  <a:lnTo>
                    <a:pt x="6523" y="3889"/>
                  </a:lnTo>
                  <a:lnTo>
                    <a:pt x="6283" y="4444"/>
                  </a:lnTo>
                  <a:lnTo>
                    <a:pt x="5995" y="4444"/>
                  </a:lnTo>
                  <a:lnTo>
                    <a:pt x="5755" y="5000"/>
                  </a:lnTo>
                  <a:lnTo>
                    <a:pt x="5564" y="6667"/>
                  </a:lnTo>
                  <a:lnTo>
                    <a:pt x="5324" y="6667"/>
                  </a:lnTo>
                  <a:lnTo>
                    <a:pt x="5084" y="7778"/>
                  </a:lnTo>
                  <a:lnTo>
                    <a:pt x="4796" y="7778"/>
                  </a:lnTo>
                  <a:lnTo>
                    <a:pt x="4556" y="8333"/>
                  </a:lnTo>
                  <a:lnTo>
                    <a:pt x="4317" y="8333"/>
                  </a:lnTo>
                  <a:lnTo>
                    <a:pt x="4077" y="8889"/>
                  </a:lnTo>
                  <a:lnTo>
                    <a:pt x="3837" y="8889"/>
                  </a:lnTo>
                  <a:lnTo>
                    <a:pt x="3645" y="10556"/>
                  </a:lnTo>
                  <a:lnTo>
                    <a:pt x="3405" y="10556"/>
                  </a:lnTo>
                  <a:lnTo>
                    <a:pt x="3070" y="11111"/>
                  </a:lnTo>
                  <a:lnTo>
                    <a:pt x="2926" y="12222"/>
                  </a:lnTo>
                  <a:lnTo>
                    <a:pt x="2734" y="12222"/>
                  </a:lnTo>
                  <a:lnTo>
                    <a:pt x="2446" y="12778"/>
                  </a:lnTo>
                  <a:lnTo>
                    <a:pt x="2254" y="12778"/>
                  </a:lnTo>
                  <a:lnTo>
                    <a:pt x="2062" y="12778"/>
                  </a:lnTo>
                  <a:lnTo>
                    <a:pt x="1823" y="14444"/>
                  </a:lnTo>
                  <a:lnTo>
                    <a:pt x="1631" y="15000"/>
                  </a:lnTo>
                  <a:lnTo>
                    <a:pt x="1487" y="15000"/>
                  </a:lnTo>
                  <a:lnTo>
                    <a:pt x="1295" y="16111"/>
                  </a:lnTo>
                  <a:lnTo>
                    <a:pt x="1151" y="16111"/>
                  </a:lnTo>
                  <a:lnTo>
                    <a:pt x="1007" y="16667"/>
                  </a:lnTo>
                  <a:lnTo>
                    <a:pt x="767" y="16667"/>
                  </a:lnTo>
                  <a:lnTo>
                    <a:pt x="719" y="18333"/>
                  </a:lnTo>
                  <a:lnTo>
                    <a:pt x="432" y="18333"/>
                  </a:lnTo>
                  <a:lnTo>
                    <a:pt x="384" y="18333"/>
                  </a:lnTo>
                  <a:lnTo>
                    <a:pt x="192" y="18333"/>
                  </a:lnTo>
                  <a:lnTo>
                    <a:pt x="144" y="18889"/>
                  </a:lnTo>
                  <a:lnTo>
                    <a:pt x="0" y="18889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3" name="Line 56"/>
            <p:cNvSpPr>
              <a:spLocks noChangeShapeType="1"/>
            </p:cNvSpPr>
            <p:nvPr/>
          </p:nvSpPr>
          <p:spPr bwMode="auto">
            <a:xfrm rot="5400000" flipH="1">
              <a:off x="4064" y="956"/>
              <a:ext cx="15" cy="4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4" name="Line 57"/>
            <p:cNvSpPr>
              <a:spLocks noChangeShapeType="1"/>
            </p:cNvSpPr>
            <p:nvPr/>
          </p:nvSpPr>
          <p:spPr bwMode="auto">
            <a:xfrm rot="5400000">
              <a:off x="3981" y="250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5" name="Line 58"/>
            <p:cNvSpPr>
              <a:spLocks noChangeShapeType="1"/>
            </p:cNvSpPr>
            <p:nvPr/>
          </p:nvSpPr>
          <p:spPr bwMode="auto">
            <a:xfrm rot="5400000">
              <a:off x="3977" y="571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6" name="Line 59"/>
            <p:cNvSpPr>
              <a:spLocks noChangeShapeType="1"/>
            </p:cNvSpPr>
            <p:nvPr/>
          </p:nvSpPr>
          <p:spPr bwMode="auto">
            <a:xfrm rot="5400000">
              <a:off x="3977" y="901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7" name="Line 60"/>
            <p:cNvSpPr>
              <a:spLocks noChangeShapeType="1"/>
            </p:cNvSpPr>
            <p:nvPr/>
          </p:nvSpPr>
          <p:spPr bwMode="auto">
            <a:xfrm rot="5400000">
              <a:off x="3977" y="1522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8" name="Line 61"/>
            <p:cNvSpPr>
              <a:spLocks noChangeShapeType="1"/>
            </p:cNvSpPr>
            <p:nvPr/>
          </p:nvSpPr>
          <p:spPr bwMode="auto">
            <a:xfrm rot="5400000">
              <a:off x="3977" y="1832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9" name="Line 62"/>
            <p:cNvSpPr>
              <a:spLocks noChangeShapeType="1"/>
            </p:cNvSpPr>
            <p:nvPr/>
          </p:nvSpPr>
          <p:spPr bwMode="auto">
            <a:xfrm rot="5400000">
              <a:off x="3981" y="2167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3"/>
          <p:cNvGrpSpPr>
            <a:grpSpLocks/>
          </p:cNvGrpSpPr>
          <p:nvPr/>
        </p:nvGrpSpPr>
        <p:grpSpPr bwMode="auto">
          <a:xfrm>
            <a:off x="4876800" y="1343025"/>
            <a:ext cx="457200" cy="4067175"/>
            <a:chOff x="3072" y="702"/>
            <a:chExt cx="288" cy="2610"/>
          </a:xfrm>
        </p:grpSpPr>
        <p:sp>
          <p:nvSpPr>
            <p:cNvPr id="28731" name="Rectangle 64"/>
            <p:cNvSpPr>
              <a:spLocks noChangeArrowheads="1"/>
            </p:cNvSpPr>
            <p:nvPr/>
          </p:nvSpPr>
          <p:spPr bwMode="auto">
            <a:xfrm>
              <a:off x="3072" y="702"/>
              <a:ext cx="288" cy="2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2" name="Rectangle 65"/>
            <p:cNvSpPr>
              <a:spLocks noChangeArrowheads="1"/>
            </p:cNvSpPr>
            <p:nvPr/>
          </p:nvSpPr>
          <p:spPr bwMode="auto">
            <a:xfrm>
              <a:off x="3072" y="1710"/>
              <a:ext cx="288" cy="57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3" name="Rectangle 66"/>
            <p:cNvSpPr>
              <a:spLocks noChangeArrowheads="1"/>
            </p:cNvSpPr>
            <p:nvPr/>
          </p:nvSpPr>
          <p:spPr bwMode="auto">
            <a:xfrm>
              <a:off x="3072" y="137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5050">
                    <a:alpha val="87999"/>
                  </a:srgbClr>
                </a:gs>
                <a:gs pos="50000">
                  <a:srgbClr val="FF0000">
                    <a:alpha val="87999"/>
                  </a:srgbClr>
                </a:gs>
                <a:gs pos="100000">
                  <a:srgbClr val="FF5050">
                    <a:alpha val="87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4" name="Rectangle 67"/>
            <p:cNvSpPr>
              <a:spLocks noChangeArrowheads="1"/>
            </p:cNvSpPr>
            <p:nvPr/>
          </p:nvSpPr>
          <p:spPr bwMode="auto">
            <a:xfrm>
              <a:off x="3072" y="103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50000">
                  <a:srgbClr val="FF5050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5" name="Rectangle 68"/>
            <p:cNvSpPr>
              <a:spLocks noChangeArrowheads="1"/>
            </p:cNvSpPr>
            <p:nvPr/>
          </p:nvSpPr>
          <p:spPr bwMode="auto">
            <a:xfrm>
              <a:off x="3072" y="70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CCCC"/>
                </a:gs>
                <a:gs pos="50000">
                  <a:srgbClr val="FF5050"/>
                </a:gs>
                <a:gs pos="100000">
                  <a:srgbClr val="FFCCC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6" name="Rectangle 69"/>
            <p:cNvSpPr>
              <a:spLocks noChangeArrowheads="1"/>
            </p:cNvSpPr>
            <p:nvPr/>
          </p:nvSpPr>
          <p:spPr bwMode="auto">
            <a:xfrm>
              <a:off x="3072" y="235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5050">
                    <a:alpha val="87999"/>
                  </a:srgbClr>
                </a:gs>
                <a:gs pos="50000">
                  <a:srgbClr val="FF0000">
                    <a:alpha val="87999"/>
                  </a:srgbClr>
                </a:gs>
                <a:gs pos="100000">
                  <a:srgbClr val="FF5050">
                    <a:alpha val="87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7" name="Rectangle 70"/>
            <p:cNvSpPr>
              <a:spLocks noChangeArrowheads="1"/>
            </p:cNvSpPr>
            <p:nvPr/>
          </p:nvSpPr>
          <p:spPr bwMode="auto">
            <a:xfrm>
              <a:off x="3072" y="268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50000">
                  <a:srgbClr val="FF5050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8" name="Rectangle 71"/>
            <p:cNvSpPr>
              <a:spLocks noChangeArrowheads="1"/>
            </p:cNvSpPr>
            <p:nvPr/>
          </p:nvSpPr>
          <p:spPr bwMode="auto">
            <a:xfrm>
              <a:off x="3072" y="302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CCCC"/>
                </a:gs>
                <a:gs pos="50000">
                  <a:srgbClr val="FF5050"/>
                </a:gs>
                <a:gs pos="100000">
                  <a:srgbClr val="FFCCC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142"/>
          <p:cNvGrpSpPr>
            <a:grpSpLocks/>
          </p:cNvGrpSpPr>
          <p:nvPr/>
        </p:nvGrpSpPr>
        <p:grpSpPr bwMode="auto">
          <a:xfrm>
            <a:off x="5410200" y="1343025"/>
            <a:ext cx="457200" cy="4067175"/>
            <a:chOff x="3072" y="702"/>
            <a:chExt cx="288" cy="2610"/>
          </a:xfrm>
        </p:grpSpPr>
        <p:sp>
          <p:nvSpPr>
            <p:cNvPr id="28723" name="Rectangle 143"/>
            <p:cNvSpPr>
              <a:spLocks noChangeArrowheads="1"/>
            </p:cNvSpPr>
            <p:nvPr/>
          </p:nvSpPr>
          <p:spPr bwMode="auto">
            <a:xfrm>
              <a:off x="3072" y="702"/>
              <a:ext cx="288" cy="2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4" name="Rectangle 144"/>
            <p:cNvSpPr>
              <a:spLocks noChangeArrowheads="1"/>
            </p:cNvSpPr>
            <p:nvPr/>
          </p:nvSpPr>
          <p:spPr bwMode="auto">
            <a:xfrm>
              <a:off x="3072" y="1710"/>
              <a:ext cx="288" cy="576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5" name="Rectangle 145"/>
            <p:cNvSpPr>
              <a:spLocks noChangeArrowheads="1"/>
            </p:cNvSpPr>
            <p:nvPr/>
          </p:nvSpPr>
          <p:spPr bwMode="auto">
            <a:xfrm>
              <a:off x="3072" y="137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79999"/>
                  </a:srgbClr>
                </a:gs>
                <a:gs pos="50000">
                  <a:srgbClr val="0000FF">
                    <a:alpha val="79999"/>
                  </a:srgbClr>
                </a:gs>
                <a:gs pos="100000">
                  <a:srgbClr val="0066FF">
                    <a:alpha val="79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6" name="Rectangle 146"/>
            <p:cNvSpPr>
              <a:spLocks noChangeArrowheads="1"/>
            </p:cNvSpPr>
            <p:nvPr/>
          </p:nvSpPr>
          <p:spPr bwMode="auto">
            <a:xfrm>
              <a:off x="3072" y="103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92000"/>
                  </a:srgbClr>
                </a:gs>
                <a:gs pos="50000">
                  <a:srgbClr val="0000FF">
                    <a:alpha val="92000"/>
                  </a:srgbClr>
                </a:gs>
                <a:gs pos="100000">
                  <a:srgbClr val="0066FF">
                    <a:alpha val="92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7" name="Rectangle 147"/>
            <p:cNvSpPr>
              <a:spLocks noChangeArrowheads="1"/>
            </p:cNvSpPr>
            <p:nvPr/>
          </p:nvSpPr>
          <p:spPr bwMode="auto">
            <a:xfrm>
              <a:off x="3072" y="70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50000">
                  <a:srgbClr val="0033CC"/>
                </a:gs>
                <a:gs pos="100000">
                  <a:srgbClr val="33CC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8" name="Rectangle 148"/>
            <p:cNvSpPr>
              <a:spLocks noChangeArrowheads="1"/>
            </p:cNvSpPr>
            <p:nvPr/>
          </p:nvSpPr>
          <p:spPr bwMode="auto">
            <a:xfrm>
              <a:off x="3072" y="235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78000"/>
                  </a:srgbClr>
                </a:gs>
                <a:gs pos="50000">
                  <a:srgbClr val="0000FF">
                    <a:alpha val="78000"/>
                  </a:srgbClr>
                </a:gs>
                <a:gs pos="100000">
                  <a:srgbClr val="0066FF">
                    <a:alpha val="78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9" name="Rectangle 149"/>
            <p:cNvSpPr>
              <a:spLocks noChangeArrowheads="1"/>
            </p:cNvSpPr>
            <p:nvPr/>
          </p:nvSpPr>
          <p:spPr bwMode="auto">
            <a:xfrm>
              <a:off x="3072" y="268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79999"/>
                  </a:srgbClr>
                </a:gs>
                <a:gs pos="50000">
                  <a:srgbClr val="0000FF">
                    <a:alpha val="79999"/>
                  </a:srgbClr>
                </a:gs>
                <a:gs pos="100000">
                  <a:srgbClr val="0066FF">
                    <a:alpha val="79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0" name="Rectangle 150"/>
            <p:cNvSpPr>
              <a:spLocks noChangeArrowheads="1"/>
            </p:cNvSpPr>
            <p:nvPr/>
          </p:nvSpPr>
          <p:spPr bwMode="auto">
            <a:xfrm>
              <a:off x="3072" y="302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99FF">
                    <a:alpha val="98000"/>
                  </a:srgbClr>
                </a:gs>
                <a:gs pos="50000">
                  <a:srgbClr val="0033CC">
                    <a:alpha val="98000"/>
                  </a:srgbClr>
                </a:gs>
                <a:gs pos="100000">
                  <a:srgbClr val="0099FF">
                    <a:alpha val="98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oup 151"/>
          <p:cNvGrpSpPr>
            <a:grpSpLocks/>
          </p:cNvGrpSpPr>
          <p:nvPr/>
        </p:nvGrpSpPr>
        <p:grpSpPr bwMode="auto">
          <a:xfrm>
            <a:off x="6011863" y="1557338"/>
            <a:ext cx="1584325" cy="3600450"/>
            <a:chOff x="4343" y="864"/>
            <a:chExt cx="971" cy="2207"/>
          </a:xfrm>
        </p:grpSpPr>
        <p:sp>
          <p:nvSpPr>
            <p:cNvPr id="28705" name="Freeform 152"/>
            <p:cNvSpPr>
              <a:spLocks/>
            </p:cNvSpPr>
            <p:nvPr/>
          </p:nvSpPr>
          <p:spPr bwMode="auto">
            <a:xfrm rot="5400000">
              <a:off x="4615" y="1521"/>
              <a:ext cx="499" cy="8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105"/>
                  </a:moveTo>
                  <a:lnTo>
                    <a:pt x="211" y="18494"/>
                  </a:lnTo>
                  <a:lnTo>
                    <a:pt x="469" y="17894"/>
                  </a:lnTo>
                  <a:lnTo>
                    <a:pt x="680" y="17283"/>
                  </a:lnTo>
                  <a:lnTo>
                    <a:pt x="890" y="16683"/>
                  </a:lnTo>
                  <a:lnTo>
                    <a:pt x="1111" y="16072"/>
                  </a:lnTo>
                  <a:lnTo>
                    <a:pt x="1331" y="15483"/>
                  </a:lnTo>
                  <a:lnTo>
                    <a:pt x="1541" y="14894"/>
                  </a:lnTo>
                  <a:lnTo>
                    <a:pt x="1771" y="14304"/>
                  </a:lnTo>
                  <a:lnTo>
                    <a:pt x="1953" y="13715"/>
                  </a:lnTo>
                  <a:lnTo>
                    <a:pt x="2231" y="13159"/>
                  </a:lnTo>
                  <a:lnTo>
                    <a:pt x="2470" y="12591"/>
                  </a:lnTo>
                  <a:lnTo>
                    <a:pt x="2681" y="12024"/>
                  </a:lnTo>
                  <a:lnTo>
                    <a:pt x="2891" y="11468"/>
                  </a:lnTo>
                  <a:lnTo>
                    <a:pt x="3112" y="10900"/>
                  </a:lnTo>
                  <a:lnTo>
                    <a:pt x="3332" y="10344"/>
                  </a:lnTo>
                  <a:lnTo>
                    <a:pt x="3552" y="9809"/>
                  </a:lnTo>
                  <a:lnTo>
                    <a:pt x="3791" y="9285"/>
                  </a:lnTo>
                  <a:lnTo>
                    <a:pt x="4011" y="8751"/>
                  </a:lnTo>
                  <a:lnTo>
                    <a:pt x="4203" y="8249"/>
                  </a:lnTo>
                  <a:lnTo>
                    <a:pt x="4442" y="7747"/>
                  </a:lnTo>
                  <a:lnTo>
                    <a:pt x="4682" y="7256"/>
                  </a:lnTo>
                  <a:lnTo>
                    <a:pt x="4883" y="6787"/>
                  </a:lnTo>
                  <a:lnTo>
                    <a:pt x="5103" y="6339"/>
                  </a:lnTo>
                  <a:lnTo>
                    <a:pt x="5352" y="5892"/>
                  </a:lnTo>
                  <a:lnTo>
                    <a:pt x="5572" y="5434"/>
                  </a:lnTo>
                  <a:lnTo>
                    <a:pt x="5744" y="4986"/>
                  </a:lnTo>
                  <a:lnTo>
                    <a:pt x="5945" y="4572"/>
                  </a:lnTo>
                  <a:lnTo>
                    <a:pt x="6204" y="4179"/>
                  </a:lnTo>
                  <a:lnTo>
                    <a:pt x="6415" y="3775"/>
                  </a:lnTo>
                  <a:lnTo>
                    <a:pt x="6644" y="3404"/>
                  </a:lnTo>
                  <a:lnTo>
                    <a:pt x="6865" y="3066"/>
                  </a:lnTo>
                  <a:lnTo>
                    <a:pt x="7085" y="2717"/>
                  </a:lnTo>
                  <a:lnTo>
                    <a:pt x="7295" y="2411"/>
                  </a:lnTo>
                  <a:lnTo>
                    <a:pt x="7487" y="2095"/>
                  </a:lnTo>
                  <a:lnTo>
                    <a:pt x="7755" y="1811"/>
                  </a:lnTo>
                  <a:lnTo>
                    <a:pt x="7985" y="1571"/>
                  </a:lnTo>
                  <a:lnTo>
                    <a:pt x="8138" y="1298"/>
                  </a:lnTo>
                  <a:lnTo>
                    <a:pt x="8368" y="1069"/>
                  </a:lnTo>
                  <a:lnTo>
                    <a:pt x="8578" y="873"/>
                  </a:lnTo>
                  <a:lnTo>
                    <a:pt x="8837" y="655"/>
                  </a:lnTo>
                  <a:lnTo>
                    <a:pt x="8990" y="502"/>
                  </a:lnTo>
                  <a:lnTo>
                    <a:pt x="9248" y="382"/>
                  </a:lnTo>
                  <a:lnTo>
                    <a:pt x="9469" y="240"/>
                  </a:lnTo>
                  <a:lnTo>
                    <a:pt x="9631" y="153"/>
                  </a:lnTo>
                  <a:lnTo>
                    <a:pt x="9852" y="87"/>
                  </a:lnTo>
                  <a:lnTo>
                    <a:pt x="10101" y="22"/>
                  </a:lnTo>
                  <a:lnTo>
                    <a:pt x="10321" y="0"/>
                  </a:lnTo>
                  <a:lnTo>
                    <a:pt x="10474" y="22"/>
                  </a:lnTo>
                  <a:lnTo>
                    <a:pt x="10685" y="22"/>
                  </a:lnTo>
                  <a:lnTo>
                    <a:pt x="10962" y="87"/>
                  </a:lnTo>
                  <a:lnTo>
                    <a:pt x="11125" y="207"/>
                  </a:lnTo>
                  <a:lnTo>
                    <a:pt x="11336" y="349"/>
                  </a:lnTo>
                  <a:lnTo>
                    <a:pt x="11546" y="524"/>
                  </a:lnTo>
                  <a:lnTo>
                    <a:pt x="11776" y="742"/>
                  </a:lnTo>
                  <a:lnTo>
                    <a:pt x="11987" y="993"/>
                  </a:lnTo>
                  <a:lnTo>
                    <a:pt x="12226" y="1244"/>
                  </a:lnTo>
                  <a:lnTo>
                    <a:pt x="12504" y="1571"/>
                  </a:lnTo>
                  <a:lnTo>
                    <a:pt x="12695" y="1909"/>
                  </a:lnTo>
                  <a:lnTo>
                    <a:pt x="12915" y="2280"/>
                  </a:lnTo>
                  <a:lnTo>
                    <a:pt x="13145" y="2706"/>
                  </a:lnTo>
                  <a:lnTo>
                    <a:pt x="13404" y="3099"/>
                  </a:lnTo>
                  <a:lnTo>
                    <a:pt x="13585" y="3524"/>
                  </a:lnTo>
                  <a:lnTo>
                    <a:pt x="13806" y="3983"/>
                  </a:lnTo>
                  <a:lnTo>
                    <a:pt x="14102" y="4430"/>
                  </a:lnTo>
                  <a:lnTo>
                    <a:pt x="14275" y="4932"/>
                  </a:lnTo>
                  <a:lnTo>
                    <a:pt x="14552" y="5466"/>
                  </a:lnTo>
                  <a:lnTo>
                    <a:pt x="14725" y="5990"/>
                  </a:lnTo>
                  <a:lnTo>
                    <a:pt x="14983" y="6514"/>
                  </a:lnTo>
                  <a:lnTo>
                    <a:pt x="15184" y="7059"/>
                  </a:lnTo>
                  <a:lnTo>
                    <a:pt x="15433" y="7616"/>
                  </a:lnTo>
                  <a:lnTo>
                    <a:pt x="15711" y="8194"/>
                  </a:lnTo>
                  <a:lnTo>
                    <a:pt x="15912" y="8783"/>
                  </a:lnTo>
                  <a:lnTo>
                    <a:pt x="16103" y="9340"/>
                  </a:lnTo>
                  <a:lnTo>
                    <a:pt x="16324" y="9907"/>
                  </a:lnTo>
                  <a:lnTo>
                    <a:pt x="16534" y="10475"/>
                  </a:lnTo>
                  <a:lnTo>
                    <a:pt x="16726" y="11053"/>
                  </a:lnTo>
                  <a:lnTo>
                    <a:pt x="16946" y="11620"/>
                  </a:lnTo>
                  <a:lnTo>
                    <a:pt x="17157" y="12188"/>
                  </a:lnTo>
                  <a:lnTo>
                    <a:pt x="17338" y="12755"/>
                  </a:lnTo>
                  <a:lnTo>
                    <a:pt x="17530" y="13301"/>
                  </a:lnTo>
                  <a:lnTo>
                    <a:pt x="17741" y="13835"/>
                  </a:lnTo>
                  <a:lnTo>
                    <a:pt x="17894" y="14392"/>
                  </a:lnTo>
                  <a:lnTo>
                    <a:pt x="18124" y="14926"/>
                  </a:lnTo>
                  <a:lnTo>
                    <a:pt x="18267" y="15428"/>
                  </a:lnTo>
                  <a:lnTo>
                    <a:pt x="18468" y="15941"/>
                  </a:lnTo>
                  <a:lnTo>
                    <a:pt x="18593" y="16432"/>
                  </a:lnTo>
                  <a:lnTo>
                    <a:pt x="18842" y="16869"/>
                  </a:lnTo>
                  <a:lnTo>
                    <a:pt x="18947" y="17338"/>
                  </a:lnTo>
                  <a:lnTo>
                    <a:pt x="19110" y="17752"/>
                  </a:lnTo>
                  <a:lnTo>
                    <a:pt x="19244" y="18145"/>
                  </a:lnTo>
                  <a:lnTo>
                    <a:pt x="19387" y="18538"/>
                  </a:lnTo>
                  <a:lnTo>
                    <a:pt x="19512" y="18898"/>
                  </a:lnTo>
                  <a:lnTo>
                    <a:pt x="19627" y="19193"/>
                  </a:lnTo>
                  <a:lnTo>
                    <a:pt x="19789" y="19509"/>
                  </a:lnTo>
                  <a:lnTo>
                    <a:pt x="19876" y="19782"/>
                  </a:lnTo>
                  <a:lnTo>
                    <a:pt x="19990" y="19989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6" name="Freeform 153"/>
            <p:cNvSpPr>
              <a:spLocks/>
            </p:cNvSpPr>
            <p:nvPr/>
          </p:nvSpPr>
          <p:spPr bwMode="auto">
            <a:xfrm rot="5400000">
              <a:off x="4315" y="2406"/>
              <a:ext cx="200" cy="5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16"/>
                  </a:moveTo>
                  <a:lnTo>
                    <a:pt x="198" y="19244"/>
                  </a:lnTo>
                  <a:lnTo>
                    <a:pt x="372" y="18739"/>
                  </a:lnTo>
                  <a:lnTo>
                    <a:pt x="570" y="17983"/>
                  </a:lnTo>
                  <a:lnTo>
                    <a:pt x="818" y="17479"/>
                  </a:lnTo>
                  <a:lnTo>
                    <a:pt x="1016" y="16723"/>
                  </a:lnTo>
                  <a:lnTo>
                    <a:pt x="1214" y="16134"/>
                  </a:lnTo>
                  <a:lnTo>
                    <a:pt x="1388" y="15630"/>
                  </a:lnTo>
                  <a:lnTo>
                    <a:pt x="1561" y="15042"/>
                  </a:lnTo>
                  <a:lnTo>
                    <a:pt x="1735" y="14454"/>
                  </a:lnTo>
                  <a:lnTo>
                    <a:pt x="1958" y="13697"/>
                  </a:lnTo>
                  <a:lnTo>
                    <a:pt x="2156" y="13277"/>
                  </a:lnTo>
                  <a:lnTo>
                    <a:pt x="2354" y="12689"/>
                  </a:lnTo>
                  <a:lnTo>
                    <a:pt x="2553" y="12017"/>
                  </a:lnTo>
                  <a:lnTo>
                    <a:pt x="2825" y="11513"/>
                  </a:lnTo>
                  <a:lnTo>
                    <a:pt x="2949" y="10924"/>
                  </a:lnTo>
                  <a:lnTo>
                    <a:pt x="3172" y="10336"/>
                  </a:lnTo>
                  <a:lnTo>
                    <a:pt x="3346" y="9748"/>
                  </a:lnTo>
                  <a:lnTo>
                    <a:pt x="3544" y="9244"/>
                  </a:lnTo>
                  <a:lnTo>
                    <a:pt x="3767" y="8739"/>
                  </a:lnTo>
                  <a:lnTo>
                    <a:pt x="3941" y="8319"/>
                  </a:lnTo>
                  <a:lnTo>
                    <a:pt x="4139" y="7731"/>
                  </a:lnTo>
                  <a:lnTo>
                    <a:pt x="4362" y="7143"/>
                  </a:lnTo>
                  <a:lnTo>
                    <a:pt x="4560" y="6723"/>
                  </a:lnTo>
                  <a:lnTo>
                    <a:pt x="4783" y="6303"/>
                  </a:lnTo>
                  <a:lnTo>
                    <a:pt x="4932" y="5714"/>
                  </a:lnTo>
                  <a:lnTo>
                    <a:pt x="5130" y="5462"/>
                  </a:lnTo>
                  <a:lnTo>
                    <a:pt x="5304" y="4874"/>
                  </a:lnTo>
                  <a:lnTo>
                    <a:pt x="5551" y="4454"/>
                  </a:lnTo>
                  <a:lnTo>
                    <a:pt x="5799" y="4118"/>
                  </a:lnTo>
                  <a:lnTo>
                    <a:pt x="5973" y="3866"/>
                  </a:lnTo>
                  <a:lnTo>
                    <a:pt x="6171" y="3445"/>
                  </a:lnTo>
                  <a:lnTo>
                    <a:pt x="6369" y="3109"/>
                  </a:lnTo>
                  <a:lnTo>
                    <a:pt x="6568" y="2689"/>
                  </a:lnTo>
                  <a:lnTo>
                    <a:pt x="6766" y="2353"/>
                  </a:lnTo>
                  <a:lnTo>
                    <a:pt x="6964" y="2101"/>
                  </a:lnTo>
                  <a:lnTo>
                    <a:pt x="7237" y="1681"/>
                  </a:lnTo>
                  <a:lnTo>
                    <a:pt x="7410" y="1513"/>
                  </a:lnTo>
                  <a:lnTo>
                    <a:pt x="7608" y="1176"/>
                  </a:lnTo>
                  <a:lnTo>
                    <a:pt x="7807" y="1092"/>
                  </a:lnTo>
                  <a:lnTo>
                    <a:pt x="7980" y="756"/>
                  </a:lnTo>
                  <a:lnTo>
                    <a:pt x="8253" y="672"/>
                  </a:lnTo>
                  <a:lnTo>
                    <a:pt x="8401" y="504"/>
                  </a:lnTo>
                  <a:lnTo>
                    <a:pt x="8649" y="420"/>
                  </a:lnTo>
                  <a:lnTo>
                    <a:pt x="8848" y="252"/>
                  </a:lnTo>
                  <a:lnTo>
                    <a:pt x="9046" y="84"/>
                  </a:lnTo>
                  <a:lnTo>
                    <a:pt x="9269" y="84"/>
                  </a:lnTo>
                  <a:lnTo>
                    <a:pt x="9442" y="0"/>
                  </a:lnTo>
                  <a:lnTo>
                    <a:pt x="9690" y="0"/>
                  </a:lnTo>
                  <a:lnTo>
                    <a:pt x="9888" y="0"/>
                  </a:lnTo>
                  <a:lnTo>
                    <a:pt x="10112" y="84"/>
                  </a:lnTo>
                  <a:lnTo>
                    <a:pt x="10310" y="84"/>
                  </a:lnTo>
                  <a:lnTo>
                    <a:pt x="10508" y="252"/>
                  </a:lnTo>
                  <a:lnTo>
                    <a:pt x="10781" y="420"/>
                  </a:lnTo>
                  <a:lnTo>
                    <a:pt x="11004" y="672"/>
                  </a:lnTo>
                  <a:lnTo>
                    <a:pt x="11202" y="840"/>
                  </a:lnTo>
                  <a:lnTo>
                    <a:pt x="11475" y="1092"/>
                  </a:lnTo>
                  <a:lnTo>
                    <a:pt x="11698" y="1513"/>
                  </a:lnTo>
                  <a:lnTo>
                    <a:pt x="11995" y="1681"/>
                  </a:lnTo>
                  <a:lnTo>
                    <a:pt x="12193" y="2101"/>
                  </a:lnTo>
                  <a:lnTo>
                    <a:pt x="12441" y="2437"/>
                  </a:lnTo>
                  <a:lnTo>
                    <a:pt x="12689" y="2773"/>
                  </a:lnTo>
                  <a:lnTo>
                    <a:pt x="12912" y="3277"/>
                  </a:lnTo>
                  <a:lnTo>
                    <a:pt x="13209" y="3866"/>
                  </a:lnTo>
                  <a:lnTo>
                    <a:pt x="13432" y="4118"/>
                  </a:lnTo>
                  <a:lnTo>
                    <a:pt x="13680" y="4706"/>
                  </a:lnTo>
                  <a:lnTo>
                    <a:pt x="13953" y="5126"/>
                  </a:lnTo>
                  <a:lnTo>
                    <a:pt x="14176" y="5546"/>
                  </a:lnTo>
                  <a:lnTo>
                    <a:pt x="14399" y="6050"/>
                  </a:lnTo>
                  <a:lnTo>
                    <a:pt x="14696" y="6723"/>
                  </a:lnTo>
                  <a:lnTo>
                    <a:pt x="14895" y="7143"/>
                  </a:lnTo>
                  <a:lnTo>
                    <a:pt x="15192" y="7731"/>
                  </a:lnTo>
                  <a:lnTo>
                    <a:pt x="15415" y="8319"/>
                  </a:lnTo>
                  <a:lnTo>
                    <a:pt x="15638" y="8739"/>
                  </a:lnTo>
                  <a:lnTo>
                    <a:pt x="15911" y="9328"/>
                  </a:lnTo>
                  <a:lnTo>
                    <a:pt x="16084" y="9916"/>
                  </a:lnTo>
                  <a:lnTo>
                    <a:pt x="16332" y="10420"/>
                  </a:lnTo>
                  <a:lnTo>
                    <a:pt x="16605" y="11176"/>
                  </a:lnTo>
                  <a:lnTo>
                    <a:pt x="16803" y="11513"/>
                  </a:lnTo>
                  <a:lnTo>
                    <a:pt x="17051" y="12017"/>
                  </a:lnTo>
                  <a:lnTo>
                    <a:pt x="17249" y="12689"/>
                  </a:lnTo>
                  <a:lnTo>
                    <a:pt x="17472" y="13109"/>
                  </a:lnTo>
                  <a:lnTo>
                    <a:pt x="17670" y="13697"/>
                  </a:lnTo>
                  <a:lnTo>
                    <a:pt x="17918" y="14286"/>
                  </a:lnTo>
                  <a:lnTo>
                    <a:pt x="18116" y="14706"/>
                  </a:lnTo>
                  <a:lnTo>
                    <a:pt x="18290" y="15210"/>
                  </a:lnTo>
                  <a:lnTo>
                    <a:pt x="18463" y="15630"/>
                  </a:lnTo>
                  <a:lnTo>
                    <a:pt x="18686" y="16134"/>
                  </a:lnTo>
                  <a:lnTo>
                    <a:pt x="18810" y="16555"/>
                  </a:lnTo>
                  <a:lnTo>
                    <a:pt x="18984" y="16891"/>
                  </a:lnTo>
                  <a:lnTo>
                    <a:pt x="19133" y="17227"/>
                  </a:lnTo>
                  <a:lnTo>
                    <a:pt x="19306" y="17647"/>
                  </a:lnTo>
                  <a:lnTo>
                    <a:pt x="19480" y="17983"/>
                  </a:lnTo>
                  <a:lnTo>
                    <a:pt x="19603" y="18319"/>
                  </a:lnTo>
                  <a:lnTo>
                    <a:pt x="19703" y="18487"/>
                  </a:lnTo>
                  <a:lnTo>
                    <a:pt x="19851" y="18908"/>
                  </a:lnTo>
                  <a:lnTo>
                    <a:pt x="19975" y="19076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7" name="Freeform 154"/>
            <p:cNvSpPr>
              <a:spLocks/>
            </p:cNvSpPr>
            <p:nvPr/>
          </p:nvSpPr>
          <p:spPr bwMode="auto">
            <a:xfrm rot="5400000">
              <a:off x="4279" y="2596"/>
              <a:ext cx="209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62" y="599"/>
                  </a:lnTo>
                  <a:lnTo>
                    <a:pt x="452" y="1317"/>
                  </a:lnTo>
                  <a:lnTo>
                    <a:pt x="523" y="1677"/>
                  </a:lnTo>
                  <a:lnTo>
                    <a:pt x="785" y="2635"/>
                  </a:lnTo>
                  <a:lnTo>
                    <a:pt x="999" y="3353"/>
                  </a:lnTo>
                  <a:lnTo>
                    <a:pt x="1070" y="3832"/>
                  </a:lnTo>
                  <a:lnTo>
                    <a:pt x="1379" y="4072"/>
                  </a:lnTo>
                  <a:lnTo>
                    <a:pt x="1546" y="5030"/>
                  </a:lnTo>
                  <a:lnTo>
                    <a:pt x="1807" y="5389"/>
                  </a:lnTo>
                  <a:lnTo>
                    <a:pt x="1998" y="5988"/>
                  </a:lnTo>
                  <a:lnTo>
                    <a:pt x="2069" y="6467"/>
                  </a:lnTo>
                  <a:lnTo>
                    <a:pt x="2402" y="7066"/>
                  </a:lnTo>
                  <a:lnTo>
                    <a:pt x="2568" y="7665"/>
                  </a:lnTo>
                  <a:lnTo>
                    <a:pt x="2711" y="8383"/>
                  </a:lnTo>
                  <a:lnTo>
                    <a:pt x="2878" y="8862"/>
                  </a:lnTo>
                  <a:lnTo>
                    <a:pt x="3092" y="9461"/>
                  </a:lnTo>
                  <a:lnTo>
                    <a:pt x="3401" y="10060"/>
                  </a:lnTo>
                  <a:lnTo>
                    <a:pt x="3639" y="10659"/>
                  </a:lnTo>
                  <a:lnTo>
                    <a:pt x="3781" y="11018"/>
                  </a:lnTo>
                  <a:lnTo>
                    <a:pt x="3948" y="11497"/>
                  </a:lnTo>
                  <a:lnTo>
                    <a:pt x="4185" y="12096"/>
                  </a:lnTo>
                  <a:lnTo>
                    <a:pt x="4352" y="12455"/>
                  </a:lnTo>
                  <a:lnTo>
                    <a:pt x="4542" y="13054"/>
                  </a:lnTo>
                  <a:lnTo>
                    <a:pt x="4780" y="13653"/>
                  </a:lnTo>
                  <a:lnTo>
                    <a:pt x="4946" y="13892"/>
                  </a:lnTo>
                  <a:lnTo>
                    <a:pt x="5065" y="14491"/>
                  </a:lnTo>
                  <a:lnTo>
                    <a:pt x="5327" y="14850"/>
                  </a:lnTo>
                  <a:lnTo>
                    <a:pt x="5612" y="15090"/>
                  </a:lnTo>
                  <a:lnTo>
                    <a:pt x="5707" y="15689"/>
                  </a:lnTo>
                  <a:lnTo>
                    <a:pt x="5969" y="16048"/>
                  </a:lnTo>
                  <a:lnTo>
                    <a:pt x="6183" y="16407"/>
                  </a:lnTo>
                  <a:lnTo>
                    <a:pt x="6350" y="16527"/>
                  </a:lnTo>
                  <a:lnTo>
                    <a:pt x="6564" y="16886"/>
                  </a:lnTo>
                  <a:lnTo>
                    <a:pt x="6825" y="17126"/>
                  </a:lnTo>
                  <a:lnTo>
                    <a:pt x="6968" y="17844"/>
                  </a:lnTo>
                  <a:lnTo>
                    <a:pt x="7182" y="18084"/>
                  </a:lnTo>
                  <a:lnTo>
                    <a:pt x="7348" y="18084"/>
                  </a:lnTo>
                  <a:lnTo>
                    <a:pt x="7562" y="18683"/>
                  </a:lnTo>
                  <a:lnTo>
                    <a:pt x="7800" y="18683"/>
                  </a:lnTo>
                  <a:lnTo>
                    <a:pt x="7990" y="18683"/>
                  </a:lnTo>
                  <a:lnTo>
                    <a:pt x="8228" y="18922"/>
                  </a:lnTo>
                  <a:lnTo>
                    <a:pt x="8466" y="19162"/>
                  </a:lnTo>
                  <a:lnTo>
                    <a:pt x="8704" y="19162"/>
                  </a:lnTo>
                  <a:lnTo>
                    <a:pt x="8799" y="19521"/>
                  </a:lnTo>
                  <a:lnTo>
                    <a:pt x="8989" y="19880"/>
                  </a:lnTo>
                  <a:lnTo>
                    <a:pt x="9227" y="19880"/>
                  </a:lnTo>
                  <a:lnTo>
                    <a:pt x="9441" y="19880"/>
                  </a:lnTo>
                  <a:lnTo>
                    <a:pt x="9655" y="19880"/>
                  </a:lnTo>
                  <a:lnTo>
                    <a:pt x="9822" y="19880"/>
                  </a:lnTo>
                  <a:lnTo>
                    <a:pt x="10178" y="19880"/>
                  </a:lnTo>
                  <a:lnTo>
                    <a:pt x="10321" y="19521"/>
                  </a:lnTo>
                  <a:lnTo>
                    <a:pt x="10559" y="19162"/>
                  </a:lnTo>
                  <a:lnTo>
                    <a:pt x="10773" y="19162"/>
                  </a:lnTo>
                  <a:lnTo>
                    <a:pt x="11011" y="18922"/>
                  </a:lnTo>
                  <a:lnTo>
                    <a:pt x="11201" y="18683"/>
                  </a:lnTo>
                  <a:lnTo>
                    <a:pt x="11463" y="18683"/>
                  </a:lnTo>
                  <a:lnTo>
                    <a:pt x="11724" y="18443"/>
                  </a:lnTo>
                  <a:lnTo>
                    <a:pt x="12010" y="18084"/>
                  </a:lnTo>
                  <a:lnTo>
                    <a:pt x="12200" y="17844"/>
                  </a:lnTo>
                  <a:lnTo>
                    <a:pt x="12438" y="17126"/>
                  </a:lnTo>
                  <a:lnTo>
                    <a:pt x="12652" y="16886"/>
                  </a:lnTo>
                  <a:lnTo>
                    <a:pt x="12842" y="16527"/>
                  </a:lnTo>
                  <a:lnTo>
                    <a:pt x="13175" y="16048"/>
                  </a:lnTo>
                  <a:lnTo>
                    <a:pt x="13341" y="15689"/>
                  </a:lnTo>
                  <a:lnTo>
                    <a:pt x="13650" y="15090"/>
                  </a:lnTo>
                  <a:lnTo>
                    <a:pt x="13936" y="14491"/>
                  </a:lnTo>
                  <a:lnTo>
                    <a:pt x="14150" y="14132"/>
                  </a:lnTo>
                  <a:lnTo>
                    <a:pt x="14388" y="13653"/>
                  </a:lnTo>
                  <a:lnTo>
                    <a:pt x="14673" y="13054"/>
                  </a:lnTo>
                  <a:lnTo>
                    <a:pt x="14958" y="12814"/>
                  </a:lnTo>
                  <a:lnTo>
                    <a:pt x="15220" y="12096"/>
                  </a:lnTo>
                  <a:lnTo>
                    <a:pt x="15458" y="11497"/>
                  </a:lnTo>
                  <a:lnTo>
                    <a:pt x="15672" y="11018"/>
                  </a:lnTo>
                  <a:lnTo>
                    <a:pt x="15815" y="10659"/>
                  </a:lnTo>
                  <a:lnTo>
                    <a:pt x="16171" y="10060"/>
                  </a:lnTo>
                  <a:lnTo>
                    <a:pt x="16290" y="9102"/>
                  </a:lnTo>
                  <a:lnTo>
                    <a:pt x="16552" y="8862"/>
                  </a:lnTo>
                  <a:lnTo>
                    <a:pt x="16790" y="8383"/>
                  </a:lnTo>
                  <a:lnTo>
                    <a:pt x="17122" y="7665"/>
                  </a:lnTo>
                  <a:lnTo>
                    <a:pt x="17218" y="7066"/>
                  </a:lnTo>
                  <a:lnTo>
                    <a:pt x="17432" y="6467"/>
                  </a:lnTo>
                  <a:lnTo>
                    <a:pt x="17693" y="5988"/>
                  </a:lnTo>
                  <a:lnTo>
                    <a:pt x="17955" y="5629"/>
                  </a:lnTo>
                  <a:lnTo>
                    <a:pt x="18002" y="5030"/>
                  </a:lnTo>
                  <a:lnTo>
                    <a:pt x="18335" y="4671"/>
                  </a:lnTo>
                  <a:lnTo>
                    <a:pt x="18454" y="4072"/>
                  </a:lnTo>
                  <a:lnTo>
                    <a:pt x="18668" y="3832"/>
                  </a:lnTo>
                  <a:lnTo>
                    <a:pt x="18716" y="3353"/>
                  </a:lnTo>
                  <a:lnTo>
                    <a:pt x="19001" y="2994"/>
                  </a:lnTo>
                  <a:lnTo>
                    <a:pt x="19191" y="2635"/>
                  </a:lnTo>
                  <a:lnTo>
                    <a:pt x="19405" y="2036"/>
                  </a:lnTo>
                  <a:lnTo>
                    <a:pt x="19501" y="1677"/>
                  </a:lnTo>
                  <a:lnTo>
                    <a:pt x="19548" y="1677"/>
                  </a:lnTo>
                  <a:lnTo>
                    <a:pt x="19667" y="1317"/>
                  </a:lnTo>
                  <a:lnTo>
                    <a:pt x="19810" y="1317"/>
                  </a:lnTo>
                  <a:lnTo>
                    <a:pt x="19976" y="958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8" name="Freeform 155"/>
            <p:cNvSpPr>
              <a:spLocks/>
            </p:cNvSpPr>
            <p:nvPr/>
          </p:nvSpPr>
          <p:spPr bwMode="auto">
            <a:xfrm rot="5400000">
              <a:off x="4253" y="2928"/>
              <a:ext cx="258" cy="2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81" y="0"/>
                  </a:moveTo>
                  <a:lnTo>
                    <a:pt x="19731" y="826"/>
                  </a:lnTo>
                  <a:lnTo>
                    <a:pt x="19481" y="1157"/>
                  </a:lnTo>
                  <a:lnTo>
                    <a:pt x="19443" y="1818"/>
                  </a:lnTo>
                  <a:lnTo>
                    <a:pt x="19174" y="2314"/>
                  </a:lnTo>
                  <a:lnTo>
                    <a:pt x="19001" y="3140"/>
                  </a:lnTo>
                  <a:lnTo>
                    <a:pt x="18847" y="3802"/>
                  </a:lnTo>
                  <a:lnTo>
                    <a:pt x="18540" y="4132"/>
                  </a:lnTo>
                  <a:lnTo>
                    <a:pt x="18329" y="5124"/>
                  </a:lnTo>
                  <a:lnTo>
                    <a:pt x="18271" y="5289"/>
                  </a:lnTo>
                  <a:lnTo>
                    <a:pt x="17963" y="6116"/>
                  </a:lnTo>
                  <a:lnTo>
                    <a:pt x="17810" y="6942"/>
                  </a:lnTo>
                  <a:lnTo>
                    <a:pt x="17541" y="7107"/>
                  </a:lnTo>
                  <a:lnTo>
                    <a:pt x="17329" y="7438"/>
                  </a:lnTo>
                  <a:lnTo>
                    <a:pt x="17253" y="8264"/>
                  </a:lnTo>
                  <a:lnTo>
                    <a:pt x="17022" y="9091"/>
                  </a:lnTo>
                  <a:lnTo>
                    <a:pt x="16849" y="9752"/>
                  </a:lnTo>
                  <a:lnTo>
                    <a:pt x="16580" y="10248"/>
                  </a:lnTo>
                  <a:lnTo>
                    <a:pt x="16330" y="10744"/>
                  </a:lnTo>
                  <a:lnTo>
                    <a:pt x="16177" y="11074"/>
                  </a:lnTo>
                  <a:lnTo>
                    <a:pt x="16004" y="11736"/>
                  </a:lnTo>
                  <a:lnTo>
                    <a:pt x="15773" y="12231"/>
                  </a:lnTo>
                  <a:lnTo>
                    <a:pt x="15581" y="12893"/>
                  </a:lnTo>
                  <a:lnTo>
                    <a:pt x="15312" y="13058"/>
                  </a:lnTo>
                  <a:lnTo>
                    <a:pt x="15255" y="13719"/>
                  </a:lnTo>
                  <a:lnTo>
                    <a:pt x="14966" y="14215"/>
                  </a:lnTo>
                  <a:lnTo>
                    <a:pt x="14832" y="14711"/>
                  </a:lnTo>
                  <a:lnTo>
                    <a:pt x="14563" y="14711"/>
                  </a:lnTo>
                  <a:lnTo>
                    <a:pt x="14428" y="15041"/>
                  </a:lnTo>
                  <a:lnTo>
                    <a:pt x="14179" y="16033"/>
                  </a:lnTo>
                  <a:lnTo>
                    <a:pt x="14006" y="16198"/>
                  </a:lnTo>
                  <a:lnTo>
                    <a:pt x="13718" y="16364"/>
                  </a:lnTo>
                  <a:lnTo>
                    <a:pt x="13660" y="16860"/>
                  </a:lnTo>
                  <a:lnTo>
                    <a:pt x="13295" y="17190"/>
                  </a:lnTo>
                  <a:lnTo>
                    <a:pt x="13103" y="17355"/>
                  </a:lnTo>
                  <a:lnTo>
                    <a:pt x="12968" y="17686"/>
                  </a:lnTo>
                  <a:lnTo>
                    <a:pt x="12795" y="18347"/>
                  </a:lnTo>
                  <a:lnTo>
                    <a:pt x="12546" y="18347"/>
                  </a:lnTo>
                  <a:lnTo>
                    <a:pt x="12315" y="18678"/>
                  </a:lnTo>
                  <a:lnTo>
                    <a:pt x="12161" y="18678"/>
                  </a:lnTo>
                  <a:lnTo>
                    <a:pt x="11988" y="19008"/>
                  </a:lnTo>
                  <a:lnTo>
                    <a:pt x="11758" y="19174"/>
                  </a:lnTo>
                  <a:lnTo>
                    <a:pt x="11547" y="19174"/>
                  </a:lnTo>
                  <a:lnTo>
                    <a:pt x="11316" y="19504"/>
                  </a:lnTo>
                  <a:lnTo>
                    <a:pt x="11085" y="19835"/>
                  </a:lnTo>
                  <a:lnTo>
                    <a:pt x="10951" y="19835"/>
                  </a:lnTo>
                  <a:lnTo>
                    <a:pt x="10720" y="19835"/>
                  </a:lnTo>
                  <a:lnTo>
                    <a:pt x="10548" y="19835"/>
                  </a:lnTo>
                  <a:lnTo>
                    <a:pt x="10240" y="19835"/>
                  </a:lnTo>
                  <a:lnTo>
                    <a:pt x="10086" y="19835"/>
                  </a:lnTo>
                  <a:lnTo>
                    <a:pt x="9798" y="19835"/>
                  </a:lnTo>
                  <a:lnTo>
                    <a:pt x="9606" y="19835"/>
                  </a:lnTo>
                  <a:lnTo>
                    <a:pt x="9414" y="19504"/>
                  </a:lnTo>
                  <a:lnTo>
                    <a:pt x="9183" y="19504"/>
                  </a:lnTo>
                  <a:lnTo>
                    <a:pt x="9011" y="19174"/>
                  </a:lnTo>
                  <a:lnTo>
                    <a:pt x="8703" y="19008"/>
                  </a:lnTo>
                  <a:lnTo>
                    <a:pt x="8473" y="18678"/>
                  </a:lnTo>
                  <a:lnTo>
                    <a:pt x="8184" y="18347"/>
                  </a:lnTo>
                  <a:lnTo>
                    <a:pt x="7915" y="18347"/>
                  </a:lnTo>
                  <a:lnTo>
                    <a:pt x="7762" y="17686"/>
                  </a:lnTo>
                  <a:lnTo>
                    <a:pt x="7493" y="17190"/>
                  </a:lnTo>
                  <a:lnTo>
                    <a:pt x="7262" y="16860"/>
                  </a:lnTo>
                  <a:lnTo>
                    <a:pt x="7012" y="16364"/>
                  </a:lnTo>
                  <a:lnTo>
                    <a:pt x="6724" y="16198"/>
                  </a:lnTo>
                  <a:lnTo>
                    <a:pt x="6590" y="16033"/>
                  </a:lnTo>
                  <a:lnTo>
                    <a:pt x="6321" y="15041"/>
                  </a:lnTo>
                  <a:lnTo>
                    <a:pt x="6013" y="14711"/>
                  </a:lnTo>
                  <a:lnTo>
                    <a:pt x="5744" y="14215"/>
                  </a:lnTo>
                  <a:lnTo>
                    <a:pt x="5533" y="13719"/>
                  </a:lnTo>
                  <a:lnTo>
                    <a:pt x="5303" y="13223"/>
                  </a:lnTo>
                  <a:lnTo>
                    <a:pt x="4995" y="12893"/>
                  </a:lnTo>
                  <a:lnTo>
                    <a:pt x="4707" y="12231"/>
                  </a:lnTo>
                  <a:lnTo>
                    <a:pt x="4553" y="11736"/>
                  </a:lnTo>
                  <a:lnTo>
                    <a:pt x="4304" y="11074"/>
                  </a:lnTo>
                  <a:lnTo>
                    <a:pt x="4092" y="10744"/>
                  </a:lnTo>
                  <a:lnTo>
                    <a:pt x="3804" y="10248"/>
                  </a:lnTo>
                  <a:lnTo>
                    <a:pt x="3689" y="9256"/>
                  </a:lnTo>
                  <a:lnTo>
                    <a:pt x="3247" y="9091"/>
                  </a:lnTo>
                  <a:lnTo>
                    <a:pt x="3112" y="8264"/>
                  </a:lnTo>
                  <a:lnTo>
                    <a:pt x="2843" y="7438"/>
                  </a:lnTo>
                  <a:lnTo>
                    <a:pt x="2690" y="7107"/>
                  </a:lnTo>
                  <a:lnTo>
                    <a:pt x="2536" y="6942"/>
                  </a:lnTo>
                  <a:lnTo>
                    <a:pt x="2229" y="6116"/>
                  </a:lnTo>
                  <a:lnTo>
                    <a:pt x="2017" y="5620"/>
                  </a:lnTo>
                  <a:lnTo>
                    <a:pt x="1902" y="5124"/>
                  </a:lnTo>
                  <a:lnTo>
                    <a:pt x="1691" y="4793"/>
                  </a:lnTo>
                  <a:lnTo>
                    <a:pt x="1479" y="4132"/>
                  </a:lnTo>
                  <a:lnTo>
                    <a:pt x="1306" y="3802"/>
                  </a:lnTo>
                  <a:lnTo>
                    <a:pt x="1095" y="3140"/>
                  </a:lnTo>
                  <a:lnTo>
                    <a:pt x="903" y="2975"/>
                  </a:lnTo>
                  <a:lnTo>
                    <a:pt x="826" y="2810"/>
                  </a:lnTo>
                  <a:lnTo>
                    <a:pt x="596" y="2149"/>
                  </a:lnTo>
                  <a:lnTo>
                    <a:pt x="480" y="1818"/>
                  </a:lnTo>
                  <a:lnTo>
                    <a:pt x="365" y="1818"/>
                  </a:lnTo>
                  <a:lnTo>
                    <a:pt x="288" y="1157"/>
                  </a:lnTo>
                  <a:lnTo>
                    <a:pt x="96" y="1157"/>
                  </a:lnTo>
                  <a:lnTo>
                    <a:pt x="0" y="826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9" name="Freeform 156"/>
            <p:cNvSpPr>
              <a:spLocks/>
            </p:cNvSpPr>
            <p:nvPr/>
          </p:nvSpPr>
          <p:spPr bwMode="auto">
            <a:xfrm rot="5400000">
              <a:off x="4347" y="2757"/>
              <a:ext cx="109" cy="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655"/>
                  </a:moveTo>
                  <a:lnTo>
                    <a:pt x="181" y="18621"/>
                  </a:lnTo>
                  <a:lnTo>
                    <a:pt x="363" y="17931"/>
                  </a:lnTo>
                  <a:lnTo>
                    <a:pt x="590" y="17931"/>
                  </a:lnTo>
                  <a:lnTo>
                    <a:pt x="771" y="16897"/>
                  </a:lnTo>
                  <a:lnTo>
                    <a:pt x="998" y="15862"/>
                  </a:lnTo>
                  <a:lnTo>
                    <a:pt x="1224" y="15862"/>
                  </a:lnTo>
                  <a:lnTo>
                    <a:pt x="1406" y="14828"/>
                  </a:lnTo>
                  <a:lnTo>
                    <a:pt x="1542" y="14828"/>
                  </a:lnTo>
                  <a:lnTo>
                    <a:pt x="1769" y="14138"/>
                  </a:lnTo>
                  <a:lnTo>
                    <a:pt x="1905" y="13103"/>
                  </a:lnTo>
                  <a:lnTo>
                    <a:pt x="2132" y="13103"/>
                  </a:lnTo>
                  <a:lnTo>
                    <a:pt x="2358" y="12069"/>
                  </a:lnTo>
                  <a:lnTo>
                    <a:pt x="2540" y="12069"/>
                  </a:lnTo>
                  <a:lnTo>
                    <a:pt x="2766" y="11034"/>
                  </a:lnTo>
                  <a:lnTo>
                    <a:pt x="2948" y="10345"/>
                  </a:lnTo>
                  <a:lnTo>
                    <a:pt x="3129" y="10345"/>
                  </a:lnTo>
                  <a:lnTo>
                    <a:pt x="3356" y="9310"/>
                  </a:lnTo>
                  <a:lnTo>
                    <a:pt x="3537" y="9310"/>
                  </a:lnTo>
                  <a:lnTo>
                    <a:pt x="3764" y="8276"/>
                  </a:lnTo>
                  <a:lnTo>
                    <a:pt x="3900" y="8276"/>
                  </a:lnTo>
                  <a:lnTo>
                    <a:pt x="4127" y="7586"/>
                  </a:lnTo>
                  <a:lnTo>
                    <a:pt x="4354" y="7586"/>
                  </a:lnTo>
                  <a:lnTo>
                    <a:pt x="4535" y="6552"/>
                  </a:lnTo>
                  <a:lnTo>
                    <a:pt x="4762" y="6552"/>
                  </a:lnTo>
                  <a:lnTo>
                    <a:pt x="4943" y="5517"/>
                  </a:lnTo>
                  <a:lnTo>
                    <a:pt x="5125" y="5517"/>
                  </a:lnTo>
                  <a:lnTo>
                    <a:pt x="5351" y="4483"/>
                  </a:lnTo>
                  <a:lnTo>
                    <a:pt x="5533" y="4483"/>
                  </a:lnTo>
                  <a:lnTo>
                    <a:pt x="5760" y="3793"/>
                  </a:lnTo>
                  <a:lnTo>
                    <a:pt x="5941" y="3793"/>
                  </a:lnTo>
                  <a:lnTo>
                    <a:pt x="6122" y="2759"/>
                  </a:lnTo>
                  <a:lnTo>
                    <a:pt x="6440" y="2759"/>
                  </a:lnTo>
                  <a:lnTo>
                    <a:pt x="6576" y="2759"/>
                  </a:lnTo>
                  <a:lnTo>
                    <a:pt x="6803" y="2759"/>
                  </a:lnTo>
                  <a:lnTo>
                    <a:pt x="6893" y="1724"/>
                  </a:lnTo>
                  <a:lnTo>
                    <a:pt x="7211" y="1724"/>
                  </a:lnTo>
                  <a:lnTo>
                    <a:pt x="7392" y="1724"/>
                  </a:lnTo>
                  <a:lnTo>
                    <a:pt x="7574" y="1724"/>
                  </a:lnTo>
                  <a:lnTo>
                    <a:pt x="7846" y="690"/>
                  </a:lnTo>
                  <a:lnTo>
                    <a:pt x="7982" y="690"/>
                  </a:lnTo>
                  <a:lnTo>
                    <a:pt x="8254" y="690"/>
                  </a:lnTo>
                  <a:lnTo>
                    <a:pt x="8390" y="690"/>
                  </a:lnTo>
                  <a:lnTo>
                    <a:pt x="8662" y="0"/>
                  </a:lnTo>
                  <a:lnTo>
                    <a:pt x="8844" y="0"/>
                  </a:lnTo>
                  <a:lnTo>
                    <a:pt x="9025" y="0"/>
                  </a:lnTo>
                  <a:lnTo>
                    <a:pt x="9252" y="0"/>
                  </a:lnTo>
                  <a:lnTo>
                    <a:pt x="9433" y="0"/>
                  </a:lnTo>
                  <a:lnTo>
                    <a:pt x="9660" y="0"/>
                  </a:lnTo>
                  <a:lnTo>
                    <a:pt x="9887" y="0"/>
                  </a:lnTo>
                  <a:lnTo>
                    <a:pt x="10113" y="0"/>
                  </a:lnTo>
                  <a:lnTo>
                    <a:pt x="10340" y="0"/>
                  </a:lnTo>
                  <a:lnTo>
                    <a:pt x="10567" y="0"/>
                  </a:lnTo>
                  <a:lnTo>
                    <a:pt x="10748" y="0"/>
                  </a:lnTo>
                  <a:lnTo>
                    <a:pt x="10975" y="690"/>
                  </a:lnTo>
                  <a:lnTo>
                    <a:pt x="11247" y="690"/>
                  </a:lnTo>
                  <a:lnTo>
                    <a:pt x="11474" y="690"/>
                  </a:lnTo>
                  <a:lnTo>
                    <a:pt x="11655" y="1724"/>
                  </a:lnTo>
                  <a:lnTo>
                    <a:pt x="11973" y="1724"/>
                  </a:lnTo>
                  <a:lnTo>
                    <a:pt x="12154" y="1724"/>
                  </a:lnTo>
                  <a:lnTo>
                    <a:pt x="12426" y="2759"/>
                  </a:lnTo>
                  <a:lnTo>
                    <a:pt x="12744" y="2759"/>
                  </a:lnTo>
                  <a:lnTo>
                    <a:pt x="12971" y="2759"/>
                  </a:lnTo>
                  <a:lnTo>
                    <a:pt x="13152" y="3793"/>
                  </a:lnTo>
                  <a:lnTo>
                    <a:pt x="13424" y="3793"/>
                  </a:lnTo>
                  <a:lnTo>
                    <a:pt x="13651" y="4483"/>
                  </a:lnTo>
                  <a:lnTo>
                    <a:pt x="13968" y="4483"/>
                  </a:lnTo>
                  <a:lnTo>
                    <a:pt x="14195" y="5517"/>
                  </a:lnTo>
                  <a:lnTo>
                    <a:pt x="14376" y="6552"/>
                  </a:lnTo>
                  <a:lnTo>
                    <a:pt x="14649" y="6552"/>
                  </a:lnTo>
                  <a:lnTo>
                    <a:pt x="14875" y="7586"/>
                  </a:lnTo>
                  <a:lnTo>
                    <a:pt x="15147" y="7586"/>
                  </a:lnTo>
                  <a:lnTo>
                    <a:pt x="15420" y="8276"/>
                  </a:lnTo>
                  <a:lnTo>
                    <a:pt x="15646" y="8276"/>
                  </a:lnTo>
                  <a:lnTo>
                    <a:pt x="15873" y="9310"/>
                  </a:lnTo>
                  <a:lnTo>
                    <a:pt x="16100" y="9310"/>
                  </a:lnTo>
                  <a:lnTo>
                    <a:pt x="16327" y="10345"/>
                  </a:lnTo>
                  <a:lnTo>
                    <a:pt x="16553" y="10345"/>
                  </a:lnTo>
                  <a:lnTo>
                    <a:pt x="16871" y="11034"/>
                  </a:lnTo>
                  <a:lnTo>
                    <a:pt x="17052" y="12069"/>
                  </a:lnTo>
                  <a:lnTo>
                    <a:pt x="17234" y="12069"/>
                  </a:lnTo>
                  <a:lnTo>
                    <a:pt x="17506" y="13103"/>
                  </a:lnTo>
                  <a:lnTo>
                    <a:pt x="17687" y="13103"/>
                  </a:lnTo>
                  <a:lnTo>
                    <a:pt x="17868" y="13103"/>
                  </a:lnTo>
                  <a:lnTo>
                    <a:pt x="18141" y="14138"/>
                  </a:lnTo>
                  <a:lnTo>
                    <a:pt x="18322" y="14828"/>
                  </a:lnTo>
                  <a:lnTo>
                    <a:pt x="18458" y="14828"/>
                  </a:lnTo>
                  <a:lnTo>
                    <a:pt x="18639" y="15862"/>
                  </a:lnTo>
                  <a:lnTo>
                    <a:pt x="18821" y="15862"/>
                  </a:lnTo>
                  <a:lnTo>
                    <a:pt x="18957" y="16897"/>
                  </a:lnTo>
                  <a:lnTo>
                    <a:pt x="19184" y="16897"/>
                  </a:lnTo>
                  <a:lnTo>
                    <a:pt x="19229" y="17931"/>
                  </a:lnTo>
                  <a:lnTo>
                    <a:pt x="19546" y="17931"/>
                  </a:lnTo>
                  <a:lnTo>
                    <a:pt x="19592" y="17931"/>
                  </a:lnTo>
                  <a:lnTo>
                    <a:pt x="19773" y="17931"/>
                  </a:lnTo>
                  <a:lnTo>
                    <a:pt x="19819" y="18621"/>
                  </a:lnTo>
                  <a:lnTo>
                    <a:pt x="19955" y="18621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0" name="Freeform 157"/>
            <p:cNvSpPr>
              <a:spLocks/>
            </p:cNvSpPr>
            <p:nvPr/>
          </p:nvSpPr>
          <p:spPr bwMode="auto">
            <a:xfrm rot="5753380">
              <a:off x="4323" y="2264"/>
              <a:ext cx="145" cy="5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9" y="738"/>
                  </a:lnTo>
                  <a:lnTo>
                    <a:pt x="444" y="1148"/>
                  </a:lnTo>
                  <a:lnTo>
                    <a:pt x="512" y="1885"/>
                  </a:lnTo>
                  <a:lnTo>
                    <a:pt x="785" y="2541"/>
                  </a:lnTo>
                  <a:lnTo>
                    <a:pt x="990" y="3115"/>
                  </a:lnTo>
                  <a:lnTo>
                    <a:pt x="1058" y="3852"/>
                  </a:lnTo>
                  <a:lnTo>
                    <a:pt x="1365" y="4262"/>
                  </a:lnTo>
                  <a:lnTo>
                    <a:pt x="1604" y="4918"/>
                  </a:lnTo>
                  <a:lnTo>
                    <a:pt x="1843" y="5328"/>
                  </a:lnTo>
                  <a:lnTo>
                    <a:pt x="2014" y="6148"/>
                  </a:lnTo>
                  <a:lnTo>
                    <a:pt x="2116" y="6803"/>
                  </a:lnTo>
                  <a:lnTo>
                    <a:pt x="2423" y="7213"/>
                  </a:lnTo>
                  <a:lnTo>
                    <a:pt x="2560" y="7869"/>
                  </a:lnTo>
                  <a:lnTo>
                    <a:pt x="2696" y="8443"/>
                  </a:lnTo>
                  <a:lnTo>
                    <a:pt x="2867" y="8934"/>
                  </a:lnTo>
                  <a:lnTo>
                    <a:pt x="3106" y="9590"/>
                  </a:lnTo>
                  <a:lnTo>
                    <a:pt x="3379" y="10082"/>
                  </a:lnTo>
                  <a:lnTo>
                    <a:pt x="3584" y="10574"/>
                  </a:lnTo>
                  <a:lnTo>
                    <a:pt x="3720" y="11148"/>
                  </a:lnTo>
                  <a:lnTo>
                    <a:pt x="3959" y="11639"/>
                  </a:lnTo>
                  <a:lnTo>
                    <a:pt x="4164" y="12131"/>
                  </a:lnTo>
                  <a:lnTo>
                    <a:pt x="4403" y="12705"/>
                  </a:lnTo>
                  <a:lnTo>
                    <a:pt x="4573" y="13115"/>
                  </a:lnTo>
                  <a:lnTo>
                    <a:pt x="4812" y="13607"/>
                  </a:lnTo>
                  <a:lnTo>
                    <a:pt x="5017" y="14098"/>
                  </a:lnTo>
                  <a:lnTo>
                    <a:pt x="5119" y="14672"/>
                  </a:lnTo>
                  <a:lnTo>
                    <a:pt x="5358" y="14918"/>
                  </a:lnTo>
                  <a:lnTo>
                    <a:pt x="5597" y="15328"/>
                  </a:lnTo>
                  <a:lnTo>
                    <a:pt x="5734" y="15738"/>
                  </a:lnTo>
                  <a:lnTo>
                    <a:pt x="5939" y="16148"/>
                  </a:lnTo>
                  <a:lnTo>
                    <a:pt x="6177" y="16393"/>
                  </a:lnTo>
                  <a:lnTo>
                    <a:pt x="6348" y="16885"/>
                  </a:lnTo>
                  <a:lnTo>
                    <a:pt x="6587" y="17131"/>
                  </a:lnTo>
                  <a:lnTo>
                    <a:pt x="6826" y="17459"/>
                  </a:lnTo>
                  <a:lnTo>
                    <a:pt x="6928" y="17705"/>
                  </a:lnTo>
                  <a:lnTo>
                    <a:pt x="7167" y="18115"/>
                  </a:lnTo>
                  <a:lnTo>
                    <a:pt x="7406" y="18361"/>
                  </a:lnTo>
                  <a:lnTo>
                    <a:pt x="7611" y="18689"/>
                  </a:lnTo>
                  <a:lnTo>
                    <a:pt x="7816" y="18852"/>
                  </a:lnTo>
                  <a:lnTo>
                    <a:pt x="7986" y="19098"/>
                  </a:lnTo>
                  <a:lnTo>
                    <a:pt x="8191" y="19262"/>
                  </a:lnTo>
                  <a:lnTo>
                    <a:pt x="8464" y="19262"/>
                  </a:lnTo>
                  <a:lnTo>
                    <a:pt x="8703" y="19590"/>
                  </a:lnTo>
                  <a:lnTo>
                    <a:pt x="8771" y="19672"/>
                  </a:lnTo>
                  <a:lnTo>
                    <a:pt x="8942" y="19754"/>
                  </a:lnTo>
                  <a:lnTo>
                    <a:pt x="9215" y="19754"/>
                  </a:lnTo>
                  <a:lnTo>
                    <a:pt x="9386" y="19918"/>
                  </a:lnTo>
                  <a:lnTo>
                    <a:pt x="9625" y="19918"/>
                  </a:lnTo>
                  <a:lnTo>
                    <a:pt x="9795" y="19918"/>
                  </a:lnTo>
                  <a:lnTo>
                    <a:pt x="10205" y="19754"/>
                  </a:lnTo>
                  <a:lnTo>
                    <a:pt x="10341" y="19672"/>
                  </a:lnTo>
                  <a:lnTo>
                    <a:pt x="10614" y="19590"/>
                  </a:lnTo>
                  <a:lnTo>
                    <a:pt x="10785" y="19344"/>
                  </a:lnTo>
                  <a:lnTo>
                    <a:pt x="11058" y="19262"/>
                  </a:lnTo>
                  <a:lnTo>
                    <a:pt x="11229" y="19098"/>
                  </a:lnTo>
                  <a:lnTo>
                    <a:pt x="11433" y="18852"/>
                  </a:lnTo>
                  <a:lnTo>
                    <a:pt x="11741" y="18443"/>
                  </a:lnTo>
                  <a:lnTo>
                    <a:pt x="12014" y="18115"/>
                  </a:lnTo>
                  <a:lnTo>
                    <a:pt x="12184" y="17705"/>
                  </a:lnTo>
                  <a:lnTo>
                    <a:pt x="12389" y="17295"/>
                  </a:lnTo>
                  <a:lnTo>
                    <a:pt x="12594" y="17049"/>
                  </a:lnTo>
                  <a:lnTo>
                    <a:pt x="12901" y="16639"/>
                  </a:lnTo>
                  <a:lnTo>
                    <a:pt x="13174" y="16148"/>
                  </a:lnTo>
                  <a:lnTo>
                    <a:pt x="13345" y="15738"/>
                  </a:lnTo>
                  <a:lnTo>
                    <a:pt x="13652" y="15246"/>
                  </a:lnTo>
                  <a:lnTo>
                    <a:pt x="13925" y="14754"/>
                  </a:lnTo>
                  <a:lnTo>
                    <a:pt x="14130" y="14344"/>
                  </a:lnTo>
                  <a:lnTo>
                    <a:pt x="14403" y="13689"/>
                  </a:lnTo>
                  <a:lnTo>
                    <a:pt x="14642" y="13115"/>
                  </a:lnTo>
                  <a:lnTo>
                    <a:pt x="14915" y="12787"/>
                  </a:lnTo>
                  <a:lnTo>
                    <a:pt x="15188" y="12131"/>
                  </a:lnTo>
                  <a:lnTo>
                    <a:pt x="15427" y="11639"/>
                  </a:lnTo>
                  <a:lnTo>
                    <a:pt x="15631" y="11148"/>
                  </a:lnTo>
                  <a:lnTo>
                    <a:pt x="15836" y="10574"/>
                  </a:lnTo>
                  <a:lnTo>
                    <a:pt x="16212" y="10082"/>
                  </a:lnTo>
                  <a:lnTo>
                    <a:pt x="16348" y="9426"/>
                  </a:lnTo>
                  <a:lnTo>
                    <a:pt x="16587" y="8852"/>
                  </a:lnTo>
                  <a:lnTo>
                    <a:pt x="16792" y="8361"/>
                  </a:lnTo>
                  <a:lnTo>
                    <a:pt x="17133" y="7869"/>
                  </a:lnTo>
                  <a:lnTo>
                    <a:pt x="17304" y="7213"/>
                  </a:lnTo>
                  <a:lnTo>
                    <a:pt x="17440" y="6803"/>
                  </a:lnTo>
                  <a:lnTo>
                    <a:pt x="17645" y="6148"/>
                  </a:lnTo>
                  <a:lnTo>
                    <a:pt x="17918" y="5656"/>
                  </a:lnTo>
                  <a:lnTo>
                    <a:pt x="17986" y="5164"/>
                  </a:lnTo>
                  <a:lnTo>
                    <a:pt x="18294" y="4754"/>
                  </a:lnTo>
                  <a:lnTo>
                    <a:pt x="18396" y="4262"/>
                  </a:lnTo>
                  <a:lnTo>
                    <a:pt x="18669" y="3852"/>
                  </a:lnTo>
                  <a:lnTo>
                    <a:pt x="18771" y="3361"/>
                  </a:lnTo>
                  <a:lnTo>
                    <a:pt x="19010" y="2951"/>
                  </a:lnTo>
                  <a:lnTo>
                    <a:pt x="19181" y="2705"/>
                  </a:lnTo>
                  <a:lnTo>
                    <a:pt x="19454" y="2295"/>
                  </a:lnTo>
                  <a:lnTo>
                    <a:pt x="19522" y="1885"/>
                  </a:lnTo>
                  <a:lnTo>
                    <a:pt x="19556" y="1639"/>
                  </a:lnTo>
                  <a:lnTo>
                    <a:pt x="19693" y="1230"/>
                  </a:lnTo>
                  <a:lnTo>
                    <a:pt x="19829" y="1066"/>
                  </a:lnTo>
                  <a:lnTo>
                    <a:pt x="19966" y="820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1" name="Freeform 158"/>
            <p:cNvSpPr>
              <a:spLocks/>
            </p:cNvSpPr>
            <p:nvPr/>
          </p:nvSpPr>
          <p:spPr bwMode="auto">
            <a:xfrm rot="4709659">
              <a:off x="4326" y="1616"/>
              <a:ext cx="145" cy="6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66" y="0"/>
                  </a:moveTo>
                  <a:lnTo>
                    <a:pt x="19727" y="738"/>
                  </a:lnTo>
                  <a:lnTo>
                    <a:pt x="19522" y="1148"/>
                  </a:lnTo>
                  <a:lnTo>
                    <a:pt x="19454" y="1885"/>
                  </a:lnTo>
                  <a:lnTo>
                    <a:pt x="19181" y="2541"/>
                  </a:lnTo>
                  <a:lnTo>
                    <a:pt x="18976" y="3115"/>
                  </a:lnTo>
                  <a:lnTo>
                    <a:pt x="18908" y="3852"/>
                  </a:lnTo>
                  <a:lnTo>
                    <a:pt x="18601" y="4262"/>
                  </a:lnTo>
                  <a:lnTo>
                    <a:pt x="18396" y="4918"/>
                  </a:lnTo>
                  <a:lnTo>
                    <a:pt x="18123" y="5328"/>
                  </a:lnTo>
                  <a:lnTo>
                    <a:pt x="17952" y="6148"/>
                  </a:lnTo>
                  <a:lnTo>
                    <a:pt x="17850" y="6803"/>
                  </a:lnTo>
                  <a:lnTo>
                    <a:pt x="17543" y="7213"/>
                  </a:lnTo>
                  <a:lnTo>
                    <a:pt x="17406" y="7869"/>
                  </a:lnTo>
                  <a:lnTo>
                    <a:pt x="17304" y="8443"/>
                  </a:lnTo>
                  <a:lnTo>
                    <a:pt x="17099" y="8934"/>
                  </a:lnTo>
                  <a:lnTo>
                    <a:pt x="16860" y="9590"/>
                  </a:lnTo>
                  <a:lnTo>
                    <a:pt x="16587" y="10082"/>
                  </a:lnTo>
                  <a:lnTo>
                    <a:pt x="16382" y="10574"/>
                  </a:lnTo>
                  <a:lnTo>
                    <a:pt x="16246" y="11148"/>
                  </a:lnTo>
                  <a:lnTo>
                    <a:pt x="16041" y="11639"/>
                  </a:lnTo>
                  <a:lnTo>
                    <a:pt x="15802" y="12131"/>
                  </a:lnTo>
                  <a:lnTo>
                    <a:pt x="15563" y="12705"/>
                  </a:lnTo>
                  <a:lnTo>
                    <a:pt x="15358" y="13115"/>
                  </a:lnTo>
                  <a:lnTo>
                    <a:pt x="15154" y="13607"/>
                  </a:lnTo>
                  <a:lnTo>
                    <a:pt x="14983" y="14098"/>
                  </a:lnTo>
                  <a:lnTo>
                    <a:pt x="14846" y="14672"/>
                  </a:lnTo>
                  <a:lnTo>
                    <a:pt x="14608" y="14918"/>
                  </a:lnTo>
                  <a:lnTo>
                    <a:pt x="14369" y="15328"/>
                  </a:lnTo>
                  <a:lnTo>
                    <a:pt x="14232" y="15738"/>
                  </a:lnTo>
                  <a:lnTo>
                    <a:pt x="14027" y="16148"/>
                  </a:lnTo>
                  <a:lnTo>
                    <a:pt x="13788" y="16393"/>
                  </a:lnTo>
                  <a:lnTo>
                    <a:pt x="13618" y="16885"/>
                  </a:lnTo>
                  <a:lnTo>
                    <a:pt x="13379" y="17131"/>
                  </a:lnTo>
                  <a:lnTo>
                    <a:pt x="13140" y="17459"/>
                  </a:lnTo>
                  <a:lnTo>
                    <a:pt x="13038" y="17705"/>
                  </a:lnTo>
                  <a:lnTo>
                    <a:pt x="12730" y="18115"/>
                  </a:lnTo>
                  <a:lnTo>
                    <a:pt x="12560" y="18361"/>
                  </a:lnTo>
                  <a:lnTo>
                    <a:pt x="12355" y="18689"/>
                  </a:lnTo>
                  <a:lnTo>
                    <a:pt x="12150" y="18852"/>
                  </a:lnTo>
                  <a:lnTo>
                    <a:pt x="11980" y="19098"/>
                  </a:lnTo>
                  <a:lnTo>
                    <a:pt x="11775" y="19262"/>
                  </a:lnTo>
                  <a:lnTo>
                    <a:pt x="11502" y="19262"/>
                  </a:lnTo>
                  <a:lnTo>
                    <a:pt x="11263" y="19590"/>
                  </a:lnTo>
                  <a:lnTo>
                    <a:pt x="11195" y="19672"/>
                  </a:lnTo>
                  <a:lnTo>
                    <a:pt x="11024" y="19754"/>
                  </a:lnTo>
                  <a:lnTo>
                    <a:pt x="10751" y="19754"/>
                  </a:lnTo>
                  <a:lnTo>
                    <a:pt x="10580" y="19918"/>
                  </a:lnTo>
                  <a:lnTo>
                    <a:pt x="10341" y="19918"/>
                  </a:lnTo>
                  <a:lnTo>
                    <a:pt x="10171" y="19918"/>
                  </a:lnTo>
                  <a:lnTo>
                    <a:pt x="9761" y="19754"/>
                  </a:lnTo>
                  <a:lnTo>
                    <a:pt x="9625" y="19672"/>
                  </a:lnTo>
                  <a:lnTo>
                    <a:pt x="9352" y="19590"/>
                  </a:lnTo>
                  <a:lnTo>
                    <a:pt x="9181" y="19344"/>
                  </a:lnTo>
                  <a:lnTo>
                    <a:pt x="8908" y="19262"/>
                  </a:lnTo>
                  <a:lnTo>
                    <a:pt x="8737" y="19098"/>
                  </a:lnTo>
                  <a:lnTo>
                    <a:pt x="8532" y="18852"/>
                  </a:lnTo>
                  <a:lnTo>
                    <a:pt x="8225" y="18443"/>
                  </a:lnTo>
                  <a:lnTo>
                    <a:pt x="7952" y="18115"/>
                  </a:lnTo>
                  <a:lnTo>
                    <a:pt x="7782" y="17705"/>
                  </a:lnTo>
                  <a:lnTo>
                    <a:pt x="7577" y="17295"/>
                  </a:lnTo>
                  <a:lnTo>
                    <a:pt x="7372" y="17049"/>
                  </a:lnTo>
                  <a:lnTo>
                    <a:pt x="7065" y="16639"/>
                  </a:lnTo>
                  <a:lnTo>
                    <a:pt x="6792" y="16148"/>
                  </a:lnTo>
                  <a:lnTo>
                    <a:pt x="6621" y="15738"/>
                  </a:lnTo>
                  <a:lnTo>
                    <a:pt x="6314" y="15246"/>
                  </a:lnTo>
                  <a:lnTo>
                    <a:pt x="6041" y="14754"/>
                  </a:lnTo>
                  <a:lnTo>
                    <a:pt x="5836" y="14344"/>
                  </a:lnTo>
                  <a:lnTo>
                    <a:pt x="5563" y="13689"/>
                  </a:lnTo>
                  <a:lnTo>
                    <a:pt x="5324" y="13115"/>
                  </a:lnTo>
                  <a:lnTo>
                    <a:pt x="5051" y="12787"/>
                  </a:lnTo>
                  <a:lnTo>
                    <a:pt x="4778" y="12131"/>
                  </a:lnTo>
                  <a:lnTo>
                    <a:pt x="4539" y="11639"/>
                  </a:lnTo>
                  <a:lnTo>
                    <a:pt x="4334" y="11148"/>
                  </a:lnTo>
                  <a:lnTo>
                    <a:pt x="4130" y="10574"/>
                  </a:lnTo>
                  <a:lnTo>
                    <a:pt x="3754" y="10082"/>
                  </a:lnTo>
                  <a:lnTo>
                    <a:pt x="3618" y="9426"/>
                  </a:lnTo>
                  <a:lnTo>
                    <a:pt x="3379" y="8852"/>
                  </a:lnTo>
                  <a:lnTo>
                    <a:pt x="3174" y="8361"/>
                  </a:lnTo>
                  <a:lnTo>
                    <a:pt x="2833" y="7869"/>
                  </a:lnTo>
                  <a:lnTo>
                    <a:pt x="2696" y="7213"/>
                  </a:lnTo>
                  <a:lnTo>
                    <a:pt x="2526" y="6803"/>
                  </a:lnTo>
                  <a:lnTo>
                    <a:pt x="2321" y="6148"/>
                  </a:lnTo>
                  <a:lnTo>
                    <a:pt x="2048" y="5656"/>
                  </a:lnTo>
                  <a:lnTo>
                    <a:pt x="1980" y="5164"/>
                  </a:lnTo>
                  <a:lnTo>
                    <a:pt x="1604" y="4754"/>
                  </a:lnTo>
                  <a:lnTo>
                    <a:pt x="1570" y="4262"/>
                  </a:lnTo>
                  <a:lnTo>
                    <a:pt x="1297" y="3852"/>
                  </a:lnTo>
                  <a:lnTo>
                    <a:pt x="1195" y="3361"/>
                  </a:lnTo>
                  <a:lnTo>
                    <a:pt x="956" y="2951"/>
                  </a:lnTo>
                  <a:lnTo>
                    <a:pt x="785" y="2705"/>
                  </a:lnTo>
                  <a:lnTo>
                    <a:pt x="546" y="2295"/>
                  </a:lnTo>
                  <a:lnTo>
                    <a:pt x="444" y="1885"/>
                  </a:lnTo>
                  <a:lnTo>
                    <a:pt x="410" y="1639"/>
                  </a:lnTo>
                  <a:lnTo>
                    <a:pt x="273" y="1230"/>
                  </a:lnTo>
                  <a:lnTo>
                    <a:pt x="137" y="1066"/>
                  </a:lnTo>
                  <a:lnTo>
                    <a:pt x="0" y="820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2" name="Freeform 159"/>
            <p:cNvSpPr>
              <a:spLocks/>
            </p:cNvSpPr>
            <p:nvPr/>
          </p:nvSpPr>
          <p:spPr bwMode="auto">
            <a:xfrm rot="5400000">
              <a:off x="4320" y="1483"/>
              <a:ext cx="189" cy="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4" y="19867"/>
                  </a:moveTo>
                  <a:lnTo>
                    <a:pt x="19764" y="19200"/>
                  </a:lnTo>
                  <a:lnTo>
                    <a:pt x="19607" y="18800"/>
                  </a:lnTo>
                  <a:lnTo>
                    <a:pt x="19398" y="18000"/>
                  </a:lnTo>
                  <a:lnTo>
                    <a:pt x="19162" y="17600"/>
                  </a:lnTo>
                  <a:lnTo>
                    <a:pt x="18953" y="16667"/>
                  </a:lnTo>
                  <a:lnTo>
                    <a:pt x="18770" y="16133"/>
                  </a:lnTo>
                  <a:lnTo>
                    <a:pt x="18586" y="15733"/>
                  </a:lnTo>
                  <a:lnTo>
                    <a:pt x="18403" y="15067"/>
                  </a:lnTo>
                  <a:lnTo>
                    <a:pt x="18246" y="14400"/>
                  </a:lnTo>
                  <a:lnTo>
                    <a:pt x="18010" y="13733"/>
                  </a:lnTo>
                  <a:lnTo>
                    <a:pt x="17827" y="13200"/>
                  </a:lnTo>
                  <a:lnTo>
                    <a:pt x="17618" y="12667"/>
                  </a:lnTo>
                  <a:lnTo>
                    <a:pt x="17435" y="12000"/>
                  </a:lnTo>
                  <a:lnTo>
                    <a:pt x="17147" y="11600"/>
                  </a:lnTo>
                  <a:lnTo>
                    <a:pt x="17016" y="10933"/>
                  </a:lnTo>
                  <a:lnTo>
                    <a:pt x="16806" y="10267"/>
                  </a:lnTo>
                  <a:lnTo>
                    <a:pt x="16623" y="9733"/>
                  </a:lnTo>
                  <a:lnTo>
                    <a:pt x="16440" y="9200"/>
                  </a:lnTo>
                  <a:lnTo>
                    <a:pt x="16204" y="8800"/>
                  </a:lnTo>
                  <a:lnTo>
                    <a:pt x="16047" y="8267"/>
                  </a:lnTo>
                  <a:lnTo>
                    <a:pt x="15838" y="7733"/>
                  </a:lnTo>
                  <a:lnTo>
                    <a:pt x="15602" y="7067"/>
                  </a:lnTo>
                  <a:lnTo>
                    <a:pt x="15419" y="6800"/>
                  </a:lnTo>
                  <a:lnTo>
                    <a:pt x="15183" y="6267"/>
                  </a:lnTo>
                  <a:lnTo>
                    <a:pt x="15052" y="5733"/>
                  </a:lnTo>
                  <a:lnTo>
                    <a:pt x="14843" y="5333"/>
                  </a:lnTo>
                  <a:lnTo>
                    <a:pt x="14660" y="4933"/>
                  </a:lnTo>
                  <a:lnTo>
                    <a:pt x="14424" y="4400"/>
                  </a:lnTo>
                  <a:lnTo>
                    <a:pt x="14188" y="4133"/>
                  </a:lnTo>
                  <a:lnTo>
                    <a:pt x="14005" y="3867"/>
                  </a:lnTo>
                  <a:lnTo>
                    <a:pt x="13796" y="3333"/>
                  </a:lnTo>
                  <a:lnTo>
                    <a:pt x="13613" y="3067"/>
                  </a:lnTo>
                  <a:lnTo>
                    <a:pt x="13403" y="2800"/>
                  </a:lnTo>
                  <a:lnTo>
                    <a:pt x="13220" y="2267"/>
                  </a:lnTo>
                  <a:lnTo>
                    <a:pt x="13010" y="2133"/>
                  </a:lnTo>
                  <a:lnTo>
                    <a:pt x="12749" y="1733"/>
                  </a:lnTo>
                  <a:lnTo>
                    <a:pt x="12565" y="1600"/>
                  </a:lnTo>
                  <a:lnTo>
                    <a:pt x="12356" y="1200"/>
                  </a:lnTo>
                  <a:lnTo>
                    <a:pt x="12173" y="1067"/>
                  </a:lnTo>
                  <a:lnTo>
                    <a:pt x="11990" y="800"/>
                  </a:lnTo>
                  <a:lnTo>
                    <a:pt x="11728" y="800"/>
                  </a:lnTo>
                  <a:lnTo>
                    <a:pt x="11571" y="400"/>
                  </a:lnTo>
                  <a:lnTo>
                    <a:pt x="11335" y="400"/>
                  </a:lnTo>
                  <a:lnTo>
                    <a:pt x="11126" y="267"/>
                  </a:lnTo>
                  <a:lnTo>
                    <a:pt x="10942" y="133"/>
                  </a:lnTo>
                  <a:lnTo>
                    <a:pt x="10707" y="133"/>
                  </a:lnTo>
                  <a:lnTo>
                    <a:pt x="10524" y="0"/>
                  </a:lnTo>
                  <a:lnTo>
                    <a:pt x="10288" y="0"/>
                  </a:lnTo>
                  <a:lnTo>
                    <a:pt x="10079" y="0"/>
                  </a:lnTo>
                  <a:lnTo>
                    <a:pt x="9869" y="133"/>
                  </a:lnTo>
                  <a:lnTo>
                    <a:pt x="9660" y="133"/>
                  </a:lnTo>
                  <a:lnTo>
                    <a:pt x="9476" y="267"/>
                  </a:lnTo>
                  <a:lnTo>
                    <a:pt x="9188" y="400"/>
                  </a:lnTo>
                  <a:lnTo>
                    <a:pt x="8979" y="800"/>
                  </a:lnTo>
                  <a:lnTo>
                    <a:pt x="8770" y="800"/>
                  </a:lnTo>
                  <a:lnTo>
                    <a:pt x="8508" y="1067"/>
                  </a:lnTo>
                  <a:lnTo>
                    <a:pt x="8272" y="1600"/>
                  </a:lnTo>
                  <a:lnTo>
                    <a:pt x="7984" y="1733"/>
                  </a:lnTo>
                  <a:lnTo>
                    <a:pt x="7775" y="2133"/>
                  </a:lnTo>
                  <a:lnTo>
                    <a:pt x="7539" y="2400"/>
                  </a:lnTo>
                  <a:lnTo>
                    <a:pt x="7277" y="2800"/>
                  </a:lnTo>
                  <a:lnTo>
                    <a:pt x="7068" y="3333"/>
                  </a:lnTo>
                  <a:lnTo>
                    <a:pt x="6754" y="3867"/>
                  </a:lnTo>
                  <a:lnTo>
                    <a:pt x="6545" y="4133"/>
                  </a:lnTo>
                  <a:lnTo>
                    <a:pt x="6283" y="4800"/>
                  </a:lnTo>
                  <a:lnTo>
                    <a:pt x="6021" y="5067"/>
                  </a:lnTo>
                  <a:lnTo>
                    <a:pt x="5812" y="5600"/>
                  </a:lnTo>
                  <a:lnTo>
                    <a:pt x="5576" y="6000"/>
                  </a:lnTo>
                  <a:lnTo>
                    <a:pt x="5288" y="6800"/>
                  </a:lnTo>
                  <a:lnTo>
                    <a:pt x="5079" y="7067"/>
                  </a:lnTo>
                  <a:lnTo>
                    <a:pt x="4791" y="7733"/>
                  </a:lnTo>
                  <a:lnTo>
                    <a:pt x="4555" y="8267"/>
                  </a:lnTo>
                  <a:lnTo>
                    <a:pt x="4346" y="8800"/>
                  </a:lnTo>
                  <a:lnTo>
                    <a:pt x="4058" y="9333"/>
                  </a:lnTo>
                  <a:lnTo>
                    <a:pt x="3901" y="10000"/>
                  </a:lnTo>
                  <a:lnTo>
                    <a:pt x="3639" y="10400"/>
                  </a:lnTo>
                  <a:lnTo>
                    <a:pt x="3377" y="11067"/>
                  </a:lnTo>
                  <a:lnTo>
                    <a:pt x="3168" y="11600"/>
                  </a:lnTo>
                  <a:lnTo>
                    <a:pt x="2932" y="12000"/>
                  </a:lnTo>
                  <a:lnTo>
                    <a:pt x="2723" y="12667"/>
                  </a:lnTo>
                  <a:lnTo>
                    <a:pt x="2513" y="13067"/>
                  </a:lnTo>
                  <a:lnTo>
                    <a:pt x="2304" y="13733"/>
                  </a:lnTo>
                  <a:lnTo>
                    <a:pt x="2068" y="14267"/>
                  </a:lnTo>
                  <a:lnTo>
                    <a:pt x="1859" y="14667"/>
                  </a:lnTo>
                  <a:lnTo>
                    <a:pt x="1675" y="15200"/>
                  </a:lnTo>
                  <a:lnTo>
                    <a:pt x="1518" y="15733"/>
                  </a:lnTo>
                  <a:lnTo>
                    <a:pt x="1283" y="16133"/>
                  </a:lnTo>
                  <a:lnTo>
                    <a:pt x="1152" y="16667"/>
                  </a:lnTo>
                  <a:lnTo>
                    <a:pt x="995" y="16933"/>
                  </a:lnTo>
                  <a:lnTo>
                    <a:pt x="838" y="17200"/>
                  </a:lnTo>
                  <a:lnTo>
                    <a:pt x="681" y="17733"/>
                  </a:lnTo>
                  <a:lnTo>
                    <a:pt x="497" y="18000"/>
                  </a:lnTo>
                  <a:lnTo>
                    <a:pt x="366" y="18267"/>
                  </a:lnTo>
                  <a:lnTo>
                    <a:pt x="262" y="18400"/>
                  </a:lnTo>
                  <a:lnTo>
                    <a:pt x="131" y="18933"/>
                  </a:lnTo>
                  <a:lnTo>
                    <a:pt x="0" y="19067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3" name="Freeform 160"/>
            <p:cNvSpPr>
              <a:spLocks/>
            </p:cNvSpPr>
            <p:nvPr/>
          </p:nvSpPr>
          <p:spPr bwMode="auto">
            <a:xfrm rot="5400000">
              <a:off x="4285" y="1294"/>
              <a:ext cx="197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5" y="0"/>
                  </a:moveTo>
                  <a:lnTo>
                    <a:pt x="19724" y="755"/>
                  </a:lnTo>
                  <a:lnTo>
                    <a:pt x="19523" y="1258"/>
                  </a:lnTo>
                  <a:lnTo>
                    <a:pt x="19447" y="1761"/>
                  </a:lnTo>
                  <a:lnTo>
                    <a:pt x="19196" y="2642"/>
                  </a:lnTo>
                  <a:lnTo>
                    <a:pt x="18970" y="3396"/>
                  </a:lnTo>
                  <a:lnTo>
                    <a:pt x="18894" y="3899"/>
                  </a:lnTo>
                  <a:lnTo>
                    <a:pt x="18593" y="4025"/>
                  </a:lnTo>
                  <a:lnTo>
                    <a:pt x="18442" y="5031"/>
                  </a:lnTo>
                  <a:lnTo>
                    <a:pt x="18166" y="5535"/>
                  </a:lnTo>
                  <a:lnTo>
                    <a:pt x="17990" y="6038"/>
                  </a:lnTo>
                  <a:lnTo>
                    <a:pt x="17915" y="6415"/>
                  </a:lnTo>
                  <a:lnTo>
                    <a:pt x="17563" y="7044"/>
                  </a:lnTo>
                  <a:lnTo>
                    <a:pt x="17412" y="7799"/>
                  </a:lnTo>
                  <a:lnTo>
                    <a:pt x="17261" y="8428"/>
                  </a:lnTo>
                  <a:lnTo>
                    <a:pt x="17111" y="8931"/>
                  </a:lnTo>
                  <a:lnTo>
                    <a:pt x="16884" y="9434"/>
                  </a:lnTo>
                  <a:lnTo>
                    <a:pt x="16583" y="10189"/>
                  </a:lnTo>
                  <a:lnTo>
                    <a:pt x="16332" y="10692"/>
                  </a:lnTo>
                  <a:lnTo>
                    <a:pt x="16206" y="11195"/>
                  </a:lnTo>
                  <a:lnTo>
                    <a:pt x="16030" y="11447"/>
                  </a:lnTo>
                  <a:lnTo>
                    <a:pt x="15779" y="12201"/>
                  </a:lnTo>
                  <a:lnTo>
                    <a:pt x="15628" y="12579"/>
                  </a:lnTo>
                  <a:lnTo>
                    <a:pt x="15427" y="13208"/>
                  </a:lnTo>
                  <a:lnTo>
                    <a:pt x="15201" y="13585"/>
                  </a:lnTo>
                  <a:lnTo>
                    <a:pt x="15025" y="14088"/>
                  </a:lnTo>
                  <a:lnTo>
                    <a:pt x="14899" y="14465"/>
                  </a:lnTo>
                  <a:lnTo>
                    <a:pt x="14648" y="14969"/>
                  </a:lnTo>
                  <a:lnTo>
                    <a:pt x="14372" y="15220"/>
                  </a:lnTo>
                  <a:lnTo>
                    <a:pt x="14271" y="15597"/>
                  </a:lnTo>
                  <a:lnTo>
                    <a:pt x="13995" y="15975"/>
                  </a:lnTo>
                  <a:lnTo>
                    <a:pt x="13794" y="16478"/>
                  </a:lnTo>
                  <a:lnTo>
                    <a:pt x="13618" y="16478"/>
                  </a:lnTo>
                  <a:lnTo>
                    <a:pt x="13417" y="16981"/>
                  </a:lnTo>
                  <a:lnTo>
                    <a:pt x="13141" y="17233"/>
                  </a:lnTo>
                  <a:lnTo>
                    <a:pt x="13015" y="17862"/>
                  </a:lnTo>
                  <a:lnTo>
                    <a:pt x="12789" y="18239"/>
                  </a:lnTo>
                  <a:lnTo>
                    <a:pt x="12638" y="18239"/>
                  </a:lnTo>
                  <a:lnTo>
                    <a:pt x="12412" y="18868"/>
                  </a:lnTo>
                  <a:lnTo>
                    <a:pt x="12186" y="18868"/>
                  </a:lnTo>
                  <a:lnTo>
                    <a:pt x="11985" y="18868"/>
                  </a:lnTo>
                  <a:lnTo>
                    <a:pt x="11759" y="19119"/>
                  </a:lnTo>
                  <a:lnTo>
                    <a:pt x="11508" y="19245"/>
                  </a:lnTo>
                  <a:lnTo>
                    <a:pt x="11281" y="19245"/>
                  </a:lnTo>
                  <a:lnTo>
                    <a:pt x="11181" y="19623"/>
                  </a:lnTo>
                  <a:lnTo>
                    <a:pt x="10980" y="19874"/>
                  </a:lnTo>
                  <a:lnTo>
                    <a:pt x="10754" y="19874"/>
                  </a:lnTo>
                  <a:lnTo>
                    <a:pt x="10528" y="19874"/>
                  </a:lnTo>
                  <a:lnTo>
                    <a:pt x="10327" y="19874"/>
                  </a:lnTo>
                  <a:lnTo>
                    <a:pt x="10151" y="19874"/>
                  </a:lnTo>
                  <a:lnTo>
                    <a:pt x="9799" y="19874"/>
                  </a:lnTo>
                  <a:lnTo>
                    <a:pt x="9648" y="19623"/>
                  </a:lnTo>
                  <a:lnTo>
                    <a:pt x="9422" y="19245"/>
                  </a:lnTo>
                  <a:lnTo>
                    <a:pt x="9196" y="19245"/>
                  </a:lnTo>
                  <a:lnTo>
                    <a:pt x="8970" y="19119"/>
                  </a:lnTo>
                  <a:lnTo>
                    <a:pt x="8769" y="18868"/>
                  </a:lnTo>
                  <a:lnTo>
                    <a:pt x="8518" y="18868"/>
                  </a:lnTo>
                  <a:lnTo>
                    <a:pt x="8241" y="18491"/>
                  </a:lnTo>
                  <a:lnTo>
                    <a:pt x="7965" y="18239"/>
                  </a:lnTo>
                  <a:lnTo>
                    <a:pt x="7789" y="17862"/>
                  </a:lnTo>
                  <a:lnTo>
                    <a:pt x="7538" y="17233"/>
                  </a:lnTo>
                  <a:lnTo>
                    <a:pt x="7337" y="16981"/>
                  </a:lnTo>
                  <a:lnTo>
                    <a:pt x="7136" y="16478"/>
                  </a:lnTo>
                  <a:lnTo>
                    <a:pt x="6809" y="15975"/>
                  </a:lnTo>
                  <a:lnTo>
                    <a:pt x="6633" y="15597"/>
                  </a:lnTo>
                  <a:lnTo>
                    <a:pt x="6332" y="15220"/>
                  </a:lnTo>
                  <a:lnTo>
                    <a:pt x="6030" y="14465"/>
                  </a:lnTo>
                  <a:lnTo>
                    <a:pt x="5829" y="14214"/>
                  </a:lnTo>
                  <a:lnTo>
                    <a:pt x="5578" y="13585"/>
                  </a:lnTo>
                  <a:lnTo>
                    <a:pt x="5302" y="13208"/>
                  </a:lnTo>
                  <a:lnTo>
                    <a:pt x="5025" y="12956"/>
                  </a:lnTo>
                  <a:lnTo>
                    <a:pt x="4749" y="12201"/>
                  </a:lnTo>
                  <a:lnTo>
                    <a:pt x="4523" y="11447"/>
                  </a:lnTo>
                  <a:lnTo>
                    <a:pt x="4296" y="11195"/>
                  </a:lnTo>
                  <a:lnTo>
                    <a:pt x="4171" y="10692"/>
                  </a:lnTo>
                  <a:lnTo>
                    <a:pt x="3794" y="10189"/>
                  </a:lnTo>
                  <a:lnTo>
                    <a:pt x="3693" y="9182"/>
                  </a:lnTo>
                  <a:lnTo>
                    <a:pt x="3417" y="8931"/>
                  </a:lnTo>
                  <a:lnTo>
                    <a:pt x="3191" y="8428"/>
                  </a:lnTo>
                  <a:lnTo>
                    <a:pt x="2864" y="7799"/>
                  </a:lnTo>
                  <a:lnTo>
                    <a:pt x="2764" y="7044"/>
                  </a:lnTo>
                  <a:lnTo>
                    <a:pt x="2538" y="6415"/>
                  </a:lnTo>
                  <a:lnTo>
                    <a:pt x="2286" y="6038"/>
                  </a:lnTo>
                  <a:lnTo>
                    <a:pt x="2010" y="5535"/>
                  </a:lnTo>
                  <a:lnTo>
                    <a:pt x="1985" y="5031"/>
                  </a:lnTo>
                  <a:lnTo>
                    <a:pt x="1633" y="4780"/>
                  </a:lnTo>
                  <a:lnTo>
                    <a:pt x="1533" y="4025"/>
                  </a:lnTo>
                  <a:lnTo>
                    <a:pt x="1307" y="3899"/>
                  </a:lnTo>
                  <a:lnTo>
                    <a:pt x="1256" y="3396"/>
                  </a:lnTo>
                  <a:lnTo>
                    <a:pt x="980" y="3019"/>
                  </a:lnTo>
                  <a:lnTo>
                    <a:pt x="779" y="2642"/>
                  </a:lnTo>
                  <a:lnTo>
                    <a:pt x="578" y="2013"/>
                  </a:lnTo>
                  <a:lnTo>
                    <a:pt x="477" y="1761"/>
                  </a:lnTo>
                  <a:lnTo>
                    <a:pt x="427" y="1761"/>
                  </a:lnTo>
                  <a:lnTo>
                    <a:pt x="302" y="1258"/>
                  </a:lnTo>
                  <a:lnTo>
                    <a:pt x="176" y="1258"/>
                  </a:lnTo>
                  <a:lnTo>
                    <a:pt x="0" y="1006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4" name="Freeform 161"/>
            <p:cNvSpPr>
              <a:spLocks/>
            </p:cNvSpPr>
            <p:nvPr/>
          </p:nvSpPr>
          <p:spPr bwMode="auto">
            <a:xfrm rot="5400000">
              <a:off x="4260" y="972"/>
              <a:ext cx="245" cy="2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44" y="889"/>
                  </a:lnTo>
                  <a:lnTo>
                    <a:pt x="508" y="1185"/>
                  </a:lnTo>
                  <a:lnTo>
                    <a:pt x="528" y="1926"/>
                  </a:lnTo>
                  <a:lnTo>
                    <a:pt x="812" y="2370"/>
                  </a:lnTo>
                  <a:lnTo>
                    <a:pt x="975" y="3259"/>
                  </a:lnTo>
                  <a:lnTo>
                    <a:pt x="1137" y="3704"/>
                  </a:lnTo>
                  <a:lnTo>
                    <a:pt x="1442" y="4296"/>
                  </a:lnTo>
                  <a:lnTo>
                    <a:pt x="1645" y="5185"/>
                  </a:lnTo>
                  <a:lnTo>
                    <a:pt x="1706" y="5481"/>
                  </a:lnTo>
                  <a:lnTo>
                    <a:pt x="2010" y="5926"/>
                  </a:lnTo>
                  <a:lnTo>
                    <a:pt x="2173" y="6963"/>
                  </a:lnTo>
                  <a:lnTo>
                    <a:pt x="2437" y="7111"/>
                  </a:lnTo>
                  <a:lnTo>
                    <a:pt x="2660" y="7556"/>
                  </a:lnTo>
                  <a:lnTo>
                    <a:pt x="2721" y="8444"/>
                  </a:lnTo>
                  <a:lnTo>
                    <a:pt x="2964" y="9037"/>
                  </a:lnTo>
                  <a:lnTo>
                    <a:pt x="3127" y="9926"/>
                  </a:lnTo>
                  <a:lnTo>
                    <a:pt x="3391" y="10222"/>
                  </a:lnTo>
                  <a:lnTo>
                    <a:pt x="3655" y="10815"/>
                  </a:lnTo>
                  <a:lnTo>
                    <a:pt x="3797" y="11111"/>
                  </a:lnTo>
                  <a:lnTo>
                    <a:pt x="3980" y="11852"/>
                  </a:lnTo>
                  <a:lnTo>
                    <a:pt x="4203" y="12296"/>
                  </a:lnTo>
                  <a:lnTo>
                    <a:pt x="4406" y="12889"/>
                  </a:lnTo>
                  <a:lnTo>
                    <a:pt x="4670" y="13185"/>
                  </a:lnTo>
                  <a:lnTo>
                    <a:pt x="4731" y="13778"/>
                  </a:lnTo>
                  <a:lnTo>
                    <a:pt x="5015" y="14370"/>
                  </a:lnTo>
                  <a:lnTo>
                    <a:pt x="5157" y="14667"/>
                  </a:lnTo>
                  <a:lnTo>
                    <a:pt x="5421" y="14667"/>
                  </a:lnTo>
                  <a:lnTo>
                    <a:pt x="5543" y="15259"/>
                  </a:lnTo>
                  <a:lnTo>
                    <a:pt x="5807" y="16296"/>
                  </a:lnTo>
                  <a:lnTo>
                    <a:pt x="5970" y="16444"/>
                  </a:lnTo>
                  <a:lnTo>
                    <a:pt x="6254" y="16444"/>
                  </a:lnTo>
                  <a:lnTo>
                    <a:pt x="6315" y="16889"/>
                  </a:lnTo>
                  <a:lnTo>
                    <a:pt x="6680" y="17481"/>
                  </a:lnTo>
                  <a:lnTo>
                    <a:pt x="6883" y="17481"/>
                  </a:lnTo>
                  <a:lnTo>
                    <a:pt x="7005" y="17778"/>
                  </a:lnTo>
                  <a:lnTo>
                    <a:pt x="7188" y="18667"/>
                  </a:lnTo>
                  <a:lnTo>
                    <a:pt x="7431" y="18667"/>
                  </a:lnTo>
                  <a:lnTo>
                    <a:pt x="7675" y="18667"/>
                  </a:lnTo>
                  <a:lnTo>
                    <a:pt x="7817" y="18667"/>
                  </a:lnTo>
                  <a:lnTo>
                    <a:pt x="8000" y="19111"/>
                  </a:lnTo>
                  <a:lnTo>
                    <a:pt x="8223" y="19111"/>
                  </a:lnTo>
                  <a:lnTo>
                    <a:pt x="8426" y="19111"/>
                  </a:lnTo>
                  <a:lnTo>
                    <a:pt x="8670" y="19704"/>
                  </a:lnTo>
                  <a:lnTo>
                    <a:pt x="8893" y="19852"/>
                  </a:lnTo>
                  <a:lnTo>
                    <a:pt x="9036" y="19852"/>
                  </a:lnTo>
                  <a:lnTo>
                    <a:pt x="9259" y="19852"/>
                  </a:lnTo>
                  <a:lnTo>
                    <a:pt x="9442" y="19852"/>
                  </a:lnTo>
                  <a:lnTo>
                    <a:pt x="9746" y="19852"/>
                  </a:lnTo>
                  <a:lnTo>
                    <a:pt x="9888" y="19852"/>
                  </a:lnTo>
                  <a:lnTo>
                    <a:pt x="10173" y="19852"/>
                  </a:lnTo>
                  <a:lnTo>
                    <a:pt x="10376" y="19852"/>
                  </a:lnTo>
                  <a:lnTo>
                    <a:pt x="10558" y="19704"/>
                  </a:lnTo>
                  <a:lnTo>
                    <a:pt x="10802" y="19704"/>
                  </a:lnTo>
                  <a:lnTo>
                    <a:pt x="10964" y="19111"/>
                  </a:lnTo>
                  <a:lnTo>
                    <a:pt x="11269" y="19111"/>
                  </a:lnTo>
                  <a:lnTo>
                    <a:pt x="11513" y="18667"/>
                  </a:lnTo>
                  <a:lnTo>
                    <a:pt x="11797" y="18667"/>
                  </a:lnTo>
                  <a:lnTo>
                    <a:pt x="12061" y="18667"/>
                  </a:lnTo>
                  <a:lnTo>
                    <a:pt x="12223" y="17778"/>
                  </a:lnTo>
                  <a:lnTo>
                    <a:pt x="12487" y="17481"/>
                  </a:lnTo>
                  <a:lnTo>
                    <a:pt x="12711" y="16889"/>
                  </a:lnTo>
                  <a:lnTo>
                    <a:pt x="12975" y="16444"/>
                  </a:lnTo>
                  <a:lnTo>
                    <a:pt x="13259" y="16444"/>
                  </a:lnTo>
                  <a:lnTo>
                    <a:pt x="13401" y="16296"/>
                  </a:lnTo>
                  <a:lnTo>
                    <a:pt x="13665" y="15259"/>
                  </a:lnTo>
                  <a:lnTo>
                    <a:pt x="13970" y="14667"/>
                  </a:lnTo>
                  <a:lnTo>
                    <a:pt x="14234" y="14370"/>
                  </a:lnTo>
                  <a:lnTo>
                    <a:pt x="14457" y="13778"/>
                  </a:lnTo>
                  <a:lnTo>
                    <a:pt x="14680" y="13333"/>
                  </a:lnTo>
                  <a:lnTo>
                    <a:pt x="14985" y="12889"/>
                  </a:lnTo>
                  <a:lnTo>
                    <a:pt x="15269" y="12296"/>
                  </a:lnTo>
                  <a:lnTo>
                    <a:pt x="15431" y="11852"/>
                  </a:lnTo>
                  <a:lnTo>
                    <a:pt x="15675" y="11111"/>
                  </a:lnTo>
                  <a:lnTo>
                    <a:pt x="15898" y="10815"/>
                  </a:lnTo>
                  <a:lnTo>
                    <a:pt x="16183" y="10222"/>
                  </a:lnTo>
                  <a:lnTo>
                    <a:pt x="16284" y="9333"/>
                  </a:lnTo>
                  <a:lnTo>
                    <a:pt x="16731" y="9037"/>
                  </a:lnTo>
                  <a:lnTo>
                    <a:pt x="16873" y="8444"/>
                  </a:lnTo>
                  <a:lnTo>
                    <a:pt x="17137" y="7556"/>
                  </a:lnTo>
                  <a:lnTo>
                    <a:pt x="17299" y="7111"/>
                  </a:lnTo>
                  <a:lnTo>
                    <a:pt x="17442" y="6963"/>
                  </a:lnTo>
                  <a:lnTo>
                    <a:pt x="17746" y="5926"/>
                  </a:lnTo>
                  <a:lnTo>
                    <a:pt x="17970" y="5630"/>
                  </a:lnTo>
                  <a:lnTo>
                    <a:pt x="18071" y="5185"/>
                  </a:lnTo>
                  <a:lnTo>
                    <a:pt x="18294" y="4741"/>
                  </a:lnTo>
                  <a:lnTo>
                    <a:pt x="18497" y="4296"/>
                  </a:lnTo>
                  <a:lnTo>
                    <a:pt x="18680" y="3704"/>
                  </a:lnTo>
                  <a:lnTo>
                    <a:pt x="18883" y="3259"/>
                  </a:lnTo>
                  <a:lnTo>
                    <a:pt x="19086" y="3111"/>
                  </a:lnTo>
                  <a:lnTo>
                    <a:pt x="19147" y="2667"/>
                  </a:lnTo>
                  <a:lnTo>
                    <a:pt x="19391" y="2074"/>
                  </a:lnTo>
                  <a:lnTo>
                    <a:pt x="19492" y="1926"/>
                  </a:lnTo>
                  <a:lnTo>
                    <a:pt x="19614" y="1926"/>
                  </a:lnTo>
                  <a:lnTo>
                    <a:pt x="19695" y="1185"/>
                  </a:lnTo>
                  <a:lnTo>
                    <a:pt x="19878" y="1185"/>
                  </a:lnTo>
                  <a:lnTo>
                    <a:pt x="19980" y="889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5" name="Freeform 162"/>
            <p:cNvSpPr>
              <a:spLocks/>
            </p:cNvSpPr>
            <p:nvPr/>
          </p:nvSpPr>
          <p:spPr bwMode="auto">
            <a:xfrm rot="5400000">
              <a:off x="4349" y="1156"/>
              <a:ext cx="104" cy="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52" y="19444"/>
                  </a:moveTo>
                  <a:lnTo>
                    <a:pt x="19760" y="18889"/>
                  </a:lnTo>
                  <a:lnTo>
                    <a:pt x="19568" y="18333"/>
                  </a:lnTo>
                  <a:lnTo>
                    <a:pt x="19376" y="18333"/>
                  </a:lnTo>
                  <a:lnTo>
                    <a:pt x="19185" y="16667"/>
                  </a:lnTo>
                  <a:lnTo>
                    <a:pt x="18945" y="16111"/>
                  </a:lnTo>
                  <a:lnTo>
                    <a:pt x="18753" y="16111"/>
                  </a:lnTo>
                  <a:lnTo>
                    <a:pt x="18561" y="15000"/>
                  </a:lnTo>
                  <a:lnTo>
                    <a:pt x="18417" y="15000"/>
                  </a:lnTo>
                  <a:lnTo>
                    <a:pt x="18177" y="14444"/>
                  </a:lnTo>
                  <a:lnTo>
                    <a:pt x="18034" y="12778"/>
                  </a:lnTo>
                  <a:lnTo>
                    <a:pt x="17842" y="12778"/>
                  </a:lnTo>
                  <a:lnTo>
                    <a:pt x="17602" y="12222"/>
                  </a:lnTo>
                  <a:lnTo>
                    <a:pt x="17410" y="12222"/>
                  </a:lnTo>
                  <a:lnTo>
                    <a:pt x="17170" y="11111"/>
                  </a:lnTo>
                  <a:lnTo>
                    <a:pt x="17026" y="10556"/>
                  </a:lnTo>
                  <a:lnTo>
                    <a:pt x="16835" y="10556"/>
                  </a:lnTo>
                  <a:lnTo>
                    <a:pt x="16595" y="8889"/>
                  </a:lnTo>
                  <a:lnTo>
                    <a:pt x="16403" y="8889"/>
                  </a:lnTo>
                  <a:lnTo>
                    <a:pt x="16211" y="8333"/>
                  </a:lnTo>
                  <a:lnTo>
                    <a:pt x="16067" y="8333"/>
                  </a:lnTo>
                  <a:lnTo>
                    <a:pt x="15827" y="7778"/>
                  </a:lnTo>
                  <a:lnTo>
                    <a:pt x="15588" y="7778"/>
                  </a:lnTo>
                  <a:lnTo>
                    <a:pt x="15396" y="6667"/>
                  </a:lnTo>
                  <a:lnTo>
                    <a:pt x="15204" y="6667"/>
                  </a:lnTo>
                  <a:lnTo>
                    <a:pt x="15012" y="5000"/>
                  </a:lnTo>
                  <a:lnTo>
                    <a:pt x="14820" y="5000"/>
                  </a:lnTo>
                  <a:lnTo>
                    <a:pt x="14580" y="4444"/>
                  </a:lnTo>
                  <a:lnTo>
                    <a:pt x="14436" y="4444"/>
                  </a:lnTo>
                  <a:lnTo>
                    <a:pt x="14197" y="3889"/>
                  </a:lnTo>
                  <a:lnTo>
                    <a:pt x="14005" y="3889"/>
                  </a:lnTo>
                  <a:lnTo>
                    <a:pt x="13813" y="3333"/>
                  </a:lnTo>
                  <a:lnTo>
                    <a:pt x="13525" y="3333"/>
                  </a:lnTo>
                  <a:lnTo>
                    <a:pt x="13381" y="3333"/>
                  </a:lnTo>
                  <a:lnTo>
                    <a:pt x="13141" y="3333"/>
                  </a:lnTo>
                  <a:lnTo>
                    <a:pt x="13046" y="1667"/>
                  </a:lnTo>
                  <a:lnTo>
                    <a:pt x="12758" y="1667"/>
                  </a:lnTo>
                  <a:lnTo>
                    <a:pt x="12566" y="1667"/>
                  </a:lnTo>
                  <a:lnTo>
                    <a:pt x="12374" y="1667"/>
                  </a:lnTo>
                  <a:lnTo>
                    <a:pt x="12086" y="556"/>
                  </a:lnTo>
                  <a:lnTo>
                    <a:pt x="11990" y="556"/>
                  </a:lnTo>
                  <a:lnTo>
                    <a:pt x="11703" y="556"/>
                  </a:lnTo>
                  <a:lnTo>
                    <a:pt x="11559" y="556"/>
                  </a:lnTo>
                  <a:lnTo>
                    <a:pt x="11271" y="0"/>
                  </a:lnTo>
                  <a:lnTo>
                    <a:pt x="11127" y="0"/>
                  </a:lnTo>
                  <a:lnTo>
                    <a:pt x="10935" y="0"/>
                  </a:lnTo>
                  <a:lnTo>
                    <a:pt x="10695" y="0"/>
                  </a:lnTo>
                  <a:lnTo>
                    <a:pt x="10504" y="0"/>
                  </a:lnTo>
                  <a:lnTo>
                    <a:pt x="10312" y="0"/>
                  </a:lnTo>
                  <a:lnTo>
                    <a:pt x="10072" y="0"/>
                  </a:lnTo>
                  <a:lnTo>
                    <a:pt x="9832" y="0"/>
                  </a:lnTo>
                  <a:lnTo>
                    <a:pt x="9592" y="0"/>
                  </a:lnTo>
                  <a:lnTo>
                    <a:pt x="9400" y="0"/>
                  </a:lnTo>
                  <a:lnTo>
                    <a:pt x="9209" y="0"/>
                  </a:lnTo>
                  <a:lnTo>
                    <a:pt x="8969" y="556"/>
                  </a:lnTo>
                  <a:lnTo>
                    <a:pt x="8729" y="556"/>
                  </a:lnTo>
                  <a:lnTo>
                    <a:pt x="8489" y="556"/>
                  </a:lnTo>
                  <a:lnTo>
                    <a:pt x="8297" y="1667"/>
                  </a:lnTo>
                  <a:lnTo>
                    <a:pt x="7962" y="1667"/>
                  </a:lnTo>
                  <a:lnTo>
                    <a:pt x="7818" y="1667"/>
                  </a:lnTo>
                  <a:lnTo>
                    <a:pt x="7530" y="3333"/>
                  </a:lnTo>
                  <a:lnTo>
                    <a:pt x="7194" y="3333"/>
                  </a:lnTo>
                  <a:lnTo>
                    <a:pt x="7002" y="3333"/>
                  </a:lnTo>
                  <a:lnTo>
                    <a:pt x="6811" y="3889"/>
                  </a:lnTo>
                  <a:lnTo>
                    <a:pt x="6523" y="3889"/>
                  </a:lnTo>
                  <a:lnTo>
                    <a:pt x="6283" y="4444"/>
                  </a:lnTo>
                  <a:lnTo>
                    <a:pt x="5995" y="4444"/>
                  </a:lnTo>
                  <a:lnTo>
                    <a:pt x="5755" y="5000"/>
                  </a:lnTo>
                  <a:lnTo>
                    <a:pt x="5564" y="6667"/>
                  </a:lnTo>
                  <a:lnTo>
                    <a:pt x="5324" y="6667"/>
                  </a:lnTo>
                  <a:lnTo>
                    <a:pt x="5084" y="7778"/>
                  </a:lnTo>
                  <a:lnTo>
                    <a:pt x="4796" y="7778"/>
                  </a:lnTo>
                  <a:lnTo>
                    <a:pt x="4556" y="8333"/>
                  </a:lnTo>
                  <a:lnTo>
                    <a:pt x="4317" y="8333"/>
                  </a:lnTo>
                  <a:lnTo>
                    <a:pt x="4077" y="8889"/>
                  </a:lnTo>
                  <a:lnTo>
                    <a:pt x="3837" y="8889"/>
                  </a:lnTo>
                  <a:lnTo>
                    <a:pt x="3645" y="10556"/>
                  </a:lnTo>
                  <a:lnTo>
                    <a:pt x="3405" y="10556"/>
                  </a:lnTo>
                  <a:lnTo>
                    <a:pt x="3070" y="11111"/>
                  </a:lnTo>
                  <a:lnTo>
                    <a:pt x="2926" y="12222"/>
                  </a:lnTo>
                  <a:lnTo>
                    <a:pt x="2734" y="12222"/>
                  </a:lnTo>
                  <a:lnTo>
                    <a:pt x="2446" y="12778"/>
                  </a:lnTo>
                  <a:lnTo>
                    <a:pt x="2254" y="12778"/>
                  </a:lnTo>
                  <a:lnTo>
                    <a:pt x="2062" y="12778"/>
                  </a:lnTo>
                  <a:lnTo>
                    <a:pt x="1823" y="14444"/>
                  </a:lnTo>
                  <a:lnTo>
                    <a:pt x="1631" y="15000"/>
                  </a:lnTo>
                  <a:lnTo>
                    <a:pt x="1487" y="15000"/>
                  </a:lnTo>
                  <a:lnTo>
                    <a:pt x="1295" y="16111"/>
                  </a:lnTo>
                  <a:lnTo>
                    <a:pt x="1151" y="16111"/>
                  </a:lnTo>
                  <a:lnTo>
                    <a:pt x="1007" y="16667"/>
                  </a:lnTo>
                  <a:lnTo>
                    <a:pt x="767" y="16667"/>
                  </a:lnTo>
                  <a:lnTo>
                    <a:pt x="719" y="18333"/>
                  </a:lnTo>
                  <a:lnTo>
                    <a:pt x="432" y="18333"/>
                  </a:lnTo>
                  <a:lnTo>
                    <a:pt x="384" y="18333"/>
                  </a:lnTo>
                  <a:lnTo>
                    <a:pt x="192" y="18333"/>
                  </a:lnTo>
                  <a:lnTo>
                    <a:pt x="144" y="18889"/>
                  </a:lnTo>
                  <a:lnTo>
                    <a:pt x="0" y="18889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6" name="Line 163"/>
            <p:cNvSpPr>
              <a:spLocks noChangeShapeType="1"/>
            </p:cNvSpPr>
            <p:nvPr/>
          </p:nvSpPr>
          <p:spPr bwMode="auto">
            <a:xfrm rot="5400000" flipH="1">
              <a:off x="4448" y="1688"/>
              <a:ext cx="15" cy="49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7" name="Line 164"/>
            <p:cNvSpPr>
              <a:spLocks noChangeShapeType="1"/>
            </p:cNvSpPr>
            <p:nvPr/>
          </p:nvSpPr>
          <p:spPr bwMode="auto">
            <a:xfrm rot="5400000">
              <a:off x="4365" y="961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8" name="Line 165"/>
            <p:cNvSpPr>
              <a:spLocks noChangeShapeType="1"/>
            </p:cNvSpPr>
            <p:nvPr/>
          </p:nvSpPr>
          <p:spPr bwMode="auto">
            <a:xfrm rot="5400000">
              <a:off x="4361" y="1291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9" name="Line 166"/>
            <p:cNvSpPr>
              <a:spLocks noChangeShapeType="1"/>
            </p:cNvSpPr>
            <p:nvPr/>
          </p:nvSpPr>
          <p:spPr bwMode="auto">
            <a:xfrm rot="5400000">
              <a:off x="4361" y="1631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0" name="Line 167"/>
            <p:cNvSpPr>
              <a:spLocks noChangeShapeType="1"/>
            </p:cNvSpPr>
            <p:nvPr/>
          </p:nvSpPr>
          <p:spPr bwMode="auto">
            <a:xfrm rot="5400000">
              <a:off x="4361" y="2270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1" name="Line 168"/>
            <p:cNvSpPr>
              <a:spLocks noChangeShapeType="1"/>
            </p:cNvSpPr>
            <p:nvPr/>
          </p:nvSpPr>
          <p:spPr bwMode="auto">
            <a:xfrm rot="5400000">
              <a:off x="4361" y="2589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2" name="Line 169"/>
            <p:cNvSpPr>
              <a:spLocks noChangeShapeType="1"/>
            </p:cNvSpPr>
            <p:nvPr/>
          </p:nvSpPr>
          <p:spPr bwMode="auto">
            <a:xfrm rot="5400000">
              <a:off x="4365" y="2933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5" name="Group 184"/>
          <p:cNvGrpSpPr>
            <a:grpSpLocks/>
          </p:cNvGrpSpPr>
          <p:nvPr/>
        </p:nvGrpSpPr>
        <p:grpSpPr bwMode="auto">
          <a:xfrm>
            <a:off x="827088" y="2205038"/>
            <a:ext cx="1635125" cy="3743325"/>
            <a:chOff x="521" y="1389"/>
            <a:chExt cx="1030" cy="2358"/>
          </a:xfrm>
        </p:grpSpPr>
        <p:sp>
          <p:nvSpPr>
            <p:cNvPr id="28693" name="Text Box 185"/>
            <p:cNvSpPr txBox="1">
              <a:spLocks noChangeArrowheads="1"/>
            </p:cNvSpPr>
            <p:nvPr/>
          </p:nvSpPr>
          <p:spPr bwMode="auto">
            <a:xfrm>
              <a:off x="521" y="1389"/>
              <a:ext cx="1030" cy="23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</p:txBody>
        </p:sp>
        <p:grpSp>
          <p:nvGrpSpPr>
            <p:cNvPr id="28694" name="Group 186"/>
            <p:cNvGrpSpPr>
              <a:grpSpLocks/>
            </p:cNvGrpSpPr>
            <p:nvPr/>
          </p:nvGrpSpPr>
          <p:grpSpPr bwMode="auto">
            <a:xfrm>
              <a:off x="915" y="2420"/>
              <a:ext cx="35" cy="1261"/>
              <a:chOff x="1104" y="1728"/>
              <a:chExt cx="48" cy="1872"/>
            </a:xfrm>
          </p:grpSpPr>
          <p:sp>
            <p:nvSpPr>
              <p:cNvPr id="28700" name="Line 187"/>
              <p:cNvSpPr>
                <a:spLocks noChangeShapeType="1"/>
              </p:cNvSpPr>
              <p:nvPr/>
            </p:nvSpPr>
            <p:spPr bwMode="auto">
              <a:xfrm>
                <a:off x="1104" y="17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1" name="Line 188"/>
              <p:cNvSpPr>
                <a:spLocks noChangeShapeType="1"/>
              </p:cNvSpPr>
              <p:nvPr/>
            </p:nvSpPr>
            <p:spPr bwMode="auto">
              <a:xfrm>
                <a:off x="1104" y="321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2" name="Oval 189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03" name="Oval 190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04" name="Oval 191"/>
              <p:cNvSpPr>
                <a:spLocks noChangeArrowheads="1"/>
              </p:cNvSpPr>
              <p:nvPr/>
            </p:nvSpPr>
            <p:spPr bwMode="auto">
              <a:xfrm>
                <a:off x="1104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695" name="Line 192"/>
            <p:cNvSpPr>
              <a:spLocks noChangeShapeType="1"/>
            </p:cNvSpPr>
            <p:nvPr/>
          </p:nvSpPr>
          <p:spPr bwMode="auto">
            <a:xfrm flipV="1">
              <a:off x="566" y="2797"/>
              <a:ext cx="0" cy="19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6" name="Line 193"/>
            <p:cNvSpPr>
              <a:spLocks noChangeShapeType="1"/>
            </p:cNvSpPr>
            <p:nvPr/>
          </p:nvSpPr>
          <p:spPr bwMode="auto">
            <a:xfrm rot="10800000" flipH="1" flipV="1">
              <a:off x="566" y="3175"/>
              <a:ext cx="0" cy="25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697" name="Object 194"/>
            <p:cNvGraphicFramePr>
              <a:graphicFrameLocks noChangeAspect="1"/>
            </p:cNvGraphicFramePr>
            <p:nvPr/>
          </p:nvGraphicFramePr>
          <p:xfrm>
            <a:off x="521" y="3049"/>
            <a:ext cx="129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48" name="公式" r:id="rId11" imgW="203024" imgH="215713" progId="Equation.3">
                    <p:embed/>
                  </p:oleObj>
                </mc:Choice>
                <mc:Fallback>
                  <p:oleObj name="公式" r:id="rId11" imgW="203024" imgH="215713" progId="Equation.3">
                    <p:embed/>
                    <p:pic>
                      <p:nvPicPr>
                        <p:cNvPr id="28697" name="Object 1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3049"/>
                          <a:ext cx="129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8" name="Line 195"/>
            <p:cNvSpPr>
              <a:spLocks noChangeShapeType="1"/>
            </p:cNvSpPr>
            <p:nvPr/>
          </p:nvSpPr>
          <p:spPr bwMode="auto">
            <a:xfrm>
              <a:off x="522" y="2797"/>
              <a:ext cx="33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9" name="Line 196"/>
            <p:cNvSpPr>
              <a:spLocks noChangeShapeType="1"/>
            </p:cNvSpPr>
            <p:nvPr/>
          </p:nvSpPr>
          <p:spPr bwMode="auto">
            <a:xfrm>
              <a:off x="522" y="3428"/>
              <a:ext cx="33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8" name="Group 140"/>
          <p:cNvGrpSpPr>
            <a:grpSpLocks/>
          </p:cNvGrpSpPr>
          <p:nvPr/>
        </p:nvGrpSpPr>
        <p:grpSpPr bwMode="auto">
          <a:xfrm>
            <a:off x="900113" y="3860800"/>
            <a:ext cx="1655762" cy="1584325"/>
            <a:chOff x="4162" y="2816"/>
            <a:chExt cx="1032" cy="981"/>
          </a:xfrm>
        </p:grpSpPr>
        <p:sp>
          <p:nvSpPr>
            <p:cNvPr id="28684" name="Line 74"/>
            <p:cNvSpPr>
              <a:spLocks noChangeShapeType="1"/>
            </p:cNvSpPr>
            <p:nvPr/>
          </p:nvSpPr>
          <p:spPr bwMode="auto">
            <a:xfrm flipV="1">
              <a:off x="4511" y="2816"/>
              <a:ext cx="650" cy="3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5" name="Line 75"/>
            <p:cNvSpPr>
              <a:spLocks noChangeShapeType="1"/>
            </p:cNvSpPr>
            <p:nvPr/>
          </p:nvSpPr>
          <p:spPr bwMode="auto">
            <a:xfrm flipV="1">
              <a:off x="4579" y="3448"/>
              <a:ext cx="615" cy="3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6" name="Line 76"/>
            <p:cNvSpPr>
              <a:spLocks noChangeShapeType="1"/>
            </p:cNvSpPr>
            <p:nvPr/>
          </p:nvSpPr>
          <p:spPr bwMode="auto">
            <a:xfrm flipV="1">
              <a:off x="4579" y="3135"/>
              <a:ext cx="615" cy="3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7" name="Line 83"/>
            <p:cNvSpPr>
              <a:spLocks noChangeShapeType="1"/>
            </p:cNvSpPr>
            <p:nvPr/>
          </p:nvSpPr>
          <p:spPr bwMode="auto">
            <a:xfrm flipV="1">
              <a:off x="4616" y="3135"/>
              <a:ext cx="57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688" name="Object 84"/>
            <p:cNvGraphicFramePr>
              <a:graphicFrameLocks noChangeAspect="1"/>
            </p:cNvGraphicFramePr>
            <p:nvPr/>
          </p:nvGraphicFramePr>
          <p:xfrm>
            <a:off x="4916" y="2931"/>
            <a:ext cx="136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49" name="公式" r:id="rId13" imgW="139579" imgH="177646" progId="Equation.3">
                    <p:embed/>
                  </p:oleObj>
                </mc:Choice>
                <mc:Fallback>
                  <p:oleObj name="公式" r:id="rId13" imgW="139579" imgH="177646" progId="Equation.3">
                    <p:embed/>
                    <p:pic>
                      <p:nvPicPr>
                        <p:cNvPr id="28688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6" y="2931"/>
                          <a:ext cx="136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9" name="Line 85"/>
            <p:cNvSpPr>
              <a:spLocks noChangeShapeType="1"/>
            </p:cNvSpPr>
            <p:nvPr/>
          </p:nvSpPr>
          <p:spPr bwMode="auto">
            <a:xfrm>
              <a:off x="4198" y="3169"/>
              <a:ext cx="36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0" name="Line 86"/>
            <p:cNvSpPr>
              <a:spLocks noChangeShapeType="1"/>
            </p:cNvSpPr>
            <p:nvPr/>
          </p:nvSpPr>
          <p:spPr bwMode="auto">
            <a:xfrm>
              <a:off x="4162" y="3797"/>
              <a:ext cx="397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1" name="Line 87"/>
            <p:cNvSpPr>
              <a:spLocks noChangeShapeType="1"/>
            </p:cNvSpPr>
            <p:nvPr/>
          </p:nvSpPr>
          <p:spPr bwMode="auto">
            <a:xfrm>
              <a:off x="4271" y="3484"/>
              <a:ext cx="28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2" name="Arc 91"/>
            <p:cNvSpPr>
              <a:spLocks/>
            </p:cNvSpPr>
            <p:nvPr/>
          </p:nvSpPr>
          <p:spPr bwMode="auto">
            <a:xfrm>
              <a:off x="4435" y="2995"/>
              <a:ext cx="435" cy="153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83" name="Text Box 4"/>
          <p:cNvSpPr txBox="1">
            <a:spLocks noChangeArrowheads="1"/>
          </p:cNvSpPr>
          <p:nvPr/>
        </p:nvSpPr>
        <p:spPr bwMode="auto">
          <a:xfrm>
            <a:off x="814388" y="488950"/>
            <a:ext cx="82438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将单缝衍射的狭缝</a:t>
            </a:r>
            <a:r>
              <a:rPr lang="zh-CN" altLang="en-US" sz="2800" b="1" dirty="0">
                <a:solidFill>
                  <a:srgbClr val="FF0000"/>
                </a:solidFill>
              </a:rPr>
              <a:t>上下平移</a:t>
            </a:r>
            <a:r>
              <a:rPr lang="zh-CN" altLang="en-US" sz="2800" b="1" dirty="0">
                <a:solidFill>
                  <a:schemeClr val="tx1"/>
                </a:solidFill>
              </a:rPr>
              <a:t>，衍射条纹是否变化？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85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09600" y="331788"/>
            <a:ext cx="78089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节</a:t>
            </a:r>
            <a:r>
              <a:rPr kumimoji="1" lang="zh-CN" altLang="en-US" sz="1800" b="1">
                <a:solidFill>
                  <a:schemeClr val="tx1"/>
                </a:solidFill>
              </a:rPr>
              <a:t>   </a:t>
            </a:r>
            <a:r>
              <a:rPr kumimoji="1" lang="zh-CN" altLang="en-US" b="1">
                <a:solidFill>
                  <a:schemeClr val="tx1"/>
                </a:solidFill>
              </a:rPr>
              <a:t>双缝衍射与干涉</a:t>
            </a:r>
            <a:br>
              <a:rPr kumimoji="1" lang="zh-CN" altLang="en-US" b="1">
                <a:solidFill>
                  <a:schemeClr val="tx1"/>
                </a:solidFill>
              </a:rPr>
            </a:br>
            <a:r>
              <a:rPr kumimoji="1" lang="zh-CN" altLang="en-US" b="1">
                <a:solidFill>
                  <a:schemeClr val="tx1"/>
                </a:solidFill>
              </a:rPr>
              <a:t> 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Diffraction and Interference by a Double Slit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65088" y="1443038"/>
            <a:ext cx="2279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衍射装置</a:t>
            </a:r>
          </a:p>
        </p:txBody>
      </p:sp>
      <p:sp>
        <p:nvSpPr>
          <p:cNvPr id="33796" name="Text Box 6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17</a:t>
            </a:r>
            <a:endParaRPr lang="en-US" altLang="zh-CN" sz="1800"/>
          </a:p>
        </p:txBody>
      </p:sp>
      <p:sp>
        <p:nvSpPr>
          <p:cNvPr id="28" name="圆角矩形 27"/>
          <p:cNvSpPr/>
          <p:nvPr/>
        </p:nvSpPr>
        <p:spPr>
          <a:xfrm>
            <a:off x="493488" y="2177143"/>
            <a:ext cx="8244114" cy="4354286"/>
          </a:xfrm>
          <a:prstGeom prst="roundRect">
            <a:avLst/>
          </a:prstGeom>
          <a:solidFill>
            <a:srgbClr val="000066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623888" y="4151313"/>
            <a:ext cx="7532687" cy="1587"/>
          </a:xfrm>
          <a:prstGeom prst="line">
            <a:avLst/>
          </a:prstGeom>
          <a:ln w="381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31"/>
          <p:cNvGrpSpPr>
            <a:grpSpLocks/>
          </p:cNvGrpSpPr>
          <p:nvPr/>
        </p:nvGrpSpPr>
        <p:grpSpPr bwMode="auto">
          <a:xfrm>
            <a:off x="3236913" y="2801938"/>
            <a:ext cx="179387" cy="2676525"/>
            <a:chOff x="3236687" y="2801253"/>
            <a:chExt cx="180000" cy="2677148"/>
          </a:xfrm>
        </p:grpSpPr>
        <p:sp>
          <p:nvSpPr>
            <p:cNvPr id="32" name="矩形 31"/>
            <p:cNvSpPr/>
            <p:nvPr/>
          </p:nvSpPr>
          <p:spPr>
            <a:xfrm>
              <a:off x="3236687" y="2801253"/>
              <a:ext cx="174172" cy="1008000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3236687" y="4470401"/>
              <a:ext cx="174172" cy="1008000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3236687" y="3962400"/>
              <a:ext cx="180000" cy="362857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35" name="组合 32"/>
          <p:cNvGrpSpPr>
            <a:grpSpLocks/>
          </p:cNvGrpSpPr>
          <p:nvPr/>
        </p:nvGrpSpPr>
        <p:grpSpPr bwMode="auto">
          <a:xfrm>
            <a:off x="1204913" y="3033713"/>
            <a:ext cx="1901825" cy="2236787"/>
            <a:chOff x="1204688" y="3033488"/>
            <a:chExt cx="1901372" cy="2236787"/>
          </a:xfrm>
        </p:grpSpPr>
        <p:cxnSp>
          <p:nvCxnSpPr>
            <p:cNvPr id="36" name="直接箭头连接符 35"/>
            <p:cNvCxnSpPr/>
            <p:nvPr/>
          </p:nvCxnSpPr>
          <p:spPr>
            <a:xfrm>
              <a:off x="1218972" y="3033488"/>
              <a:ext cx="1872804" cy="1587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>
              <a:off x="1233256" y="3482750"/>
              <a:ext cx="1872804" cy="158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>
              <a:off x="1218972" y="3905025"/>
              <a:ext cx="1872804" cy="158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1218972" y="4368575"/>
              <a:ext cx="1872804" cy="158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>
              <a:off x="1233256" y="4833713"/>
              <a:ext cx="1872804" cy="1587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>
              <a:off x="1204688" y="5268688"/>
              <a:ext cx="1872804" cy="1587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椭圆 41"/>
          <p:cNvSpPr/>
          <p:nvPr/>
        </p:nvSpPr>
        <p:spPr>
          <a:xfrm>
            <a:off x="3570516" y="2902856"/>
            <a:ext cx="333828" cy="2467429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7910289" y="2423886"/>
            <a:ext cx="174171" cy="343988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4" name="TextBox 19"/>
          <p:cNvSpPr txBox="1">
            <a:spLocks noChangeArrowheads="1"/>
          </p:cNvSpPr>
          <p:nvPr/>
        </p:nvSpPr>
        <p:spPr bwMode="auto">
          <a:xfrm>
            <a:off x="2816225" y="5748338"/>
            <a:ext cx="9858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FF00"/>
                </a:solidFill>
              </a:rPr>
              <a:t>双缝</a:t>
            </a:r>
          </a:p>
        </p:txBody>
      </p:sp>
      <p:sp>
        <p:nvSpPr>
          <p:cNvPr id="45" name="TextBox 20"/>
          <p:cNvSpPr txBox="1">
            <a:spLocks noChangeArrowheads="1"/>
          </p:cNvSpPr>
          <p:nvPr/>
        </p:nvSpPr>
        <p:spPr bwMode="auto">
          <a:xfrm>
            <a:off x="4021138" y="5732463"/>
            <a:ext cx="985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FF00"/>
                </a:solidFill>
              </a:rPr>
              <a:t>透镜</a:t>
            </a:r>
          </a:p>
        </p:txBody>
      </p:sp>
      <p:sp>
        <p:nvSpPr>
          <p:cNvPr id="46" name="TextBox 21"/>
          <p:cNvSpPr txBox="1">
            <a:spLocks noChangeArrowheads="1"/>
          </p:cNvSpPr>
          <p:nvPr/>
        </p:nvSpPr>
        <p:spPr bwMode="auto">
          <a:xfrm>
            <a:off x="7546975" y="5921375"/>
            <a:ext cx="987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FF00"/>
                </a:solidFill>
              </a:rPr>
              <a:t>光屏</a:t>
            </a:r>
          </a:p>
        </p:txBody>
      </p:sp>
      <p:cxnSp>
        <p:nvCxnSpPr>
          <p:cNvPr id="47" name="直接箭头连接符 46"/>
          <p:cNvCxnSpPr/>
          <p:nvPr/>
        </p:nvCxnSpPr>
        <p:spPr>
          <a:xfrm rot="16200000" flipH="1">
            <a:off x="5788025" y="3233738"/>
            <a:ext cx="0" cy="4216400"/>
          </a:xfrm>
          <a:prstGeom prst="straightConnector1">
            <a:avLst/>
          </a:prstGeom>
          <a:ln w="28575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11" name="矩形 4"/>
          <p:cNvSpPr>
            <a:spLocks noChangeArrowheads="1"/>
          </p:cNvSpPr>
          <p:nvPr/>
        </p:nvSpPr>
        <p:spPr bwMode="auto">
          <a:xfrm>
            <a:off x="4606925" y="2401888"/>
            <a:ext cx="307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双缝夫琅禾费衍射</a:t>
            </a:r>
          </a:p>
        </p:txBody>
      </p:sp>
      <p:sp>
        <p:nvSpPr>
          <p:cNvPr id="49" name="矩形 4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99050" y="4762500"/>
            <a:ext cx="1214756" cy="52322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  <p:bldP spid="16387" grpId="0" autoUpdateAnimBg="0"/>
      <p:bldP spid="44" grpId="0"/>
      <p:bldP spid="45" grpId="0"/>
      <p:bldP spid="4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01738" y="2652713"/>
            <a:ext cx="1066800" cy="2133600"/>
            <a:chOff x="480" y="1494"/>
            <a:chExt cx="672" cy="1386"/>
          </a:xfrm>
        </p:grpSpPr>
        <p:sp>
          <p:nvSpPr>
            <p:cNvPr id="34864" name="Line 3"/>
            <p:cNvSpPr>
              <a:spLocks noChangeShapeType="1"/>
            </p:cNvSpPr>
            <p:nvPr/>
          </p:nvSpPr>
          <p:spPr bwMode="auto">
            <a:xfrm>
              <a:off x="480" y="2400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5" name="Line 4"/>
            <p:cNvSpPr>
              <a:spLocks noChangeShapeType="1"/>
            </p:cNvSpPr>
            <p:nvPr/>
          </p:nvSpPr>
          <p:spPr bwMode="auto">
            <a:xfrm>
              <a:off x="480" y="2880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6" name="Line 5"/>
            <p:cNvSpPr>
              <a:spLocks noChangeShapeType="1"/>
            </p:cNvSpPr>
            <p:nvPr/>
          </p:nvSpPr>
          <p:spPr bwMode="auto">
            <a:xfrm>
              <a:off x="480" y="1494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7" name="Line 6"/>
            <p:cNvSpPr>
              <a:spLocks noChangeShapeType="1"/>
            </p:cNvSpPr>
            <p:nvPr/>
          </p:nvSpPr>
          <p:spPr bwMode="auto">
            <a:xfrm>
              <a:off x="480" y="2022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268538" y="2205038"/>
            <a:ext cx="1371600" cy="2581275"/>
            <a:chOff x="1152" y="1254"/>
            <a:chExt cx="864" cy="1626"/>
          </a:xfrm>
        </p:grpSpPr>
        <p:sp>
          <p:nvSpPr>
            <p:cNvPr id="34858" name="Line 8"/>
            <p:cNvSpPr>
              <a:spLocks noChangeShapeType="1"/>
            </p:cNvSpPr>
            <p:nvPr/>
          </p:nvSpPr>
          <p:spPr bwMode="auto">
            <a:xfrm flipV="1">
              <a:off x="1152" y="2160"/>
              <a:ext cx="816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9" name="Line 9"/>
            <p:cNvSpPr>
              <a:spLocks noChangeShapeType="1"/>
            </p:cNvSpPr>
            <p:nvPr/>
          </p:nvSpPr>
          <p:spPr bwMode="auto">
            <a:xfrm flipV="1">
              <a:off x="1200" y="2640"/>
              <a:ext cx="768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0" name="Line 10"/>
            <p:cNvSpPr>
              <a:spLocks noChangeShapeType="1"/>
            </p:cNvSpPr>
            <p:nvPr/>
          </p:nvSpPr>
          <p:spPr bwMode="auto">
            <a:xfrm flipV="1">
              <a:off x="1152" y="2400"/>
              <a:ext cx="816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1" name="Line 11"/>
            <p:cNvSpPr>
              <a:spLocks noChangeShapeType="1"/>
            </p:cNvSpPr>
            <p:nvPr/>
          </p:nvSpPr>
          <p:spPr bwMode="auto">
            <a:xfrm flipV="1">
              <a:off x="1152" y="1254"/>
              <a:ext cx="86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2" name="Line 12"/>
            <p:cNvSpPr>
              <a:spLocks noChangeShapeType="1"/>
            </p:cNvSpPr>
            <p:nvPr/>
          </p:nvSpPr>
          <p:spPr bwMode="auto">
            <a:xfrm flipV="1">
              <a:off x="1152" y="1734"/>
              <a:ext cx="86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3" name="Line 13"/>
            <p:cNvSpPr>
              <a:spLocks noChangeShapeType="1"/>
            </p:cNvSpPr>
            <p:nvPr/>
          </p:nvSpPr>
          <p:spPr bwMode="auto">
            <a:xfrm flipV="1">
              <a:off x="1152" y="1494"/>
              <a:ext cx="86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708400" y="2205038"/>
            <a:ext cx="3587750" cy="2200275"/>
            <a:chOff x="2112" y="1254"/>
            <a:chExt cx="2400" cy="1386"/>
          </a:xfrm>
        </p:grpSpPr>
        <p:sp>
          <p:nvSpPr>
            <p:cNvPr id="34852" name="Line 15"/>
            <p:cNvSpPr>
              <a:spLocks noChangeShapeType="1"/>
            </p:cNvSpPr>
            <p:nvPr/>
          </p:nvSpPr>
          <p:spPr bwMode="auto">
            <a:xfrm flipV="1">
              <a:off x="2112" y="1392"/>
              <a:ext cx="2352" cy="72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3" name="Line 16"/>
            <p:cNvSpPr>
              <a:spLocks noChangeShapeType="1"/>
            </p:cNvSpPr>
            <p:nvPr/>
          </p:nvSpPr>
          <p:spPr bwMode="auto">
            <a:xfrm flipV="1">
              <a:off x="2112" y="1392"/>
              <a:ext cx="2304" cy="9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4" name="Line 17"/>
            <p:cNvSpPr>
              <a:spLocks noChangeShapeType="1"/>
            </p:cNvSpPr>
            <p:nvPr/>
          </p:nvSpPr>
          <p:spPr bwMode="auto">
            <a:xfrm flipV="1">
              <a:off x="2112" y="1392"/>
              <a:ext cx="2304" cy="12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5" name="Line 18"/>
            <p:cNvSpPr>
              <a:spLocks noChangeShapeType="1"/>
            </p:cNvSpPr>
            <p:nvPr/>
          </p:nvSpPr>
          <p:spPr bwMode="auto">
            <a:xfrm flipV="1">
              <a:off x="2112" y="1398"/>
              <a:ext cx="2400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6" name="Line 19"/>
            <p:cNvSpPr>
              <a:spLocks noChangeShapeType="1"/>
            </p:cNvSpPr>
            <p:nvPr/>
          </p:nvSpPr>
          <p:spPr bwMode="auto">
            <a:xfrm>
              <a:off x="2112" y="1254"/>
              <a:ext cx="2352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7" name="Line 20"/>
            <p:cNvSpPr>
              <a:spLocks noChangeShapeType="1"/>
            </p:cNvSpPr>
            <p:nvPr/>
          </p:nvSpPr>
          <p:spPr bwMode="auto">
            <a:xfrm flipV="1">
              <a:off x="2112" y="1398"/>
              <a:ext cx="2352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6911975" y="196691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268538" y="1160463"/>
            <a:ext cx="5040312" cy="5222875"/>
            <a:chOff x="1152" y="576"/>
            <a:chExt cx="3360" cy="3312"/>
          </a:xfrm>
        </p:grpSpPr>
        <p:sp>
          <p:nvSpPr>
            <p:cNvPr id="34845" name="Line 23"/>
            <p:cNvSpPr>
              <a:spLocks noChangeShapeType="1"/>
            </p:cNvSpPr>
            <p:nvPr/>
          </p:nvSpPr>
          <p:spPr bwMode="auto">
            <a:xfrm>
              <a:off x="1152" y="816"/>
              <a:ext cx="0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6" name="Line 24"/>
            <p:cNvSpPr>
              <a:spLocks noChangeShapeType="1"/>
            </p:cNvSpPr>
            <p:nvPr/>
          </p:nvSpPr>
          <p:spPr bwMode="auto">
            <a:xfrm>
              <a:off x="1152" y="2880"/>
              <a:ext cx="0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0" name="Oval 25"/>
            <p:cNvSpPr>
              <a:spLocks noChangeArrowheads="1"/>
            </p:cNvSpPr>
            <p:nvPr/>
          </p:nvSpPr>
          <p:spPr bwMode="auto">
            <a:xfrm>
              <a:off x="1968" y="912"/>
              <a:ext cx="144" cy="2544"/>
            </a:xfrm>
            <a:prstGeom prst="ellipse">
              <a:avLst/>
            </a:prstGeom>
            <a:solidFill>
              <a:srgbClr val="00FFFF"/>
            </a:soli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4850" name="Line 26"/>
            <p:cNvSpPr>
              <a:spLocks noChangeShapeType="1"/>
            </p:cNvSpPr>
            <p:nvPr/>
          </p:nvSpPr>
          <p:spPr bwMode="auto">
            <a:xfrm>
              <a:off x="4512" y="576"/>
              <a:ext cx="0" cy="3312"/>
            </a:xfrm>
            <a:prstGeom prst="line">
              <a:avLst/>
            </a:prstGeom>
            <a:noFill/>
            <a:ln w="762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1" name="Line 27"/>
            <p:cNvSpPr>
              <a:spLocks noChangeShapeType="1"/>
            </p:cNvSpPr>
            <p:nvPr/>
          </p:nvSpPr>
          <p:spPr bwMode="auto">
            <a:xfrm>
              <a:off x="1152" y="201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36" name="Rectangle 28"/>
          <p:cNvSpPr>
            <a:spLocks noChangeArrowheads="1"/>
          </p:cNvSpPr>
          <p:nvPr/>
        </p:nvSpPr>
        <p:spPr bwMode="auto">
          <a:xfrm>
            <a:off x="65088" y="95250"/>
            <a:ext cx="414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3.2 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双缝衍射现象</a:t>
            </a:r>
          </a:p>
        </p:txBody>
      </p: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1430338" y="2652713"/>
            <a:ext cx="266700" cy="762000"/>
            <a:chOff x="624" y="1536"/>
            <a:chExt cx="168" cy="480"/>
          </a:xfrm>
        </p:grpSpPr>
        <p:sp>
          <p:nvSpPr>
            <p:cNvPr id="34843" name="Line 30"/>
            <p:cNvSpPr>
              <a:spLocks noChangeShapeType="1"/>
            </p:cNvSpPr>
            <p:nvPr/>
          </p:nvSpPr>
          <p:spPr bwMode="auto">
            <a:xfrm>
              <a:off x="624" y="1536"/>
              <a:ext cx="0" cy="48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4" name="Rectangle 31"/>
            <p:cNvSpPr>
              <a:spLocks noChangeArrowheads="1"/>
            </p:cNvSpPr>
            <p:nvPr/>
          </p:nvSpPr>
          <p:spPr bwMode="auto">
            <a:xfrm>
              <a:off x="672" y="1623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32"/>
          <p:cNvGrpSpPr>
            <a:grpSpLocks/>
          </p:cNvGrpSpPr>
          <p:nvPr/>
        </p:nvGrpSpPr>
        <p:grpSpPr bwMode="auto">
          <a:xfrm>
            <a:off x="804863" y="2652713"/>
            <a:ext cx="396875" cy="1371600"/>
            <a:chOff x="230" y="1536"/>
            <a:chExt cx="250" cy="864"/>
          </a:xfrm>
        </p:grpSpPr>
        <p:sp>
          <p:nvSpPr>
            <p:cNvPr id="34841" name="Line 33"/>
            <p:cNvSpPr>
              <a:spLocks noChangeShapeType="1"/>
            </p:cNvSpPr>
            <p:nvPr/>
          </p:nvSpPr>
          <p:spPr bwMode="auto">
            <a:xfrm>
              <a:off x="480" y="1536"/>
              <a:ext cx="0" cy="86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2" name="Text Box 34"/>
            <p:cNvSpPr txBox="1">
              <a:spLocks noChangeArrowheads="1"/>
            </p:cNvSpPr>
            <p:nvPr/>
          </p:nvSpPr>
          <p:spPr bwMode="auto">
            <a:xfrm>
              <a:off x="230" y="17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1658938" y="3414713"/>
            <a:ext cx="336550" cy="609600"/>
            <a:chOff x="768" y="2016"/>
            <a:chExt cx="212" cy="384"/>
          </a:xfrm>
        </p:grpSpPr>
        <p:sp>
          <p:nvSpPr>
            <p:cNvPr id="34839" name="Line 36"/>
            <p:cNvSpPr>
              <a:spLocks noChangeShapeType="1"/>
            </p:cNvSpPr>
            <p:nvPr/>
          </p:nvSpPr>
          <p:spPr bwMode="auto">
            <a:xfrm>
              <a:off x="768" y="2016"/>
              <a:ext cx="0" cy="38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0" name="Text Box 37"/>
            <p:cNvSpPr txBox="1">
              <a:spLocks noChangeArrowheads="1"/>
            </p:cNvSpPr>
            <p:nvPr/>
          </p:nvSpPr>
          <p:spPr bwMode="auto">
            <a:xfrm>
              <a:off x="768" y="20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7446" name="Line 38"/>
          <p:cNvSpPr>
            <a:spLocks noChangeShapeType="1"/>
          </p:cNvSpPr>
          <p:nvPr/>
        </p:nvSpPr>
        <p:spPr bwMode="auto">
          <a:xfrm flipH="1">
            <a:off x="1049338" y="2652713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7" name="Line 39"/>
          <p:cNvSpPr>
            <a:spLocks noChangeShapeType="1"/>
          </p:cNvSpPr>
          <p:nvPr/>
        </p:nvSpPr>
        <p:spPr bwMode="auto">
          <a:xfrm flipH="1">
            <a:off x="1125538" y="3429000"/>
            <a:ext cx="1219200" cy="1588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8" name="Line 40"/>
          <p:cNvSpPr>
            <a:spLocks noChangeShapeType="1"/>
          </p:cNvSpPr>
          <p:nvPr/>
        </p:nvSpPr>
        <p:spPr bwMode="auto">
          <a:xfrm flipH="1">
            <a:off x="1049338" y="4024313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668338" y="5014913"/>
            <a:ext cx="1243012" cy="471487"/>
            <a:chOff x="11" y="2976"/>
            <a:chExt cx="792" cy="297"/>
          </a:xfrm>
        </p:grpSpPr>
        <p:sp>
          <p:nvSpPr>
            <p:cNvPr id="34834" name="Rectangle 42"/>
            <p:cNvSpPr>
              <a:spLocks noChangeArrowheads="1"/>
            </p:cNvSpPr>
            <p:nvPr/>
          </p:nvSpPr>
          <p:spPr bwMode="auto">
            <a:xfrm>
              <a:off x="689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5" name="Rectangle 43"/>
            <p:cNvSpPr>
              <a:spLocks noChangeArrowheads="1"/>
            </p:cNvSpPr>
            <p:nvPr/>
          </p:nvSpPr>
          <p:spPr bwMode="auto">
            <a:xfrm>
              <a:off x="369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6" name="Rectangle 44"/>
            <p:cNvSpPr>
              <a:spLocks noChangeArrowheads="1"/>
            </p:cNvSpPr>
            <p:nvPr/>
          </p:nvSpPr>
          <p:spPr bwMode="auto">
            <a:xfrm>
              <a:off x="11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7" name="Rectangle 45"/>
            <p:cNvSpPr>
              <a:spLocks noChangeArrowheads="1"/>
            </p:cNvSpPr>
            <p:nvPr/>
          </p:nvSpPr>
          <p:spPr bwMode="auto">
            <a:xfrm>
              <a:off x="524" y="2976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chemeClr val="tx1"/>
                  </a:solidFill>
                  <a:latin typeface="Symbol" panose="05050102010706020507" pitchFamily="18" charset="2"/>
                </a:rPr>
                <a:t>+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8" name="Rectangle 46"/>
            <p:cNvSpPr>
              <a:spLocks noChangeArrowheads="1"/>
            </p:cNvSpPr>
            <p:nvPr/>
          </p:nvSpPr>
          <p:spPr bwMode="auto">
            <a:xfrm>
              <a:off x="194" y="2976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chemeClr val="tx1"/>
                  </a:solidFill>
                  <a:latin typeface="Symbol" panose="05050102010706020507" pitchFamily="18" charset="2"/>
                </a:rPr>
                <a:t>=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7455" name="Object 47"/>
          <p:cNvGraphicFramePr>
            <a:graphicFrameLocks noChangeAspect="1"/>
          </p:cNvGraphicFramePr>
          <p:nvPr/>
        </p:nvGraphicFramePr>
        <p:xfrm>
          <a:off x="7308850" y="1628775"/>
          <a:ext cx="1096963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1" name="位图图像" r:id="rId3" imgW="961905" imgH="3343742" progId="Paint.Picture">
                  <p:embed/>
                </p:oleObj>
              </mc:Choice>
              <mc:Fallback>
                <p:oleObj name="位图图像" r:id="rId3" imgW="961905" imgH="3343742" progId="Paint.Picture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1628775"/>
                        <a:ext cx="1096963" cy="3810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6" name="Rectangle 48"/>
          <p:cNvSpPr>
            <a:spLocks noChangeArrowheads="1"/>
          </p:cNvSpPr>
          <p:nvPr/>
        </p:nvSpPr>
        <p:spPr bwMode="auto">
          <a:xfrm>
            <a:off x="854075" y="828675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缝宽，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缝间距</a:t>
            </a:r>
          </a:p>
        </p:txBody>
      </p:sp>
      <p:sp>
        <p:nvSpPr>
          <p:cNvPr id="34833" name="Text Box 50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  <a:endParaRPr lang="en-US" altLang="zh-CN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9" grpId="0" autoUpdateAnimBg="0"/>
      <p:bldP spid="17436" grpId="0" autoUpdateAnimBg="0"/>
      <p:bldP spid="17446" grpId="0" animBg="1"/>
      <p:bldP spid="17447" grpId="0" animBg="1"/>
      <p:bldP spid="17448" grpId="0" animBg="1"/>
      <p:bldP spid="17456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01738" y="2781300"/>
            <a:ext cx="1066800" cy="1930400"/>
            <a:chOff x="480" y="1572"/>
            <a:chExt cx="672" cy="1254"/>
          </a:xfrm>
        </p:grpSpPr>
        <p:sp>
          <p:nvSpPr>
            <p:cNvPr id="35881" name="Line 3"/>
            <p:cNvSpPr>
              <a:spLocks noChangeShapeType="1"/>
            </p:cNvSpPr>
            <p:nvPr/>
          </p:nvSpPr>
          <p:spPr bwMode="auto">
            <a:xfrm>
              <a:off x="480" y="2400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2" name="Line 4"/>
            <p:cNvSpPr>
              <a:spLocks noChangeShapeType="1"/>
            </p:cNvSpPr>
            <p:nvPr/>
          </p:nvSpPr>
          <p:spPr bwMode="auto">
            <a:xfrm>
              <a:off x="480" y="2826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3" name="Line 5"/>
            <p:cNvSpPr>
              <a:spLocks noChangeShapeType="1"/>
            </p:cNvSpPr>
            <p:nvPr/>
          </p:nvSpPr>
          <p:spPr bwMode="auto">
            <a:xfrm>
              <a:off x="480" y="1572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4" name="Line 6"/>
            <p:cNvSpPr>
              <a:spLocks noChangeShapeType="1"/>
            </p:cNvSpPr>
            <p:nvPr/>
          </p:nvSpPr>
          <p:spPr bwMode="auto">
            <a:xfrm>
              <a:off x="480" y="2022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268538" y="2335213"/>
            <a:ext cx="1371600" cy="2373312"/>
            <a:chOff x="1152" y="1254"/>
            <a:chExt cx="864" cy="1495"/>
          </a:xfrm>
        </p:grpSpPr>
        <p:sp>
          <p:nvSpPr>
            <p:cNvPr id="35879" name="Line 9"/>
            <p:cNvSpPr>
              <a:spLocks noChangeShapeType="1"/>
            </p:cNvSpPr>
            <p:nvPr/>
          </p:nvSpPr>
          <p:spPr bwMode="auto">
            <a:xfrm flipV="1">
              <a:off x="1200" y="2509"/>
              <a:ext cx="768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0" name="Line 11"/>
            <p:cNvSpPr>
              <a:spLocks noChangeShapeType="1"/>
            </p:cNvSpPr>
            <p:nvPr/>
          </p:nvSpPr>
          <p:spPr bwMode="auto">
            <a:xfrm flipV="1">
              <a:off x="1152" y="1254"/>
              <a:ext cx="86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716338" y="2374900"/>
            <a:ext cx="3524250" cy="1951038"/>
            <a:chOff x="2117" y="1356"/>
            <a:chExt cx="2358" cy="1229"/>
          </a:xfrm>
        </p:grpSpPr>
        <p:sp>
          <p:nvSpPr>
            <p:cNvPr id="35877" name="Line 17"/>
            <p:cNvSpPr>
              <a:spLocks noChangeShapeType="1"/>
            </p:cNvSpPr>
            <p:nvPr/>
          </p:nvSpPr>
          <p:spPr bwMode="auto">
            <a:xfrm flipV="1">
              <a:off x="2121" y="1398"/>
              <a:ext cx="2354" cy="118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8" name="Line 19"/>
            <p:cNvSpPr>
              <a:spLocks noChangeShapeType="1"/>
            </p:cNvSpPr>
            <p:nvPr/>
          </p:nvSpPr>
          <p:spPr bwMode="auto">
            <a:xfrm>
              <a:off x="2117" y="1356"/>
              <a:ext cx="2347" cy="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6911975" y="1974850"/>
            <a:ext cx="401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268538" y="1547813"/>
            <a:ext cx="5040312" cy="4238625"/>
            <a:chOff x="1152" y="816"/>
            <a:chExt cx="3360" cy="2688"/>
          </a:xfrm>
        </p:grpSpPr>
        <p:sp>
          <p:nvSpPr>
            <p:cNvPr id="35870" name="Line 23"/>
            <p:cNvSpPr>
              <a:spLocks noChangeShapeType="1"/>
            </p:cNvSpPr>
            <p:nvPr/>
          </p:nvSpPr>
          <p:spPr bwMode="auto">
            <a:xfrm>
              <a:off x="1152" y="816"/>
              <a:ext cx="0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1" name="Line 24"/>
            <p:cNvSpPr>
              <a:spLocks noChangeShapeType="1"/>
            </p:cNvSpPr>
            <p:nvPr/>
          </p:nvSpPr>
          <p:spPr bwMode="auto">
            <a:xfrm>
              <a:off x="1152" y="2880"/>
              <a:ext cx="0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0" name="Oval 25"/>
            <p:cNvSpPr>
              <a:spLocks noChangeArrowheads="1"/>
            </p:cNvSpPr>
            <p:nvPr/>
          </p:nvSpPr>
          <p:spPr bwMode="auto">
            <a:xfrm>
              <a:off x="1968" y="912"/>
              <a:ext cx="144" cy="2544"/>
            </a:xfrm>
            <a:prstGeom prst="ellipse">
              <a:avLst/>
            </a:prstGeom>
            <a:solidFill>
              <a:srgbClr val="00FFFF"/>
            </a:soli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5875" name="Line 26"/>
            <p:cNvSpPr>
              <a:spLocks noChangeShapeType="1"/>
            </p:cNvSpPr>
            <p:nvPr/>
          </p:nvSpPr>
          <p:spPr bwMode="auto">
            <a:xfrm>
              <a:off x="4512" y="912"/>
              <a:ext cx="0" cy="2592"/>
            </a:xfrm>
            <a:prstGeom prst="line">
              <a:avLst/>
            </a:prstGeom>
            <a:noFill/>
            <a:ln w="762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6" name="Line 27"/>
            <p:cNvSpPr>
              <a:spLocks noChangeShapeType="1"/>
            </p:cNvSpPr>
            <p:nvPr/>
          </p:nvSpPr>
          <p:spPr bwMode="auto">
            <a:xfrm>
              <a:off x="1152" y="1673"/>
              <a:ext cx="0" cy="107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47" name="Line 39"/>
          <p:cNvSpPr>
            <a:spLocks noChangeShapeType="1"/>
          </p:cNvSpPr>
          <p:nvPr/>
        </p:nvSpPr>
        <p:spPr bwMode="auto">
          <a:xfrm flipH="1">
            <a:off x="1125538" y="3436938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8" name="Line 40"/>
          <p:cNvSpPr>
            <a:spLocks noChangeShapeType="1"/>
          </p:cNvSpPr>
          <p:nvPr/>
        </p:nvSpPr>
        <p:spPr bwMode="auto">
          <a:xfrm flipH="1">
            <a:off x="1049338" y="4032250"/>
            <a:ext cx="1219200" cy="1588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56" name="Rectangle 48"/>
          <p:cNvSpPr>
            <a:spLocks noChangeArrowheads="1"/>
          </p:cNvSpPr>
          <p:nvPr/>
        </p:nvSpPr>
        <p:spPr bwMode="auto">
          <a:xfrm>
            <a:off x="641350" y="1069975"/>
            <a:ext cx="62706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缝宽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a&lt;&lt;</a:t>
            </a:r>
            <a:r>
              <a:rPr kumimoji="1" lang="el-GR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λ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缝间距，</a:t>
            </a:r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透镜焦距</a:t>
            </a:r>
          </a:p>
        </p:txBody>
      </p:sp>
      <p:sp>
        <p:nvSpPr>
          <p:cNvPr id="35850" name="Text Box 50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18</a:t>
            </a:r>
            <a:endParaRPr lang="en-US" altLang="zh-CN" sz="1800"/>
          </a:p>
        </p:txBody>
      </p:sp>
      <p:pic>
        <p:nvPicPr>
          <p:cNvPr id="50" name="Picture 73" descr="C:\Documents and Settings\Administrator\Application Data\Tencent\Users\188541213\QQ\WinTemp\RichOle\E)MMI0]{[`{TDV$K%T5K@VQ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6200000">
            <a:off x="5822835" y="3474261"/>
            <a:ext cx="3724326" cy="7268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11" name="直接连接符 10"/>
          <p:cNvCxnSpPr/>
          <p:nvPr/>
        </p:nvCxnSpPr>
        <p:spPr>
          <a:xfrm>
            <a:off x="333375" y="3743325"/>
            <a:ext cx="8558213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77" b="23441"/>
          <a:stretch>
            <a:fillRect/>
          </a:stretch>
        </p:blipFill>
        <p:spPr bwMode="auto">
          <a:xfrm>
            <a:off x="8393113" y="2087563"/>
            <a:ext cx="623887" cy="355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5" name="组合 3"/>
          <p:cNvGrpSpPr>
            <a:grpSpLocks/>
          </p:cNvGrpSpPr>
          <p:nvPr/>
        </p:nvGrpSpPr>
        <p:grpSpPr bwMode="auto">
          <a:xfrm>
            <a:off x="5280025" y="6038850"/>
            <a:ext cx="2989263" cy="571500"/>
            <a:chOff x="739068" y="154446"/>
            <a:chExt cx="4445000" cy="970298"/>
          </a:xfrm>
        </p:grpSpPr>
        <p:sp>
          <p:nvSpPr>
            <p:cNvPr id="35868" name="矩形 2"/>
            <p:cNvSpPr>
              <a:spLocks noChangeArrowheads="1"/>
            </p:cNvSpPr>
            <p:nvPr/>
          </p:nvSpPr>
          <p:spPr bwMode="auto">
            <a:xfrm>
              <a:off x="739068" y="154446"/>
              <a:ext cx="4445000" cy="97029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5869" name="Object 60"/>
            <p:cNvGraphicFramePr>
              <a:graphicFrameLocks noChangeAspect="1"/>
            </p:cNvGraphicFramePr>
            <p:nvPr/>
          </p:nvGraphicFramePr>
          <p:xfrm>
            <a:off x="930275" y="207963"/>
            <a:ext cx="4064000" cy="842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29" name="Equation" r:id="rId5" imgW="2692400" imgH="596900" progId="Equation.DSMT4">
                    <p:embed/>
                  </p:oleObj>
                </mc:Choice>
                <mc:Fallback>
                  <p:oleObj name="Equation" r:id="rId5" imgW="2692400" imgH="59690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275" y="207963"/>
                          <a:ext cx="4064000" cy="842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3399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333375" y="6019800"/>
            <a:ext cx="3059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条纹间距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f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60" name="矩形 59"/>
          <p:cNvSpPr>
            <a:spLocks noChangeArrowheads="1"/>
          </p:cNvSpPr>
          <p:nvPr/>
        </p:nvSpPr>
        <p:spPr bwMode="auto">
          <a:xfrm>
            <a:off x="3652838" y="6019800"/>
            <a:ext cx="1627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光强分布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857" name="Rectangle 2"/>
          <p:cNvSpPr>
            <a:spLocks noChangeArrowheads="1"/>
          </p:cNvSpPr>
          <p:nvPr/>
        </p:nvSpPr>
        <p:spPr bwMode="auto">
          <a:xfrm>
            <a:off x="179388" y="100013"/>
            <a:ext cx="4967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3.3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双缝衍射的强度分布</a:t>
            </a:r>
          </a:p>
        </p:txBody>
      </p:sp>
      <p:sp>
        <p:nvSpPr>
          <p:cNvPr id="62" name="Rectangle 2"/>
          <p:cNvSpPr>
            <a:spLocks noChangeArrowheads="1"/>
          </p:cNvSpPr>
          <p:nvPr/>
        </p:nvSpPr>
        <p:spPr bwMode="auto">
          <a:xfrm>
            <a:off x="312738" y="606425"/>
            <a:ext cx="4967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双缝干涉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回顾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887538" y="3460750"/>
            <a:ext cx="3651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endParaRPr lang="zh-CN" altLang="en-US" sz="2800">
              <a:solidFill>
                <a:srgbClr val="FF0000"/>
              </a:solidFill>
            </a:endParaRPr>
          </a:p>
        </p:txBody>
      </p:sp>
      <p:cxnSp>
        <p:nvCxnSpPr>
          <p:cNvPr id="16" name="直接连接符 15"/>
          <p:cNvCxnSpPr>
            <a:stCxn id="35883" idx="1"/>
          </p:cNvCxnSpPr>
          <p:nvPr/>
        </p:nvCxnSpPr>
        <p:spPr>
          <a:xfrm>
            <a:off x="2268538" y="2781300"/>
            <a:ext cx="528637" cy="1808163"/>
          </a:xfrm>
          <a:prstGeom prst="line">
            <a:avLst/>
          </a:prstGeom>
          <a:ln w="317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2212975" y="3270250"/>
            <a:ext cx="331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zh-C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H="1" flipV="1">
            <a:off x="7345363" y="1125538"/>
            <a:ext cx="0" cy="466090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7145338" y="661988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endParaRPr lang="zh-CN" altLang="en-US" sz="2800" i="1"/>
          </a:p>
        </p:txBody>
      </p:sp>
      <p:cxnSp>
        <p:nvCxnSpPr>
          <p:cNvPr id="72" name="直接箭头连接符 71"/>
          <p:cNvCxnSpPr/>
          <p:nvPr/>
        </p:nvCxnSpPr>
        <p:spPr>
          <a:xfrm flipH="1" flipV="1">
            <a:off x="9001125" y="1495425"/>
            <a:ext cx="0" cy="4351338"/>
          </a:xfrm>
          <a:prstGeom prst="straightConnector1">
            <a:avLst/>
          </a:prstGeom>
          <a:ln w="2540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>
            <a:spLocks noChangeArrowheads="1"/>
          </p:cNvSpPr>
          <p:nvPr/>
        </p:nvSpPr>
        <p:spPr bwMode="auto">
          <a:xfrm>
            <a:off x="8721725" y="979488"/>
            <a:ext cx="3635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zh-CN" altLang="en-US" sz="2800" i="1">
              <a:solidFill>
                <a:schemeClr val="tx1"/>
              </a:solidFill>
            </a:endParaRPr>
          </a:p>
        </p:txBody>
      </p:sp>
      <p:cxnSp>
        <p:nvCxnSpPr>
          <p:cNvPr id="75" name="直接箭头连接符 74"/>
          <p:cNvCxnSpPr/>
          <p:nvPr/>
        </p:nvCxnSpPr>
        <p:spPr>
          <a:xfrm flipH="1">
            <a:off x="8072438" y="3727450"/>
            <a:ext cx="993775" cy="0"/>
          </a:xfrm>
          <a:prstGeom prst="straightConnector1">
            <a:avLst/>
          </a:prstGeom>
          <a:ln w="2540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>
            <a:spLocks noChangeArrowheads="1"/>
          </p:cNvSpPr>
          <p:nvPr/>
        </p:nvSpPr>
        <p:spPr bwMode="auto">
          <a:xfrm>
            <a:off x="8064500" y="3217863"/>
            <a:ext cx="325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endParaRPr lang="zh-CN" altLang="en-US" sz="2800" i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4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9" grpId="0"/>
      <p:bldP spid="17447" grpId="0" animBg="1"/>
      <p:bldP spid="17448" grpId="0" animBg="1"/>
      <p:bldP spid="17456" grpId="0"/>
      <p:bldP spid="13" grpId="0"/>
      <p:bldP spid="60" grpId="0"/>
      <p:bldP spid="62" grpId="0"/>
      <p:bldP spid="14" grpId="0"/>
      <p:bldP spid="17" grpId="0"/>
      <p:bldP spid="22" grpId="0"/>
      <p:bldP spid="73" grpId="0"/>
      <p:bldP spid="7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>
            <a:grpSpLocks noChangeAspect="1"/>
          </p:cNvGrpSpPr>
          <p:nvPr/>
        </p:nvGrpSpPr>
        <p:grpSpPr bwMode="auto">
          <a:xfrm>
            <a:off x="496888" y="1181100"/>
            <a:ext cx="6167437" cy="4010025"/>
            <a:chOff x="1600619" y="1124939"/>
            <a:chExt cx="3424238" cy="2851150"/>
          </a:xfrm>
        </p:grpSpPr>
        <p:sp>
          <p:nvSpPr>
            <p:cNvPr id="36877" name="Oval 9"/>
            <p:cNvSpPr>
              <a:spLocks noChangeArrowheads="1"/>
            </p:cNvSpPr>
            <p:nvPr/>
          </p:nvSpPr>
          <p:spPr bwMode="auto">
            <a:xfrm>
              <a:off x="3065882" y="1124939"/>
              <a:ext cx="173037" cy="285115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6878" name="Line 10"/>
            <p:cNvSpPr>
              <a:spLocks noChangeShapeType="1"/>
            </p:cNvSpPr>
            <p:nvPr/>
          </p:nvSpPr>
          <p:spPr bwMode="auto">
            <a:xfrm flipV="1">
              <a:off x="2238794" y="1590076"/>
              <a:ext cx="876300" cy="5159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9" name="Line 11"/>
            <p:cNvSpPr>
              <a:spLocks noChangeShapeType="1"/>
            </p:cNvSpPr>
            <p:nvPr/>
          </p:nvSpPr>
          <p:spPr bwMode="auto">
            <a:xfrm flipV="1">
              <a:off x="2238794" y="2567976"/>
              <a:ext cx="827088" cy="5159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0" name="Line 12"/>
            <p:cNvSpPr>
              <a:spLocks noChangeShapeType="1"/>
            </p:cNvSpPr>
            <p:nvPr/>
          </p:nvSpPr>
          <p:spPr bwMode="auto">
            <a:xfrm flipV="1">
              <a:off x="2238794" y="2106014"/>
              <a:ext cx="827088" cy="51593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1" name="Line 13"/>
            <p:cNvSpPr>
              <a:spLocks noChangeShapeType="1"/>
            </p:cNvSpPr>
            <p:nvPr/>
          </p:nvSpPr>
          <p:spPr bwMode="auto">
            <a:xfrm>
              <a:off x="5012157" y="1124939"/>
              <a:ext cx="0" cy="2851150"/>
            </a:xfrm>
            <a:prstGeom prst="line">
              <a:avLst/>
            </a:prstGeom>
            <a:noFill/>
            <a:ln w="5715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2" name="Line 14"/>
            <p:cNvSpPr>
              <a:spLocks noChangeShapeType="1"/>
            </p:cNvSpPr>
            <p:nvPr/>
          </p:nvSpPr>
          <p:spPr bwMode="auto">
            <a:xfrm flipV="1">
              <a:off x="3211932" y="1847251"/>
              <a:ext cx="1020762" cy="2587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3" name="Line 15"/>
            <p:cNvSpPr>
              <a:spLocks noChangeShapeType="1"/>
            </p:cNvSpPr>
            <p:nvPr/>
          </p:nvSpPr>
          <p:spPr bwMode="auto">
            <a:xfrm flipV="1">
              <a:off x="4232694" y="1640876"/>
              <a:ext cx="779463" cy="3619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6884" name="Group 16"/>
            <p:cNvGrpSpPr>
              <a:grpSpLocks/>
            </p:cNvGrpSpPr>
            <p:nvPr/>
          </p:nvGrpSpPr>
          <p:grpSpPr bwMode="auto">
            <a:xfrm>
              <a:off x="2191169" y="1537689"/>
              <a:ext cx="47625" cy="2012950"/>
              <a:chOff x="1104" y="1728"/>
              <a:chExt cx="48" cy="1872"/>
            </a:xfrm>
          </p:grpSpPr>
          <p:sp>
            <p:nvSpPr>
              <p:cNvPr id="36899" name="Line 17"/>
              <p:cNvSpPr>
                <a:spLocks noChangeShapeType="1"/>
              </p:cNvSpPr>
              <p:nvPr/>
            </p:nvSpPr>
            <p:spPr bwMode="auto">
              <a:xfrm>
                <a:off x="1104" y="17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0" name="Line 18"/>
              <p:cNvSpPr>
                <a:spLocks noChangeShapeType="1"/>
              </p:cNvSpPr>
              <p:nvPr/>
            </p:nvSpPr>
            <p:spPr bwMode="auto">
              <a:xfrm>
                <a:off x="1104" y="321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1" name="Oval 19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6902" name="Oval 20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6903" name="Oval 21"/>
              <p:cNvSpPr>
                <a:spLocks noChangeArrowheads="1"/>
              </p:cNvSpPr>
              <p:nvPr/>
            </p:nvSpPr>
            <p:spPr bwMode="auto">
              <a:xfrm>
                <a:off x="1104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36885" name="Line 22"/>
            <p:cNvSpPr>
              <a:spLocks noChangeShapeType="1"/>
            </p:cNvSpPr>
            <p:nvPr/>
          </p:nvSpPr>
          <p:spPr bwMode="auto">
            <a:xfrm flipV="1">
              <a:off x="2288007" y="2106014"/>
              <a:ext cx="77787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6886" name="Object 23"/>
            <p:cNvGraphicFramePr>
              <a:graphicFrameLocks noChangeAspect="1"/>
            </p:cNvGraphicFramePr>
            <p:nvPr/>
          </p:nvGraphicFramePr>
          <p:xfrm>
            <a:off x="2667286" y="1791689"/>
            <a:ext cx="222250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33" name="Equation" r:id="rId3" imgW="126725" imgH="177415" progId="Equation.DSMT4">
                    <p:embed/>
                  </p:oleObj>
                </mc:Choice>
                <mc:Fallback>
                  <p:oleObj name="Equation" r:id="rId3" imgW="126725" imgH="177415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286" y="1791689"/>
                          <a:ext cx="222250" cy="333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7" name="Object 24"/>
            <p:cNvGraphicFramePr>
              <a:graphicFrameLocks noChangeAspect="1"/>
            </p:cNvGraphicFramePr>
            <p:nvPr/>
          </p:nvGraphicFramePr>
          <p:xfrm>
            <a:off x="4707357" y="1288451"/>
            <a:ext cx="317500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34" name="Equation" r:id="rId5" imgW="152268" imgH="164957" progId="Equation.DSMT4">
                    <p:embed/>
                  </p:oleObj>
                </mc:Choice>
                <mc:Fallback>
                  <p:oleObj name="Equation" r:id="rId5" imgW="152268" imgH="164957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7357" y="1288451"/>
                          <a:ext cx="317500" cy="358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8" name="Line 25"/>
            <p:cNvSpPr>
              <a:spLocks noChangeShapeType="1"/>
            </p:cNvSpPr>
            <p:nvPr/>
          </p:nvSpPr>
          <p:spPr bwMode="auto">
            <a:xfrm flipV="1">
              <a:off x="3211932" y="1640876"/>
              <a:ext cx="102076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9" name="Line 26"/>
            <p:cNvSpPr>
              <a:spLocks noChangeShapeType="1"/>
            </p:cNvSpPr>
            <p:nvPr/>
          </p:nvSpPr>
          <p:spPr bwMode="auto">
            <a:xfrm flipV="1">
              <a:off x="3211932" y="2002826"/>
              <a:ext cx="1020762" cy="5159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0" name="Line 27"/>
            <p:cNvSpPr>
              <a:spLocks noChangeShapeType="1"/>
            </p:cNvSpPr>
            <p:nvPr/>
          </p:nvSpPr>
          <p:spPr bwMode="auto">
            <a:xfrm flipV="1">
              <a:off x="4185069" y="1640876"/>
              <a:ext cx="8270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1" name="Line 28"/>
            <p:cNvSpPr>
              <a:spLocks noChangeShapeType="1"/>
            </p:cNvSpPr>
            <p:nvPr/>
          </p:nvSpPr>
          <p:spPr bwMode="auto">
            <a:xfrm flipV="1">
              <a:off x="4185069" y="1640876"/>
              <a:ext cx="827088" cy="2063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2" name="Line 29"/>
            <p:cNvSpPr>
              <a:spLocks noChangeShapeType="1"/>
            </p:cNvSpPr>
            <p:nvPr/>
          </p:nvSpPr>
          <p:spPr bwMode="auto">
            <a:xfrm>
              <a:off x="1672057" y="2152051"/>
              <a:ext cx="539750" cy="47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3" name="Line 30"/>
            <p:cNvSpPr>
              <a:spLocks noChangeShapeType="1"/>
            </p:cNvSpPr>
            <p:nvPr/>
          </p:nvSpPr>
          <p:spPr bwMode="auto">
            <a:xfrm>
              <a:off x="1676819" y="3083914"/>
              <a:ext cx="5349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4" name="Line 31"/>
            <p:cNvSpPr>
              <a:spLocks noChangeShapeType="1"/>
            </p:cNvSpPr>
            <p:nvPr/>
          </p:nvSpPr>
          <p:spPr bwMode="auto">
            <a:xfrm>
              <a:off x="1824457" y="2621951"/>
              <a:ext cx="38735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5" name="Line 32"/>
            <p:cNvSpPr>
              <a:spLocks noChangeShapeType="1"/>
            </p:cNvSpPr>
            <p:nvPr/>
          </p:nvSpPr>
          <p:spPr bwMode="auto">
            <a:xfrm flipV="1">
              <a:off x="1743494" y="2152051"/>
              <a:ext cx="0" cy="309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6" name="Line 33"/>
            <p:cNvSpPr>
              <a:spLocks noChangeShapeType="1"/>
            </p:cNvSpPr>
            <p:nvPr/>
          </p:nvSpPr>
          <p:spPr bwMode="auto">
            <a:xfrm rot="10800000" flipV="1">
              <a:off x="1743494" y="2799751"/>
              <a:ext cx="0" cy="3079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6897" name="Object 34"/>
            <p:cNvGraphicFramePr>
              <a:graphicFrameLocks noChangeAspect="1"/>
            </p:cNvGraphicFramePr>
            <p:nvPr/>
          </p:nvGraphicFramePr>
          <p:xfrm>
            <a:off x="1600619" y="2512414"/>
            <a:ext cx="265113" cy="312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35" name="Equation" r:id="rId7" imgW="126835" imgH="139518" progId="Equation.DSMT4">
                    <p:embed/>
                  </p:oleObj>
                </mc:Choice>
                <mc:Fallback>
                  <p:oleObj name="Equation" r:id="rId7" imgW="126835" imgH="139518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619" y="2512414"/>
                          <a:ext cx="265113" cy="3127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8" name="Arc 35"/>
            <p:cNvSpPr>
              <a:spLocks/>
            </p:cNvSpPr>
            <p:nvPr/>
          </p:nvSpPr>
          <p:spPr bwMode="auto">
            <a:xfrm>
              <a:off x="2043532" y="1899639"/>
              <a:ext cx="585787" cy="225425"/>
            </a:xfrm>
            <a:custGeom>
              <a:avLst/>
              <a:gdLst>
                <a:gd name="T0" fmla="*/ 2147483646 w 21600"/>
                <a:gd name="T1" fmla="*/ 0 h 7897"/>
                <a:gd name="T2" fmla="*/ 2147483646 w 21600"/>
                <a:gd name="T3" fmla="*/ 2147483646 h 7897"/>
                <a:gd name="T4" fmla="*/ 0 w 21600"/>
                <a:gd name="T5" fmla="*/ 2147483646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" name="Freeform 42"/>
          <p:cNvSpPr>
            <a:spLocks/>
          </p:cNvSpPr>
          <p:nvPr/>
        </p:nvSpPr>
        <p:spPr bwMode="auto">
          <a:xfrm rot="-5400000">
            <a:off x="6238875" y="2495550"/>
            <a:ext cx="3952875" cy="1514475"/>
          </a:xfrm>
          <a:custGeom>
            <a:avLst/>
            <a:gdLst>
              <a:gd name="T0" fmla="*/ 0 w 3032"/>
              <a:gd name="T1" fmla="*/ 2147483646 h 2022"/>
              <a:gd name="T2" fmla="*/ 2147483646 w 3032"/>
              <a:gd name="T3" fmla="*/ 2147483646 h 2022"/>
              <a:gd name="T4" fmla="*/ 2147483646 w 3032"/>
              <a:gd name="T5" fmla="*/ 2147483646 h 2022"/>
              <a:gd name="T6" fmla="*/ 2147483646 w 3032"/>
              <a:gd name="T7" fmla="*/ 2147483646 h 2022"/>
              <a:gd name="T8" fmla="*/ 2147483646 w 3032"/>
              <a:gd name="T9" fmla="*/ 2147483646 h 2022"/>
              <a:gd name="T10" fmla="*/ 2147483646 w 3032"/>
              <a:gd name="T11" fmla="*/ 2147483646 h 2022"/>
              <a:gd name="T12" fmla="*/ 2147483646 w 3032"/>
              <a:gd name="T13" fmla="*/ 2147483646 h 2022"/>
              <a:gd name="T14" fmla="*/ 2147483646 w 3032"/>
              <a:gd name="T15" fmla="*/ 2147483646 h 2022"/>
              <a:gd name="T16" fmla="*/ 2147483646 w 3032"/>
              <a:gd name="T17" fmla="*/ 2147483646 h 2022"/>
              <a:gd name="T18" fmla="*/ 2147483646 w 3032"/>
              <a:gd name="T19" fmla="*/ 2147483646 h 2022"/>
              <a:gd name="T20" fmla="*/ 2147483646 w 3032"/>
              <a:gd name="T21" fmla="*/ 2147483646 h 2022"/>
              <a:gd name="T22" fmla="*/ 2147483646 w 3032"/>
              <a:gd name="T23" fmla="*/ 2147483646 h 2022"/>
              <a:gd name="T24" fmla="*/ 2147483646 w 3032"/>
              <a:gd name="T25" fmla="*/ 2147483646 h 2022"/>
              <a:gd name="T26" fmla="*/ 2147483646 w 3032"/>
              <a:gd name="T27" fmla="*/ 2147483646 h 2022"/>
              <a:gd name="T28" fmla="*/ 2147483646 w 3032"/>
              <a:gd name="T29" fmla="*/ 2147483646 h 2022"/>
              <a:gd name="T30" fmla="*/ 2147483646 w 3032"/>
              <a:gd name="T31" fmla="*/ 2147483646 h 2022"/>
              <a:gd name="T32" fmla="*/ 2147483646 w 3032"/>
              <a:gd name="T33" fmla="*/ 2147483646 h 2022"/>
              <a:gd name="T34" fmla="*/ 2147483646 w 3032"/>
              <a:gd name="T35" fmla="*/ 2147483646 h 2022"/>
              <a:gd name="T36" fmla="*/ 2147483646 w 3032"/>
              <a:gd name="T37" fmla="*/ 2147483646 h 2022"/>
              <a:gd name="T38" fmla="*/ 2147483646 w 3032"/>
              <a:gd name="T39" fmla="*/ 2147483646 h 2022"/>
              <a:gd name="T40" fmla="*/ 2147483646 w 3032"/>
              <a:gd name="T41" fmla="*/ 2147483646 h 2022"/>
              <a:gd name="T42" fmla="*/ 2147483646 w 3032"/>
              <a:gd name="T43" fmla="*/ 2147483646 h 2022"/>
              <a:gd name="T44" fmla="*/ 2147483646 w 3032"/>
              <a:gd name="T45" fmla="*/ 2147483646 h 2022"/>
              <a:gd name="T46" fmla="*/ 2147483646 w 3032"/>
              <a:gd name="T47" fmla="*/ 2147483646 h 2022"/>
              <a:gd name="T48" fmla="*/ 2147483646 w 3032"/>
              <a:gd name="T49" fmla="*/ 2147483646 h 2022"/>
              <a:gd name="T50" fmla="*/ 2147483646 w 3032"/>
              <a:gd name="T51" fmla="*/ 2147483646 h 2022"/>
              <a:gd name="T52" fmla="*/ 2147483646 w 3032"/>
              <a:gd name="T53" fmla="*/ 2147483646 h 2022"/>
              <a:gd name="T54" fmla="*/ 2147483646 w 3032"/>
              <a:gd name="T55" fmla="*/ 2147483646 h 2022"/>
              <a:gd name="T56" fmla="*/ 2147483646 w 3032"/>
              <a:gd name="T57" fmla="*/ 2147483646 h 202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032" h="2022">
                <a:moveTo>
                  <a:pt x="0" y="1961"/>
                </a:moveTo>
                <a:cubicBezTo>
                  <a:pt x="67" y="1931"/>
                  <a:pt x="135" y="1902"/>
                  <a:pt x="200" y="1905"/>
                </a:cubicBezTo>
                <a:cubicBezTo>
                  <a:pt x="265" y="1908"/>
                  <a:pt x="329" y="1985"/>
                  <a:pt x="392" y="1977"/>
                </a:cubicBezTo>
                <a:cubicBezTo>
                  <a:pt x="455" y="1969"/>
                  <a:pt x="516" y="1858"/>
                  <a:pt x="576" y="1857"/>
                </a:cubicBezTo>
                <a:cubicBezTo>
                  <a:pt x="636" y="1856"/>
                  <a:pt x="709" y="1957"/>
                  <a:pt x="752" y="1969"/>
                </a:cubicBezTo>
                <a:cubicBezTo>
                  <a:pt x="795" y="1981"/>
                  <a:pt x="808" y="1953"/>
                  <a:pt x="832" y="1929"/>
                </a:cubicBezTo>
                <a:cubicBezTo>
                  <a:pt x="856" y="1905"/>
                  <a:pt x="875" y="1845"/>
                  <a:pt x="896" y="1825"/>
                </a:cubicBezTo>
                <a:cubicBezTo>
                  <a:pt x="917" y="1805"/>
                  <a:pt x="936" y="1798"/>
                  <a:pt x="960" y="1809"/>
                </a:cubicBezTo>
                <a:cubicBezTo>
                  <a:pt x="984" y="1820"/>
                  <a:pt x="1020" y="1865"/>
                  <a:pt x="1040" y="1889"/>
                </a:cubicBezTo>
                <a:cubicBezTo>
                  <a:pt x="1060" y="1913"/>
                  <a:pt x="1061" y="1940"/>
                  <a:pt x="1080" y="1953"/>
                </a:cubicBezTo>
                <a:cubicBezTo>
                  <a:pt x="1099" y="1966"/>
                  <a:pt x="1131" y="2006"/>
                  <a:pt x="1152" y="1969"/>
                </a:cubicBezTo>
                <a:cubicBezTo>
                  <a:pt x="1173" y="1932"/>
                  <a:pt x="1169" y="1968"/>
                  <a:pt x="1208" y="1729"/>
                </a:cubicBezTo>
                <a:cubicBezTo>
                  <a:pt x="1247" y="1490"/>
                  <a:pt x="1333" y="825"/>
                  <a:pt x="1384" y="537"/>
                </a:cubicBezTo>
                <a:cubicBezTo>
                  <a:pt x="1435" y="249"/>
                  <a:pt x="1464" y="0"/>
                  <a:pt x="1512" y="1"/>
                </a:cubicBezTo>
                <a:cubicBezTo>
                  <a:pt x="1560" y="2"/>
                  <a:pt x="1617" y="246"/>
                  <a:pt x="1672" y="545"/>
                </a:cubicBezTo>
                <a:cubicBezTo>
                  <a:pt x="1727" y="844"/>
                  <a:pt x="1808" y="1564"/>
                  <a:pt x="1840" y="1793"/>
                </a:cubicBezTo>
                <a:cubicBezTo>
                  <a:pt x="1872" y="2022"/>
                  <a:pt x="1853" y="1892"/>
                  <a:pt x="1864" y="1921"/>
                </a:cubicBezTo>
                <a:cubicBezTo>
                  <a:pt x="1875" y="1950"/>
                  <a:pt x="1884" y="1970"/>
                  <a:pt x="1904" y="1969"/>
                </a:cubicBezTo>
                <a:cubicBezTo>
                  <a:pt x="1924" y="1968"/>
                  <a:pt x="1963" y="1940"/>
                  <a:pt x="1984" y="1913"/>
                </a:cubicBezTo>
                <a:cubicBezTo>
                  <a:pt x="2005" y="1886"/>
                  <a:pt x="2016" y="1828"/>
                  <a:pt x="2032" y="1809"/>
                </a:cubicBezTo>
                <a:cubicBezTo>
                  <a:pt x="2048" y="1790"/>
                  <a:pt x="2048" y="1781"/>
                  <a:pt x="2080" y="1801"/>
                </a:cubicBezTo>
                <a:cubicBezTo>
                  <a:pt x="2112" y="1821"/>
                  <a:pt x="2191" y="1901"/>
                  <a:pt x="2224" y="1929"/>
                </a:cubicBezTo>
                <a:cubicBezTo>
                  <a:pt x="2257" y="1957"/>
                  <a:pt x="2248" y="1978"/>
                  <a:pt x="2280" y="1969"/>
                </a:cubicBezTo>
                <a:cubicBezTo>
                  <a:pt x="2312" y="1960"/>
                  <a:pt x="2385" y="1893"/>
                  <a:pt x="2416" y="1873"/>
                </a:cubicBezTo>
                <a:cubicBezTo>
                  <a:pt x="2447" y="1853"/>
                  <a:pt x="2424" y="1833"/>
                  <a:pt x="2464" y="1849"/>
                </a:cubicBezTo>
                <a:cubicBezTo>
                  <a:pt x="2504" y="1865"/>
                  <a:pt x="2601" y="1960"/>
                  <a:pt x="2656" y="1969"/>
                </a:cubicBezTo>
                <a:cubicBezTo>
                  <a:pt x="2711" y="1978"/>
                  <a:pt x="2760" y="1916"/>
                  <a:pt x="2792" y="1905"/>
                </a:cubicBezTo>
                <a:cubicBezTo>
                  <a:pt x="2824" y="1894"/>
                  <a:pt x="2808" y="1894"/>
                  <a:pt x="2848" y="1905"/>
                </a:cubicBezTo>
                <a:cubicBezTo>
                  <a:pt x="2888" y="1916"/>
                  <a:pt x="2960" y="1942"/>
                  <a:pt x="3032" y="1969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325" y="1182688"/>
            <a:ext cx="554038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2" name="直接连接符 51"/>
          <p:cNvCxnSpPr/>
          <p:nvPr/>
        </p:nvCxnSpPr>
        <p:spPr>
          <a:xfrm>
            <a:off x="381000" y="3255963"/>
            <a:ext cx="8558213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0" name="Rectangle 2"/>
          <p:cNvSpPr>
            <a:spLocks noChangeArrowheads="1"/>
          </p:cNvSpPr>
          <p:nvPr/>
        </p:nvSpPr>
        <p:spPr bwMode="auto">
          <a:xfrm>
            <a:off x="266700" y="309563"/>
            <a:ext cx="4967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单缝衍射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回顾</a:t>
            </a:r>
          </a:p>
        </p:txBody>
      </p:sp>
      <p:sp>
        <p:nvSpPr>
          <p:cNvPr id="55" name="矩形 54"/>
          <p:cNvSpPr>
            <a:spLocks noChangeArrowheads="1"/>
          </p:cNvSpPr>
          <p:nvPr/>
        </p:nvSpPr>
        <p:spPr bwMode="auto">
          <a:xfrm>
            <a:off x="104775" y="5649913"/>
            <a:ext cx="17176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条纹间距 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60" name="矩形 59"/>
          <p:cNvSpPr>
            <a:spLocks noChangeArrowheads="1"/>
          </p:cNvSpPr>
          <p:nvPr/>
        </p:nvSpPr>
        <p:spPr bwMode="auto">
          <a:xfrm>
            <a:off x="3736975" y="5670550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光强分布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873" name="矩形 1"/>
          <p:cNvSpPr>
            <a:spLocks noChangeArrowheads="1"/>
          </p:cNvSpPr>
          <p:nvPr/>
        </p:nvSpPr>
        <p:spPr bwMode="auto">
          <a:xfrm>
            <a:off x="2544763" y="269875"/>
            <a:ext cx="968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a&gt;</a:t>
            </a:r>
            <a:r>
              <a:rPr kumimoji="1" lang="el-GR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λ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1674813" y="6099175"/>
            <a:ext cx="1817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(</a:t>
            </a:r>
            <a:r>
              <a:rPr lang="zh-CN" altLang="en-US" sz="2400" b="1">
                <a:solidFill>
                  <a:schemeClr val="tx1"/>
                </a:solidFill>
              </a:rPr>
              <a:t>主极大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l-GR" altLang="zh-CN" sz="24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09"/>
          <a:stretch>
            <a:fillRect/>
          </a:stretch>
        </p:blipFill>
        <p:spPr bwMode="auto">
          <a:xfrm>
            <a:off x="1646238" y="5676900"/>
            <a:ext cx="20256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5422900"/>
            <a:ext cx="3246438" cy="110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5" grpId="0"/>
      <p:bldP spid="60" grpId="0"/>
      <p:bldP spid="3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87400" y="1512888"/>
            <a:ext cx="1066800" cy="1552575"/>
            <a:chOff x="480" y="1494"/>
            <a:chExt cx="672" cy="1386"/>
          </a:xfrm>
        </p:grpSpPr>
        <p:sp>
          <p:nvSpPr>
            <p:cNvPr id="37979" name="Line 3"/>
            <p:cNvSpPr>
              <a:spLocks noChangeShapeType="1"/>
            </p:cNvSpPr>
            <p:nvPr/>
          </p:nvSpPr>
          <p:spPr bwMode="auto">
            <a:xfrm>
              <a:off x="480" y="2400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0" name="Line 4"/>
            <p:cNvSpPr>
              <a:spLocks noChangeShapeType="1"/>
            </p:cNvSpPr>
            <p:nvPr/>
          </p:nvSpPr>
          <p:spPr bwMode="auto">
            <a:xfrm>
              <a:off x="480" y="2880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1" name="Line 5"/>
            <p:cNvSpPr>
              <a:spLocks noChangeShapeType="1"/>
            </p:cNvSpPr>
            <p:nvPr/>
          </p:nvSpPr>
          <p:spPr bwMode="auto">
            <a:xfrm>
              <a:off x="480" y="1494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2" name="Line 6"/>
            <p:cNvSpPr>
              <a:spLocks noChangeShapeType="1"/>
            </p:cNvSpPr>
            <p:nvPr/>
          </p:nvSpPr>
          <p:spPr bwMode="auto">
            <a:xfrm>
              <a:off x="480" y="2022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0" name="组合 49"/>
          <p:cNvGrpSpPr>
            <a:grpSpLocks/>
          </p:cNvGrpSpPr>
          <p:nvPr/>
        </p:nvGrpSpPr>
        <p:grpSpPr bwMode="auto">
          <a:xfrm>
            <a:off x="1854200" y="2233613"/>
            <a:ext cx="1295400" cy="831850"/>
            <a:chOff x="1854474" y="3315509"/>
            <a:chExt cx="1295400" cy="1143000"/>
          </a:xfrm>
        </p:grpSpPr>
        <p:sp>
          <p:nvSpPr>
            <p:cNvPr id="37976" name="Line 8"/>
            <p:cNvSpPr>
              <a:spLocks noChangeShapeType="1"/>
            </p:cNvSpPr>
            <p:nvPr/>
          </p:nvSpPr>
          <p:spPr bwMode="auto">
            <a:xfrm flipV="1">
              <a:off x="1854474" y="3315509"/>
              <a:ext cx="1295400" cy="381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7" name="Line 9"/>
            <p:cNvSpPr>
              <a:spLocks noChangeShapeType="1"/>
            </p:cNvSpPr>
            <p:nvPr/>
          </p:nvSpPr>
          <p:spPr bwMode="auto">
            <a:xfrm flipV="1">
              <a:off x="1930674" y="4077509"/>
              <a:ext cx="1219200" cy="381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8" name="Line 10"/>
            <p:cNvSpPr>
              <a:spLocks noChangeShapeType="1"/>
            </p:cNvSpPr>
            <p:nvPr/>
          </p:nvSpPr>
          <p:spPr bwMode="auto">
            <a:xfrm flipV="1">
              <a:off x="1854474" y="3696509"/>
              <a:ext cx="1295400" cy="381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" name="组合 48"/>
          <p:cNvGrpSpPr>
            <a:grpSpLocks/>
          </p:cNvGrpSpPr>
          <p:nvPr/>
        </p:nvGrpSpPr>
        <p:grpSpPr bwMode="auto">
          <a:xfrm>
            <a:off x="1854200" y="1187450"/>
            <a:ext cx="1371600" cy="887413"/>
            <a:chOff x="1854474" y="1877234"/>
            <a:chExt cx="1371600" cy="1219200"/>
          </a:xfrm>
        </p:grpSpPr>
        <p:sp>
          <p:nvSpPr>
            <p:cNvPr id="37973" name="Line 11"/>
            <p:cNvSpPr>
              <a:spLocks noChangeShapeType="1"/>
            </p:cNvSpPr>
            <p:nvPr/>
          </p:nvSpPr>
          <p:spPr bwMode="auto">
            <a:xfrm flipV="1">
              <a:off x="1854474" y="1877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4" name="Line 12"/>
            <p:cNvSpPr>
              <a:spLocks noChangeShapeType="1"/>
            </p:cNvSpPr>
            <p:nvPr/>
          </p:nvSpPr>
          <p:spPr bwMode="auto">
            <a:xfrm flipV="1">
              <a:off x="1854474" y="2639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5" name="Line 13"/>
            <p:cNvSpPr>
              <a:spLocks noChangeShapeType="1"/>
            </p:cNvSpPr>
            <p:nvPr/>
          </p:nvSpPr>
          <p:spPr bwMode="auto">
            <a:xfrm flipV="1">
              <a:off x="1854474" y="2258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" name="组合 51"/>
          <p:cNvGrpSpPr>
            <a:grpSpLocks/>
          </p:cNvGrpSpPr>
          <p:nvPr/>
        </p:nvGrpSpPr>
        <p:grpSpPr bwMode="auto">
          <a:xfrm>
            <a:off x="3294063" y="1346200"/>
            <a:ext cx="3516312" cy="1441450"/>
            <a:chOff x="3294336" y="2096309"/>
            <a:chExt cx="3515995" cy="1981200"/>
          </a:xfrm>
        </p:grpSpPr>
        <p:sp>
          <p:nvSpPr>
            <p:cNvPr id="37970" name="Line 15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515995" cy="1143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1" name="Line 16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444240" cy="1524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2" name="Line 17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444240" cy="19812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" name="组合 50"/>
          <p:cNvGrpSpPr>
            <a:grpSpLocks/>
          </p:cNvGrpSpPr>
          <p:nvPr/>
        </p:nvGrpSpPr>
        <p:grpSpPr bwMode="auto">
          <a:xfrm>
            <a:off x="3294063" y="1187450"/>
            <a:ext cx="3587750" cy="609600"/>
            <a:chOff x="3294336" y="1877234"/>
            <a:chExt cx="3587750" cy="838200"/>
          </a:xfrm>
        </p:grpSpPr>
        <p:sp>
          <p:nvSpPr>
            <p:cNvPr id="37967" name="Line 18"/>
            <p:cNvSpPr>
              <a:spLocks noChangeShapeType="1"/>
            </p:cNvSpPr>
            <p:nvPr/>
          </p:nvSpPr>
          <p:spPr bwMode="auto">
            <a:xfrm flipV="1">
              <a:off x="3294336" y="2105834"/>
              <a:ext cx="3587750" cy="152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8" name="Line 19"/>
            <p:cNvSpPr>
              <a:spLocks noChangeShapeType="1"/>
            </p:cNvSpPr>
            <p:nvPr/>
          </p:nvSpPr>
          <p:spPr bwMode="auto">
            <a:xfrm>
              <a:off x="3294336" y="1877234"/>
              <a:ext cx="3515995" cy="228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9" name="Line 20"/>
            <p:cNvSpPr>
              <a:spLocks noChangeShapeType="1"/>
            </p:cNvSpPr>
            <p:nvPr/>
          </p:nvSpPr>
          <p:spPr bwMode="auto">
            <a:xfrm flipV="1">
              <a:off x="3294336" y="2105834"/>
              <a:ext cx="3515995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6505575" y="868363"/>
            <a:ext cx="404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2" name="Group 22"/>
          <p:cNvGrpSpPr>
            <a:grpSpLocks/>
          </p:cNvGrpSpPr>
          <p:nvPr/>
        </p:nvGrpSpPr>
        <p:grpSpPr bwMode="auto">
          <a:xfrm>
            <a:off x="1854200" y="427038"/>
            <a:ext cx="5040313" cy="3514725"/>
            <a:chOff x="1152" y="576"/>
            <a:chExt cx="3360" cy="3064"/>
          </a:xfrm>
        </p:grpSpPr>
        <p:sp>
          <p:nvSpPr>
            <p:cNvPr id="37960" name="Line 23"/>
            <p:cNvSpPr>
              <a:spLocks noChangeShapeType="1"/>
            </p:cNvSpPr>
            <p:nvPr/>
          </p:nvSpPr>
          <p:spPr bwMode="auto">
            <a:xfrm>
              <a:off x="1152" y="816"/>
              <a:ext cx="0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1" name="Line 24"/>
            <p:cNvSpPr>
              <a:spLocks noChangeShapeType="1"/>
            </p:cNvSpPr>
            <p:nvPr/>
          </p:nvSpPr>
          <p:spPr bwMode="auto">
            <a:xfrm>
              <a:off x="1152" y="2880"/>
              <a:ext cx="0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1968" y="927"/>
              <a:ext cx="144" cy="2544"/>
            </a:xfrm>
            <a:prstGeom prst="ellipse">
              <a:avLst/>
            </a:prstGeom>
            <a:solidFill>
              <a:srgbClr val="00FFFF"/>
            </a:soli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7965" name="Line 26"/>
            <p:cNvSpPr>
              <a:spLocks noChangeShapeType="1"/>
            </p:cNvSpPr>
            <p:nvPr/>
          </p:nvSpPr>
          <p:spPr bwMode="auto">
            <a:xfrm>
              <a:off x="4512" y="576"/>
              <a:ext cx="0" cy="3064"/>
            </a:xfrm>
            <a:prstGeom prst="line">
              <a:avLst/>
            </a:prstGeom>
            <a:noFill/>
            <a:ln w="762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6" name="Line 27"/>
            <p:cNvSpPr>
              <a:spLocks noChangeShapeType="1"/>
            </p:cNvSpPr>
            <p:nvPr/>
          </p:nvSpPr>
          <p:spPr bwMode="auto">
            <a:xfrm>
              <a:off x="1152" y="201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" name="Group 29"/>
          <p:cNvGrpSpPr>
            <a:grpSpLocks/>
          </p:cNvGrpSpPr>
          <p:nvPr/>
        </p:nvGrpSpPr>
        <p:grpSpPr bwMode="auto">
          <a:xfrm>
            <a:off x="1016000" y="1512888"/>
            <a:ext cx="268288" cy="561975"/>
            <a:chOff x="624" y="1536"/>
            <a:chExt cx="169" cy="487"/>
          </a:xfrm>
        </p:grpSpPr>
        <p:sp>
          <p:nvSpPr>
            <p:cNvPr id="37958" name="Line 30"/>
            <p:cNvSpPr>
              <a:spLocks noChangeShapeType="1"/>
            </p:cNvSpPr>
            <p:nvPr/>
          </p:nvSpPr>
          <p:spPr bwMode="auto">
            <a:xfrm>
              <a:off x="624" y="1536"/>
              <a:ext cx="0" cy="48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9" name="Rectangle 31"/>
            <p:cNvSpPr>
              <a:spLocks noChangeArrowheads="1"/>
            </p:cNvSpPr>
            <p:nvPr/>
          </p:nvSpPr>
          <p:spPr bwMode="auto">
            <a:xfrm>
              <a:off x="672" y="1623"/>
              <a:ext cx="121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" name="Group 32"/>
          <p:cNvGrpSpPr>
            <a:grpSpLocks/>
          </p:cNvGrpSpPr>
          <p:nvPr/>
        </p:nvGrpSpPr>
        <p:grpSpPr bwMode="auto">
          <a:xfrm>
            <a:off x="390525" y="1512888"/>
            <a:ext cx="396875" cy="998537"/>
            <a:chOff x="230" y="1536"/>
            <a:chExt cx="250" cy="864"/>
          </a:xfrm>
        </p:grpSpPr>
        <p:sp>
          <p:nvSpPr>
            <p:cNvPr id="37956" name="Line 33"/>
            <p:cNvSpPr>
              <a:spLocks noChangeShapeType="1"/>
            </p:cNvSpPr>
            <p:nvPr/>
          </p:nvSpPr>
          <p:spPr bwMode="auto">
            <a:xfrm>
              <a:off x="480" y="1536"/>
              <a:ext cx="0" cy="86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7" name="Text Box 34"/>
            <p:cNvSpPr txBox="1">
              <a:spLocks noChangeArrowheads="1"/>
            </p:cNvSpPr>
            <p:nvPr/>
          </p:nvSpPr>
          <p:spPr bwMode="auto">
            <a:xfrm>
              <a:off x="230" y="1788"/>
              <a:ext cx="213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" name="Group 35"/>
          <p:cNvGrpSpPr>
            <a:grpSpLocks/>
          </p:cNvGrpSpPr>
          <p:nvPr/>
        </p:nvGrpSpPr>
        <p:grpSpPr bwMode="auto">
          <a:xfrm>
            <a:off x="1244600" y="2066925"/>
            <a:ext cx="338138" cy="461963"/>
            <a:chOff x="768" y="2016"/>
            <a:chExt cx="213" cy="399"/>
          </a:xfrm>
        </p:grpSpPr>
        <p:sp>
          <p:nvSpPr>
            <p:cNvPr id="37954" name="Line 36"/>
            <p:cNvSpPr>
              <a:spLocks noChangeShapeType="1"/>
            </p:cNvSpPr>
            <p:nvPr/>
          </p:nvSpPr>
          <p:spPr bwMode="auto">
            <a:xfrm>
              <a:off x="768" y="2016"/>
              <a:ext cx="0" cy="38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5" name="Text Box 37"/>
            <p:cNvSpPr txBox="1">
              <a:spLocks noChangeArrowheads="1"/>
            </p:cNvSpPr>
            <p:nvPr/>
          </p:nvSpPr>
          <p:spPr bwMode="auto">
            <a:xfrm>
              <a:off x="768" y="2016"/>
              <a:ext cx="213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7" name="Line 38"/>
          <p:cNvSpPr>
            <a:spLocks noChangeShapeType="1"/>
          </p:cNvSpPr>
          <p:nvPr/>
        </p:nvSpPr>
        <p:spPr bwMode="auto">
          <a:xfrm flipH="1">
            <a:off x="635000" y="1512888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39"/>
          <p:cNvSpPr>
            <a:spLocks noChangeShapeType="1"/>
          </p:cNvSpPr>
          <p:nvPr/>
        </p:nvSpPr>
        <p:spPr bwMode="auto">
          <a:xfrm flipH="1">
            <a:off x="711200" y="2078038"/>
            <a:ext cx="12192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40"/>
          <p:cNvSpPr>
            <a:spLocks noChangeShapeType="1"/>
          </p:cNvSpPr>
          <p:nvPr/>
        </p:nvSpPr>
        <p:spPr bwMode="auto">
          <a:xfrm flipH="1">
            <a:off x="635000" y="2511425"/>
            <a:ext cx="12192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0" name="Group 41"/>
          <p:cNvGrpSpPr>
            <a:grpSpLocks/>
          </p:cNvGrpSpPr>
          <p:nvPr/>
        </p:nvGrpSpPr>
        <p:grpSpPr bwMode="auto">
          <a:xfrm>
            <a:off x="254000" y="3232150"/>
            <a:ext cx="1243013" cy="460375"/>
            <a:chOff x="11" y="2976"/>
            <a:chExt cx="792" cy="399"/>
          </a:xfrm>
        </p:grpSpPr>
        <p:sp>
          <p:nvSpPr>
            <p:cNvPr id="37949" name="Rectangle 42"/>
            <p:cNvSpPr>
              <a:spLocks noChangeArrowheads="1"/>
            </p:cNvSpPr>
            <p:nvPr/>
          </p:nvSpPr>
          <p:spPr bwMode="auto">
            <a:xfrm>
              <a:off x="689" y="3002"/>
              <a:ext cx="114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0" name="Rectangle 43"/>
            <p:cNvSpPr>
              <a:spLocks noChangeArrowheads="1"/>
            </p:cNvSpPr>
            <p:nvPr/>
          </p:nvSpPr>
          <p:spPr bwMode="auto">
            <a:xfrm>
              <a:off x="369" y="3002"/>
              <a:ext cx="114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1" name="Rectangle 44"/>
            <p:cNvSpPr>
              <a:spLocks noChangeArrowheads="1"/>
            </p:cNvSpPr>
            <p:nvPr/>
          </p:nvSpPr>
          <p:spPr bwMode="auto">
            <a:xfrm>
              <a:off x="11" y="3002"/>
              <a:ext cx="114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2" name="Rectangle 45"/>
            <p:cNvSpPr>
              <a:spLocks noChangeArrowheads="1"/>
            </p:cNvSpPr>
            <p:nvPr/>
          </p:nvSpPr>
          <p:spPr bwMode="auto">
            <a:xfrm>
              <a:off x="524" y="2976"/>
              <a:ext cx="123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+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3" name="Rectangle 46"/>
            <p:cNvSpPr>
              <a:spLocks noChangeArrowheads="1"/>
            </p:cNvSpPr>
            <p:nvPr/>
          </p:nvSpPr>
          <p:spPr bwMode="auto">
            <a:xfrm>
              <a:off x="194" y="2976"/>
              <a:ext cx="126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=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7" name="Freeform 42"/>
          <p:cNvSpPr>
            <a:spLocks/>
          </p:cNvSpPr>
          <p:nvPr/>
        </p:nvSpPr>
        <p:spPr bwMode="auto">
          <a:xfrm rot="16200000">
            <a:off x="6130131" y="1570478"/>
            <a:ext cx="3427413" cy="1514475"/>
          </a:xfrm>
          <a:custGeom>
            <a:avLst/>
            <a:gdLst>
              <a:gd name="T0" fmla="*/ 0 w 3032"/>
              <a:gd name="T1" fmla="*/ 2147483646 h 2022"/>
              <a:gd name="T2" fmla="*/ 2147483646 w 3032"/>
              <a:gd name="T3" fmla="*/ 2147483646 h 2022"/>
              <a:gd name="T4" fmla="*/ 2147483646 w 3032"/>
              <a:gd name="T5" fmla="*/ 2147483646 h 2022"/>
              <a:gd name="T6" fmla="*/ 2147483646 w 3032"/>
              <a:gd name="T7" fmla="*/ 2147483646 h 2022"/>
              <a:gd name="T8" fmla="*/ 2147483646 w 3032"/>
              <a:gd name="T9" fmla="*/ 2147483646 h 2022"/>
              <a:gd name="T10" fmla="*/ 2147483646 w 3032"/>
              <a:gd name="T11" fmla="*/ 2147483646 h 2022"/>
              <a:gd name="T12" fmla="*/ 2147483646 w 3032"/>
              <a:gd name="T13" fmla="*/ 2147483646 h 2022"/>
              <a:gd name="T14" fmla="*/ 2147483646 w 3032"/>
              <a:gd name="T15" fmla="*/ 2147483646 h 2022"/>
              <a:gd name="T16" fmla="*/ 2147483646 w 3032"/>
              <a:gd name="T17" fmla="*/ 2147483646 h 2022"/>
              <a:gd name="T18" fmla="*/ 2147483646 w 3032"/>
              <a:gd name="T19" fmla="*/ 2147483646 h 2022"/>
              <a:gd name="T20" fmla="*/ 2147483646 w 3032"/>
              <a:gd name="T21" fmla="*/ 2147483646 h 2022"/>
              <a:gd name="T22" fmla="*/ 2147483646 w 3032"/>
              <a:gd name="T23" fmla="*/ 2147483646 h 2022"/>
              <a:gd name="T24" fmla="*/ 2147483646 w 3032"/>
              <a:gd name="T25" fmla="*/ 2147483646 h 2022"/>
              <a:gd name="T26" fmla="*/ 2147483646 w 3032"/>
              <a:gd name="T27" fmla="*/ 2147483646 h 2022"/>
              <a:gd name="T28" fmla="*/ 2147483646 w 3032"/>
              <a:gd name="T29" fmla="*/ 2147483646 h 2022"/>
              <a:gd name="T30" fmla="*/ 2147483646 w 3032"/>
              <a:gd name="T31" fmla="*/ 2147483646 h 2022"/>
              <a:gd name="T32" fmla="*/ 2147483646 w 3032"/>
              <a:gd name="T33" fmla="*/ 2147483646 h 2022"/>
              <a:gd name="T34" fmla="*/ 2147483646 w 3032"/>
              <a:gd name="T35" fmla="*/ 2147483646 h 2022"/>
              <a:gd name="T36" fmla="*/ 2147483646 w 3032"/>
              <a:gd name="T37" fmla="*/ 2147483646 h 2022"/>
              <a:gd name="T38" fmla="*/ 2147483646 w 3032"/>
              <a:gd name="T39" fmla="*/ 2147483646 h 2022"/>
              <a:gd name="T40" fmla="*/ 2147483646 w 3032"/>
              <a:gd name="T41" fmla="*/ 2147483646 h 2022"/>
              <a:gd name="T42" fmla="*/ 2147483646 w 3032"/>
              <a:gd name="T43" fmla="*/ 2147483646 h 2022"/>
              <a:gd name="T44" fmla="*/ 2147483646 w 3032"/>
              <a:gd name="T45" fmla="*/ 2147483646 h 2022"/>
              <a:gd name="T46" fmla="*/ 2147483646 w 3032"/>
              <a:gd name="T47" fmla="*/ 2147483646 h 2022"/>
              <a:gd name="T48" fmla="*/ 2147483646 w 3032"/>
              <a:gd name="T49" fmla="*/ 2147483646 h 2022"/>
              <a:gd name="T50" fmla="*/ 2147483646 w 3032"/>
              <a:gd name="T51" fmla="*/ 2147483646 h 2022"/>
              <a:gd name="T52" fmla="*/ 2147483646 w 3032"/>
              <a:gd name="T53" fmla="*/ 2147483646 h 2022"/>
              <a:gd name="T54" fmla="*/ 2147483646 w 3032"/>
              <a:gd name="T55" fmla="*/ 2147483646 h 2022"/>
              <a:gd name="T56" fmla="*/ 2147483646 w 3032"/>
              <a:gd name="T57" fmla="*/ 2147483646 h 202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032" h="2022">
                <a:moveTo>
                  <a:pt x="0" y="1961"/>
                </a:moveTo>
                <a:cubicBezTo>
                  <a:pt x="67" y="1931"/>
                  <a:pt x="135" y="1902"/>
                  <a:pt x="200" y="1905"/>
                </a:cubicBezTo>
                <a:cubicBezTo>
                  <a:pt x="265" y="1908"/>
                  <a:pt x="329" y="1985"/>
                  <a:pt x="392" y="1977"/>
                </a:cubicBezTo>
                <a:cubicBezTo>
                  <a:pt x="455" y="1969"/>
                  <a:pt x="516" y="1858"/>
                  <a:pt x="576" y="1857"/>
                </a:cubicBezTo>
                <a:cubicBezTo>
                  <a:pt x="636" y="1856"/>
                  <a:pt x="709" y="1957"/>
                  <a:pt x="752" y="1969"/>
                </a:cubicBezTo>
                <a:cubicBezTo>
                  <a:pt x="795" y="1981"/>
                  <a:pt x="808" y="1953"/>
                  <a:pt x="832" y="1929"/>
                </a:cubicBezTo>
                <a:cubicBezTo>
                  <a:pt x="856" y="1905"/>
                  <a:pt x="875" y="1845"/>
                  <a:pt x="896" y="1825"/>
                </a:cubicBezTo>
                <a:cubicBezTo>
                  <a:pt x="917" y="1805"/>
                  <a:pt x="936" y="1798"/>
                  <a:pt x="960" y="1809"/>
                </a:cubicBezTo>
                <a:cubicBezTo>
                  <a:pt x="984" y="1820"/>
                  <a:pt x="1020" y="1865"/>
                  <a:pt x="1040" y="1889"/>
                </a:cubicBezTo>
                <a:cubicBezTo>
                  <a:pt x="1060" y="1913"/>
                  <a:pt x="1061" y="1940"/>
                  <a:pt x="1080" y="1953"/>
                </a:cubicBezTo>
                <a:cubicBezTo>
                  <a:pt x="1099" y="1966"/>
                  <a:pt x="1131" y="2006"/>
                  <a:pt x="1152" y="1969"/>
                </a:cubicBezTo>
                <a:cubicBezTo>
                  <a:pt x="1173" y="1932"/>
                  <a:pt x="1169" y="1968"/>
                  <a:pt x="1208" y="1729"/>
                </a:cubicBezTo>
                <a:cubicBezTo>
                  <a:pt x="1247" y="1490"/>
                  <a:pt x="1333" y="825"/>
                  <a:pt x="1384" y="537"/>
                </a:cubicBezTo>
                <a:cubicBezTo>
                  <a:pt x="1435" y="249"/>
                  <a:pt x="1464" y="0"/>
                  <a:pt x="1512" y="1"/>
                </a:cubicBezTo>
                <a:cubicBezTo>
                  <a:pt x="1560" y="2"/>
                  <a:pt x="1617" y="246"/>
                  <a:pt x="1672" y="545"/>
                </a:cubicBezTo>
                <a:cubicBezTo>
                  <a:pt x="1727" y="844"/>
                  <a:pt x="1808" y="1564"/>
                  <a:pt x="1840" y="1793"/>
                </a:cubicBezTo>
                <a:cubicBezTo>
                  <a:pt x="1872" y="2022"/>
                  <a:pt x="1853" y="1892"/>
                  <a:pt x="1864" y="1921"/>
                </a:cubicBezTo>
                <a:cubicBezTo>
                  <a:pt x="1875" y="1950"/>
                  <a:pt x="1884" y="1970"/>
                  <a:pt x="1904" y="1969"/>
                </a:cubicBezTo>
                <a:cubicBezTo>
                  <a:pt x="1924" y="1968"/>
                  <a:pt x="1963" y="1940"/>
                  <a:pt x="1984" y="1913"/>
                </a:cubicBezTo>
                <a:cubicBezTo>
                  <a:pt x="2005" y="1886"/>
                  <a:pt x="2016" y="1828"/>
                  <a:pt x="2032" y="1809"/>
                </a:cubicBezTo>
                <a:cubicBezTo>
                  <a:pt x="2048" y="1790"/>
                  <a:pt x="2048" y="1781"/>
                  <a:pt x="2080" y="1801"/>
                </a:cubicBezTo>
                <a:cubicBezTo>
                  <a:pt x="2112" y="1821"/>
                  <a:pt x="2191" y="1901"/>
                  <a:pt x="2224" y="1929"/>
                </a:cubicBezTo>
                <a:cubicBezTo>
                  <a:pt x="2257" y="1957"/>
                  <a:pt x="2248" y="1978"/>
                  <a:pt x="2280" y="1969"/>
                </a:cubicBezTo>
                <a:cubicBezTo>
                  <a:pt x="2312" y="1960"/>
                  <a:pt x="2385" y="1893"/>
                  <a:pt x="2416" y="1873"/>
                </a:cubicBezTo>
                <a:cubicBezTo>
                  <a:pt x="2447" y="1853"/>
                  <a:pt x="2424" y="1833"/>
                  <a:pt x="2464" y="1849"/>
                </a:cubicBezTo>
                <a:cubicBezTo>
                  <a:pt x="2504" y="1865"/>
                  <a:pt x="2601" y="1960"/>
                  <a:pt x="2656" y="1969"/>
                </a:cubicBezTo>
                <a:cubicBezTo>
                  <a:pt x="2711" y="1978"/>
                  <a:pt x="2760" y="1916"/>
                  <a:pt x="2792" y="1905"/>
                </a:cubicBezTo>
                <a:cubicBezTo>
                  <a:pt x="2824" y="1894"/>
                  <a:pt x="2808" y="1894"/>
                  <a:pt x="2848" y="1905"/>
                </a:cubicBezTo>
                <a:cubicBezTo>
                  <a:pt x="2888" y="1916"/>
                  <a:pt x="2960" y="1942"/>
                  <a:pt x="3032" y="1969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8" name="直接连接符 47"/>
          <p:cNvCxnSpPr/>
          <p:nvPr/>
        </p:nvCxnSpPr>
        <p:spPr>
          <a:xfrm>
            <a:off x="381000" y="2317397"/>
            <a:ext cx="8558213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 42"/>
          <p:cNvSpPr>
            <a:spLocks/>
          </p:cNvSpPr>
          <p:nvPr/>
        </p:nvSpPr>
        <p:spPr bwMode="auto">
          <a:xfrm rot="16200000">
            <a:off x="6498432" y="1568890"/>
            <a:ext cx="3427412" cy="1514475"/>
          </a:xfrm>
          <a:custGeom>
            <a:avLst/>
            <a:gdLst>
              <a:gd name="T0" fmla="*/ 0 w 3032"/>
              <a:gd name="T1" fmla="*/ 2147483646 h 2022"/>
              <a:gd name="T2" fmla="*/ 2147483646 w 3032"/>
              <a:gd name="T3" fmla="*/ 2147483646 h 2022"/>
              <a:gd name="T4" fmla="*/ 2147483646 w 3032"/>
              <a:gd name="T5" fmla="*/ 2147483646 h 2022"/>
              <a:gd name="T6" fmla="*/ 2147483646 w 3032"/>
              <a:gd name="T7" fmla="*/ 2147483646 h 2022"/>
              <a:gd name="T8" fmla="*/ 2147483646 w 3032"/>
              <a:gd name="T9" fmla="*/ 2147483646 h 2022"/>
              <a:gd name="T10" fmla="*/ 2147483646 w 3032"/>
              <a:gd name="T11" fmla="*/ 2147483646 h 2022"/>
              <a:gd name="T12" fmla="*/ 2147483646 w 3032"/>
              <a:gd name="T13" fmla="*/ 2147483646 h 2022"/>
              <a:gd name="T14" fmla="*/ 2147483646 w 3032"/>
              <a:gd name="T15" fmla="*/ 2147483646 h 2022"/>
              <a:gd name="T16" fmla="*/ 2147483646 w 3032"/>
              <a:gd name="T17" fmla="*/ 2147483646 h 2022"/>
              <a:gd name="T18" fmla="*/ 2147483646 w 3032"/>
              <a:gd name="T19" fmla="*/ 2147483646 h 2022"/>
              <a:gd name="T20" fmla="*/ 2147483646 w 3032"/>
              <a:gd name="T21" fmla="*/ 2147483646 h 2022"/>
              <a:gd name="T22" fmla="*/ 2147483646 w 3032"/>
              <a:gd name="T23" fmla="*/ 2147483646 h 2022"/>
              <a:gd name="T24" fmla="*/ 2147483646 w 3032"/>
              <a:gd name="T25" fmla="*/ 2147483646 h 2022"/>
              <a:gd name="T26" fmla="*/ 2147483646 w 3032"/>
              <a:gd name="T27" fmla="*/ 2147483646 h 2022"/>
              <a:gd name="T28" fmla="*/ 2147483646 w 3032"/>
              <a:gd name="T29" fmla="*/ 2147483646 h 2022"/>
              <a:gd name="T30" fmla="*/ 2147483646 w 3032"/>
              <a:gd name="T31" fmla="*/ 2147483646 h 2022"/>
              <a:gd name="T32" fmla="*/ 2147483646 w 3032"/>
              <a:gd name="T33" fmla="*/ 2147483646 h 2022"/>
              <a:gd name="T34" fmla="*/ 2147483646 w 3032"/>
              <a:gd name="T35" fmla="*/ 2147483646 h 2022"/>
              <a:gd name="T36" fmla="*/ 2147483646 w 3032"/>
              <a:gd name="T37" fmla="*/ 2147483646 h 2022"/>
              <a:gd name="T38" fmla="*/ 2147483646 w 3032"/>
              <a:gd name="T39" fmla="*/ 2147483646 h 2022"/>
              <a:gd name="T40" fmla="*/ 2147483646 w 3032"/>
              <a:gd name="T41" fmla="*/ 2147483646 h 2022"/>
              <a:gd name="T42" fmla="*/ 2147483646 w 3032"/>
              <a:gd name="T43" fmla="*/ 2147483646 h 2022"/>
              <a:gd name="T44" fmla="*/ 2147483646 w 3032"/>
              <a:gd name="T45" fmla="*/ 2147483646 h 2022"/>
              <a:gd name="T46" fmla="*/ 2147483646 w 3032"/>
              <a:gd name="T47" fmla="*/ 2147483646 h 2022"/>
              <a:gd name="T48" fmla="*/ 2147483646 w 3032"/>
              <a:gd name="T49" fmla="*/ 2147483646 h 2022"/>
              <a:gd name="T50" fmla="*/ 2147483646 w 3032"/>
              <a:gd name="T51" fmla="*/ 2147483646 h 2022"/>
              <a:gd name="T52" fmla="*/ 2147483646 w 3032"/>
              <a:gd name="T53" fmla="*/ 2147483646 h 2022"/>
              <a:gd name="T54" fmla="*/ 2147483646 w 3032"/>
              <a:gd name="T55" fmla="*/ 2147483646 h 2022"/>
              <a:gd name="T56" fmla="*/ 2147483646 w 3032"/>
              <a:gd name="T57" fmla="*/ 2147483646 h 202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032" h="2022">
                <a:moveTo>
                  <a:pt x="0" y="1961"/>
                </a:moveTo>
                <a:cubicBezTo>
                  <a:pt x="67" y="1931"/>
                  <a:pt x="135" y="1902"/>
                  <a:pt x="200" y="1905"/>
                </a:cubicBezTo>
                <a:cubicBezTo>
                  <a:pt x="265" y="1908"/>
                  <a:pt x="329" y="1985"/>
                  <a:pt x="392" y="1977"/>
                </a:cubicBezTo>
                <a:cubicBezTo>
                  <a:pt x="455" y="1969"/>
                  <a:pt x="516" y="1858"/>
                  <a:pt x="576" y="1857"/>
                </a:cubicBezTo>
                <a:cubicBezTo>
                  <a:pt x="636" y="1856"/>
                  <a:pt x="709" y="1957"/>
                  <a:pt x="752" y="1969"/>
                </a:cubicBezTo>
                <a:cubicBezTo>
                  <a:pt x="795" y="1981"/>
                  <a:pt x="808" y="1953"/>
                  <a:pt x="832" y="1929"/>
                </a:cubicBezTo>
                <a:cubicBezTo>
                  <a:pt x="856" y="1905"/>
                  <a:pt x="875" y="1845"/>
                  <a:pt x="896" y="1825"/>
                </a:cubicBezTo>
                <a:cubicBezTo>
                  <a:pt x="917" y="1805"/>
                  <a:pt x="936" y="1798"/>
                  <a:pt x="960" y="1809"/>
                </a:cubicBezTo>
                <a:cubicBezTo>
                  <a:pt x="984" y="1820"/>
                  <a:pt x="1020" y="1865"/>
                  <a:pt x="1040" y="1889"/>
                </a:cubicBezTo>
                <a:cubicBezTo>
                  <a:pt x="1060" y="1913"/>
                  <a:pt x="1061" y="1940"/>
                  <a:pt x="1080" y="1953"/>
                </a:cubicBezTo>
                <a:cubicBezTo>
                  <a:pt x="1099" y="1966"/>
                  <a:pt x="1131" y="2006"/>
                  <a:pt x="1152" y="1969"/>
                </a:cubicBezTo>
                <a:cubicBezTo>
                  <a:pt x="1173" y="1932"/>
                  <a:pt x="1169" y="1968"/>
                  <a:pt x="1208" y="1729"/>
                </a:cubicBezTo>
                <a:cubicBezTo>
                  <a:pt x="1247" y="1490"/>
                  <a:pt x="1333" y="825"/>
                  <a:pt x="1384" y="537"/>
                </a:cubicBezTo>
                <a:cubicBezTo>
                  <a:pt x="1435" y="249"/>
                  <a:pt x="1464" y="0"/>
                  <a:pt x="1512" y="1"/>
                </a:cubicBezTo>
                <a:cubicBezTo>
                  <a:pt x="1560" y="2"/>
                  <a:pt x="1617" y="246"/>
                  <a:pt x="1672" y="545"/>
                </a:cubicBezTo>
                <a:cubicBezTo>
                  <a:pt x="1727" y="844"/>
                  <a:pt x="1808" y="1564"/>
                  <a:pt x="1840" y="1793"/>
                </a:cubicBezTo>
                <a:cubicBezTo>
                  <a:pt x="1872" y="2022"/>
                  <a:pt x="1853" y="1892"/>
                  <a:pt x="1864" y="1921"/>
                </a:cubicBezTo>
                <a:cubicBezTo>
                  <a:pt x="1875" y="1950"/>
                  <a:pt x="1884" y="1970"/>
                  <a:pt x="1904" y="1969"/>
                </a:cubicBezTo>
                <a:cubicBezTo>
                  <a:pt x="1924" y="1968"/>
                  <a:pt x="1963" y="1940"/>
                  <a:pt x="1984" y="1913"/>
                </a:cubicBezTo>
                <a:cubicBezTo>
                  <a:pt x="2005" y="1886"/>
                  <a:pt x="2016" y="1828"/>
                  <a:pt x="2032" y="1809"/>
                </a:cubicBezTo>
                <a:cubicBezTo>
                  <a:pt x="2048" y="1790"/>
                  <a:pt x="2048" y="1781"/>
                  <a:pt x="2080" y="1801"/>
                </a:cubicBezTo>
                <a:cubicBezTo>
                  <a:pt x="2112" y="1821"/>
                  <a:pt x="2191" y="1901"/>
                  <a:pt x="2224" y="1929"/>
                </a:cubicBezTo>
                <a:cubicBezTo>
                  <a:pt x="2257" y="1957"/>
                  <a:pt x="2248" y="1978"/>
                  <a:pt x="2280" y="1969"/>
                </a:cubicBezTo>
                <a:cubicBezTo>
                  <a:pt x="2312" y="1960"/>
                  <a:pt x="2385" y="1893"/>
                  <a:pt x="2416" y="1873"/>
                </a:cubicBezTo>
                <a:cubicBezTo>
                  <a:pt x="2447" y="1853"/>
                  <a:pt x="2424" y="1833"/>
                  <a:pt x="2464" y="1849"/>
                </a:cubicBezTo>
                <a:cubicBezTo>
                  <a:pt x="2504" y="1865"/>
                  <a:pt x="2601" y="1960"/>
                  <a:pt x="2656" y="1969"/>
                </a:cubicBezTo>
                <a:cubicBezTo>
                  <a:pt x="2711" y="1978"/>
                  <a:pt x="2760" y="1916"/>
                  <a:pt x="2792" y="1905"/>
                </a:cubicBezTo>
                <a:cubicBezTo>
                  <a:pt x="2824" y="1894"/>
                  <a:pt x="2808" y="1894"/>
                  <a:pt x="2848" y="1905"/>
                </a:cubicBezTo>
                <a:cubicBezTo>
                  <a:pt x="2888" y="1916"/>
                  <a:pt x="2960" y="1942"/>
                  <a:pt x="3032" y="1969"/>
                </a:cubicBezTo>
              </a:path>
            </a:pathLst>
          </a:custGeom>
          <a:noFill/>
          <a:ln w="38100" cmpd="sng">
            <a:solidFill>
              <a:srgbClr val="92D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矩形 78"/>
          <p:cNvSpPr>
            <a:spLocks noChangeArrowheads="1"/>
          </p:cNvSpPr>
          <p:nvPr/>
        </p:nvSpPr>
        <p:spPr bwMode="auto">
          <a:xfrm>
            <a:off x="101600" y="3787775"/>
            <a:ext cx="59547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两束衍射光发生干涉，干涉图样是？</a:t>
            </a:r>
            <a:endParaRPr kumimoji="1" lang="en-US" altLang="zh-CN" sz="2800" b="1" dirty="0">
              <a:solidFill>
                <a:srgbClr val="0000CC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5" name="Rectangle 2"/>
          <p:cNvSpPr>
            <a:spLocks noChangeArrowheads="1"/>
          </p:cNvSpPr>
          <p:nvPr/>
        </p:nvSpPr>
        <p:spPr bwMode="auto">
          <a:xfrm>
            <a:off x="174625" y="119063"/>
            <a:ext cx="2619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双缝衍射</a:t>
            </a:r>
          </a:p>
        </p:txBody>
      </p:sp>
      <p:sp>
        <p:nvSpPr>
          <p:cNvPr id="134" name="Line 22"/>
          <p:cNvSpPr>
            <a:spLocks noChangeShapeType="1"/>
          </p:cNvSpPr>
          <p:nvPr/>
        </p:nvSpPr>
        <p:spPr bwMode="auto">
          <a:xfrm flipV="1">
            <a:off x="1830388" y="1541463"/>
            <a:ext cx="963612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5" name="Object 23"/>
          <p:cNvGraphicFramePr>
            <a:graphicFrameLocks noChangeAspect="1"/>
          </p:cNvGraphicFramePr>
          <p:nvPr/>
        </p:nvGraphicFramePr>
        <p:xfrm>
          <a:off x="2511425" y="1220788"/>
          <a:ext cx="35242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6" name="Equation" r:id="rId3" imgW="126725" imgH="177415" progId="Equation.DSMT4">
                  <p:embed/>
                </p:oleObj>
              </mc:Choice>
              <mc:Fallback>
                <p:oleObj name="Equation" r:id="rId3" imgW="126725" imgH="177415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1220788"/>
                        <a:ext cx="35242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Arc 35"/>
          <p:cNvSpPr>
            <a:spLocks/>
          </p:cNvSpPr>
          <p:nvPr/>
        </p:nvSpPr>
        <p:spPr bwMode="auto">
          <a:xfrm>
            <a:off x="1389063" y="1390650"/>
            <a:ext cx="1123950" cy="177800"/>
          </a:xfrm>
          <a:custGeom>
            <a:avLst/>
            <a:gdLst>
              <a:gd name="T0" fmla="*/ 2147483646 w 21600"/>
              <a:gd name="T1" fmla="*/ 0 h 7897"/>
              <a:gd name="T2" fmla="*/ 2147483646 w 21600"/>
              <a:gd name="T3" fmla="*/ 2147483646 h 7897"/>
              <a:gd name="T4" fmla="*/ 0 w 21600"/>
              <a:gd name="T5" fmla="*/ 2147483646 h 78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7897" fill="none" extrusionOk="0">
                <a:moveTo>
                  <a:pt x="20104" y="0"/>
                </a:moveTo>
                <a:cubicBezTo>
                  <a:pt x="21092" y="2515"/>
                  <a:pt x="21600" y="5194"/>
                  <a:pt x="21600" y="7897"/>
                </a:cubicBezTo>
              </a:path>
              <a:path w="21600" h="7897" stroke="0" extrusionOk="0">
                <a:moveTo>
                  <a:pt x="20104" y="0"/>
                </a:moveTo>
                <a:cubicBezTo>
                  <a:pt x="21092" y="2515"/>
                  <a:pt x="21600" y="5194"/>
                  <a:pt x="21600" y="7897"/>
                </a:cubicBezTo>
                <a:lnTo>
                  <a:pt x="0" y="7897"/>
                </a:lnTo>
                <a:lnTo>
                  <a:pt x="20104" y="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37" name="直接箭头连接符 136"/>
          <p:cNvCxnSpPr/>
          <p:nvPr/>
        </p:nvCxnSpPr>
        <p:spPr>
          <a:xfrm flipV="1">
            <a:off x="6940550" y="188913"/>
            <a:ext cx="0" cy="3875087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矩形 137"/>
          <p:cNvSpPr>
            <a:spLocks noChangeArrowheads="1"/>
          </p:cNvSpPr>
          <p:nvPr/>
        </p:nvSpPr>
        <p:spPr bwMode="auto">
          <a:xfrm>
            <a:off x="6996113" y="-7938"/>
            <a:ext cx="319087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zh-CN" altLang="en-US" sz="2800" i="1">
              <a:solidFill>
                <a:schemeClr val="tx1"/>
              </a:solidFill>
            </a:endParaRPr>
          </a:p>
        </p:txBody>
      </p:sp>
      <p:cxnSp>
        <p:nvCxnSpPr>
          <p:cNvPr id="140" name="直接箭头连接符 139"/>
          <p:cNvCxnSpPr/>
          <p:nvPr/>
        </p:nvCxnSpPr>
        <p:spPr>
          <a:xfrm flipV="1">
            <a:off x="9036050" y="315913"/>
            <a:ext cx="0" cy="3875087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矩形 140"/>
          <p:cNvSpPr>
            <a:spLocks noChangeArrowheads="1"/>
          </p:cNvSpPr>
          <p:nvPr/>
        </p:nvSpPr>
        <p:spPr bwMode="auto">
          <a:xfrm>
            <a:off x="8809038" y="-103188"/>
            <a:ext cx="319087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zh-CN" altLang="en-US" sz="2800" i="1">
              <a:solidFill>
                <a:schemeClr val="tx1"/>
              </a:solidFill>
            </a:endParaRP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38" b="17084"/>
          <a:stretch>
            <a:fillRect/>
          </a:stretch>
        </p:blipFill>
        <p:spPr bwMode="auto">
          <a:xfrm>
            <a:off x="6561285" y="4630972"/>
            <a:ext cx="1609725" cy="209426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Freeform 42"/>
          <p:cNvSpPr>
            <a:spLocks/>
          </p:cNvSpPr>
          <p:nvPr/>
        </p:nvSpPr>
        <p:spPr bwMode="auto">
          <a:xfrm rot="16200000">
            <a:off x="640704" y="5131594"/>
            <a:ext cx="2327275" cy="969963"/>
          </a:xfrm>
          <a:custGeom>
            <a:avLst/>
            <a:gdLst>
              <a:gd name="T0" fmla="*/ 0 w 9253"/>
              <a:gd name="T1" fmla="*/ 2147483646 h 10000"/>
              <a:gd name="T2" fmla="*/ 2147483646 w 9253"/>
              <a:gd name="T3" fmla="*/ 2147483646 h 10000"/>
              <a:gd name="T4" fmla="*/ 2147483646 w 9253"/>
              <a:gd name="T5" fmla="*/ 2147483646 h 10000"/>
              <a:gd name="T6" fmla="*/ 2147483646 w 9253"/>
              <a:gd name="T7" fmla="*/ 2147483646 h 10000"/>
              <a:gd name="T8" fmla="*/ 2147483646 w 9253"/>
              <a:gd name="T9" fmla="*/ 2147483646 h 10000"/>
              <a:gd name="T10" fmla="*/ 2147483646 w 9253"/>
              <a:gd name="T11" fmla="*/ 2147483646 h 10000"/>
              <a:gd name="T12" fmla="*/ 2147483646 w 9253"/>
              <a:gd name="T13" fmla="*/ 2147483646 h 10000"/>
              <a:gd name="T14" fmla="*/ 2147483646 w 9253"/>
              <a:gd name="T15" fmla="*/ 2147483646 h 10000"/>
              <a:gd name="T16" fmla="*/ 2147483646 w 9253"/>
              <a:gd name="T17" fmla="*/ 2147483646 h 10000"/>
              <a:gd name="T18" fmla="*/ 2147483646 w 9253"/>
              <a:gd name="T19" fmla="*/ 2147483646 h 10000"/>
              <a:gd name="T20" fmla="*/ 2147483646 w 9253"/>
              <a:gd name="T21" fmla="*/ 2147483646 h 10000"/>
              <a:gd name="T22" fmla="*/ 2147483646 w 9253"/>
              <a:gd name="T23" fmla="*/ 2147483646 h 100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253" h="10000">
                <a:moveTo>
                  <a:pt x="0" y="9520"/>
                </a:moveTo>
                <a:cubicBezTo>
                  <a:pt x="188" y="9641"/>
                  <a:pt x="192" y="9777"/>
                  <a:pt x="369" y="9843"/>
                </a:cubicBezTo>
                <a:cubicBezTo>
                  <a:pt x="552" y="9908"/>
                  <a:pt x="849" y="10110"/>
                  <a:pt x="1040" y="9924"/>
                </a:cubicBezTo>
                <a:cubicBezTo>
                  <a:pt x="1241" y="9737"/>
                  <a:pt x="1203" y="9918"/>
                  <a:pt x="1565" y="8713"/>
                </a:cubicBezTo>
                <a:cubicBezTo>
                  <a:pt x="1930" y="7508"/>
                  <a:pt x="2730" y="4155"/>
                  <a:pt x="3209" y="2704"/>
                </a:cubicBezTo>
                <a:cubicBezTo>
                  <a:pt x="3683" y="1251"/>
                  <a:pt x="3952" y="-4"/>
                  <a:pt x="4398" y="1"/>
                </a:cubicBezTo>
                <a:cubicBezTo>
                  <a:pt x="4851" y="6"/>
                  <a:pt x="5383" y="1237"/>
                  <a:pt x="5896" y="2743"/>
                </a:cubicBezTo>
                <a:cubicBezTo>
                  <a:pt x="6412" y="4251"/>
                  <a:pt x="7165" y="7882"/>
                  <a:pt x="7462" y="9036"/>
                </a:cubicBezTo>
                <a:cubicBezTo>
                  <a:pt x="7758" y="10191"/>
                  <a:pt x="7581" y="9535"/>
                  <a:pt x="7689" y="9681"/>
                </a:cubicBezTo>
                <a:cubicBezTo>
                  <a:pt x="7792" y="9828"/>
                  <a:pt x="7873" y="9929"/>
                  <a:pt x="8056" y="9924"/>
                </a:cubicBezTo>
                <a:cubicBezTo>
                  <a:pt x="8247" y="9918"/>
                  <a:pt x="8608" y="9777"/>
                  <a:pt x="8806" y="9641"/>
                </a:cubicBezTo>
                <a:cubicBezTo>
                  <a:pt x="9002" y="9505"/>
                  <a:pt x="9104" y="9213"/>
                  <a:pt x="9253" y="9117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Freeform 42"/>
          <p:cNvSpPr>
            <a:spLocks/>
          </p:cNvSpPr>
          <p:nvPr/>
        </p:nvSpPr>
        <p:spPr bwMode="auto">
          <a:xfrm rot="16200000">
            <a:off x="1197916" y="5137945"/>
            <a:ext cx="2327275" cy="969962"/>
          </a:xfrm>
          <a:custGeom>
            <a:avLst/>
            <a:gdLst>
              <a:gd name="T0" fmla="*/ 0 w 9253"/>
              <a:gd name="T1" fmla="*/ 2147483646 h 10000"/>
              <a:gd name="T2" fmla="*/ 2147483646 w 9253"/>
              <a:gd name="T3" fmla="*/ 2147483646 h 10000"/>
              <a:gd name="T4" fmla="*/ 2147483646 w 9253"/>
              <a:gd name="T5" fmla="*/ 2147483646 h 10000"/>
              <a:gd name="T6" fmla="*/ 2147483646 w 9253"/>
              <a:gd name="T7" fmla="*/ 2147483646 h 10000"/>
              <a:gd name="T8" fmla="*/ 2147483646 w 9253"/>
              <a:gd name="T9" fmla="*/ 2147483646 h 10000"/>
              <a:gd name="T10" fmla="*/ 2147483646 w 9253"/>
              <a:gd name="T11" fmla="*/ 2147483646 h 10000"/>
              <a:gd name="T12" fmla="*/ 2147483646 w 9253"/>
              <a:gd name="T13" fmla="*/ 2147483646 h 10000"/>
              <a:gd name="T14" fmla="*/ 2147483646 w 9253"/>
              <a:gd name="T15" fmla="*/ 2147483646 h 10000"/>
              <a:gd name="T16" fmla="*/ 2147483646 w 9253"/>
              <a:gd name="T17" fmla="*/ 2147483646 h 10000"/>
              <a:gd name="T18" fmla="*/ 2147483646 w 9253"/>
              <a:gd name="T19" fmla="*/ 2147483646 h 10000"/>
              <a:gd name="T20" fmla="*/ 2147483646 w 9253"/>
              <a:gd name="T21" fmla="*/ 2147483646 h 10000"/>
              <a:gd name="T22" fmla="*/ 2147483646 w 9253"/>
              <a:gd name="T23" fmla="*/ 2147483646 h 100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253" h="10000">
                <a:moveTo>
                  <a:pt x="0" y="9520"/>
                </a:moveTo>
                <a:cubicBezTo>
                  <a:pt x="188" y="9641"/>
                  <a:pt x="192" y="9777"/>
                  <a:pt x="369" y="9843"/>
                </a:cubicBezTo>
                <a:cubicBezTo>
                  <a:pt x="552" y="9908"/>
                  <a:pt x="849" y="10110"/>
                  <a:pt x="1040" y="9924"/>
                </a:cubicBezTo>
                <a:cubicBezTo>
                  <a:pt x="1241" y="9737"/>
                  <a:pt x="1203" y="9918"/>
                  <a:pt x="1565" y="8713"/>
                </a:cubicBezTo>
                <a:cubicBezTo>
                  <a:pt x="1930" y="7508"/>
                  <a:pt x="2730" y="4155"/>
                  <a:pt x="3209" y="2704"/>
                </a:cubicBezTo>
                <a:cubicBezTo>
                  <a:pt x="3683" y="1251"/>
                  <a:pt x="3952" y="-4"/>
                  <a:pt x="4398" y="1"/>
                </a:cubicBezTo>
                <a:cubicBezTo>
                  <a:pt x="4851" y="6"/>
                  <a:pt x="5383" y="1237"/>
                  <a:pt x="5896" y="2743"/>
                </a:cubicBezTo>
                <a:cubicBezTo>
                  <a:pt x="6412" y="4251"/>
                  <a:pt x="7165" y="7882"/>
                  <a:pt x="7462" y="9036"/>
                </a:cubicBezTo>
                <a:cubicBezTo>
                  <a:pt x="7758" y="10191"/>
                  <a:pt x="7581" y="9535"/>
                  <a:pt x="7689" y="9681"/>
                </a:cubicBezTo>
                <a:cubicBezTo>
                  <a:pt x="7792" y="9828"/>
                  <a:pt x="7873" y="9929"/>
                  <a:pt x="8056" y="9924"/>
                </a:cubicBezTo>
                <a:cubicBezTo>
                  <a:pt x="8247" y="9918"/>
                  <a:pt x="8608" y="9777"/>
                  <a:pt x="8806" y="9641"/>
                </a:cubicBezTo>
                <a:cubicBezTo>
                  <a:pt x="9002" y="9505"/>
                  <a:pt x="9104" y="9213"/>
                  <a:pt x="9253" y="9117"/>
                </a:cubicBezTo>
              </a:path>
            </a:pathLst>
          </a:custGeom>
          <a:noFill/>
          <a:ln w="38100" cmpd="sng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92" name="直接连接符 91"/>
          <p:cNvCxnSpPr/>
          <p:nvPr/>
        </p:nvCxnSpPr>
        <p:spPr>
          <a:xfrm>
            <a:off x="939948" y="5654675"/>
            <a:ext cx="7332662" cy="0"/>
          </a:xfrm>
          <a:prstGeom prst="line">
            <a:avLst/>
          </a:prstGeom>
          <a:ln w="190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椭圆 92"/>
          <p:cNvSpPr/>
          <p:nvPr/>
        </p:nvSpPr>
        <p:spPr>
          <a:xfrm>
            <a:off x="4641998" y="5597525"/>
            <a:ext cx="85725" cy="1174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94" name="直接连接符 93"/>
          <p:cNvCxnSpPr/>
          <p:nvPr/>
        </p:nvCxnSpPr>
        <p:spPr>
          <a:xfrm>
            <a:off x="939948" y="5392738"/>
            <a:ext cx="7332662" cy="0"/>
          </a:xfrm>
          <a:prstGeom prst="line">
            <a:avLst/>
          </a:prstGeom>
          <a:ln w="190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椭圆 94"/>
          <p:cNvSpPr/>
          <p:nvPr/>
        </p:nvSpPr>
        <p:spPr>
          <a:xfrm>
            <a:off x="4872185" y="5343525"/>
            <a:ext cx="87313" cy="1174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96" name="直接连接符 95"/>
          <p:cNvCxnSpPr/>
          <p:nvPr/>
        </p:nvCxnSpPr>
        <p:spPr>
          <a:xfrm>
            <a:off x="939948" y="5527675"/>
            <a:ext cx="7332662" cy="0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椭圆 96"/>
          <p:cNvSpPr/>
          <p:nvPr/>
        </p:nvSpPr>
        <p:spPr>
          <a:xfrm>
            <a:off x="6215210" y="5464175"/>
            <a:ext cx="87313" cy="1174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98" name="直接连接符 97"/>
          <p:cNvCxnSpPr/>
          <p:nvPr/>
        </p:nvCxnSpPr>
        <p:spPr>
          <a:xfrm>
            <a:off x="939948" y="5106988"/>
            <a:ext cx="7332662" cy="0"/>
          </a:xfrm>
          <a:prstGeom prst="line">
            <a:avLst/>
          </a:prstGeom>
          <a:ln w="190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939948" y="5241925"/>
            <a:ext cx="7332662" cy="0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椭圆 99"/>
          <p:cNvSpPr/>
          <p:nvPr/>
        </p:nvSpPr>
        <p:spPr>
          <a:xfrm>
            <a:off x="5240485" y="5057775"/>
            <a:ext cx="85725" cy="1174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1" name="椭圆 100"/>
          <p:cNvSpPr/>
          <p:nvPr/>
        </p:nvSpPr>
        <p:spPr>
          <a:xfrm>
            <a:off x="6215210" y="5178425"/>
            <a:ext cx="87313" cy="1174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7" name="任意多边形 106"/>
          <p:cNvSpPr/>
          <p:nvPr/>
        </p:nvSpPr>
        <p:spPr>
          <a:xfrm>
            <a:off x="4681685" y="5519738"/>
            <a:ext cx="1570038" cy="141287"/>
          </a:xfrm>
          <a:custGeom>
            <a:avLst/>
            <a:gdLst>
              <a:gd name="connsiteX0" fmla="*/ 0 w 1570008"/>
              <a:gd name="connsiteY0" fmla="*/ 103517 h 103517"/>
              <a:gd name="connsiteX1" fmla="*/ 1570008 w 1570008"/>
              <a:gd name="connsiteY1" fmla="*/ 0 h 10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0008" h="103517">
                <a:moveTo>
                  <a:pt x="0" y="103517"/>
                </a:moveTo>
                <a:lnTo>
                  <a:pt x="1570008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8" name="任意多边形 107"/>
          <p:cNvSpPr/>
          <p:nvPr/>
        </p:nvSpPr>
        <p:spPr>
          <a:xfrm>
            <a:off x="4915048" y="5402263"/>
            <a:ext cx="1344612" cy="104775"/>
          </a:xfrm>
          <a:custGeom>
            <a:avLst/>
            <a:gdLst>
              <a:gd name="connsiteX0" fmla="*/ 1345721 w 1345721"/>
              <a:gd name="connsiteY0" fmla="*/ 77637 h 77637"/>
              <a:gd name="connsiteX1" fmla="*/ 0 w 1345721"/>
              <a:gd name="connsiteY1" fmla="*/ 0 h 77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45721" h="77637">
                <a:moveTo>
                  <a:pt x="1345721" y="77637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9" name="任意多边形 108"/>
          <p:cNvSpPr/>
          <p:nvPr/>
        </p:nvSpPr>
        <p:spPr>
          <a:xfrm>
            <a:off x="4897585" y="5260975"/>
            <a:ext cx="1362075" cy="152400"/>
          </a:xfrm>
          <a:custGeom>
            <a:avLst/>
            <a:gdLst>
              <a:gd name="connsiteX0" fmla="*/ 0 w 1362974"/>
              <a:gd name="connsiteY0" fmla="*/ 112143 h 112143"/>
              <a:gd name="connsiteX1" fmla="*/ 1362974 w 1362974"/>
              <a:gd name="connsiteY1" fmla="*/ 0 h 112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2974" h="112143">
                <a:moveTo>
                  <a:pt x="0" y="112143"/>
                </a:moveTo>
                <a:lnTo>
                  <a:pt x="1362974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0" name="任意多边形 109"/>
          <p:cNvSpPr/>
          <p:nvPr/>
        </p:nvSpPr>
        <p:spPr>
          <a:xfrm>
            <a:off x="5302398" y="5108575"/>
            <a:ext cx="949325" cy="117475"/>
          </a:xfrm>
          <a:custGeom>
            <a:avLst/>
            <a:gdLst>
              <a:gd name="connsiteX0" fmla="*/ 948906 w 948906"/>
              <a:gd name="connsiteY0" fmla="*/ 86265 h 86265"/>
              <a:gd name="connsiteX1" fmla="*/ 0 w 948906"/>
              <a:gd name="connsiteY1" fmla="*/ 0 h 86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48906" h="86265">
                <a:moveTo>
                  <a:pt x="948906" y="86265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3" name="组合 132"/>
          <p:cNvGrpSpPr>
            <a:grpSpLocks/>
          </p:cNvGrpSpPr>
          <p:nvPr/>
        </p:nvGrpSpPr>
        <p:grpSpPr bwMode="auto">
          <a:xfrm flipV="1">
            <a:off x="938360" y="5667375"/>
            <a:ext cx="7332663" cy="603250"/>
            <a:chOff x="175352" y="6055594"/>
            <a:chExt cx="7331608" cy="443516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75352" y="6303029"/>
              <a:ext cx="7331608" cy="0"/>
            </a:xfrm>
            <a:prstGeom prst="line">
              <a:avLst/>
            </a:prstGeom>
            <a:ln w="190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椭圆 115"/>
            <p:cNvSpPr/>
            <p:nvPr/>
          </p:nvSpPr>
          <p:spPr>
            <a:xfrm>
              <a:off x="4107024" y="6265681"/>
              <a:ext cx="87299" cy="8636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17" name="直接连接符 116"/>
            <p:cNvCxnSpPr/>
            <p:nvPr/>
          </p:nvCxnSpPr>
          <p:spPr>
            <a:xfrm>
              <a:off x="175352" y="6402236"/>
              <a:ext cx="7331608" cy="0"/>
            </a:xfrm>
            <a:prstGeom prst="line">
              <a:avLst/>
            </a:prstGeom>
            <a:ln w="1905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椭圆 117"/>
            <p:cNvSpPr/>
            <p:nvPr/>
          </p:nvSpPr>
          <p:spPr>
            <a:xfrm>
              <a:off x="5451443" y="6355551"/>
              <a:ext cx="85713" cy="8636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19" name="直接连接符 118"/>
            <p:cNvCxnSpPr/>
            <p:nvPr/>
          </p:nvCxnSpPr>
          <p:spPr>
            <a:xfrm>
              <a:off x="175352" y="6092943"/>
              <a:ext cx="7331608" cy="0"/>
            </a:xfrm>
            <a:prstGeom prst="line">
              <a:avLst/>
            </a:prstGeom>
            <a:ln w="190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>
              <a:off x="175352" y="6192150"/>
              <a:ext cx="7331608" cy="0"/>
            </a:xfrm>
            <a:prstGeom prst="line">
              <a:avLst/>
            </a:prstGeom>
            <a:ln w="1905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椭圆 120"/>
            <p:cNvSpPr/>
            <p:nvPr/>
          </p:nvSpPr>
          <p:spPr>
            <a:xfrm>
              <a:off x="4475271" y="6055594"/>
              <a:ext cx="87299" cy="8636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2" name="椭圆 121"/>
            <p:cNvSpPr/>
            <p:nvPr/>
          </p:nvSpPr>
          <p:spPr>
            <a:xfrm>
              <a:off x="5451443" y="6145464"/>
              <a:ext cx="85713" cy="8636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>
              <a:off x="3916552" y="6395234"/>
              <a:ext cx="1569811" cy="103876"/>
            </a:xfrm>
            <a:custGeom>
              <a:avLst/>
              <a:gdLst>
                <a:gd name="connsiteX0" fmla="*/ 0 w 1570008"/>
                <a:gd name="connsiteY0" fmla="*/ 103517 h 103517"/>
                <a:gd name="connsiteX1" fmla="*/ 1570008 w 1570008"/>
                <a:gd name="connsiteY1" fmla="*/ 0 h 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08" h="103517">
                  <a:moveTo>
                    <a:pt x="0" y="103517"/>
                  </a:moveTo>
                  <a:lnTo>
                    <a:pt x="157000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>
              <a:off x="4149880" y="6308865"/>
              <a:ext cx="1346006" cy="78199"/>
            </a:xfrm>
            <a:custGeom>
              <a:avLst/>
              <a:gdLst>
                <a:gd name="connsiteX0" fmla="*/ 1345721 w 1345721"/>
                <a:gd name="connsiteY0" fmla="*/ 77637 h 77637"/>
                <a:gd name="connsiteX1" fmla="*/ 0 w 1345721"/>
                <a:gd name="connsiteY1" fmla="*/ 0 h 7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45721" h="77637">
                  <a:moveTo>
                    <a:pt x="1345721" y="77637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>
              <a:off x="4132421" y="6206156"/>
              <a:ext cx="1363466" cy="112046"/>
            </a:xfrm>
            <a:custGeom>
              <a:avLst/>
              <a:gdLst>
                <a:gd name="connsiteX0" fmla="*/ 0 w 1362974"/>
                <a:gd name="connsiteY0" fmla="*/ 112143 h 112143"/>
                <a:gd name="connsiteX1" fmla="*/ 1362974 w 1362974"/>
                <a:gd name="connsiteY1" fmla="*/ 0 h 1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62974" h="112143">
                  <a:moveTo>
                    <a:pt x="0" y="112143"/>
                  </a:moveTo>
                  <a:lnTo>
                    <a:pt x="136297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0" name="任意多边形 129"/>
            <p:cNvSpPr/>
            <p:nvPr/>
          </p:nvSpPr>
          <p:spPr>
            <a:xfrm>
              <a:off x="4537174" y="6094109"/>
              <a:ext cx="949188" cy="86369"/>
            </a:xfrm>
            <a:custGeom>
              <a:avLst/>
              <a:gdLst>
                <a:gd name="connsiteX0" fmla="*/ 948906 w 948906"/>
                <a:gd name="connsiteY0" fmla="*/ 86265 h 86265"/>
                <a:gd name="connsiteX1" fmla="*/ 0 w 948906"/>
                <a:gd name="connsiteY1" fmla="*/ 0 h 8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8906" h="86265">
                  <a:moveTo>
                    <a:pt x="948906" y="8626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cxnSp>
        <p:nvCxnSpPr>
          <p:cNvPr id="142" name="直接箭头连接符 141"/>
          <p:cNvCxnSpPr/>
          <p:nvPr/>
        </p:nvCxnSpPr>
        <p:spPr>
          <a:xfrm flipV="1">
            <a:off x="2983060" y="4310063"/>
            <a:ext cx="0" cy="247015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矩形 142"/>
          <p:cNvSpPr>
            <a:spLocks noChangeArrowheads="1"/>
          </p:cNvSpPr>
          <p:nvPr/>
        </p:nvSpPr>
        <p:spPr bwMode="auto">
          <a:xfrm>
            <a:off x="2997348" y="4111625"/>
            <a:ext cx="319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zh-CN" altLang="en-US" sz="2800" i="1">
              <a:solidFill>
                <a:schemeClr val="tx1"/>
              </a:solidFill>
            </a:endParaRPr>
          </a:p>
        </p:txBody>
      </p:sp>
      <p:sp>
        <p:nvSpPr>
          <p:cNvPr id="102" name="Freeform 42"/>
          <p:cNvSpPr>
            <a:spLocks/>
          </p:cNvSpPr>
          <p:nvPr/>
        </p:nvSpPr>
        <p:spPr bwMode="auto">
          <a:xfrm rot="16200000">
            <a:off x="948679" y="5137944"/>
            <a:ext cx="2327275" cy="969963"/>
          </a:xfrm>
          <a:custGeom>
            <a:avLst/>
            <a:gdLst>
              <a:gd name="T0" fmla="*/ 0 w 9253"/>
              <a:gd name="T1" fmla="*/ 2147483646 h 10000"/>
              <a:gd name="T2" fmla="*/ 2147483646 w 9253"/>
              <a:gd name="T3" fmla="*/ 2147483646 h 10000"/>
              <a:gd name="T4" fmla="*/ 2147483646 w 9253"/>
              <a:gd name="T5" fmla="*/ 2147483646 h 10000"/>
              <a:gd name="T6" fmla="*/ 2147483646 w 9253"/>
              <a:gd name="T7" fmla="*/ 2147483646 h 10000"/>
              <a:gd name="T8" fmla="*/ 2147483646 w 9253"/>
              <a:gd name="T9" fmla="*/ 2147483646 h 10000"/>
              <a:gd name="T10" fmla="*/ 2147483646 w 9253"/>
              <a:gd name="T11" fmla="*/ 2147483646 h 10000"/>
              <a:gd name="T12" fmla="*/ 2147483646 w 9253"/>
              <a:gd name="T13" fmla="*/ 2147483646 h 10000"/>
              <a:gd name="T14" fmla="*/ 2147483646 w 9253"/>
              <a:gd name="T15" fmla="*/ 2147483646 h 10000"/>
              <a:gd name="T16" fmla="*/ 2147483646 w 9253"/>
              <a:gd name="T17" fmla="*/ 2147483646 h 10000"/>
              <a:gd name="T18" fmla="*/ 2147483646 w 9253"/>
              <a:gd name="T19" fmla="*/ 2147483646 h 10000"/>
              <a:gd name="T20" fmla="*/ 2147483646 w 9253"/>
              <a:gd name="T21" fmla="*/ 2147483646 h 10000"/>
              <a:gd name="T22" fmla="*/ 2147483646 w 9253"/>
              <a:gd name="T23" fmla="*/ 2147483646 h 100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253" h="10000">
                <a:moveTo>
                  <a:pt x="0" y="9520"/>
                </a:moveTo>
                <a:cubicBezTo>
                  <a:pt x="188" y="9641"/>
                  <a:pt x="192" y="9777"/>
                  <a:pt x="369" y="9843"/>
                </a:cubicBezTo>
                <a:cubicBezTo>
                  <a:pt x="552" y="9908"/>
                  <a:pt x="849" y="10110"/>
                  <a:pt x="1040" y="9924"/>
                </a:cubicBezTo>
                <a:cubicBezTo>
                  <a:pt x="1241" y="9737"/>
                  <a:pt x="1203" y="9918"/>
                  <a:pt x="1565" y="8713"/>
                </a:cubicBezTo>
                <a:cubicBezTo>
                  <a:pt x="1930" y="7508"/>
                  <a:pt x="2730" y="4155"/>
                  <a:pt x="3209" y="2704"/>
                </a:cubicBezTo>
                <a:cubicBezTo>
                  <a:pt x="3683" y="1251"/>
                  <a:pt x="3952" y="-4"/>
                  <a:pt x="4398" y="1"/>
                </a:cubicBezTo>
                <a:cubicBezTo>
                  <a:pt x="4851" y="6"/>
                  <a:pt x="5383" y="1237"/>
                  <a:pt x="5896" y="2743"/>
                </a:cubicBezTo>
                <a:cubicBezTo>
                  <a:pt x="6412" y="4251"/>
                  <a:pt x="7165" y="7882"/>
                  <a:pt x="7462" y="9036"/>
                </a:cubicBezTo>
                <a:cubicBezTo>
                  <a:pt x="7758" y="10191"/>
                  <a:pt x="7581" y="9535"/>
                  <a:pt x="7689" y="9681"/>
                </a:cubicBezTo>
                <a:cubicBezTo>
                  <a:pt x="7792" y="9828"/>
                  <a:pt x="7873" y="9929"/>
                  <a:pt x="8056" y="9924"/>
                </a:cubicBezTo>
                <a:cubicBezTo>
                  <a:pt x="8247" y="9918"/>
                  <a:pt x="8608" y="9777"/>
                  <a:pt x="8806" y="9641"/>
                </a:cubicBezTo>
                <a:cubicBezTo>
                  <a:pt x="9002" y="9505"/>
                  <a:pt x="9104" y="9213"/>
                  <a:pt x="9253" y="9117"/>
                </a:cubicBezTo>
              </a:path>
            </a:pathLst>
          </a:custGeom>
          <a:noFill/>
          <a:ln w="38100" cmpd="sng">
            <a:solidFill>
              <a:srgbClr val="92D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156440" y="5478046"/>
            <a:ext cx="713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b="1" dirty="0"/>
              <a:t>Δφ</a:t>
            </a:r>
            <a:r>
              <a:rPr lang="en-US" sz="1600" b="1" dirty="0"/>
              <a:t>=0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168995" y="5178594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b="1" dirty="0"/>
              <a:t>Δφ</a:t>
            </a:r>
            <a:r>
              <a:rPr lang="en-US" sz="1600" b="1" dirty="0"/>
              <a:t>=2</a:t>
            </a:r>
            <a:r>
              <a:rPr lang="el-GR" sz="1600" b="1" dirty="0"/>
              <a:t>π</a:t>
            </a:r>
            <a:endParaRPr lang="en-US" sz="16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146463" y="5745162"/>
            <a:ext cx="939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b="1" dirty="0"/>
              <a:t>Δφ</a:t>
            </a:r>
            <a:r>
              <a:rPr lang="en-US" sz="1600" b="1" dirty="0"/>
              <a:t>=-2</a:t>
            </a:r>
            <a:r>
              <a:rPr lang="el-GR" sz="1600" b="1" dirty="0"/>
              <a:t>π</a:t>
            </a:r>
            <a:endParaRPr lang="en-US" sz="16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127684" y="6039852"/>
            <a:ext cx="9396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b="1" dirty="0"/>
              <a:t>Δφ</a:t>
            </a:r>
            <a:r>
              <a:rPr lang="en-US" sz="1600" b="1" dirty="0"/>
              <a:t>=-4</a:t>
            </a:r>
            <a:r>
              <a:rPr lang="el-GR" sz="1600" b="1" dirty="0"/>
              <a:t>π</a:t>
            </a:r>
            <a:endParaRPr lang="en-US" sz="1600" b="1" dirty="0"/>
          </a:p>
          <a:p>
            <a:r>
              <a:rPr lang="en-US" sz="1600" b="1" dirty="0"/>
              <a:t>    ……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168995" y="4673968"/>
            <a:ext cx="870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    ……</a:t>
            </a:r>
          </a:p>
          <a:p>
            <a:r>
              <a:rPr lang="el-GR" sz="1600" b="1" dirty="0"/>
              <a:t>Δφ</a:t>
            </a:r>
            <a:r>
              <a:rPr lang="en-US" sz="1600" b="1" dirty="0"/>
              <a:t>=4</a:t>
            </a:r>
            <a:r>
              <a:rPr lang="el-GR" sz="1600" b="1" dirty="0"/>
              <a:t>π</a:t>
            </a:r>
            <a:endParaRPr lang="en-US" sz="1600" b="1" dirty="0"/>
          </a:p>
        </p:txBody>
      </p:sp>
      <p:graphicFrame>
        <p:nvGraphicFramePr>
          <p:cNvPr id="111" name="Object 60">
            <a:extLst>
              <a:ext uri="{FF2B5EF4-FFF2-40B4-BE49-F238E27FC236}">
                <a16:creationId xmlns:a16="http://schemas.microsoft.com/office/drawing/2014/main" id="{007DCA9B-B774-45D9-A943-3EF4BAE042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32298"/>
              </p:ext>
            </p:extLst>
          </p:nvPr>
        </p:nvGraphicFramePr>
        <p:xfrm>
          <a:off x="5024438" y="4273550"/>
          <a:ext cx="20891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7" name="Equation" r:id="rId6" imgW="2057400" imgH="647640" progId="Equation.DSMT4">
                  <p:embed/>
                </p:oleObj>
              </mc:Choice>
              <mc:Fallback>
                <p:oleObj name="Equation" r:id="rId6" imgW="2057400" imgH="647640" progId="Equation.DSMT4">
                  <p:embed/>
                  <p:pic>
                    <p:nvPicPr>
                      <p:cNvPr id="35869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4438" y="4273550"/>
                        <a:ext cx="20891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3399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7" grpId="0" animBg="1"/>
      <p:bldP spid="38" grpId="0" animBg="1"/>
      <p:bldP spid="39" grpId="0" animBg="1"/>
      <p:bldP spid="47" grpId="0" animBg="1"/>
      <p:bldP spid="61" grpId="0" animBg="1"/>
      <p:bldP spid="79" grpId="0"/>
      <p:bldP spid="85" grpId="0"/>
      <p:bldP spid="134" grpId="0" animBg="1"/>
      <p:bldP spid="136" grpId="0" animBg="1"/>
      <p:bldP spid="138" grpId="0"/>
      <p:bldP spid="141" grpId="0"/>
      <p:bldP spid="88" grpId="0" animBg="1"/>
      <p:bldP spid="90" grpId="0" animBg="1"/>
      <p:bldP spid="93" grpId="0" animBg="1"/>
      <p:bldP spid="95" grpId="0" animBg="1"/>
      <p:bldP spid="97" grpId="0" animBg="1"/>
      <p:bldP spid="100" grpId="0" animBg="1"/>
      <p:bldP spid="101" grpId="0" animBg="1"/>
      <p:bldP spid="143" grpId="0"/>
      <p:bldP spid="102" grpId="0" animBg="1"/>
      <p:bldP spid="3" grpId="0"/>
      <p:bldP spid="103" grpId="0"/>
      <p:bldP spid="104" grpId="0"/>
      <p:bldP spid="105" grpId="0"/>
      <p:bldP spid="10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787400" y="2325688"/>
            <a:ext cx="1066800" cy="2133600"/>
            <a:chOff x="480" y="1494"/>
            <a:chExt cx="672" cy="1386"/>
          </a:xfrm>
        </p:grpSpPr>
        <p:sp>
          <p:nvSpPr>
            <p:cNvPr id="38961" name="Line 3"/>
            <p:cNvSpPr>
              <a:spLocks noChangeShapeType="1"/>
            </p:cNvSpPr>
            <p:nvPr/>
          </p:nvSpPr>
          <p:spPr bwMode="auto">
            <a:xfrm>
              <a:off x="480" y="2400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2" name="Line 4"/>
            <p:cNvSpPr>
              <a:spLocks noChangeShapeType="1"/>
            </p:cNvSpPr>
            <p:nvPr/>
          </p:nvSpPr>
          <p:spPr bwMode="auto">
            <a:xfrm>
              <a:off x="480" y="2880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3" name="Line 5"/>
            <p:cNvSpPr>
              <a:spLocks noChangeShapeType="1"/>
            </p:cNvSpPr>
            <p:nvPr/>
          </p:nvSpPr>
          <p:spPr bwMode="auto">
            <a:xfrm>
              <a:off x="480" y="1494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4" name="Line 6"/>
            <p:cNvSpPr>
              <a:spLocks noChangeShapeType="1"/>
            </p:cNvSpPr>
            <p:nvPr/>
          </p:nvSpPr>
          <p:spPr bwMode="auto">
            <a:xfrm>
              <a:off x="480" y="2022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15" name="组合 49"/>
          <p:cNvGrpSpPr>
            <a:grpSpLocks/>
          </p:cNvGrpSpPr>
          <p:nvPr/>
        </p:nvGrpSpPr>
        <p:grpSpPr bwMode="auto">
          <a:xfrm>
            <a:off x="1854200" y="3316288"/>
            <a:ext cx="1295400" cy="1143000"/>
            <a:chOff x="1854474" y="3315509"/>
            <a:chExt cx="1295400" cy="1143000"/>
          </a:xfrm>
        </p:grpSpPr>
        <p:sp>
          <p:nvSpPr>
            <p:cNvPr id="38958" name="Line 8"/>
            <p:cNvSpPr>
              <a:spLocks noChangeShapeType="1"/>
            </p:cNvSpPr>
            <p:nvPr/>
          </p:nvSpPr>
          <p:spPr bwMode="auto">
            <a:xfrm flipV="1">
              <a:off x="1854474" y="3315509"/>
              <a:ext cx="1295400" cy="381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9" name="Line 9"/>
            <p:cNvSpPr>
              <a:spLocks noChangeShapeType="1"/>
            </p:cNvSpPr>
            <p:nvPr/>
          </p:nvSpPr>
          <p:spPr bwMode="auto">
            <a:xfrm flipV="1">
              <a:off x="1930674" y="4077509"/>
              <a:ext cx="1219200" cy="381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0" name="Line 10"/>
            <p:cNvSpPr>
              <a:spLocks noChangeShapeType="1"/>
            </p:cNvSpPr>
            <p:nvPr/>
          </p:nvSpPr>
          <p:spPr bwMode="auto">
            <a:xfrm flipV="1">
              <a:off x="1854474" y="3696509"/>
              <a:ext cx="1295400" cy="381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16" name="组合 48"/>
          <p:cNvGrpSpPr>
            <a:grpSpLocks/>
          </p:cNvGrpSpPr>
          <p:nvPr/>
        </p:nvGrpSpPr>
        <p:grpSpPr bwMode="auto">
          <a:xfrm>
            <a:off x="1854200" y="1878013"/>
            <a:ext cx="1371600" cy="1219200"/>
            <a:chOff x="1854474" y="1877234"/>
            <a:chExt cx="1371600" cy="1219200"/>
          </a:xfrm>
        </p:grpSpPr>
        <p:sp>
          <p:nvSpPr>
            <p:cNvPr id="38955" name="Line 11"/>
            <p:cNvSpPr>
              <a:spLocks noChangeShapeType="1"/>
            </p:cNvSpPr>
            <p:nvPr/>
          </p:nvSpPr>
          <p:spPr bwMode="auto">
            <a:xfrm flipV="1">
              <a:off x="1854474" y="1877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6" name="Line 12"/>
            <p:cNvSpPr>
              <a:spLocks noChangeShapeType="1"/>
            </p:cNvSpPr>
            <p:nvPr/>
          </p:nvSpPr>
          <p:spPr bwMode="auto">
            <a:xfrm flipV="1">
              <a:off x="1854474" y="2639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7" name="Line 13"/>
            <p:cNvSpPr>
              <a:spLocks noChangeShapeType="1"/>
            </p:cNvSpPr>
            <p:nvPr/>
          </p:nvSpPr>
          <p:spPr bwMode="auto">
            <a:xfrm flipV="1">
              <a:off x="1854474" y="2258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17" name="组合 51"/>
          <p:cNvGrpSpPr>
            <a:grpSpLocks/>
          </p:cNvGrpSpPr>
          <p:nvPr/>
        </p:nvGrpSpPr>
        <p:grpSpPr bwMode="auto">
          <a:xfrm>
            <a:off x="3294063" y="2097088"/>
            <a:ext cx="3516312" cy="1981200"/>
            <a:chOff x="3294336" y="2096309"/>
            <a:chExt cx="3515995" cy="1981200"/>
          </a:xfrm>
        </p:grpSpPr>
        <p:sp>
          <p:nvSpPr>
            <p:cNvPr id="38952" name="Line 15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515995" cy="1143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3" name="Line 16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444240" cy="1524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4" name="Line 17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444240" cy="19812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18" name="组合 50"/>
          <p:cNvGrpSpPr>
            <a:grpSpLocks/>
          </p:cNvGrpSpPr>
          <p:nvPr/>
        </p:nvGrpSpPr>
        <p:grpSpPr bwMode="auto">
          <a:xfrm>
            <a:off x="3294063" y="1878013"/>
            <a:ext cx="3587750" cy="838200"/>
            <a:chOff x="3294336" y="1877234"/>
            <a:chExt cx="3587750" cy="838200"/>
          </a:xfrm>
        </p:grpSpPr>
        <p:sp>
          <p:nvSpPr>
            <p:cNvPr id="38949" name="Line 18"/>
            <p:cNvSpPr>
              <a:spLocks noChangeShapeType="1"/>
            </p:cNvSpPr>
            <p:nvPr/>
          </p:nvSpPr>
          <p:spPr bwMode="auto">
            <a:xfrm flipV="1">
              <a:off x="3294336" y="2105834"/>
              <a:ext cx="3587750" cy="152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0" name="Line 19"/>
            <p:cNvSpPr>
              <a:spLocks noChangeShapeType="1"/>
            </p:cNvSpPr>
            <p:nvPr/>
          </p:nvSpPr>
          <p:spPr bwMode="auto">
            <a:xfrm>
              <a:off x="3294336" y="1877234"/>
              <a:ext cx="3515995" cy="228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1" name="Line 20"/>
            <p:cNvSpPr>
              <a:spLocks noChangeShapeType="1"/>
            </p:cNvSpPr>
            <p:nvPr/>
          </p:nvSpPr>
          <p:spPr bwMode="auto">
            <a:xfrm flipV="1">
              <a:off x="3294336" y="2105834"/>
              <a:ext cx="3515995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919" name="Text Box 21"/>
          <p:cNvSpPr txBox="1">
            <a:spLocks noChangeArrowheads="1"/>
          </p:cNvSpPr>
          <p:nvPr/>
        </p:nvSpPr>
        <p:spPr bwMode="auto">
          <a:xfrm>
            <a:off x="6497638" y="1639888"/>
            <a:ext cx="401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8920" name="Group 22"/>
          <p:cNvGrpSpPr>
            <a:grpSpLocks/>
          </p:cNvGrpSpPr>
          <p:nvPr/>
        </p:nvGrpSpPr>
        <p:grpSpPr bwMode="auto">
          <a:xfrm>
            <a:off x="1854200" y="833438"/>
            <a:ext cx="5040313" cy="5222875"/>
            <a:chOff x="1152" y="576"/>
            <a:chExt cx="3360" cy="3312"/>
          </a:xfrm>
        </p:grpSpPr>
        <p:sp>
          <p:nvSpPr>
            <p:cNvPr id="38942" name="Line 23"/>
            <p:cNvSpPr>
              <a:spLocks noChangeShapeType="1"/>
            </p:cNvSpPr>
            <p:nvPr/>
          </p:nvSpPr>
          <p:spPr bwMode="auto">
            <a:xfrm>
              <a:off x="1152" y="816"/>
              <a:ext cx="0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3" name="Line 24"/>
            <p:cNvSpPr>
              <a:spLocks noChangeShapeType="1"/>
            </p:cNvSpPr>
            <p:nvPr/>
          </p:nvSpPr>
          <p:spPr bwMode="auto">
            <a:xfrm>
              <a:off x="1152" y="2880"/>
              <a:ext cx="0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1968" y="927"/>
              <a:ext cx="144" cy="2544"/>
            </a:xfrm>
            <a:prstGeom prst="ellipse">
              <a:avLst/>
            </a:prstGeom>
            <a:solidFill>
              <a:srgbClr val="00FFFF"/>
            </a:soli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947" name="Line 26"/>
            <p:cNvSpPr>
              <a:spLocks noChangeShapeType="1"/>
            </p:cNvSpPr>
            <p:nvPr/>
          </p:nvSpPr>
          <p:spPr bwMode="auto">
            <a:xfrm>
              <a:off x="4512" y="576"/>
              <a:ext cx="0" cy="3312"/>
            </a:xfrm>
            <a:prstGeom prst="line">
              <a:avLst/>
            </a:prstGeom>
            <a:noFill/>
            <a:ln w="762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8" name="Line 27"/>
            <p:cNvSpPr>
              <a:spLocks noChangeShapeType="1"/>
            </p:cNvSpPr>
            <p:nvPr/>
          </p:nvSpPr>
          <p:spPr bwMode="auto">
            <a:xfrm>
              <a:off x="1152" y="201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21" name="Group 29"/>
          <p:cNvGrpSpPr>
            <a:grpSpLocks/>
          </p:cNvGrpSpPr>
          <p:nvPr/>
        </p:nvGrpSpPr>
        <p:grpSpPr bwMode="auto">
          <a:xfrm>
            <a:off x="1016000" y="2325688"/>
            <a:ext cx="266700" cy="762000"/>
            <a:chOff x="624" y="1536"/>
            <a:chExt cx="168" cy="480"/>
          </a:xfrm>
        </p:grpSpPr>
        <p:sp>
          <p:nvSpPr>
            <p:cNvPr id="38940" name="Line 30"/>
            <p:cNvSpPr>
              <a:spLocks noChangeShapeType="1"/>
            </p:cNvSpPr>
            <p:nvPr/>
          </p:nvSpPr>
          <p:spPr bwMode="auto">
            <a:xfrm>
              <a:off x="624" y="1536"/>
              <a:ext cx="0" cy="48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1" name="Rectangle 31"/>
            <p:cNvSpPr>
              <a:spLocks noChangeArrowheads="1"/>
            </p:cNvSpPr>
            <p:nvPr/>
          </p:nvSpPr>
          <p:spPr bwMode="auto">
            <a:xfrm>
              <a:off x="672" y="1623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22" name="Group 32"/>
          <p:cNvGrpSpPr>
            <a:grpSpLocks/>
          </p:cNvGrpSpPr>
          <p:nvPr/>
        </p:nvGrpSpPr>
        <p:grpSpPr bwMode="auto">
          <a:xfrm>
            <a:off x="390525" y="2325688"/>
            <a:ext cx="396875" cy="1371600"/>
            <a:chOff x="230" y="1536"/>
            <a:chExt cx="250" cy="864"/>
          </a:xfrm>
        </p:grpSpPr>
        <p:sp>
          <p:nvSpPr>
            <p:cNvPr id="38938" name="Line 33"/>
            <p:cNvSpPr>
              <a:spLocks noChangeShapeType="1"/>
            </p:cNvSpPr>
            <p:nvPr/>
          </p:nvSpPr>
          <p:spPr bwMode="auto">
            <a:xfrm>
              <a:off x="480" y="1536"/>
              <a:ext cx="0" cy="86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9" name="Text Box 34"/>
            <p:cNvSpPr txBox="1">
              <a:spLocks noChangeArrowheads="1"/>
            </p:cNvSpPr>
            <p:nvPr/>
          </p:nvSpPr>
          <p:spPr bwMode="auto">
            <a:xfrm>
              <a:off x="230" y="17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23" name="Group 35"/>
          <p:cNvGrpSpPr>
            <a:grpSpLocks/>
          </p:cNvGrpSpPr>
          <p:nvPr/>
        </p:nvGrpSpPr>
        <p:grpSpPr bwMode="auto">
          <a:xfrm>
            <a:off x="1244600" y="3087688"/>
            <a:ext cx="336550" cy="609600"/>
            <a:chOff x="768" y="2016"/>
            <a:chExt cx="212" cy="384"/>
          </a:xfrm>
        </p:grpSpPr>
        <p:sp>
          <p:nvSpPr>
            <p:cNvPr id="38936" name="Line 36"/>
            <p:cNvSpPr>
              <a:spLocks noChangeShapeType="1"/>
            </p:cNvSpPr>
            <p:nvPr/>
          </p:nvSpPr>
          <p:spPr bwMode="auto">
            <a:xfrm>
              <a:off x="768" y="2016"/>
              <a:ext cx="0" cy="38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7" name="Text Box 37"/>
            <p:cNvSpPr txBox="1">
              <a:spLocks noChangeArrowheads="1"/>
            </p:cNvSpPr>
            <p:nvPr/>
          </p:nvSpPr>
          <p:spPr bwMode="auto">
            <a:xfrm>
              <a:off x="768" y="20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8924" name="Line 38"/>
          <p:cNvSpPr>
            <a:spLocks noChangeShapeType="1"/>
          </p:cNvSpPr>
          <p:nvPr/>
        </p:nvSpPr>
        <p:spPr bwMode="auto">
          <a:xfrm flipH="1">
            <a:off x="635000" y="2325688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5" name="Line 39"/>
          <p:cNvSpPr>
            <a:spLocks noChangeShapeType="1"/>
          </p:cNvSpPr>
          <p:nvPr/>
        </p:nvSpPr>
        <p:spPr bwMode="auto">
          <a:xfrm flipH="1">
            <a:off x="711200" y="3101975"/>
            <a:ext cx="1219200" cy="1588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6" name="Line 40"/>
          <p:cNvSpPr>
            <a:spLocks noChangeShapeType="1"/>
          </p:cNvSpPr>
          <p:nvPr/>
        </p:nvSpPr>
        <p:spPr bwMode="auto">
          <a:xfrm flipH="1">
            <a:off x="635000" y="3697288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8927" name="Group 41"/>
          <p:cNvGrpSpPr>
            <a:grpSpLocks/>
          </p:cNvGrpSpPr>
          <p:nvPr/>
        </p:nvGrpSpPr>
        <p:grpSpPr bwMode="auto">
          <a:xfrm>
            <a:off x="254000" y="4687888"/>
            <a:ext cx="1243013" cy="471487"/>
            <a:chOff x="11" y="2976"/>
            <a:chExt cx="792" cy="297"/>
          </a:xfrm>
        </p:grpSpPr>
        <p:sp>
          <p:nvSpPr>
            <p:cNvPr id="38931" name="Rectangle 42"/>
            <p:cNvSpPr>
              <a:spLocks noChangeArrowheads="1"/>
            </p:cNvSpPr>
            <p:nvPr/>
          </p:nvSpPr>
          <p:spPr bwMode="auto">
            <a:xfrm>
              <a:off x="689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2" name="Rectangle 43"/>
            <p:cNvSpPr>
              <a:spLocks noChangeArrowheads="1"/>
            </p:cNvSpPr>
            <p:nvPr/>
          </p:nvSpPr>
          <p:spPr bwMode="auto">
            <a:xfrm>
              <a:off x="369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3" name="Rectangle 44"/>
            <p:cNvSpPr>
              <a:spLocks noChangeArrowheads="1"/>
            </p:cNvSpPr>
            <p:nvPr/>
          </p:nvSpPr>
          <p:spPr bwMode="auto">
            <a:xfrm>
              <a:off x="11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4" name="Rectangle 45"/>
            <p:cNvSpPr>
              <a:spLocks noChangeArrowheads="1"/>
            </p:cNvSpPr>
            <p:nvPr/>
          </p:nvSpPr>
          <p:spPr bwMode="auto">
            <a:xfrm>
              <a:off x="524" y="2976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+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5" name="Rectangle 46"/>
            <p:cNvSpPr>
              <a:spLocks noChangeArrowheads="1"/>
            </p:cNvSpPr>
            <p:nvPr/>
          </p:nvSpPr>
          <p:spPr bwMode="auto">
            <a:xfrm>
              <a:off x="194" y="2976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=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cxnSp>
        <p:nvCxnSpPr>
          <p:cNvPr id="48" name="直接连接符 47"/>
          <p:cNvCxnSpPr/>
          <p:nvPr/>
        </p:nvCxnSpPr>
        <p:spPr>
          <a:xfrm>
            <a:off x="381000" y="3394075"/>
            <a:ext cx="8558213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929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675" y="1524000"/>
            <a:ext cx="1608138" cy="3773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30" name="Rectangle 2"/>
          <p:cNvSpPr>
            <a:spLocks noChangeArrowheads="1"/>
          </p:cNvSpPr>
          <p:nvPr/>
        </p:nvSpPr>
        <p:spPr bwMode="auto">
          <a:xfrm>
            <a:off x="234950" y="215900"/>
            <a:ext cx="2619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双缝衍射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90DDE67A-BB41-4019-A528-38E362885B97}"/>
              </a:ext>
            </a:extLst>
          </p:cNvPr>
          <p:cNvGrpSpPr/>
          <p:nvPr/>
        </p:nvGrpSpPr>
        <p:grpSpPr>
          <a:xfrm>
            <a:off x="4988847" y="3970545"/>
            <a:ext cx="2801911" cy="2097088"/>
            <a:chOff x="4988847" y="3970545"/>
            <a:chExt cx="2801911" cy="2097088"/>
          </a:xfrm>
        </p:grpSpPr>
        <p:pic>
          <p:nvPicPr>
            <p:cNvPr id="39954" name="图片 3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8847" y="3970545"/>
              <a:ext cx="2801911" cy="2097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矩形 32"/>
            <p:cNvSpPr/>
            <p:nvPr/>
          </p:nvSpPr>
          <p:spPr>
            <a:xfrm>
              <a:off x="7186721" y="4910189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endPara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938" name="Text Box 49"/>
          <p:cNvSpPr txBox="1">
            <a:spLocks noChangeArrowheads="1"/>
          </p:cNvSpPr>
          <p:nvPr/>
        </p:nvSpPr>
        <p:spPr bwMode="auto">
          <a:xfrm>
            <a:off x="174624" y="68263"/>
            <a:ext cx="89693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将</a:t>
            </a:r>
            <a:r>
              <a:rPr kumimoji="1"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双缝干涉</a:t>
            </a: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与</a:t>
            </a:r>
            <a:r>
              <a:rPr kumimoji="1"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单缝衍射</a:t>
            </a: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结合考虑</a:t>
            </a: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(</a:t>
            </a:r>
            <a:r>
              <a:rPr kumimoji="1"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单缝衍射</a:t>
            </a:r>
            <a:r>
              <a:rPr kumimoji="1"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+</a:t>
            </a:r>
            <a:r>
              <a:rPr kumimoji="1"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双缝干涉</a:t>
            </a: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)</a:t>
            </a:r>
            <a:endParaRPr kumimoji="1" lang="zh-CN" altLang="en-US" sz="2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21" name="矩形 4"/>
          <p:cNvSpPr>
            <a:spLocks noChangeArrowheads="1"/>
          </p:cNvSpPr>
          <p:nvPr/>
        </p:nvSpPr>
        <p:spPr bwMode="auto">
          <a:xfrm>
            <a:off x="147638" y="619125"/>
            <a:ext cx="87382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1.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光强为</a:t>
            </a:r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en-US" altLang="zh-CN" sz="28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的单色平行光，经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单缝衍射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之后的光强分布</a:t>
            </a:r>
            <a:endParaRPr kumimoji="1"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2" name="Object 34"/>
          <p:cNvGraphicFramePr>
            <a:graphicFrameLocks noChangeAspect="1"/>
          </p:cNvGraphicFramePr>
          <p:nvPr/>
        </p:nvGraphicFramePr>
        <p:xfrm>
          <a:off x="3217863" y="1171575"/>
          <a:ext cx="163195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83" name="MathType 6.0 Equation" r:id="rId4" imgW="1548728" imgH="672808" progId="Equation.DSMT4">
                  <p:embed/>
                </p:oleObj>
              </mc:Choice>
              <mc:Fallback>
                <p:oleObj name="MathType 6.0 Equation" r:id="rId4" imgW="1548728" imgH="672808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3" y="1171575"/>
                        <a:ext cx="163195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4"/>
          <p:cNvGraphicFramePr>
            <a:graphicFrameLocks noChangeAspect="1"/>
          </p:cNvGraphicFramePr>
          <p:nvPr/>
        </p:nvGraphicFramePr>
        <p:xfrm>
          <a:off x="354013" y="1136650"/>
          <a:ext cx="25685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84" name="MathType 6.0 Equation" r:id="rId6" imgW="2438400" imgH="673100" progId="Equation.DSMT4">
                  <p:embed/>
                </p:oleObj>
              </mc:Choice>
              <mc:Fallback>
                <p:oleObj name="MathType 6.0 Equation" r:id="rId6" imgW="2438400" imgH="6731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1136650"/>
                        <a:ext cx="256857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4"/>
          <p:cNvSpPr>
            <a:spLocks noChangeArrowheads="1"/>
          </p:cNvSpPr>
          <p:nvPr/>
        </p:nvSpPr>
        <p:spPr bwMode="auto">
          <a:xfrm>
            <a:off x="174625" y="1808576"/>
            <a:ext cx="307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对应光矢量的振幅</a:t>
            </a:r>
            <a:endParaRPr kumimoji="1"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38824"/>
              </p:ext>
            </p:extLst>
          </p:nvPr>
        </p:nvGraphicFramePr>
        <p:xfrm>
          <a:off x="354013" y="2281634"/>
          <a:ext cx="18319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85" name="Equation" r:id="rId8" imgW="1739880" imgH="672840" progId="Equation.DSMT4">
                  <p:embed/>
                </p:oleObj>
              </mc:Choice>
              <mc:Fallback>
                <p:oleObj name="Equation" r:id="rId8" imgW="1739880" imgH="67284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2281634"/>
                        <a:ext cx="183197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4"/>
          <p:cNvSpPr>
            <a:spLocks noChangeArrowheads="1"/>
          </p:cNvSpPr>
          <p:nvPr/>
        </p:nvSpPr>
        <p:spPr bwMode="auto">
          <a:xfrm>
            <a:off x="247304" y="3687295"/>
            <a:ext cx="82502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2.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对于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双缝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的情况，单色平行光分别经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两单缝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衍射，</a:t>
            </a:r>
            <a:endParaRPr kumimoji="1"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7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956667"/>
              </p:ext>
            </p:extLst>
          </p:nvPr>
        </p:nvGraphicFramePr>
        <p:xfrm>
          <a:off x="1492163" y="4832578"/>
          <a:ext cx="27543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86" name="MathType 6.0 Equation" r:id="rId10" imgW="2616200" imgH="673100" progId="Equation.DSMT4">
                  <p:embed/>
                </p:oleObj>
              </mc:Choice>
              <mc:Fallback>
                <p:oleObj name="MathType 6.0 Equation" r:id="rId10" imgW="2616200" imgH="6731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163" y="4832578"/>
                        <a:ext cx="275431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5214938" y="1042988"/>
            <a:ext cx="3929062" cy="2106612"/>
            <a:chOff x="5215202" y="1043318"/>
            <a:chExt cx="3928798" cy="2107005"/>
          </a:xfrm>
        </p:grpSpPr>
        <p:grpSp>
          <p:nvGrpSpPr>
            <p:cNvPr id="39957" name="组合 33"/>
            <p:cNvGrpSpPr>
              <a:grpSpLocks noChangeAspect="1"/>
            </p:cNvGrpSpPr>
            <p:nvPr/>
          </p:nvGrpSpPr>
          <p:grpSpPr bwMode="auto">
            <a:xfrm>
              <a:off x="7976297" y="1043318"/>
              <a:ext cx="1167703" cy="2031870"/>
              <a:chOff x="7185150" y="954944"/>
              <a:chExt cx="1221317" cy="2031870"/>
            </a:xfrm>
          </p:grpSpPr>
          <p:pic>
            <p:nvPicPr>
              <p:cNvPr id="39959" name="图片 2"/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85150" y="1345921"/>
                <a:ext cx="1221317" cy="16170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5" name="直接箭头连接符 4"/>
              <p:cNvCxnSpPr/>
              <p:nvPr/>
            </p:nvCxnSpPr>
            <p:spPr>
              <a:xfrm flipV="1">
                <a:off x="7252575" y="1213754"/>
                <a:ext cx="0" cy="177356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961" name="文本框 32"/>
              <p:cNvSpPr txBox="1">
                <a:spLocks noChangeArrowheads="1"/>
              </p:cNvSpPr>
              <p:nvPr/>
            </p:nvSpPr>
            <p:spPr bwMode="auto">
              <a:xfrm>
                <a:off x="7188627" y="954944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zh-CN" altLang="en-US" sz="24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39958" name="图片 34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5202" y="1230381"/>
              <a:ext cx="2761095" cy="1919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49735"/>
              </p:ext>
            </p:extLst>
          </p:nvPr>
        </p:nvGraphicFramePr>
        <p:xfrm>
          <a:off x="351900" y="2961528"/>
          <a:ext cx="16192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87" name="Equation" r:id="rId14" imgW="1619177" imgH="685800" progId="Equation.DSMT4">
                  <p:embed/>
                </p:oleObj>
              </mc:Choice>
              <mc:Fallback>
                <p:oleObj name="Equation" r:id="rId14" imgW="1619177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51900" y="2961528"/>
                        <a:ext cx="161925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556977"/>
              </p:ext>
            </p:extLst>
          </p:nvPr>
        </p:nvGraphicFramePr>
        <p:xfrm>
          <a:off x="2033303" y="2969547"/>
          <a:ext cx="14605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88" name="Equation" r:id="rId16" imgW="1460160" imgH="749160" progId="Equation.DSMT4">
                  <p:embed/>
                </p:oleObj>
              </mc:Choice>
              <mc:Fallback>
                <p:oleObj name="Equation" r:id="rId16" imgW="146016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033303" y="2969547"/>
                        <a:ext cx="14605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7664143" y="167596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040374" y="2147242"/>
            <a:ext cx="2872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24D0EAB-43AC-4AC9-8ECE-75CBF35FB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021" y="4911516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光矢量</a:t>
            </a:r>
            <a:endParaRPr kumimoji="1" lang="en-US" altLang="zh-CN" sz="2800" b="1" dirty="0">
              <a:solidFill>
                <a:srgbClr val="0000CC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7D55391-9855-4BD8-A0A5-6E15658ADB73}"/>
              </a:ext>
            </a:extLst>
          </p:cNvPr>
          <p:cNvSpPr txBox="1"/>
          <p:nvPr/>
        </p:nvSpPr>
        <p:spPr>
          <a:xfrm>
            <a:off x="210021" y="4253111"/>
            <a:ext cx="5902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衍射图样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完全相同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且位置重合</a:t>
            </a:r>
            <a:endParaRPr lang="zh-CN" altLang="en-US" sz="28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95AE42B-E32B-4138-A082-7646925D11A3}"/>
              </a:ext>
            </a:extLst>
          </p:cNvPr>
          <p:cNvSpPr txBox="1"/>
          <p:nvPr/>
        </p:nvSpPr>
        <p:spPr>
          <a:xfrm>
            <a:off x="247304" y="5715224"/>
            <a:ext cx="77553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即为上缝和下缝分别在任意</a:t>
            </a:r>
            <a:endParaRPr kumimoji="1"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点引起的光振动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注意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将每个缝看成一个整体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800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C7CD82C4-03C4-4A3D-A587-5A4E8377AA22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3620" y="4311654"/>
            <a:ext cx="1115418" cy="1616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EE324E6D-2031-4427-A635-4C3A032C959C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auto">
          <a:xfrm>
            <a:off x="8032921" y="4311654"/>
            <a:ext cx="1115418" cy="1616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  <p:bldP spid="26" grpId="0"/>
      <p:bldP spid="7" grpId="0"/>
      <p:bldP spid="32" grpId="0"/>
      <p:bldP spid="34" grpId="0"/>
      <p:bldP spid="35" grpId="0"/>
      <p:bldP spid="3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892432"/>
              </p:ext>
            </p:extLst>
          </p:nvPr>
        </p:nvGraphicFramePr>
        <p:xfrm>
          <a:off x="1621127" y="3651185"/>
          <a:ext cx="1739900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0" name="MathType 6.0 Equation" r:id="rId3" imgW="1651000" imgH="317500" progId="Equation.DSMT4">
                  <p:embed/>
                </p:oleObj>
              </mc:Choice>
              <mc:Fallback>
                <p:oleObj name="MathType 6.0 Equation" r:id="rId3" imgW="1651000" imgH="317500" progId="Equation.DSMT4">
                  <p:embed/>
                  <p:pic>
                    <p:nvPicPr>
                      <p:cNvPr id="29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1127" y="3651185"/>
                        <a:ext cx="1739900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54302" y="3540060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光程差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graphicFrame>
        <p:nvGraphicFramePr>
          <p:cNvPr id="3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740442"/>
              </p:ext>
            </p:extLst>
          </p:nvPr>
        </p:nvGraphicFramePr>
        <p:xfrm>
          <a:off x="1673514" y="4168596"/>
          <a:ext cx="3273425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1" name="MathType 6.0 Equation" r:id="rId5" imgW="3416300" imgH="673100" progId="Equation.DSMT4">
                  <p:embed/>
                </p:oleObj>
              </mc:Choice>
              <mc:Fallback>
                <p:oleObj name="MathType 6.0 Equation" r:id="rId5" imgW="3416300" imgH="673100" progId="Equation.DSMT4">
                  <p:embed/>
                  <p:pic>
                    <p:nvPicPr>
                      <p:cNvPr id="3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514" y="4168596"/>
                        <a:ext cx="3273425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354302" y="4241621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位相差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grpSp>
        <p:nvGrpSpPr>
          <p:cNvPr id="38" name="组合 37"/>
          <p:cNvGrpSpPr>
            <a:grpSpLocks/>
          </p:cNvGrpSpPr>
          <p:nvPr/>
        </p:nvGrpSpPr>
        <p:grpSpPr bwMode="auto">
          <a:xfrm>
            <a:off x="4982451" y="2442602"/>
            <a:ext cx="4159493" cy="2097088"/>
            <a:chOff x="4768357" y="3962238"/>
            <a:chExt cx="4354469" cy="2097292"/>
          </a:xfrm>
        </p:grpSpPr>
        <p:pic>
          <p:nvPicPr>
            <p:cNvPr id="39954" name="图片 3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8357" y="3962238"/>
              <a:ext cx="2933250" cy="2097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55" name="图片 39"/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855" y="4303380"/>
              <a:ext cx="1167703" cy="1617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955123" y="4303380"/>
              <a:ext cx="1167703" cy="1617053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385733" y="2925238"/>
            <a:ext cx="39773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衍射角为</a:t>
            </a:r>
            <a:r>
              <a:rPr kumimoji="1" lang="el-GR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θ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的两衍射光束</a:t>
            </a:r>
            <a:endParaRPr kumimoji="1"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8" name="矩形 4"/>
          <p:cNvSpPr>
            <a:spLocks noChangeArrowheads="1"/>
          </p:cNvSpPr>
          <p:nvPr/>
        </p:nvSpPr>
        <p:spPr bwMode="auto">
          <a:xfrm>
            <a:off x="238125" y="1611267"/>
            <a:ext cx="60003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3.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两衍射光在光屏上叠加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干涉，</a:t>
            </a:r>
            <a:endParaRPr kumimoji="1"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445808" y="3041406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Object 34">
            <a:extLst>
              <a:ext uri="{FF2B5EF4-FFF2-40B4-BE49-F238E27FC236}">
                <a16:creationId xmlns:a16="http://schemas.microsoft.com/office/drawing/2014/main" id="{73B44C3D-B663-493B-9820-047E0674B9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626446"/>
              </p:ext>
            </p:extLst>
          </p:nvPr>
        </p:nvGraphicFramePr>
        <p:xfrm>
          <a:off x="1594438" y="878342"/>
          <a:ext cx="27543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2" name="MathType 6.0 Equation" r:id="rId9" imgW="2616200" imgH="673100" progId="Equation.DSMT4">
                  <p:embed/>
                </p:oleObj>
              </mc:Choice>
              <mc:Fallback>
                <p:oleObj name="MathType 6.0 Equation" r:id="rId9" imgW="2616200" imgH="673100" progId="Equation.DSMT4">
                  <p:embed/>
                  <p:pic>
                    <p:nvPicPr>
                      <p:cNvPr id="27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4438" y="878342"/>
                        <a:ext cx="275431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>
            <a:extLst>
              <a:ext uri="{FF2B5EF4-FFF2-40B4-BE49-F238E27FC236}">
                <a16:creationId xmlns:a16="http://schemas.microsoft.com/office/drawing/2014/main" id="{91411DB6-E034-46EF-A594-932CD950B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" y="915841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光矢量</a:t>
            </a:r>
            <a:endParaRPr kumimoji="1" lang="en-US" altLang="zh-CN" sz="2800" b="1" dirty="0">
              <a:solidFill>
                <a:srgbClr val="0000CC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833F9C7-0CA9-49C3-85BC-BA9A85B7F7A6}"/>
              </a:ext>
            </a:extLst>
          </p:cNvPr>
          <p:cNvSpPr txBox="1"/>
          <p:nvPr/>
        </p:nvSpPr>
        <p:spPr>
          <a:xfrm>
            <a:off x="174625" y="269875"/>
            <a:ext cx="7508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两束衍射光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衍射图样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完全相同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且位置重合</a:t>
            </a:r>
            <a:endParaRPr lang="zh-CN" altLang="en-US" sz="28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1439D5D-CEB6-4135-A00D-F00D6E07677D}"/>
              </a:ext>
            </a:extLst>
          </p:cNvPr>
          <p:cNvSpPr txBox="1"/>
          <p:nvPr/>
        </p:nvSpPr>
        <p:spPr>
          <a:xfrm>
            <a:off x="385733" y="2244172"/>
            <a:ext cx="80569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不同位置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b="1" i="1" dirty="0" err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1" lang="en-US" altLang="zh-CN" sz="2800" b="1" dirty="0" err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sin</a:t>
            </a:r>
            <a:r>
              <a:rPr kumimoji="1" lang="el-GR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θ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到两缝的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光程差不同。</a:t>
            </a:r>
            <a:endParaRPr lang="zh-CN" altLang="en-US" sz="2800" dirty="0"/>
          </a:p>
        </p:txBody>
      </p:sp>
      <p:sp>
        <p:nvSpPr>
          <p:cNvPr id="42" name="Text Box 49">
            <a:extLst>
              <a:ext uri="{FF2B5EF4-FFF2-40B4-BE49-F238E27FC236}">
                <a16:creationId xmlns:a16="http://schemas.microsoft.com/office/drawing/2014/main" id="{42065441-B3FB-4886-BC6E-2BF56E2B4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02" y="4956724"/>
            <a:ext cx="5435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两衍射光干涉叠加的合振幅</a:t>
            </a:r>
          </a:p>
        </p:txBody>
      </p:sp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35D8DA23-1921-4990-94B9-BCFE1587C7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164662"/>
              </p:ext>
            </p:extLst>
          </p:nvPr>
        </p:nvGraphicFramePr>
        <p:xfrm>
          <a:off x="406801" y="5697229"/>
          <a:ext cx="5092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3" name="Equation" r:id="rId11" imgW="5092560" imgH="545760" progId="Equation.DSMT4">
                  <p:embed/>
                </p:oleObj>
              </mc:Choice>
              <mc:Fallback>
                <p:oleObj name="Equation" r:id="rId11" imgW="5092560" imgH="54576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6801" y="5697229"/>
                        <a:ext cx="50927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606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/>
      <p:bldP spid="8" grpId="0"/>
      <p:bldP spid="28" grpId="0"/>
      <p:bldP spid="33" grpId="0"/>
      <p:bldP spid="40" grpId="0"/>
      <p:bldP spid="4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29"/>
          <p:cNvSpPr>
            <a:spLocks noChangeShapeType="1"/>
          </p:cNvSpPr>
          <p:nvPr/>
        </p:nvSpPr>
        <p:spPr bwMode="auto">
          <a:xfrm>
            <a:off x="1630363" y="3486742"/>
            <a:ext cx="922337" cy="0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30"/>
          <p:cNvSpPr>
            <a:spLocks noChangeShapeType="1"/>
          </p:cNvSpPr>
          <p:nvPr/>
        </p:nvSpPr>
        <p:spPr bwMode="auto">
          <a:xfrm>
            <a:off x="2900363" y="3502617"/>
            <a:ext cx="1058862" cy="0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393825" y="3488330"/>
            <a:ext cx="1476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衍射因子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2741613" y="3486742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干涉因子</a:t>
            </a:r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2733675" y="5046663"/>
            <a:ext cx="441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chemeClr val="tx1"/>
                </a:solidFill>
              </a:rPr>
              <a:t>x</a:t>
            </a:r>
            <a:endParaRPr lang="zh-CN" altLang="en-US" sz="3600" b="1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5799138" y="5046663"/>
            <a:ext cx="4524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chemeClr val="tx1"/>
                </a:solidFill>
              </a:rPr>
              <a:t>=</a:t>
            </a:r>
            <a:endParaRPr lang="zh-CN" altLang="en-US" sz="3600" b="1">
              <a:solidFill>
                <a:schemeClr val="tx1"/>
              </a:solidFill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4052888" y="6118225"/>
            <a:ext cx="1527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f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0969" name="Text Box 49"/>
          <p:cNvSpPr txBox="1">
            <a:spLocks noChangeArrowheads="1"/>
          </p:cNvSpPr>
          <p:nvPr/>
        </p:nvSpPr>
        <p:spPr bwMode="auto">
          <a:xfrm>
            <a:off x="174625" y="31847"/>
            <a:ext cx="5435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两衍射光干涉叠加的合振幅</a:t>
            </a:r>
          </a:p>
        </p:txBody>
      </p:sp>
      <p:graphicFrame>
        <p:nvGraphicFramePr>
          <p:cNvPr id="21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184042"/>
              </p:ext>
            </p:extLst>
          </p:nvPr>
        </p:nvGraphicFramePr>
        <p:xfrm>
          <a:off x="1415190" y="1196939"/>
          <a:ext cx="5067669" cy="578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30" name="MathType 6.0 Equation" r:id="rId3" imgW="4394200" imgH="508000" progId="Equation.DSMT4">
                  <p:embed/>
                </p:oleObj>
              </mc:Choice>
              <mc:Fallback>
                <p:oleObj name="MathType 6.0 Equation" r:id="rId3" imgW="43942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190" y="1196939"/>
                        <a:ext cx="5067669" cy="578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146268"/>
              </p:ext>
            </p:extLst>
          </p:nvPr>
        </p:nvGraphicFramePr>
        <p:xfrm>
          <a:off x="201613" y="1735730"/>
          <a:ext cx="386080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31" name="MathType 6.0 Equation" r:id="rId5" imgW="3365500" imgH="736600" progId="Equation.DSMT4">
                  <p:embed/>
                </p:oleObj>
              </mc:Choice>
              <mc:Fallback>
                <p:oleObj name="MathType 6.0 Equation" r:id="rId5" imgW="33655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3" y="1735730"/>
                        <a:ext cx="3860800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251840"/>
              </p:ext>
            </p:extLst>
          </p:nvPr>
        </p:nvGraphicFramePr>
        <p:xfrm>
          <a:off x="698500" y="2562817"/>
          <a:ext cx="328612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32" name="MathType 6.0 Equation" r:id="rId7" imgW="2692400" imgH="673100" progId="Equation.DSMT4">
                  <p:embed/>
                </p:oleObj>
              </mc:Choice>
              <mc:Fallback>
                <p:oleObj name="MathType 6.0 Equation" r:id="rId7" imgW="2692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" y="2562817"/>
                        <a:ext cx="3286125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925" y="1820402"/>
            <a:ext cx="3924300" cy="20097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7" name="Object 34"/>
          <p:cNvGraphicFramePr>
            <a:graphicFrameLocks noChangeAspect="1"/>
          </p:cNvGraphicFramePr>
          <p:nvPr/>
        </p:nvGraphicFramePr>
        <p:xfrm>
          <a:off x="201613" y="3832225"/>
          <a:ext cx="433387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33" name="MathType 6.0 Equation" r:id="rId10" imgW="4114800" imgH="736600" progId="Equation.DSMT4">
                  <p:embed/>
                </p:oleObj>
              </mc:Choice>
              <mc:Fallback>
                <p:oleObj name="MathType 6.0 Equation" r:id="rId10" imgW="41148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3" y="3832225"/>
                        <a:ext cx="4333875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/>
          <p:cNvGrpSpPr>
            <a:grpSpLocks/>
          </p:cNvGrpSpPr>
          <p:nvPr/>
        </p:nvGrpSpPr>
        <p:grpSpPr bwMode="auto">
          <a:xfrm>
            <a:off x="103188" y="4702175"/>
            <a:ext cx="2924175" cy="1525588"/>
            <a:chOff x="103517" y="4745038"/>
            <a:chExt cx="2923827" cy="1526357"/>
          </a:xfrm>
        </p:grpSpPr>
        <p:graphicFrame>
          <p:nvGraphicFramePr>
            <p:cNvPr id="40991" name="Object 4"/>
            <p:cNvGraphicFramePr>
              <a:graphicFrameLocks noChangeAspect="1"/>
            </p:cNvGraphicFramePr>
            <p:nvPr/>
          </p:nvGraphicFramePr>
          <p:xfrm>
            <a:off x="174625" y="4745038"/>
            <a:ext cx="2551113" cy="1439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534" name="位图图像" r:id="rId12" imgW="4401164" imgH="1238423" progId="Paint.Picture">
                    <p:embed/>
                  </p:oleObj>
                </mc:Choice>
                <mc:Fallback>
                  <p:oleObj name="位图图像" r:id="rId12" imgW="4401164" imgH="1238423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25" y="4745038"/>
                          <a:ext cx="2551113" cy="1439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" name="直接箭头连接符 24"/>
            <p:cNvCxnSpPr/>
            <p:nvPr/>
          </p:nvCxnSpPr>
          <p:spPr>
            <a:xfrm>
              <a:off x="103517" y="6103035"/>
              <a:ext cx="26904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93" name="文本框 27"/>
            <p:cNvSpPr txBox="1">
              <a:spLocks noChangeArrowheads="1"/>
            </p:cNvSpPr>
            <p:nvPr/>
          </p:nvSpPr>
          <p:spPr bwMode="auto">
            <a:xfrm>
              <a:off x="2714438" y="5871285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3122613" y="4784725"/>
            <a:ext cx="2922587" cy="1474788"/>
            <a:chOff x="3123303" y="4827588"/>
            <a:chExt cx="2921897" cy="1474817"/>
          </a:xfrm>
        </p:grpSpPr>
        <p:graphicFrame>
          <p:nvGraphicFramePr>
            <p:cNvPr id="40988" name="Object 2"/>
            <p:cNvGraphicFramePr>
              <a:graphicFrameLocks noChangeAspect="1"/>
            </p:cNvGraphicFramePr>
            <p:nvPr/>
          </p:nvGraphicFramePr>
          <p:xfrm>
            <a:off x="3298825" y="4827588"/>
            <a:ext cx="2393950" cy="1274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535" name="BMP 图象" r:id="rId14" imgW="4495238" imgH="1057423" progId="PBrush">
                    <p:embed/>
                  </p:oleObj>
                </mc:Choice>
                <mc:Fallback>
                  <p:oleObj name="BMP 图象" r:id="rId14" imgW="4495238" imgH="1057423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8825" y="4827588"/>
                          <a:ext cx="2393950" cy="1274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1" name="直接箭头连接符 30"/>
            <p:cNvCxnSpPr/>
            <p:nvPr/>
          </p:nvCxnSpPr>
          <p:spPr>
            <a:xfrm>
              <a:off x="3123303" y="6126189"/>
              <a:ext cx="269017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90" name="文本框 31"/>
            <p:cNvSpPr txBox="1">
              <a:spLocks noChangeArrowheads="1"/>
            </p:cNvSpPr>
            <p:nvPr/>
          </p:nvSpPr>
          <p:spPr bwMode="auto">
            <a:xfrm>
              <a:off x="5732294" y="5902295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6213475" y="4429125"/>
            <a:ext cx="2921000" cy="1830388"/>
            <a:chOff x="6213040" y="4471870"/>
            <a:chExt cx="2921897" cy="1830535"/>
          </a:xfrm>
        </p:grpSpPr>
        <p:graphicFrame>
          <p:nvGraphicFramePr>
            <p:cNvPr id="40985" name="Object 3"/>
            <p:cNvGraphicFramePr>
              <a:graphicFrameLocks noChangeAspect="1"/>
            </p:cNvGraphicFramePr>
            <p:nvPr/>
          </p:nvGraphicFramePr>
          <p:xfrm>
            <a:off x="6429375" y="4471870"/>
            <a:ext cx="2509838" cy="180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536" name="BMP 图象" r:id="rId16" imgW="4466667" imgH="1324160" progId="PBrush">
                    <p:embed/>
                  </p:oleObj>
                </mc:Choice>
                <mc:Fallback>
                  <p:oleObj name="BMP 图象" r:id="rId16" imgW="4466667" imgH="1324160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9375" y="4471870"/>
                          <a:ext cx="2509838" cy="180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3" name="直接箭头连接符 32"/>
            <p:cNvCxnSpPr/>
            <p:nvPr/>
          </p:nvCxnSpPr>
          <p:spPr>
            <a:xfrm>
              <a:off x="6213040" y="6126178"/>
              <a:ext cx="269005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7" name="文本框 33"/>
            <p:cNvSpPr txBox="1">
              <a:spLocks noChangeArrowheads="1"/>
            </p:cNvSpPr>
            <p:nvPr/>
          </p:nvSpPr>
          <p:spPr bwMode="auto">
            <a:xfrm>
              <a:off x="8822031" y="5902295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7" name="直接箭头连接符 36"/>
          <p:cNvCxnSpPr/>
          <p:nvPr/>
        </p:nvCxnSpPr>
        <p:spPr>
          <a:xfrm flipH="1">
            <a:off x="7804150" y="3073187"/>
            <a:ext cx="373062" cy="9808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8256587" y="2876883"/>
            <a:ext cx="498475" cy="12192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4937125" y="3932238"/>
            <a:ext cx="4313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哪个由干涉决定，哪个由衍射决定？</a:t>
            </a: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431800" y="6205538"/>
            <a:ext cx="700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衍射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5" name="矩形 44"/>
          <p:cNvSpPr>
            <a:spLocks noChangeArrowheads="1"/>
          </p:cNvSpPr>
          <p:nvPr/>
        </p:nvSpPr>
        <p:spPr bwMode="auto">
          <a:xfrm>
            <a:off x="3452813" y="6205538"/>
            <a:ext cx="70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干涉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931863" y="6142038"/>
            <a:ext cx="17065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=2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f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142720"/>
              </p:ext>
            </p:extLst>
          </p:nvPr>
        </p:nvGraphicFramePr>
        <p:xfrm>
          <a:off x="247650" y="586408"/>
          <a:ext cx="5092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37" name="Equation" r:id="rId18" imgW="5092560" imgH="545760" progId="Equation.DSMT4">
                  <p:embed/>
                </p:oleObj>
              </mc:Choice>
              <mc:Fallback>
                <p:oleObj name="Equation" r:id="rId18" imgW="509256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47650" y="586408"/>
                        <a:ext cx="50927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48497" y="1165813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合光强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486101" y="-31196"/>
            <a:ext cx="3580261" cy="1357583"/>
            <a:chOff x="5486101" y="-31196"/>
            <a:chExt cx="3580261" cy="1357583"/>
          </a:xfrm>
        </p:grpSpPr>
        <p:sp>
          <p:nvSpPr>
            <p:cNvPr id="7" name="矩形 6"/>
            <p:cNvSpPr/>
            <p:nvPr/>
          </p:nvSpPr>
          <p:spPr>
            <a:xfrm>
              <a:off x="6077083" y="0"/>
              <a:ext cx="2989279" cy="11969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6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3081776"/>
                </p:ext>
              </p:extLst>
            </p:nvPr>
          </p:nvGraphicFramePr>
          <p:xfrm>
            <a:off x="6153612" y="-31196"/>
            <a:ext cx="2464173" cy="6220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538" name="MathType 6.0 Equation" r:id="rId20" imgW="2616200" imgH="673100" progId="Equation.DSMT4">
                    <p:embed/>
                  </p:oleObj>
                </mc:Choice>
                <mc:Fallback>
                  <p:oleObj name="MathType 6.0 Equation" r:id="rId20" imgW="2616200" imgH="673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3612" y="-31196"/>
                          <a:ext cx="2464173" cy="6220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4248334"/>
                </p:ext>
              </p:extLst>
            </p:nvPr>
          </p:nvGraphicFramePr>
          <p:xfrm>
            <a:off x="6077083" y="604124"/>
            <a:ext cx="2955924" cy="5748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539" name="MathType 6.0 Equation" r:id="rId22" imgW="3416300" imgH="673100" progId="Equation.DSMT4">
                    <p:embed/>
                  </p:oleObj>
                </mc:Choice>
                <mc:Fallback>
                  <p:oleObj name="MathType 6.0 Equation" r:id="rId22" imgW="3416300" imgH="673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7083" y="604124"/>
                          <a:ext cx="2955924" cy="5748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3" name="Picture 126" descr="dove"/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6101" y="734218"/>
              <a:ext cx="590982" cy="592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3825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16" grpId="0"/>
      <p:bldP spid="18" grpId="0"/>
      <p:bldP spid="19" grpId="0"/>
      <p:bldP spid="41" grpId="0"/>
      <p:bldP spid="42" grpId="0"/>
      <p:bldP spid="45" grpId="0"/>
      <p:bldP spid="46" grpId="0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1639888" y="3827463"/>
            <a:ext cx="5653087" cy="1371600"/>
            <a:chOff x="1256" y="2090"/>
            <a:chExt cx="3561" cy="864"/>
          </a:xfrm>
        </p:grpSpPr>
        <p:graphicFrame>
          <p:nvGraphicFramePr>
            <p:cNvPr id="42003" name="Object 8"/>
            <p:cNvGraphicFramePr>
              <a:graphicFrameLocks noChangeAspect="1"/>
            </p:cNvGraphicFramePr>
            <p:nvPr/>
          </p:nvGraphicFramePr>
          <p:xfrm>
            <a:off x="1256" y="2090"/>
            <a:ext cx="3561" cy="8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35" name="Equation" r:id="rId3" imgW="5715000" imgH="1333500" progId="Equation.DSMT4">
                    <p:embed/>
                  </p:oleObj>
                </mc:Choice>
                <mc:Fallback>
                  <p:oleObj name="Equation" r:id="rId3" imgW="5715000" imgH="13335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6" y="2090"/>
                          <a:ext cx="3561" cy="8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4" name="Text Box 36"/>
            <p:cNvSpPr txBox="1">
              <a:spLocks noChangeArrowheads="1"/>
            </p:cNvSpPr>
            <p:nvPr/>
          </p:nvSpPr>
          <p:spPr bwMode="auto">
            <a:xfrm>
              <a:off x="1360" y="2478"/>
              <a:ext cx="88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双衍</a:t>
              </a:r>
            </a:p>
          </p:txBody>
        </p:sp>
        <p:sp>
          <p:nvSpPr>
            <p:cNvPr id="42005" name="Text Box 37"/>
            <p:cNvSpPr txBox="1">
              <a:spLocks noChangeArrowheads="1"/>
            </p:cNvSpPr>
            <p:nvPr/>
          </p:nvSpPr>
          <p:spPr bwMode="auto">
            <a:xfrm>
              <a:off x="2131" y="2496"/>
              <a:ext cx="88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/>
                <a:t>单衍</a:t>
              </a:r>
            </a:p>
          </p:txBody>
        </p:sp>
      </p:grp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506538" y="2073275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其中</a:t>
            </a: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619375" y="4156075"/>
            <a:ext cx="935038" cy="720725"/>
            <a:chOff x="4368" y="1824"/>
            <a:chExt cx="672" cy="576"/>
          </a:xfrm>
        </p:grpSpPr>
        <p:sp>
          <p:nvSpPr>
            <p:cNvPr id="42001" name="Rectangle 13"/>
            <p:cNvSpPr>
              <a:spLocks noChangeArrowheads="1"/>
            </p:cNvSpPr>
            <p:nvPr/>
          </p:nvSpPr>
          <p:spPr bwMode="auto">
            <a:xfrm>
              <a:off x="4368" y="1824"/>
              <a:ext cx="672" cy="5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aphicFrame>
          <p:nvGraphicFramePr>
            <p:cNvPr id="42002" name="Object 14"/>
            <p:cNvGraphicFramePr>
              <a:graphicFrameLocks noChangeAspect="1"/>
            </p:cNvGraphicFramePr>
            <p:nvPr/>
          </p:nvGraphicFramePr>
          <p:xfrm>
            <a:off x="4464" y="1872"/>
            <a:ext cx="419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36" name="公式" r:id="rId5" imgW="444307" imgH="457002" progId="Equation.3">
                    <p:embed/>
                  </p:oleObj>
                </mc:Choice>
                <mc:Fallback>
                  <p:oleObj name="公式" r:id="rId5" imgW="444307" imgH="457002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872"/>
                          <a:ext cx="419" cy="43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74" name="Rectangle 18"/>
          <p:cNvSpPr>
            <a:spLocks noChangeArrowheads="1"/>
          </p:cNvSpPr>
          <p:nvPr/>
        </p:nvSpPr>
        <p:spPr bwMode="auto">
          <a:xfrm>
            <a:off x="3127375" y="5588000"/>
            <a:ext cx="5480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——</a:t>
            </a:r>
            <a:r>
              <a:rPr kumimoji="1" lang="zh-CN" altLang="en-US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双缝衍射的强度分布公式</a:t>
            </a:r>
          </a:p>
        </p:txBody>
      </p: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547688" y="2767013"/>
            <a:ext cx="2071687" cy="1079500"/>
            <a:chOff x="363" y="1706"/>
            <a:chExt cx="1305" cy="680"/>
          </a:xfrm>
        </p:grpSpPr>
        <p:sp>
          <p:nvSpPr>
            <p:cNvPr id="41999" name="AutoShape 27"/>
            <p:cNvSpPr>
              <a:spLocks noChangeArrowheads="1"/>
            </p:cNvSpPr>
            <p:nvPr/>
          </p:nvSpPr>
          <p:spPr bwMode="auto">
            <a:xfrm>
              <a:off x="363" y="1706"/>
              <a:ext cx="1224" cy="680"/>
            </a:xfrm>
            <a:prstGeom prst="irregularSeal1">
              <a:avLst/>
            </a:prstGeom>
            <a:solidFill>
              <a:srgbClr val="FFFF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2000" name="Text Box 28"/>
            <p:cNvSpPr txBox="1">
              <a:spLocks noChangeArrowheads="1"/>
            </p:cNvSpPr>
            <p:nvPr/>
          </p:nvSpPr>
          <p:spPr bwMode="auto">
            <a:xfrm>
              <a:off x="635" y="1842"/>
              <a:ext cx="10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1"/>
                  </a:solidFill>
                  <a:ea typeface="楷体_GB2312"/>
                  <a:cs typeface="楷体_GB2312"/>
                </a:rPr>
                <a:t>结论</a:t>
              </a:r>
            </a:p>
          </p:txBody>
        </p:sp>
      </p:grp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1652588" y="4187825"/>
            <a:ext cx="711200" cy="611188"/>
            <a:chOff x="4560" y="1680"/>
            <a:chExt cx="624" cy="480"/>
          </a:xfrm>
        </p:grpSpPr>
        <p:sp>
          <p:nvSpPr>
            <p:cNvPr id="41997" name="Rectangle 10"/>
            <p:cNvSpPr>
              <a:spLocks noChangeArrowheads="1"/>
            </p:cNvSpPr>
            <p:nvPr/>
          </p:nvSpPr>
          <p:spPr bwMode="auto">
            <a:xfrm>
              <a:off x="4560" y="1680"/>
              <a:ext cx="624" cy="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aphicFrame>
          <p:nvGraphicFramePr>
            <p:cNvPr id="41998" name="Object 11"/>
            <p:cNvGraphicFramePr>
              <a:graphicFrameLocks noChangeAspect="1"/>
            </p:cNvGraphicFramePr>
            <p:nvPr/>
          </p:nvGraphicFramePr>
          <p:xfrm>
            <a:off x="4625" y="1705"/>
            <a:ext cx="277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37" name="公式" r:id="rId7" imgW="355446" imgH="457002" progId="Equation.3">
                    <p:embed/>
                  </p:oleObj>
                </mc:Choice>
                <mc:Fallback>
                  <p:oleObj name="公式" r:id="rId7" imgW="355446" imgH="457002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5" y="1705"/>
                          <a:ext cx="277" cy="3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92" name="Text Box 39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20</a:t>
            </a:r>
            <a:endParaRPr lang="en-US" altLang="zh-CN" sz="1800"/>
          </a:p>
        </p:txBody>
      </p:sp>
      <p:pic>
        <p:nvPicPr>
          <p:cNvPr id="41993" name="图片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109538"/>
            <a:ext cx="66389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63" y="1838325"/>
            <a:ext cx="19907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638" y="1871663"/>
            <a:ext cx="22955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3" y="2924175"/>
            <a:ext cx="24193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74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3"/>
          <p:cNvGraphicFramePr>
            <a:graphicFrameLocks noChangeAspect="1"/>
          </p:cNvGraphicFramePr>
          <p:nvPr/>
        </p:nvGraphicFramePr>
        <p:xfrm>
          <a:off x="1250950" y="1109663"/>
          <a:ext cx="6773863" cy="490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9" name="位图图像" r:id="rId3" imgW="8047619" imgH="6304762" progId="Paint.Picture">
                  <p:embed/>
                </p:oleObj>
              </mc:Choice>
              <mc:Fallback>
                <p:oleObj name="位图图像" r:id="rId3" imgW="8047619" imgH="6304762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50" y="1109663"/>
                        <a:ext cx="6773863" cy="49069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Line 4"/>
          <p:cNvSpPr>
            <a:spLocks noChangeShapeType="1"/>
          </p:cNvSpPr>
          <p:nvPr/>
        </p:nvSpPr>
        <p:spPr bwMode="auto">
          <a:xfrm>
            <a:off x="1250950" y="5319713"/>
            <a:ext cx="66595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2" name="Text Box 7"/>
          <p:cNvSpPr txBox="1">
            <a:spLocks noChangeArrowheads="1"/>
          </p:cNvSpPr>
          <p:nvPr/>
        </p:nvSpPr>
        <p:spPr bwMode="auto">
          <a:xfrm>
            <a:off x="8655050" y="64150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22</a:t>
            </a:r>
            <a:endParaRPr lang="en-US" altLang="zh-CN" sz="1800"/>
          </a:p>
        </p:txBody>
      </p:sp>
      <p:sp>
        <p:nvSpPr>
          <p:cNvPr id="43013" name="矩形 1"/>
          <p:cNvSpPr>
            <a:spLocks noChangeArrowheads="1"/>
          </p:cNvSpPr>
          <p:nvPr/>
        </p:nvSpPr>
        <p:spPr bwMode="auto">
          <a:xfrm>
            <a:off x="4916488" y="2062163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包络线</a:t>
            </a:r>
          </a:p>
        </p:txBody>
      </p:sp>
      <p:sp>
        <p:nvSpPr>
          <p:cNvPr id="43014" name="矩形 2"/>
          <p:cNvSpPr>
            <a:spLocks noChangeArrowheads="1"/>
          </p:cNvSpPr>
          <p:nvPr/>
        </p:nvSpPr>
        <p:spPr bwMode="auto">
          <a:xfrm>
            <a:off x="5202238" y="2411413"/>
            <a:ext cx="2762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单缝衍射强度分布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81000" y="241300"/>
            <a:ext cx="5868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双缝衍射的强度曲线分布图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539750" y="801688"/>
          <a:ext cx="439261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80" name="BMP 图象" r:id="rId3" imgW="4495238" imgH="1057423" progId="PBrush">
                  <p:embed/>
                </p:oleObj>
              </mc:Choice>
              <mc:Fallback>
                <p:oleObj name="BMP 图象" r:id="rId3" imgW="4495238" imgH="1057423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801688"/>
                        <a:ext cx="4392613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552450" y="4113213"/>
          <a:ext cx="446722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81" name="BMP 图象" r:id="rId5" imgW="4466667" imgH="1324160" progId="PBrush">
                  <p:embed/>
                </p:oleObj>
              </mc:Choice>
              <mc:Fallback>
                <p:oleObj name="BMP 图象" r:id="rId5" imgW="4466667" imgH="1324160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4113213"/>
                        <a:ext cx="446722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546100" y="2571750"/>
          <a:ext cx="4400550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82" name="位图图像" r:id="rId7" imgW="4401164" imgH="1238423" progId="Paint.Picture">
                  <p:embed/>
                </p:oleObj>
              </mc:Choice>
              <mc:Fallback>
                <p:oleObj name="位图图像" r:id="rId7" imgW="4401164" imgH="1238423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2571750"/>
                        <a:ext cx="4400550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407988" y="193675"/>
            <a:ext cx="2736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双缝干涉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655638" y="2559050"/>
            <a:ext cx="181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单缝衍射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609600" y="4208463"/>
            <a:ext cx="18145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双缝衍射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2539" name="Picture 11" descr="1-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538" y="1052513"/>
            <a:ext cx="3830637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0" name="Picture 12" descr="1-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25" y="2859088"/>
            <a:ext cx="3887788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1" name="Picture 13" descr="1-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188" y="4659313"/>
            <a:ext cx="3887787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609600" y="5810250"/>
            <a:ext cx="83423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双缝干涉的条纹位置仍不变</a:t>
            </a:r>
            <a:r>
              <a:rPr kumimoji="1" lang="en-US" altLang="zh-CN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,</a:t>
            </a:r>
            <a:r>
              <a:rPr kumimoji="1" lang="zh-CN" altLang="en-US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只是强度受到单缝衍射的调制</a:t>
            </a:r>
            <a:endParaRPr kumimoji="1" lang="zh-CN" altLang="en-US" sz="2800">
              <a:solidFill>
                <a:srgbClr val="0000CC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44044" name="Text Box 16"/>
          <p:cNvSpPr txBox="1">
            <a:spLocks noChangeArrowheads="1"/>
          </p:cNvSpPr>
          <p:nvPr/>
        </p:nvSpPr>
        <p:spPr bwMode="auto">
          <a:xfrm>
            <a:off x="8670925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23</a:t>
            </a:r>
            <a:endParaRPr lang="en-US" altLang="zh-CN" sz="18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8323BB4-1B0D-4F2D-BA6D-2ABCF24F09E7}"/>
              </a:ext>
            </a:extLst>
          </p:cNvPr>
          <p:cNvSpPr txBox="1"/>
          <p:nvPr/>
        </p:nvSpPr>
        <p:spPr>
          <a:xfrm>
            <a:off x="6677027" y="2049165"/>
            <a:ext cx="4667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/>
              <a:t>x</a:t>
            </a:r>
            <a:endParaRPr lang="zh-CN" altLang="en-US" sz="4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A1F627-FF51-48B0-A48D-F602C40908E2}"/>
              </a:ext>
            </a:extLst>
          </p:cNvPr>
          <p:cNvSpPr txBox="1"/>
          <p:nvPr/>
        </p:nvSpPr>
        <p:spPr>
          <a:xfrm rot="5400000">
            <a:off x="6676389" y="3823742"/>
            <a:ext cx="5148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/>
              <a:t>=</a:t>
            </a:r>
            <a:endParaRPr lang="zh-CN" altLang="en-US" sz="4400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autoUpdateAnimBg="0"/>
      <p:bldP spid="22535" grpId="0" autoUpdateAnimBg="0"/>
      <p:bldP spid="22536" grpId="0" autoUpdateAnimBg="0"/>
      <p:bldP spid="22542" grpId="0" autoUpdateAnimBg="0"/>
      <p:bldP spid="2" grpId="0"/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/>
        </p:nvSpPr>
        <p:spPr>
          <a:xfrm>
            <a:off x="3629025" y="5384800"/>
            <a:ext cx="4541838" cy="14446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292100" y="1433513"/>
            <a:ext cx="8126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这种调制表现在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以变化的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 b="1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单衍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代替了不变的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4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r>
              <a:rPr kumimoji="1"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</a:p>
        </p:txBody>
      </p:sp>
      <p:sp>
        <p:nvSpPr>
          <p:cNvPr id="23573" name="Text Box 6"/>
          <p:cNvSpPr txBox="1">
            <a:spLocks noChangeArrowheads="1"/>
          </p:cNvSpPr>
          <p:nvPr/>
        </p:nvSpPr>
        <p:spPr bwMode="auto">
          <a:xfrm>
            <a:off x="298450" y="3844925"/>
            <a:ext cx="84677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2º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kumimoji="1" lang="el-GR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时，双缝衍射的强度分布情况变为理想的  杨氏干涉的强度分布情况。</a:t>
            </a:r>
          </a:p>
        </p:txBody>
      </p:sp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1241425" y="5918200"/>
          <a:ext cx="4699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1" name="Equation" r:id="rId3" imgW="291973" imgH="203112" progId="Equation.DSMT4">
                  <p:embed/>
                </p:oleObj>
              </mc:Choice>
              <mc:Fallback>
                <p:oleObj name="Equation" r:id="rId3" imgW="291973" imgH="203112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5918200"/>
                        <a:ext cx="4699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323850" y="188913"/>
            <a:ext cx="1763713" cy="1079500"/>
            <a:chOff x="363" y="1706"/>
            <a:chExt cx="1305" cy="680"/>
          </a:xfrm>
        </p:grpSpPr>
        <p:sp>
          <p:nvSpPr>
            <p:cNvPr id="46096" name="AutoShape 22"/>
            <p:cNvSpPr>
              <a:spLocks noChangeArrowheads="1"/>
            </p:cNvSpPr>
            <p:nvPr/>
          </p:nvSpPr>
          <p:spPr bwMode="auto">
            <a:xfrm>
              <a:off x="363" y="1706"/>
              <a:ext cx="1224" cy="680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6097" name="Text Box 23"/>
            <p:cNvSpPr txBox="1">
              <a:spLocks noChangeArrowheads="1"/>
            </p:cNvSpPr>
            <p:nvPr/>
          </p:nvSpPr>
          <p:spPr bwMode="auto">
            <a:xfrm>
              <a:off x="635" y="1842"/>
              <a:ext cx="10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1"/>
                  </a:solidFill>
                  <a:ea typeface="楷体_GB2312"/>
                  <a:cs typeface="楷体_GB2312"/>
                </a:rPr>
                <a:t>结论</a:t>
              </a:r>
            </a:p>
          </p:txBody>
        </p:sp>
      </p:grpSp>
      <p:sp>
        <p:nvSpPr>
          <p:cNvPr id="23571" name="Text Box 19"/>
          <p:cNvSpPr txBox="1">
            <a:spLocks noChangeArrowheads="1"/>
          </p:cNvSpPr>
          <p:nvPr/>
        </p:nvSpPr>
        <p:spPr bwMode="auto">
          <a:xfrm>
            <a:off x="1835150" y="411163"/>
            <a:ext cx="7086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1º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双缝衍射的强度曲线是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单缝衍射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强度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   双缝干涉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强度进行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调制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的结果。</a:t>
            </a:r>
          </a:p>
        </p:txBody>
      </p:sp>
      <p:sp>
        <p:nvSpPr>
          <p:cNvPr id="46088" name="Text Box 24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24</a:t>
            </a:r>
            <a:endParaRPr lang="en-US" altLang="zh-CN" sz="180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1982788"/>
            <a:ext cx="4500563" cy="168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700" y="1997075"/>
            <a:ext cx="3216275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613" y="5168900"/>
            <a:ext cx="4551362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419894" y="5143440"/>
            <a:ext cx="1693349" cy="400110"/>
          </a:xfrm>
          <a:prstGeom prst="rect">
            <a:avLst/>
          </a:prstGeom>
          <a:blipFill rotWithShape="0">
            <a:blip r:embed="rId8"/>
            <a:stretch>
              <a:fillRect t="-115385" r="-29856" b="-184615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4770438"/>
            <a:ext cx="2713037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5918200"/>
            <a:ext cx="26765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25" y="4402138"/>
            <a:ext cx="4429125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554" grpId="0" autoUpdateAnimBg="0"/>
      <p:bldP spid="23573" grpId="0"/>
      <p:bldP spid="23571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42863" y="49213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3.4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双缝衍射明暗条纹的位置</a:t>
            </a:r>
            <a:endParaRPr kumimoji="1" lang="zh-CN" altLang="en-US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95325" y="704850"/>
            <a:ext cx="370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极小值的位置</a:t>
            </a:r>
            <a:endParaRPr kumimoji="1" lang="zh-CN" altLang="en-US" sz="280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979488" y="1417638"/>
            <a:ext cx="7743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双缝干涉的极小</a:t>
            </a: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两束光位相相反</a:t>
            </a: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952500" y="2565400"/>
            <a:ext cx="5791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单缝衍射的极小         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            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（ 两束强度为零的衍射光迭加 ）</a:t>
            </a:r>
            <a:endParaRPr kumimoji="1"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2" name="AutoShape 6"/>
          <p:cNvSpPr>
            <a:spLocks/>
          </p:cNvSpPr>
          <p:nvPr/>
        </p:nvSpPr>
        <p:spPr bwMode="auto">
          <a:xfrm>
            <a:off x="827088" y="1646238"/>
            <a:ext cx="228600" cy="2209800"/>
          </a:xfrm>
          <a:prstGeom prst="leftBrace">
            <a:avLst>
              <a:gd name="adj1" fmla="val 80556"/>
              <a:gd name="adj2" fmla="val 49838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935038" y="4205288"/>
            <a:ext cx="3997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极大值的位置</a:t>
            </a:r>
          </a:p>
        </p:txBody>
      </p:sp>
      <p:sp>
        <p:nvSpPr>
          <p:cNvPr id="24584" name="AutoShape 8"/>
          <p:cNvSpPr>
            <a:spLocks/>
          </p:cNvSpPr>
          <p:nvPr/>
        </p:nvSpPr>
        <p:spPr bwMode="auto">
          <a:xfrm>
            <a:off x="803275" y="4933950"/>
            <a:ext cx="304800" cy="1447800"/>
          </a:xfrm>
          <a:prstGeom prst="leftBrace">
            <a:avLst>
              <a:gd name="adj1" fmla="val 39583"/>
              <a:gd name="adj2" fmla="val 49838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1060450" y="4754563"/>
            <a:ext cx="3017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双缝干涉的极大</a:t>
            </a:r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1028700" y="5973763"/>
            <a:ext cx="5164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单缝衍射的极大在此无意义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372225" y="836613"/>
            <a:ext cx="2771775" cy="4537075"/>
            <a:chOff x="0" y="0"/>
            <a:chExt cx="5760" cy="4320"/>
          </a:xfrm>
        </p:grpSpPr>
        <p:graphicFrame>
          <p:nvGraphicFramePr>
            <p:cNvPr id="47120" name="Object 13"/>
            <p:cNvGraphicFramePr>
              <a:graphicFrameLocks noChangeAspect="1"/>
            </p:cNvGraphicFramePr>
            <p:nvPr/>
          </p:nvGraphicFramePr>
          <p:xfrm>
            <a:off x="0" y="0"/>
            <a:ext cx="5760" cy="4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8" name="BMP 图象" r:id="rId3" imgW="8047619" imgH="6304762" progId="PBrush">
                    <p:embed/>
                  </p:oleObj>
                </mc:Choice>
                <mc:Fallback>
                  <p:oleObj name="BMP 图象" r:id="rId3" imgW="8047619" imgH="6304762" progId="PBrush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760" cy="4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1" name="Line 14"/>
            <p:cNvSpPr>
              <a:spLocks noChangeShapeType="1"/>
            </p:cNvSpPr>
            <p:nvPr/>
          </p:nvSpPr>
          <p:spPr bwMode="auto">
            <a:xfrm>
              <a:off x="0" y="3600"/>
              <a:ext cx="57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116" name="Text Box 20"/>
          <p:cNvSpPr txBox="1">
            <a:spLocks noChangeArrowheads="1"/>
          </p:cNvSpPr>
          <p:nvPr/>
        </p:nvSpPr>
        <p:spPr bwMode="auto">
          <a:xfrm>
            <a:off x="8655050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25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aphicFrame>
        <p:nvGraphicFramePr>
          <p:cNvPr id="43021" name="Object 8"/>
          <p:cNvGraphicFramePr>
            <a:graphicFrameLocks noChangeAspect="1"/>
          </p:cNvGraphicFramePr>
          <p:nvPr/>
        </p:nvGraphicFramePr>
        <p:xfrm>
          <a:off x="1141413" y="1917700"/>
          <a:ext cx="552608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99" name="Equation" r:id="rId5" imgW="5588000" imgH="673100" progId="Equation.DSMT4">
                  <p:embed/>
                </p:oleObj>
              </mc:Choice>
              <mc:Fallback>
                <p:oleObj name="Equation" r:id="rId5" imgW="55880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1917700"/>
                        <a:ext cx="552608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2" name="Object 8"/>
          <p:cNvGraphicFramePr>
            <a:graphicFrameLocks noChangeAspect="1"/>
          </p:cNvGraphicFramePr>
          <p:nvPr/>
        </p:nvGraphicFramePr>
        <p:xfrm>
          <a:off x="1185863" y="3652838"/>
          <a:ext cx="47339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00" name="Equation" r:id="rId7" imgW="4787900" imgH="393700" progId="Equation.DSMT4">
                  <p:embed/>
                </p:oleObj>
              </mc:Choice>
              <mc:Fallback>
                <p:oleObj name="Equation" r:id="rId7" imgW="4787900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863" y="3652838"/>
                        <a:ext cx="47339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3" name="Object 8"/>
          <p:cNvGraphicFramePr>
            <a:graphicFrameLocks noChangeAspect="1"/>
          </p:cNvGraphicFramePr>
          <p:nvPr/>
        </p:nvGraphicFramePr>
        <p:xfrm>
          <a:off x="1141413" y="5456238"/>
          <a:ext cx="48593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01" name="Equation" r:id="rId9" imgW="4914900" imgH="393700" progId="Equation.DSMT4">
                  <p:embed/>
                </p:oleObj>
              </mc:Choice>
              <mc:Fallback>
                <p:oleObj name="Equation" r:id="rId9" imgW="4914900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5456238"/>
                        <a:ext cx="485933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75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  <p:bldP spid="24579" grpId="0" autoUpdateAnimBg="0"/>
      <p:bldP spid="24580" grpId="0" autoUpdateAnimBg="0"/>
      <p:bldP spid="24581" grpId="0" autoUpdateAnimBg="0"/>
      <p:bldP spid="24582" grpId="0" animBg="1"/>
      <p:bldP spid="24583" grpId="0" autoUpdateAnimBg="0"/>
      <p:bldP spid="24584" grpId="0" animBg="1"/>
      <p:bldP spid="24585" grpId="0" autoUpdateAnimBg="0"/>
      <p:bldP spid="24587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2052638" y="2133600"/>
            <a:ext cx="5651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强度为零的衍射光相干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,</a:t>
            </a:r>
            <a:endParaRPr kumimoji="1" lang="en-US" altLang="zh-CN" sz="24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1984375" y="1628775"/>
            <a:ext cx="6835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若两束光既满足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式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又满足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式</a:t>
            </a:r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2611438" y="3175000"/>
          <a:ext cx="19526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18" name="Equation" r:id="rId3" imgW="1790700" imgH="825500" progId="Equation.DSMT4">
                  <p:embed/>
                </p:oleObj>
              </mc:Choice>
              <mc:Fallback>
                <p:oleObj name="Equation" r:id="rId3" imgW="1790700" imgH="825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38" y="3175000"/>
                        <a:ext cx="195262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827088" y="3352800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缺级条件：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4643438" y="3424238"/>
            <a:ext cx="3421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为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整数比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时，</a:t>
            </a:r>
          </a:p>
        </p:txBody>
      </p: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792163" y="4146550"/>
            <a:ext cx="1619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如</a:t>
            </a:r>
          </a:p>
        </p:txBody>
      </p:sp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1331913" y="4025900"/>
          <a:ext cx="145415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19" name="Equation" r:id="rId5" imgW="1587500" imgH="711200" progId="Equation.DSMT4">
                  <p:embed/>
                </p:oleObj>
              </mc:Choice>
              <mc:Fallback>
                <p:oleObj name="Equation" r:id="rId5" imgW="1587500" imgH="71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025900"/>
                        <a:ext cx="145415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6740525" y="339090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缺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级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3048000" y="4195763"/>
            <a:ext cx="4476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缺第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25611" name="Object 11"/>
          <p:cNvGraphicFramePr>
            <a:graphicFrameLocks noChangeAspect="1"/>
          </p:cNvGraphicFramePr>
          <p:nvPr/>
        </p:nvGraphicFramePr>
        <p:xfrm>
          <a:off x="7551738" y="4408488"/>
          <a:ext cx="7112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20" name="Equation" r:id="rId7" imgW="495085" imgH="139639" progId="Equation.DSMT4">
                  <p:embed/>
                </p:oleObj>
              </mc:Choice>
              <mc:Fallback>
                <p:oleObj name="Equation" r:id="rId7" imgW="495085" imgH="13963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1738" y="4408488"/>
                        <a:ext cx="711200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2"/>
          <p:cNvGraphicFramePr>
            <a:graphicFrameLocks noChangeAspect="1"/>
          </p:cNvGraphicFramePr>
          <p:nvPr/>
        </p:nvGraphicFramePr>
        <p:xfrm>
          <a:off x="576263" y="4832350"/>
          <a:ext cx="7989887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21" name="BMP 图象" r:id="rId9" imgW="3962953" imgH="1057423" progId="PBrush">
                  <p:embed/>
                </p:oleObj>
              </mc:Choice>
              <mc:Fallback>
                <p:oleObj name="BMP 图象" r:id="rId9" imgW="3962953" imgH="1057423" progId="PBrush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4832350"/>
                        <a:ext cx="7989887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13"/>
          <p:cNvGraphicFramePr>
            <a:graphicFrameLocks noChangeAspect="1"/>
          </p:cNvGraphicFramePr>
          <p:nvPr/>
        </p:nvGraphicFramePr>
        <p:xfrm>
          <a:off x="4427538" y="6308725"/>
          <a:ext cx="2698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22" name="Equation" r:id="rId11" imgW="164957" imgH="241091" progId="Equation.DSMT4">
                  <p:embed/>
                </p:oleObj>
              </mc:Choice>
              <mc:Fallback>
                <p:oleObj name="Equation" r:id="rId11" imgW="164957" imgH="24109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6308725"/>
                        <a:ext cx="2698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14"/>
          <p:cNvGraphicFramePr>
            <a:graphicFrameLocks noChangeAspect="1"/>
          </p:cNvGraphicFramePr>
          <p:nvPr/>
        </p:nvGraphicFramePr>
        <p:xfrm>
          <a:off x="5327650" y="6335713"/>
          <a:ext cx="16351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23" name="Equation" r:id="rId13" imgW="114250" imgH="228501" progId="Equation.DSMT4">
                  <p:embed/>
                </p:oleObj>
              </mc:Choice>
              <mc:Fallback>
                <p:oleObj name="Equation" r:id="rId13" imgW="114250" imgH="22850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6335713"/>
                        <a:ext cx="163513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15"/>
          <p:cNvGraphicFramePr>
            <a:graphicFrameLocks noChangeAspect="1"/>
          </p:cNvGraphicFramePr>
          <p:nvPr/>
        </p:nvGraphicFramePr>
        <p:xfrm>
          <a:off x="3560763" y="6334125"/>
          <a:ext cx="3968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24" name="Equation" r:id="rId15" imgW="291973" imgH="228501" progId="Equation.DSMT4">
                  <p:embed/>
                </p:oleObj>
              </mc:Choice>
              <mc:Fallback>
                <p:oleObj name="Equation" r:id="rId15" imgW="291973" imgH="228501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0763" y="6334125"/>
                        <a:ext cx="396875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16"/>
          <p:cNvGraphicFramePr>
            <a:graphicFrameLocks noChangeAspect="1"/>
          </p:cNvGraphicFramePr>
          <p:nvPr/>
        </p:nvGraphicFramePr>
        <p:xfrm>
          <a:off x="5988050" y="6308725"/>
          <a:ext cx="26193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25" name="Equation" r:id="rId17" imgW="165028" imgH="228501" progId="Equation.DSMT4">
                  <p:embed/>
                </p:oleObj>
              </mc:Choice>
              <mc:Fallback>
                <p:oleObj name="Equation" r:id="rId17" imgW="165028" imgH="22850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050" y="6308725"/>
                        <a:ext cx="261938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7" name="Object 17"/>
          <p:cNvGraphicFramePr>
            <a:graphicFrameLocks noChangeAspect="1"/>
          </p:cNvGraphicFramePr>
          <p:nvPr/>
        </p:nvGraphicFramePr>
        <p:xfrm>
          <a:off x="2709863" y="6335713"/>
          <a:ext cx="442912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26" name="Equation" r:id="rId19" imgW="304668" imgH="228501" progId="Equation.DSMT4">
                  <p:embed/>
                </p:oleObj>
              </mc:Choice>
              <mc:Fallback>
                <p:oleObj name="Equation" r:id="rId19" imgW="304668" imgH="22850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3" y="6335713"/>
                        <a:ext cx="442912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8" name="Object 18"/>
          <p:cNvGraphicFramePr>
            <a:graphicFrameLocks noChangeAspect="1"/>
          </p:cNvGraphicFramePr>
          <p:nvPr/>
        </p:nvGraphicFramePr>
        <p:xfrm>
          <a:off x="7326313" y="6335713"/>
          <a:ext cx="2381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27" name="Equation" r:id="rId21" imgW="165028" imgH="228501" progId="Equation.DSMT4">
                  <p:embed/>
                </p:oleObj>
              </mc:Choice>
              <mc:Fallback>
                <p:oleObj name="Equation" r:id="rId21" imgW="165028" imgH="228501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313" y="6335713"/>
                        <a:ext cx="2381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9" name="Object 19"/>
          <p:cNvGraphicFramePr>
            <a:graphicFrameLocks noChangeAspect="1"/>
          </p:cNvGraphicFramePr>
          <p:nvPr/>
        </p:nvGraphicFramePr>
        <p:xfrm>
          <a:off x="1416050" y="6335713"/>
          <a:ext cx="442913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28" name="Equation" r:id="rId23" imgW="304668" imgH="228501" progId="Equation.DSMT4">
                  <p:embed/>
                </p:oleObj>
              </mc:Choice>
              <mc:Fallback>
                <p:oleObj name="Equation" r:id="rId23" imgW="304668" imgH="228501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6335713"/>
                        <a:ext cx="442913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1" name="Text Box 21"/>
          <p:cNvSpPr txBox="1">
            <a:spLocks noChangeArrowheads="1"/>
          </p:cNvSpPr>
          <p:nvPr/>
        </p:nvSpPr>
        <p:spPr bwMode="auto">
          <a:xfrm>
            <a:off x="5278438" y="4203700"/>
            <a:ext cx="3270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还缺 6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9、12</a:t>
            </a:r>
            <a:endParaRPr kumimoji="1" lang="en-US" altLang="zh-CN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22" name="Rectangle 22"/>
          <p:cNvSpPr>
            <a:spLocks noChangeArrowheads="1"/>
          </p:cNvSpPr>
          <p:nvPr/>
        </p:nvSpPr>
        <p:spPr bwMode="auto">
          <a:xfrm>
            <a:off x="2051050" y="2636838"/>
            <a:ext cx="6734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相长干涉的强度仍为零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缺级。</a:t>
            </a:r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358775" y="1268413"/>
            <a:ext cx="1763713" cy="1079500"/>
            <a:chOff x="363" y="1706"/>
            <a:chExt cx="1305" cy="680"/>
          </a:xfrm>
        </p:grpSpPr>
        <p:sp>
          <p:nvSpPr>
            <p:cNvPr id="48157" name="AutoShape 32"/>
            <p:cNvSpPr>
              <a:spLocks noChangeArrowheads="1"/>
            </p:cNvSpPr>
            <p:nvPr/>
          </p:nvSpPr>
          <p:spPr bwMode="auto">
            <a:xfrm>
              <a:off x="363" y="1706"/>
              <a:ext cx="1224" cy="680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8158" name="Text Box 33"/>
            <p:cNvSpPr txBox="1">
              <a:spLocks noChangeArrowheads="1"/>
            </p:cNvSpPr>
            <p:nvPr/>
          </p:nvSpPr>
          <p:spPr bwMode="auto">
            <a:xfrm>
              <a:off x="635" y="1842"/>
              <a:ext cx="10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1"/>
                  </a:solidFill>
                  <a:ea typeface="楷体_GB2312"/>
                  <a:cs typeface="楷体_GB2312"/>
                </a:rPr>
                <a:t>讨论</a:t>
              </a:r>
            </a:p>
          </p:txBody>
        </p:sp>
      </p:grpSp>
      <p:sp>
        <p:nvSpPr>
          <p:cNvPr id="48151" name="Text Box 35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26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pSp>
        <p:nvGrpSpPr>
          <p:cNvPr id="48152" name="组合 3"/>
          <p:cNvGrpSpPr>
            <a:grpSpLocks/>
          </p:cNvGrpSpPr>
          <p:nvPr/>
        </p:nvGrpSpPr>
        <p:grpSpPr bwMode="auto">
          <a:xfrm>
            <a:off x="990600" y="414338"/>
            <a:ext cx="6548438" cy="946150"/>
            <a:chOff x="991269" y="414338"/>
            <a:chExt cx="6547769" cy="946150"/>
          </a:xfrm>
        </p:grpSpPr>
        <p:graphicFrame>
          <p:nvGraphicFramePr>
            <p:cNvPr id="48153" name="Object 25"/>
            <p:cNvGraphicFramePr>
              <a:graphicFrameLocks noChangeAspect="1"/>
            </p:cNvGraphicFramePr>
            <p:nvPr/>
          </p:nvGraphicFramePr>
          <p:xfrm>
            <a:off x="1966913" y="957263"/>
            <a:ext cx="5572125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729" name="Equation" r:id="rId25" imgW="5473700" imgH="393700" progId="Equation.DSMT4">
                    <p:embed/>
                  </p:oleObj>
                </mc:Choice>
                <mc:Fallback>
                  <p:oleObj name="Equation" r:id="rId25" imgW="5473700" imgH="3937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6913" y="957263"/>
                          <a:ext cx="5572125" cy="403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4" name="Object 26"/>
            <p:cNvGraphicFramePr>
              <a:graphicFrameLocks noChangeAspect="1"/>
            </p:cNvGraphicFramePr>
            <p:nvPr/>
          </p:nvGraphicFramePr>
          <p:xfrm>
            <a:off x="1995488" y="414338"/>
            <a:ext cx="5397500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730" name="Equation" r:id="rId27" imgW="5448300" imgH="406400" progId="Equation.DSMT4">
                    <p:embed/>
                  </p:oleObj>
                </mc:Choice>
                <mc:Fallback>
                  <p:oleObj name="Equation" r:id="rId27" imgW="5448300" imgH="4064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5488" y="414338"/>
                          <a:ext cx="5397500" cy="422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5" name="AutoShape 27"/>
            <p:cNvSpPr>
              <a:spLocks/>
            </p:cNvSpPr>
            <p:nvPr/>
          </p:nvSpPr>
          <p:spPr bwMode="auto">
            <a:xfrm>
              <a:off x="1692275" y="547688"/>
              <a:ext cx="195263" cy="685800"/>
            </a:xfrm>
            <a:prstGeom prst="leftBrace">
              <a:avLst>
                <a:gd name="adj1" fmla="val 29268"/>
                <a:gd name="adj2" fmla="val 49838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pic>
          <p:nvPicPr>
            <p:cNvPr id="48156" name="Picture 23"/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91269" y="523352"/>
              <a:ext cx="681287" cy="790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  <p:bldP spid="25603" grpId="0" autoUpdateAnimBg="0"/>
      <p:bldP spid="25605" grpId="0" autoUpdateAnimBg="0"/>
      <p:bldP spid="25606" grpId="0" autoUpdateAnimBg="0"/>
      <p:bldP spid="25607" grpId="0" autoUpdateAnimBg="0"/>
      <p:bldP spid="25609" grpId="0" autoUpdateAnimBg="0"/>
      <p:bldP spid="25610" grpId="0" autoUpdateAnimBg="0"/>
      <p:bldP spid="25621" grpId="0" autoUpdateAnimBg="0"/>
      <p:bldP spid="25622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1" t="9821" r="6364" b="11336"/>
          <a:stretch>
            <a:fillRect/>
          </a:stretch>
        </p:blipFill>
        <p:spPr bwMode="auto">
          <a:xfrm>
            <a:off x="674688" y="1963738"/>
            <a:ext cx="7656512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" y="4219575"/>
            <a:ext cx="7735888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/>
          <p:cNvCxnSpPr/>
          <p:nvPr/>
        </p:nvCxnSpPr>
        <p:spPr>
          <a:xfrm>
            <a:off x="4632325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8975" y="1227138"/>
            <a:ext cx="181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单缝衍射</a:t>
            </a:r>
            <a:endParaRPr kumimoji="1" lang="zh-CN" altLang="en-US" sz="24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88975" y="3367088"/>
            <a:ext cx="1811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双缝衍射</a:t>
            </a:r>
            <a:endParaRPr kumimoji="1" lang="zh-CN" altLang="en-US" sz="24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063" name="Text Box 16"/>
          <p:cNvSpPr txBox="1">
            <a:spLocks noChangeArrowheads="1"/>
          </p:cNvSpPr>
          <p:nvPr/>
        </p:nvSpPr>
        <p:spPr bwMode="auto">
          <a:xfrm>
            <a:off x="8755063" y="63484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  <a:endParaRPr lang="en-US" altLang="zh-CN" sz="1800">
              <a:solidFill>
                <a:schemeClr val="tx1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3859213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372100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091238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818313" y="10112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489825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>
            <a:grpSpLocks/>
          </p:cNvGrpSpPr>
          <p:nvPr/>
        </p:nvGrpSpPr>
        <p:grpSpPr bwMode="auto">
          <a:xfrm>
            <a:off x="4352925" y="525463"/>
            <a:ext cx="4017963" cy="382587"/>
            <a:chOff x="4353495" y="524901"/>
            <a:chExt cx="4017302" cy="382554"/>
          </a:xfrm>
        </p:grpSpPr>
        <p:sp>
          <p:nvSpPr>
            <p:cNvPr id="45074" name="文本框 17"/>
            <p:cNvSpPr txBox="1">
              <a:spLocks noChangeArrowheads="1"/>
            </p:cNvSpPr>
            <p:nvPr/>
          </p:nvSpPr>
          <p:spPr bwMode="auto">
            <a:xfrm>
              <a:off x="4353495" y="531046"/>
              <a:ext cx="54460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0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</a:p>
          </p:txBody>
        </p:sp>
        <p:sp>
          <p:nvSpPr>
            <p:cNvPr id="45075" name="文本框 18"/>
            <p:cNvSpPr txBox="1">
              <a:spLocks noChangeArrowheads="1"/>
            </p:cNvSpPr>
            <p:nvPr/>
          </p:nvSpPr>
          <p:spPr bwMode="auto">
            <a:xfrm>
              <a:off x="4945161" y="531046"/>
              <a:ext cx="11934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1</a:t>
              </a:r>
              <a:r>
                <a:rPr lang="zh-CN" altLang="en-US" sz="1800" b="1">
                  <a:solidFill>
                    <a:schemeClr val="tx1"/>
                  </a:solidFill>
                </a:rPr>
                <a:t>级暗</a:t>
              </a:r>
            </a:p>
          </p:txBody>
        </p:sp>
        <p:sp>
          <p:nvSpPr>
            <p:cNvPr id="45076" name="文本框 20"/>
            <p:cNvSpPr txBox="1">
              <a:spLocks noChangeArrowheads="1"/>
            </p:cNvSpPr>
            <p:nvPr/>
          </p:nvSpPr>
          <p:spPr bwMode="auto">
            <a:xfrm>
              <a:off x="5711643" y="531046"/>
              <a:ext cx="11934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2</a:t>
              </a:r>
              <a:r>
                <a:rPr lang="zh-CN" altLang="en-US" sz="1800" b="1">
                  <a:solidFill>
                    <a:schemeClr val="tx1"/>
                  </a:solidFill>
                </a:rPr>
                <a:t>级暗</a:t>
              </a:r>
            </a:p>
          </p:txBody>
        </p:sp>
        <p:sp>
          <p:nvSpPr>
            <p:cNvPr id="45077" name="文本框 21"/>
            <p:cNvSpPr txBox="1">
              <a:spLocks noChangeArrowheads="1"/>
            </p:cNvSpPr>
            <p:nvPr/>
          </p:nvSpPr>
          <p:spPr bwMode="auto">
            <a:xfrm>
              <a:off x="6478126" y="524901"/>
              <a:ext cx="110601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3</a:t>
              </a:r>
              <a:r>
                <a:rPr lang="zh-CN" altLang="en-US" sz="1800" b="1">
                  <a:solidFill>
                    <a:schemeClr val="tx1"/>
                  </a:solidFill>
                </a:rPr>
                <a:t>级暗</a:t>
              </a:r>
            </a:p>
          </p:txBody>
        </p:sp>
        <p:sp>
          <p:nvSpPr>
            <p:cNvPr id="45078" name="文本框 22"/>
            <p:cNvSpPr txBox="1">
              <a:spLocks noChangeArrowheads="1"/>
            </p:cNvSpPr>
            <p:nvPr/>
          </p:nvSpPr>
          <p:spPr bwMode="auto">
            <a:xfrm>
              <a:off x="7177374" y="538123"/>
              <a:ext cx="11934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4</a:t>
              </a:r>
              <a:r>
                <a:rPr lang="zh-CN" altLang="en-US" sz="1800" b="1">
                  <a:solidFill>
                    <a:schemeClr val="tx1"/>
                  </a:solidFill>
                </a:rPr>
                <a:t>级暗</a:t>
              </a:r>
            </a:p>
          </p:txBody>
        </p:sp>
      </p:grpSp>
      <p:sp>
        <p:nvSpPr>
          <p:cNvPr id="27" name="文本框 26"/>
          <p:cNvSpPr txBox="1">
            <a:spLocks noChangeArrowheads="1"/>
          </p:cNvSpPr>
          <p:nvPr/>
        </p:nvSpPr>
        <p:spPr bwMode="auto">
          <a:xfrm>
            <a:off x="4846638" y="6040438"/>
            <a:ext cx="1390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缺</a:t>
            </a:r>
            <a:r>
              <a:rPr lang="en-US" altLang="zh-CN" sz="1800" b="1">
                <a:solidFill>
                  <a:schemeClr val="tx1"/>
                </a:solidFill>
              </a:rPr>
              <a:t>3</a:t>
            </a:r>
            <a:r>
              <a:rPr lang="zh-CN" altLang="en-US" sz="1800" b="1">
                <a:solidFill>
                  <a:schemeClr val="tx1"/>
                </a:solidFill>
              </a:rPr>
              <a:t>级明</a:t>
            </a:r>
          </a:p>
        </p:txBody>
      </p:sp>
      <p:sp>
        <p:nvSpPr>
          <p:cNvPr id="29" name="文本框 28"/>
          <p:cNvSpPr txBox="1">
            <a:spLocks noChangeArrowheads="1"/>
          </p:cNvSpPr>
          <p:nvPr/>
        </p:nvSpPr>
        <p:spPr bwMode="auto">
          <a:xfrm>
            <a:off x="5711825" y="6032500"/>
            <a:ext cx="1390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缺</a:t>
            </a:r>
            <a:r>
              <a:rPr lang="en-US" altLang="zh-CN" sz="1800" b="1">
                <a:solidFill>
                  <a:schemeClr val="tx1"/>
                </a:solidFill>
              </a:rPr>
              <a:t>6</a:t>
            </a:r>
            <a:r>
              <a:rPr lang="zh-CN" altLang="en-US" sz="1800" b="1">
                <a:solidFill>
                  <a:schemeClr val="tx1"/>
                </a:solidFill>
              </a:rPr>
              <a:t>级明</a:t>
            </a:r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577013" y="6022975"/>
            <a:ext cx="1390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缺</a:t>
            </a:r>
            <a:r>
              <a:rPr lang="en-US" altLang="zh-CN" sz="1800" b="1">
                <a:solidFill>
                  <a:schemeClr val="tx1"/>
                </a:solidFill>
              </a:rPr>
              <a:t>9</a:t>
            </a:r>
            <a:r>
              <a:rPr lang="zh-CN" altLang="en-US" sz="1800" b="1">
                <a:solidFill>
                  <a:schemeClr val="tx1"/>
                </a:solidFill>
              </a:rPr>
              <a:t>级</a:t>
            </a: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7272338" y="6022975"/>
            <a:ext cx="1390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缺</a:t>
            </a:r>
            <a:r>
              <a:rPr lang="en-US" altLang="zh-CN" sz="1800" b="1">
                <a:solidFill>
                  <a:schemeClr val="tx1"/>
                </a:solidFill>
              </a:rPr>
              <a:t>12</a:t>
            </a:r>
            <a:r>
              <a:rPr lang="zh-CN" altLang="en-US" sz="1800" b="1">
                <a:solidFill>
                  <a:schemeClr val="tx1"/>
                </a:solidFill>
              </a:rPr>
              <a:t>级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27" grpId="0"/>
      <p:bldP spid="29" grpId="0"/>
      <p:bldP spid="30" grpId="0"/>
      <p:bldP spid="3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336550" y="3275013"/>
            <a:ext cx="914400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）双缝衍射相邻两条明纹间距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）中央明纹包络线中的“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”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）双缝衍射的第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级明纹的相对强度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）中央明纹的包线中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共包含了几条完整的明纹？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）中央明纹包线中恰好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条明纹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如何设计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 ?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576263" y="5445125"/>
            <a:ext cx="2663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解：（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971550" y="6113463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51" name="Text Box 27"/>
          <p:cNvSpPr txBox="1">
            <a:spLocks noChangeArrowheads="1"/>
          </p:cNvSpPr>
          <p:nvPr/>
        </p:nvSpPr>
        <p:spPr bwMode="auto">
          <a:xfrm>
            <a:off x="611188" y="27813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求：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8" name="Text Box 31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27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pSp>
        <p:nvGrpSpPr>
          <p:cNvPr id="49159" name="组合 3"/>
          <p:cNvGrpSpPr>
            <a:grpSpLocks/>
          </p:cNvGrpSpPr>
          <p:nvPr/>
        </p:nvGrpSpPr>
        <p:grpSpPr bwMode="auto">
          <a:xfrm>
            <a:off x="468313" y="404813"/>
            <a:ext cx="7961312" cy="519112"/>
            <a:chOff x="468313" y="404813"/>
            <a:chExt cx="7961312" cy="519112"/>
          </a:xfrm>
        </p:grpSpPr>
        <p:sp>
          <p:nvSpPr>
            <p:cNvPr id="49181" name="Text Box 2"/>
            <p:cNvSpPr txBox="1">
              <a:spLocks noChangeArrowheads="1"/>
            </p:cNvSpPr>
            <p:nvPr/>
          </p:nvSpPr>
          <p:spPr bwMode="auto">
            <a:xfrm>
              <a:off x="468313" y="404813"/>
              <a:ext cx="2606675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例</a:t>
              </a:r>
              <a:r>
                <a:rPr kumimoji="1" lang="en-US" altLang="zh-CN" sz="2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. 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已知</a:t>
              </a:r>
              <a:endParaRPr kumimoji="1" lang="zh-CN" altLang="en-US" sz="2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9182" name="Object 8"/>
            <p:cNvGraphicFramePr>
              <a:graphicFrameLocks noChangeAspect="1"/>
            </p:cNvGraphicFramePr>
            <p:nvPr/>
          </p:nvGraphicFramePr>
          <p:xfrm>
            <a:off x="1998663" y="500063"/>
            <a:ext cx="2989262" cy="404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57" name="Equation" r:id="rId3" imgW="3022600" imgH="393700" progId="Equation.DSMT4">
                    <p:embed/>
                  </p:oleObj>
                </mc:Choice>
                <mc:Fallback>
                  <p:oleObj name="Equation" r:id="rId3" imgW="3022600" imgH="3937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8663" y="500063"/>
                          <a:ext cx="2989262" cy="4048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83" name="Object 8"/>
            <p:cNvGraphicFramePr>
              <a:graphicFrameLocks noChangeAspect="1"/>
            </p:cNvGraphicFramePr>
            <p:nvPr/>
          </p:nvGraphicFramePr>
          <p:xfrm>
            <a:off x="5076825" y="514350"/>
            <a:ext cx="3352800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58" name="Equation" r:id="rId5" imgW="3390900" imgH="393700" progId="Equation.DSMT4">
                    <p:embed/>
                  </p:oleObj>
                </mc:Choice>
                <mc:Fallback>
                  <p:oleObj name="Equation" r:id="rId5" imgW="3390900" imgH="3937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6825" y="514350"/>
                          <a:ext cx="3352800" cy="404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067" name="Object 8"/>
          <p:cNvGraphicFramePr>
            <a:graphicFrameLocks noChangeAspect="1"/>
          </p:cNvGraphicFramePr>
          <p:nvPr/>
        </p:nvGraphicFramePr>
        <p:xfrm>
          <a:off x="3630613" y="5557838"/>
          <a:ext cx="1357312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59" name="Equation" r:id="rId7" imgW="1371600" imgH="317500" progId="Equation.DSMT4">
                  <p:embed/>
                </p:oleObj>
              </mc:Choice>
              <mc:Fallback>
                <p:oleObj name="Equation" r:id="rId7" imgW="1371600" imgH="317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0613" y="5557838"/>
                        <a:ext cx="1357312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8" name="Object 8"/>
          <p:cNvGraphicFramePr>
            <a:graphicFrameLocks noChangeAspect="1"/>
          </p:cNvGraphicFramePr>
          <p:nvPr/>
        </p:nvGraphicFramePr>
        <p:xfrm>
          <a:off x="2222500" y="5403850"/>
          <a:ext cx="1408113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60" name="Equation" r:id="rId9" imgW="1422400" imgH="673100" progId="Equation.DSMT4">
                  <p:embed/>
                </p:oleObj>
              </mc:Choice>
              <mc:Fallback>
                <p:oleObj name="Equation" r:id="rId9" imgW="14224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5403850"/>
                        <a:ext cx="1408113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9" name="Object 8"/>
          <p:cNvGraphicFramePr>
            <a:graphicFrameLocks noChangeAspect="1"/>
          </p:cNvGraphicFramePr>
          <p:nvPr/>
        </p:nvGraphicFramePr>
        <p:xfrm>
          <a:off x="2159000" y="6183313"/>
          <a:ext cx="14716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61" name="Equation" r:id="rId11" imgW="1485900" imgH="431800" progId="Equation.DSMT4">
                  <p:embed/>
                </p:oleObj>
              </mc:Choice>
              <mc:Fallback>
                <p:oleObj name="Equation" r:id="rId11" imgW="14859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6183313"/>
                        <a:ext cx="1471613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0" name="Object 8"/>
          <p:cNvGraphicFramePr>
            <a:graphicFrameLocks noChangeAspect="1"/>
          </p:cNvGraphicFramePr>
          <p:nvPr/>
        </p:nvGraphicFramePr>
        <p:xfrm>
          <a:off x="3708400" y="6070600"/>
          <a:ext cx="353377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62" name="Equation" r:id="rId13" imgW="3568700" imgH="673100" progId="Equation.DSMT4">
                  <p:embed/>
                </p:oleObj>
              </mc:Choice>
              <mc:Fallback>
                <p:oleObj name="Equation" r:id="rId13" imgW="35687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6070600"/>
                        <a:ext cx="353377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574675" y="836613"/>
            <a:ext cx="8137525" cy="2452687"/>
            <a:chOff x="574675" y="836613"/>
            <a:chExt cx="8137525" cy="2452687"/>
          </a:xfrm>
        </p:grpSpPr>
        <p:sp>
          <p:nvSpPr>
            <p:cNvPr id="3" name="Line 11"/>
            <p:cNvSpPr>
              <a:spLocks noChangeShapeType="1"/>
            </p:cNvSpPr>
            <p:nvPr/>
          </p:nvSpPr>
          <p:spPr bwMode="auto">
            <a:xfrm flipH="1">
              <a:off x="1998663" y="1117600"/>
              <a:ext cx="0" cy="490538"/>
            </a:xfrm>
            <a:prstGeom prst="line">
              <a:avLst/>
            </a:prstGeom>
            <a:noFill/>
            <a:ln w="38100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6645" name="Line 12"/>
            <p:cNvSpPr>
              <a:spLocks noChangeShapeType="1"/>
            </p:cNvSpPr>
            <p:nvPr/>
          </p:nvSpPr>
          <p:spPr bwMode="auto">
            <a:xfrm flipH="1">
              <a:off x="1998663" y="1817688"/>
              <a:ext cx="0" cy="490537"/>
            </a:xfrm>
            <a:prstGeom prst="line">
              <a:avLst/>
            </a:prstGeom>
            <a:noFill/>
            <a:ln w="38100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6646" name="Line 13"/>
            <p:cNvSpPr>
              <a:spLocks noChangeShapeType="1"/>
            </p:cNvSpPr>
            <p:nvPr/>
          </p:nvSpPr>
          <p:spPr bwMode="auto">
            <a:xfrm flipH="1">
              <a:off x="1998663" y="2517775"/>
              <a:ext cx="0" cy="490538"/>
            </a:xfrm>
            <a:prstGeom prst="line">
              <a:avLst/>
            </a:prstGeom>
            <a:noFill/>
            <a:ln w="38100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49168" name="Line 14"/>
            <p:cNvSpPr>
              <a:spLocks noChangeShapeType="1"/>
            </p:cNvSpPr>
            <p:nvPr/>
          </p:nvSpPr>
          <p:spPr bwMode="auto">
            <a:xfrm flipH="1">
              <a:off x="1998742" y="2097995"/>
              <a:ext cx="6103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9" name="Line 15"/>
            <p:cNvSpPr>
              <a:spLocks noChangeShapeType="1"/>
            </p:cNvSpPr>
            <p:nvPr/>
          </p:nvSpPr>
          <p:spPr bwMode="auto">
            <a:xfrm flipH="1">
              <a:off x="574675" y="1607457"/>
              <a:ext cx="1424067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0" name="Line 16"/>
            <p:cNvSpPr>
              <a:spLocks noChangeShapeType="1"/>
            </p:cNvSpPr>
            <p:nvPr/>
          </p:nvSpPr>
          <p:spPr bwMode="auto">
            <a:xfrm flipH="1">
              <a:off x="574675" y="2308225"/>
              <a:ext cx="1424067" cy="0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1" name="Line 17"/>
            <p:cNvSpPr>
              <a:spLocks noChangeShapeType="1"/>
            </p:cNvSpPr>
            <p:nvPr/>
          </p:nvSpPr>
          <p:spPr bwMode="auto">
            <a:xfrm flipH="1">
              <a:off x="778113" y="1607457"/>
              <a:ext cx="0" cy="700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9172" name="Object 19"/>
            <p:cNvGraphicFramePr>
              <a:graphicFrameLocks noChangeAspect="1"/>
            </p:cNvGraphicFramePr>
            <p:nvPr/>
          </p:nvGraphicFramePr>
          <p:xfrm>
            <a:off x="6940593" y="836613"/>
            <a:ext cx="1771607" cy="2452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63" name="BMP 图像" r:id="rId15" imgW="2219635" imgH="4420217" progId="Paint.Picture">
                    <p:embed/>
                  </p:oleObj>
                </mc:Choice>
                <mc:Fallback>
                  <p:oleObj name="BMP 图像" r:id="rId15" imgW="2219635" imgH="4420217" progId="Paint.Picture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0593" y="836613"/>
                          <a:ext cx="1771607" cy="2452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3" name="Line 20"/>
            <p:cNvSpPr>
              <a:spLocks noChangeShapeType="1"/>
            </p:cNvSpPr>
            <p:nvPr/>
          </p:nvSpPr>
          <p:spPr bwMode="auto">
            <a:xfrm>
              <a:off x="1998742" y="2938916"/>
              <a:ext cx="51537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21"/>
            <p:cNvSpPr>
              <a:spLocks noChangeShapeType="1"/>
            </p:cNvSpPr>
            <p:nvPr/>
          </p:nvSpPr>
          <p:spPr bwMode="auto">
            <a:xfrm>
              <a:off x="7158038" y="906463"/>
              <a:ext cx="0" cy="2382837"/>
            </a:xfrm>
            <a:prstGeom prst="line">
              <a:avLst/>
            </a:prstGeom>
            <a:noFill/>
            <a:ln w="9525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49175" name="AutoShape 23"/>
            <p:cNvSpPr>
              <a:spLocks/>
            </p:cNvSpPr>
            <p:nvPr/>
          </p:nvSpPr>
          <p:spPr bwMode="auto">
            <a:xfrm>
              <a:off x="6949070" y="1257074"/>
              <a:ext cx="135625" cy="770844"/>
            </a:xfrm>
            <a:prstGeom prst="leftBrace">
              <a:avLst>
                <a:gd name="adj1" fmla="val 45838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" name="Line 25"/>
            <p:cNvSpPr>
              <a:spLocks noChangeShapeType="1"/>
            </p:cNvSpPr>
            <p:nvPr/>
          </p:nvSpPr>
          <p:spPr bwMode="auto">
            <a:xfrm flipV="1">
              <a:off x="1998663" y="1187450"/>
              <a:ext cx="5159375" cy="911225"/>
            </a:xfrm>
            <a:prstGeom prst="line">
              <a:avLst/>
            </a:prstGeom>
            <a:noFill/>
            <a:ln w="38100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49177" name="Object 8"/>
            <p:cNvGraphicFramePr>
              <a:graphicFrameLocks noChangeAspect="1"/>
            </p:cNvGraphicFramePr>
            <p:nvPr/>
          </p:nvGraphicFramePr>
          <p:xfrm>
            <a:off x="796923" y="1808371"/>
            <a:ext cx="1183009" cy="3319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64" name="Equation" r:id="rId17" imgW="850900" imgH="228600" progId="Equation.DSMT4">
                    <p:embed/>
                  </p:oleObj>
                </mc:Choice>
                <mc:Fallback>
                  <p:oleObj name="Equation" r:id="rId17" imgW="850900" imgH="228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6923" y="1808371"/>
                          <a:ext cx="1183009" cy="3319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8" name="Object 8"/>
            <p:cNvGraphicFramePr>
              <a:graphicFrameLocks noChangeAspect="1"/>
            </p:cNvGraphicFramePr>
            <p:nvPr/>
          </p:nvGraphicFramePr>
          <p:xfrm>
            <a:off x="4344840" y="1651173"/>
            <a:ext cx="301625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65" name="Equation" r:id="rId19" imgW="304668" imgH="431613" progId="Equation.DSMT4">
                    <p:embed/>
                  </p:oleObj>
                </mc:Choice>
                <mc:Fallback>
                  <p:oleObj name="Equation" r:id="rId19" imgW="304668" imgH="431613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840" y="1651173"/>
                          <a:ext cx="301625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9" name="Object 8"/>
            <p:cNvGraphicFramePr>
              <a:graphicFrameLocks noChangeAspect="1"/>
            </p:cNvGraphicFramePr>
            <p:nvPr/>
          </p:nvGraphicFramePr>
          <p:xfrm>
            <a:off x="4418462" y="2572542"/>
            <a:ext cx="314325" cy="30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66" name="Equation" r:id="rId21" imgW="317225" imgH="291847" progId="Equation.DSMT4">
                    <p:embed/>
                  </p:oleObj>
                </mc:Choice>
                <mc:Fallback>
                  <p:oleObj name="Equation" r:id="rId21" imgW="317225" imgH="291847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8462" y="2572542"/>
                          <a:ext cx="314325" cy="301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80" name="Object 8"/>
            <p:cNvGraphicFramePr>
              <a:graphicFrameLocks noChangeAspect="1"/>
            </p:cNvGraphicFramePr>
            <p:nvPr/>
          </p:nvGraphicFramePr>
          <p:xfrm>
            <a:off x="6643893" y="1473963"/>
            <a:ext cx="305176" cy="319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67" name="Equation" r:id="rId23" imgW="139700" imgH="139700" progId="Equation.DSMT4">
                    <p:embed/>
                  </p:oleObj>
                </mc:Choice>
                <mc:Fallback>
                  <p:oleObj name="Equation" r:id="rId23" imgW="139700" imgH="1397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43893" y="1473963"/>
                          <a:ext cx="305176" cy="319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/>
      <p:bldP spid="26629" grpId="0"/>
      <p:bldP spid="26632" grpId="0"/>
      <p:bldP spid="2665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223963" y="20462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根据题意：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3062288" y="2190750"/>
          <a:ext cx="1474787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1" name="Equation" r:id="rId3" imgW="1485255" imgH="317362" progId="Equation.DSMT4">
                  <p:embed/>
                </p:oleObj>
              </mc:Choice>
              <mc:Fallback>
                <p:oleObj name="Equation" r:id="rId3" imgW="1485255" imgH="31736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288" y="2190750"/>
                        <a:ext cx="1474787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4799013" y="2024063"/>
          <a:ext cx="142875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2" name="Equation" r:id="rId5" imgW="1333500" imgH="673100" progId="Equation.DSMT4">
                  <p:embed/>
                </p:oleObj>
              </mc:Choice>
              <mc:Fallback>
                <p:oleObj name="Equation" r:id="rId5" imgW="13335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013" y="2024063"/>
                        <a:ext cx="142875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AutoShape 5"/>
          <p:cNvSpPr>
            <a:spLocks/>
          </p:cNvSpPr>
          <p:nvPr/>
        </p:nvSpPr>
        <p:spPr bwMode="auto">
          <a:xfrm>
            <a:off x="1295400" y="3033713"/>
            <a:ext cx="252413" cy="1042987"/>
          </a:xfrm>
          <a:prstGeom prst="leftBrace">
            <a:avLst>
              <a:gd name="adj1" fmla="val 34434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1595438" y="3644900"/>
          <a:ext cx="15906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3" name="Equation" r:id="rId7" imgW="1726451" imgH="672808" progId="Equation.DSMT4">
                  <p:embed/>
                </p:oleObj>
              </mc:Choice>
              <mc:Fallback>
                <p:oleObj name="Equation" r:id="rId7" imgW="1726451" imgH="67280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3644900"/>
                        <a:ext cx="159067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/>
          <p:cNvGraphicFramePr>
            <a:graphicFrameLocks noChangeAspect="1"/>
          </p:cNvGraphicFramePr>
          <p:nvPr/>
        </p:nvGraphicFramePr>
        <p:xfrm>
          <a:off x="1636713" y="2816225"/>
          <a:ext cx="165735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4" name="Equation" r:id="rId9" imgW="1765300" imgH="673100" progId="Equation.DSMT4">
                  <p:embed/>
                </p:oleObj>
              </mc:Choice>
              <mc:Fallback>
                <p:oleObj name="Equation" r:id="rId9" imgW="17653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2816225"/>
                        <a:ext cx="1657350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3392488" y="3033713"/>
          <a:ext cx="58102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5" name="Equation" r:id="rId11" imgW="520700" imgH="228600" progId="Equation.DSMT4">
                  <p:embed/>
                </p:oleObj>
              </mc:Choice>
              <mc:Fallback>
                <p:oleObj name="Equation" r:id="rId11" imgW="5207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88" y="3033713"/>
                        <a:ext cx="58102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9"/>
          <p:cNvGraphicFramePr>
            <a:graphicFrameLocks noChangeAspect="1"/>
          </p:cNvGraphicFramePr>
          <p:nvPr/>
        </p:nvGraphicFramePr>
        <p:xfrm>
          <a:off x="3349625" y="3608388"/>
          <a:ext cx="106362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6" name="Equation" r:id="rId13" imgW="698197" imgH="672808" progId="Equation.DSMT4">
                  <p:embed/>
                </p:oleObj>
              </mc:Choice>
              <mc:Fallback>
                <p:oleObj name="Equation" r:id="rId13" imgW="698197" imgH="67280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3608388"/>
                        <a:ext cx="106362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10"/>
          <p:cNvGraphicFramePr>
            <a:graphicFrameLocks noChangeAspect="1"/>
          </p:cNvGraphicFramePr>
          <p:nvPr/>
        </p:nvGraphicFramePr>
        <p:xfrm>
          <a:off x="1449388" y="4473575"/>
          <a:ext cx="3490912" cy="139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7" name="Equation" r:id="rId15" imgW="2921000" imgH="1333500" progId="Equation.DSMT4">
                  <p:embed/>
                </p:oleObj>
              </mc:Choice>
              <mc:Fallback>
                <p:oleObj name="Equation" r:id="rId15" imgW="2921000" imgH="13335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8" y="4473575"/>
                        <a:ext cx="3490912" cy="139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323850" y="404813"/>
            <a:ext cx="731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）双缝衍射的第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级明纹的相对强度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6264275" y="1143000"/>
            <a:ext cx="2879725" cy="4648200"/>
            <a:chOff x="0" y="0"/>
            <a:chExt cx="5760" cy="4320"/>
          </a:xfrm>
        </p:grpSpPr>
        <p:graphicFrame>
          <p:nvGraphicFramePr>
            <p:cNvPr id="50196" name="Object 16"/>
            <p:cNvGraphicFramePr>
              <a:graphicFrameLocks noChangeAspect="1"/>
            </p:cNvGraphicFramePr>
            <p:nvPr/>
          </p:nvGraphicFramePr>
          <p:xfrm>
            <a:off x="0" y="0"/>
            <a:ext cx="5760" cy="4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78" name="BMP 图象" r:id="rId17" imgW="8047619" imgH="6304762" progId="PBrush">
                    <p:embed/>
                  </p:oleObj>
                </mc:Choice>
                <mc:Fallback>
                  <p:oleObj name="BMP 图象" r:id="rId17" imgW="8047619" imgH="6304762" progId="PBrush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760" cy="4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7" name="Line 17"/>
            <p:cNvSpPr>
              <a:spLocks noChangeShapeType="1"/>
            </p:cNvSpPr>
            <p:nvPr/>
          </p:nvSpPr>
          <p:spPr bwMode="auto">
            <a:xfrm>
              <a:off x="0" y="3600"/>
              <a:ext cx="57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7666" name="Object 18"/>
          <p:cNvGraphicFramePr>
            <a:graphicFrameLocks noChangeAspect="1"/>
          </p:cNvGraphicFramePr>
          <p:nvPr/>
        </p:nvGraphicFramePr>
        <p:xfrm>
          <a:off x="4392613" y="3606800"/>
          <a:ext cx="17621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9" name="Equation" r:id="rId19" imgW="1816100" imgH="673100" progId="Equation.DSMT4">
                  <p:embed/>
                </p:oleObj>
              </mc:Choice>
              <mc:Fallback>
                <p:oleObj name="Equation" r:id="rId19" imgW="1816100" imgH="6731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3606800"/>
                        <a:ext cx="17621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7" name="AutoShape 19"/>
          <p:cNvSpPr>
            <a:spLocks noChangeArrowheads="1"/>
          </p:cNvSpPr>
          <p:nvPr/>
        </p:nvSpPr>
        <p:spPr bwMode="auto">
          <a:xfrm>
            <a:off x="8101013" y="476250"/>
            <a:ext cx="762000" cy="1676400"/>
          </a:xfrm>
          <a:prstGeom prst="wedgeRectCallout">
            <a:avLst>
              <a:gd name="adj1" fmla="val -119375"/>
              <a:gd name="adj2" fmla="val 95644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 b="1">
                <a:solidFill>
                  <a:schemeClr val="tx1"/>
                </a:solidFill>
                <a:latin typeface="Times New Roman" panose="02020603050405020304" pitchFamily="18" charset="0"/>
              </a:rPr>
              <a:t>一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级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明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纹</a:t>
            </a:r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2232025" y="944563"/>
            <a:ext cx="3527425" cy="936625"/>
            <a:chOff x="1406" y="550"/>
            <a:chExt cx="2449" cy="607"/>
          </a:xfrm>
        </p:grpSpPr>
        <p:graphicFrame>
          <p:nvGraphicFramePr>
            <p:cNvPr id="50194" name="Object 14"/>
            <p:cNvGraphicFramePr>
              <a:graphicFrameLocks noChangeAspect="1"/>
            </p:cNvGraphicFramePr>
            <p:nvPr/>
          </p:nvGraphicFramePr>
          <p:xfrm>
            <a:off x="1406" y="550"/>
            <a:ext cx="1939" cy="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80" name="Equation" r:id="rId21" imgW="2794000" imgH="876300" progId="Equation.DSMT4">
                    <p:embed/>
                  </p:oleObj>
                </mc:Choice>
                <mc:Fallback>
                  <p:oleObj name="Equation" r:id="rId21" imgW="2794000" imgH="8763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6" y="550"/>
                          <a:ext cx="1939" cy="607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chemeClr val="hlink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50195" name="Picture 23"/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2" y="611"/>
              <a:ext cx="47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0192" name="Text Box 25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28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aphicFrame>
        <p:nvGraphicFramePr>
          <p:cNvPr id="22" name="Object 10"/>
          <p:cNvGraphicFramePr>
            <a:graphicFrameLocks noChangeAspect="1"/>
          </p:cNvGraphicFramePr>
          <p:nvPr/>
        </p:nvGraphicFramePr>
        <p:xfrm>
          <a:off x="4940300" y="5016500"/>
          <a:ext cx="12700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81" name="Equation" r:id="rId24" imgW="494870" imgH="177646" progId="Equation.DSMT4">
                  <p:embed/>
                </p:oleObj>
              </mc:Choice>
              <mc:Fallback>
                <p:oleObj name="Equation" r:id="rId24" imgW="494870" imgH="17764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5016500"/>
                        <a:ext cx="127000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3" grpId="0" animBg="1"/>
      <p:bldP spid="27659" grpId="0" autoUpdateAnimBg="0"/>
      <p:bldP spid="27667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473075" y="404813"/>
            <a:ext cx="8191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中央包线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中，共包含了几条完整的明条纹？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301750" y="971550"/>
            <a:ext cx="5976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包线的第一极小的衍射角：</a:t>
            </a:r>
            <a:endParaRPr kumimoji="1" lang="zh-CN" altLang="en-US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2270125" y="1557338"/>
          <a:ext cx="15160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0" name="Equation" r:id="rId3" imgW="1397000" imgH="431800" progId="Equation.DSMT4">
                  <p:embed/>
                </p:oleObj>
              </mc:Choice>
              <mc:Fallback>
                <p:oleObj name="Equation" r:id="rId3" imgW="13970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1557338"/>
                        <a:ext cx="15160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1265238" y="2090738"/>
            <a:ext cx="5905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设中央明纹中共有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2225675" y="2757488"/>
          <a:ext cx="156051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1" name="Equation" r:id="rId5" imgW="1663700" imgH="431800" progId="Equation.DSMT4">
                  <p:embed/>
                </p:oleObj>
              </mc:Choice>
              <mc:Fallback>
                <p:oleObj name="Equation" r:id="rId5" imgW="16637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2757488"/>
                        <a:ext cx="1560513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1366838" y="3341688"/>
          <a:ext cx="1433512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2" name="Equation" r:id="rId7" imgW="1320227" imgH="672808" progId="Equation.DSMT4">
                  <p:embed/>
                </p:oleObj>
              </mc:Choice>
              <mc:Fallback>
                <p:oleObj name="Equation" r:id="rId7" imgW="1320227" imgH="67280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3341688"/>
                        <a:ext cx="1433512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8"/>
          <p:cNvGraphicFramePr>
            <a:graphicFrameLocks noChangeAspect="1"/>
          </p:cNvGraphicFramePr>
          <p:nvPr/>
        </p:nvGraphicFramePr>
        <p:xfrm>
          <a:off x="3021013" y="3355975"/>
          <a:ext cx="29146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3" name="Equation" r:id="rId9" imgW="2882900" imgH="673100" progId="Equation.DSMT4">
                  <p:embed/>
                </p:oleObj>
              </mc:Choice>
              <mc:Fallback>
                <p:oleObj name="Equation" r:id="rId9" imgW="28829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013" y="3355975"/>
                        <a:ext cx="291465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1181100" y="4840288"/>
            <a:ext cx="6340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包含了                      条明条纹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82" name="Object 10"/>
          <p:cNvGraphicFramePr>
            <a:graphicFrameLocks noChangeAspect="1"/>
          </p:cNvGraphicFramePr>
          <p:nvPr/>
        </p:nvGraphicFramePr>
        <p:xfrm>
          <a:off x="2484438" y="4927600"/>
          <a:ext cx="17414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4" name="Equation" r:id="rId11" imgW="1218671" imgH="241195" progId="Equation.DSMT4">
                  <p:embed/>
                </p:oleObj>
              </mc:Choice>
              <mc:Fallback>
                <p:oleObj name="Equation" r:id="rId11" imgW="1218671" imgH="24119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927600"/>
                        <a:ext cx="174148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0" name="Rectangle 18"/>
          <p:cNvSpPr>
            <a:spLocks noChangeArrowheads="1"/>
          </p:cNvSpPr>
          <p:nvPr/>
        </p:nvSpPr>
        <p:spPr bwMode="auto">
          <a:xfrm>
            <a:off x="1212850" y="4195763"/>
            <a:ext cx="2881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级缺级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!</a:t>
            </a:r>
            <a:endParaRPr kumimoji="1" lang="en-US" altLang="zh-CN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95" name="Object 23"/>
          <p:cNvGraphicFramePr>
            <a:graphicFrameLocks noChangeAspect="1"/>
          </p:cNvGraphicFramePr>
          <p:nvPr/>
        </p:nvGraphicFramePr>
        <p:xfrm>
          <a:off x="4351338" y="1468438"/>
          <a:ext cx="13065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5" name="Equation" r:id="rId13" imgW="1320227" imgH="672808" progId="Equation.DSMT4">
                  <p:embed/>
                </p:oleObj>
              </mc:Choice>
              <mc:Fallback>
                <p:oleObj name="Equation" r:id="rId13" imgW="1320227" imgH="672808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1468438"/>
                        <a:ext cx="130651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6" name="Line 24"/>
          <p:cNvSpPr>
            <a:spLocks noChangeShapeType="1"/>
          </p:cNvSpPr>
          <p:nvPr/>
        </p:nvSpPr>
        <p:spPr bwMode="auto">
          <a:xfrm>
            <a:off x="1663700" y="3394075"/>
            <a:ext cx="3048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7" name="Line 25"/>
          <p:cNvSpPr>
            <a:spLocks noChangeShapeType="1"/>
          </p:cNvSpPr>
          <p:nvPr/>
        </p:nvSpPr>
        <p:spPr bwMode="auto">
          <a:xfrm>
            <a:off x="2501900" y="3546475"/>
            <a:ext cx="3048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5" name="Text Box 27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29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pSp>
        <p:nvGrpSpPr>
          <p:cNvPr id="31" name="Group 15"/>
          <p:cNvGrpSpPr>
            <a:grpSpLocks/>
          </p:cNvGrpSpPr>
          <p:nvPr/>
        </p:nvGrpSpPr>
        <p:grpSpPr bwMode="auto">
          <a:xfrm>
            <a:off x="6146800" y="1341438"/>
            <a:ext cx="2879725" cy="4648200"/>
            <a:chOff x="0" y="0"/>
            <a:chExt cx="5760" cy="4320"/>
          </a:xfrm>
        </p:grpSpPr>
        <p:graphicFrame>
          <p:nvGraphicFramePr>
            <p:cNvPr id="51217" name="Object 16"/>
            <p:cNvGraphicFramePr>
              <a:graphicFrameLocks noChangeAspect="1"/>
            </p:cNvGraphicFramePr>
            <p:nvPr/>
          </p:nvGraphicFramePr>
          <p:xfrm>
            <a:off x="0" y="0"/>
            <a:ext cx="5760" cy="4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26" name="BMP 图象" r:id="rId15" imgW="8047619" imgH="6304762" progId="PBrush">
                    <p:embed/>
                  </p:oleObj>
                </mc:Choice>
                <mc:Fallback>
                  <p:oleObj name="BMP 图象" r:id="rId15" imgW="8047619" imgH="6304762" progId="PBrush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760" cy="4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8" name="Line 17"/>
            <p:cNvSpPr>
              <a:spLocks noChangeShapeType="1"/>
            </p:cNvSpPr>
            <p:nvPr/>
          </p:nvSpPr>
          <p:spPr bwMode="auto">
            <a:xfrm>
              <a:off x="0" y="3600"/>
              <a:ext cx="57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  <p:bldP spid="28675" grpId="0" autoUpdateAnimBg="0"/>
      <p:bldP spid="28677" grpId="0" autoUpdateAnimBg="0"/>
      <p:bldP spid="28681" grpId="0" autoUpdateAnimBg="0"/>
      <p:bldP spid="28690" grpId="0" autoUpdateAnimBg="0"/>
      <p:bldP spid="28696" grpId="0" animBg="1"/>
      <p:bldP spid="2869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26"/>
          <p:cNvSpPr/>
          <p:nvPr/>
        </p:nvSpPr>
        <p:spPr>
          <a:xfrm>
            <a:off x="5922549" y="2150940"/>
            <a:ext cx="2670175" cy="226377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227" name="Rectangle 11"/>
          <p:cNvSpPr>
            <a:spLocks noChangeArrowheads="1"/>
          </p:cNvSpPr>
          <p:nvPr/>
        </p:nvSpPr>
        <p:spPr bwMode="auto">
          <a:xfrm>
            <a:off x="255588" y="449263"/>
            <a:ext cx="82819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400" b="1">
                <a:solidFill>
                  <a:schemeClr val="tx1"/>
                </a:solidFill>
              </a:rPr>
              <a:t>）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若要中央明纹的包线中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恰好有 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条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明纹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b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  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应如何设计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?</a:t>
            </a:r>
          </a:p>
        </p:txBody>
      </p:sp>
      <p:graphicFrame>
        <p:nvGraphicFramePr>
          <p:cNvPr id="522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968044"/>
              </p:ext>
            </p:extLst>
          </p:nvPr>
        </p:nvGraphicFramePr>
        <p:xfrm>
          <a:off x="5971762" y="2100140"/>
          <a:ext cx="2505075" cy="224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2" name="位图图像" r:id="rId3" imgW="2123810" imgH="828791" progId="Paint.Picture">
                  <p:embed/>
                </p:oleObj>
              </mc:Choice>
              <mc:Fallback>
                <p:oleObj name="位图图像" r:id="rId3" imgW="2123810" imgH="828791" progId="Paint.Pictur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1762" y="2100140"/>
                        <a:ext cx="2505075" cy="224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760587"/>
              </p:ext>
            </p:extLst>
          </p:nvPr>
        </p:nvGraphicFramePr>
        <p:xfrm>
          <a:off x="905669" y="4521324"/>
          <a:ext cx="25527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3" name="Equation" r:id="rId5" imgW="2324100" imgH="393700" progId="Equation.DSMT4">
                  <p:embed/>
                </p:oleObj>
              </mc:Choice>
              <mc:Fallback>
                <p:oleObj name="Equation" r:id="rId5" imgW="2324100" imgH="39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669" y="4521324"/>
                        <a:ext cx="25527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337587"/>
              </p:ext>
            </p:extLst>
          </p:nvPr>
        </p:nvGraphicFramePr>
        <p:xfrm>
          <a:off x="745332" y="4889624"/>
          <a:ext cx="322421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4" name="Equation" r:id="rId7" imgW="3213100" imgH="673100" progId="Equation.DSMT4">
                  <p:embed/>
                </p:oleObj>
              </mc:Choice>
              <mc:Fallback>
                <p:oleObj name="Equation" r:id="rId7" imgW="3213100" imgH="673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332" y="4889624"/>
                        <a:ext cx="3224212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15"/>
          <p:cNvSpPr>
            <a:spLocks/>
          </p:cNvSpPr>
          <p:nvPr/>
        </p:nvSpPr>
        <p:spPr bwMode="auto">
          <a:xfrm>
            <a:off x="543719" y="4665786"/>
            <a:ext cx="144463" cy="611188"/>
          </a:xfrm>
          <a:prstGeom prst="leftBrace">
            <a:avLst>
              <a:gd name="adj1" fmla="val 35256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2512848"/>
              </p:ext>
            </p:extLst>
          </p:nvPr>
        </p:nvGraphicFramePr>
        <p:xfrm>
          <a:off x="4145757" y="5032499"/>
          <a:ext cx="84296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5" name="Equation" r:id="rId9" imgW="761669" imgH="317362" progId="Equation.DSMT4">
                  <p:embed/>
                </p:oleObj>
              </mc:Choice>
              <mc:Fallback>
                <p:oleObj name="Equation" r:id="rId9" imgW="761669" imgH="317362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757" y="5032499"/>
                        <a:ext cx="84296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139651"/>
              </p:ext>
            </p:extLst>
          </p:nvPr>
        </p:nvGraphicFramePr>
        <p:xfrm>
          <a:off x="2037557" y="5512397"/>
          <a:ext cx="21082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6" name="Equation" r:id="rId11" imgW="1917700" imgH="825500" progId="Equation.DSMT4">
                  <p:embed/>
                </p:oleObj>
              </mc:Choice>
              <mc:Fallback>
                <p:oleObj name="Equation" r:id="rId11" imgW="1917700" imgH="8255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7557" y="5512397"/>
                        <a:ext cx="21082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038717"/>
              </p:ext>
            </p:extLst>
          </p:nvPr>
        </p:nvGraphicFramePr>
        <p:xfrm>
          <a:off x="705644" y="5734647"/>
          <a:ext cx="1049338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7" name="Equation" r:id="rId13" imgW="431425" imgH="177646" progId="Equation.DSMT4">
                  <p:embed/>
                </p:oleObj>
              </mc:Choice>
              <mc:Fallback>
                <p:oleObj name="Equation" r:id="rId13" imgW="431425" imgH="177646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4" y="5734647"/>
                        <a:ext cx="1049338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409179" y="1420803"/>
            <a:ext cx="520104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第一种情况</a:t>
            </a:r>
            <a:r>
              <a:rPr kumimoji="1"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衍射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级极小</a:t>
            </a:r>
            <a:r>
              <a:rPr kumimoji="1" lang="zh-CN" altLang="en-US" sz="2800" b="1" dirty="0">
                <a:solidFill>
                  <a:schemeClr val="tx1"/>
                </a:solidFill>
                <a:latin typeface="+mn-ea"/>
              </a:rPr>
              <a:t>刚好对应干涉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级极大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级缺级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430916" y="3551360"/>
            <a:ext cx="50863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第二种情况</a:t>
            </a:r>
            <a:r>
              <a:rPr kumimoji="1"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衍射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级极小</a:t>
            </a:r>
            <a:r>
              <a:rPr kumimoji="1"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刚好对应干涉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级极小</a:t>
            </a:r>
            <a:endParaRPr kumimoji="1" lang="en-US" altLang="zh-CN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3559207" y="2887887"/>
            <a:ext cx="1027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d/a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=6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3">
            <a:extLst>
              <a:ext uri="{FF2B5EF4-FFF2-40B4-BE49-F238E27FC236}">
                <a16:creationId xmlns:a16="http://schemas.microsoft.com/office/drawing/2014/main" id="{08D54217-8376-4C5B-B8B5-DE3030DBF9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619369"/>
              </p:ext>
            </p:extLst>
          </p:nvPr>
        </p:nvGraphicFramePr>
        <p:xfrm>
          <a:off x="780257" y="2428875"/>
          <a:ext cx="25527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8" name="Equation" r:id="rId5" imgW="2324100" imgH="393700" progId="Equation.DSMT4">
                  <p:embed/>
                </p:oleObj>
              </mc:Choice>
              <mc:Fallback>
                <p:oleObj name="Equation" r:id="rId5" imgW="2324100" imgH="393700" progId="Equation.DSMT4">
                  <p:embed/>
                  <p:pic>
                    <p:nvPicPr>
                      <p:cNvPr id="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257" y="2428875"/>
                        <a:ext cx="25527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4">
            <a:extLst>
              <a:ext uri="{FF2B5EF4-FFF2-40B4-BE49-F238E27FC236}">
                <a16:creationId xmlns:a16="http://schemas.microsoft.com/office/drawing/2014/main" id="{7F9D6AD5-3E74-4BC0-BAED-5698733015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261122"/>
              </p:ext>
            </p:extLst>
          </p:nvPr>
        </p:nvGraphicFramePr>
        <p:xfrm>
          <a:off x="740682" y="2968624"/>
          <a:ext cx="238283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9" name="Equation" r:id="rId15" imgW="2374560" imgH="393480" progId="Equation.DSMT4">
                  <p:embed/>
                </p:oleObj>
              </mc:Choice>
              <mc:Fallback>
                <p:oleObj name="Equation" r:id="rId15" imgW="2374560" imgH="393480" progId="Equation.DSMT4">
                  <p:embed/>
                  <p:pic>
                    <p:nvPicPr>
                      <p:cNvPr id="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682" y="2968624"/>
                        <a:ext cx="238283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AutoShape 15">
            <a:extLst>
              <a:ext uri="{FF2B5EF4-FFF2-40B4-BE49-F238E27FC236}">
                <a16:creationId xmlns:a16="http://schemas.microsoft.com/office/drawing/2014/main" id="{3B52CAAE-036D-4381-BB7D-3F8CBA166A04}"/>
              </a:ext>
            </a:extLst>
          </p:cNvPr>
          <p:cNvSpPr>
            <a:spLocks/>
          </p:cNvSpPr>
          <p:nvPr/>
        </p:nvSpPr>
        <p:spPr bwMode="auto">
          <a:xfrm>
            <a:off x="418307" y="2573337"/>
            <a:ext cx="144463" cy="611188"/>
          </a:xfrm>
          <a:prstGeom prst="leftBrace">
            <a:avLst>
              <a:gd name="adj1" fmla="val 35256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20" name="Object 16">
            <a:extLst>
              <a:ext uri="{FF2B5EF4-FFF2-40B4-BE49-F238E27FC236}">
                <a16:creationId xmlns:a16="http://schemas.microsoft.com/office/drawing/2014/main" id="{8625E65D-E37A-465A-92B4-7F77506D3C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62837"/>
              </p:ext>
            </p:extLst>
          </p:nvPr>
        </p:nvGraphicFramePr>
        <p:xfrm>
          <a:off x="3651282" y="2495554"/>
          <a:ext cx="84296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0" name="Equation" r:id="rId9" imgW="761669" imgH="317362" progId="Equation.DSMT4">
                  <p:embed/>
                </p:oleObj>
              </mc:Choice>
              <mc:Fallback>
                <p:oleObj name="Equation" r:id="rId9" imgW="761669" imgH="317362" progId="Equation.DSMT4">
                  <p:embed/>
                  <p:pic>
                    <p:nvPicPr>
                      <p:cNvPr id="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82" y="2495554"/>
                        <a:ext cx="84296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9">
            <a:extLst>
              <a:ext uri="{FF2B5EF4-FFF2-40B4-BE49-F238E27FC236}">
                <a16:creationId xmlns:a16="http://schemas.microsoft.com/office/drawing/2014/main" id="{F782C8CE-3691-4C08-BFCC-00442CD775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343096"/>
              </p:ext>
            </p:extLst>
          </p:nvPr>
        </p:nvGraphicFramePr>
        <p:xfrm>
          <a:off x="4827588" y="2470150"/>
          <a:ext cx="92551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1" name="Equation" r:id="rId17" imgW="380880" imgH="177480" progId="Equation.DSMT4">
                  <p:embed/>
                </p:oleObj>
              </mc:Choice>
              <mc:Fallback>
                <p:oleObj name="Equation" r:id="rId17" imgW="380880" imgH="177480" progId="Equation.DSMT4">
                  <p:embed/>
                  <p:pic>
                    <p:nvPicPr>
                      <p:cNvPr id="1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588" y="2470150"/>
                        <a:ext cx="925512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utoUpdateAnimBg="0"/>
      <p:bldP spid="15" grpId="0" autoUpdateAnimBg="0"/>
      <p:bldP spid="16" grpId="0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11"/>
          <p:cNvSpPr>
            <a:spLocks noChangeArrowheads="1"/>
          </p:cNvSpPr>
          <p:nvPr/>
        </p:nvSpPr>
        <p:spPr bwMode="auto">
          <a:xfrm>
            <a:off x="149056" y="253954"/>
            <a:ext cx="89328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13-T9. 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设计双层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增透膜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，如图所示为玻璃上镀两层光学薄膜，第一层、第二层及玻璃折射率分别为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 n</a:t>
            </a:r>
            <a:r>
              <a:rPr kumimoji="1"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 n</a:t>
            </a:r>
            <a:r>
              <a:rPr kumimoji="1"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，且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 n</a:t>
            </a:r>
            <a:r>
              <a:rPr kumimoji="1"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&lt;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 n</a:t>
            </a:r>
            <a:r>
              <a:rPr kumimoji="1"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&gt;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 n</a:t>
            </a:r>
            <a:r>
              <a:rPr kumimoji="1" lang="en-US" altLang="zh-CN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。以真空中波长</a:t>
            </a:r>
            <a:r>
              <a:rPr kumimoji="1" lang="el-GR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λ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的单色平行光垂直入射到增透膜上，设三束反射光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仅考虑第一次反射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在空气中的振幅近似相等，要使这三束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反射光相干叠加后的总光强为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，求第一层和第二层薄膜的最小厚度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endParaRPr kumimoji="1" lang="en-US" altLang="zh-CN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28F14A-B77F-4A8F-9BE8-D99E5AE14B0D}"/>
              </a:ext>
            </a:extLst>
          </p:cNvPr>
          <p:cNvSpPr/>
          <p:nvPr/>
        </p:nvSpPr>
        <p:spPr>
          <a:xfrm>
            <a:off x="6596109" y="4039340"/>
            <a:ext cx="2192785" cy="9410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992DA2A-1147-4018-892B-8A246C4ED5F0}"/>
              </a:ext>
            </a:extLst>
          </p:cNvPr>
          <p:cNvSpPr/>
          <p:nvPr/>
        </p:nvSpPr>
        <p:spPr>
          <a:xfrm>
            <a:off x="6596108" y="3657600"/>
            <a:ext cx="2192785" cy="3817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2002DB1-43CB-4716-8F4C-5F8A240377D7}"/>
              </a:ext>
            </a:extLst>
          </p:cNvPr>
          <p:cNvSpPr/>
          <p:nvPr/>
        </p:nvSpPr>
        <p:spPr>
          <a:xfrm>
            <a:off x="6596108" y="3275860"/>
            <a:ext cx="2192785" cy="3817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7FE0116-3F61-4B97-8F7C-50DDCF1D2AD5}"/>
              </a:ext>
            </a:extLst>
          </p:cNvPr>
          <p:cNvSpPr txBox="1"/>
          <p:nvPr/>
        </p:nvSpPr>
        <p:spPr>
          <a:xfrm>
            <a:off x="6658252" y="3244334"/>
            <a:ext cx="514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zh-CN" altLang="en-US" sz="2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E1E84AB-29C4-49C6-9224-EFFE89378E02}"/>
              </a:ext>
            </a:extLst>
          </p:cNvPr>
          <p:cNvSpPr txBox="1"/>
          <p:nvPr/>
        </p:nvSpPr>
        <p:spPr>
          <a:xfrm>
            <a:off x="6658251" y="3628293"/>
            <a:ext cx="514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2</a:t>
            </a:r>
            <a:endParaRPr lang="zh-CN" altLang="en-US" sz="2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F824654-1CAF-4978-9569-3E3CCD72123B}"/>
              </a:ext>
            </a:extLst>
          </p:cNvPr>
          <p:cNvSpPr txBox="1"/>
          <p:nvPr/>
        </p:nvSpPr>
        <p:spPr>
          <a:xfrm>
            <a:off x="6658251" y="4298864"/>
            <a:ext cx="514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F4D3077-3AC2-47BF-A3BD-F92EB0EED72A}"/>
              </a:ext>
            </a:extLst>
          </p:cNvPr>
          <p:cNvSpPr txBox="1"/>
          <p:nvPr/>
        </p:nvSpPr>
        <p:spPr>
          <a:xfrm>
            <a:off x="6498450" y="2794406"/>
            <a:ext cx="692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000" b="1" i="1" baseline="-25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=1</a:t>
            </a:r>
            <a:endParaRPr lang="zh-CN" altLang="en-US" sz="2000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D487D2B-B9A5-4DFA-BFCE-306A5A523F5B}"/>
              </a:ext>
            </a:extLst>
          </p:cNvPr>
          <p:cNvCxnSpPr>
            <a:cxnSpLocks/>
          </p:cNvCxnSpPr>
          <p:nvPr/>
        </p:nvCxnSpPr>
        <p:spPr>
          <a:xfrm>
            <a:off x="7403977" y="2672179"/>
            <a:ext cx="0" cy="202679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B300890-705A-45C2-AF18-938521CE606C}"/>
              </a:ext>
            </a:extLst>
          </p:cNvPr>
          <p:cNvCxnSpPr>
            <a:cxnSpLocks/>
          </p:cNvCxnSpPr>
          <p:nvPr/>
        </p:nvCxnSpPr>
        <p:spPr>
          <a:xfrm>
            <a:off x="7403977" y="3466730"/>
            <a:ext cx="0" cy="57261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683BDCF-9EB0-455A-9D9E-36DDD78644E3}"/>
              </a:ext>
            </a:extLst>
          </p:cNvPr>
          <p:cNvCxnSpPr>
            <a:cxnSpLocks/>
          </p:cNvCxnSpPr>
          <p:nvPr/>
        </p:nvCxnSpPr>
        <p:spPr>
          <a:xfrm>
            <a:off x="7403977" y="3089590"/>
            <a:ext cx="0" cy="57261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5F7C980-CEA6-4401-88FD-09036B8B78B8}"/>
              </a:ext>
            </a:extLst>
          </p:cNvPr>
          <p:cNvCxnSpPr>
            <a:cxnSpLocks/>
          </p:cNvCxnSpPr>
          <p:nvPr/>
        </p:nvCxnSpPr>
        <p:spPr>
          <a:xfrm flipV="1">
            <a:off x="7692500" y="2405849"/>
            <a:ext cx="0" cy="87001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FF097F72-F0D6-4654-A8FA-147F223CEAD1}"/>
              </a:ext>
            </a:extLst>
          </p:cNvPr>
          <p:cNvCxnSpPr>
            <a:cxnSpLocks/>
          </p:cNvCxnSpPr>
          <p:nvPr/>
        </p:nvCxnSpPr>
        <p:spPr>
          <a:xfrm flipV="1">
            <a:off x="7933677" y="2794406"/>
            <a:ext cx="0" cy="85003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3ABD614D-05C5-4E0C-8895-FA77218756EA}"/>
              </a:ext>
            </a:extLst>
          </p:cNvPr>
          <p:cNvCxnSpPr>
            <a:cxnSpLocks/>
          </p:cNvCxnSpPr>
          <p:nvPr/>
        </p:nvCxnSpPr>
        <p:spPr>
          <a:xfrm flipV="1">
            <a:off x="8192611" y="3089590"/>
            <a:ext cx="0" cy="94695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F5824988-B680-4729-A541-9090843A728B}"/>
              </a:ext>
            </a:extLst>
          </p:cNvPr>
          <p:cNvSpPr txBox="1"/>
          <p:nvPr/>
        </p:nvSpPr>
        <p:spPr>
          <a:xfrm>
            <a:off x="7692500" y="2206530"/>
            <a:ext cx="4083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endParaRPr lang="zh-CN" altLang="en-US" sz="2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14A4E0A-00EB-41A3-A99D-2147355F9035}"/>
              </a:ext>
            </a:extLst>
          </p:cNvPr>
          <p:cNvSpPr txBox="1"/>
          <p:nvPr/>
        </p:nvSpPr>
        <p:spPr>
          <a:xfrm>
            <a:off x="7949953" y="2598218"/>
            <a:ext cx="4083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endParaRPr lang="zh-CN" altLang="en-US" sz="2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3EB2CC5-E0B4-414E-92E6-1F0E4BD41762}"/>
              </a:ext>
            </a:extLst>
          </p:cNvPr>
          <p:cNvSpPr txBox="1"/>
          <p:nvPr/>
        </p:nvSpPr>
        <p:spPr>
          <a:xfrm>
            <a:off x="8191130" y="2910405"/>
            <a:ext cx="4083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endParaRPr lang="zh-CN" altLang="en-US" sz="2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D75A0DA-C0F9-4647-81BB-2760463D6087}"/>
              </a:ext>
            </a:extLst>
          </p:cNvPr>
          <p:cNvSpPr txBox="1"/>
          <p:nvPr/>
        </p:nvSpPr>
        <p:spPr>
          <a:xfrm>
            <a:off x="8406414" y="3266367"/>
            <a:ext cx="3728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zh-CN" altLang="en-US" sz="2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CD53202-0106-46B1-9E56-301A1A66C3B9}"/>
              </a:ext>
            </a:extLst>
          </p:cNvPr>
          <p:cNvSpPr txBox="1"/>
          <p:nvPr/>
        </p:nvSpPr>
        <p:spPr>
          <a:xfrm>
            <a:off x="8395315" y="3640501"/>
            <a:ext cx="3728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000" b="1" i="1" baseline="-25000" dirty="0">
                <a:latin typeface="Times New Roman" panose="02020603050405020304" pitchFamily="18" charset="0"/>
              </a:rPr>
              <a:t>2</a:t>
            </a:r>
            <a:endParaRPr lang="zh-CN" altLang="en-US" sz="2000" dirty="0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7C85C9FF-F0BF-4703-829B-030AEB12E552}"/>
              </a:ext>
            </a:extLst>
          </p:cNvPr>
          <p:cNvCxnSpPr>
            <a:cxnSpLocks/>
          </p:cNvCxnSpPr>
          <p:nvPr/>
        </p:nvCxnSpPr>
        <p:spPr>
          <a:xfrm>
            <a:off x="7403977" y="2703250"/>
            <a:ext cx="0" cy="57261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11">
            <a:extLst>
              <a:ext uri="{FF2B5EF4-FFF2-40B4-BE49-F238E27FC236}">
                <a16:creationId xmlns:a16="http://schemas.microsoft.com/office/drawing/2014/main" id="{CD8AC3BD-21DE-4C23-80F5-0DAE5D290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99" y="2633702"/>
            <a:ext cx="6287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解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设入射光在第一层薄膜上表面的光振动为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5AEC8990-AB86-4803-BE67-C8D545DB31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262059"/>
              </p:ext>
            </p:extLst>
          </p:nvPr>
        </p:nvGraphicFramePr>
        <p:xfrm>
          <a:off x="600851" y="3110460"/>
          <a:ext cx="20447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4" name="Equation" r:id="rId3" imgW="2044300" imgH="416693" progId="Equation.DSMT4">
                  <p:embed/>
                </p:oleObj>
              </mc:Choice>
              <mc:Fallback>
                <p:oleObj name="Equation" r:id="rId3" imgW="2044300" imgH="41669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0851" y="3110460"/>
                        <a:ext cx="2044700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11">
            <a:extLst>
              <a:ext uri="{FF2B5EF4-FFF2-40B4-BE49-F238E27FC236}">
                <a16:creationId xmlns:a16="http://schemas.microsoft.com/office/drawing/2014/main" id="{B92F812A-D8AB-49E4-AEFF-3F8EC3960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436" y="3541478"/>
            <a:ext cx="60949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则反射光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分别在第一层薄膜上表面的光振动</a:t>
            </a:r>
            <a:endParaRPr kumimoji="1" lang="en-US" altLang="zh-CN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972E999A-2033-4146-BB3C-6A810C8BC7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082871"/>
              </p:ext>
            </p:extLst>
          </p:nvPr>
        </p:nvGraphicFramePr>
        <p:xfrm>
          <a:off x="567494" y="4422193"/>
          <a:ext cx="280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5" name="Equation" r:id="rId5" imgW="2806560" imgH="431640" progId="Equation.DSMT4">
                  <p:embed/>
                </p:oleObj>
              </mc:Choice>
              <mc:Fallback>
                <p:oleObj name="Equation" r:id="rId5" imgW="2806560" imgH="43164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5AEC8990-AB86-4803-BE67-C8D545DB31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7494" y="4422193"/>
                        <a:ext cx="28067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02BBCDDE-A0C6-4910-B48B-D04C57E3A2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600004"/>
              </p:ext>
            </p:extLst>
          </p:nvPr>
        </p:nvGraphicFramePr>
        <p:xfrm>
          <a:off x="531001" y="4861044"/>
          <a:ext cx="4229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6" name="Equation" r:id="rId7" imgW="4228920" imgH="672840" progId="Equation.DSMT4">
                  <p:embed/>
                </p:oleObj>
              </mc:Choice>
              <mc:Fallback>
                <p:oleObj name="Equation" r:id="rId7" imgW="4228920" imgH="67284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972E999A-2033-4146-BB3C-6A810C8BC7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1001" y="4861044"/>
                        <a:ext cx="42291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65441406-61AF-4F0A-8CC8-713F54CEB7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714994"/>
              </p:ext>
            </p:extLst>
          </p:nvPr>
        </p:nvGraphicFramePr>
        <p:xfrm>
          <a:off x="520436" y="5541195"/>
          <a:ext cx="4889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7" name="Equation" r:id="rId9" imgW="4889160" imgH="672840" progId="Equation.DSMT4">
                  <p:embed/>
                </p:oleObj>
              </mc:Choice>
              <mc:Fallback>
                <p:oleObj name="Equation" r:id="rId9" imgW="4889160" imgH="67284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02BBCDDE-A0C6-4910-B48B-D04C57E3A2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0436" y="5541195"/>
                        <a:ext cx="48895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D1EA250-5F38-4F94-9ACC-A2E98E97DBAC}"/>
              </a:ext>
            </a:extLst>
          </p:cNvPr>
          <p:cNvCxnSpPr/>
          <p:nvPr/>
        </p:nvCxnSpPr>
        <p:spPr>
          <a:xfrm flipH="1">
            <a:off x="5923255" y="6337068"/>
            <a:ext cx="12917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85A628B4-A73C-45F0-8EB2-60118853E544}"/>
              </a:ext>
            </a:extLst>
          </p:cNvPr>
          <p:cNvCxnSpPr>
            <a:cxnSpLocks/>
          </p:cNvCxnSpPr>
          <p:nvPr/>
        </p:nvCxnSpPr>
        <p:spPr>
          <a:xfrm rot="7200000" flipH="1">
            <a:off x="5616605" y="5741506"/>
            <a:ext cx="12917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D0613FFC-2DB1-42D4-B662-3CF2378ACA07}"/>
              </a:ext>
            </a:extLst>
          </p:cNvPr>
          <p:cNvCxnSpPr>
            <a:cxnSpLocks/>
          </p:cNvCxnSpPr>
          <p:nvPr/>
        </p:nvCxnSpPr>
        <p:spPr>
          <a:xfrm rot="-7200000" flipH="1">
            <a:off x="6274662" y="5780520"/>
            <a:ext cx="12917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CE2B760F-84D3-4983-B957-EE74622F1CF6}"/>
              </a:ext>
            </a:extLst>
          </p:cNvPr>
          <p:cNvSpPr txBox="1"/>
          <p:nvPr/>
        </p:nvSpPr>
        <p:spPr>
          <a:xfrm>
            <a:off x="6385264" y="6334293"/>
            <a:ext cx="51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i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1CC7B88-989B-4900-B1AB-3ADA0B875203}"/>
              </a:ext>
            </a:extLst>
          </p:cNvPr>
          <p:cNvSpPr txBox="1"/>
          <p:nvPr/>
        </p:nvSpPr>
        <p:spPr>
          <a:xfrm>
            <a:off x="5889594" y="5382323"/>
            <a:ext cx="51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887258A-0FC0-4766-B4B4-26E1ED1AA0DC}"/>
              </a:ext>
            </a:extLst>
          </p:cNvPr>
          <p:cNvSpPr txBox="1"/>
          <p:nvPr/>
        </p:nvSpPr>
        <p:spPr>
          <a:xfrm>
            <a:off x="6821378" y="5413281"/>
            <a:ext cx="51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i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endParaRPr lang="zh-CN" altLang="en-US" dirty="0"/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D778557-EE7F-4FA4-9062-F91FD13B9E1B}"/>
              </a:ext>
            </a:extLst>
          </p:cNvPr>
          <p:cNvCxnSpPr/>
          <p:nvPr/>
        </p:nvCxnSpPr>
        <p:spPr>
          <a:xfrm flipH="1">
            <a:off x="7487574" y="6335313"/>
            <a:ext cx="12917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7A053C25-EC2C-4AA8-BDD7-C605CCD7B86D}"/>
              </a:ext>
            </a:extLst>
          </p:cNvPr>
          <p:cNvCxnSpPr>
            <a:cxnSpLocks/>
          </p:cNvCxnSpPr>
          <p:nvPr/>
        </p:nvCxnSpPr>
        <p:spPr>
          <a:xfrm rot="7200000" flipH="1">
            <a:off x="7180924" y="5739751"/>
            <a:ext cx="12917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842DEAD9-974A-4A6E-BE0C-86A23B378E7D}"/>
              </a:ext>
            </a:extLst>
          </p:cNvPr>
          <p:cNvCxnSpPr>
            <a:cxnSpLocks/>
          </p:cNvCxnSpPr>
          <p:nvPr/>
        </p:nvCxnSpPr>
        <p:spPr>
          <a:xfrm rot="-7200000" flipH="1">
            <a:off x="7838981" y="5778765"/>
            <a:ext cx="12917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EA46F293-81EE-4662-BE9A-45282BE1439A}"/>
              </a:ext>
            </a:extLst>
          </p:cNvPr>
          <p:cNvSpPr txBox="1"/>
          <p:nvPr/>
        </p:nvSpPr>
        <p:spPr>
          <a:xfrm>
            <a:off x="7949583" y="6332538"/>
            <a:ext cx="51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i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AF3F56C-ECCF-44D9-84C8-079530BD8A08}"/>
              </a:ext>
            </a:extLst>
          </p:cNvPr>
          <p:cNvSpPr txBox="1"/>
          <p:nvPr/>
        </p:nvSpPr>
        <p:spPr>
          <a:xfrm>
            <a:off x="7453913" y="5380568"/>
            <a:ext cx="51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i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1DEF2A1-3CE9-42EA-BB00-A51EEADD82D6}"/>
              </a:ext>
            </a:extLst>
          </p:cNvPr>
          <p:cNvSpPr txBox="1"/>
          <p:nvPr/>
        </p:nvSpPr>
        <p:spPr>
          <a:xfrm>
            <a:off x="8385697" y="5411526"/>
            <a:ext cx="51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71" name="Rectangle 11">
            <a:extLst>
              <a:ext uri="{FF2B5EF4-FFF2-40B4-BE49-F238E27FC236}">
                <a16:creationId xmlns:a16="http://schemas.microsoft.com/office/drawing/2014/main" id="{A85A4B8F-525B-434D-B8A0-297C1A14F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897" y="6231414"/>
            <a:ext cx="60949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三个简谐振动叠加相消，位相关系？</a:t>
            </a:r>
            <a:endParaRPr kumimoji="1" lang="en-US" altLang="zh-CN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69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1" grpId="0"/>
      <p:bldP spid="62" grpId="0"/>
      <p:bldP spid="63" grpId="0"/>
      <p:bldP spid="64" grpId="0"/>
      <p:bldP spid="68" grpId="0"/>
      <p:bldP spid="69" grpId="0"/>
      <p:bldP spid="70" grpId="0"/>
      <p:bldP spid="7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028F14A-B77F-4A8F-9BE8-D99E5AE14B0D}"/>
              </a:ext>
            </a:extLst>
          </p:cNvPr>
          <p:cNvSpPr/>
          <p:nvPr/>
        </p:nvSpPr>
        <p:spPr>
          <a:xfrm>
            <a:off x="6506227" y="1812850"/>
            <a:ext cx="2192785" cy="9410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992DA2A-1147-4018-892B-8A246C4ED5F0}"/>
              </a:ext>
            </a:extLst>
          </p:cNvPr>
          <p:cNvSpPr/>
          <p:nvPr/>
        </p:nvSpPr>
        <p:spPr>
          <a:xfrm>
            <a:off x="6506226" y="1431110"/>
            <a:ext cx="2192785" cy="3817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2002DB1-43CB-4716-8F4C-5F8A240377D7}"/>
              </a:ext>
            </a:extLst>
          </p:cNvPr>
          <p:cNvSpPr/>
          <p:nvPr/>
        </p:nvSpPr>
        <p:spPr>
          <a:xfrm>
            <a:off x="6506226" y="1049370"/>
            <a:ext cx="2192785" cy="3817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7FE0116-3F61-4B97-8F7C-50DDCF1D2AD5}"/>
              </a:ext>
            </a:extLst>
          </p:cNvPr>
          <p:cNvSpPr txBox="1"/>
          <p:nvPr/>
        </p:nvSpPr>
        <p:spPr>
          <a:xfrm>
            <a:off x="6568370" y="1017844"/>
            <a:ext cx="514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zh-CN" altLang="en-US" sz="2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E1E84AB-29C4-49C6-9224-EFFE89378E02}"/>
              </a:ext>
            </a:extLst>
          </p:cNvPr>
          <p:cNvSpPr txBox="1"/>
          <p:nvPr/>
        </p:nvSpPr>
        <p:spPr>
          <a:xfrm>
            <a:off x="6568369" y="1401803"/>
            <a:ext cx="514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2</a:t>
            </a:r>
            <a:endParaRPr lang="zh-CN" altLang="en-US" sz="2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F824654-1CAF-4978-9569-3E3CCD72123B}"/>
              </a:ext>
            </a:extLst>
          </p:cNvPr>
          <p:cNvSpPr txBox="1"/>
          <p:nvPr/>
        </p:nvSpPr>
        <p:spPr>
          <a:xfrm>
            <a:off x="6568369" y="2072374"/>
            <a:ext cx="514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F4D3077-3AC2-47BF-A3BD-F92EB0EED72A}"/>
              </a:ext>
            </a:extLst>
          </p:cNvPr>
          <p:cNvSpPr txBox="1"/>
          <p:nvPr/>
        </p:nvSpPr>
        <p:spPr>
          <a:xfrm>
            <a:off x="6408568" y="567916"/>
            <a:ext cx="692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000" b="1" i="1" baseline="-25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=1</a:t>
            </a:r>
            <a:endParaRPr lang="zh-CN" altLang="en-US" sz="2000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D487D2B-B9A5-4DFA-BFCE-306A5A523F5B}"/>
              </a:ext>
            </a:extLst>
          </p:cNvPr>
          <p:cNvCxnSpPr>
            <a:cxnSpLocks/>
          </p:cNvCxnSpPr>
          <p:nvPr/>
        </p:nvCxnSpPr>
        <p:spPr>
          <a:xfrm>
            <a:off x="7314095" y="445689"/>
            <a:ext cx="0" cy="202679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B300890-705A-45C2-AF18-938521CE606C}"/>
              </a:ext>
            </a:extLst>
          </p:cNvPr>
          <p:cNvCxnSpPr>
            <a:cxnSpLocks/>
          </p:cNvCxnSpPr>
          <p:nvPr/>
        </p:nvCxnSpPr>
        <p:spPr>
          <a:xfrm>
            <a:off x="7314095" y="1240240"/>
            <a:ext cx="0" cy="57261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683BDCF-9EB0-455A-9D9E-36DDD78644E3}"/>
              </a:ext>
            </a:extLst>
          </p:cNvPr>
          <p:cNvCxnSpPr>
            <a:cxnSpLocks/>
          </p:cNvCxnSpPr>
          <p:nvPr/>
        </p:nvCxnSpPr>
        <p:spPr>
          <a:xfrm>
            <a:off x="7314095" y="863100"/>
            <a:ext cx="0" cy="57261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5F7C980-CEA6-4401-88FD-09036B8B78B8}"/>
              </a:ext>
            </a:extLst>
          </p:cNvPr>
          <p:cNvCxnSpPr>
            <a:cxnSpLocks/>
          </p:cNvCxnSpPr>
          <p:nvPr/>
        </p:nvCxnSpPr>
        <p:spPr>
          <a:xfrm flipV="1">
            <a:off x="7602618" y="179359"/>
            <a:ext cx="0" cy="87001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FF097F72-F0D6-4654-A8FA-147F223CEAD1}"/>
              </a:ext>
            </a:extLst>
          </p:cNvPr>
          <p:cNvCxnSpPr>
            <a:cxnSpLocks/>
          </p:cNvCxnSpPr>
          <p:nvPr/>
        </p:nvCxnSpPr>
        <p:spPr>
          <a:xfrm flipV="1">
            <a:off x="7843795" y="567916"/>
            <a:ext cx="0" cy="85003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3ABD614D-05C5-4E0C-8895-FA77218756EA}"/>
              </a:ext>
            </a:extLst>
          </p:cNvPr>
          <p:cNvCxnSpPr>
            <a:cxnSpLocks/>
          </p:cNvCxnSpPr>
          <p:nvPr/>
        </p:nvCxnSpPr>
        <p:spPr>
          <a:xfrm flipV="1">
            <a:off x="8102729" y="863100"/>
            <a:ext cx="0" cy="94695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F5824988-B680-4729-A541-9090843A728B}"/>
              </a:ext>
            </a:extLst>
          </p:cNvPr>
          <p:cNvSpPr txBox="1"/>
          <p:nvPr/>
        </p:nvSpPr>
        <p:spPr>
          <a:xfrm>
            <a:off x="7602618" y="-19960"/>
            <a:ext cx="4083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endParaRPr lang="zh-CN" altLang="en-US" sz="2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14A4E0A-00EB-41A3-A99D-2147355F9035}"/>
              </a:ext>
            </a:extLst>
          </p:cNvPr>
          <p:cNvSpPr txBox="1"/>
          <p:nvPr/>
        </p:nvSpPr>
        <p:spPr>
          <a:xfrm>
            <a:off x="7860071" y="371728"/>
            <a:ext cx="4083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endParaRPr lang="zh-CN" altLang="en-US" sz="2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3EB2CC5-E0B4-414E-92E6-1F0E4BD41762}"/>
              </a:ext>
            </a:extLst>
          </p:cNvPr>
          <p:cNvSpPr txBox="1"/>
          <p:nvPr/>
        </p:nvSpPr>
        <p:spPr>
          <a:xfrm>
            <a:off x="8101248" y="683915"/>
            <a:ext cx="4083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endParaRPr lang="zh-CN" altLang="en-US" sz="2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D75A0DA-C0F9-4647-81BB-2760463D6087}"/>
              </a:ext>
            </a:extLst>
          </p:cNvPr>
          <p:cNvSpPr txBox="1"/>
          <p:nvPr/>
        </p:nvSpPr>
        <p:spPr>
          <a:xfrm>
            <a:off x="8316532" y="1039877"/>
            <a:ext cx="3728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zh-CN" altLang="en-US" sz="2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CD53202-0106-46B1-9E56-301A1A66C3B9}"/>
              </a:ext>
            </a:extLst>
          </p:cNvPr>
          <p:cNvSpPr txBox="1"/>
          <p:nvPr/>
        </p:nvSpPr>
        <p:spPr>
          <a:xfrm>
            <a:off x="8305433" y="1414011"/>
            <a:ext cx="3728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000" b="1" i="1" baseline="-25000" dirty="0">
                <a:latin typeface="Times New Roman" panose="02020603050405020304" pitchFamily="18" charset="0"/>
              </a:rPr>
              <a:t>2</a:t>
            </a:r>
            <a:endParaRPr lang="zh-CN" altLang="en-US" sz="2000" dirty="0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7C85C9FF-F0BF-4703-829B-030AEB12E552}"/>
              </a:ext>
            </a:extLst>
          </p:cNvPr>
          <p:cNvCxnSpPr>
            <a:cxnSpLocks/>
          </p:cNvCxnSpPr>
          <p:nvPr/>
        </p:nvCxnSpPr>
        <p:spPr>
          <a:xfrm>
            <a:off x="7314095" y="476760"/>
            <a:ext cx="0" cy="57261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972E999A-2033-4146-BB3C-6A810C8BC7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734485"/>
              </p:ext>
            </p:extLst>
          </p:nvPr>
        </p:nvGraphicFramePr>
        <p:xfrm>
          <a:off x="318920" y="214177"/>
          <a:ext cx="280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1" name="Equation" r:id="rId3" imgW="2806560" imgH="431640" progId="Equation.DSMT4">
                  <p:embed/>
                </p:oleObj>
              </mc:Choice>
              <mc:Fallback>
                <p:oleObj name="Equation" r:id="rId3" imgW="2806560" imgH="43164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972E999A-2033-4146-BB3C-6A810C8BC7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8920" y="214177"/>
                        <a:ext cx="28067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02BBCDDE-A0C6-4910-B48B-D04C57E3A2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840388"/>
              </p:ext>
            </p:extLst>
          </p:nvPr>
        </p:nvGraphicFramePr>
        <p:xfrm>
          <a:off x="282427" y="653028"/>
          <a:ext cx="4229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2" name="Equation" r:id="rId5" imgW="4228920" imgH="672840" progId="Equation.DSMT4">
                  <p:embed/>
                </p:oleObj>
              </mc:Choice>
              <mc:Fallback>
                <p:oleObj name="Equation" r:id="rId5" imgW="4228920" imgH="67284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02BBCDDE-A0C6-4910-B48B-D04C57E3A2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2427" y="653028"/>
                        <a:ext cx="42291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65441406-61AF-4F0A-8CC8-713F54CEB7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350302"/>
              </p:ext>
            </p:extLst>
          </p:nvPr>
        </p:nvGraphicFramePr>
        <p:xfrm>
          <a:off x="271862" y="1333179"/>
          <a:ext cx="4889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3" name="Equation" r:id="rId7" imgW="4889160" imgH="672840" progId="Equation.DSMT4">
                  <p:embed/>
                </p:oleObj>
              </mc:Choice>
              <mc:Fallback>
                <p:oleObj name="Equation" r:id="rId7" imgW="4889160" imgH="67284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65441406-61AF-4F0A-8CC8-713F54CEB7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862" y="1333179"/>
                        <a:ext cx="48895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D1EA250-5F38-4F94-9ACC-A2E98E97DBAC}"/>
              </a:ext>
            </a:extLst>
          </p:cNvPr>
          <p:cNvCxnSpPr/>
          <p:nvPr/>
        </p:nvCxnSpPr>
        <p:spPr>
          <a:xfrm flipH="1">
            <a:off x="6956767" y="4101041"/>
            <a:ext cx="12917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85A628B4-A73C-45F0-8EB2-60118853E544}"/>
              </a:ext>
            </a:extLst>
          </p:cNvPr>
          <p:cNvCxnSpPr>
            <a:cxnSpLocks/>
          </p:cNvCxnSpPr>
          <p:nvPr/>
        </p:nvCxnSpPr>
        <p:spPr>
          <a:xfrm rot="7200000" flipH="1">
            <a:off x="6650117" y="3505479"/>
            <a:ext cx="12917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D0613FFC-2DB1-42D4-B662-3CF2378ACA07}"/>
              </a:ext>
            </a:extLst>
          </p:cNvPr>
          <p:cNvCxnSpPr>
            <a:cxnSpLocks/>
          </p:cNvCxnSpPr>
          <p:nvPr/>
        </p:nvCxnSpPr>
        <p:spPr>
          <a:xfrm rot="-7200000" flipH="1">
            <a:off x="7308174" y="3544493"/>
            <a:ext cx="12917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CE2B760F-84D3-4983-B957-EE74622F1CF6}"/>
              </a:ext>
            </a:extLst>
          </p:cNvPr>
          <p:cNvSpPr txBox="1"/>
          <p:nvPr/>
        </p:nvSpPr>
        <p:spPr>
          <a:xfrm>
            <a:off x="7418776" y="4098266"/>
            <a:ext cx="51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i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1CC7B88-989B-4900-B1AB-3ADA0B875203}"/>
              </a:ext>
            </a:extLst>
          </p:cNvPr>
          <p:cNvSpPr txBox="1"/>
          <p:nvPr/>
        </p:nvSpPr>
        <p:spPr>
          <a:xfrm>
            <a:off x="6923106" y="3146296"/>
            <a:ext cx="51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887258A-0FC0-4766-B4B4-26E1ED1AA0DC}"/>
              </a:ext>
            </a:extLst>
          </p:cNvPr>
          <p:cNvSpPr txBox="1"/>
          <p:nvPr/>
        </p:nvSpPr>
        <p:spPr>
          <a:xfrm>
            <a:off x="7854890" y="3177254"/>
            <a:ext cx="51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i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endParaRPr lang="zh-CN" altLang="en-US" dirty="0"/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D778557-EE7F-4FA4-9062-F91FD13B9E1B}"/>
              </a:ext>
            </a:extLst>
          </p:cNvPr>
          <p:cNvCxnSpPr/>
          <p:nvPr/>
        </p:nvCxnSpPr>
        <p:spPr>
          <a:xfrm flipH="1">
            <a:off x="7013733" y="6199349"/>
            <a:ext cx="12917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7A053C25-EC2C-4AA8-BDD7-C605CCD7B86D}"/>
              </a:ext>
            </a:extLst>
          </p:cNvPr>
          <p:cNvCxnSpPr>
            <a:cxnSpLocks/>
          </p:cNvCxnSpPr>
          <p:nvPr/>
        </p:nvCxnSpPr>
        <p:spPr>
          <a:xfrm rot="7200000" flipH="1">
            <a:off x="6707083" y="5603787"/>
            <a:ext cx="12917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842DEAD9-974A-4A6E-BE0C-86A23B378E7D}"/>
              </a:ext>
            </a:extLst>
          </p:cNvPr>
          <p:cNvCxnSpPr>
            <a:cxnSpLocks/>
          </p:cNvCxnSpPr>
          <p:nvPr/>
        </p:nvCxnSpPr>
        <p:spPr>
          <a:xfrm rot="-7200000" flipH="1">
            <a:off x="7365140" y="5642801"/>
            <a:ext cx="12917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EA46F293-81EE-4662-BE9A-45282BE1439A}"/>
              </a:ext>
            </a:extLst>
          </p:cNvPr>
          <p:cNvSpPr txBox="1"/>
          <p:nvPr/>
        </p:nvSpPr>
        <p:spPr>
          <a:xfrm>
            <a:off x="7475742" y="6196574"/>
            <a:ext cx="51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i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AF3F56C-ECCF-44D9-84C8-079530BD8A08}"/>
              </a:ext>
            </a:extLst>
          </p:cNvPr>
          <p:cNvSpPr txBox="1"/>
          <p:nvPr/>
        </p:nvSpPr>
        <p:spPr>
          <a:xfrm>
            <a:off x="6980072" y="5244604"/>
            <a:ext cx="51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i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1DEF2A1-3CE9-42EA-BB00-A51EEADD82D6}"/>
              </a:ext>
            </a:extLst>
          </p:cNvPr>
          <p:cNvSpPr txBox="1"/>
          <p:nvPr/>
        </p:nvSpPr>
        <p:spPr>
          <a:xfrm>
            <a:off x="7911856" y="5275562"/>
            <a:ext cx="51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44" name="Rectangle 11">
            <a:extLst>
              <a:ext uri="{FF2B5EF4-FFF2-40B4-BE49-F238E27FC236}">
                <a16:creationId xmlns:a16="http://schemas.microsoft.com/office/drawing/2014/main" id="{839981B7-10CC-4552-A997-D31E1B0FC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09" y="1950114"/>
            <a:ext cx="20803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第一种情况：</a:t>
            </a:r>
            <a:endParaRPr kumimoji="1"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7BB61D78-06FF-4010-A9AC-B7746B5FAF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154183"/>
              </p:ext>
            </p:extLst>
          </p:nvPr>
        </p:nvGraphicFramePr>
        <p:xfrm>
          <a:off x="244475" y="2343511"/>
          <a:ext cx="4356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4" name="Equation" r:id="rId9" imgW="4356000" imgH="672840" progId="Equation.DSMT4">
                  <p:embed/>
                </p:oleObj>
              </mc:Choice>
              <mc:Fallback>
                <p:oleObj name="Equation" r:id="rId9" imgW="4356000" imgH="67284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972E999A-2033-4146-BB3C-6A810C8BC7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4475" y="2343511"/>
                        <a:ext cx="43561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FB3212E4-95A4-4BF4-ACFB-75BCC070ED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962900"/>
              </p:ext>
            </p:extLst>
          </p:nvPr>
        </p:nvGraphicFramePr>
        <p:xfrm>
          <a:off x="227411" y="3064623"/>
          <a:ext cx="4978401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5" name="Equation" r:id="rId11" imgW="4978080" imgH="672840" progId="Equation.DSMT4">
                  <p:embed/>
                </p:oleObj>
              </mc:Choice>
              <mc:Fallback>
                <p:oleObj name="Equation" r:id="rId11" imgW="4978080" imgH="67284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7BB61D78-06FF-4010-A9AC-B7746B5FAF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7411" y="3064623"/>
                        <a:ext cx="4978401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11">
            <a:extLst>
              <a:ext uri="{FF2B5EF4-FFF2-40B4-BE49-F238E27FC236}">
                <a16:creationId xmlns:a16="http://schemas.microsoft.com/office/drawing/2014/main" id="{661D05EC-A079-488B-BB76-53ED36287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76" y="3737723"/>
            <a:ext cx="15913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最小厚度：</a:t>
            </a:r>
            <a:endParaRPr kumimoji="1" lang="en-US" altLang="zh-CN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FFB33C08-1711-42DC-AFBC-3D674A7F1F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306914"/>
              </p:ext>
            </p:extLst>
          </p:nvPr>
        </p:nvGraphicFramePr>
        <p:xfrm>
          <a:off x="1734473" y="3635593"/>
          <a:ext cx="1422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6" name="Equation" r:id="rId13" imgW="1422360" imgH="761760" progId="Equation.DSMT4">
                  <p:embed/>
                </p:oleObj>
              </mc:Choice>
              <mc:Fallback>
                <p:oleObj name="Equation" r:id="rId13" imgW="1422360" imgH="76176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7BB61D78-06FF-4010-A9AC-B7746B5FAF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34473" y="3635593"/>
                        <a:ext cx="14224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46B2D2AE-B39C-48D0-8249-44AF416D6B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759564"/>
              </p:ext>
            </p:extLst>
          </p:nvPr>
        </p:nvGraphicFramePr>
        <p:xfrm>
          <a:off x="3253408" y="3660838"/>
          <a:ext cx="1562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7" name="Equation" r:id="rId15" imgW="1562040" imgH="761760" progId="Equation.DSMT4">
                  <p:embed/>
                </p:oleObj>
              </mc:Choice>
              <mc:Fallback>
                <p:oleObj name="Equation" r:id="rId15" imgW="1562040" imgH="76176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FFB33C08-1711-42DC-AFBC-3D674A7F1F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53408" y="3660838"/>
                        <a:ext cx="15621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Rectangle 11">
            <a:extLst>
              <a:ext uri="{FF2B5EF4-FFF2-40B4-BE49-F238E27FC236}">
                <a16:creationId xmlns:a16="http://schemas.microsoft.com/office/drawing/2014/main" id="{03CF3F9E-C843-4E50-94E9-9CF25D156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81" y="4314252"/>
            <a:ext cx="23455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第二种情况：</a:t>
            </a:r>
            <a:endParaRPr kumimoji="1"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E27F97EC-63FC-4C10-B670-EEB2D6D611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986823"/>
              </p:ext>
            </p:extLst>
          </p:nvPr>
        </p:nvGraphicFramePr>
        <p:xfrm>
          <a:off x="261768" y="4746927"/>
          <a:ext cx="6146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8" name="Equation" r:id="rId17" imgW="6146640" imgH="672840" progId="Equation.DSMT4">
                  <p:embed/>
                </p:oleObj>
              </mc:Choice>
              <mc:Fallback>
                <p:oleObj name="Equation" r:id="rId17" imgW="6146640" imgH="67284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7BB61D78-06FF-4010-A9AC-B7746B5FAF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1768" y="4746927"/>
                        <a:ext cx="61468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>
            <a:extLst>
              <a:ext uri="{FF2B5EF4-FFF2-40B4-BE49-F238E27FC236}">
                <a16:creationId xmlns:a16="http://schemas.microsoft.com/office/drawing/2014/main" id="{DE8432F6-5C67-41AB-9EF8-44A388F675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883816"/>
              </p:ext>
            </p:extLst>
          </p:nvPr>
        </p:nvGraphicFramePr>
        <p:xfrm>
          <a:off x="261768" y="5427780"/>
          <a:ext cx="5194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9" name="Equation" r:id="rId19" imgW="5194080" imgH="672840" progId="Equation.DSMT4">
                  <p:embed/>
                </p:oleObj>
              </mc:Choice>
              <mc:Fallback>
                <p:oleObj name="Equation" r:id="rId19" imgW="5194080" imgH="67284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FB3212E4-95A4-4BF4-ACFB-75BCC070ED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1768" y="5427780"/>
                        <a:ext cx="5194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Rectangle 11">
            <a:extLst>
              <a:ext uri="{FF2B5EF4-FFF2-40B4-BE49-F238E27FC236}">
                <a16:creationId xmlns:a16="http://schemas.microsoft.com/office/drawing/2014/main" id="{56A2AE28-7EB9-43E6-84EA-2AFA27DF2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48" y="6172885"/>
            <a:ext cx="15913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最小厚度：</a:t>
            </a:r>
            <a:endParaRPr kumimoji="1" lang="en-US" altLang="zh-CN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DE35E9C9-0ABE-4535-B6FC-13D5BC39D7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230752"/>
              </p:ext>
            </p:extLst>
          </p:nvPr>
        </p:nvGraphicFramePr>
        <p:xfrm>
          <a:off x="1726745" y="6070755"/>
          <a:ext cx="1422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0" name="Equation" r:id="rId21" imgW="1422360" imgH="761760" progId="Equation.DSMT4">
                  <p:embed/>
                </p:oleObj>
              </mc:Choice>
              <mc:Fallback>
                <p:oleObj name="Equation" r:id="rId21" imgW="1422360" imgH="76176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FFB33C08-1711-42DC-AFBC-3D674A7F1F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26745" y="6070755"/>
                        <a:ext cx="14224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对象 74">
            <a:extLst>
              <a:ext uri="{FF2B5EF4-FFF2-40B4-BE49-F238E27FC236}">
                <a16:creationId xmlns:a16="http://schemas.microsoft.com/office/drawing/2014/main" id="{9C0E7994-FB00-493B-9428-7B90F24128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098916"/>
              </p:ext>
            </p:extLst>
          </p:nvPr>
        </p:nvGraphicFramePr>
        <p:xfrm>
          <a:off x="3245680" y="6096000"/>
          <a:ext cx="1562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1" name="Equation" r:id="rId23" imgW="1562040" imgH="761760" progId="Equation.DSMT4">
                  <p:embed/>
                </p:oleObj>
              </mc:Choice>
              <mc:Fallback>
                <p:oleObj name="Equation" r:id="rId23" imgW="1562040" imgH="76176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46B2D2AE-B39C-48D0-8249-44AF416D6B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245680" y="6096000"/>
                        <a:ext cx="15621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818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8" grpId="0"/>
      <p:bldP spid="69" grpId="0"/>
      <p:bldP spid="70" grpId="0"/>
      <p:bldP spid="44" grpId="0"/>
      <p:bldP spid="55" grpId="0"/>
      <p:bldP spid="61" grpId="0"/>
      <p:bldP spid="73" grpId="0"/>
    </p:bldLst>
  </p:timing>
</p:sld>
</file>

<file path=ppt/theme/theme1.xml><?xml version="1.0" encoding="utf-8"?>
<a:theme xmlns:a="http://schemas.openxmlformats.org/drawingml/2006/main" name="演示文稿1">
  <a:themeElements>
    <a:clrScheme name="演示文稿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演示文稿1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演示文稿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演示文稿1</Template>
  <TotalTime>5504</TotalTime>
  <Words>2303</Words>
  <Application>Microsoft Office PowerPoint</Application>
  <PresentationFormat>全屏显示(4:3)</PresentationFormat>
  <Paragraphs>556</Paragraphs>
  <Slides>52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52</vt:i4>
      </vt:variant>
    </vt:vector>
  </HeadingPairs>
  <TitlesOfParts>
    <vt:vector size="70" baseType="lpstr">
      <vt:lpstr>方正书宋简体</vt:lpstr>
      <vt:lpstr>黑体</vt:lpstr>
      <vt:lpstr>华文中宋</vt:lpstr>
      <vt:lpstr>楷体_GB2312</vt:lpstr>
      <vt:lpstr>隶书</vt:lpstr>
      <vt:lpstr>宋体</vt:lpstr>
      <vt:lpstr>Arial</vt:lpstr>
      <vt:lpstr>Calibri</vt:lpstr>
      <vt:lpstr>Symbol</vt:lpstr>
      <vt:lpstr>Times New Roman</vt:lpstr>
      <vt:lpstr>Wingdings</vt:lpstr>
      <vt:lpstr>演示文稿1</vt:lpstr>
      <vt:lpstr>Equation</vt:lpstr>
      <vt:lpstr>BMP 图像</vt:lpstr>
      <vt:lpstr>MathType 6.0 Equation</vt:lpstr>
      <vt:lpstr>BMP 图象</vt:lpstr>
      <vt:lpstr>公式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lrx</dc:creator>
  <cp:lastModifiedBy>Liuwei</cp:lastModifiedBy>
  <cp:revision>614</cp:revision>
  <cp:lastPrinted>2019-11-14T06:34:03Z</cp:lastPrinted>
  <dcterms:created xsi:type="dcterms:W3CDTF">2006-09-12T08:15:01Z</dcterms:created>
  <dcterms:modified xsi:type="dcterms:W3CDTF">2025-11-17T12:56:49Z</dcterms:modified>
</cp:coreProperties>
</file>