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9" r:id="rId1"/>
  </p:sldMasterIdLst>
  <p:notesMasterIdLst>
    <p:notesMasterId r:id="rId106"/>
  </p:notesMasterIdLst>
  <p:sldIdLst>
    <p:sldId id="304" r:id="rId2"/>
    <p:sldId id="306" r:id="rId3"/>
    <p:sldId id="307" r:id="rId4"/>
    <p:sldId id="308" r:id="rId5"/>
    <p:sldId id="309" r:id="rId6"/>
    <p:sldId id="310" r:id="rId7"/>
    <p:sldId id="311" r:id="rId8"/>
    <p:sldId id="405" r:id="rId9"/>
    <p:sldId id="312" r:id="rId10"/>
    <p:sldId id="313" r:id="rId11"/>
    <p:sldId id="314" r:id="rId12"/>
    <p:sldId id="315" r:id="rId13"/>
    <p:sldId id="316" r:id="rId14"/>
    <p:sldId id="317" r:id="rId15"/>
    <p:sldId id="320" r:id="rId16"/>
    <p:sldId id="321" r:id="rId17"/>
    <p:sldId id="322" r:id="rId18"/>
    <p:sldId id="323" r:id="rId19"/>
    <p:sldId id="324" r:id="rId20"/>
    <p:sldId id="386" r:id="rId21"/>
    <p:sldId id="406" r:id="rId22"/>
    <p:sldId id="413" r:id="rId23"/>
    <p:sldId id="385" r:id="rId24"/>
    <p:sldId id="326" r:id="rId25"/>
    <p:sldId id="327" r:id="rId26"/>
    <p:sldId id="328" r:id="rId27"/>
    <p:sldId id="395" r:id="rId28"/>
    <p:sldId id="329" r:id="rId29"/>
    <p:sldId id="330" r:id="rId30"/>
    <p:sldId id="403" r:id="rId31"/>
    <p:sldId id="331" r:id="rId32"/>
    <p:sldId id="404" r:id="rId33"/>
    <p:sldId id="334" r:id="rId34"/>
    <p:sldId id="333" r:id="rId35"/>
    <p:sldId id="335" r:id="rId36"/>
    <p:sldId id="391" r:id="rId37"/>
    <p:sldId id="415" r:id="rId38"/>
    <p:sldId id="414" r:id="rId39"/>
    <p:sldId id="336" r:id="rId40"/>
    <p:sldId id="392" r:id="rId41"/>
    <p:sldId id="408" r:id="rId42"/>
    <p:sldId id="409" r:id="rId43"/>
    <p:sldId id="337" r:id="rId44"/>
    <p:sldId id="410" r:id="rId45"/>
    <p:sldId id="412" r:id="rId46"/>
    <p:sldId id="411" r:id="rId47"/>
    <p:sldId id="388" r:id="rId48"/>
    <p:sldId id="338" r:id="rId49"/>
    <p:sldId id="339" r:id="rId50"/>
    <p:sldId id="340" r:id="rId51"/>
    <p:sldId id="341" r:id="rId52"/>
    <p:sldId id="389" r:id="rId53"/>
    <p:sldId id="342" r:id="rId54"/>
    <p:sldId id="343" r:id="rId55"/>
    <p:sldId id="344" r:id="rId56"/>
    <p:sldId id="345" r:id="rId57"/>
    <p:sldId id="346" r:id="rId58"/>
    <p:sldId id="347" r:id="rId59"/>
    <p:sldId id="348" r:id="rId60"/>
    <p:sldId id="349" r:id="rId61"/>
    <p:sldId id="351" r:id="rId62"/>
    <p:sldId id="393" r:id="rId63"/>
    <p:sldId id="352" r:id="rId64"/>
    <p:sldId id="407" r:id="rId65"/>
    <p:sldId id="416" r:id="rId66"/>
    <p:sldId id="355" r:id="rId67"/>
    <p:sldId id="356" r:id="rId68"/>
    <p:sldId id="357" r:id="rId69"/>
    <p:sldId id="358" r:id="rId70"/>
    <p:sldId id="359" r:id="rId71"/>
    <p:sldId id="394" r:id="rId72"/>
    <p:sldId id="360" r:id="rId73"/>
    <p:sldId id="361" r:id="rId74"/>
    <p:sldId id="362" r:id="rId75"/>
    <p:sldId id="364" r:id="rId76"/>
    <p:sldId id="363" r:id="rId77"/>
    <p:sldId id="365" r:id="rId78"/>
    <p:sldId id="366" r:id="rId79"/>
    <p:sldId id="367" r:id="rId80"/>
    <p:sldId id="368" r:id="rId81"/>
    <p:sldId id="369" r:id="rId82"/>
    <p:sldId id="397" r:id="rId83"/>
    <p:sldId id="398" r:id="rId84"/>
    <p:sldId id="370" r:id="rId85"/>
    <p:sldId id="372" r:id="rId86"/>
    <p:sldId id="373" r:id="rId87"/>
    <p:sldId id="374" r:id="rId88"/>
    <p:sldId id="390" r:id="rId89"/>
    <p:sldId id="376" r:id="rId90"/>
    <p:sldId id="400" r:id="rId91"/>
    <p:sldId id="401" r:id="rId92"/>
    <p:sldId id="402" r:id="rId93"/>
    <p:sldId id="377" r:id="rId94"/>
    <p:sldId id="396" r:id="rId95"/>
    <p:sldId id="417" r:id="rId96"/>
    <p:sldId id="418" r:id="rId97"/>
    <p:sldId id="378" r:id="rId98"/>
    <p:sldId id="379" r:id="rId99"/>
    <p:sldId id="382" r:id="rId100"/>
    <p:sldId id="387" r:id="rId101"/>
    <p:sldId id="384" r:id="rId102"/>
    <p:sldId id="380" r:id="rId103"/>
    <p:sldId id="381" r:id="rId104"/>
    <p:sldId id="399" r:id="rId105"/>
  </p:sldIdLst>
  <p:sldSz cx="9144000" cy="6858000" type="screen4x3"/>
  <p:notesSz cx="6858000" cy="9144000"/>
  <p:defaultTextStyle>
    <a:defPPr>
      <a:defRPr lang="zh-CN"/>
    </a:defPPr>
    <a:lvl1pPr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umimoji="1" sz="2400" b="1" kern="1200">
        <a:solidFill>
          <a:schemeClr val="tx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umimoji="1" sz="2400" b="1" kern="1200">
        <a:solidFill>
          <a:schemeClr val="tx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umimoji="1" sz="2400" b="1" kern="1200">
        <a:solidFill>
          <a:schemeClr val="tx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umimoji="1" sz="2400" b="1" kern="1200">
        <a:solidFill>
          <a:schemeClr val="tx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0869" autoAdjust="0"/>
    <p:restoredTop sz="88144" autoAdjust="0"/>
  </p:normalViewPr>
  <p:slideViewPr>
    <p:cSldViewPr>
      <p:cViewPr varScale="1">
        <p:scale>
          <a:sx n="112" d="100"/>
          <a:sy n="112" d="100"/>
        </p:scale>
        <p:origin x="1568" y="200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presProps" Target="presProps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viewProps" Target="view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theme" Target="theme/theme1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tableStyles" Target="tableStyle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EB30B885-F6D4-7D46-BE6E-49336C01DE5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 b="0">
                <a:ea typeface="宋体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147" name="Rectangle 3">
            <a:extLst>
              <a:ext uri="{FF2B5EF4-FFF2-40B4-BE49-F238E27FC236}">
                <a16:creationId xmlns:a16="http://schemas.microsoft.com/office/drawing/2014/main" id="{5DAB340F-6083-A844-87CC-D496173EC848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 b="0">
                <a:ea typeface="宋体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316" name="Rectangle 4">
            <a:extLst>
              <a:ext uri="{FF2B5EF4-FFF2-40B4-BE49-F238E27FC236}">
                <a16:creationId xmlns:a16="http://schemas.microsoft.com/office/drawing/2014/main" id="{3A3CC06A-9E76-E043-A97D-600B19736A17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149" name="Rectangle 5">
            <a:extLst>
              <a:ext uri="{FF2B5EF4-FFF2-40B4-BE49-F238E27FC236}">
                <a16:creationId xmlns:a16="http://schemas.microsoft.com/office/drawing/2014/main" id="{AABFB9A8-F58D-CE4A-A732-855C71952EB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noProof="0"/>
              <a:t>单击此处编辑母版文本样式</a:t>
            </a:r>
          </a:p>
          <a:p>
            <a:pPr lvl="1"/>
            <a:r>
              <a:rPr lang="zh-CN" altLang="en-US" noProof="0"/>
              <a:t>第二级</a:t>
            </a:r>
          </a:p>
          <a:p>
            <a:pPr lvl="2"/>
            <a:r>
              <a:rPr lang="zh-CN" altLang="en-US" noProof="0"/>
              <a:t>第三级</a:t>
            </a:r>
          </a:p>
          <a:p>
            <a:pPr lvl="3"/>
            <a:r>
              <a:rPr lang="zh-CN" altLang="en-US" noProof="0"/>
              <a:t>第四级</a:t>
            </a:r>
          </a:p>
          <a:p>
            <a:pPr lvl="4"/>
            <a:r>
              <a:rPr lang="zh-CN" altLang="en-US" noProof="0"/>
              <a:t>第五级</a:t>
            </a:r>
          </a:p>
        </p:txBody>
      </p:sp>
      <p:sp>
        <p:nvSpPr>
          <p:cNvPr id="6150" name="Rectangle 6">
            <a:extLst>
              <a:ext uri="{FF2B5EF4-FFF2-40B4-BE49-F238E27FC236}">
                <a16:creationId xmlns:a16="http://schemas.microsoft.com/office/drawing/2014/main" id="{FD041BC2-0788-8549-BE16-F7F3BBCDA0F4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 b="0">
                <a:ea typeface="宋体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151" name="Rectangle 7">
            <a:extLst>
              <a:ext uri="{FF2B5EF4-FFF2-40B4-BE49-F238E27FC236}">
                <a16:creationId xmlns:a16="http://schemas.microsoft.com/office/drawing/2014/main" id="{30297073-7642-6645-9144-B8919F4A374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 b="0"/>
            </a:lvl1pPr>
          </a:lstStyle>
          <a:p>
            <a:pPr>
              <a:defRPr/>
            </a:pPr>
            <a:fld id="{C7E833B4-9F67-F445-A089-882BB0C75A5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1" name="Rectangle 7">
            <a:extLst>
              <a:ext uri="{FF2B5EF4-FFF2-40B4-BE49-F238E27FC236}">
                <a16:creationId xmlns:a16="http://schemas.microsoft.com/office/drawing/2014/main" id="{ABCB54C3-A635-F844-BBE2-30B7CE4DECB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FE4CF0EE-C2B2-BA47-8086-619A3F836494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5362" name="Rectangle 2">
            <a:extLst>
              <a:ext uri="{FF2B5EF4-FFF2-40B4-BE49-F238E27FC236}">
                <a16:creationId xmlns:a16="http://schemas.microsoft.com/office/drawing/2014/main" id="{FDB025F0-C68C-0949-A3D2-E69C0B747C9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3" name="Rectangle 3">
            <a:extLst>
              <a:ext uri="{FF2B5EF4-FFF2-40B4-BE49-F238E27FC236}">
                <a16:creationId xmlns:a16="http://schemas.microsoft.com/office/drawing/2014/main" id="{EAC0804A-5D38-4541-B280-32694F075BF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Rectangle 7">
            <a:extLst>
              <a:ext uri="{FF2B5EF4-FFF2-40B4-BE49-F238E27FC236}">
                <a16:creationId xmlns:a16="http://schemas.microsoft.com/office/drawing/2014/main" id="{F44013A1-7DDA-1949-942E-3A92B547412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AF8A3C2D-C4DA-C643-912F-279B22FFB75F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2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7410" name="Rectangle 2">
            <a:extLst>
              <a:ext uri="{FF2B5EF4-FFF2-40B4-BE49-F238E27FC236}">
                <a16:creationId xmlns:a16="http://schemas.microsoft.com/office/drawing/2014/main" id="{9A9BF86C-2784-3741-BD13-CF1214E3FA6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11" name="Rectangle 3">
            <a:extLst>
              <a:ext uri="{FF2B5EF4-FFF2-40B4-BE49-F238E27FC236}">
                <a16:creationId xmlns:a16="http://schemas.microsoft.com/office/drawing/2014/main" id="{CCBB4F55-BDB7-054F-8DBD-A244165E514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7" name="Rectangle 7">
            <a:extLst>
              <a:ext uri="{FF2B5EF4-FFF2-40B4-BE49-F238E27FC236}">
                <a16:creationId xmlns:a16="http://schemas.microsoft.com/office/drawing/2014/main" id="{7561CEEB-2D68-8E4D-869E-01AAA51AD1E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84D7B68-1D5D-774E-82E7-05785FCA6446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9458" name="Rectangle 2">
            <a:extLst>
              <a:ext uri="{FF2B5EF4-FFF2-40B4-BE49-F238E27FC236}">
                <a16:creationId xmlns:a16="http://schemas.microsoft.com/office/drawing/2014/main" id="{8C4A885D-E2DA-1448-B094-628C13518C0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59" name="Rectangle 3">
            <a:extLst>
              <a:ext uri="{FF2B5EF4-FFF2-40B4-BE49-F238E27FC236}">
                <a16:creationId xmlns:a16="http://schemas.microsoft.com/office/drawing/2014/main" id="{2DD76BC0-79EB-FC4D-9033-A36DFEE92E5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Rectangle 7">
            <a:extLst>
              <a:ext uri="{FF2B5EF4-FFF2-40B4-BE49-F238E27FC236}">
                <a16:creationId xmlns:a16="http://schemas.microsoft.com/office/drawing/2014/main" id="{01353187-8E5F-1047-AFCC-8F08055A34C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7614BA39-B0E3-C543-8509-55818F5E8E4B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21506" name="Rectangle 2">
            <a:extLst>
              <a:ext uri="{FF2B5EF4-FFF2-40B4-BE49-F238E27FC236}">
                <a16:creationId xmlns:a16="http://schemas.microsoft.com/office/drawing/2014/main" id="{AC7A5478-221D-7847-AC10-280B0DB306F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7" name="Rectangle 3">
            <a:extLst>
              <a:ext uri="{FF2B5EF4-FFF2-40B4-BE49-F238E27FC236}">
                <a16:creationId xmlns:a16="http://schemas.microsoft.com/office/drawing/2014/main" id="{8FCB3B37-E360-DA42-BE8A-138C2A6D751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Rectangle 7">
            <a:extLst>
              <a:ext uri="{FF2B5EF4-FFF2-40B4-BE49-F238E27FC236}">
                <a16:creationId xmlns:a16="http://schemas.microsoft.com/office/drawing/2014/main" id="{F2A6CF47-637D-3E48-9B4B-CF97B4F0F07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5534971C-BE71-9E44-B63A-9DDC5AD04E53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23554" name="Rectangle 2">
            <a:extLst>
              <a:ext uri="{FF2B5EF4-FFF2-40B4-BE49-F238E27FC236}">
                <a16:creationId xmlns:a16="http://schemas.microsoft.com/office/drawing/2014/main" id="{3264DC29-658D-0C49-881A-AC57B52145F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5" name="Rectangle 3">
            <a:extLst>
              <a:ext uri="{FF2B5EF4-FFF2-40B4-BE49-F238E27FC236}">
                <a16:creationId xmlns:a16="http://schemas.microsoft.com/office/drawing/2014/main" id="{2C001315-5F54-154E-AC6C-37D5DD9F38D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4938C057-3180-BD4E-B72A-795222B2DDE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2AD62B7-2AA7-FE46-811A-1B4FD8C0CD31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20B5E335-E6BA-AE4A-8463-E80E14652E6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1829DAB7-EFEB-E041-8996-7E1B96D5BEC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Rectangle 7">
            <a:extLst>
              <a:ext uri="{FF2B5EF4-FFF2-40B4-BE49-F238E27FC236}">
                <a16:creationId xmlns:a16="http://schemas.microsoft.com/office/drawing/2014/main" id="{63CE02B3-F466-D74E-BE1C-65B0DFAC1E5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056383A-5A8E-1946-8C8A-1443DF26975B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27650" name="Rectangle 2">
            <a:extLst>
              <a:ext uri="{FF2B5EF4-FFF2-40B4-BE49-F238E27FC236}">
                <a16:creationId xmlns:a16="http://schemas.microsoft.com/office/drawing/2014/main" id="{9138C87F-2743-3B4A-9F9C-A340A697CF2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1" name="Rectangle 3">
            <a:extLst>
              <a:ext uri="{FF2B5EF4-FFF2-40B4-BE49-F238E27FC236}">
                <a16:creationId xmlns:a16="http://schemas.microsoft.com/office/drawing/2014/main" id="{DDD180FB-D7A7-A242-885A-FC6B8FC7CED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Rectangle 7">
            <a:extLst>
              <a:ext uri="{FF2B5EF4-FFF2-40B4-BE49-F238E27FC236}">
                <a16:creationId xmlns:a16="http://schemas.microsoft.com/office/drawing/2014/main" id="{4AF93949-71E6-C74A-8AA1-66D2896128C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98DBBA8-0329-8C4C-973C-135B6D01BC3F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30722" name="Rectangle 2">
            <a:extLst>
              <a:ext uri="{FF2B5EF4-FFF2-40B4-BE49-F238E27FC236}">
                <a16:creationId xmlns:a16="http://schemas.microsoft.com/office/drawing/2014/main" id="{8A675A71-73F9-7548-8575-0A2CF8F0D83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Rectangle 3">
            <a:extLst>
              <a:ext uri="{FF2B5EF4-FFF2-40B4-BE49-F238E27FC236}">
                <a16:creationId xmlns:a16="http://schemas.microsoft.com/office/drawing/2014/main" id="{272E57F9-B64D-7D42-A977-D026866AE85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Rectangle 7">
            <a:extLst>
              <a:ext uri="{FF2B5EF4-FFF2-40B4-BE49-F238E27FC236}">
                <a16:creationId xmlns:a16="http://schemas.microsoft.com/office/drawing/2014/main" id="{894A58AB-AB05-274E-99AB-150ECF2FB70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133749C-66AB-8B4A-9671-1243B558685E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10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32770" name="Rectangle 2">
            <a:extLst>
              <a:ext uri="{FF2B5EF4-FFF2-40B4-BE49-F238E27FC236}">
                <a16:creationId xmlns:a16="http://schemas.microsoft.com/office/drawing/2014/main" id="{8F48EE96-6C27-0845-A856-C71CFD542B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71" name="Rectangle 3">
            <a:extLst>
              <a:ext uri="{FF2B5EF4-FFF2-40B4-BE49-F238E27FC236}">
                <a16:creationId xmlns:a16="http://schemas.microsoft.com/office/drawing/2014/main" id="{7751EE06-6A6B-7941-9962-5072E23DFDC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Rectangle 7">
            <a:extLst>
              <a:ext uri="{FF2B5EF4-FFF2-40B4-BE49-F238E27FC236}">
                <a16:creationId xmlns:a16="http://schemas.microsoft.com/office/drawing/2014/main" id="{4E06B14E-94CE-CC42-BF89-3013D2DCE87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A286FFBD-9717-A342-9B2A-60A09A1F73AA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34818" name="Rectangle 2">
            <a:extLst>
              <a:ext uri="{FF2B5EF4-FFF2-40B4-BE49-F238E27FC236}">
                <a16:creationId xmlns:a16="http://schemas.microsoft.com/office/drawing/2014/main" id="{E328D6DA-4060-C942-AD3D-61408269987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9" name="Rectangle 3">
            <a:extLst>
              <a:ext uri="{FF2B5EF4-FFF2-40B4-BE49-F238E27FC236}">
                <a16:creationId xmlns:a16="http://schemas.microsoft.com/office/drawing/2014/main" id="{1FAE4388-510E-BA4C-B72C-80090063E3A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Rectangle 7">
            <a:extLst>
              <a:ext uri="{FF2B5EF4-FFF2-40B4-BE49-F238E27FC236}">
                <a16:creationId xmlns:a16="http://schemas.microsoft.com/office/drawing/2014/main" id="{8AC2B68C-1FE5-104F-975B-497A3C6A877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58384AC9-933D-D04F-9996-F10B2B99532D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12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36866" name="Rectangle 2">
            <a:extLst>
              <a:ext uri="{FF2B5EF4-FFF2-40B4-BE49-F238E27FC236}">
                <a16:creationId xmlns:a16="http://schemas.microsoft.com/office/drawing/2014/main" id="{1D43018C-E4AD-A54E-AC77-05CCEA4DF4B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7" name="Rectangle 3">
            <a:extLst>
              <a:ext uri="{FF2B5EF4-FFF2-40B4-BE49-F238E27FC236}">
                <a16:creationId xmlns:a16="http://schemas.microsoft.com/office/drawing/2014/main" id="{74A630F4-4774-3D40-ADC4-D36BD83412E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Rectangle 7">
            <a:extLst>
              <a:ext uri="{FF2B5EF4-FFF2-40B4-BE49-F238E27FC236}">
                <a16:creationId xmlns:a16="http://schemas.microsoft.com/office/drawing/2014/main" id="{98A65E77-0D08-AE4F-87EA-5F048BF8BFC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0CB15DF-C14B-6A45-B995-21292D9385C6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38914" name="Rectangle 2">
            <a:extLst>
              <a:ext uri="{FF2B5EF4-FFF2-40B4-BE49-F238E27FC236}">
                <a16:creationId xmlns:a16="http://schemas.microsoft.com/office/drawing/2014/main" id="{147ECDA2-923C-2E43-9091-1CDADF1985F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915" name="Rectangle 3">
            <a:extLst>
              <a:ext uri="{FF2B5EF4-FFF2-40B4-BE49-F238E27FC236}">
                <a16:creationId xmlns:a16="http://schemas.microsoft.com/office/drawing/2014/main" id="{E4527260-D0CA-4340-AF8D-D3C08281D14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Rectangle 7">
            <a:extLst>
              <a:ext uri="{FF2B5EF4-FFF2-40B4-BE49-F238E27FC236}">
                <a16:creationId xmlns:a16="http://schemas.microsoft.com/office/drawing/2014/main" id="{291426CB-C0A7-D54C-A7C8-4F23A130D8A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CD88AC0-BFA2-514C-A56F-8C40CE9FEF73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14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40962" name="Rectangle 2">
            <a:extLst>
              <a:ext uri="{FF2B5EF4-FFF2-40B4-BE49-F238E27FC236}">
                <a16:creationId xmlns:a16="http://schemas.microsoft.com/office/drawing/2014/main" id="{9DBE8E96-D2D5-4E49-AC9A-AFE94B5F303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3" name="Rectangle 3">
            <a:extLst>
              <a:ext uri="{FF2B5EF4-FFF2-40B4-BE49-F238E27FC236}">
                <a16:creationId xmlns:a16="http://schemas.microsoft.com/office/drawing/2014/main" id="{CFF6F101-FBCF-D64A-A9E3-94BF626C83B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Rectangle 7">
            <a:extLst>
              <a:ext uri="{FF2B5EF4-FFF2-40B4-BE49-F238E27FC236}">
                <a16:creationId xmlns:a16="http://schemas.microsoft.com/office/drawing/2014/main" id="{90230728-6A35-6E45-AD56-273E2EE1377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8EE15D52-39D8-214C-8C7D-B6D08AC5F238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15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43010" name="Rectangle 2">
            <a:extLst>
              <a:ext uri="{FF2B5EF4-FFF2-40B4-BE49-F238E27FC236}">
                <a16:creationId xmlns:a16="http://schemas.microsoft.com/office/drawing/2014/main" id="{D2EBA285-D3A6-5A4D-BE1A-4727E946A81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11" name="Rectangle 3">
            <a:extLst>
              <a:ext uri="{FF2B5EF4-FFF2-40B4-BE49-F238E27FC236}">
                <a16:creationId xmlns:a16="http://schemas.microsoft.com/office/drawing/2014/main" id="{55369C97-092F-BA47-BB6E-6BBC27F7FF4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Rectangle 7">
            <a:extLst>
              <a:ext uri="{FF2B5EF4-FFF2-40B4-BE49-F238E27FC236}">
                <a16:creationId xmlns:a16="http://schemas.microsoft.com/office/drawing/2014/main" id="{63B158EC-42B6-D94A-AFF7-5D6AE3AB5D5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BA9BB1EE-6353-BC4A-B62F-035ECF257C77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16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45058" name="Rectangle 2">
            <a:extLst>
              <a:ext uri="{FF2B5EF4-FFF2-40B4-BE49-F238E27FC236}">
                <a16:creationId xmlns:a16="http://schemas.microsoft.com/office/drawing/2014/main" id="{7AC26650-03AA-424B-87EA-6190E900D1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9" name="Rectangle 3">
            <a:extLst>
              <a:ext uri="{FF2B5EF4-FFF2-40B4-BE49-F238E27FC236}">
                <a16:creationId xmlns:a16="http://schemas.microsoft.com/office/drawing/2014/main" id="{6FD575E9-B9A2-3047-B5AD-97116A39595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Rectangle 7">
            <a:extLst>
              <a:ext uri="{FF2B5EF4-FFF2-40B4-BE49-F238E27FC236}">
                <a16:creationId xmlns:a16="http://schemas.microsoft.com/office/drawing/2014/main" id="{941A6310-E150-6940-A870-4FE0EAA983B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F3802F6C-AD5F-434A-B561-3C2CC00D86AA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17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47106" name="Rectangle 2">
            <a:extLst>
              <a:ext uri="{FF2B5EF4-FFF2-40B4-BE49-F238E27FC236}">
                <a16:creationId xmlns:a16="http://schemas.microsoft.com/office/drawing/2014/main" id="{BC2E7DF6-B70E-1F42-B419-56E9F26B8E6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7" name="Rectangle 3">
            <a:extLst>
              <a:ext uri="{FF2B5EF4-FFF2-40B4-BE49-F238E27FC236}">
                <a16:creationId xmlns:a16="http://schemas.microsoft.com/office/drawing/2014/main" id="{A9FB167F-71C9-D944-B55E-0A9DADFAB30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Rectangle 7">
            <a:extLst>
              <a:ext uri="{FF2B5EF4-FFF2-40B4-BE49-F238E27FC236}">
                <a16:creationId xmlns:a16="http://schemas.microsoft.com/office/drawing/2014/main" id="{5DE37342-A7DA-774B-AE0F-FF69D860320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7BA9C65-0488-674D-8586-BF4419510BF7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18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49154" name="Rectangle 2">
            <a:extLst>
              <a:ext uri="{FF2B5EF4-FFF2-40B4-BE49-F238E27FC236}">
                <a16:creationId xmlns:a16="http://schemas.microsoft.com/office/drawing/2014/main" id="{F525429D-6703-FC4C-A3E8-188313A6A49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5" name="Rectangle 3">
            <a:extLst>
              <a:ext uri="{FF2B5EF4-FFF2-40B4-BE49-F238E27FC236}">
                <a16:creationId xmlns:a16="http://schemas.microsoft.com/office/drawing/2014/main" id="{91CE0513-B544-D745-BC42-C32B545D7B8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Rectangle 7">
            <a:extLst>
              <a:ext uri="{FF2B5EF4-FFF2-40B4-BE49-F238E27FC236}">
                <a16:creationId xmlns:a16="http://schemas.microsoft.com/office/drawing/2014/main" id="{8A12A5E1-7296-5440-B457-0FBA8DC8B2C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DBD1DD22-DFF9-6A4F-A03A-E8A118E54297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51202" name="Rectangle 2">
            <a:extLst>
              <a:ext uri="{FF2B5EF4-FFF2-40B4-BE49-F238E27FC236}">
                <a16:creationId xmlns:a16="http://schemas.microsoft.com/office/drawing/2014/main" id="{BADFF75B-2024-1948-BCB1-CDB3CD74A33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3" name="Rectangle 3">
            <a:extLst>
              <a:ext uri="{FF2B5EF4-FFF2-40B4-BE49-F238E27FC236}">
                <a16:creationId xmlns:a16="http://schemas.microsoft.com/office/drawing/2014/main" id="{BA6F7486-90B8-8D4A-A818-5C7FE9661E2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Rectangle 7">
            <a:extLst>
              <a:ext uri="{FF2B5EF4-FFF2-40B4-BE49-F238E27FC236}">
                <a16:creationId xmlns:a16="http://schemas.microsoft.com/office/drawing/2014/main" id="{E76B0CBF-4027-7145-92BB-B7D9E9CB616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D53BA47-C4B3-BF47-A459-338BEB6D4456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20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53250" name="Rectangle 2">
            <a:extLst>
              <a:ext uri="{FF2B5EF4-FFF2-40B4-BE49-F238E27FC236}">
                <a16:creationId xmlns:a16="http://schemas.microsoft.com/office/drawing/2014/main" id="{AA9352D2-8C26-D44A-8D76-46DED9A3E0D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51" name="Rectangle 3">
            <a:extLst>
              <a:ext uri="{FF2B5EF4-FFF2-40B4-BE49-F238E27FC236}">
                <a16:creationId xmlns:a16="http://schemas.microsoft.com/office/drawing/2014/main" id="{C43D23E9-4149-7041-A83B-CB718D35A67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7E833B4-9F67-F445-A089-882BB0C75A57}" type="slidenum">
              <a:rPr lang="en-US" altLang="zh-CN" smtClean="0"/>
              <a:pPr>
                <a:defRPr/>
              </a:pPr>
              <a:t>21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63216440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7E833B4-9F67-F445-A089-882BB0C75A57}" type="slidenum">
              <a:rPr lang="en-US" altLang="zh-CN" smtClean="0"/>
              <a:pPr>
                <a:defRPr/>
              </a:pPr>
              <a:t>22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5160461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Rectangle 7">
            <a:extLst>
              <a:ext uri="{FF2B5EF4-FFF2-40B4-BE49-F238E27FC236}">
                <a16:creationId xmlns:a16="http://schemas.microsoft.com/office/drawing/2014/main" id="{D63BD54F-5A2E-A64A-9C34-23B843DAB21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07C8900-37B5-0F48-B368-4957111DBCE4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23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56322" name="Rectangle 2">
            <a:extLst>
              <a:ext uri="{FF2B5EF4-FFF2-40B4-BE49-F238E27FC236}">
                <a16:creationId xmlns:a16="http://schemas.microsoft.com/office/drawing/2014/main" id="{4D88C876-99DA-2E4F-B08F-ED07EEA169A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323" name="Rectangle 3">
            <a:extLst>
              <a:ext uri="{FF2B5EF4-FFF2-40B4-BE49-F238E27FC236}">
                <a16:creationId xmlns:a16="http://schemas.microsoft.com/office/drawing/2014/main" id="{FD915EBB-C5B8-2D40-AF0F-635170C64F4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Rectangle 7">
            <a:extLst>
              <a:ext uri="{FF2B5EF4-FFF2-40B4-BE49-F238E27FC236}">
                <a16:creationId xmlns:a16="http://schemas.microsoft.com/office/drawing/2014/main" id="{985E0DF5-3CD7-6849-8002-61B97A7D448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40454F9-E785-184D-B071-E14C6A53628A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24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58370" name="Rectangle 2">
            <a:extLst>
              <a:ext uri="{FF2B5EF4-FFF2-40B4-BE49-F238E27FC236}">
                <a16:creationId xmlns:a16="http://schemas.microsoft.com/office/drawing/2014/main" id="{F6EB26DD-D4F4-1E4A-AA7F-5CC6621CEEF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71" name="Rectangle 3">
            <a:extLst>
              <a:ext uri="{FF2B5EF4-FFF2-40B4-BE49-F238E27FC236}">
                <a16:creationId xmlns:a16="http://schemas.microsoft.com/office/drawing/2014/main" id="{CF985FD6-6AF4-AC4A-A710-9EFA3CA8FF6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Rectangle 7">
            <a:extLst>
              <a:ext uri="{FF2B5EF4-FFF2-40B4-BE49-F238E27FC236}">
                <a16:creationId xmlns:a16="http://schemas.microsoft.com/office/drawing/2014/main" id="{87C3BD0C-B98D-B742-ADEB-BBB83070953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DF1FE64C-69E0-3E44-9A59-591CEB7DDC8A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25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60418" name="Rectangle 2">
            <a:extLst>
              <a:ext uri="{FF2B5EF4-FFF2-40B4-BE49-F238E27FC236}">
                <a16:creationId xmlns:a16="http://schemas.microsoft.com/office/drawing/2014/main" id="{79DD867E-BEE6-F54C-8088-A27CE851295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19" name="Rectangle 3">
            <a:extLst>
              <a:ext uri="{FF2B5EF4-FFF2-40B4-BE49-F238E27FC236}">
                <a16:creationId xmlns:a16="http://schemas.microsoft.com/office/drawing/2014/main" id="{250F33DC-3DDB-5441-9AD1-E1BE8FF3BF2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Rectangle 7">
            <a:extLst>
              <a:ext uri="{FF2B5EF4-FFF2-40B4-BE49-F238E27FC236}">
                <a16:creationId xmlns:a16="http://schemas.microsoft.com/office/drawing/2014/main" id="{EE75C5FD-A973-C048-B2AC-110485ACD73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1ABA5B9-20DC-9441-B2A6-CFF8928C4306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26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62466" name="Rectangle 2">
            <a:extLst>
              <a:ext uri="{FF2B5EF4-FFF2-40B4-BE49-F238E27FC236}">
                <a16:creationId xmlns:a16="http://schemas.microsoft.com/office/drawing/2014/main" id="{F703B5D5-D89F-3049-81EB-A01766A986E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7" name="Rectangle 3">
            <a:extLst>
              <a:ext uri="{FF2B5EF4-FFF2-40B4-BE49-F238E27FC236}">
                <a16:creationId xmlns:a16="http://schemas.microsoft.com/office/drawing/2014/main" id="{64622B4E-3A94-9E40-9A03-098B3A31658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Rectangle 7">
            <a:extLst>
              <a:ext uri="{FF2B5EF4-FFF2-40B4-BE49-F238E27FC236}">
                <a16:creationId xmlns:a16="http://schemas.microsoft.com/office/drawing/2014/main" id="{FF0BDC33-5E56-534D-B197-E321DC9CEE8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A3A0B79-62DE-AC40-B7D6-8FC7C4C4451D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27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64514" name="Rectangle 2">
            <a:extLst>
              <a:ext uri="{FF2B5EF4-FFF2-40B4-BE49-F238E27FC236}">
                <a16:creationId xmlns:a16="http://schemas.microsoft.com/office/drawing/2014/main" id="{163B66AA-3238-744A-8AFD-D97793E6C51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515" name="Rectangle 3">
            <a:extLst>
              <a:ext uri="{FF2B5EF4-FFF2-40B4-BE49-F238E27FC236}">
                <a16:creationId xmlns:a16="http://schemas.microsoft.com/office/drawing/2014/main" id="{2E7E80E8-3C8E-4341-85E7-8B4D7014995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Rectangle 7">
            <a:extLst>
              <a:ext uri="{FF2B5EF4-FFF2-40B4-BE49-F238E27FC236}">
                <a16:creationId xmlns:a16="http://schemas.microsoft.com/office/drawing/2014/main" id="{AAB61221-C422-0C42-B0F4-5CFDB766FEB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FDCEFA0-A000-0F42-892A-791651030622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28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66562" name="Rectangle 2">
            <a:extLst>
              <a:ext uri="{FF2B5EF4-FFF2-40B4-BE49-F238E27FC236}">
                <a16:creationId xmlns:a16="http://schemas.microsoft.com/office/drawing/2014/main" id="{FDFD7632-7D5F-384B-B687-55F7ABFD498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563" name="Rectangle 3">
            <a:extLst>
              <a:ext uri="{FF2B5EF4-FFF2-40B4-BE49-F238E27FC236}">
                <a16:creationId xmlns:a16="http://schemas.microsoft.com/office/drawing/2014/main" id="{1C9DD2C0-8304-FA40-8882-99FE4B0FE9B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Rectangle 7">
            <a:extLst>
              <a:ext uri="{FF2B5EF4-FFF2-40B4-BE49-F238E27FC236}">
                <a16:creationId xmlns:a16="http://schemas.microsoft.com/office/drawing/2014/main" id="{5CEA392B-15D6-FF4C-A278-18FEE5EC74F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D9AC1C98-0C1B-474C-93FF-0A8174BA9611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29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68610" name="Rectangle 2">
            <a:extLst>
              <a:ext uri="{FF2B5EF4-FFF2-40B4-BE49-F238E27FC236}">
                <a16:creationId xmlns:a16="http://schemas.microsoft.com/office/drawing/2014/main" id="{01D7D00C-DB17-2D4B-BB8F-D9BD9836A23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11" name="Rectangle 3">
            <a:extLst>
              <a:ext uri="{FF2B5EF4-FFF2-40B4-BE49-F238E27FC236}">
                <a16:creationId xmlns:a16="http://schemas.microsoft.com/office/drawing/2014/main" id="{3C0DB607-2888-8549-915A-BF6196A6E1D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Rectangle 7">
            <a:extLst>
              <a:ext uri="{FF2B5EF4-FFF2-40B4-BE49-F238E27FC236}">
                <a16:creationId xmlns:a16="http://schemas.microsoft.com/office/drawing/2014/main" id="{9C403480-0270-DC4B-A65E-4E259FB4EB7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BC4CA88-0582-8E46-A7A0-C44C38EBCF93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31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71682" name="Rectangle 2">
            <a:extLst>
              <a:ext uri="{FF2B5EF4-FFF2-40B4-BE49-F238E27FC236}">
                <a16:creationId xmlns:a16="http://schemas.microsoft.com/office/drawing/2014/main" id="{4719AD53-DAE0-7946-B724-6C00F6A303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3" name="Rectangle 3">
            <a:extLst>
              <a:ext uri="{FF2B5EF4-FFF2-40B4-BE49-F238E27FC236}">
                <a16:creationId xmlns:a16="http://schemas.microsoft.com/office/drawing/2014/main" id="{01E977F9-0A4B-614F-A072-E2C3313B879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Rectangle 7">
            <a:extLst>
              <a:ext uri="{FF2B5EF4-FFF2-40B4-BE49-F238E27FC236}">
                <a16:creationId xmlns:a16="http://schemas.microsoft.com/office/drawing/2014/main" id="{94C4129F-20FB-5C41-8A0C-12C7D628D1A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0CFDF423-773D-0249-BEC0-85D6FBE2259D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33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74754" name="Rectangle 2">
            <a:extLst>
              <a:ext uri="{FF2B5EF4-FFF2-40B4-BE49-F238E27FC236}">
                <a16:creationId xmlns:a16="http://schemas.microsoft.com/office/drawing/2014/main" id="{F6FB0AAB-B124-034E-85C9-4B1F1820918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755" name="Rectangle 3">
            <a:extLst>
              <a:ext uri="{FF2B5EF4-FFF2-40B4-BE49-F238E27FC236}">
                <a16:creationId xmlns:a16="http://schemas.microsoft.com/office/drawing/2014/main" id="{0CB0B5F9-D89F-DA4A-992B-99814D06F0A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Rectangle 7">
            <a:extLst>
              <a:ext uri="{FF2B5EF4-FFF2-40B4-BE49-F238E27FC236}">
                <a16:creationId xmlns:a16="http://schemas.microsoft.com/office/drawing/2014/main" id="{138AFF83-F5C0-9A4F-803C-7396B9EFD3E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07578020-61F6-2E46-85C9-BD19F37EBEBF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34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76802" name="Rectangle 2">
            <a:extLst>
              <a:ext uri="{FF2B5EF4-FFF2-40B4-BE49-F238E27FC236}">
                <a16:creationId xmlns:a16="http://schemas.microsoft.com/office/drawing/2014/main" id="{F82D0E25-554A-4340-9BFE-017A4FC678B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803" name="Rectangle 3">
            <a:extLst>
              <a:ext uri="{FF2B5EF4-FFF2-40B4-BE49-F238E27FC236}">
                <a16:creationId xmlns:a16="http://schemas.microsoft.com/office/drawing/2014/main" id="{AF80EF0C-848F-0448-8FF6-46E65C476C9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Rectangle 7">
            <a:extLst>
              <a:ext uri="{FF2B5EF4-FFF2-40B4-BE49-F238E27FC236}">
                <a16:creationId xmlns:a16="http://schemas.microsoft.com/office/drawing/2014/main" id="{0CBF4990-7478-3E4A-ADE3-E23ED9381EE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2A3AF1E-CAD5-F34D-A0F0-3D3751B56EB4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35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78850" name="Rectangle 2">
            <a:extLst>
              <a:ext uri="{FF2B5EF4-FFF2-40B4-BE49-F238E27FC236}">
                <a16:creationId xmlns:a16="http://schemas.microsoft.com/office/drawing/2014/main" id="{381B42EF-52E2-3C44-8042-044F8D79E9E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8851" name="Rectangle 3">
            <a:extLst>
              <a:ext uri="{FF2B5EF4-FFF2-40B4-BE49-F238E27FC236}">
                <a16:creationId xmlns:a16="http://schemas.microsoft.com/office/drawing/2014/main" id="{80D5169B-95C5-1C4A-9A0B-63FA252747D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Rectangle 7">
            <a:extLst>
              <a:ext uri="{FF2B5EF4-FFF2-40B4-BE49-F238E27FC236}">
                <a16:creationId xmlns:a16="http://schemas.microsoft.com/office/drawing/2014/main" id="{E87B1F5F-D2DD-4049-8422-987C9A750E4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03A112E-04C4-2445-AA22-6158A46E54D4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36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80898" name="Rectangle 2">
            <a:extLst>
              <a:ext uri="{FF2B5EF4-FFF2-40B4-BE49-F238E27FC236}">
                <a16:creationId xmlns:a16="http://schemas.microsoft.com/office/drawing/2014/main" id="{076C70F5-2B67-2C49-A684-8FD065B418B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0899" name="Rectangle 3">
            <a:extLst>
              <a:ext uri="{FF2B5EF4-FFF2-40B4-BE49-F238E27FC236}">
                <a16:creationId xmlns:a16="http://schemas.microsoft.com/office/drawing/2014/main" id="{96D76B17-EAFA-D945-ACB4-690B35BD542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7E833B4-9F67-F445-A089-882BB0C75A57}" type="slidenum">
              <a:rPr lang="en-US" altLang="zh-CN" smtClean="0"/>
              <a:pPr>
                <a:defRPr/>
              </a:pPr>
              <a:t>38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33201654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Rectangle 7">
            <a:extLst>
              <a:ext uri="{FF2B5EF4-FFF2-40B4-BE49-F238E27FC236}">
                <a16:creationId xmlns:a16="http://schemas.microsoft.com/office/drawing/2014/main" id="{DE635CED-EB5B-784D-A7C4-9D9521A5CC0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2B8DC75-C70F-164C-9396-B157FA49C469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39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82946" name="Rectangle 2">
            <a:extLst>
              <a:ext uri="{FF2B5EF4-FFF2-40B4-BE49-F238E27FC236}">
                <a16:creationId xmlns:a16="http://schemas.microsoft.com/office/drawing/2014/main" id="{C54AF241-EBCE-774E-B7AF-86C518EF356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2947" name="Rectangle 3">
            <a:extLst>
              <a:ext uri="{FF2B5EF4-FFF2-40B4-BE49-F238E27FC236}">
                <a16:creationId xmlns:a16="http://schemas.microsoft.com/office/drawing/2014/main" id="{DBF66578-C02C-0248-843B-BDE95753C96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Rectangle 7">
            <a:extLst>
              <a:ext uri="{FF2B5EF4-FFF2-40B4-BE49-F238E27FC236}">
                <a16:creationId xmlns:a16="http://schemas.microsoft.com/office/drawing/2014/main" id="{2BB70886-4F27-C344-903F-8072C78D6DF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CF7DCDB-4F18-3E42-AB73-560B88394D20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40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84994" name="Rectangle 2">
            <a:extLst>
              <a:ext uri="{FF2B5EF4-FFF2-40B4-BE49-F238E27FC236}">
                <a16:creationId xmlns:a16="http://schemas.microsoft.com/office/drawing/2014/main" id="{9AEFECFD-10B5-0A40-A0D5-191A87C8659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4995" name="Rectangle 3">
            <a:extLst>
              <a:ext uri="{FF2B5EF4-FFF2-40B4-BE49-F238E27FC236}">
                <a16:creationId xmlns:a16="http://schemas.microsoft.com/office/drawing/2014/main" id="{7EF1989D-1608-AF4D-933A-ABEAEE17FF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Rectangle 7">
            <a:extLst>
              <a:ext uri="{FF2B5EF4-FFF2-40B4-BE49-F238E27FC236}">
                <a16:creationId xmlns:a16="http://schemas.microsoft.com/office/drawing/2014/main" id="{4E06B14E-94CE-CC42-BF89-3013D2DCE87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A286FFBD-9717-A342-9B2A-60A09A1F73AA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34818" name="Rectangle 2">
            <a:extLst>
              <a:ext uri="{FF2B5EF4-FFF2-40B4-BE49-F238E27FC236}">
                <a16:creationId xmlns:a16="http://schemas.microsoft.com/office/drawing/2014/main" id="{E328D6DA-4060-C942-AD3D-61408269987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9" name="Rectangle 3">
            <a:extLst>
              <a:ext uri="{FF2B5EF4-FFF2-40B4-BE49-F238E27FC236}">
                <a16:creationId xmlns:a16="http://schemas.microsoft.com/office/drawing/2014/main" id="{1FAE4388-510E-BA4C-B72C-80090063E3A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  <p:extLst>
      <p:ext uri="{BB962C8B-B14F-4D97-AF65-F5344CB8AC3E}">
        <p14:creationId xmlns:p14="http://schemas.microsoft.com/office/powerpoint/2010/main" val="412341975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Rectangle 7">
            <a:extLst>
              <a:ext uri="{FF2B5EF4-FFF2-40B4-BE49-F238E27FC236}">
                <a16:creationId xmlns:a16="http://schemas.microsoft.com/office/drawing/2014/main" id="{291426CB-C0A7-D54C-A7C8-4F23A130D8A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CD88AC0-BFA2-514C-A56F-8C40CE9FEF73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42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40962" name="Rectangle 2">
            <a:extLst>
              <a:ext uri="{FF2B5EF4-FFF2-40B4-BE49-F238E27FC236}">
                <a16:creationId xmlns:a16="http://schemas.microsoft.com/office/drawing/2014/main" id="{9DBE8E96-D2D5-4E49-AC9A-AFE94B5F303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3" name="Rectangle 3">
            <a:extLst>
              <a:ext uri="{FF2B5EF4-FFF2-40B4-BE49-F238E27FC236}">
                <a16:creationId xmlns:a16="http://schemas.microsoft.com/office/drawing/2014/main" id="{CFF6F101-FBCF-D64A-A9E3-94BF626C83B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30018423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Rectangle 7">
            <a:extLst>
              <a:ext uri="{FF2B5EF4-FFF2-40B4-BE49-F238E27FC236}">
                <a16:creationId xmlns:a16="http://schemas.microsoft.com/office/drawing/2014/main" id="{3FDBA308-6D57-404C-B461-473FDDC33ED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EB5A463-1EC6-774E-9D46-7F40AECC48C4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87042" name="Rectangle 2">
            <a:extLst>
              <a:ext uri="{FF2B5EF4-FFF2-40B4-BE49-F238E27FC236}">
                <a16:creationId xmlns:a16="http://schemas.microsoft.com/office/drawing/2014/main" id="{B2929678-3852-F642-9F6B-FF8A85D789F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7043" name="Rectangle 3">
            <a:extLst>
              <a:ext uri="{FF2B5EF4-FFF2-40B4-BE49-F238E27FC236}">
                <a16:creationId xmlns:a16="http://schemas.microsoft.com/office/drawing/2014/main" id="{A6A471FF-BBA9-0443-BA5F-D3112CF6FBE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Rectangle 7">
            <a:extLst>
              <a:ext uri="{FF2B5EF4-FFF2-40B4-BE49-F238E27FC236}">
                <a16:creationId xmlns:a16="http://schemas.microsoft.com/office/drawing/2014/main" id="{54F219CA-9BA3-FD48-9F61-3CEA2A8283D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2635E95-FA3C-894D-AA5C-D0A0083AD720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47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89090" name="Rectangle 2">
            <a:extLst>
              <a:ext uri="{FF2B5EF4-FFF2-40B4-BE49-F238E27FC236}">
                <a16:creationId xmlns:a16="http://schemas.microsoft.com/office/drawing/2014/main" id="{5B1075B5-8890-1A4A-9D66-CCA9BEB1FC2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9091" name="Rectangle 3">
            <a:extLst>
              <a:ext uri="{FF2B5EF4-FFF2-40B4-BE49-F238E27FC236}">
                <a16:creationId xmlns:a16="http://schemas.microsoft.com/office/drawing/2014/main" id="{A436C7C0-DECA-A04C-8CA4-F24095989F6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Rectangle 7">
            <a:extLst>
              <a:ext uri="{FF2B5EF4-FFF2-40B4-BE49-F238E27FC236}">
                <a16:creationId xmlns:a16="http://schemas.microsoft.com/office/drawing/2014/main" id="{D41B9905-4936-CC4C-A96B-B3FDD48FA64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900CB3C-207D-B74D-BE12-69C2BEBED325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48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91138" name="Rectangle 2">
            <a:extLst>
              <a:ext uri="{FF2B5EF4-FFF2-40B4-BE49-F238E27FC236}">
                <a16:creationId xmlns:a16="http://schemas.microsoft.com/office/drawing/2014/main" id="{F4B7A835-AF61-F845-AEC2-F059D78E901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39" name="Rectangle 3">
            <a:extLst>
              <a:ext uri="{FF2B5EF4-FFF2-40B4-BE49-F238E27FC236}">
                <a16:creationId xmlns:a16="http://schemas.microsoft.com/office/drawing/2014/main" id="{7159BDA7-DD8B-EA49-AE98-1C02B35763B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Rectangle 7">
            <a:extLst>
              <a:ext uri="{FF2B5EF4-FFF2-40B4-BE49-F238E27FC236}">
                <a16:creationId xmlns:a16="http://schemas.microsoft.com/office/drawing/2014/main" id="{8DD3B94F-2A8C-7047-86C3-35952C9EB21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A6839F29-F4C1-A749-8B06-8ABFC4429D02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93186" name="Rectangle 2">
            <a:extLst>
              <a:ext uri="{FF2B5EF4-FFF2-40B4-BE49-F238E27FC236}">
                <a16:creationId xmlns:a16="http://schemas.microsoft.com/office/drawing/2014/main" id="{FD9A9598-94C6-5C4C-93F8-D5281757DA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3187" name="Rectangle 3">
            <a:extLst>
              <a:ext uri="{FF2B5EF4-FFF2-40B4-BE49-F238E27FC236}">
                <a16:creationId xmlns:a16="http://schemas.microsoft.com/office/drawing/2014/main" id="{636A754C-DE82-9B4F-8A39-164CDCFDCA5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Rectangle 7">
            <a:extLst>
              <a:ext uri="{FF2B5EF4-FFF2-40B4-BE49-F238E27FC236}">
                <a16:creationId xmlns:a16="http://schemas.microsoft.com/office/drawing/2014/main" id="{F7AE2373-5A5E-C848-AA58-22B991B38A8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33DEF9C-0BA8-824D-8065-B32D6F7B91D2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50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95234" name="Rectangle 2">
            <a:extLst>
              <a:ext uri="{FF2B5EF4-FFF2-40B4-BE49-F238E27FC236}">
                <a16:creationId xmlns:a16="http://schemas.microsoft.com/office/drawing/2014/main" id="{7FE54349-D297-4340-BD45-D3329F5A88C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5235" name="Rectangle 3">
            <a:extLst>
              <a:ext uri="{FF2B5EF4-FFF2-40B4-BE49-F238E27FC236}">
                <a16:creationId xmlns:a16="http://schemas.microsoft.com/office/drawing/2014/main" id="{2AB9C084-A5F2-334F-95FE-B7299D086E8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Rectangle 7">
            <a:extLst>
              <a:ext uri="{FF2B5EF4-FFF2-40B4-BE49-F238E27FC236}">
                <a16:creationId xmlns:a16="http://schemas.microsoft.com/office/drawing/2014/main" id="{268BE2FE-7DEF-B845-8729-B0AC0A9D258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BB8B1A6E-D8A4-4D44-B5D2-77506465F558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97282" name="Rectangle 2">
            <a:extLst>
              <a:ext uri="{FF2B5EF4-FFF2-40B4-BE49-F238E27FC236}">
                <a16:creationId xmlns:a16="http://schemas.microsoft.com/office/drawing/2014/main" id="{8736AF34-AB37-A644-99D9-D647FE4655F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83EE0BE8-9343-4945-88F1-DBB4F1A2D4E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Rectangle 7">
            <a:extLst>
              <a:ext uri="{FF2B5EF4-FFF2-40B4-BE49-F238E27FC236}">
                <a16:creationId xmlns:a16="http://schemas.microsoft.com/office/drawing/2014/main" id="{61E15F5F-CD38-3E45-8D90-65D026F43AA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6BC4F097-8BA7-3043-9581-9EC3286B6A65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52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99330" name="Rectangle 2">
            <a:extLst>
              <a:ext uri="{FF2B5EF4-FFF2-40B4-BE49-F238E27FC236}">
                <a16:creationId xmlns:a16="http://schemas.microsoft.com/office/drawing/2014/main" id="{AB0F463B-7A2D-D340-A44D-2FD539D0CE3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9331" name="Rectangle 3">
            <a:extLst>
              <a:ext uri="{FF2B5EF4-FFF2-40B4-BE49-F238E27FC236}">
                <a16:creationId xmlns:a16="http://schemas.microsoft.com/office/drawing/2014/main" id="{1ECF0461-AA60-3E48-A936-F79436858A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Rectangle 7">
            <a:extLst>
              <a:ext uri="{FF2B5EF4-FFF2-40B4-BE49-F238E27FC236}">
                <a16:creationId xmlns:a16="http://schemas.microsoft.com/office/drawing/2014/main" id="{4E80FD3F-4DFF-724C-8D87-BAD97DD92C6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B6E39850-8CC5-B146-AB10-6EF93838FC19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01378" name="Rectangle 2">
            <a:extLst>
              <a:ext uri="{FF2B5EF4-FFF2-40B4-BE49-F238E27FC236}">
                <a16:creationId xmlns:a16="http://schemas.microsoft.com/office/drawing/2014/main" id="{C2C2B99B-60A7-874C-A48E-5C5A980229B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1379" name="Rectangle 3">
            <a:extLst>
              <a:ext uri="{FF2B5EF4-FFF2-40B4-BE49-F238E27FC236}">
                <a16:creationId xmlns:a16="http://schemas.microsoft.com/office/drawing/2014/main" id="{A68CC4FB-7CC9-0748-91D6-055B3D1CB09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Rectangle 7">
            <a:extLst>
              <a:ext uri="{FF2B5EF4-FFF2-40B4-BE49-F238E27FC236}">
                <a16:creationId xmlns:a16="http://schemas.microsoft.com/office/drawing/2014/main" id="{FDA16A5B-5EFE-084A-9515-DBBCA812859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525B216A-FAD8-554A-90BF-9F1FA54594BD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54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03426" name="Rectangle 2">
            <a:extLst>
              <a:ext uri="{FF2B5EF4-FFF2-40B4-BE49-F238E27FC236}">
                <a16:creationId xmlns:a16="http://schemas.microsoft.com/office/drawing/2014/main" id="{67C4EFBB-A0D7-3245-AC77-B916CC71A31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3427" name="Rectangle 3">
            <a:extLst>
              <a:ext uri="{FF2B5EF4-FFF2-40B4-BE49-F238E27FC236}">
                <a16:creationId xmlns:a16="http://schemas.microsoft.com/office/drawing/2014/main" id="{B992C61E-632A-A641-A32F-57C2701BA84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Rectangle 7">
            <a:extLst>
              <a:ext uri="{FF2B5EF4-FFF2-40B4-BE49-F238E27FC236}">
                <a16:creationId xmlns:a16="http://schemas.microsoft.com/office/drawing/2014/main" id="{8F3137EE-8D6A-4D4D-A2A6-FDCD8F97524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69EC66C0-2986-0B46-99BE-6D06D835212B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55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05474" name="Rectangle 2">
            <a:extLst>
              <a:ext uri="{FF2B5EF4-FFF2-40B4-BE49-F238E27FC236}">
                <a16:creationId xmlns:a16="http://schemas.microsoft.com/office/drawing/2014/main" id="{F95D208F-76EB-3444-B6DF-90C111BA66D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5475" name="Rectangle 3">
            <a:extLst>
              <a:ext uri="{FF2B5EF4-FFF2-40B4-BE49-F238E27FC236}">
                <a16:creationId xmlns:a16="http://schemas.microsoft.com/office/drawing/2014/main" id="{83CE8D14-7182-F14C-B498-E4453B02585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Rectangle 7">
            <a:extLst>
              <a:ext uri="{FF2B5EF4-FFF2-40B4-BE49-F238E27FC236}">
                <a16:creationId xmlns:a16="http://schemas.microsoft.com/office/drawing/2014/main" id="{70E9E46B-BC82-1B4C-8D09-3558DE74A14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7E491F4D-CA66-054D-B26A-0061F01FC767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56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07522" name="Rectangle 2">
            <a:extLst>
              <a:ext uri="{FF2B5EF4-FFF2-40B4-BE49-F238E27FC236}">
                <a16:creationId xmlns:a16="http://schemas.microsoft.com/office/drawing/2014/main" id="{425F6137-EF03-0748-A508-CC8AE162C49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7523" name="Rectangle 3">
            <a:extLst>
              <a:ext uri="{FF2B5EF4-FFF2-40B4-BE49-F238E27FC236}">
                <a16:creationId xmlns:a16="http://schemas.microsoft.com/office/drawing/2014/main" id="{F2FD74B3-4D5E-BB49-8EB8-5788B023488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Rectangle 7">
            <a:extLst>
              <a:ext uri="{FF2B5EF4-FFF2-40B4-BE49-F238E27FC236}">
                <a16:creationId xmlns:a16="http://schemas.microsoft.com/office/drawing/2014/main" id="{2184EDB6-E2A3-584C-9B9F-6B34D97892C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E0F5C42-02F7-F444-AE13-84C6153CE872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57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09570" name="Rectangle 2">
            <a:extLst>
              <a:ext uri="{FF2B5EF4-FFF2-40B4-BE49-F238E27FC236}">
                <a16:creationId xmlns:a16="http://schemas.microsoft.com/office/drawing/2014/main" id="{50A52FB0-3ECB-0A43-A3F9-3C33A6E3290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1" name="Rectangle 3">
            <a:extLst>
              <a:ext uri="{FF2B5EF4-FFF2-40B4-BE49-F238E27FC236}">
                <a16:creationId xmlns:a16="http://schemas.microsoft.com/office/drawing/2014/main" id="{D41BAB13-FB11-FA4B-A8FC-B14226BF380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Rectangle 7">
            <a:extLst>
              <a:ext uri="{FF2B5EF4-FFF2-40B4-BE49-F238E27FC236}">
                <a16:creationId xmlns:a16="http://schemas.microsoft.com/office/drawing/2014/main" id="{6400CB39-08B4-4A45-8FFB-E285576727F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6F01E456-E6D3-FF41-9F15-6E30170C1018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58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11618" name="Rectangle 2">
            <a:extLst>
              <a:ext uri="{FF2B5EF4-FFF2-40B4-BE49-F238E27FC236}">
                <a16:creationId xmlns:a16="http://schemas.microsoft.com/office/drawing/2014/main" id="{F49DD0F9-AE91-D54A-8BA0-0D9249C25A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19" name="Rectangle 3">
            <a:extLst>
              <a:ext uri="{FF2B5EF4-FFF2-40B4-BE49-F238E27FC236}">
                <a16:creationId xmlns:a16="http://schemas.microsoft.com/office/drawing/2014/main" id="{2856820D-6445-A647-9208-D5362E192FB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Rectangle 7">
            <a:extLst>
              <a:ext uri="{FF2B5EF4-FFF2-40B4-BE49-F238E27FC236}">
                <a16:creationId xmlns:a16="http://schemas.microsoft.com/office/drawing/2014/main" id="{48A1F761-8671-1448-BBB0-DD96A0420F8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3FA4DF57-1FAE-1447-8D18-6C95EB920F72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13666" name="Rectangle 2">
            <a:extLst>
              <a:ext uri="{FF2B5EF4-FFF2-40B4-BE49-F238E27FC236}">
                <a16:creationId xmlns:a16="http://schemas.microsoft.com/office/drawing/2014/main" id="{F6282554-8C72-914B-97C6-F8B0BA393BA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7" name="Rectangle 3">
            <a:extLst>
              <a:ext uri="{FF2B5EF4-FFF2-40B4-BE49-F238E27FC236}">
                <a16:creationId xmlns:a16="http://schemas.microsoft.com/office/drawing/2014/main" id="{27E3433D-71C8-034A-A294-6D0D65AFBC1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Rectangle 7">
            <a:extLst>
              <a:ext uri="{FF2B5EF4-FFF2-40B4-BE49-F238E27FC236}">
                <a16:creationId xmlns:a16="http://schemas.microsoft.com/office/drawing/2014/main" id="{5DEC3902-E559-0045-9E13-EF84FFEBF92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093CC4F-CD3E-7149-ADA6-C161785288E8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60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15714" name="Rectangle 2">
            <a:extLst>
              <a:ext uri="{FF2B5EF4-FFF2-40B4-BE49-F238E27FC236}">
                <a16:creationId xmlns:a16="http://schemas.microsoft.com/office/drawing/2014/main" id="{38DE512B-F744-3647-92BD-71856AC7E83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5" name="Rectangle 3">
            <a:extLst>
              <a:ext uri="{FF2B5EF4-FFF2-40B4-BE49-F238E27FC236}">
                <a16:creationId xmlns:a16="http://schemas.microsoft.com/office/drawing/2014/main" id="{35E11C8D-1000-3443-B203-C2D1A153466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Rectangle 7">
            <a:extLst>
              <a:ext uri="{FF2B5EF4-FFF2-40B4-BE49-F238E27FC236}">
                <a16:creationId xmlns:a16="http://schemas.microsoft.com/office/drawing/2014/main" id="{8E101B54-77F3-D14F-BAF3-A96292D3C3B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758D0314-3270-6849-839A-256552530343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17762" name="Rectangle 2">
            <a:extLst>
              <a:ext uri="{FF2B5EF4-FFF2-40B4-BE49-F238E27FC236}">
                <a16:creationId xmlns:a16="http://schemas.microsoft.com/office/drawing/2014/main" id="{DD65FD66-7A6E-714A-B6BF-CABE18C2BA5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3" name="Rectangle 3">
            <a:extLst>
              <a:ext uri="{FF2B5EF4-FFF2-40B4-BE49-F238E27FC236}">
                <a16:creationId xmlns:a16="http://schemas.microsoft.com/office/drawing/2014/main" id="{721285E9-248D-2E4E-AE3A-31CBF697555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Rectangle 7">
            <a:extLst>
              <a:ext uri="{FF2B5EF4-FFF2-40B4-BE49-F238E27FC236}">
                <a16:creationId xmlns:a16="http://schemas.microsoft.com/office/drawing/2014/main" id="{FE78D4EE-C40C-7043-94C6-95F1B2EF077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42664A2-1ACC-D84E-AFB4-E1FF8627F9F9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62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19810" name="Rectangle 2">
            <a:extLst>
              <a:ext uri="{FF2B5EF4-FFF2-40B4-BE49-F238E27FC236}">
                <a16:creationId xmlns:a16="http://schemas.microsoft.com/office/drawing/2014/main" id="{9634B025-4021-884F-8C00-8625F5AD009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9811" name="Rectangle 3">
            <a:extLst>
              <a:ext uri="{FF2B5EF4-FFF2-40B4-BE49-F238E27FC236}">
                <a16:creationId xmlns:a16="http://schemas.microsoft.com/office/drawing/2014/main" id="{F7CFCCF9-6BB6-3847-91E2-D527DB94419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Rectangle 7">
            <a:extLst>
              <a:ext uri="{FF2B5EF4-FFF2-40B4-BE49-F238E27FC236}">
                <a16:creationId xmlns:a16="http://schemas.microsoft.com/office/drawing/2014/main" id="{F83FE663-148F-8743-9B08-52B4EFAAC0A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A72BD80-1785-6E46-B8D1-2D4A3D7A68EC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21858" name="Rectangle 2">
            <a:extLst>
              <a:ext uri="{FF2B5EF4-FFF2-40B4-BE49-F238E27FC236}">
                <a16:creationId xmlns:a16="http://schemas.microsoft.com/office/drawing/2014/main" id="{B4AE8C4F-28E1-5846-9809-93444C8D26D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59" name="Rectangle 3">
            <a:extLst>
              <a:ext uri="{FF2B5EF4-FFF2-40B4-BE49-F238E27FC236}">
                <a16:creationId xmlns:a16="http://schemas.microsoft.com/office/drawing/2014/main" id="{E33E16F5-5194-C543-BC93-39065B7A919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7E833B4-9F67-F445-A089-882BB0C75A57}" type="slidenum">
              <a:rPr lang="en-US" altLang="zh-CN" smtClean="0"/>
              <a:pPr>
                <a:defRPr/>
              </a:pPr>
              <a:t>64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80432946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7E833B4-9F67-F445-A089-882BB0C75A57}" type="slidenum">
              <a:rPr lang="en-US" altLang="zh-CN" smtClean="0"/>
              <a:pPr>
                <a:defRPr/>
              </a:pPr>
              <a:t>65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38436073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Rectangle 7">
            <a:extLst>
              <a:ext uri="{FF2B5EF4-FFF2-40B4-BE49-F238E27FC236}">
                <a16:creationId xmlns:a16="http://schemas.microsoft.com/office/drawing/2014/main" id="{3C4162AE-0F5A-DC4D-8DCD-77DF280AFD4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B92010C4-A267-AD4C-A74F-76AD2573267B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66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24930" name="Rectangle 2">
            <a:extLst>
              <a:ext uri="{FF2B5EF4-FFF2-40B4-BE49-F238E27FC236}">
                <a16:creationId xmlns:a16="http://schemas.microsoft.com/office/drawing/2014/main" id="{6ABEED09-C838-B74C-8D43-683EC2E53EE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4931" name="Rectangle 3">
            <a:extLst>
              <a:ext uri="{FF2B5EF4-FFF2-40B4-BE49-F238E27FC236}">
                <a16:creationId xmlns:a16="http://schemas.microsoft.com/office/drawing/2014/main" id="{447E3F60-BF42-F04D-96E3-64F83EC045C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Rectangle 7">
            <a:extLst>
              <a:ext uri="{FF2B5EF4-FFF2-40B4-BE49-F238E27FC236}">
                <a16:creationId xmlns:a16="http://schemas.microsoft.com/office/drawing/2014/main" id="{C4A2B061-B508-5E40-BA0B-BABC8489957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238B8A2-3711-8C46-B1A7-74B9100AD46C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67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26978" name="Rectangle 2">
            <a:extLst>
              <a:ext uri="{FF2B5EF4-FFF2-40B4-BE49-F238E27FC236}">
                <a16:creationId xmlns:a16="http://schemas.microsoft.com/office/drawing/2014/main" id="{F4D23A16-E456-334F-B971-C4105AEB17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Rectangle 3">
            <a:extLst>
              <a:ext uri="{FF2B5EF4-FFF2-40B4-BE49-F238E27FC236}">
                <a16:creationId xmlns:a16="http://schemas.microsoft.com/office/drawing/2014/main" id="{8B650B44-2795-7843-8912-A339EEF4B64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Rectangle 7">
            <a:extLst>
              <a:ext uri="{FF2B5EF4-FFF2-40B4-BE49-F238E27FC236}">
                <a16:creationId xmlns:a16="http://schemas.microsoft.com/office/drawing/2014/main" id="{3B7F8F96-F330-A64C-9B17-163EE54F3EB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6E022F3-7A36-284D-A531-BE53A0C5D3CC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68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29026" name="Rectangle 2">
            <a:extLst>
              <a:ext uri="{FF2B5EF4-FFF2-40B4-BE49-F238E27FC236}">
                <a16:creationId xmlns:a16="http://schemas.microsoft.com/office/drawing/2014/main" id="{C104F71B-0327-6E48-967C-295D5BD840C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7" name="Rectangle 3">
            <a:extLst>
              <a:ext uri="{FF2B5EF4-FFF2-40B4-BE49-F238E27FC236}">
                <a16:creationId xmlns:a16="http://schemas.microsoft.com/office/drawing/2014/main" id="{4BA57370-C7E0-2249-82BC-CEB09D6A86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Rectangle 7">
            <a:extLst>
              <a:ext uri="{FF2B5EF4-FFF2-40B4-BE49-F238E27FC236}">
                <a16:creationId xmlns:a16="http://schemas.microsoft.com/office/drawing/2014/main" id="{6B9C28BB-2E41-674A-802B-3B85FAF7BB1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B63FF42-D56F-C345-9351-0D09C7DA4380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31074" name="Rectangle 2">
            <a:extLst>
              <a:ext uri="{FF2B5EF4-FFF2-40B4-BE49-F238E27FC236}">
                <a16:creationId xmlns:a16="http://schemas.microsoft.com/office/drawing/2014/main" id="{0B80D094-C52E-7341-B91F-E75671E5253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5" name="Rectangle 3">
            <a:extLst>
              <a:ext uri="{FF2B5EF4-FFF2-40B4-BE49-F238E27FC236}">
                <a16:creationId xmlns:a16="http://schemas.microsoft.com/office/drawing/2014/main" id="{EF98CA9C-E270-9C48-A74A-AE57C6C1960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Rectangle 7">
            <a:extLst>
              <a:ext uri="{FF2B5EF4-FFF2-40B4-BE49-F238E27FC236}">
                <a16:creationId xmlns:a16="http://schemas.microsoft.com/office/drawing/2014/main" id="{6AC2666A-6EB2-6B48-B893-1B990FA4424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009297B-A16C-E94D-81F7-0BF106AF1AE6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70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33122" name="Rectangle 2">
            <a:extLst>
              <a:ext uri="{FF2B5EF4-FFF2-40B4-BE49-F238E27FC236}">
                <a16:creationId xmlns:a16="http://schemas.microsoft.com/office/drawing/2014/main" id="{9BCDFF14-F412-644B-886B-F5F7BF90F78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3123" name="Rectangle 3">
            <a:extLst>
              <a:ext uri="{FF2B5EF4-FFF2-40B4-BE49-F238E27FC236}">
                <a16:creationId xmlns:a16="http://schemas.microsoft.com/office/drawing/2014/main" id="{A42546A4-03D6-DA4E-AF40-FA8887AC09B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Rectangle 7">
            <a:extLst>
              <a:ext uri="{FF2B5EF4-FFF2-40B4-BE49-F238E27FC236}">
                <a16:creationId xmlns:a16="http://schemas.microsoft.com/office/drawing/2014/main" id="{8CDB04A5-7D2F-514F-B3D3-509523605E8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C09AF1A-0B1C-754E-9E5A-420CDFF2DC8F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35170" name="Rectangle 2">
            <a:extLst>
              <a:ext uri="{FF2B5EF4-FFF2-40B4-BE49-F238E27FC236}">
                <a16:creationId xmlns:a16="http://schemas.microsoft.com/office/drawing/2014/main" id="{D4B1D7F3-F596-7B41-9975-A1E33C9F62C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5171" name="Rectangle 3">
            <a:extLst>
              <a:ext uri="{FF2B5EF4-FFF2-40B4-BE49-F238E27FC236}">
                <a16:creationId xmlns:a16="http://schemas.microsoft.com/office/drawing/2014/main" id="{A281F521-8C97-A141-AA87-4E0396F1CE7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Rectangle 7">
            <a:extLst>
              <a:ext uri="{FF2B5EF4-FFF2-40B4-BE49-F238E27FC236}">
                <a16:creationId xmlns:a16="http://schemas.microsoft.com/office/drawing/2014/main" id="{5942A9A4-00FE-2948-9DF8-8772952DCAA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5CE84424-B50A-9F4B-864E-D303A7988F62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72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37218" name="Rectangle 2">
            <a:extLst>
              <a:ext uri="{FF2B5EF4-FFF2-40B4-BE49-F238E27FC236}">
                <a16:creationId xmlns:a16="http://schemas.microsoft.com/office/drawing/2014/main" id="{5857972D-CC91-AA41-B659-A1F1C901CEC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7219" name="Rectangle 3">
            <a:extLst>
              <a:ext uri="{FF2B5EF4-FFF2-40B4-BE49-F238E27FC236}">
                <a16:creationId xmlns:a16="http://schemas.microsoft.com/office/drawing/2014/main" id="{177E718F-65EF-1F42-A56C-A43DE730EB0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Rectangle 7">
            <a:extLst>
              <a:ext uri="{FF2B5EF4-FFF2-40B4-BE49-F238E27FC236}">
                <a16:creationId xmlns:a16="http://schemas.microsoft.com/office/drawing/2014/main" id="{BA47F71F-472F-DF4A-8714-C732406AA47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4626A23-5A76-154D-8ACB-D5E86F0B7A7B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39266" name="Rectangle 2">
            <a:extLst>
              <a:ext uri="{FF2B5EF4-FFF2-40B4-BE49-F238E27FC236}">
                <a16:creationId xmlns:a16="http://schemas.microsoft.com/office/drawing/2014/main" id="{2E15333B-E68A-5544-81FA-EC335843CF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9267" name="Rectangle 3">
            <a:extLst>
              <a:ext uri="{FF2B5EF4-FFF2-40B4-BE49-F238E27FC236}">
                <a16:creationId xmlns:a16="http://schemas.microsoft.com/office/drawing/2014/main" id="{825F9AF0-0A6C-2541-B1BB-3020618CE12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7">
            <a:extLst>
              <a:ext uri="{FF2B5EF4-FFF2-40B4-BE49-F238E27FC236}">
                <a16:creationId xmlns:a16="http://schemas.microsoft.com/office/drawing/2014/main" id="{74F90A99-C6AB-AC4B-BD50-FFFEAC4FC99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9A9BE87-E80D-E545-9843-A84FA8E8CEE4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74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41314" name="Rectangle 2">
            <a:extLst>
              <a:ext uri="{FF2B5EF4-FFF2-40B4-BE49-F238E27FC236}">
                <a16:creationId xmlns:a16="http://schemas.microsoft.com/office/drawing/2014/main" id="{68CE4AAB-A9AC-D34A-BCEF-AB0CEF0BFA9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5" name="Rectangle 3">
            <a:extLst>
              <a:ext uri="{FF2B5EF4-FFF2-40B4-BE49-F238E27FC236}">
                <a16:creationId xmlns:a16="http://schemas.microsoft.com/office/drawing/2014/main" id="{0F9FB6FF-5942-1B4F-963D-7D9CD1C78FC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Rectangle 7">
            <a:extLst>
              <a:ext uri="{FF2B5EF4-FFF2-40B4-BE49-F238E27FC236}">
                <a16:creationId xmlns:a16="http://schemas.microsoft.com/office/drawing/2014/main" id="{E3F4A343-AB9E-2549-8487-512D9D0DD6B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F4276753-CA80-CA48-8393-7CF28D2B455B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75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43362" name="Rectangle 2">
            <a:extLst>
              <a:ext uri="{FF2B5EF4-FFF2-40B4-BE49-F238E27FC236}">
                <a16:creationId xmlns:a16="http://schemas.microsoft.com/office/drawing/2014/main" id="{E3D613CC-E87E-3147-8909-5B3F6656CBA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63" name="Rectangle 3">
            <a:extLst>
              <a:ext uri="{FF2B5EF4-FFF2-40B4-BE49-F238E27FC236}">
                <a16:creationId xmlns:a16="http://schemas.microsoft.com/office/drawing/2014/main" id="{D494F606-4FC4-5C4F-9B79-CBFC6F9F16D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Rectangle 7">
            <a:extLst>
              <a:ext uri="{FF2B5EF4-FFF2-40B4-BE49-F238E27FC236}">
                <a16:creationId xmlns:a16="http://schemas.microsoft.com/office/drawing/2014/main" id="{B92636F2-5F09-8B46-A1EF-0BE1C8C46AA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AC71D658-DD4F-E349-969A-1FF4AD7695BE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76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45410" name="Rectangle 2">
            <a:extLst>
              <a:ext uri="{FF2B5EF4-FFF2-40B4-BE49-F238E27FC236}">
                <a16:creationId xmlns:a16="http://schemas.microsoft.com/office/drawing/2014/main" id="{D9B87B40-0103-014F-9439-A9846142ED7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5411" name="Rectangle 3">
            <a:extLst>
              <a:ext uri="{FF2B5EF4-FFF2-40B4-BE49-F238E27FC236}">
                <a16:creationId xmlns:a16="http://schemas.microsoft.com/office/drawing/2014/main" id="{945AEC6F-F793-C84E-A17F-55EF4A9DFDC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7" name="Rectangle 7">
            <a:extLst>
              <a:ext uri="{FF2B5EF4-FFF2-40B4-BE49-F238E27FC236}">
                <a16:creationId xmlns:a16="http://schemas.microsoft.com/office/drawing/2014/main" id="{46E2BBF5-4A37-3C47-BB76-B29B5271923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6A15D6E-A577-5244-A5A7-E05664ACF9F8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77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47458" name="Rectangle 2">
            <a:extLst>
              <a:ext uri="{FF2B5EF4-FFF2-40B4-BE49-F238E27FC236}">
                <a16:creationId xmlns:a16="http://schemas.microsoft.com/office/drawing/2014/main" id="{888D4A75-92EF-474F-980E-29A370E6295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7459" name="Rectangle 3">
            <a:extLst>
              <a:ext uri="{FF2B5EF4-FFF2-40B4-BE49-F238E27FC236}">
                <a16:creationId xmlns:a16="http://schemas.microsoft.com/office/drawing/2014/main" id="{22E423FD-694E-A540-92F4-598BF4A8A23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Rectangle 7">
            <a:extLst>
              <a:ext uri="{FF2B5EF4-FFF2-40B4-BE49-F238E27FC236}">
                <a16:creationId xmlns:a16="http://schemas.microsoft.com/office/drawing/2014/main" id="{59721712-2770-234C-9152-C7B0AB128DA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628E813-6B4F-B643-987D-454C2A0430C8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78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49506" name="Rectangle 2">
            <a:extLst>
              <a:ext uri="{FF2B5EF4-FFF2-40B4-BE49-F238E27FC236}">
                <a16:creationId xmlns:a16="http://schemas.microsoft.com/office/drawing/2014/main" id="{80E7A882-1304-884E-8249-DEF47D3575A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9507" name="Rectangle 3">
            <a:extLst>
              <a:ext uri="{FF2B5EF4-FFF2-40B4-BE49-F238E27FC236}">
                <a16:creationId xmlns:a16="http://schemas.microsoft.com/office/drawing/2014/main" id="{BBE031D9-B50E-8A45-9034-AC73A27D800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3" name="Rectangle 7">
            <a:extLst>
              <a:ext uri="{FF2B5EF4-FFF2-40B4-BE49-F238E27FC236}">
                <a16:creationId xmlns:a16="http://schemas.microsoft.com/office/drawing/2014/main" id="{6DD035F8-942D-234E-AF19-20BC2E11DE4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B48B91A0-6E2E-EF47-AAC7-7E30BA35BC31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51554" name="Rectangle 2">
            <a:extLst>
              <a:ext uri="{FF2B5EF4-FFF2-40B4-BE49-F238E27FC236}">
                <a16:creationId xmlns:a16="http://schemas.microsoft.com/office/drawing/2014/main" id="{CA7E6591-8011-2E46-82E8-51D17A5B768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1555" name="Rectangle 3">
            <a:extLst>
              <a:ext uri="{FF2B5EF4-FFF2-40B4-BE49-F238E27FC236}">
                <a16:creationId xmlns:a16="http://schemas.microsoft.com/office/drawing/2014/main" id="{1514E7EC-C327-B34B-AC35-6C057289140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1" name="Rectangle 7">
            <a:extLst>
              <a:ext uri="{FF2B5EF4-FFF2-40B4-BE49-F238E27FC236}">
                <a16:creationId xmlns:a16="http://schemas.microsoft.com/office/drawing/2014/main" id="{46F01892-9B90-3445-8FF0-DBE01B3CE78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6C44EAE7-E7C2-6644-AB83-D33BDF3A4A69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80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53602" name="Rectangle 2">
            <a:extLst>
              <a:ext uri="{FF2B5EF4-FFF2-40B4-BE49-F238E27FC236}">
                <a16:creationId xmlns:a16="http://schemas.microsoft.com/office/drawing/2014/main" id="{3F47E53D-0A21-0D49-AC9F-8B296052B66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03" name="Rectangle 3">
            <a:extLst>
              <a:ext uri="{FF2B5EF4-FFF2-40B4-BE49-F238E27FC236}">
                <a16:creationId xmlns:a16="http://schemas.microsoft.com/office/drawing/2014/main" id="{29B31361-2E89-2449-BCA5-55C23AF736A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49" name="Rectangle 7">
            <a:extLst>
              <a:ext uri="{FF2B5EF4-FFF2-40B4-BE49-F238E27FC236}">
                <a16:creationId xmlns:a16="http://schemas.microsoft.com/office/drawing/2014/main" id="{8ACB17A5-A279-9E4F-8877-88F87870BD3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F83BB49E-8388-D64D-BE1C-FD446DEB5EED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55650" name="Rectangle 2">
            <a:extLst>
              <a:ext uri="{FF2B5EF4-FFF2-40B4-BE49-F238E27FC236}">
                <a16:creationId xmlns:a16="http://schemas.microsoft.com/office/drawing/2014/main" id="{0522E828-CCBB-7145-9752-A93DE976FCF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5651" name="Rectangle 3">
            <a:extLst>
              <a:ext uri="{FF2B5EF4-FFF2-40B4-BE49-F238E27FC236}">
                <a16:creationId xmlns:a16="http://schemas.microsoft.com/office/drawing/2014/main" id="{C5DD7113-1071-3A40-A99E-802C69F3A68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7" name="Rectangle 7">
            <a:extLst>
              <a:ext uri="{FF2B5EF4-FFF2-40B4-BE49-F238E27FC236}">
                <a16:creationId xmlns:a16="http://schemas.microsoft.com/office/drawing/2014/main" id="{4D9AFFD9-C877-E249-9E42-143D6DACE3A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AE05AF12-9C4B-5B4E-9D01-C5A16AC01D1F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82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57698" name="Rectangle 2">
            <a:extLst>
              <a:ext uri="{FF2B5EF4-FFF2-40B4-BE49-F238E27FC236}">
                <a16:creationId xmlns:a16="http://schemas.microsoft.com/office/drawing/2014/main" id="{EDA7B207-0BCD-8D4E-9218-308CCA54B16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7699" name="Rectangle 3">
            <a:extLst>
              <a:ext uri="{FF2B5EF4-FFF2-40B4-BE49-F238E27FC236}">
                <a16:creationId xmlns:a16="http://schemas.microsoft.com/office/drawing/2014/main" id="{FE8AB97A-FF61-5F40-BD44-B548C0C8FCF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5" name="Rectangle 7">
            <a:extLst>
              <a:ext uri="{FF2B5EF4-FFF2-40B4-BE49-F238E27FC236}">
                <a16:creationId xmlns:a16="http://schemas.microsoft.com/office/drawing/2014/main" id="{B45DAEF7-2C16-3A41-9CF4-2E9F7689C66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A98A91C-883E-FC4F-978A-0BCAC9B1B06E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59746" name="Rectangle 2">
            <a:extLst>
              <a:ext uri="{FF2B5EF4-FFF2-40B4-BE49-F238E27FC236}">
                <a16:creationId xmlns:a16="http://schemas.microsoft.com/office/drawing/2014/main" id="{006EB590-D3FD-214D-A20B-B6205B0A8C0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9747" name="Rectangle 3">
            <a:extLst>
              <a:ext uri="{FF2B5EF4-FFF2-40B4-BE49-F238E27FC236}">
                <a16:creationId xmlns:a16="http://schemas.microsoft.com/office/drawing/2014/main" id="{A598966B-4D49-FC4E-8314-0A3CCB301AE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3" name="Rectangle 7">
            <a:extLst>
              <a:ext uri="{FF2B5EF4-FFF2-40B4-BE49-F238E27FC236}">
                <a16:creationId xmlns:a16="http://schemas.microsoft.com/office/drawing/2014/main" id="{6E3C1585-2CAF-7546-97C8-9422FC4C207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972D134C-EE71-E648-B1C4-A401DC7C3935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84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61794" name="Rectangle 2">
            <a:extLst>
              <a:ext uri="{FF2B5EF4-FFF2-40B4-BE49-F238E27FC236}">
                <a16:creationId xmlns:a16="http://schemas.microsoft.com/office/drawing/2014/main" id="{43761D42-4E2A-BF40-95A6-2EE7F7A7C7C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1795" name="Rectangle 3">
            <a:extLst>
              <a:ext uri="{FF2B5EF4-FFF2-40B4-BE49-F238E27FC236}">
                <a16:creationId xmlns:a16="http://schemas.microsoft.com/office/drawing/2014/main" id="{090699AF-5C4E-C847-B52B-C858073EFDA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89" name="Rectangle 7">
            <a:extLst>
              <a:ext uri="{FF2B5EF4-FFF2-40B4-BE49-F238E27FC236}">
                <a16:creationId xmlns:a16="http://schemas.microsoft.com/office/drawing/2014/main" id="{F14F3837-4C55-AE4D-9CFA-81EF85D039B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80524DC7-050D-134E-980A-A624B935079F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85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65890" name="Rectangle 2">
            <a:extLst>
              <a:ext uri="{FF2B5EF4-FFF2-40B4-BE49-F238E27FC236}">
                <a16:creationId xmlns:a16="http://schemas.microsoft.com/office/drawing/2014/main" id="{0AC2623A-CE8E-984E-B02A-640B321E24F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5891" name="Rectangle 3">
            <a:extLst>
              <a:ext uri="{FF2B5EF4-FFF2-40B4-BE49-F238E27FC236}">
                <a16:creationId xmlns:a16="http://schemas.microsoft.com/office/drawing/2014/main" id="{A16056D0-EDD4-BE49-8CB0-D384A1D18A9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7" name="Rectangle 7">
            <a:extLst>
              <a:ext uri="{FF2B5EF4-FFF2-40B4-BE49-F238E27FC236}">
                <a16:creationId xmlns:a16="http://schemas.microsoft.com/office/drawing/2014/main" id="{38FEA9AF-D990-C241-A9F3-194B04895D6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F2DA3D3-610E-B74B-8C5A-701D804CA9E2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86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67938" name="Rectangle 2">
            <a:extLst>
              <a:ext uri="{FF2B5EF4-FFF2-40B4-BE49-F238E27FC236}">
                <a16:creationId xmlns:a16="http://schemas.microsoft.com/office/drawing/2014/main" id="{546D8F45-F7D9-6D48-AEE0-69A1A3333C9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7939" name="Rectangle 3">
            <a:extLst>
              <a:ext uri="{FF2B5EF4-FFF2-40B4-BE49-F238E27FC236}">
                <a16:creationId xmlns:a16="http://schemas.microsoft.com/office/drawing/2014/main" id="{C39C2287-37A5-9644-99F5-D5818F7D380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5" name="Rectangle 7">
            <a:extLst>
              <a:ext uri="{FF2B5EF4-FFF2-40B4-BE49-F238E27FC236}">
                <a16:creationId xmlns:a16="http://schemas.microsoft.com/office/drawing/2014/main" id="{9C588427-BA10-7746-B08D-16F8D775E4D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8C717865-5816-F942-A257-6DF066C3BDAC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87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69986" name="Rectangle 2">
            <a:extLst>
              <a:ext uri="{FF2B5EF4-FFF2-40B4-BE49-F238E27FC236}">
                <a16:creationId xmlns:a16="http://schemas.microsoft.com/office/drawing/2014/main" id="{01F8D44B-987F-7C4F-971C-5B6B4CA025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9987" name="Rectangle 3">
            <a:extLst>
              <a:ext uri="{FF2B5EF4-FFF2-40B4-BE49-F238E27FC236}">
                <a16:creationId xmlns:a16="http://schemas.microsoft.com/office/drawing/2014/main" id="{2D31DDCF-7D13-E34B-B9CA-06890BB5564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7E833B4-9F67-F445-A089-882BB0C75A57}" type="slidenum">
              <a:rPr lang="en-US" altLang="zh-CN" smtClean="0"/>
              <a:pPr>
                <a:defRPr/>
              </a:pPr>
              <a:t>88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23833930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7" name="Rectangle 7">
            <a:extLst>
              <a:ext uri="{FF2B5EF4-FFF2-40B4-BE49-F238E27FC236}">
                <a16:creationId xmlns:a16="http://schemas.microsoft.com/office/drawing/2014/main" id="{6EF603BA-F324-4845-8475-C37938EF872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FC840E30-9835-8F48-B785-BC653AC65879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73058" name="Rectangle 2">
            <a:extLst>
              <a:ext uri="{FF2B5EF4-FFF2-40B4-BE49-F238E27FC236}">
                <a16:creationId xmlns:a16="http://schemas.microsoft.com/office/drawing/2014/main" id="{7387FA09-F80E-744A-A985-59DBFE5B3FC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3059" name="Rectangle 3">
            <a:extLst>
              <a:ext uri="{FF2B5EF4-FFF2-40B4-BE49-F238E27FC236}">
                <a16:creationId xmlns:a16="http://schemas.microsoft.com/office/drawing/2014/main" id="{23BC13A4-495B-EA43-A39B-1D7C48CB996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5" name="Rectangle 7">
            <a:extLst>
              <a:ext uri="{FF2B5EF4-FFF2-40B4-BE49-F238E27FC236}">
                <a16:creationId xmlns:a16="http://schemas.microsoft.com/office/drawing/2014/main" id="{E01C44D7-E570-C14D-9D08-59C6433E432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8AA6B36-89B5-834D-BA32-EDBD03230D19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90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75106" name="Rectangle 2">
            <a:extLst>
              <a:ext uri="{FF2B5EF4-FFF2-40B4-BE49-F238E27FC236}">
                <a16:creationId xmlns:a16="http://schemas.microsoft.com/office/drawing/2014/main" id="{7357C8F0-139F-C441-99BD-00AE2F5AA88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5107" name="Rectangle 3">
            <a:extLst>
              <a:ext uri="{FF2B5EF4-FFF2-40B4-BE49-F238E27FC236}">
                <a16:creationId xmlns:a16="http://schemas.microsoft.com/office/drawing/2014/main" id="{2A7655F7-3A65-8F4C-AC57-9B0DA1E69B1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3" name="Rectangle 7">
            <a:extLst>
              <a:ext uri="{FF2B5EF4-FFF2-40B4-BE49-F238E27FC236}">
                <a16:creationId xmlns:a16="http://schemas.microsoft.com/office/drawing/2014/main" id="{6D41F801-1AC4-CC4C-8BEE-82221D6C802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30FB9F5-4D3B-E84D-8E2B-7CC045C81ACA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77154" name="Rectangle 2">
            <a:extLst>
              <a:ext uri="{FF2B5EF4-FFF2-40B4-BE49-F238E27FC236}">
                <a16:creationId xmlns:a16="http://schemas.microsoft.com/office/drawing/2014/main" id="{8A483397-BAEC-9648-BEB3-693BAFFFE35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7155" name="Rectangle 3">
            <a:extLst>
              <a:ext uri="{FF2B5EF4-FFF2-40B4-BE49-F238E27FC236}">
                <a16:creationId xmlns:a16="http://schemas.microsoft.com/office/drawing/2014/main" id="{86AE919B-27F5-A448-9A21-5626BA20F55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1" name="Rectangle 7">
            <a:extLst>
              <a:ext uri="{FF2B5EF4-FFF2-40B4-BE49-F238E27FC236}">
                <a16:creationId xmlns:a16="http://schemas.microsoft.com/office/drawing/2014/main" id="{3DE3991D-55EF-5243-BF6B-BF2CA5FC476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3C5D466-5BBD-D946-9307-9B94A4B97137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92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79202" name="Rectangle 2">
            <a:extLst>
              <a:ext uri="{FF2B5EF4-FFF2-40B4-BE49-F238E27FC236}">
                <a16:creationId xmlns:a16="http://schemas.microsoft.com/office/drawing/2014/main" id="{EF95A2AD-4863-4046-B490-194707A8483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9203" name="Rectangle 3">
            <a:extLst>
              <a:ext uri="{FF2B5EF4-FFF2-40B4-BE49-F238E27FC236}">
                <a16:creationId xmlns:a16="http://schemas.microsoft.com/office/drawing/2014/main" id="{84143188-70C0-B740-A4E5-1D55898FD74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49" name="Rectangle 7">
            <a:extLst>
              <a:ext uri="{FF2B5EF4-FFF2-40B4-BE49-F238E27FC236}">
                <a16:creationId xmlns:a16="http://schemas.microsoft.com/office/drawing/2014/main" id="{649B640E-11F4-8740-8388-7823537485A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BE90506D-A01D-5146-90D1-BB2F01AED88B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81250" name="Rectangle 2">
            <a:extLst>
              <a:ext uri="{FF2B5EF4-FFF2-40B4-BE49-F238E27FC236}">
                <a16:creationId xmlns:a16="http://schemas.microsoft.com/office/drawing/2014/main" id="{24133608-1C1B-034C-A4DD-FA7C9F609A4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1251" name="Rectangle 3">
            <a:extLst>
              <a:ext uri="{FF2B5EF4-FFF2-40B4-BE49-F238E27FC236}">
                <a16:creationId xmlns:a16="http://schemas.microsoft.com/office/drawing/2014/main" id="{CEE45B1A-D6A6-4645-9863-2B8AB931789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7" name="Rectangle 7">
            <a:extLst>
              <a:ext uri="{FF2B5EF4-FFF2-40B4-BE49-F238E27FC236}">
                <a16:creationId xmlns:a16="http://schemas.microsoft.com/office/drawing/2014/main" id="{83520042-86A0-E34E-93E9-60EF6BA11EF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6B8B3B81-012A-F04D-A917-DDF0C426897A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94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83298" name="Rectangle 2">
            <a:extLst>
              <a:ext uri="{FF2B5EF4-FFF2-40B4-BE49-F238E27FC236}">
                <a16:creationId xmlns:a16="http://schemas.microsoft.com/office/drawing/2014/main" id="{BF333E15-0724-3D47-AF80-C9F50C11EF3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3299" name="Rectangle 3">
            <a:extLst>
              <a:ext uri="{FF2B5EF4-FFF2-40B4-BE49-F238E27FC236}">
                <a16:creationId xmlns:a16="http://schemas.microsoft.com/office/drawing/2014/main" id="{2CA7A384-50C0-6445-BC04-980E31AE97D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5" name="Rectangle 7">
            <a:extLst>
              <a:ext uri="{FF2B5EF4-FFF2-40B4-BE49-F238E27FC236}">
                <a16:creationId xmlns:a16="http://schemas.microsoft.com/office/drawing/2014/main" id="{6E2544A2-E9E4-7648-8239-918EFB9A0D0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E3642D41-2FAC-3542-A638-244C268D166C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97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85346" name="Rectangle 2">
            <a:extLst>
              <a:ext uri="{FF2B5EF4-FFF2-40B4-BE49-F238E27FC236}">
                <a16:creationId xmlns:a16="http://schemas.microsoft.com/office/drawing/2014/main" id="{22DC146A-3195-E04D-971D-32201F295CD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5347" name="Rectangle 3">
            <a:extLst>
              <a:ext uri="{FF2B5EF4-FFF2-40B4-BE49-F238E27FC236}">
                <a16:creationId xmlns:a16="http://schemas.microsoft.com/office/drawing/2014/main" id="{F56CE107-C66A-5C43-B107-F184223ABB4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Rectangle 7">
            <a:extLst>
              <a:ext uri="{FF2B5EF4-FFF2-40B4-BE49-F238E27FC236}">
                <a16:creationId xmlns:a16="http://schemas.microsoft.com/office/drawing/2014/main" id="{7CA1EA8B-CB2D-A143-A4C1-D226C0E8994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0F637F71-88D3-0243-81A7-4EB7E18C1272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98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87394" name="Rectangle 2">
            <a:extLst>
              <a:ext uri="{FF2B5EF4-FFF2-40B4-BE49-F238E27FC236}">
                <a16:creationId xmlns:a16="http://schemas.microsoft.com/office/drawing/2014/main" id="{E9960CA7-0C88-EF4F-B0F0-7F61286BECE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7395" name="Rectangle 3">
            <a:extLst>
              <a:ext uri="{FF2B5EF4-FFF2-40B4-BE49-F238E27FC236}">
                <a16:creationId xmlns:a16="http://schemas.microsoft.com/office/drawing/2014/main" id="{3877A681-EF99-B847-9DBD-8947A0EAE5C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7" name="Rectangle 7">
            <a:extLst>
              <a:ext uri="{FF2B5EF4-FFF2-40B4-BE49-F238E27FC236}">
                <a16:creationId xmlns:a16="http://schemas.microsoft.com/office/drawing/2014/main" id="{56EDFAEB-3E82-7D4E-BD4F-90FC015B742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A2DD933-36F4-0F49-B80E-ECBD881F2E14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99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93538" name="Rectangle 2">
            <a:extLst>
              <a:ext uri="{FF2B5EF4-FFF2-40B4-BE49-F238E27FC236}">
                <a16:creationId xmlns:a16="http://schemas.microsoft.com/office/drawing/2014/main" id="{0420CD4B-7BFF-404A-81FD-042B335C369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3539" name="Rectangle 3">
            <a:extLst>
              <a:ext uri="{FF2B5EF4-FFF2-40B4-BE49-F238E27FC236}">
                <a16:creationId xmlns:a16="http://schemas.microsoft.com/office/drawing/2014/main" id="{B52B63FA-8AA2-5B40-8819-59A9509C041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5" name="Rectangle 7">
            <a:extLst>
              <a:ext uri="{FF2B5EF4-FFF2-40B4-BE49-F238E27FC236}">
                <a16:creationId xmlns:a16="http://schemas.microsoft.com/office/drawing/2014/main" id="{6FB36FB5-E700-A54B-9920-DBEB999B794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3D56C06D-B99E-0044-A4E6-7337A68E22CB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100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95586" name="Rectangle 2">
            <a:extLst>
              <a:ext uri="{FF2B5EF4-FFF2-40B4-BE49-F238E27FC236}">
                <a16:creationId xmlns:a16="http://schemas.microsoft.com/office/drawing/2014/main" id="{229DD65F-7F1A-5045-9450-56C571F1787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5587" name="Rectangle 3">
            <a:extLst>
              <a:ext uri="{FF2B5EF4-FFF2-40B4-BE49-F238E27FC236}">
                <a16:creationId xmlns:a16="http://schemas.microsoft.com/office/drawing/2014/main" id="{E22A7952-F271-6B41-B682-68A7AA47DFA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3" name="Rectangle 7">
            <a:extLst>
              <a:ext uri="{FF2B5EF4-FFF2-40B4-BE49-F238E27FC236}">
                <a16:creationId xmlns:a16="http://schemas.microsoft.com/office/drawing/2014/main" id="{EA055889-C09D-E84C-B52F-06C64900F2D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5CA4EBC9-02A9-7646-BAAF-AB873FFE6D25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101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97634" name="Rectangle 2">
            <a:extLst>
              <a:ext uri="{FF2B5EF4-FFF2-40B4-BE49-F238E27FC236}">
                <a16:creationId xmlns:a16="http://schemas.microsoft.com/office/drawing/2014/main" id="{983ED702-39B4-5842-8BEA-E4EC87D80C5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7635" name="Rectangle 3">
            <a:extLst>
              <a:ext uri="{FF2B5EF4-FFF2-40B4-BE49-F238E27FC236}">
                <a16:creationId xmlns:a16="http://schemas.microsoft.com/office/drawing/2014/main" id="{7CA56E4E-4C01-8043-BBD2-344C2A3DBF0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1" name="Rectangle 7">
            <a:extLst>
              <a:ext uri="{FF2B5EF4-FFF2-40B4-BE49-F238E27FC236}">
                <a16:creationId xmlns:a16="http://schemas.microsoft.com/office/drawing/2014/main" id="{DD4F1E68-8391-A14E-A212-62B0A2C82F1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5A97788E-2F23-B442-B1B8-44DFDB7AB329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102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89442" name="Rectangle 2">
            <a:extLst>
              <a:ext uri="{FF2B5EF4-FFF2-40B4-BE49-F238E27FC236}">
                <a16:creationId xmlns:a16="http://schemas.microsoft.com/office/drawing/2014/main" id="{AF38EF64-FC94-8449-A557-96C2C3D46FD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9443" name="Rectangle 3">
            <a:extLst>
              <a:ext uri="{FF2B5EF4-FFF2-40B4-BE49-F238E27FC236}">
                <a16:creationId xmlns:a16="http://schemas.microsoft.com/office/drawing/2014/main" id="{01F6EB41-F693-5949-BFCE-A1E1A2BFB6E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89" name="Rectangle 7">
            <a:extLst>
              <a:ext uri="{FF2B5EF4-FFF2-40B4-BE49-F238E27FC236}">
                <a16:creationId xmlns:a16="http://schemas.microsoft.com/office/drawing/2014/main" id="{9ACC346E-8335-F649-8918-210726CC58F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0F36F6B-ED35-9140-8AF6-FC861AE750F1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103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91490" name="Rectangle 2">
            <a:extLst>
              <a:ext uri="{FF2B5EF4-FFF2-40B4-BE49-F238E27FC236}">
                <a16:creationId xmlns:a16="http://schemas.microsoft.com/office/drawing/2014/main" id="{D073B2B8-0172-D046-BB74-70D7DADB1E7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1491" name="Rectangle 3">
            <a:extLst>
              <a:ext uri="{FF2B5EF4-FFF2-40B4-BE49-F238E27FC236}">
                <a16:creationId xmlns:a16="http://schemas.microsoft.com/office/drawing/2014/main" id="{EAA8D75C-4393-2C40-BF2B-69FE2ADA757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1" name="Rectangle 7">
            <a:extLst>
              <a:ext uri="{FF2B5EF4-FFF2-40B4-BE49-F238E27FC236}">
                <a16:creationId xmlns:a16="http://schemas.microsoft.com/office/drawing/2014/main" id="{E1429DD0-5AA6-C04F-B208-7D45052E184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5CF942FD-E51B-E14C-A8CC-AA66B8B103CF}" type="slidenum">
              <a:rPr lang="en-US" altLang="zh-CN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104</a:t>
            </a:fld>
            <a:endParaRPr lang="en-US" altLang="zh-CN">
              <a:latin typeface="Tahoma" panose="020B0604030504040204" pitchFamily="34" charset="0"/>
            </a:endParaRPr>
          </a:p>
        </p:txBody>
      </p:sp>
      <p:sp>
        <p:nvSpPr>
          <p:cNvPr id="199682" name="Rectangle 2">
            <a:extLst>
              <a:ext uri="{FF2B5EF4-FFF2-40B4-BE49-F238E27FC236}">
                <a16:creationId xmlns:a16="http://schemas.microsoft.com/office/drawing/2014/main" id="{3FC37551-667E-FB48-9BF2-0EE7DB36A40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9683" name="Rectangle 3">
            <a:extLst>
              <a:ext uri="{FF2B5EF4-FFF2-40B4-BE49-F238E27FC236}">
                <a16:creationId xmlns:a16="http://schemas.microsoft.com/office/drawing/2014/main" id="{F9256F5C-A430-B54F-AFE7-62773A8A354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zh-CN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8" descr="花">
            <a:extLst>
              <a:ext uri="{FF2B5EF4-FFF2-40B4-BE49-F238E27FC236}">
                <a16:creationId xmlns:a16="http://schemas.microsoft.com/office/drawing/2014/main" id="{8E852994-71B4-C749-9687-16BDC87778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394075"/>
            <a:ext cx="4800600" cy="344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17" descr="草">
            <a:extLst>
              <a:ext uri="{FF2B5EF4-FFF2-40B4-BE49-F238E27FC236}">
                <a16:creationId xmlns:a16="http://schemas.microsoft.com/office/drawing/2014/main" id="{12283D3C-EABB-124E-86E6-53E434B86C4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968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19" descr="logo001">
            <a:extLst>
              <a:ext uri="{FF2B5EF4-FFF2-40B4-BE49-F238E27FC236}">
                <a16:creationId xmlns:a16="http://schemas.microsoft.com/office/drawing/2014/main" id="{9AF8E273-04E7-1243-8EBC-8C09915CBDE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228600"/>
            <a:ext cx="2933700" cy="703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8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14400" y="1600200"/>
            <a:ext cx="7772400" cy="1143000"/>
          </a:xfrm>
        </p:spPr>
        <p:txBody>
          <a:bodyPr/>
          <a:lstStyle>
            <a:lvl1pPr>
              <a:defRPr>
                <a:solidFill>
                  <a:srgbClr val="006600"/>
                </a:solidFill>
              </a:defRPr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4109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2766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7" name="Rectangle 16">
            <a:extLst>
              <a:ext uri="{FF2B5EF4-FFF2-40B4-BE49-F238E27FC236}">
                <a16:creationId xmlns:a16="http://schemas.microsoft.com/office/drawing/2014/main" id="{BBD4326D-BB50-084D-A2B7-4043F56C664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z="1400" b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52CC130C-917C-FA43-A018-868A0A587016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627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C60D01B6-A2F5-474B-A6C0-9E42D5B6A38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54FC593-F3E3-FB4E-9A98-0D442DC8DCE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88312740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9A9C0935-E3D4-CF46-9B29-A87950F889D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867CD8A-6892-D447-BBAF-537F5189C78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173005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17526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17526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D71D44D8-E047-E949-A9E2-91111884B4A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47CBD0B-0E69-AC45-94A7-440AA527639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19363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Rectangle 17">
            <a:extLst>
              <a:ext uri="{FF2B5EF4-FFF2-40B4-BE49-F238E27FC236}">
                <a16:creationId xmlns:a16="http://schemas.microsoft.com/office/drawing/2014/main" id="{F3755BF4-D1FD-E040-BEA8-357B4862130D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DC84BE7-C296-7547-8AF7-A697975B1AF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40676005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Rectangle 17">
            <a:extLst>
              <a:ext uri="{FF2B5EF4-FFF2-40B4-BE49-F238E27FC236}">
                <a16:creationId xmlns:a16="http://schemas.microsoft.com/office/drawing/2014/main" id="{ED649173-CB61-3044-8915-85BAE5B66BA2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44F30C0-A559-1E4E-A6C1-D3D0F772076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4830619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7">
            <a:extLst>
              <a:ext uri="{FF2B5EF4-FFF2-40B4-BE49-F238E27FC236}">
                <a16:creationId xmlns:a16="http://schemas.microsoft.com/office/drawing/2014/main" id="{A76021BB-63D6-624D-8260-45F6DF52D19D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34BE3B5-6EC7-F64F-9654-209C6D274F55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0236388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1F75895A-08CA-8F4E-B1FB-0E6DBF9ACEE0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61F1276-08B5-014C-A60B-A05617A1D5EB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7021492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543A8784-8D0B-004C-A5D4-9C3122FE183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B784AA8-B41F-DF4C-9C0A-92CB3313D9A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99692836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EC6EBAF6-6D24-C041-9680-9F88A5781A0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2884751-4B3F-874C-A4A0-4E99C3F161CF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05235305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381000"/>
            <a:ext cx="1951038" cy="5486400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381000"/>
            <a:ext cx="5700712" cy="5486400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D3E1D0D2-34CD-DA4D-B8EF-EBEB0BEC64D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D90EC47-B646-5E47-B72D-07DF8BBACA9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90158591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3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2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1">
            <a:extLst>
              <a:ext uri="{FF2B5EF4-FFF2-40B4-BE49-F238E27FC236}">
                <a16:creationId xmlns:a16="http://schemas.microsoft.com/office/drawing/2014/main" id="{8E24F50C-282C-FE4A-B1DA-CAB612713E75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2438400" y="5943600"/>
            <a:ext cx="6705600" cy="533400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rgbClr val="8CD32D"/>
              </a:gs>
            </a:gsLst>
            <a:lin ang="0" scaled="1"/>
          </a:gradFill>
          <a:ln>
            <a:noFill/>
          </a:ln>
        </p:spPr>
        <p:txBody>
          <a:bodyPr wrap="none" anchor="ctr"/>
          <a:lstStyle>
            <a:lvl1pPr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defRPr/>
            </a:pPr>
            <a:endParaRPr lang="zh-CN" altLang="en-US"/>
          </a:p>
        </p:txBody>
      </p:sp>
      <p:pic>
        <p:nvPicPr>
          <p:cNvPr id="1027" name="Picture 14" descr="花">
            <a:extLst>
              <a:ext uri="{FF2B5EF4-FFF2-40B4-BE49-F238E27FC236}">
                <a16:creationId xmlns:a16="http://schemas.microsoft.com/office/drawing/2014/main" id="{46FB20A5-293D-3544-8C20-7FB5494A15F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49838"/>
            <a:ext cx="2514600" cy="1808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8" name="Rectangle 9">
            <a:extLst>
              <a:ext uri="{FF2B5EF4-FFF2-40B4-BE49-F238E27FC236}">
                <a16:creationId xmlns:a16="http://schemas.microsoft.com/office/drawing/2014/main" id="{DFA2C9DE-C67B-6C4A-BFEE-8A4BADF74DB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381000"/>
            <a:ext cx="779303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9" name="Rectangle 10">
            <a:extLst>
              <a:ext uri="{FF2B5EF4-FFF2-40B4-BE49-F238E27FC236}">
                <a16:creationId xmlns:a16="http://schemas.microsoft.com/office/drawing/2014/main" id="{7C811419-67A9-C94B-958A-0A04AC30268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17526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pic>
        <p:nvPicPr>
          <p:cNvPr id="1030" name="Picture 15" descr="草">
            <a:extLst>
              <a:ext uri="{FF2B5EF4-FFF2-40B4-BE49-F238E27FC236}">
                <a16:creationId xmlns:a16="http://schemas.microsoft.com/office/drawing/2014/main" id="{37F4DCEF-BBED-4340-AD19-2003A30742B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9" name="Rectangle 17">
            <a:extLst>
              <a:ext uri="{FF2B5EF4-FFF2-40B4-BE49-F238E27FC236}">
                <a16:creationId xmlns:a16="http://schemas.microsoft.com/office/drawing/2014/main" id="{8C463352-0BBE-E24C-A4C1-C5E140102DB3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81800" y="64008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kumimoji="0" sz="1800">
                <a:solidFill>
                  <a:srgbClr val="009900"/>
                </a:solidFill>
              </a:defRPr>
            </a:lvl1pPr>
          </a:lstStyle>
          <a:p>
            <a:pPr>
              <a:defRPr/>
            </a:pPr>
            <a:fld id="{C15E823B-12D6-3544-83ED-2EEBB5C0FC7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  <p:sp>
        <p:nvSpPr>
          <p:cNvPr id="1032" name="Line 18">
            <a:extLst>
              <a:ext uri="{FF2B5EF4-FFF2-40B4-BE49-F238E27FC236}">
                <a16:creationId xmlns:a16="http://schemas.microsoft.com/office/drawing/2014/main" id="{F67CB40B-569F-424E-82B5-A8764A41273E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514600" y="6096000"/>
            <a:ext cx="6400800" cy="0"/>
          </a:xfrm>
          <a:prstGeom prst="line">
            <a:avLst/>
          </a:prstGeom>
          <a:noFill/>
          <a:ln w="9525">
            <a:solidFill>
              <a:srgbClr val="00990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33" name="Line 19">
            <a:extLst>
              <a:ext uri="{FF2B5EF4-FFF2-40B4-BE49-F238E27FC236}">
                <a16:creationId xmlns:a16="http://schemas.microsoft.com/office/drawing/2014/main" id="{DD5AA3C1-ABB6-BB45-872B-E695E66B0421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819400" y="6172200"/>
            <a:ext cx="4495800" cy="0"/>
          </a:xfrm>
          <a:prstGeom prst="line">
            <a:avLst/>
          </a:prstGeom>
          <a:noFill/>
          <a:ln w="9525">
            <a:solidFill>
              <a:srgbClr val="00CC6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34" name="Line 20">
            <a:extLst>
              <a:ext uri="{FF2B5EF4-FFF2-40B4-BE49-F238E27FC236}">
                <a16:creationId xmlns:a16="http://schemas.microsoft.com/office/drawing/2014/main" id="{C3F5BC0D-86F9-0749-86C5-8815B18ECC09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5562600" y="6324600"/>
            <a:ext cx="2362200" cy="0"/>
          </a:xfrm>
          <a:prstGeom prst="line">
            <a:avLst/>
          </a:prstGeom>
          <a:noFill/>
          <a:ln w="9525">
            <a:solidFill>
              <a:srgbClr val="00660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035" name="Rectangle 22">
            <a:extLst>
              <a:ext uri="{FF2B5EF4-FFF2-40B4-BE49-F238E27FC236}">
                <a16:creationId xmlns:a16="http://schemas.microsoft.com/office/drawing/2014/main" id="{CBDB275C-F1A1-E243-B752-6A053DF3A12F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2286000" y="6172200"/>
            <a:ext cx="2698750" cy="366713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defRPr/>
            </a:pPr>
            <a:r>
              <a:rPr lang="zh-CN" altLang="en-US" sz="1800">
                <a:solidFill>
                  <a:srgbClr val="069406"/>
                </a:solidFill>
                <a:latin typeface="Times New Roman" panose="02020603050405020304" pitchFamily="18" charset="0"/>
                <a:ea typeface="楷体_GB2312" pitchFamily="49" charset="-122"/>
              </a:rPr>
              <a:t>华中科技大学计算机学院</a:t>
            </a:r>
          </a:p>
        </p:txBody>
      </p:sp>
      <p:pic>
        <p:nvPicPr>
          <p:cNvPr id="1036" name="Picture 24" descr="logo001">
            <a:extLst>
              <a:ext uri="{FF2B5EF4-FFF2-40B4-BE49-F238E27FC236}">
                <a16:creationId xmlns:a16="http://schemas.microsoft.com/office/drawing/2014/main" id="{0249F77E-E0AC-A34F-961D-8A1F14CDF01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5600" y="0"/>
            <a:ext cx="24384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32" r:id="rId1"/>
    <p:sldLayoutId id="2147484322" r:id="rId2"/>
    <p:sldLayoutId id="2147484323" r:id="rId3"/>
    <p:sldLayoutId id="2147484324" r:id="rId4"/>
    <p:sldLayoutId id="2147484325" r:id="rId5"/>
    <p:sldLayoutId id="2147484326" r:id="rId6"/>
    <p:sldLayoutId id="2147484327" r:id="rId7"/>
    <p:sldLayoutId id="2147484328" r:id="rId8"/>
    <p:sldLayoutId id="2147484329" r:id="rId9"/>
    <p:sldLayoutId id="2147484330" r:id="rId10"/>
    <p:sldLayoutId id="2147484331" r:id="rId11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宋体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宋体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宋体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宋体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宋体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宋体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宋体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宋体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itchFamily="2" charset="2"/>
        <a:buChar char="n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itchFamily="2" charset="2"/>
        <a:buChar char="n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itchFamily="2" charset="2"/>
        <a:buChar char="n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6.png"/><Relationship Id="rId4" Type="http://schemas.openxmlformats.org/officeDocument/2006/relationships/image" Target="../media/image15.emf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emf"/><Relationship Id="rId13" Type="http://schemas.openxmlformats.org/officeDocument/2006/relationships/image" Target="../media/image22.png"/><Relationship Id="rId3" Type="http://schemas.openxmlformats.org/officeDocument/2006/relationships/oleObject" Target="../embeddings/oleObject2.bin"/><Relationship Id="rId7" Type="http://schemas.openxmlformats.org/officeDocument/2006/relationships/oleObject" Target="../embeddings/oleObject4.bin"/><Relationship Id="rId12" Type="http://schemas.openxmlformats.org/officeDocument/2006/relationships/image" Target="../media/image21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11" Type="http://schemas.openxmlformats.org/officeDocument/2006/relationships/image" Target="../media/image16.png"/><Relationship Id="rId5" Type="http://schemas.openxmlformats.org/officeDocument/2006/relationships/oleObject" Target="../embeddings/oleObject3.bin"/><Relationship Id="rId15" Type="http://schemas.openxmlformats.org/officeDocument/2006/relationships/image" Target="../media/image24.png"/><Relationship Id="rId10" Type="http://schemas.openxmlformats.org/officeDocument/2006/relationships/image" Target="../media/image20.emf"/><Relationship Id="rId4" Type="http://schemas.openxmlformats.org/officeDocument/2006/relationships/image" Target="../media/image17.emf"/><Relationship Id="rId9" Type="http://schemas.openxmlformats.org/officeDocument/2006/relationships/oleObject" Target="../embeddings/oleObject5.bin"/><Relationship Id="rId14" Type="http://schemas.openxmlformats.org/officeDocument/2006/relationships/image" Target="../media/image23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5" Type="http://schemas.openxmlformats.org/officeDocument/2006/relationships/image" Target="../media/image24.png"/><Relationship Id="rId4" Type="http://schemas.openxmlformats.org/officeDocument/2006/relationships/image" Target="../media/image20.emf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Rectangle 2">
            <a:extLst>
              <a:ext uri="{FF2B5EF4-FFF2-40B4-BE49-F238E27FC236}">
                <a16:creationId xmlns:a16="http://schemas.microsoft.com/office/drawing/2014/main" id="{B33B71CD-DE3B-5A47-ACF6-881540C1FFB0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1905000" y="2514600"/>
            <a:ext cx="5410200" cy="838200"/>
          </a:xfrm>
        </p:spPr>
        <p:txBody>
          <a:bodyPr/>
          <a:lstStyle/>
          <a:p>
            <a:pPr algn="ctr" eaLnBrk="1" hangingPunct="1"/>
            <a:r>
              <a:rPr lang="zh-CN" altLang="en-US" sz="4000" b="1">
                <a:latin typeface="黑体" panose="02010609060101010101" pitchFamily="49" charset="-122"/>
                <a:ea typeface="黑体" panose="02010609060101010101" pitchFamily="49" charset="-122"/>
              </a:rPr>
              <a:t>第</a:t>
            </a:r>
            <a:r>
              <a:rPr lang="en-US" altLang="zh-CN" sz="4000" b="1">
                <a:latin typeface="黑体" panose="02010609060101010101" pitchFamily="49" charset="-122"/>
                <a:ea typeface="黑体" panose="02010609060101010101" pitchFamily="49" charset="-122"/>
              </a:rPr>
              <a:t>7</a:t>
            </a:r>
            <a:r>
              <a:rPr lang="zh-CN" altLang="en-US" sz="4000" b="1">
                <a:latin typeface="黑体" panose="02010609060101010101" pitchFamily="49" charset="-122"/>
                <a:ea typeface="黑体" panose="02010609060101010101" pitchFamily="49" charset="-122"/>
              </a:rPr>
              <a:t>章　</a:t>
            </a:r>
            <a:r>
              <a:rPr lang="zh-CN" altLang="zh-CN" sz="4000" b="1" noProof="1">
                <a:latin typeface="黑体" panose="02010609060101010101" pitchFamily="49" charset="-122"/>
                <a:ea typeface="黑体" panose="02010609060101010101" pitchFamily="49" charset="-122"/>
              </a:rPr>
              <a:t>图</a:t>
            </a:r>
            <a:r>
              <a:rPr lang="en-US" altLang="zh-CN" sz="4000" b="1">
                <a:latin typeface="黑体" panose="02010609060101010101" pitchFamily="49" charset="-122"/>
                <a:ea typeface="黑体" panose="02010609060101010101" pitchFamily="49" charset="-122"/>
              </a:rPr>
              <a:t>(Graph)</a:t>
            </a:r>
          </a:p>
        </p:txBody>
      </p:sp>
      <p:sp>
        <p:nvSpPr>
          <p:cNvPr id="14338" name="Rectangle 3">
            <a:extLst>
              <a:ext uri="{FF2B5EF4-FFF2-40B4-BE49-F238E27FC236}">
                <a16:creationId xmlns:a16="http://schemas.microsoft.com/office/drawing/2014/main" id="{F291227C-427A-F644-9EC0-CDCDD5AE8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371600"/>
            <a:ext cx="2438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36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数据结构</a:t>
            </a:r>
          </a:p>
        </p:txBody>
      </p: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灯片编号占位符 3">
            <a:extLst>
              <a:ext uri="{FF2B5EF4-FFF2-40B4-BE49-F238E27FC236}">
                <a16:creationId xmlns:a16="http://schemas.microsoft.com/office/drawing/2014/main" id="{A3FBEBE6-7034-6A48-99B5-31296B0FAB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C4DA452-960A-7C4C-87B6-1D110EB20C7F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6386" name="Oval 4">
            <a:extLst>
              <a:ext uri="{FF2B5EF4-FFF2-40B4-BE49-F238E27FC236}">
                <a16:creationId xmlns:a16="http://schemas.microsoft.com/office/drawing/2014/main" id="{525C8A34-81BD-7F49-ADE5-335D44FC8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2488" y="3876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387" name="Oval 5">
            <a:extLst>
              <a:ext uri="{FF2B5EF4-FFF2-40B4-BE49-F238E27FC236}">
                <a16:creationId xmlns:a16="http://schemas.microsoft.com/office/drawing/2014/main" id="{E5A433F5-EC6C-7F42-90AF-2C14A0FEA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1688" y="3876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388" name="Oval 6">
            <a:extLst>
              <a:ext uri="{FF2B5EF4-FFF2-40B4-BE49-F238E27FC236}">
                <a16:creationId xmlns:a16="http://schemas.microsoft.com/office/drawing/2014/main" id="{F51E37CC-72D8-484F-921E-85038BCEB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2488" y="51720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389" name="Oval 7">
            <a:extLst>
              <a:ext uri="{FF2B5EF4-FFF2-40B4-BE49-F238E27FC236}">
                <a16:creationId xmlns:a16="http://schemas.microsoft.com/office/drawing/2014/main" id="{F232A369-66DD-3B41-BD34-1A3DC3C65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1688" y="51720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390" name="Oval 8">
            <a:extLst>
              <a:ext uri="{FF2B5EF4-FFF2-40B4-BE49-F238E27FC236}">
                <a16:creationId xmlns:a16="http://schemas.microsoft.com/office/drawing/2014/main" id="{E5E5EB7E-1FD4-1D4C-9C56-5A82C60D90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088" y="4562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391" name="Line 9">
            <a:extLst>
              <a:ext uri="{FF2B5EF4-FFF2-40B4-BE49-F238E27FC236}">
                <a16:creationId xmlns:a16="http://schemas.microsoft.com/office/drawing/2014/main" id="{08BAD223-4C2D-6146-AA95-F451B679E9D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4888" y="4257675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2" name="Line 10">
            <a:extLst>
              <a:ext uri="{FF2B5EF4-FFF2-40B4-BE49-F238E27FC236}">
                <a16:creationId xmlns:a16="http://schemas.microsoft.com/office/drawing/2014/main" id="{E4548F59-04E3-B64D-A528-5F454A71FC94}"/>
              </a:ext>
            </a:extLst>
          </p:cNvPr>
          <p:cNvSpPr>
            <a:spLocks noChangeShapeType="1"/>
          </p:cNvSpPr>
          <p:nvPr/>
        </p:nvSpPr>
        <p:spPr bwMode="auto">
          <a:xfrm>
            <a:off x="2427288" y="4257675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3" name="Line 11">
            <a:extLst>
              <a:ext uri="{FF2B5EF4-FFF2-40B4-BE49-F238E27FC236}">
                <a16:creationId xmlns:a16="http://schemas.microsoft.com/office/drawing/2014/main" id="{D4441603-0FA5-7D4D-B191-F5CC7D5AB4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03488" y="486727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4" name="Arc 12">
            <a:extLst>
              <a:ext uri="{FF2B5EF4-FFF2-40B4-BE49-F238E27FC236}">
                <a16:creationId xmlns:a16="http://schemas.microsoft.com/office/drawing/2014/main" id="{FB334A0B-844D-DD4D-8D7A-C525D7FC492F}"/>
              </a:ext>
            </a:extLst>
          </p:cNvPr>
          <p:cNvSpPr>
            <a:spLocks/>
          </p:cNvSpPr>
          <p:nvPr/>
        </p:nvSpPr>
        <p:spPr bwMode="auto">
          <a:xfrm rot="21532724" flipH="1">
            <a:off x="3494088" y="4256088"/>
            <a:ext cx="304800" cy="912812"/>
          </a:xfrm>
          <a:custGeom>
            <a:avLst/>
            <a:gdLst>
              <a:gd name="T0" fmla="*/ 2147483646 w 21600"/>
              <a:gd name="T1" fmla="*/ 2147483646 h 40970"/>
              <a:gd name="T2" fmla="*/ 2147483646 w 21600"/>
              <a:gd name="T3" fmla="*/ 0 h 40970"/>
              <a:gd name="T4" fmla="*/ 2147483646 w 21600"/>
              <a:gd name="T5" fmla="*/ 2147483646 h 40970"/>
              <a:gd name="T6" fmla="*/ 0 60000 65536"/>
              <a:gd name="T7" fmla="*/ 0 60000 65536"/>
              <a:gd name="T8" fmla="*/ 0 60000 65536"/>
              <a:gd name="T9" fmla="*/ 0 w 21600"/>
              <a:gd name="T10" fmla="*/ 0 h 40970"/>
              <a:gd name="T11" fmla="*/ 21600 w 21600"/>
              <a:gd name="T12" fmla="*/ 40970 h 409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0970" fill="none" extrusionOk="0">
                <a:moveTo>
                  <a:pt x="13412" y="40970"/>
                </a:moveTo>
                <a:cubicBezTo>
                  <a:pt x="5299" y="37647"/>
                  <a:pt x="0" y="29749"/>
                  <a:pt x="0" y="20982"/>
                </a:cubicBezTo>
                <a:cubicBezTo>
                  <a:pt x="-1" y="11028"/>
                  <a:pt x="6801" y="2363"/>
                  <a:pt x="16470" y="-1"/>
                </a:cubicBezTo>
              </a:path>
              <a:path w="21600" h="40970" stroke="0" extrusionOk="0">
                <a:moveTo>
                  <a:pt x="13412" y="40970"/>
                </a:moveTo>
                <a:cubicBezTo>
                  <a:pt x="5299" y="37647"/>
                  <a:pt x="0" y="29749"/>
                  <a:pt x="0" y="20982"/>
                </a:cubicBezTo>
                <a:cubicBezTo>
                  <a:pt x="-1" y="11028"/>
                  <a:pt x="6801" y="2363"/>
                  <a:pt x="16470" y="-1"/>
                </a:cubicBezTo>
                <a:lnTo>
                  <a:pt x="21600" y="20982"/>
                </a:lnTo>
                <a:lnTo>
                  <a:pt x="13412" y="4097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395" name="Arc 13">
            <a:extLst>
              <a:ext uri="{FF2B5EF4-FFF2-40B4-BE49-F238E27FC236}">
                <a16:creationId xmlns:a16="http://schemas.microsoft.com/office/drawing/2014/main" id="{4AED78AD-98F2-5A4A-A13D-6EBA6E0B445B}"/>
              </a:ext>
            </a:extLst>
          </p:cNvPr>
          <p:cNvSpPr>
            <a:spLocks/>
          </p:cNvSpPr>
          <p:nvPr/>
        </p:nvSpPr>
        <p:spPr bwMode="auto">
          <a:xfrm rot="10843785" flipH="1">
            <a:off x="3263900" y="4257675"/>
            <a:ext cx="228600" cy="914400"/>
          </a:xfrm>
          <a:custGeom>
            <a:avLst/>
            <a:gdLst>
              <a:gd name="T0" fmla="*/ 2147483646 w 21600"/>
              <a:gd name="T1" fmla="*/ 2147483646 h 40401"/>
              <a:gd name="T2" fmla="*/ 2147483646 w 21600"/>
              <a:gd name="T3" fmla="*/ 0 h 40401"/>
              <a:gd name="T4" fmla="*/ 2147483646 w 21600"/>
              <a:gd name="T5" fmla="*/ 2147483646 h 40401"/>
              <a:gd name="T6" fmla="*/ 0 60000 65536"/>
              <a:gd name="T7" fmla="*/ 0 60000 65536"/>
              <a:gd name="T8" fmla="*/ 0 60000 65536"/>
              <a:gd name="T9" fmla="*/ 0 w 21600"/>
              <a:gd name="T10" fmla="*/ 0 h 40401"/>
              <a:gd name="T11" fmla="*/ 21600 w 21600"/>
              <a:gd name="T12" fmla="*/ 40401 h 4040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0401" fill="none" extrusionOk="0">
                <a:moveTo>
                  <a:pt x="13412" y="40401"/>
                </a:moveTo>
                <a:cubicBezTo>
                  <a:pt x="5299" y="37078"/>
                  <a:pt x="0" y="29180"/>
                  <a:pt x="0" y="20413"/>
                </a:cubicBezTo>
                <a:cubicBezTo>
                  <a:pt x="-1" y="11205"/>
                  <a:pt x="5836" y="3010"/>
                  <a:pt x="14537" y="0"/>
                </a:cubicBezTo>
              </a:path>
              <a:path w="21600" h="40401" stroke="0" extrusionOk="0">
                <a:moveTo>
                  <a:pt x="13412" y="40401"/>
                </a:moveTo>
                <a:cubicBezTo>
                  <a:pt x="5299" y="37078"/>
                  <a:pt x="0" y="29180"/>
                  <a:pt x="0" y="20413"/>
                </a:cubicBezTo>
                <a:cubicBezTo>
                  <a:pt x="-1" y="11205"/>
                  <a:pt x="5836" y="3010"/>
                  <a:pt x="14537" y="0"/>
                </a:cubicBezTo>
                <a:lnTo>
                  <a:pt x="21600" y="20413"/>
                </a:lnTo>
                <a:lnTo>
                  <a:pt x="13412" y="40401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396" name="Text Box 14">
            <a:extLst>
              <a:ext uri="{FF2B5EF4-FFF2-40B4-BE49-F238E27FC236}">
                <a16:creationId xmlns:a16="http://schemas.microsoft.com/office/drawing/2014/main" id="{AAB8BB58-1790-264C-A77A-5AC71A16D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1138" y="5553075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397" name="Text Box 27">
            <a:extLst>
              <a:ext uri="{FF2B5EF4-FFF2-40B4-BE49-F238E27FC236}">
                <a16:creationId xmlns:a16="http://schemas.microsoft.com/office/drawing/2014/main" id="{A1AD9C3E-A96C-9748-AD3C-D2587E534B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013" y="565150"/>
            <a:ext cx="7416800" cy="277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00"/>
                </a:solidFill>
                <a:latin typeface="宋体" panose="02010600030101010101" pitchFamily="2" charset="-122"/>
              </a:rPr>
              <a:t>7.1 </a:t>
            </a:r>
            <a:r>
              <a:rPr lang="zh-CN" altLang="en-US">
                <a:solidFill>
                  <a:srgbClr val="000000"/>
                </a:solidFill>
                <a:latin typeface="宋体" panose="02010600030101010101" pitchFamily="2" charset="-122"/>
              </a:rPr>
              <a:t>图的定义和术语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0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1.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图的定义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由顶点集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和关系集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VR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组成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记为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G=(V,VR)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V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元素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的有穷非空集，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VR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是两个顶点之间的关系的集合。</a:t>
            </a:r>
            <a:endParaRPr lang="zh-CN" altLang="en-US" sz="2400" b="0">
              <a:latin typeface="宋体" panose="02010600030101010101" pitchFamily="2" charset="-122"/>
            </a:endParaRPr>
          </a:p>
        </p:txBody>
      </p:sp>
      <p:sp>
        <p:nvSpPr>
          <p:cNvPr id="16398" name="Oval 2">
            <a:extLst>
              <a:ext uri="{FF2B5EF4-FFF2-40B4-BE49-F238E27FC236}">
                <a16:creationId xmlns:a16="http://schemas.microsoft.com/office/drawing/2014/main" id="{D84C96F2-77A7-D348-9584-112EA5753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3550" y="37401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399" name="Oval 3">
            <a:extLst>
              <a:ext uri="{FF2B5EF4-FFF2-40B4-BE49-F238E27FC236}">
                <a16:creationId xmlns:a16="http://schemas.microsoft.com/office/drawing/2014/main" id="{4A4A4A3C-2EA4-764C-AB99-B6FDE9386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2750" y="37401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400" name="Oval 4">
            <a:extLst>
              <a:ext uri="{FF2B5EF4-FFF2-40B4-BE49-F238E27FC236}">
                <a16:creationId xmlns:a16="http://schemas.microsoft.com/office/drawing/2014/main" id="{7B1061D1-8B96-064F-98AD-2B6CC4EB6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3550" y="50355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401" name="Oval 5">
            <a:extLst>
              <a:ext uri="{FF2B5EF4-FFF2-40B4-BE49-F238E27FC236}">
                <a16:creationId xmlns:a16="http://schemas.microsoft.com/office/drawing/2014/main" id="{82A2E0DA-6A00-1446-8E8F-45AC1EA45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0350" y="50355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402" name="Oval 6">
            <a:extLst>
              <a:ext uri="{FF2B5EF4-FFF2-40B4-BE49-F238E27FC236}">
                <a16:creationId xmlns:a16="http://schemas.microsoft.com/office/drawing/2014/main" id="{312701C8-782E-444C-8230-C3CC95A1F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3150" y="4425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403" name="Line 7">
            <a:extLst>
              <a:ext uri="{FF2B5EF4-FFF2-40B4-BE49-F238E27FC236}">
                <a16:creationId xmlns:a16="http://schemas.microsoft.com/office/drawing/2014/main" id="{D9EA8037-A654-7A44-AF34-F96611D6E315}"/>
              </a:ext>
            </a:extLst>
          </p:cNvPr>
          <p:cNvSpPr>
            <a:spLocks noChangeShapeType="1"/>
          </p:cNvSpPr>
          <p:nvPr/>
        </p:nvSpPr>
        <p:spPr bwMode="auto">
          <a:xfrm>
            <a:off x="5695950" y="4121150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04" name="Line 8">
            <a:extLst>
              <a:ext uri="{FF2B5EF4-FFF2-40B4-BE49-F238E27FC236}">
                <a16:creationId xmlns:a16="http://schemas.microsoft.com/office/drawing/2014/main" id="{83D367CE-9157-5C4C-8A6A-C82CA73E2D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48350" y="412115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05" name="Line 9">
            <a:extLst>
              <a:ext uri="{FF2B5EF4-FFF2-40B4-BE49-F238E27FC236}">
                <a16:creationId xmlns:a16="http://schemas.microsoft.com/office/drawing/2014/main" id="{87E53469-9556-BF40-A4F5-AA30804C97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4550" y="473075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06" name="Text Box 10">
            <a:extLst>
              <a:ext uri="{FF2B5EF4-FFF2-40B4-BE49-F238E27FC236}">
                <a16:creationId xmlns:a16="http://schemas.microsoft.com/office/drawing/2014/main" id="{9A9CDD9C-3809-194C-B208-645720638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5553075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407" name="Oval 12">
            <a:extLst>
              <a:ext uri="{FF2B5EF4-FFF2-40B4-BE49-F238E27FC236}">
                <a16:creationId xmlns:a16="http://schemas.microsoft.com/office/drawing/2014/main" id="{463EEC84-3388-1046-8A16-A4C388E2D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3750" y="4425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408" name="Line 13">
            <a:extLst>
              <a:ext uri="{FF2B5EF4-FFF2-40B4-BE49-F238E27FC236}">
                <a16:creationId xmlns:a16="http://schemas.microsoft.com/office/drawing/2014/main" id="{CB8D3828-4892-9745-BCA0-52041AFF2D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15150" y="473075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灯片编号占位符 3">
            <a:extLst>
              <a:ext uri="{FF2B5EF4-FFF2-40B4-BE49-F238E27FC236}">
                <a16:creationId xmlns:a16="http://schemas.microsoft.com/office/drawing/2014/main" id="{133E07F4-4C1B-FC42-994B-808EADC980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DE3D430-D83E-8740-8CFF-E5F688DD7D59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8434" name="Oval 2">
            <a:extLst>
              <a:ext uri="{FF2B5EF4-FFF2-40B4-BE49-F238E27FC236}">
                <a16:creationId xmlns:a16="http://schemas.microsoft.com/office/drawing/2014/main" id="{CAC1ACA1-BAD7-E348-83CD-66A907EC6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27082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8435" name="Oval 3">
            <a:extLst>
              <a:ext uri="{FF2B5EF4-FFF2-40B4-BE49-F238E27FC236}">
                <a16:creationId xmlns:a16="http://schemas.microsoft.com/office/drawing/2014/main" id="{76F2E28E-1357-B94D-A448-55CA1B532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8763" y="27082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8436" name="Oval 4">
            <a:extLst>
              <a:ext uri="{FF2B5EF4-FFF2-40B4-BE49-F238E27FC236}">
                <a16:creationId xmlns:a16="http://schemas.microsoft.com/office/drawing/2014/main" id="{9084DA7F-C2EA-5D4D-97E3-1066C8B063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4003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8437" name="Oval 5">
            <a:extLst>
              <a:ext uri="{FF2B5EF4-FFF2-40B4-BE49-F238E27FC236}">
                <a16:creationId xmlns:a16="http://schemas.microsoft.com/office/drawing/2014/main" id="{EDFEDD26-1B59-3C4C-A176-BAE2F12E7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8763" y="4003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8438" name="Oval 6">
            <a:extLst>
              <a:ext uri="{FF2B5EF4-FFF2-40B4-BE49-F238E27FC236}">
                <a16:creationId xmlns:a16="http://schemas.microsoft.com/office/drawing/2014/main" id="{B8210632-4CCD-2A4F-AE4F-0AD0E9CF1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163" y="33940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8439" name="Line 7">
            <a:extLst>
              <a:ext uri="{FF2B5EF4-FFF2-40B4-BE49-F238E27FC236}">
                <a16:creationId xmlns:a16="http://schemas.microsoft.com/office/drawing/2014/main" id="{7CB2EFDD-5A76-9447-8EB8-10BFDB50A1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1963" y="3089275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0" name="Line 8">
            <a:extLst>
              <a:ext uri="{FF2B5EF4-FFF2-40B4-BE49-F238E27FC236}">
                <a16:creationId xmlns:a16="http://schemas.microsoft.com/office/drawing/2014/main" id="{43D504C5-B422-4146-A7BC-E8A3B34616EC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4363" y="3089275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1" name="Line 9">
            <a:extLst>
              <a:ext uri="{FF2B5EF4-FFF2-40B4-BE49-F238E27FC236}">
                <a16:creationId xmlns:a16="http://schemas.microsoft.com/office/drawing/2014/main" id="{851F9300-FA64-9B4F-908F-7D7F2AB8FE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0563" y="369887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2" name="Arc 10">
            <a:extLst>
              <a:ext uri="{FF2B5EF4-FFF2-40B4-BE49-F238E27FC236}">
                <a16:creationId xmlns:a16="http://schemas.microsoft.com/office/drawing/2014/main" id="{AE24E947-51D7-FB4C-B08F-CFDEEB7B610C}"/>
              </a:ext>
            </a:extLst>
          </p:cNvPr>
          <p:cNvSpPr>
            <a:spLocks/>
          </p:cNvSpPr>
          <p:nvPr/>
        </p:nvSpPr>
        <p:spPr bwMode="auto">
          <a:xfrm rot="21532724" flipH="1">
            <a:off x="8031163" y="3087688"/>
            <a:ext cx="304800" cy="912812"/>
          </a:xfrm>
          <a:custGeom>
            <a:avLst/>
            <a:gdLst>
              <a:gd name="T0" fmla="*/ 2147483646 w 21600"/>
              <a:gd name="T1" fmla="*/ 2147483646 h 40970"/>
              <a:gd name="T2" fmla="*/ 2147483646 w 21600"/>
              <a:gd name="T3" fmla="*/ 0 h 40970"/>
              <a:gd name="T4" fmla="*/ 2147483646 w 21600"/>
              <a:gd name="T5" fmla="*/ 2147483646 h 40970"/>
              <a:gd name="T6" fmla="*/ 0 60000 65536"/>
              <a:gd name="T7" fmla="*/ 0 60000 65536"/>
              <a:gd name="T8" fmla="*/ 0 60000 65536"/>
              <a:gd name="T9" fmla="*/ 0 w 21600"/>
              <a:gd name="T10" fmla="*/ 0 h 40970"/>
              <a:gd name="T11" fmla="*/ 21600 w 21600"/>
              <a:gd name="T12" fmla="*/ 40970 h 409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0970" fill="none" extrusionOk="0">
                <a:moveTo>
                  <a:pt x="13412" y="40970"/>
                </a:moveTo>
                <a:cubicBezTo>
                  <a:pt x="5299" y="37647"/>
                  <a:pt x="0" y="29749"/>
                  <a:pt x="0" y="20982"/>
                </a:cubicBezTo>
                <a:cubicBezTo>
                  <a:pt x="-1" y="11028"/>
                  <a:pt x="6801" y="2363"/>
                  <a:pt x="16470" y="-1"/>
                </a:cubicBezTo>
              </a:path>
              <a:path w="21600" h="40970" stroke="0" extrusionOk="0">
                <a:moveTo>
                  <a:pt x="13412" y="40970"/>
                </a:moveTo>
                <a:cubicBezTo>
                  <a:pt x="5299" y="37647"/>
                  <a:pt x="0" y="29749"/>
                  <a:pt x="0" y="20982"/>
                </a:cubicBezTo>
                <a:cubicBezTo>
                  <a:pt x="-1" y="11028"/>
                  <a:pt x="6801" y="2363"/>
                  <a:pt x="16470" y="-1"/>
                </a:cubicBezTo>
                <a:lnTo>
                  <a:pt x="21600" y="20982"/>
                </a:lnTo>
                <a:lnTo>
                  <a:pt x="13412" y="4097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443" name="Arc 11">
            <a:extLst>
              <a:ext uri="{FF2B5EF4-FFF2-40B4-BE49-F238E27FC236}">
                <a16:creationId xmlns:a16="http://schemas.microsoft.com/office/drawing/2014/main" id="{2C442D28-A653-9349-8A19-D8D555CD3C63}"/>
              </a:ext>
            </a:extLst>
          </p:cNvPr>
          <p:cNvSpPr>
            <a:spLocks/>
          </p:cNvSpPr>
          <p:nvPr/>
        </p:nvSpPr>
        <p:spPr bwMode="auto">
          <a:xfrm rot="10843785" flipH="1">
            <a:off x="7800975" y="3089275"/>
            <a:ext cx="228600" cy="914400"/>
          </a:xfrm>
          <a:custGeom>
            <a:avLst/>
            <a:gdLst>
              <a:gd name="T0" fmla="*/ 2147483646 w 21600"/>
              <a:gd name="T1" fmla="*/ 2147483646 h 40401"/>
              <a:gd name="T2" fmla="*/ 2147483646 w 21600"/>
              <a:gd name="T3" fmla="*/ 0 h 40401"/>
              <a:gd name="T4" fmla="*/ 2147483646 w 21600"/>
              <a:gd name="T5" fmla="*/ 2147483646 h 40401"/>
              <a:gd name="T6" fmla="*/ 0 60000 65536"/>
              <a:gd name="T7" fmla="*/ 0 60000 65536"/>
              <a:gd name="T8" fmla="*/ 0 60000 65536"/>
              <a:gd name="T9" fmla="*/ 0 w 21600"/>
              <a:gd name="T10" fmla="*/ 0 h 40401"/>
              <a:gd name="T11" fmla="*/ 21600 w 21600"/>
              <a:gd name="T12" fmla="*/ 40401 h 4040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0401" fill="none" extrusionOk="0">
                <a:moveTo>
                  <a:pt x="13412" y="40401"/>
                </a:moveTo>
                <a:cubicBezTo>
                  <a:pt x="5299" y="37078"/>
                  <a:pt x="0" y="29180"/>
                  <a:pt x="0" y="20413"/>
                </a:cubicBezTo>
                <a:cubicBezTo>
                  <a:pt x="-1" y="11205"/>
                  <a:pt x="5836" y="3010"/>
                  <a:pt x="14537" y="0"/>
                </a:cubicBezTo>
              </a:path>
              <a:path w="21600" h="40401" stroke="0" extrusionOk="0">
                <a:moveTo>
                  <a:pt x="13412" y="40401"/>
                </a:moveTo>
                <a:cubicBezTo>
                  <a:pt x="5299" y="37078"/>
                  <a:pt x="0" y="29180"/>
                  <a:pt x="0" y="20413"/>
                </a:cubicBezTo>
                <a:cubicBezTo>
                  <a:pt x="-1" y="11205"/>
                  <a:pt x="5836" y="3010"/>
                  <a:pt x="14537" y="0"/>
                </a:cubicBezTo>
                <a:lnTo>
                  <a:pt x="21600" y="20413"/>
                </a:lnTo>
                <a:lnTo>
                  <a:pt x="13412" y="40401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444" name="Rectangle 12">
            <a:extLst>
              <a:ext uri="{FF2B5EF4-FFF2-40B4-BE49-F238E27FC236}">
                <a16:creationId xmlns:a16="http://schemas.microsoft.com/office/drawing/2014/main" id="{F84E87E5-C920-BA4F-BEF1-E1A40A05A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6000" y="549275"/>
            <a:ext cx="5788025" cy="4675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2.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有向图、弧（有向边）：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若图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任意两顶点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a,b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之间的关系为</a:t>
            </a:r>
            <a:r>
              <a:rPr kumimoji="0" lang="zh-CN" altLang="en-US" sz="2400">
                <a:solidFill>
                  <a:srgbClr val="C00000"/>
                </a:solidFill>
                <a:latin typeface="宋体" panose="02010600030101010101" pitchFamily="2" charset="-122"/>
              </a:rPr>
              <a:t>有序对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&lt;a,b&gt;,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即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&lt;a,b&gt;∈VR,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&lt;a,b&gt;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为从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到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的一条弧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/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有向边；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其中：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&lt;a,b&gt;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的弧尾，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&lt;a,b&gt;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的弧头；</a:t>
            </a:r>
          </a:p>
          <a:p>
            <a:pPr eaLnBrk="1" hangingPunct="1">
              <a:lnSpc>
                <a:spcPct val="120000"/>
              </a:lnSpc>
              <a:spcBef>
                <a:spcPts val="6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例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G1=(V1,E1),  V1={A,B,C,D,E}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E1={&lt;A,C&gt;,&lt;A,D&gt;,&lt;C,D&gt;,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&lt;B,E&gt;,&lt;E,B&gt;}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称该图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为有向图。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8445" name="Text Box 13">
            <a:extLst>
              <a:ext uri="{FF2B5EF4-FFF2-40B4-BE49-F238E27FC236}">
                <a16:creationId xmlns:a16="http://schemas.microsoft.com/office/drawing/2014/main" id="{EA0F1B63-DA0E-EF41-9F0E-C49D5E6D6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8213" y="4384675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灯片编号占位符 3">
            <a:extLst>
              <a:ext uri="{FF2B5EF4-FFF2-40B4-BE49-F238E27FC236}">
                <a16:creationId xmlns:a16="http://schemas.microsoft.com/office/drawing/2014/main" id="{4A379969-FFDD-CE49-ACF1-35EB7443E06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2E72207-3B95-6340-BFD6-2F3F444E3DFD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20482" name="Oval 2">
            <a:extLst>
              <a:ext uri="{FF2B5EF4-FFF2-40B4-BE49-F238E27FC236}">
                <a16:creationId xmlns:a16="http://schemas.microsoft.com/office/drawing/2014/main" id="{96E5B6AE-F33F-884D-B800-15AAED4CB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22050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483" name="Oval 3">
            <a:extLst>
              <a:ext uri="{FF2B5EF4-FFF2-40B4-BE49-F238E27FC236}">
                <a16:creationId xmlns:a16="http://schemas.microsoft.com/office/drawing/2014/main" id="{BCF6CFE1-7BB0-B645-8F03-51E84E5E8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3225" y="22050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484" name="Oval 4">
            <a:extLst>
              <a:ext uri="{FF2B5EF4-FFF2-40B4-BE49-F238E27FC236}">
                <a16:creationId xmlns:a16="http://schemas.microsoft.com/office/drawing/2014/main" id="{30BC075E-D6A2-7043-B3D3-C8FDAD404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35004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485" name="Oval 5">
            <a:extLst>
              <a:ext uri="{FF2B5EF4-FFF2-40B4-BE49-F238E27FC236}">
                <a16:creationId xmlns:a16="http://schemas.microsoft.com/office/drawing/2014/main" id="{C8328621-A9CD-644E-8A8D-43D425533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0825" y="35004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486" name="Oval 6">
            <a:extLst>
              <a:ext uri="{FF2B5EF4-FFF2-40B4-BE49-F238E27FC236}">
                <a16:creationId xmlns:a16="http://schemas.microsoft.com/office/drawing/2014/main" id="{EF849DF5-FC75-A447-9965-946451433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3625" y="2890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487" name="Line 7">
            <a:extLst>
              <a:ext uri="{FF2B5EF4-FFF2-40B4-BE49-F238E27FC236}">
                <a16:creationId xmlns:a16="http://schemas.microsoft.com/office/drawing/2014/main" id="{37FC4F0A-6018-C64C-9C96-2BE947BC627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56425" y="2586038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8" name="Line 8">
            <a:extLst>
              <a:ext uri="{FF2B5EF4-FFF2-40B4-BE49-F238E27FC236}">
                <a16:creationId xmlns:a16="http://schemas.microsoft.com/office/drawing/2014/main" id="{BA82256E-BB38-8147-96B5-4F29815F96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8825" y="258603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9" name="Line 9">
            <a:extLst>
              <a:ext uri="{FF2B5EF4-FFF2-40B4-BE49-F238E27FC236}">
                <a16:creationId xmlns:a16="http://schemas.microsoft.com/office/drawing/2014/main" id="{C839E46A-67D6-6E41-A0B9-8C31E9526B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85025" y="319563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0" name="Text Box 10">
            <a:extLst>
              <a:ext uri="{FF2B5EF4-FFF2-40B4-BE49-F238E27FC236}">
                <a16:creationId xmlns:a16="http://schemas.microsoft.com/office/drawing/2014/main" id="{0799E9B7-6E1A-5B40-BEC7-AB4299537F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2675" y="4017963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491" name="Oval 12">
            <a:extLst>
              <a:ext uri="{FF2B5EF4-FFF2-40B4-BE49-F238E27FC236}">
                <a16:creationId xmlns:a16="http://schemas.microsoft.com/office/drawing/2014/main" id="{0C135318-6748-1B4C-9208-5194387B5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4225" y="2890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492" name="Line 13">
            <a:extLst>
              <a:ext uri="{FF2B5EF4-FFF2-40B4-BE49-F238E27FC236}">
                <a16:creationId xmlns:a16="http://schemas.microsoft.com/office/drawing/2014/main" id="{A7F76EC3-E64F-724F-B463-00F0D054E9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75625" y="3195638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3" name="Text Box 14">
            <a:extLst>
              <a:ext uri="{FF2B5EF4-FFF2-40B4-BE49-F238E27FC236}">
                <a16:creationId xmlns:a16="http://schemas.microsoft.com/office/drawing/2014/main" id="{2646EE9F-D7CD-9C4D-BD9F-D66C7FA2BF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692150"/>
            <a:ext cx="6696075" cy="4278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3.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无向图、边（无向边）：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若图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的任意两顶点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a,b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之间的关系为无序对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(a,b),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(a,b)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为无向边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边）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称该图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是无向图。 无向图可简称为图。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(a,b)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表示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互为邻接点，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(a,b)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依附于顶点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和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b, (a,b)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与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和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相关联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例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G2=(V2,E2),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V2={v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},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E2={(v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 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),(v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 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),(v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 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),(v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 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)}</a:t>
            </a:r>
            <a:endParaRPr lang="en-US" altLang="zh-CN" sz="2400">
              <a:latin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灯片编号占位符 3">
            <a:extLst>
              <a:ext uri="{FF2B5EF4-FFF2-40B4-BE49-F238E27FC236}">
                <a16:creationId xmlns:a16="http://schemas.microsoft.com/office/drawing/2014/main" id="{71ABA08E-DAE4-DE4E-8156-730778B1748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97240FF-A6E7-034F-96AE-F5E88B8C2B4B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22530" name="Oval 2">
            <a:extLst>
              <a:ext uri="{FF2B5EF4-FFF2-40B4-BE49-F238E27FC236}">
                <a16:creationId xmlns:a16="http://schemas.microsoft.com/office/drawing/2014/main" id="{C389545D-CE80-0B47-82E4-DF5ACEE4B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6488" y="18907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31" name="Oval 3">
            <a:extLst>
              <a:ext uri="{FF2B5EF4-FFF2-40B4-BE49-F238E27FC236}">
                <a16:creationId xmlns:a16="http://schemas.microsoft.com/office/drawing/2014/main" id="{79B5AB4B-EA45-8E4C-8A38-74FA1B9BB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4288" y="18907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32" name="Oval 4">
            <a:extLst>
              <a:ext uri="{FF2B5EF4-FFF2-40B4-BE49-F238E27FC236}">
                <a16:creationId xmlns:a16="http://schemas.microsoft.com/office/drawing/2014/main" id="{5DD2AAB6-8A6E-A740-B052-650C07171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5488" y="25003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33" name="Oval 5">
            <a:extLst>
              <a:ext uri="{FF2B5EF4-FFF2-40B4-BE49-F238E27FC236}">
                <a16:creationId xmlns:a16="http://schemas.microsoft.com/office/drawing/2014/main" id="{0A0A6CA3-25E1-D04B-ABDB-C07B94308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4288" y="27289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34" name="Oval 6">
            <a:extLst>
              <a:ext uri="{FF2B5EF4-FFF2-40B4-BE49-F238E27FC236}">
                <a16:creationId xmlns:a16="http://schemas.microsoft.com/office/drawing/2014/main" id="{18DB5B64-DE54-EC40-A747-0CE27C666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488" y="25003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GB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</a:p>
        </p:txBody>
      </p:sp>
      <p:sp>
        <p:nvSpPr>
          <p:cNvPr id="22535" name="Text Box 7">
            <a:extLst>
              <a:ext uri="{FF2B5EF4-FFF2-40B4-BE49-F238E27FC236}">
                <a16:creationId xmlns:a16="http://schemas.microsoft.com/office/drawing/2014/main" id="{C7D2EFDB-D946-FC4B-A734-ED0220D37C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088" y="3398838"/>
            <a:ext cx="75136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       G2           G3             G4               G5 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36" name="Oval 8">
            <a:extLst>
              <a:ext uri="{FF2B5EF4-FFF2-40B4-BE49-F238E27FC236}">
                <a16:creationId xmlns:a16="http://schemas.microsoft.com/office/drawing/2014/main" id="{A080F032-E43B-3644-A7FE-B20AE3D42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88" y="18907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37" name="Oval 9">
            <a:extLst>
              <a:ext uri="{FF2B5EF4-FFF2-40B4-BE49-F238E27FC236}">
                <a16:creationId xmlns:a16="http://schemas.microsoft.com/office/drawing/2014/main" id="{5F66A58B-9AF8-BA43-ADC9-49AC612F5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8" y="18907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38" name="Oval 10">
            <a:extLst>
              <a:ext uri="{FF2B5EF4-FFF2-40B4-BE49-F238E27FC236}">
                <a16:creationId xmlns:a16="http://schemas.microsoft.com/office/drawing/2014/main" id="{55F7EAD5-CDF0-5647-86C2-F99191A6E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0088" y="18907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39" name="Oval 11">
            <a:extLst>
              <a:ext uri="{FF2B5EF4-FFF2-40B4-BE49-F238E27FC236}">
                <a16:creationId xmlns:a16="http://schemas.microsoft.com/office/drawing/2014/main" id="{4EF10120-9458-FF4B-9834-6C12EC80D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0088" y="25765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40" name="Line 12">
            <a:extLst>
              <a:ext uri="{FF2B5EF4-FFF2-40B4-BE49-F238E27FC236}">
                <a16:creationId xmlns:a16="http://schemas.microsoft.com/office/drawing/2014/main" id="{7E373A3D-8EC6-F045-BF9C-2564C860AC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122488" y="22717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1" name="Line 13">
            <a:extLst>
              <a:ext uri="{FF2B5EF4-FFF2-40B4-BE49-F238E27FC236}">
                <a16:creationId xmlns:a16="http://schemas.microsoft.com/office/drawing/2014/main" id="{6073C52E-1946-774A-B438-D203BBA4B7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0288" y="2271713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2" name="Line 14">
            <a:extLst>
              <a:ext uri="{FF2B5EF4-FFF2-40B4-BE49-F238E27FC236}">
                <a16:creationId xmlns:a16="http://schemas.microsoft.com/office/drawing/2014/main" id="{AE439A91-17B7-704E-A00B-D62077C8946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75088" y="2271713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3" name="Line 15">
            <a:extLst>
              <a:ext uri="{FF2B5EF4-FFF2-40B4-BE49-F238E27FC236}">
                <a16:creationId xmlns:a16="http://schemas.microsoft.com/office/drawing/2014/main" id="{239191C8-75C7-9B48-A7DB-50F1C478E0C2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6488" y="2728913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4" name="Oval 16">
            <a:extLst>
              <a:ext uri="{FF2B5EF4-FFF2-40B4-BE49-F238E27FC236}">
                <a16:creationId xmlns:a16="http://schemas.microsoft.com/office/drawing/2014/main" id="{DCBE9081-CC11-7546-AE05-F8894E05B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88" y="27289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45" name="Line 17">
            <a:extLst>
              <a:ext uri="{FF2B5EF4-FFF2-40B4-BE49-F238E27FC236}">
                <a16:creationId xmlns:a16="http://schemas.microsoft.com/office/drawing/2014/main" id="{ED9ABE61-49D9-7D4C-ACD5-ECBAD6508F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5288" y="204311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6" name="Line 18">
            <a:extLst>
              <a:ext uri="{FF2B5EF4-FFF2-40B4-BE49-F238E27FC236}">
                <a16:creationId xmlns:a16="http://schemas.microsoft.com/office/drawing/2014/main" id="{1DAFE9AF-7750-DC4D-A721-F3621AC2B9AE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6688" y="2271713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7" name="Line 19">
            <a:extLst>
              <a:ext uri="{FF2B5EF4-FFF2-40B4-BE49-F238E27FC236}">
                <a16:creationId xmlns:a16="http://schemas.microsoft.com/office/drawing/2014/main" id="{E9006251-9A3A-3943-9942-04701B131AD1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5288" y="295751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8" name="Line 20">
            <a:extLst>
              <a:ext uri="{FF2B5EF4-FFF2-40B4-BE49-F238E27FC236}">
                <a16:creationId xmlns:a16="http://schemas.microsoft.com/office/drawing/2014/main" id="{A005A864-A893-A046-86EE-7DA25E08F99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7288" y="2271713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9" name="Line 21">
            <a:extLst>
              <a:ext uri="{FF2B5EF4-FFF2-40B4-BE49-F238E27FC236}">
                <a16:creationId xmlns:a16="http://schemas.microsoft.com/office/drawing/2014/main" id="{70CCEB44-1E7C-1D45-A31F-CCC63538145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5288" y="2195513"/>
            <a:ext cx="6096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0" name="Line 22">
            <a:extLst>
              <a:ext uri="{FF2B5EF4-FFF2-40B4-BE49-F238E27FC236}">
                <a16:creationId xmlns:a16="http://schemas.microsoft.com/office/drawing/2014/main" id="{12251801-51A7-4D4C-9721-EAACBBFA12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99088" y="2271713"/>
            <a:ext cx="6858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1" name="Oval 23">
            <a:extLst>
              <a:ext uri="{FF2B5EF4-FFF2-40B4-BE49-F238E27FC236}">
                <a16:creationId xmlns:a16="http://schemas.microsoft.com/office/drawing/2014/main" id="{4EAB3D4D-44D1-B04D-883C-22197884D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7888" y="16621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52" name="Oval 24">
            <a:extLst>
              <a:ext uri="{FF2B5EF4-FFF2-40B4-BE49-F238E27FC236}">
                <a16:creationId xmlns:a16="http://schemas.microsoft.com/office/drawing/2014/main" id="{5A1DB926-9D40-9741-812C-C032F6F21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9288" y="25003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53" name="Oval 25">
            <a:extLst>
              <a:ext uri="{FF2B5EF4-FFF2-40B4-BE49-F238E27FC236}">
                <a16:creationId xmlns:a16="http://schemas.microsoft.com/office/drawing/2014/main" id="{11CFE5D7-AE44-DF43-9534-81569164D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6088" y="16621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54" name="Oval 26">
            <a:extLst>
              <a:ext uri="{FF2B5EF4-FFF2-40B4-BE49-F238E27FC236}">
                <a16:creationId xmlns:a16="http://schemas.microsoft.com/office/drawing/2014/main" id="{3E47B8C9-BB7D-9646-8708-C34FB515D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94688" y="25003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55" name="Oval 27">
            <a:extLst>
              <a:ext uri="{FF2B5EF4-FFF2-40B4-BE49-F238E27FC236}">
                <a16:creationId xmlns:a16="http://schemas.microsoft.com/office/drawing/2014/main" id="{D61258B3-845A-294B-888E-ABC6D618F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088" y="29575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56" name="Line 28">
            <a:extLst>
              <a:ext uri="{FF2B5EF4-FFF2-40B4-BE49-F238E27FC236}">
                <a16:creationId xmlns:a16="http://schemas.microsoft.com/office/drawing/2014/main" id="{0084AFF5-C25F-5448-8453-D4E00C54C0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8145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7" name="Line 29">
            <a:extLst>
              <a:ext uri="{FF2B5EF4-FFF2-40B4-BE49-F238E27FC236}">
                <a16:creationId xmlns:a16="http://schemas.microsoft.com/office/drawing/2014/main" id="{57576EF9-EE90-DF44-83A2-391C495E93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27888" y="2043113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8" name="Line 30">
            <a:extLst>
              <a:ext uri="{FF2B5EF4-FFF2-40B4-BE49-F238E27FC236}">
                <a16:creationId xmlns:a16="http://schemas.microsoft.com/office/drawing/2014/main" id="{2A0BD40E-09FE-EC47-924D-13D3A2C4F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0288" y="2805113"/>
            <a:ext cx="3048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9" name="Line 31">
            <a:extLst>
              <a:ext uri="{FF2B5EF4-FFF2-40B4-BE49-F238E27FC236}">
                <a16:creationId xmlns:a16="http://schemas.microsoft.com/office/drawing/2014/main" id="{15D6FEC2-A321-8C4B-AE71-80A48C3CE7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66088" y="2805113"/>
            <a:ext cx="2286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0" name="Line 32">
            <a:extLst>
              <a:ext uri="{FF2B5EF4-FFF2-40B4-BE49-F238E27FC236}">
                <a16:creationId xmlns:a16="http://schemas.microsoft.com/office/drawing/2014/main" id="{13B8EE4D-0FB2-D545-BE24-9B868C301C1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94688" y="2043113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1" name="Line 33">
            <a:extLst>
              <a:ext uri="{FF2B5EF4-FFF2-40B4-BE49-F238E27FC236}">
                <a16:creationId xmlns:a16="http://schemas.microsoft.com/office/drawing/2014/main" id="{FDA3A8D0-49A7-5847-8B36-DA1EC81A6BA8}"/>
              </a:ext>
            </a:extLst>
          </p:cNvPr>
          <p:cNvSpPr>
            <a:spLocks noChangeShapeType="1"/>
          </p:cNvSpPr>
          <p:nvPr/>
        </p:nvSpPr>
        <p:spPr bwMode="auto">
          <a:xfrm>
            <a:off x="7532688" y="2043113"/>
            <a:ext cx="3048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2" name="Line 34">
            <a:extLst>
              <a:ext uri="{FF2B5EF4-FFF2-40B4-BE49-F238E27FC236}">
                <a16:creationId xmlns:a16="http://schemas.microsoft.com/office/drawing/2014/main" id="{DAF132B3-EDA2-0C40-8636-486A9A4723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13688" y="2043113"/>
            <a:ext cx="3048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3" name="Line 35">
            <a:extLst>
              <a:ext uri="{FF2B5EF4-FFF2-40B4-BE49-F238E27FC236}">
                <a16:creationId xmlns:a16="http://schemas.microsoft.com/office/drawing/2014/main" id="{8DAB010E-F74C-0B4D-A6D4-8F345599D81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0288" y="2652713"/>
            <a:ext cx="914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4" name="Line 36">
            <a:extLst>
              <a:ext uri="{FF2B5EF4-FFF2-40B4-BE49-F238E27FC236}">
                <a16:creationId xmlns:a16="http://schemas.microsoft.com/office/drawing/2014/main" id="{EFC6116C-33BB-444A-A4B7-73D13C07464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80288" y="1966913"/>
            <a:ext cx="762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5" name="Line 37">
            <a:extLst>
              <a:ext uri="{FF2B5EF4-FFF2-40B4-BE49-F238E27FC236}">
                <a16:creationId xmlns:a16="http://schemas.microsoft.com/office/drawing/2014/main" id="{4D1FEC80-EA0E-F646-A1B2-1E489D8DB99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966913"/>
            <a:ext cx="762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6" name="Rectangle 38">
            <a:extLst>
              <a:ext uri="{FF2B5EF4-FFF2-40B4-BE49-F238E27FC236}">
                <a16:creationId xmlns:a16="http://schemas.microsoft.com/office/drawing/2014/main" id="{65E769F1-560A-E441-A92E-B21939848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3" y="549275"/>
            <a:ext cx="5608637" cy="928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buClrTx/>
              <a:buSzTx/>
              <a:buFontTx/>
              <a:buNone/>
            </a:pP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.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完全图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: </a:t>
            </a:r>
          </a:p>
          <a:p>
            <a:pPr eaLnBrk="1" hangingPunct="1">
              <a:lnSpc>
                <a:spcPct val="110000"/>
              </a:lnSpc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有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个顶点和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n(n-1)/2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条边的</a:t>
            </a:r>
            <a:r>
              <a:rPr kumimoji="0" lang="zh-CN" altLang="en-US" sz="2400">
                <a:solidFill>
                  <a:srgbClr val="C00000"/>
                </a:solidFill>
                <a:latin typeface="宋体" panose="02010600030101010101" pitchFamily="2" charset="-122"/>
              </a:rPr>
              <a:t>无向图</a:t>
            </a:r>
            <a:endParaRPr kumimoji="0" lang="zh-CN" altLang="zh-CN" sz="2400" noProof="1">
              <a:solidFill>
                <a:srgbClr val="C00000"/>
              </a:solidFill>
              <a:latin typeface="宋体" panose="02010600030101010101" pitchFamily="2" charset="-122"/>
            </a:endParaRPr>
          </a:p>
        </p:txBody>
      </p:sp>
      <p:sp>
        <p:nvSpPr>
          <p:cNvPr id="22567" name="Text Box 39">
            <a:extLst>
              <a:ext uri="{FF2B5EF4-FFF2-40B4-BE49-F238E27FC236}">
                <a16:creationId xmlns:a16="http://schemas.microsoft.com/office/drawing/2014/main" id="{337684E2-3351-FA46-B20F-D2139FF528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3944938"/>
            <a:ext cx="13112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e=1(1-1)/2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=0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68" name="Text Box 40">
            <a:extLst>
              <a:ext uri="{FF2B5EF4-FFF2-40B4-BE49-F238E27FC236}">
                <a16:creationId xmlns:a16="http://schemas.microsoft.com/office/drawing/2014/main" id="{EA8BD49D-265A-6F49-A7ED-F9E0190C42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0413" y="3948113"/>
            <a:ext cx="13112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e=2(2-1)/2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=1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69" name="Text Box 41">
            <a:extLst>
              <a:ext uri="{FF2B5EF4-FFF2-40B4-BE49-F238E27FC236}">
                <a16:creationId xmlns:a16="http://schemas.microsoft.com/office/drawing/2014/main" id="{9217D5AC-1325-0440-88C4-6C3D67CC30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4413" y="3948113"/>
            <a:ext cx="13112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e=3(3-1)/2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=3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70" name="Text Box 42">
            <a:extLst>
              <a:ext uri="{FF2B5EF4-FFF2-40B4-BE49-F238E27FC236}">
                <a16:creationId xmlns:a16="http://schemas.microsoft.com/office/drawing/2014/main" id="{927F3470-D84E-264B-A9B5-B04DD0EE1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7013" y="3948113"/>
            <a:ext cx="13112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e=4(4-1)/2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=6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571" name="Text Box 43">
            <a:extLst>
              <a:ext uri="{FF2B5EF4-FFF2-40B4-BE49-F238E27FC236}">
                <a16:creationId xmlns:a16="http://schemas.microsoft.com/office/drawing/2014/main" id="{C98678A6-2CBE-5A48-A42E-C85F579F71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8213" y="3948113"/>
            <a:ext cx="13112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e=5(5-1)/2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=10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灯片编号占位符 3">
            <a:extLst>
              <a:ext uri="{FF2B5EF4-FFF2-40B4-BE49-F238E27FC236}">
                <a16:creationId xmlns:a16="http://schemas.microsoft.com/office/drawing/2014/main" id="{B576F690-2A91-0040-8B5E-B30FDE648D1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D24B6A9-F1F9-A547-936F-1A0860A2AB9B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54627" name="Rectangle 3">
            <a:extLst>
              <a:ext uri="{FF2B5EF4-FFF2-40B4-BE49-F238E27FC236}">
                <a16:creationId xmlns:a16="http://schemas.microsoft.com/office/drawing/2014/main" id="{9BFFA156-9EDF-0D4A-A94F-DB53A7E65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575" y="3284538"/>
            <a:ext cx="8229600" cy="54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. 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网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(Network): </a:t>
            </a:r>
            <a:r>
              <a:rPr kumimoji="0" lang="zh-CN" altLang="en-US" sz="2800">
                <a:solidFill>
                  <a:srgbClr val="C00000"/>
                </a:solidFill>
                <a:latin typeface="宋体" panose="02010600030101010101" pitchFamily="2" charset="-122"/>
              </a:rPr>
              <a:t>边</a:t>
            </a:r>
            <a:r>
              <a:rPr kumimoji="0" lang="en-US" altLang="zh-CN" sz="2800">
                <a:solidFill>
                  <a:srgbClr val="C00000"/>
                </a:solidFill>
                <a:latin typeface="宋体" panose="02010600030101010101" pitchFamily="2" charset="-122"/>
              </a:rPr>
              <a:t>(</a:t>
            </a:r>
            <a:r>
              <a:rPr kumimoji="0" lang="zh-CN" altLang="en-US" sz="2800">
                <a:solidFill>
                  <a:srgbClr val="C00000"/>
                </a:solidFill>
                <a:latin typeface="宋体" panose="02010600030101010101" pitchFamily="2" charset="-122"/>
              </a:rPr>
              <a:t>弧</a:t>
            </a:r>
            <a:r>
              <a:rPr kumimoji="0" lang="en-US" altLang="zh-CN" sz="2800">
                <a:solidFill>
                  <a:srgbClr val="C00000"/>
                </a:solidFill>
                <a:latin typeface="宋体" panose="02010600030101010101" pitchFamily="2" charset="-122"/>
              </a:rPr>
              <a:t>)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上加权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(weight)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的图。</a:t>
            </a:r>
          </a:p>
        </p:txBody>
      </p:sp>
      <p:sp>
        <p:nvSpPr>
          <p:cNvPr id="24579" name="Oval 4">
            <a:extLst>
              <a:ext uri="{FF2B5EF4-FFF2-40B4-BE49-F238E27FC236}">
                <a16:creationId xmlns:a16="http://schemas.microsoft.com/office/drawing/2014/main" id="{B4D67E72-3DE9-3849-B288-226E4C48C9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4388" y="10128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580" name="Oval 5">
            <a:extLst>
              <a:ext uri="{FF2B5EF4-FFF2-40B4-BE49-F238E27FC236}">
                <a16:creationId xmlns:a16="http://schemas.microsoft.com/office/drawing/2014/main" id="{59387D41-9653-7247-AB8F-BD8D01C91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7188" y="18510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581" name="Oval 6">
            <a:extLst>
              <a:ext uri="{FF2B5EF4-FFF2-40B4-BE49-F238E27FC236}">
                <a16:creationId xmlns:a16="http://schemas.microsoft.com/office/drawing/2014/main" id="{1806546C-C201-8C46-AEEF-9FBE50ADD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588" y="18510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582" name="Text Box 7">
            <a:extLst>
              <a:ext uri="{FF2B5EF4-FFF2-40B4-BE49-F238E27FC236}">
                <a16:creationId xmlns:a16="http://schemas.microsoft.com/office/drawing/2014/main" id="{7D431EE9-7670-DC45-BFDA-F2991658D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65388" y="2308225"/>
            <a:ext cx="39131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        G2               G3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583" name="Oval 8">
            <a:extLst>
              <a:ext uri="{FF2B5EF4-FFF2-40B4-BE49-F238E27FC236}">
                <a16:creationId xmlns:a16="http://schemas.microsoft.com/office/drawing/2014/main" id="{70B4B38B-D169-3B4A-85BF-A467DE44D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9188" y="10287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584" name="Oval 9">
            <a:extLst>
              <a:ext uri="{FF2B5EF4-FFF2-40B4-BE49-F238E27FC236}">
                <a16:creationId xmlns:a16="http://schemas.microsoft.com/office/drawing/2014/main" id="{C5938797-6CAF-A146-A670-C71374B99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0788" y="10287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585" name="Oval 10">
            <a:extLst>
              <a:ext uri="{FF2B5EF4-FFF2-40B4-BE49-F238E27FC236}">
                <a16:creationId xmlns:a16="http://schemas.microsoft.com/office/drawing/2014/main" id="{821DB760-E29A-9746-8A0C-B67F544EE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0788" y="19431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586" name="Line 11">
            <a:extLst>
              <a:ext uri="{FF2B5EF4-FFF2-40B4-BE49-F238E27FC236}">
                <a16:creationId xmlns:a16="http://schemas.microsoft.com/office/drawing/2014/main" id="{9F41499B-6547-094C-BF62-33C8C037E2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65788" y="1393825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7" name="Line 12">
            <a:extLst>
              <a:ext uri="{FF2B5EF4-FFF2-40B4-BE49-F238E27FC236}">
                <a16:creationId xmlns:a16="http://schemas.microsoft.com/office/drawing/2014/main" id="{993B852A-5961-E747-AC9E-947FAC5A816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988" y="1393825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8" name="Line 13">
            <a:extLst>
              <a:ext uri="{FF2B5EF4-FFF2-40B4-BE49-F238E27FC236}">
                <a16:creationId xmlns:a16="http://schemas.microsoft.com/office/drawing/2014/main" id="{A33C89AC-D715-2644-BA55-A513868362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8188" y="2001838"/>
            <a:ext cx="533400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9" name="Arc 14">
            <a:extLst>
              <a:ext uri="{FF2B5EF4-FFF2-40B4-BE49-F238E27FC236}">
                <a16:creationId xmlns:a16="http://schemas.microsoft.com/office/drawing/2014/main" id="{37E3EDE4-FF3C-7642-975B-3A80A722EDE8}"/>
              </a:ext>
            </a:extLst>
          </p:cNvPr>
          <p:cNvSpPr>
            <a:spLocks/>
          </p:cNvSpPr>
          <p:nvPr/>
        </p:nvSpPr>
        <p:spPr bwMode="auto">
          <a:xfrm flipH="1">
            <a:off x="3760788" y="1409700"/>
            <a:ext cx="152400" cy="533400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4590" name="Arc 15">
            <a:extLst>
              <a:ext uri="{FF2B5EF4-FFF2-40B4-BE49-F238E27FC236}">
                <a16:creationId xmlns:a16="http://schemas.microsoft.com/office/drawing/2014/main" id="{77111E72-D942-444F-8BAD-63CDAD8E824B}"/>
              </a:ext>
            </a:extLst>
          </p:cNvPr>
          <p:cNvSpPr>
            <a:spLocks/>
          </p:cNvSpPr>
          <p:nvPr/>
        </p:nvSpPr>
        <p:spPr bwMode="auto">
          <a:xfrm rot="10718966" flipH="1">
            <a:off x="3989388" y="1409700"/>
            <a:ext cx="152400" cy="533400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4591" name="Arc 16">
            <a:extLst>
              <a:ext uri="{FF2B5EF4-FFF2-40B4-BE49-F238E27FC236}">
                <a16:creationId xmlns:a16="http://schemas.microsoft.com/office/drawing/2014/main" id="{1778EC9F-3DDC-3348-8FB6-00F001CA5D8B}"/>
              </a:ext>
            </a:extLst>
          </p:cNvPr>
          <p:cNvSpPr>
            <a:spLocks/>
          </p:cNvSpPr>
          <p:nvPr/>
        </p:nvSpPr>
        <p:spPr bwMode="auto">
          <a:xfrm flipH="1">
            <a:off x="5513388" y="1317625"/>
            <a:ext cx="457200" cy="6096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4592" name="Arc 17">
            <a:extLst>
              <a:ext uri="{FF2B5EF4-FFF2-40B4-BE49-F238E27FC236}">
                <a16:creationId xmlns:a16="http://schemas.microsoft.com/office/drawing/2014/main" id="{ED400225-ABA4-7148-BB87-25D4E06EC1FB}"/>
              </a:ext>
            </a:extLst>
          </p:cNvPr>
          <p:cNvSpPr>
            <a:spLocks/>
          </p:cNvSpPr>
          <p:nvPr/>
        </p:nvSpPr>
        <p:spPr bwMode="auto">
          <a:xfrm>
            <a:off x="6275388" y="1241425"/>
            <a:ext cx="381000" cy="6096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4593" name="Arc 18">
            <a:extLst>
              <a:ext uri="{FF2B5EF4-FFF2-40B4-BE49-F238E27FC236}">
                <a16:creationId xmlns:a16="http://schemas.microsoft.com/office/drawing/2014/main" id="{726E1B7F-1FD9-9749-8510-2EC381B2C11A}"/>
              </a:ext>
            </a:extLst>
          </p:cNvPr>
          <p:cNvSpPr>
            <a:spLocks/>
          </p:cNvSpPr>
          <p:nvPr/>
        </p:nvSpPr>
        <p:spPr bwMode="auto">
          <a:xfrm rot="7667245">
            <a:off x="5884863" y="1881188"/>
            <a:ext cx="458787" cy="541337"/>
          </a:xfrm>
          <a:custGeom>
            <a:avLst/>
            <a:gdLst>
              <a:gd name="T0" fmla="*/ 2147483646 w 21600"/>
              <a:gd name="T1" fmla="*/ 0 h 23907"/>
              <a:gd name="T2" fmla="*/ 2147483646 w 21600"/>
              <a:gd name="T3" fmla="*/ 2147483646 h 23907"/>
              <a:gd name="T4" fmla="*/ 0 w 21600"/>
              <a:gd name="T5" fmla="*/ 2147483646 h 23907"/>
              <a:gd name="T6" fmla="*/ 0 60000 65536"/>
              <a:gd name="T7" fmla="*/ 0 60000 65536"/>
              <a:gd name="T8" fmla="*/ 0 60000 65536"/>
              <a:gd name="T9" fmla="*/ 0 w 21600"/>
              <a:gd name="T10" fmla="*/ 0 h 23907"/>
              <a:gd name="T11" fmla="*/ 21600 w 21600"/>
              <a:gd name="T12" fmla="*/ 23907 h 2390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3907" fill="none" extrusionOk="0">
                <a:moveTo>
                  <a:pt x="2976" y="0"/>
                </a:moveTo>
                <a:cubicBezTo>
                  <a:pt x="13653" y="1485"/>
                  <a:pt x="21600" y="10614"/>
                  <a:pt x="21600" y="21394"/>
                </a:cubicBezTo>
                <a:cubicBezTo>
                  <a:pt x="21600" y="22233"/>
                  <a:pt x="21551" y="23072"/>
                  <a:pt x="21453" y="23907"/>
                </a:cubicBezTo>
              </a:path>
              <a:path w="21600" h="23907" stroke="0" extrusionOk="0">
                <a:moveTo>
                  <a:pt x="2976" y="0"/>
                </a:moveTo>
                <a:cubicBezTo>
                  <a:pt x="13653" y="1485"/>
                  <a:pt x="21600" y="10614"/>
                  <a:pt x="21600" y="21394"/>
                </a:cubicBezTo>
                <a:cubicBezTo>
                  <a:pt x="21600" y="22233"/>
                  <a:pt x="21551" y="23072"/>
                  <a:pt x="21453" y="23907"/>
                </a:cubicBezTo>
                <a:lnTo>
                  <a:pt x="0" y="21394"/>
                </a:lnTo>
                <a:lnTo>
                  <a:pt x="2976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54643" name="Oval 19">
            <a:extLst>
              <a:ext uri="{FF2B5EF4-FFF2-40B4-BE49-F238E27FC236}">
                <a16:creationId xmlns:a16="http://schemas.microsoft.com/office/drawing/2014/main" id="{188B78E9-84B5-3148-90E2-0B13B84F3C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6175" y="42370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44" name="Oval 20">
            <a:extLst>
              <a:ext uri="{FF2B5EF4-FFF2-40B4-BE49-F238E27FC236}">
                <a16:creationId xmlns:a16="http://schemas.microsoft.com/office/drawing/2014/main" id="{642DC505-AED5-1044-9390-43F05CB44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4922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45" name="Oval 21">
            <a:extLst>
              <a:ext uri="{FF2B5EF4-FFF2-40B4-BE49-F238E27FC236}">
                <a16:creationId xmlns:a16="http://schemas.microsoft.com/office/drawing/2014/main" id="{16915F80-AE1C-7047-B7D1-2D97D0D06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3375" y="4922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46" name="Text Box 22">
            <a:extLst>
              <a:ext uri="{FF2B5EF4-FFF2-40B4-BE49-F238E27FC236}">
                <a16:creationId xmlns:a16="http://schemas.microsoft.com/office/drawing/2014/main" id="{94DAF090-8EFC-8942-89B9-15BF5FB5C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9975" y="5532438"/>
            <a:ext cx="1208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无向网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47" name="Line 23">
            <a:extLst>
              <a:ext uri="{FF2B5EF4-FFF2-40B4-BE49-F238E27FC236}">
                <a16:creationId xmlns:a16="http://schemas.microsoft.com/office/drawing/2014/main" id="{B39602F1-DB34-1047-A3B3-EE8CCA905C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7575" y="461803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48" name="Line 24">
            <a:extLst>
              <a:ext uri="{FF2B5EF4-FFF2-40B4-BE49-F238E27FC236}">
                <a16:creationId xmlns:a16="http://schemas.microsoft.com/office/drawing/2014/main" id="{A12787B8-DB10-BB45-B9AE-42C5B85728AE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4775" y="461803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49" name="Line 25">
            <a:extLst>
              <a:ext uri="{FF2B5EF4-FFF2-40B4-BE49-F238E27FC236}">
                <a16:creationId xmlns:a16="http://schemas.microsoft.com/office/drawing/2014/main" id="{D9DF1DDC-729C-FB4B-B80F-0167611C99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3775" y="5151438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50" name="Oval 26">
            <a:extLst>
              <a:ext uri="{FF2B5EF4-FFF2-40B4-BE49-F238E27FC236}">
                <a16:creationId xmlns:a16="http://schemas.microsoft.com/office/drawing/2014/main" id="{64CA730E-F430-2F4C-AEC7-D545B4B31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7775" y="4922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51" name="Line 27">
            <a:extLst>
              <a:ext uri="{FF2B5EF4-FFF2-40B4-BE49-F238E27FC236}">
                <a16:creationId xmlns:a16="http://schemas.microsoft.com/office/drawing/2014/main" id="{075C837F-E807-BA45-AF57-2A3FAA5E27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254375" y="515143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52" name="Oval 28">
            <a:extLst>
              <a:ext uri="{FF2B5EF4-FFF2-40B4-BE49-F238E27FC236}">
                <a16:creationId xmlns:a16="http://schemas.microsoft.com/office/drawing/2014/main" id="{FBA8CE8D-452B-0347-9EED-3AF54A361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9975" y="39322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53" name="Oval 29">
            <a:extLst>
              <a:ext uri="{FF2B5EF4-FFF2-40B4-BE49-F238E27FC236}">
                <a16:creationId xmlns:a16="http://schemas.microsoft.com/office/drawing/2014/main" id="{378C4DFC-E1A2-0849-AA9F-A17BEC37D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4922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54" name="Arc 30">
            <a:extLst>
              <a:ext uri="{FF2B5EF4-FFF2-40B4-BE49-F238E27FC236}">
                <a16:creationId xmlns:a16="http://schemas.microsoft.com/office/drawing/2014/main" id="{B8B5215F-516C-B041-BED8-E16B38F60FE8}"/>
              </a:ext>
            </a:extLst>
          </p:cNvPr>
          <p:cNvSpPr>
            <a:spLocks/>
          </p:cNvSpPr>
          <p:nvPr/>
        </p:nvSpPr>
        <p:spPr bwMode="auto">
          <a:xfrm rot="1759631" flipH="1">
            <a:off x="5921375" y="4237038"/>
            <a:ext cx="152400" cy="685800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54655" name="Arc 31">
            <a:extLst>
              <a:ext uri="{FF2B5EF4-FFF2-40B4-BE49-F238E27FC236}">
                <a16:creationId xmlns:a16="http://schemas.microsoft.com/office/drawing/2014/main" id="{6B7A3142-FB24-4149-8944-0DA680604C42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6169025" y="4300538"/>
            <a:ext cx="117475" cy="769937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54656" name="Oval 32">
            <a:extLst>
              <a:ext uri="{FF2B5EF4-FFF2-40B4-BE49-F238E27FC236}">
                <a16:creationId xmlns:a16="http://schemas.microsoft.com/office/drawing/2014/main" id="{4C1829D1-F366-C346-97B2-CEAF1E43F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9575" y="4922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57" name="Text Box 33">
            <a:extLst>
              <a:ext uri="{FF2B5EF4-FFF2-40B4-BE49-F238E27FC236}">
                <a16:creationId xmlns:a16="http://schemas.microsoft.com/office/drawing/2014/main" id="{296C16B5-24B6-584D-BC65-67EA0C7FE6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97175" y="4618038"/>
            <a:ext cx="2286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58" name="Text Box 34">
            <a:extLst>
              <a:ext uri="{FF2B5EF4-FFF2-40B4-BE49-F238E27FC236}">
                <a16:creationId xmlns:a16="http://schemas.microsoft.com/office/drawing/2014/main" id="{351AE0C1-7654-AF4C-AC3B-AD21521880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6775" y="5167313"/>
            <a:ext cx="3048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59" name="Text Box 35">
            <a:extLst>
              <a:ext uri="{FF2B5EF4-FFF2-40B4-BE49-F238E27FC236}">
                <a16:creationId xmlns:a16="http://schemas.microsoft.com/office/drawing/2014/main" id="{9C8BF4F2-9826-C446-AA48-ECC8732FAF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7575" y="46339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60" name="Text Box 36">
            <a:extLst>
              <a:ext uri="{FF2B5EF4-FFF2-40B4-BE49-F238E27FC236}">
                <a16:creationId xmlns:a16="http://schemas.microsoft.com/office/drawing/2014/main" id="{B3E1EE77-A79E-224E-ACFA-38A0631FA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2375" y="51673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9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61" name="Line 37">
            <a:extLst>
              <a:ext uri="{FF2B5EF4-FFF2-40B4-BE49-F238E27FC236}">
                <a16:creationId xmlns:a16="http://schemas.microsoft.com/office/drawing/2014/main" id="{FAE7AAD3-5CBA-384F-9E3D-D8AD7FEC868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97575" y="5151438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62" name="Text Box 38">
            <a:extLst>
              <a:ext uri="{FF2B5EF4-FFF2-40B4-BE49-F238E27FC236}">
                <a16:creationId xmlns:a16="http://schemas.microsoft.com/office/drawing/2014/main" id="{D7BDB06E-CABD-214A-94E3-5A1F20B02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78575" y="51673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9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63" name="Text Box 39">
            <a:extLst>
              <a:ext uri="{FF2B5EF4-FFF2-40B4-BE49-F238E27FC236}">
                <a16:creationId xmlns:a16="http://schemas.microsoft.com/office/drawing/2014/main" id="{DDB2101E-0916-954F-8AEA-FB7DE4FE55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2375" y="46942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64" name="Text Box 40">
            <a:extLst>
              <a:ext uri="{FF2B5EF4-FFF2-40B4-BE49-F238E27FC236}">
                <a16:creationId xmlns:a16="http://schemas.microsoft.com/office/drawing/2014/main" id="{4B78D9F7-5E71-CF4C-BD71-5CC046AFD4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8975" y="43894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65" name="Text Box 41">
            <a:extLst>
              <a:ext uri="{FF2B5EF4-FFF2-40B4-BE49-F238E27FC236}">
                <a16:creationId xmlns:a16="http://schemas.microsoft.com/office/drawing/2014/main" id="{E56EF087-AF88-5040-9E7C-2926AE6B93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2775" y="5532438"/>
            <a:ext cx="1208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有向网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617" name="Text Box 42">
            <a:extLst>
              <a:ext uri="{FF2B5EF4-FFF2-40B4-BE49-F238E27FC236}">
                <a16:creationId xmlns:a16="http://schemas.microsoft.com/office/drawing/2014/main" id="{19774D74-AF7D-814A-A523-2AB4BBEE4A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2988" y="2819400"/>
            <a:ext cx="10064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e=1(1-1)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=0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618" name="Text Box 43">
            <a:extLst>
              <a:ext uri="{FF2B5EF4-FFF2-40B4-BE49-F238E27FC236}">
                <a16:creationId xmlns:a16="http://schemas.microsoft.com/office/drawing/2014/main" id="{93550B06-8FD0-D345-A394-9DAEBDC6D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8713" y="2819400"/>
            <a:ext cx="10064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e=2(2-1)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=2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619" name="Text Box 44">
            <a:extLst>
              <a:ext uri="{FF2B5EF4-FFF2-40B4-BE49-F238E27FC236}">
                <a16:creationId xmlns:a16="http://schemas.microsoft.com/office/drawing/2014/main" id="{755259C1-A025-A74E-BE4C-910FD445AF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9588" y="2819400"/>
            <a:ext cx="10064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e=3(3-1)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=6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620" name="Text Box 45">
            <a:extLst>
              <a:ext uri="{FF2B5EF4-FFF2-40B4-BE49-F238E27FC236}">
                <a16:creationId xmlns:a16="http://schemas.microsoft.com/office/drawing/2014/main" id="{62BC9C06-F981-0C43-B5B6-648288793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404813"/>
            <a:ext cx="82089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5. </a:t>
            </a:r>
            <a:r>
              <a:rPr lang="zh-CN" altLang="en-US" sz="2800">
                <a:solidFill>
                  <a:srgbClr val="C00000"/>
                </a:solidFill>
                <a:latin typeface="宋体" panose="02010600030101010101" pitchFamily="2" charset="-122"/>
              </a:rPr>
              <a:t>有向完全图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: 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有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个顶点和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n(n-1)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条弧的有向图。</a:t>
            </a:r>
            <a:endParaRPr lang="zh-CN" altLang="en-US" sz="280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154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154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154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154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154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154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154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154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154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154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7" dur="500"/>
                                        <p:tgtEl>
                                          <p:spTgt spid="154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0" dur="500"/>
                                        <p:tgtEl>
                                          <p:spTgt spid="154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154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154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9" dur="500"/>
                                        <p:tgtEl>
                                          <p:spTgt spid="154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2" dur="500"/>
                                        <p:tgtEl>
                                          <p:spTgt spid="154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154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154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1" dur="500"/>
                                        <p:tgtEl>
                                          <p:spTgt spid="154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4" dur="500"/>
                                        <p:tgtEl>
                                          <p:spTgt spid="154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7" dur="500"/>
                                        <p:tgtEl>
                                          <p:spTgt spid="154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0" dur="500"/>
                                        <p:tgtEl>
                                          <p:spTgt spid="154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3" dur="500"/>
                                        <p:tgtEl>
                                          <p:spTgt spid="154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6" dur="500"/>
                                        <p:tgtEl>
                                          <p:spTgt spid="154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627" grpId="0"/>
      <p:bldP spid="154643" grpId="0" animBg="1"/>
      <p:bldP spid="154644" grpId="0" animBg="1"/>
      <p:bldP spid="154645" grpId="0" animBg="1"/>
      <p:bldP spid="154646" grpId="0"/>
      <p:bldP spid="154650" grpId="0" animBg="1"/>
      <p:bldP spid="154652" grpId="0" animBg="1"/>
      <p:bldP spid="154653" grpId="0" animBg="1"/>
      <p:bldP spid="154656" grpId="0" animBg="1"/>
      <p:bldP spid="154657" grpId="0"/>
      <p:bldP spid="154658" grpId="0"/>
      <p:bldP spid="154659" grpId="0"/>
      <p:bldP spid="154660" grpId="0"/>
      <p:bldP spid="154662" grpId="0"/>
      <p:bldP spid="154663" grpId="0"/>
      <p:bldP spid="154664" grpId="0"/>
      <p:bldP spid="15466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灯片编号占位符 3">
            <a:extLst>
              <a:ext uri="{FF2B5EF4-FFF2-40B4-BE49-F238E27FC236}">
                <a16:creationId xmlns:a16="http://schemas.microsoft.com/office/drawing/2014/main" id="{22E20D4B-11D8-0049-9FDD-74201E392D1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6E8E943-638F-754D-B8F8-5E303EFC855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26626" name="Text Box 6">
            <a:extLst>
              <a:ext uri="{FF2B5EF4-FFF2-40B4-BE49-F238E27FC236}">
                <a16:creationId xmlns:a16="http://schemas.microsoft.com/office/drawing/2014/main" id="{F623965F-D521-CF43-A2CA-17E692A681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9250" y="3968750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6685" name="Text Box 13">
            <a:extLst>
              <a:ext uri="{FF2B5EF4-FFF2-40B4-BE49-F238E27FC236}">
                <a16:creationId xmlns:a16="http://schemas.microsoft.com/office/drawing/2014/main" id="{DE607525-59AD-9845-9174-F6D37AAF6E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6075" y="2743200"/>
            <a:ext cx="685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6689" name="Text Box 17">
            <a:extLst>
              <a:ext uri="{FF2B5EF4-FFF2-40B4-BE49-F238E27FC236}">
                <a16:creationId xmlns:a16="http://schemas.microsoft.com/office/drawing/2014/main" id="{3227E16E-9119-D341-B09A-EC3F0721E2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8213" y="2706688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6696" name="Text Box 24">
            <a:extLst>
              <a:ext uri="{FF2B5EF4-FFF2-40B4-BE49-F238E27FC236}">
                <a16:creationId xmlns:a16="http://schemas.microsoft.com/office/drawing/2014/main" id="{97DE1F45-42CC-E043-BF11-3DD849E89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3325" y="4699000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6701" name="Text Box 29">
            <a:extLst>
              <a:ext uri="{FF2B5EF4-FFF2-40B4-BE49-F238E27FC236}">
                <a16:creationId xmlns:a16="http://schemas.microsoft.com/office/drawing/2014/main" id="{72CF1FD6-1A89-E746-ADA2-FE7CBBE629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5625" y="4832350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6703" name="Rectangle 31">
            <a:extLst>
              <a:ext uri="{FF2B5EF4-FFF2-40B4-BE49-F238E27FC236}">
                <a16:creationId xmlns:a16="http://schemas.microsoft.com/office/drawing/2014/main" id="{DAF53351-DD53-B842-8245-E563A2090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5249863"/>
            <a:ext cx="50974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G1,G2,G3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的子图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G4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不是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的子图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632" name="Text Box 34">
            <a:extLst>
              <a:ext uri="{FF2B5EF4-FFF2-40B4-BE49-F238E27FC236}">
                <a16:creationId xmlns:a16="http://schemas.microsoft.com/office/drawing/2014/main" id="{E28212D3-34D5-FC48-9748-7B78ADCD47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" y="404813"/>
            <a:ext cx="7704138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7. 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子图：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对图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G=(V,E)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和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G'=(V',E')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，若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V'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  <a:sym typeface="Symbol" pitchFamily="2" charset="2"/>
              </a:rPr>
              <a:t>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且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E'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  <a:sym typeface="Symbol" pitchFamily="2" charset="2"/>
              </a:rPr>
              <a:t>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，则称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的一个子图  </a:t>
            </a:r>
            <a:endParaRPr lang="zh-CN" altLang="en-US" sz="2400">
              <a:latin typeface="宋体" panose="02010600030101010101" pitchFamily="2" charset="-122"/>
            </a:endParaRPr>
          </a:p>
        </p:txBody>
      </p:sp>
      <p:sp>
        <p:nvSpPr>
          <p:cNvPr id="35" name="Oval 19">
            <a:extLst>
              <a:ext uri="{FF2B5EF4-FFF2-40B4-BE49-F238E27FC236}">
                <a16:creationId xmlns:a16="http://schemas.microsoft.com/office/drawing/2014/main" id="{544618A5-6F21-EB4A-928C-1C05E873D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5075" y="2717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6" name="Oval 20">
            <a:extLst>
              <a:ext uri="{FF2B5EF4-FFF2-40B4-BE49-F238E27FC236}">
                <a16:creationId xmlns:a16="http://schemas.microsoft.com/office/drawing/2014/main" id="{B3E3F8A2-08FD-674B-978C-6F873574E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3403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" name="Oval 21">
            <a:extLst>
              <a:ext uri="{FF2B5EF4-FFF2-40B4-BE49-F238E27FC236}">
                <a16:creationId xmlns:a16="http://schemas.microsoft.com/office/drawing/2014/main" id="{E4F0674F-5594-E646-AF0B-7E8A31667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2275" y="3403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8" name="Line 23">
            <a:extLst>
              <a:ext uri="{FF2B5EF4-FFF2-40B4-BE49-F238E27FC236}">
                <a16:creationId xmlns:a16="http://schemas.microsoft.com/office/drawing/2014/main" id="{81500E9C-CF06-E742-8E4A-C1E67A7B37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06475" y="309880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Line 24">
            <a:extLst>
              <a:ext uri="{FF2B5EF4-FFF2-40B4-BE49-F238E27FC236}">
                <a16:creationId xmlns:a16="http://schemas.microsoft.com/office/drawing/2014/main" id="{A612BCE7-61F0-484F-BB36-97EB5890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1463675" y="309880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Line 25">
            <a:extLst>
              <a:ext uri="{FF2B5EF4-FFF2-40B4-BE49-F238E27FC236}">
                <a16:creationId xmlns:a16="http://schemas.microsoft.com/office/drawing/2014/main" id="{62D22DF0-C2B9-234F-907D-4D394554ABCF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2675" y="3632200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Oval 26">
            <a:extLst>
              <a:ext uri="{FF2B5EF4-FFF2-40B4-BE49-F238E27FC236}">
                <a16:creationId xmlns:a16="http://schemas.microsoft.com/office/drawing/2014/main" id="{09791498-A909-8F4B-9937-D814BE2C8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6675" y="3403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2" name="Line 27">
            <a:extLst>
              <a:ext uri="{FF2B5EF4-FFF2-40B4-BE49-F238E27FC236}">
                <a16:creationId xmlns:a16="http://schemas.microsoft.com/office/drawing/2014/main" id="{E0BDE6F5-986D-214E-BF18-9A1B110E1E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73275" y="363220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Oval 19">
            <a:extLst>
              <a:ext uri="{FF2B5EF4-FFF2-40B4-BE49-F238E27FC236}">
                <a16:creationId xmlns:a16="http://schemas.microsoft.com/office/drawing/2014/main" id="{FD8410B3-61FC-B34A-B39D-C9EA0BB41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5775" y="16287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8" name="Oval 20">
            <a:extLst>
              <a:ext uri="{FF2B5EF4-FFF2-40B4-BE49-F238E27FC236}">
                <a16:creationId xmlns:a16="http://schemas.microsoft.com/office/drawing/2014/main" id="{B9772A59-EDED-0F49-9FB1-A17692B4D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75" y="23145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9" name="Line 23">
            <a:extLst>
              <a:ext uri="{FF2B5EF4-FFF2-40B4-BE49-F238E27FC236}">
                <a16:creationId xmlns:a16="http://schemas.microsoft.com/office/drawing/2014/main" id="{072042FE-3F04-C940-AEA9-86B2999D384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67175" y="2009775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Oval 19">
            <a:extLst>
              <a:ext uri="{FF2B5EF4-FFF2-40B4-BE49-F238E27FC236}">
                <a16:creationId xmlns:a16="http://schemas.microsoft.com/office/drawing/2014/main" id="{B671D1B2-E5B1-EA4A-90AC-150FBFB4B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4188" y="1557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1" name="Oval 20">
            <a:extLst>
              <a:ext uri="{FF2B5EF4-FFF2-40B4-BE49-F238E27FC236}">
                <a16:creationId xmlns:a16="http://schemas.microsoft.com/office/drawing/2014/main" id="{5B5CD911-6B2A-C044-91E4-14D63BE59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0788" y="2243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2" name="Oval 21">
            <a:extLst>
              <a:ext uri="{FF2B5EF4-FFF2-40B4-BE49-F238E27FC236}">
                <a16:creationId xmlns:a16="http://schemas.microsoft.com/office/drawing/2014/main" id="{E2003E77-0DFD-2649-8EC0-8CDD8E474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1388" y="2243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5" name="Line 25">
            <a:extLst>
              <a:ext uri="{FF2B5EF4-FFF2-40B4-BE49-F238E27FC236}">
                <a16:creationId xmlns:a16="http://schemas.microsoft.com/office/drawing/2014/main" id="{18EDB9A4-12A2-2F46-B877-2D7B063F77A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1788" y="2471738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Oval 26">
            <a:extLst>
              <a:ext uri="{FF2B5EF4-FFF2-40B4-BE49-F238E27FC236}">
                <a16:creationId xmlns:a16="http://schemas.microsoft.com/office/drawing/2014/main" id="{C24BF58F-F6EB-7343-B4AE-D2B68896D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5788" y="2243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7" name="Line 27">
            <a:extLst>
              <a:ext uri="{FF2B5EF4-FFF2-40B4-BE49-F238E27FC236}">
                <a16:creationId xmlns:a16="http://schemas.microsoft.com/office/drawing/2014/main" id="{79D45AD8-E952-BD4F-A9DD-7334327FFF5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72388" y="247173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Oval 19">
            <a:extLst>
              <a:ext uri="{FF2B5EF4-FFF2-40B4-BE49-F238E27FC236}">
                <a16:creationId xmlns:a16="http://schemas.microsoft.com/office/drawing/2014/main" id="{963CBC8E-D3DB-A049-85E5-D0E21628A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5" y="3657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7" name="Oval 20">
            <a:extLst>
              <a:ext uri="{FF2B5EF4-FFF2-40B4-BE49-F238E27FC236}">
                <a16:creationId xmlns:a16="http://schemas.microsoft.com/office/drawing/2014/main" id="{D61A47E2-1087-304B-AE67-9142E560D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4343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8" name="Oval 21">
            <a:extLst>
              <a:ext uri="{FF2B5EF4-FFF2-40B4-BE49-F238E27FC236}">
                <a16:creationId xmlns:a16="http://schemas.microsoft.com/office/drawing/2014/main" id="{8FEF93D3-1969-0147-8556-355345164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0075" y="4343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2" name="Oval 26">
            <a:extLst>
              <a:ext uri="{FF2B5EF4-FFF2-40B4-BE49-F238E27FC236}">
                <a16:creationId xmlns:a16="http://schemas.microsoft.com/office/drawing/2014/main" id="{B848541E-9091-3247-9A74-857A2408D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4475" y="4343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4" name="Oval 19">
            <a:extLst>
              <a:ext uri="{FF2B5EF4-FFF2-40B4-BE49-F238E27FC236}">
                <a16:creationId xmlns:a16="http://schemas.microsoft.com/office/drawing/2014/main" id="{7192B0DA-203A-4746-9F7B-6C70D6E31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2963" y="3657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" name="Oval 20">
            <a:extLst>
              <a:ext uri="{FF2B5EF4-FFF2-40B4-BE49-F238E27FC236}">
                <a16:creationId xmlns:a16="http://schemas.microsoft.com/office/drawing/2014/main" id="{138C22FF-3899-8A42-AA92-5468BB926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4343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6" name="Oval 21">
            <a:extLst>
              <a:ext uri="{FF2B5EF4-FFF2-40B4-BE49-F238E27FC236}">
                <a16:creationId xmlns:a16="http://schemas.microsoft.com/office/drawing/2014/main" id="{D17D83AE-0508-ED4B-903E-9C087B5EF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50163" y="4343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8" name="Line 24">
            <a:extLst>
              <a:ext uri="{FF2B5EF4-FFF2-40B4-BE49-F238E27FC236}">
                <a16:creationId xmlns:a16="http://schemas.microsoft.com/office/drawing/2014/main" id="{8934FABB-7F2C-4D47-B961-F17EA770722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4750" y="3933825"/>
            <a:ext cx="1150938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Line 25">
            <a:extLst>
              <a:ext uri="{FF2B5EF4-FFF2-40B4-BE49-F238E27FC236}">
                <a16:creationId xmlns:a16="http://schemas.microsoft.com/office/drawing/2014/main" id="{6634AE36-58F8-5249-B3D8-8F2DE37C15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040563" y="4572000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Oval 26">
            <a:extLst>
              <a:ext uri="{FF2B5EF4-FFF2-40B4-BE49-F238E27FC236}">
                <a16:creationId xmlns:a16="http://schemas.microsoft.com/office/drawing/2014/main" id="{6FEA3C3E-7F23-9E46-AB77-AEC7765EC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4563" y="4343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" name="Line 27">
            <a:extLst>
              <a:ext uri="{FF2B5EF4-FFF2-40B4-BE49-F238E27FC236}">
                <a16:creationId xmlns:a16="http://schemas.microsoft.com/office/drawing/2014/main" id="{CE5350B9-A27A-2848-B02C-D8E41929199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1163" y="457200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156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156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156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156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5" dur="500"/>
                                        <p:tgtEl>
                                          <p:spTgt spid="156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685" grpId="0"/>
      <p:bldP spid="156689" grpId="0"/>
      <p:bldP spid="156696" grpId="0"/>
      <p:bldP spid="156701" grpId="0"/>
      <p:bldP spid="156703" grpId="0"/>
      <p:bldP spid="35" grpId="0" animBg="1"/>
      <p:bldP spid="36" grpId="0" animBg="1"/>
      <p:bldP spid="37" grpId="0" animBg="1"/>
      <p:bldP spid="41" grpId="0" animBg="1"/>
      <p:bldP spid="47" grpId="0" animBg="1"/>
      <p:bldP spid="48" grpId="0" animBg="1"/>
      <p:bldP spid="50" grpId="0" animBg="1"/>
      <p:bldP spid="51" grpId="0" animBg="1"/>
      <p:bldP spid="52" grpId="0" animBg="1"/>
      <p:bldP spid="56" grpId="0" animBg="1"/>
      <p:bldP spid="66" grpId="0" animBg="1"/>
      <p:bldP spid="67" grpId="0" animBg="1"/>
      <p:bldP spid="68" grpId="0" animBg="1"/>
      <p:bldP spid="72" grpId="0" animBg="1"/>
      <p:bldP spid="74" grpId="0" animBg="1"/>
      <p:bldP spid="75" grpId="0" animBg="1"/>
      <p:bldP spid="76" grpId="0" animBg="1"/>
      <p:bldP spid="8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灯片编号占位符 3">
            <a:extLst>
              <a:ext uri="{FF2B5EF4-FFF2-40B4-BE49-F238E27FC236}">
                <a16:creationId xmlns:a16="http://schemas.microsoft.com/office/drawing/2014/main" id="{FA2E02E8-BD3F-F147-BE9A-DE0B09761E7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ACE89B6-B93E-484E-9AAE-24D8756DEE0B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pic>
        <p:nvPicPr>
          <p:cNvPr id="28674" name="图片 4">
            <a:extLst>
              <a:ext uri="{FF2B5EF4-FFF2-40B4-BE49-F238E27FC236}">
                <a16:creationId xmlns:a16="http://schemas.microsoft.com/office/drawing/2014/main" id="{4EBC08D4-71A0-F84B-86FD-9BC52491EF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3075" y="620713"/>
            <a:ext cx="4640263" cy="5207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5" name="Text Box 34">
            <a:extLst>
              <a:ext uri="{FF2B5EF4-FFF2-40B4-BE49-F238E27FC236}">
                <a16:creationId xmlns:a16="http://schemas.microsoft.com/office/drawing/2014/main" id="{0350886B-8FB6-6F48-B093-148DFFEC7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363" y="404813"/>
            <a:ext cx="7704137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7. 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子图：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对图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G=(V,E)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和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G'=(V',E’)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，若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V'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  <a:sym typeface="Symbol" pitchFamily="2" charset="2"/>
              </a:rPr>
              <a:t>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且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E'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  <a:sym typeface="Symbol" pitchFamily="2" charset="2"/>
              </a:rPr>
              <a:t>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，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的一个子图  </a:t>
            </a:r>
            <a:endParaRPr lang="zh-CN" altLang="en-US" sz="2400">
              <a:latin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灯片编号占位符 3">
            <a:extLst>
              <a:ext uri="{FF2B5EF4-FFF2-40B4-BE49-F238E27FC236}">
                <a16:creationId xmlns:a16="http://schemas.microsoft.com/office/drawing/2014/main" id="{2F6D0F89-2225-1444-BFD4-26A5128E222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71B3E67-3929-EE42-B67E-544F6861F138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29698" name="Rectangle 2">
            <a:extLst>
              <a:ext uri="{FF2B5EF4-FFF2-40B4-BE49-F238E27FC236}">
                <a16:creationId xmlns:a16="http://schemas.microsoft.com/office/drawing/2014/main" id="{27E0C892-6408-4445-9AAF-2D683F294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7625" y="981075"/>
            <a:ext cx="54864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. 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度：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en-US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  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与顶点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x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相关联的边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(x,y)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的数目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称为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x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的度，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记作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TD(x)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或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D(x)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，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en-US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TD(V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)=1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TD(V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)=3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TD(V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)=0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9699" name="Oval 3">
            <a:extLst>
              <a:ext uri="{FF2B5EF4-FFF2-40B4-BE49-F238E27FC236}">
                <a16:creationId xmlns:a16="http://schemas.microsoft.com/office/drawing/2014/main" id="{72A9EA7C-8160-C846-8E15-EDBCF99B0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5225" y="2794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29700" name="Oval 4">
            <a:extLst>
              <a:ext uri="{FF2B5EF4-FFF2-40B4-BE49-F238E27FC236}">
                <a16:creationId xmlns:a16="http://schemas.microsoft.com/office/drawing/2014/main" id="{59A364C0-34A9-9146-8985-B9CF5B89E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225" y="3403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5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29701" name="Oval 5">
            <a:extLst>
              <a:ext uri="{FF2B5EF4-FFF2-40B4-BE49-F238E27FC236}">
                <a16:creationId xmlns:a16="http://schemas.microsoft.com/office/drawing/2014/main" id="{AB47457C-3E7A-7446-AFA3-BE59A7BB6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6225" y="3403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29702" name="Oval 6">
            <a:extLst>
              <a:ext uri="{FF2B5EF4-FFF2-40B4-BE49-F238E27FC236}">
                <a16:creationId xmlns:a16="http://schemas.microsoft.com/office/drawing/2014/main" id="{E6A958C8-5B29-D148-87FF-964486118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25" y="2794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29703" name="Oval 7">
            <a:extLst>
              <a:ext uri="{FF2B5EF4-FFF2-40B4-BE49-F238E27FC236}">
                <a16:creationId xmlns:a16="http://schemas.microsoft.com/office/drawing/2014/main" id="{E175CE40-F806-8746-B694-4866F3EB5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4825" y="2794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29704" name="Line 8">
            <a:extLst>
              <a:ext uri="{FF2B5EF4-FFF2-40B4-BE49-F238E27FC236}">
                <a16:creationId xmlns:a16="http://schemas.microsoft.com/office/drawing/2014/main" id="{A2F8B009-FE6B-BF4C-AF30-03E90AD0E9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69025" y="317500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705" name="Line 9">
            <a:extLst>
              <a:ext uri="{FF2B5EF4-FFF2-40B4-BE49-F238E27FC236}">
                <a16:creationId xmlns:a16="http://schemas.microsoft.com/office/drawing/2014/main" id="{79E0B077-39B6-6D44-96E0-DE8DB1ECE78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73825" y="317500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706" name="Line 10">
            <a:extLst>
              <a:ext uri="{FF2B5EF4-FFF2-40B4-BE49-F238E27FC236}">
                <a16:creationId xmlns:a16="http://schemas.microsoft.com/office/drawing/2014/main" id="{ED559133-0949-0946-8DA3-D8019299F24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5225" y="3632200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707" name="Line 11">
            <a:extLst>
              <a:ext uri="{FF2B5EF4-FFF2-40B4-BE49-F238E27FC236}">
                <a16:creationId xmlns:a16="http://schemas.microsoft.com/office/drawing/2014/main" id="{C5AE59E7-5554-C94E-BA22-AEDE2E17D6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6625" y="3022600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708" name="Text Box 12">
            <a:extLst>
              <a:ext uri="{FF2B5EF4-FFF2-40B4-BE49-F238E27FC236}">
                <a16:creationId xmlns:a16="http://schemas.microsoft.com/office/drawing/2014/main" id="{32CDCBBC-D1BC-244F-9BC8-0B0900380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1425" y="3937000"/>
            <a:ext cx="3810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latin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灯片编号占位符 3">
            <a:extLst>
              <a:ext uri="{FF2B5EF4-FFF2-40B4-BE49-F238E27FC236}">
                <a16:creationId xmlns:a16="http://schemas.microsoft.com/office/drawing/2014/main" id="{A7A71FF1-403B-074C-9B5B-565D83080A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DBB60D5-239D-CB41-B4FC-8F8FB183A7E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31746" name="Rectangle 2">
            <a:extLst>
              <a:ext uri="{FF2B5EF4-FFF2-40B4-BE49-F238E27FC236}">
                <a16:creationId xmlns:a16="http://schemas.microsoft.com/office/drawing/2014/main" id="{6642BE40-65B9-3C41-8564-E68877AEC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8" y="454025"/>
            <a:ext cx="6430962" cy="541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9.</a:t>
            </a:r>
            <a:r>
              <a:rPr kumimoji="0" lang="zh-CN" altLang="en-US" sz="2400">
                <a:solidFill>
                  <a:srgbClr val="000000"/>
                </a:solidFill>
              </a:rPr>
              <a:t>出度</a:t>
            </a:r>
            <a:r>
              <a:rPr kumimoji="0" lang="en-US" altLang="zh-CN" sz="2400">
                <a:solidFill>
                  <a:srgbClr val="000000"/>
                </a:solidFill>
              </a:rPr>
              <a:t>: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</a:rPr>
              <a:t>    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以顶点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x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为弧尾的弧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&lt;x,y&gt;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的数目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称为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x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的出度，记作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OD(x)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OD(A)=1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OD(B)=2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OD(C)=0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10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.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入度：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以顶点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x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为弧头的弧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&lt;y,x&gt;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的数目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称为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x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的入度，记作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ID(x)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ID(A)=1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ID(B)=1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ID(C)=1</a:t>
            </a:r>
          </a:p>
          <a:p>
            <a:pPr eaLnBrk="1" hangingPunct="1">
              <a:spcBef>
                <a:spcPts val="6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 TD(A)=OD(A)+ID(A)=2  </a:t>
            </a:r>
          </a:p>
          <a:p>
            <a:pPr eaLnBrk="1" hangingPunct="1">
              <a:spcBef>
                <a:spcPts val="6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 TD(B)=OD(B)+ID(B)=3</a:t>
            </a:r>
          </a:p>
        </p:txBody>
      </p:sp>
      <p:sp>
        <p:nvSpPr>
          <p:cNvPr id="31747" name="Oval 3">
            <a:extLst>
              <a:ext uri="{FF2B5EF4-FFF2-40B4-BE49-F238E27FC236}">
                <a16:creationId xmlns:a16="http://schemas.microsoft.com/office/drawing/2014/main" id="{BDE83C14-90CB-CB4F-A5FF-374AF6CE1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1588" y="11747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1748" name="Oval 4">
            <a:extLst>
              <a:ext uri="{FF2B5EF4-FFF2-40B4-BE49-F238E27FC236}">
                <a16:creationId xmlns:a16="http://schemas.microsoft.com/office/drawing/2014/main" id="{E1C69B4E-A60B-D84B-9AE8-62B6F8197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8188" y="21653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1749" name="Arc 5">
            <a:extLst>
              <a:ext uri="{FF2B5EF4-FFF2-40B4-BE49-F238E27FC236}">
                <a16:creationId xmlns:a16="http://schemas.microsoft.com/office/drawing/2014/main" id="{F01CFCA6-2FF8-FC49-9534-EE15FA8FE691}"/>
              </a:ext>
            </a:extLst>
          </p:cNvPr>
          <p:cNvSpPr>
            <a:spLocks/>
          </p:cNvSpPr>
          <p:nvPr/>
        </p:nvSpPr>
        <p:spPr bwMode="auto">
          <a:xfrm rot="1759631" flipH="1">
            <a:off x="7392988" y="1477963"/>
            <a:ext cx="150812" cy="687387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1750" name="Arc 6">
            <a:extLst>
              <a:ext uri="{FF2B5EF4-FFF2-40B4-BE49-F238E27FC236}">
                <a16:creationId xmlns:a16="http://schemas.microsoft.com/office/drawing/2014/main" id="{DE384EAB-960D-164A-92C7-74A4FBA4A57D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7640638" y="1541463"/>
            <a:ext cx="115887" cy="771525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1751" name="Oval 7">
            <a:extLst>
              <a:ext uri="{FF2B5EF4-FFF2-40B4-BE49-F238E27FC236}">
                <a16:creationId xmlns:a16="http://schemas.microsoft.com/office/drawing/2014/main" id="{5A3AE9BC-4454-2A43-883F-F1702E993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8788" y="21050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1752" name="Text Box 8">
            <a:extLst>
              <a:ext uri="{FF2B5EF4-FFF2-40B4-BE49-F238E27FC236}">
                <a16:creationId xmlns:a16="http://schemas.microsoft.com/office/drawing/2014/main" id="{F6088D88-BC1E-DC43-98EB-1B086D2DE0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8413" y="2684463"/>
            <a:ext cx="9858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1753" name="Line 9">
            <a:extLst>
              <a:ext uri="{FF2B5EF4-FFF2-40B4-BE49-F238E27FC236}">
                <a16:creationId xmlns:a16="http://schemas.microsoft.com/office/drawing/2014/main" id="{6AB833BD-DA30-B641-8EAB-C3EBDEAD03FE}"/>
              </a:ext>
            </a:extLst>
          </p:cNvPr>
          <p:cNvSpPr>
            <a:spLocks noChangeShapeType="1"/>
          </p:cNvSpPr>
          <p:nvPr/>
        </p:nvSpPr>
        <p:spPr bwMode="auto">
          <a:xfrm>
            <a:off x="7469188" y="2333625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9FFB9E76-9499-0F41-836E-64178B11BF5E}"/>
              </a:ext>
            </a:extLst>
          </p:cNvPr>
          <p:cNvSpPr txBox="1">
            <a:spLocks noRot="1" noChangeAspect="1" noMove="1" noResize="1" noEditPoints="1" noAdjustHandles="1" noChangeArrowheads="1" noChangeShapeType="1" noTextEdit="1"/>
          </p:cNvSpPr>
          <p:nvPr/>
        </p:nvSpPr>
        <p:spPr>
          <a:xfrm>
            <a:off x="2483768" y="4437112"/>
            <a:ext cx="4536504" cy="461665"/>
          </a:xfrm>
          <a:prstGeom prst="rect">
            <a:avLst/>
          </a:prstGeom>
          <a:blipFill>
            <a:blip r:embed="rId3"/>
            <a:stretch>
              <a:fillRect b="-21622"/>
            </a:stretch>
          </a:blipFill>
        </p:spPr>
        <p:txBody>
          <a:bodyPr/>
          <a:lstStyle/>
          <a:p>
            <a:pPr>
              <a:defRPr/>
            </a:pPr>
            <a:r>
              <a:rPr lang="zh-CN" altLang="en-US">
                <a:noFill/>
              </a:rPr>
              <a:t> </a:t>
            </a:r>
          </a:p>
        </p:txBody>
      </p:sp>
      <p:sp>
        <p:nvSpPr>
          <p:cNvPr id="31755" name="矩形 2">
            <a:extLst>
              <a:ext uri="{FF2B5EF4-FFF2-40B4-BE49-F238E27FC236}">
                <a16:creationId xmlns:a16="http://schemas.microsoft.com/office/drawing/2014/main" id="{8E5B9A87-BE4C-A240-939B-72EAA1BF0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4437063"/>
            <a:ext cx="3455987" cy="461962"/>
          </a:xfrm>
          <a:prstGeom prst="rect">
            <a:avLst/>
          </a:prstGeom>
          <a:noFill/>
          <a:ln w="15875" algn="ctr">
            <a:solidFill>
              <a:srgbClr val="00B050"/>
            </a:solidFill>
            <a:prstDash val="sys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灯片编号占位符 3">
            <a:extLst>
              <a:ext uri="{FF2B5EF4-FFF2-40B4-BE49-F238E27FC236}">
                <a16:creationId xmlns:a16="http://schemas.microsoft.com/office/drawing/2014/main" id="{36715F91-13A0-0B48-A490-60624EB333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32458FD-7215-814C-90FF-9560BAD4812E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33794" name="Oval 3">
            <a:extLst>
              <a:ext uri="{FF2B5EF4-FFF2-40B4-BE49-F238E27FC236}">
                <a16:creationId xmlns:a16="http://schemas.microsoft.com/office/drawing/2014/main" id="{296615AD-D5CF-864B-BADD-EBAB1A798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1885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795" name="Oval 4">
            <a:extLst>
              <a:ext uri="{FF2B5EF4-FFF2-40B4-BE49-F238E27FC236}">
                <a16:creationId xmlns:a16="http://schemas.microsoft.com/office/drawing/2014/main" id="{75809ADD-8D59-0940-8D1B-CFE8AF4F9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5717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796" name="Oval 5">
            <a:extLst>
              <a:ext uri="{FF2B5EF4-FFF2-40B4-BE49-F238E27FC236}">
                <a16:creationId xmlns:a16="http://schemas.microsoft.com/office/drawing/2014/main" id="{134BFF1C-A5F7-C249-9499-E92A4C18B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25717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797" name="Line 6">
            <a:extLst>
              <a:ext uri="{FF2B5EF4-FFF2-40B4-BE49-F238E27FC236}">
                <a16:creationId xmlns:a16="http://schemas.microsoft.com/office/drawing/2014/main" id="{8CEFD1C6-A919-674D-AE47-ED6E7547A4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62200" y="226695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798" name="Line 7">
            <a:extLst>
              <a:ext uri="{FF2B5EF4-FFF2-40B4-BE49-F238E27FC236}">
                <a16:creationId xmlns:a16="http://schemas.microsoft.com/office/drawing/2014/main" id="{F419A2AD-05DC-694F-A264-C3F4C258C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226695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799" name="Line 8">
            <a:extLst>
              <a:ext uri="{FF2B5EF4-FFF2-40B4-BE49-F238E27FC236}">
                <a16:creationId xmlns:a16="http://schemas.microsoft.com/office/drawing/2014/main" id="{396CDF55-5415-5246-B6A9-E21D92DD2600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2800350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00" name="Oval 9">
            <a:extLst>
              <a:ext uri="{FF2B5EF4-FFF2-40B4-BE49-F238E27FC236}">
                <a16:creationId xmlns:a16="http://schemas.microsoft.com/office/drawing/2014/main" id="{0F3C9D11-1F31-2742-B921-40A81907D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25717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1" name="Line 10">
            <a:extLst>
              <a:ext uri="{FF2B5EF4-FFF2-40B4-BE49-F238E27FC236}">
                <a16:creationId xmlns:a16="http://schemas.microsoft.com/office/drawing/2014/main" id="{27D7D3EB-D9EA-484E-A660-652FC0BACC5D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9000" y="280035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02" name="Oval 11">
            <a:extLst>
              <a:ext uri="{FF2B5EF4-FFF2-40B4-BE49-F238E27FC236}">
                <a16:creationId xmlns:a16="http://schemas.microsoft.com/office/drawing/2014/main" id="{4FF488AC-48A6-5249-9BA7-10C67CF0F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1885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3" name="Oval 12">
            <a:extLst>
              <a:ext uri="{FF2B5EF4-FFF2-40B4-BE49-F238E27FC236}">
                <a16:creationId xmlns:a16="http://schemas.microsoft.com/office/drawing/2014/main" id="{CA06B19E-0BD5-7947-AACC-DAAAEFA42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1885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4" name="Line 13">
            <a:extLst>
              <a:ext uri="{FF2B5EF4-FFF2-40B4-BE49-F238E27FC236}">
                <a16:creationId xmlns:a16="http://schemas.microsoft.com/office/drawing/2014/main" id="{A2F3A393-0D30-C145-AA66-52EFDD16DC9A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3800" y="226695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05" name="Line 14">
            <a:extLst>
              <a:ext uri="{FF2B5EF4-FFF2-40B4-BE49-F238E27FC236}">
                <a16:creationId xmlns:a16="http://schemas.microsoft.com/office/drawing/2014/main" id="{038E5CF6-5566-4E40-840B-E5EA17496D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200" y="2266950"/>
            <a:ext cx="2286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06" name="Oval 15">
            <a:extLst>
              <a:ext uri="{FF2B5EF4-FFF2-40B4-BE49-F238E27FC236}">
                <a16:creationId xmlns:a16="http://schemas.microsoft.com/office/drawing/2014/main" id="{C162F197-8F04-A24A-B915-CF24DD97D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0300" y="40735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7" name="Oval 16">
            <a:extLst>
              <a:ext uri="{FF2B5EF4-FFF2-40B4-BE49-F238E27FC236}">
                <a16:creationId xmlns:a16="http://schemas.microsoft.com/office/drawing/2014/main" id="{1F9C87DA-CB91-5340-AD61-90C45BB3E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" y="4759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8" name="Oval 17">
            <a:extLst>
              <a:ext uri="{FF2B5EF4-FFF2-40B4-BE49-F238E27FC236}">
                <a16:creationId xmlns:a16="http://schemas.microsoft.com/office/drawing/2014/main" id="{9A55EEC0-88C9-A74A-99A4-BF155EB52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7500" y="4759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9" name="Line 18">
            <a:extLst>
              <a:ext uri="{FF2B5EF4-FFF2-40B4-BE49-F238E27FC236}">
                <a16:creationId xmlns:a16="http://schemas.microsoft.com/office/drawing/2014/main" id="{FDE8620D-BEB4-CC45-95F9-12BD878A3B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1700" y="4454525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10" name="Line 19">
            <a:extLst>
              <a:ext uri="{FF2B5EF4-FFF2-40B4-BE49-F238E27FC236}">
                <a16:creationId xmlns:a16="http://schemas.microsoft.com/office/drawing/2014/main" id="{5AC354F5-4EFB-2147-BBFB-FB1C2D057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1428750" y="440372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11" name="Oval 20">
            <a:extLst>
              <a:ext uri="{FF2B5EF4-FFF2-40B4-BE49-F238E27FC236}">
                <a16:creationId xmlns:a16="http://schemas.microsoft.com/office/drawing/2014/main" id="{A398635A-8D2E-FA42-8836-491EA48E2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1500" y="4759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2" name="Line 21">
            <a:extLst>
              <a:ext uri="{FF2B5EF4-FFF2-40B4-BE49-F238E27FC236}">
                <a16:creationId xmlns:a16="http://schemas.microsoft.com/office/drawing/2014/main" id="{FFEAF54A-6EDF-0948-8E45-319CC61B2928}"/>
              </a:ext>
            </a:extLst>
          </p:cNvPr>
          <p:cNvSpPr>
            <a:spLocks noChangeShapeType="1"/>
          </p:cNvSpPr>
          <p:nvPr/>
        </p:nvSpPr>
        <p:spPr bwMode="auto">
          <a:xfrm>
            <a:off x="977900" y="4987925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13" name="Oval 22">
            <a:extLst>
              <a:ext uri="{FF2B5EF4-FFF2-40B4-BE49-F238E27FC236}">
                <a16:creationId xmlns:a16="http://schemas.microsoft.com/office/drawing/2014/main" id="{AF1C1CA3-10FA-9846-890C-04F5585E8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8100" y="40735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4" name="Line 23">
            <a:extLst>
              <a:ext uri="{FF2B5EF4-FFF2-40B4-BE49-F238E27FC236}">
                <a16:creationId xmlns:a16="http://schemas.microsoft.com/office/drawing/2014/main" id="{9A6DADB1-E8B3-3241-A9D2-CEFAC228B05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2599" y="439737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15" name="Text Box 24">
            <a:extLst>
              <a:ext uri="{FF2B5EF4-FFF2-40B4-BE49-F238E27FC236}">
                <a16:creationId xmlns:a16="http://schemas.microsoft.com/office/drawing/2014/main" id="{82767B4E-CE4D-104C-83F2-28A328455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3121025"/>
            <a:ext cx="3048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6" name="Text Box 25">
            <a:extLst>
              <a:ext uri="{FF2B5EF4-FFF2-40B4-BE49-F238E27FC236}">
                <a16:creationId xmlns:a16="http://schemas.microsoft.com/office/drawing/2014/main" id="{48B10E2F-C2BC-2441-8DD7-A72A8D6175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2275" y="5448300"/>
            <a:ext cx="1239838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无向图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7" name="Oval 26">
            <a:extLst>
              <a:ext uri="{FF2B5EF4-FFF2-40B4-BE49-F238E27FC236}">
                <a16:creationId xmlns:a16="http://schemas.microsoft.com/office/drawing/2014/main" id="{C0E3E4B0-B9DC-E942-8F2C-595F45EAA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500" y="47434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8" name="Oval 27">
            <a:extLst>
              <a:ext uri="{FF2B5EF4-FFF2-40B4-BE49-F238E27FC236}">
                <a16:creationId xmlns:a16="http://schemas.microsoft.com/office/drawing/2014/main" id="{7174F102-97D0-B749-A780-027B3B1DC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4021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9" name="Oval 28">
            <a:extLst>
              <a:ext uri="{FF2B5EF4-FFF2-40B4-BE49-F238E27FC236}">
                <a16:creationId xmlns:a16="http://schemas.microsoft.com/office/drawing/2014/main" id="{6867BC48-BBD0-B643-A41F-A84FB4576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4706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0" name="Oval 29">
            <a:extLst>
              <a:ext uri="{FF2B5EF4-FFF2-40B4-BE49-F238E27FC236}">
                <a16:creationId xmlns:a16="http://schemas.microsoft.com/office/drawing/2014/main" id="{FD2F6038-4052-D341-8FAF-B93045055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706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1" name="Line 30">
            <a:extLst>
              <a:ext uri="{FF2B5EF4-FFF2-40B4-BE49-F238E27FC236}">
                <a16:creationId xmlns:a16="http://schemas.microsoft.com/office/drawing/2014/main" id="{8D93035E-3779-974B-97B4-4734CAE28B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19600" y="440213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22" name="Line 31">
            <a:extLst>
              <a:ext uri="{FF2B5EF4-FFF2-40B4-BE49-F238E27FC236}">
                <a16:creationId xmlns:a16="http://schemas.microsoft.com/office/drawing/2014/main" id="{D26350CC-F30C-3644-B5DA-7827271EF2C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6800" y="440213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23" name="Oval 32">
            <a:extLst>
              <a:ext uri="{FF2B5EF4-FFF2-40B4-BE49-F238E27FC236}">
                <a16:creationId xmlns:a16="http://schemas.microsoft.com/office/drawing/2014/main" id="{E95CCB4F-6C5F-F44C-9426-EF6C98BA2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4706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4" name="Line 33">
            <a:extLst>
              <a:ext uri="{FF2B5EF4-FFF2-40B4-BE49-F238E27FC236}">
                <a16:creationId xmlns:a16="http://schemas.microsoft.com/office/drawing/2014/main" id="{DB8D2B8B-0CCF-9949-A596-301A3F1A239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4935538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25" name="Oval 34">
            <a:extLst>
              <a:ext uri="{FF2B5EF4-FFF2-40B4-BE49-F238E27FC236}">
                <a16:creationId xmlns:a16="http://schemas.microsoft.com/office/drawing/2014/main" id="{1DB3DC82-D80E-3D42-BB51-84B6C580D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021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6" name="Line 35">
            <a:extLst>
              <a:ext uri="{FF2B5EF4-FFF2-40B4-BE49-F238E27FC236}">
                <a16:creationId xmlns:a16="http://schemas.microsoft.com/office/drawing/2014/main" id="{F443B13D-9CDC-8D40-9B56-3B61E79D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2400" y="440213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27" name="Text Box 36">
            <a:extLst>
              <a:ext uri="{FF2B5EF4-FFF2-40B4-BE49-F238E27FC236}">
                <a16:creationId xmlns:a16="http://schemas.microsoft.com/office/drawing/2014/main" id="{891528B2-9A9A-8443-9B89-265E8D7564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5484813"/>
            <a:ext cx="3810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8" name="Oval 37">
            <a:extLst>
              <a:ext uri="{FF2B5EF4-FFF2-40B4-BE49-F238E27FC236}">
                <a16:creationId xmlns:a16="http://schemas.microsoft.com/office/drawing/2014/main" id="{12DBEF39-7931-8F4D-97F1-3CC2658743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4624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9" name="Text Box 38">
            <a:extLst>
              <a:ext uri="{FF2B5EF4-FFF2-40B4-BE49-F238E27FC236}">
                <a16:creationId xmlns:a16="http://schemas.microsoft.com/office/drawing/2014/main" id="{2B71399F-4793-434A-8A0B-FED0DC7EAA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5484813"/>
            <a:ext cx="3810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0" name="Text Box 39">
            <a:extLst>
              <a:ext uri="{FF2B5EF4-FFF2-40B4-BE49-F238E27FC236}">
                <a16:creationId xmlns:a16="http://schemas.microsoft.com/office/drawing/2014/main" id="{CA6C5A51-7C14-784A-A000-D602FDF4C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5468938"/>
            <a:ext cx="3810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1" name="Rectangle 40">
            <a:extLst>
              <a:ext uri="{FF2B5EF4-FFF2-40B4-BE49-F238E27FC236}">
                <a16:creationId xmlns:a16="http://schemas.microsoft.com/office/drawing/2014/main" id="{092AEE03-ABC8-5744-9D62-089B4504C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" y="3213100"/>
            <a:ext cx="830738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50000"/>
              </a:spcBef>
              <a:buClrTx/>
              <a:buSzTx/>
              <a:buFont typeface="Wingdings" pitchFamily="2" charset="2"/>
              <a:buChar char="Ø"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若图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的一个极大连通子图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的一个</a:t>
            </a:r>
            <a:r>
              <a:rPr kumimoji="0" lang="zh-CN" altLang="en-US" sz="2400">
                <a:solidFill>
                  <a:schemeClr val="folHlink"/>
                </a:solidFill>
                <a:latin typeface="宋体" panose="02010600030101010101" pitchFamily="2" charset="-122"/>
              </a:rPr>
              <a:t>连通分量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2" name="AutoShape 41">
            <a:extLst>
              <a:ext uri="{FF2B5EF4-FFF2-40B4-BE49-F238E27FC236}">
                <a16:creationId xmlns:a16="http://schemas.microsoft.com/office/drawing/2014/main" id="{6512708C-FD2A-3C41-B2F0-82AB46403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4416425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3" name="Oval 42">
            <a:extLst>
              <a:ext uri="{FF2B5EF4-FFF2-40B4-BE49-F238E27FC236}">
                <a16:creationId xmlns:a16="http://schemas.microsoft.com/office/drawing/2014/main" id="{50E596A5-F644-FB4A-BE35-6E938719C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2300" y="40735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4" name="Line 43">
            <a:extLst>
              <a:ext uri="{FF2B5EF4-FFF2-40B4-BE49-F238E27FC236}">
                <a16:creationId xmlns:a16="http://schemas.microsoft.com/office/drawing/2014/main" id="{3E8B3E56-7E4F-A241-BB87-0135B05D014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1300" y="430212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35" name="Oval 44">
            <a:extLst>
              <a:ext uri="{FF2B5EF4-FFF2-40B4-BE49-F238E27FC236}">
                <a16:creationId xmlns:a16="http://schemas.microsoft.com/office/drawing/2014/main" id="{AAF06A5D-DB63-B64E-9DB9-36AAFF9A9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40052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6" name="Line 45">
            <a:extLst>
              <a:ext uri="{FF2B5EF4-FFF2-40B4-BE49-F238E27FC236}">
                <a16:creationId xmlns:a16="http://schemas.microsoft.com/office/drawing/2014/main" id="{65713169-FE43-254A-86F0-54A3A21AC09F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9200" y="4233863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37" name="Text Box 46">
            <a:extLst>
              <a:ext uri="{FF2B5EF4-FFF2-40B4-BE49-F238E27FC236}">
                <a16:creationId xmlns:a16="http://schemas.microsoft.com/office/drawing/2014/main" id="{B4287EB3-4CD5-9D45-B5DF-6FA267B902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695950"/>
            <a:ext cx="21002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有三个连通分量</a:t>
            </a:r>
            <a:endParaRPr kumimoji="0" lang="zh-CN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8" name="Text Box 47">
            <a:extLst>
              <a:ext uri="{FF2B5EF4-FFF2-40B4-BE49-F238E27FC236}">
                <a16:creationId xmlns:a16="http://schemas.microsoft.com/office/drawing/2014/main" id="{6CD9D050-BCB3-8C41-BC36-66A00F5E7C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333375"/>
            <a:ext cx="8424863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11.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连通图及连通分量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: (</a:t>
            </a:r>
            <a:r>
              <a:rPr lang="zh-CN" altLang="en-US" sz="2800">
                <a:solidFill>
                  <a:srgbClr val="C00000"/>
                </a:solidFill>
                <a:latin typeface="宋体" panose="02010600030101010101" pitchFamily="2" charset="-122"/>
              </a:rPr>
              <a:t>无向图</a:t>
            </a:r>
            <a:r>
              <a:rPr lang="en-US" altLang="zh-CN" sz="2800">
                <a:solidFill>
                  <a:srgbClr val="C00000"/>
                </a:solidFill>
                <a:latin typeface="宋体" panose="02010600030101010101" pitchFamily="2" charset="-122"/>
              </a:rPr>
              <a:t>G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Char char="Ø"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若从顶点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有路径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和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zh-CN" altLang="en-US" sz="2400">
                <a:solidFill>
                  <a:schemeClr val="folHlink"/>
                </a:solidFill>
                <a:latin typeface="宋体" panose="02010600030101010101" pitchFamily="2" charset="-122"/>
              </a:rPr>
              <a:t>连通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的。</a:t>
            </a: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Char char="Ø"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若图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中</a:t>
            </a:r>
            <a:r>
              <a:rPr lang="zh-CN" altLang="en-US" sz="2400">
                <a:solidFill>
                  <a:srgbClr val="C00000"/>
                </a:solidFill>
                <a:latin typeface="宋体" panose="02010600030101010101" pitchFamily="2" charset="-122"/>
              </a:rPr>
              <a:t>任意两顶点是连通的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zh-CN" altLang="en-US" sz="2400">
                <a:solidFill>
                  <a:schemeClr val="folHlink"/>
                </a:solidFill>
                <a:latin typeface="宋体" panose="02010600030101010101" pitchFamily="2" charset="-122"/>
              </a:rPr>
              <a:t>连通图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</a:p>
        </p:txBody>
      </p:sp>
      <p:sp>
        <p:nvSpPr>
          <p:cNvPr id="2" name="椭圆 1">
            <a:extLst>
              <a:ext uri="{FF2B5EF4-FFF2-40B4-BE49-F238E27FC236}">
                <a16:creationId xmlns:a16="http://schemas.microsoft.com/office/drawing/2014/main" id="{1E6229AF-1744-3D40-B862-3829F6484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9088" y="3282950"/>
            <a:ext cx="774700" cy="360363"/>
          </a:xfrm>
          <a:prstGeom prst="ellipse">
            <a:avLst/>
          </a:prstGeom>
          <a:noFill/>
          <a:ln w="9525" algn="ctr">
            <a:solidFill>
              <a:srgbClr val="C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cxnSp>
        <p:nvCxnSpPr>
          <p:cNvPr id="4" name="直线箭头连接符 3">
            <a:extLst>
              <a:ext uri="{FF2B5EF4-FFF2-40B4-BE49-F238E27FC236}">
                <a16:creationId xmlns:a16="http://schemas.microsoft.com/office/drawing/2014/main" id="{DD69D308-AAFE-E74B-9A0B-17ADD8BE37EC}"/>
              </a:ext>
            </a:extLst>
          </p:cNvPr>
          <p:cNvCxnSpPr>
            <a:cxnSpLocks noChangeShapeType="1"/>
            <a:stCxn id="2" idx="7"/>
          </p:cNvCxnSpPr>
          <p:nvPr/>
        </p:nvCxnSpPr>
        <p:spPr bwMode="auto">
          <a:xfrm flipV="1">
            <a:off x="3519488" y="3028950"/>
            <a:ext cx="1624012" cy="307975"/>
          </a:xfrm>
          <a:prstGeom prst="straightConnector1">
            <a:avLst/>
          </a:prstGeom>
          <a:noFill/>
          <a:ln w="9525" algn="ctr">
            <a:solidFill>
              <a:srgbClr val="C0000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" name="文本框 4">
            <a:extLst>
              <a:ext uri="{FF2B5EF4-FFF2-40B4-BE49-F238E27FC236}">
                <a16:creationId xmlns:a16="http://schemas.microsoft.com/office/drawing/2014/main" id="{83723F07-C4A6-464B-8057-086C7BFDA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1982788"/>
            <a:ext cx="3100388" cy="1200150"/>
          </a:xfrm>
          <a:prstGeom prst="rect">
            <a:avLst/>
          </a:prstGeom>
          <a:noFill/>
          <a:ln w="9525">
            <a:solidFill>
              <a:srgbClr val="C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/>
              <a:t>将此连通子图外的任意一个顶点加入该子图都会造成不连通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灯片编号占位符 3">
            <a:extLst>
              <a:ext uri="{FF2B5EF4-FFF2-40B4-BE49-F238E27FC236}">
                <a16:creationId xmlns:a16="http://schemas.microsoft.com/office/drawing/2014/main" id="{8F6067DC-3DA1-D349-AFC9-978AA6B0B90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1000E66-A100-224A-AFE9-08EF9358E0AD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35842" name="Text Box 3">
            <a:extLst>
              <a:ext uri="{FF2B5EF4-FFF2-40B4-BE49-F238E27FC236}">
                <a16:creationId xmlns:a16="http://schemas.microsoft.com/office/drawing/2014/main" id="{CF3CEB24-EF13-DD41-9279-9855338B5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930275"/>
            <a:ext cx="8424862" cy="4154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12.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强连通图及强连通分量</a:t>
            </a: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: (</a:t>
            </a:r>
            <a:r>
              <a:rPr lang="zh-CN" altLang="en-US" sz="2800" dirty="0">
                <a:solidFill>
                  <a:srgbClr val="C00000"/>
                </a:solidFill>
                <a:latin typeface="宋体" panose="02010600030101010101" pitchFamily="2" charset="-122"/>
              </a:rPr>
              <a:t>有向图</a:t>
            </a:r>
            <a:r>
              <a:rPr lang="en-US" altLang="zh-CN" sz="2800" dirty="0">
                <a:solidFill>
                  <a:srgbClr val="C00000"/>
                </a:solidFill>
                <a:latin typeface="宋体" panose="02010600030101010101" pitchFamily="2" charset="-122"/>
              </a:rPr>
              <a:t>G</a:t>
            </a: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10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10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Char char="Ø"/>
            </a:pP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若在图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中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每对顶点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和</a:t>
            </a:r>
            <a:r>
              <a:rPr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之间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 </a:t>
            </a:r>
            <a:r>
              <a:rPr lang="zh-CN" altLang="en-US" sz="2400" dirty="0">
                <a:solidFill>
                  <a:srgbClr val="C00000"/>
                </a:solidFill>
                <a:latin typeface="宋体" panose="02010600030101010101" pitchFamily="2" charset="-122"/>
              </a:rPr>
              <a:t>从</a:t>
            </a:r>
            <a:r>
              <a:rPr lang="en-US" altLang="zh-CN" sz="2400" dirty="0">
                <a:solidFill>
                  <a:srgbClr val="C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dirty="0">
                <a:solidFill>
                  <a:srgbClr val="C00000"/>
                </a:solidFill>
                <a:latin typeface="宋体" panose="02010600030101010101" pitchFamily="2" charset="-122"/>
              </a:rPr>
              <a:t>i</a:t>
            </a:r>
            <a:r>
              <a:rPr lang="zh-CN" altLang="en-US" sz="2400" dirty="0">
                <a:solidFill>
                  <a:srgbClr val="C00000"/>
                </a:solidFill>
                <a:latin typeface="宋体" panose="02010600030101010101" pitchFamily="2" charset="-122"/>
              </a:rPr>
              <a:t>到</a:t>
            </a:r>
            <a:r>
              <a:rPr lang="en-US" altLang="zh-CN" sz="2400" dirty="0" err="1">
                <a:solidFill>
                  <a:srgbClr val="C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dirty="0" err="1">
                <a:solidFill>
                  <a:srgbClr val="C00000"/>
                </a:solidFill>
                <a:latin typeface="宋体" panose="02010600030101010101" pitchFamily="2" charset="-122"/>
              </a:rPr>
              <a:t>j</a:t>
            </a:r>
            <a:r>
              <a:rPr lang="en-US" altLang="zh-CN" sz="2400" dirty="0">
                <a:solidFill>
                  <a:srgbClr val="C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 dirty="0">
                <a:solidFill>
                  <a:srgbClr val="C00000"/>
                </a:solidFill>
                <a:latin typeface="宋体" panose="02010600030101010101" pitchFamily="2" charset="-122"/>
              </a:rPr>
              <a:t>且从 </a:t>
            </a:r>
            <a:r>
              <a:rPr lang="en-US" altLang="zh-CN" sz="2400" dirty="0" err="1">
                <a:solidFill>
                  <a:srgbClr val="C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dirty="0" err="1">
                <a:solidFill>
                  <a:srgbClr val="C00000"/>
                </a:solidFill>
                <a:latin typeface="宋体" panose="02010600030101010101" pitchFamily="2" charset="-122"/>
              </a:rPr>
              <a:t>j</a:t>
            </a:r>
            <a:r>
              <a:rPr lang="zh-CN" altLang="en-US" sz="2400" dirty="0">
                <a:solidFill>
                  <a:srgbClr val="C00000"/>
                </a:solidFill>
                <a:latin typeface="宋体" panose="02010600030101010101" pitchFamily="2" charset="-122"/>
              </a:rPr>
              <a:t>到</a:t>
            </a:r>
            <a:r>
              <a:rPr lang="en-US" altLang="zh-CN" sz="2400" dirty="0">
                <a:solidFill>
                  <a:srgbClr val="C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dirty="0">
                <a:solidFill>
                  <a:srgbClr val="C00000"/>
                </a:solidFill>
                <a:latin typeface="宋体" panose="02010600030101010101" pitchFamily="2" charset="-122"/>
              </a:rPr>
              <a:t>i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都存在路径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zh-CN" altLang="en-US" sz="2400" dirty="0">
                <a:solidFill>
                  <a:schemeClr val="folHlink"/>
                </a:solidFill>
                <a:latin typeface="宋体" panose="02010600030101010101" pitchFamily="2" charset="-122"/>
              </a:rPr>
              <a:t>强连通图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  <a:endParaRPr lang="en-US" altLang="zh-CN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Char char="Ø"/>
            </a:pPr>
            <a:endParaRPr lang="en-US" altLang="zh-CN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Char char="Ø"/>
            </a:pPr>
            <a:endParaRPr lang="en-US" altLang="zh-CN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Char char="Ø"/>
            </a:pPr>
            <a:endParaRPr lang="en-US" altLang="zh-CN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None/>
            </a:pP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Char char="Ø"/>
            </a:pP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若图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的一个极大强连通子图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的一个</a:t>
            </a:r>
            <a:r>
              <a:rPr lang="zh-CN" altLang="en-US" sz="2400" dirty="0">
                <a:solidFill>
                  <a:schemeClr val="folHlink"/>
                </a:solidFill>
                <a:latin typeface="宋体" panose="02010600030101010101" pitchFamily="2" charset="-122"/>
              </a:rPr>
              <a:t>强连通分量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强连通图的强连通分量是自身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</p:txBody>
      </p:sp>
      <p:sp>
        <p:nvSpPr>
          <p:cNvPr id="35843" name="Oval 2">
            <a:extLst>
              <a:ext uri="{FF2B5EF4-FFF2-40B4-BE49-F238E27FC236}">
                <a16:creationId xmlns:a16="http://schemas.microsoft.com/office/drawing/2014/main" id="{703D9BDF-2638-8144-99D5-4F6091E52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788" y="3335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5844" name="Arc 3">
            <a:extLst>
              <a:ext uri="{FF2B5EF4-FFF2-40B4-BE49-F238E27FC236}">
                <a16:creationId xmlns:a16="http://schemas.microsoft.com/office/drawing/2014/main" id="{277169AE-2D7E-A542-83E8-8661F7F0B212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5435600" y="2790825"/>
            <a:ext cx="93663" cy="681038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5845" name="Oval 4">
            <a:extLst>
              <a:ext uri="{FF2B5EF4-FFF2-40B4-BE49-F238E27FC236}">
                <a16:creationId xmlns:a16="http://schemas.microsoft.com/office/drawing/2014/main" id="{D726F470-67CA-5849-A21B-7EF831840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6788" y="3335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5846" name="Line 5">
            <a:extLst>
              <a:ext uri="{FF2B5EF4-FFF2-40B4-BE49-F238E27FC236}">
                <a16:creationId xmlns:a16="http://schemas.microsoft.com/office/drawing/2014/main" id="{ADD4BE7F-1677-A446-9806-E4D70131816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84788" y="3563938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847" name="Text Box 6">
            <a:extLst>
              <a:ext uri="{FF2B5EF4-FFF2-40B4-BE49-F238E27FC236}">
                <a16:creationId xmlns:a16="http://schemas.microsoft.com/office/drawing/2014/main" id="{0E35843F-E63B-9848-9FDF-C9B4F79B3E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7188" y="3776663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5848" name="Oval 7">
            <a:extLst>
              <a:ext uri="{FF2B5EF4-FFF2-40B4-BE49-F238E27FC236}">
                <a16:creationId xmlns:a16="http://schemas.microsoft.com/office/drawing/2014/main" id="{1181CA05-299E-5545-8BEA-58393A0B2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7188" y="2420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5849" name="Oval 8">
            <a:extLst>
              <a:ext uri="{FF2B5EF4-FFF2-40B4-BE49-F238E27FC236}">
                <a16:creationId xmlns:a16="http://schemas.microsoft.com/office/drawing/2014/main" id="{A694B52F-B0C2-9343-89C3-A21A1607B9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588" y="2497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5850" name="Line 9">
            <a:extLst>
              <a:ext uri="{FF2B5EF4-FFF2-40B4-BE49-F238E27FC236}">
                <a16:creationId xmlns:a16="http://schemas.microsoft.com/office/drawing/2014/main" id="{F73FB23C-88E8-1341-826C-6F93AD507C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5388" y="2878138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851" name="Line 10">
            <a:extLst>
              <a:ext uri="{FF2B5EF4-FFF2-40B4-BE49-F238E27FC236}">
                <a16:creationId xmlns:a16="http://schemas.microsoft.com/office/drawing/2014/main" id="{D26FAB39-245A-9141-8139-C206A0C41B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18188" y="264953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852" name="Line 11">
            <a:extLst>
              <a:ext uri="{FF2B5EF4-FFF2-40B4-BE49-F238E27FC236}">
                <a16:creationId xmlns:a16="http://schemas.microsoft.com/office/drawing/2014/main" id="{B240AB30-E66A-D94A-8404-351AB47CF40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741988" y="2725738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853" name="Arc 51">
            <a:extLst>
              <a:ext uri="{FF2B5EF4-FFF2-40B4-BE49-F238E27FC236}">
                <a16:creationId xmlns:a16="http://schemas.microsoft.com/office/drawing/2014/main" id="{9F5C2C08-62F5-274A-B626-52CC4D251340}"/>
              </a:ext>
            </a:extLst>
          </p:cNvPr>
          <p:cNvSpPr>
            <a:spLocks/>
          </p:cNvSpPr>
          <p:nvPr/>
        </p:nvSpPr>
        <p:spPr bwMode="auto">
          <a:xfrm flipH="1">
            <a:off x="5132388" y="2801938"/>
            <a:ext cx="381000" cy="5334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灯片编号占位符 3">
            <a:extLst>
              <a:ext uri="{FF2B5EF4-FFF2-40B4-BE49-F238E27FC236}">
                <a16:creationId xmlns:a16="http://schemas.microsoft.com/office/drawing/2014/main" id="{F24022EA-6914-7641-ACD6-043C700B42A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696F697-708A-4645-8B55-884021A6A36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37890" name="Oval 2">
            <a:extLst>
              <a:ext uri="{FF2B5EF4-FFF2-40B4-BE49-F238E27FC236}">
                <a16:creationId xmlns:a16="http://schemas.microsoft.com/office/drawing/2014/main" id="{D9AA0682-C797-5049-8828-1337D7BBF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7913" y="17510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891" name="Arc 3">
            <a:extLst>
              <a:ext uri="{FF2B5EF4-FFF2-40B4-BE49-F238E27FC236}">
                <a16:creationId xmlns:a16="http://schemas.microsoft.com/office/drawing/2014/main" id="{530D175A-57D2-F74B-9860-6B5CF5503EC7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1609725" y="1206500"/>
            <a:ext cx="93663" cy="681038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892" name="Oval 4">
            <a:extLst>
              <a:ext uri="{FF2B5EF4-FFF2-40B4-BE49-F238E27FC236}">
                <a16:creationId xmlns:a16="http://schemas.microsoft.com/office/drawing/2014/main" id="{3275C601-5B5A-DC42-9EBA-3410CBC2F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17510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893" name="Line 5">
            <a:extLst>
              <a:ext uri="{FF2B5EF4-FFF2-40B4-BE49-F238E27FC236}">
                <a16:creationId xmlns:a16="http://schemas.microsoft.com/office/drawing/2014/main" id="{21F5D8C0-DDDE-3E4E-AD46-BADB0351DC71}"/>
              </a:ext>
            </a:extLst>
          </p:cNvPr>
          <p:cNvSpPr>
            <a:spLocks noChangeShapeType="1"/>
          </p:cNvSpPr>
          <p:nvPr/>
        </p:nvSpPr>
        <p:spPr bwMode="auto">
          <a:xfrm>
            <a:off x="1458913" y="1979613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894" name="Text Box 6">
            <a:extLst>
              <a:ext uri="{FF2B5EF4-FFF2-40B4-BE49-F238E27FC236}">
                <a16:creationId xmlns:a16="http://schemas.microsoft.com/office/drawing/2014/main" id="{A070ED5C-AC49-8241-8C1E-D46C182A9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1313" y="2192338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895" name="Oval 7">
            <a:extLst>
              <a:ext uri="{FF2B5EF4-FFF2-40B4-BE49-F238E27FC236}">
                <a16:creationId xmlns:a16="http://schemas.microsoft.com/office/drawing/2014/main" id="{708DEFC1-219C-1D45-9EEF-3DE062EB1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313" y="8366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896" name="Oval 8">
            <a:extLst>
              <a:ext uri="{FF2B5EF4-FFF2-40B4-BE49-F238E27FC236}">
                <a16:creationId xmlns:a16="http://schemas.microsoft.com/office/drawing/2014/main" id="{1CFB1203-6F65-2F4D-B8B1-E5532D7E0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9128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897" name="Line 9">
            <a:extLst>
              <a:ext uri="{FF2B5EF4-FFF2-40B4-BE49-F238E27FC236}">
                <a16:creationId xmlns:a16="http://schemas.microsoft.com/office/drawing/2014/main" id="{8A0CCDFF-4D30-F648-898A-EFED8A41D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9513" y="129381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898" name="Line 10">
            <a:extLst>
              <a:ext uri="{FF2B5EF4-FFF2-40B4-BE49-F238E27FC236}">
                <a16:creationId xmlns:a16="http://schemas.microsoft.com/office/drawing/2014/main" id="{8BA10A5D-4DD3-7440-B84F-C9DFDEC48E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92313" y="106521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899" name="Line 11">
            <a:extLst>
              <a:ext uri="{FF2B5EF4-FFF2-40B4-BE49-F238E27FC236}">
                <a16:creationId xmlns:a16="http://schemas.microsoft.com/office/drawing/2014/main" id="{88CB21D0-1476-8044-A9BF-0C6785721CE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916113" y="1141413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00" name="Oval 12">
            <a:extLst>
              <a:ext uri="{FF2B5EF4-FFF2-40B4-BE49-F238E27FC236}">
                <a16:creationId xmlns:a16="http://schemas.microsoft.com/office/drawing/2014/main" id="{1013BE79-30B3-3C4D-AA50-B2E60FE85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3913" y="17510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01" name="Arc 13">
            <a:extLst>
              <a:ext uri="{FF2B5EF4-FFF2-40B4-BE49-F238E27FC236}">
                <a16:creationId xmlns:a16="http://schemas.microsoft.com/office/drawing/2014/main" id="{0BF66A93-5FB6-EF45-8350-43290C061FC8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3895725" y="1206500"/>
            <a:ext cx="93663" cy="681038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902" name="Oval 14">
            <a:extLst>
              <a:ext uri="{FF2B5EF4-FFF2-40B4-BE49-F238E27FC236}">
                <a16:creationId xmlns:a16="http://schemas.microsoft.com/office/drawing/2014/main" id="{199A38A7-8C9B-F94D-8149-D61E91024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6913" y="17510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03" name="Line 15">
            <a:extLst>
              <a:ext uri="{FF2B5EF4-FFF2-40B4-BE49-F238E27FC236}">
                <a16:creationId xmlns:a16="http://schemas.microsoft.com/office/drawing/2014/main" id="{B1F5E518-2839-FF4B-811B-72681B7638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4913" y="1979613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04" name="Text Box 16">
            <a:extLst>
              <a:ext uri="{FF2B5EF4-FFF2-40B4-BE49-F238E27FC236}">
                <a16:creationId xmlns:a16="http://schemas.microsoft.com/office/drawing/2014/main" id="{00F001A8-BADA-134E-96E8-3B4CDB284F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9763" y="2192338"/>
            <a:ext cx="21812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     G11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r>
              <a:rPr kumimoji="0" lang="zh-CN" altLang="en-US" sz="1800">
                <a:solidFill>
                  <a:srgbClr val="000000"/>
                </a:solidFill>
                <a:latin typeface="宋体" panose="02010600030101010101" pitchFamily="2" charset="-122"/>
              </a:rPr>
              <a:t>的强连通分量</a:t>
            </a:r>
            <a:endParaRPr kumimoji="0" lang="zh-CN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05" name="Oval 17">
            <a:extLst>
              <a:ext uri="{FF2B5EF4-FFF2-40B4-BE49-F238E27FC236}">
                <a16:creationId xmlns:a16="http://schemas.microsoft.com/office/drawing/2014/main" id="{68FF3719-E71E-4C48-93A2-C4C0B9887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7313" y="8366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06" name="Oval 18">
            <a:extLst>
              <a:ext uri="{FF2B5EF4-FFF2-40B4-BE49-F238E27FC236}">
                <a16:creationId xmlns:a16="http://schemas.microsoft.com/office/drawing/2014/main" id="{CEB2CDFE-9712-4442-B564-21FA7F461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1713" y="9128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07" name="Line 19">
            <a:extLst>
              <a:ext uri="{FF2B5EF4-FFF2-40B4-BE49-F238E27FC236}">
                <a16:creationId xmlns:a16="http://schemas.microsoft.com/office/drawing/2014/main" id="{2D4BDF54-4240-4642-B63B-D9C569E3EE3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5513" y="129381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08" name="Line 20">
            <a:extLst>
              <a:ext uri="{FF2B5EF4-FFF2-40B4-BE49-F238E27FC236}">
                <a16:creationId xmlns:a16="http://schemas.microsoft.com/office/drawing/2014/main" id="{51E0F9FD-B1BB-2C49-91E1-8D02921FFC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78313" y="106521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09" name="Line 21">
            <a:extLst>
              <a:ext uri="{FF2B5EF4-FFF2-40B4-BE49-F238E27FC236}">
                <a16:creationId xmlns:a16="http://schemas.microsoft.com/office/drawing/2014/main" id="{F421A41F-21A6-824C-8DE3-6A73ABA1611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202113" y="1141413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10" name="Oval 22">
            <a:extLst>
              <a:ext uri="{FF2B5EF4-FFF2-40B4-BE49-F238E27FC236}">
                <a16:creationId xmlns:a16="http://schemas.microsoft.com/office/drawing/2014/main" id="{DA362FC8-6529-EF45-AFDD-9FAD13318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0913" y="18272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11" name="Oval 23">
            <a:extLst>
              <a:ext uri="{FF2B5EF4-FFF2-40B4-BE49-F238E27FC236}">
                <a16:creationId xmlns:a16="http://schemas.microsoft.com/office/drawing/2014/main" id="{DC01E62D-406B-024A-8851-947F02EE3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3913" y="18272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12" name="Line 24">
            <a:extLst>
              <a:ext uri="{FF2B5EF4-FFF2-40B4-BE49-F238E27FC236}">
                <a16:creationId xmlns:a16="http://schemas.microsoft.com/office/drawing/2014/main" id="{DCE11C1E-9D4B-884E-B2D0-DAAAD92275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11913" y="2055813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13" name="Text Box 25">
            <a:extLst>
              <a:ext uri="{FF2B5EF4-FFF2-40B4-BE49-F238E27FC236}">
                <a16:creationId xmlns:a16="http://schemas.microsoft.com/office/drawing/2014/main" id="{BCA626D4-0321-D04E-BA34-02091AA28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4713" y="2208213"/>
            <a:ext cx="2362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     G12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不是</a:t>
            </a: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r>
              <a:rPr kumimoji="0" lang="zh-CN" altLang="en-US" sz="1800">
                <a:solidFill>
                  <a:srgbClr val="000000"/>
                </a:solidFill>
                <a:latin typeface="宋体" panose="02010600030101010101" pitchFamily="2" charset="-122"/>
              </a:rPr>
              <a:t>的强连通分量</a:t>
            </a:r>
            <a:endParaRPr kumimoji="0" lang="zh-CN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14" name="Oval 26">
            <a:extLst>
              <a:ext uri="{FF2B5EF4-FFF2-40B4-BE49-F238E27FC236}">
                <a16:creationId xmlns:a16="http://schemas.microsoft.com/office/drawing/2014/main" id="{B5052C53-CA12-F14A-B023-D6F08266D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4313" y="9128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15" name="Oval 27">
            <a:extLst>
              <a:ext uri="{FF2B5EF4-FFF2-40B4-BE49-F238E27FC236}">
                <a16:creationId xmlns:a16="http://schemas.microsoft.com/office/drawing/2014/main" id="{03EC3D89-BC99-0E40-B525-D74ABD917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8713" y="9890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16" name="Line 28">
            <a:extLst>
              <a:ext uri="{FF2B5EF4-FFF2-40B4-BE49-F238E27FC236}">
                <a16:creationId xmlns:a16="http://schemas.microsoft.com/office/drawing/2014/main" id="{EA983179-CFB2-7C41-9477-797B7DA01A8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02513" y="137001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17" name="Line 29">
            <a:extLst>
              <a:ext uri="{FF2B5EF4-FFF2-40B4-BE49-F238E27FC236}">
                <a16:creationId xmlns:a16="http://schemas.microsoft.com/office/drawing/2014/main" id="{3ECE1648-242F-524A-BC9A-310EBEE63F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5313" y="114141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18" name="Line 30">
            <a:extLst>
              <a:ext uri="{FF2B5EF4-FFF2-40B4-BE49-F238E27FC236}">
                <a16:creationId xmlns:a16="http://schemas.microsoft.com/office/drawing/2014/main" id="{A4AD19FA-9B5F-C244-84D1-EA12E479064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69113" y="1217613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19" name="Oval 31">
            <a:extLst>
              <a:ext uri="{FF2B5EF4-FFF2-40B4-BE49-F238E27FC236}">
                <a16:creationId xmlns:a16="http://schemas.microsoft.com/office/drawing/2014/main" id="{627275BF-C1CF-8D42-B7DA-1983D12E10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4414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20" name="Arc 32">
            <a:extLst>
              <a:ext uri="{FF2B5EF4-FFF2-40B4-BE49-F238E27FC236}">
                <a16:creationId xmlns:a16="http://schemas.microsoft.com/office/drawing/2014/main" id="{4D764F14-1524-C745-881E-3F7355E4A932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1827213" y="3870325"/>
            <a:ext cx="93662" cy="681038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921" name="Oval 33">
            <a:extLst>
              <a:ext uri="{FF2B5EF4-FFF2-40B4-BE49-F238E27FC236}">
                <a16:creationId xmlns:a16="http://schemas.microsoft.com/office/drawing/2014/main" id="{D04C2D19-0B41-1D44-B3F7-82BF2F085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1" y="44973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22" name="Line 34">
            <a:extLst>
              <a:ext uri="{FF2B5EF4-FFF2-40B4-BE49-F238E27FC236}">
                <a16:creationId xmlns:a16="http://schemas.microsoft.com/office/drawing/2014/main" id="{73FEF238-90CE-B34D-A1F1-A5E92A5DC763}"/>
              </a:ext>
            </a:extLst>
          </p:cNvPr>
          <p:cNvSpPr>
            <a:spLocks noChangeShapeType="1"/>
          </p:cNvSpPr>
          <p:nvPr/>
        </p:nvSpPr>
        <p:spPr bwMode="auto">
          <a:xfrm>
            <a:off x="1652009" y="4719638"/>
            <a:ext cx="77656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23" name="Text Box 35">
            <a:extLst>
              <a:ext uri="{FF2B5EF4-FFF2-40B4-BE49-F238E27FC236}">
                <a16:creationId xmlns:a16="http://schemas.microsoft.com/office/drawing/2014/main" id="{09A62454-56C6-FB46-B7BF-C5C2F86FD5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4856163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24" name="Oval 36">
            <a:extLst>
              <a:ext uri="{FF2B5EF4-FFF2-40B4-BE49-F238E27FC236}">
                <a16:creationId xmlns:a16="http://schemas.microsoft.com/office/drawing/2014/main" id="{EF7DE02E-8E6C-C546-A7EF-4BC28AA760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5004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25" name="Oval 37">
            <a:extLst>
              <a:ext uri="{FF2B5EF4-FFF2-40B4-BE49-F238E27FC236}">
                <a16:creationId xmlns:a16="http://schemas.microsoft.com/office/drawing/2014/main" id="{E4BCC49E-8D63-C049-9023-EEA0B7413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576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26" name="Line 38">
            <a:extLst>
              <a:ext uri="{FF2B5EF4-FFF2-40B4-BE49-F238E27FC236}">
                <a16:creationId xmlns:a16="http://schemas.microsoft.com/office/drawing/2014/main" id="{7A1C91F4-92DC-F547-94E8-2CBA12221E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9744" y="3957638"/>
            <a:ext cx="155856" cy="58737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27" name="Line 39">
            <a:extLst>
              <a:ext uri="{FF2B5EF4-FFF2-40B4-BE49-F238E27FC236}">
                <a16:creationId xmlns:a16="http://schemas.microsoft.com/office/drawing/2014/main" id="{89EF6640-2101-BC4C-BCD9-97BE0A354F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9800" y="372903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28" name="Line 40">
            <a:extLst>
              <a:ext uri="{FF2B5EF4-FFF2-40B4-BE49-F238E27FC236}">
                <a16:creationId xmlns:a16="http://schemas.microsoft.com/office/drawing/2014/main" id="{915CD825-968C-0C4E-9A38-EAA97CEFA7A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133600" y="3805238"/>
            <a:ext cx="392113" cy="727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29" name="Oval 41">
            <a:extLst>
              <a:ext uri="{FF2B5EF4-FFF2-40B4-BE49-F238E27FC236}">
                <a16:creationId xmlns:a16="http://schemas.microsoft.com/office/drawing/2014/main" id="{184BA65C-C7C5-534C-9CAA-391FEB8A2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4414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30" name="Arc 42">
            <a:extLst>
              <a:ext uri="{FF2B5EF4-FFF2-40B4-BE49-F238E27FC236}">
                <a16:creationId xmlns:a16="http://schemas.microsoft.com/office/drawing/2014/main" id="{A5927180-324E-F943-932D-41E656A362CE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4341813" y="3870325"/>
            <a:ext cx="93662" cy="681038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931" name="Oval 43">
            <a:extLst>
              <a:ext uri="{FF2B5EF4-FFF2-40B4-BE49-F238E27FC236}">
                <a16:creationId xmlns:a16="http://schemas.microsoft.com/office/drawing/2014/main" id="{DA080926-3ED0-1248-AD1A-497161989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4033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32" name="Text Box 44">
            <a:extLst>
              <a:ext uri="{FF2B5EF4-FFF2-40B4-BE49-F238E27FC236}">
                <a16:creationId xmlns:a16="http://schemas.microsoft.com/office/drawing/2014/main" id="{FBFC3FAA-2BAC-EE43-B697-568841F3E0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850" y="4856163"/>
            <a:ext cx="569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33" name="Oval 45">
            <a:extLst>
              <a:ext uri="{FF2B5EF4-FFF2-40B4-BE49-F238E27FC236}">
                <a16:creationId xmlns:a16="http://schemas.microsoft.com/office/drawing/2014/main" id="{0CA005DE-745D-AE4F-9F67-DFC9FE2D4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35004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34" name="Oval 46">
            <a:extLst>
              <a:ext uri="{FF2B5EF4-FFF2-40B4-BE49-F238E27FC236}">
                <a16:creationId xmlns:a16="http://schemas.microsoft.com/office/drawing/2014/main" id="{0B81D7A7-3408-9546-B1FE-7CF05C462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3576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35" name="Line 47">
            <a:extLst>
              <a:ext uri="{FF2B5EF4-FFF2-40B4-BE49-F238E27FC236}">
                <a16:creationId xmlns:a16="http://schemas.microsoft.com/office/drawing/2014/main" id="{981D5298-ADA4-1B41-835D-98F1B5E44D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372903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36" name="Text Box 48">
            <a:extLst>
              <a:ext uri="{FF2B5EF4-FFF2-40B4-BE49-F238E27FC236}">
                <a16:creationId xmlns:a16="http://schemas.microsoft.com/office/drawing/2014/main" id="{93BEED8E-F70D-2E4A-B41B-739D487256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4719638"/>
            <a:ext cx="569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37" name="Line 49">
            <a:extLst>
              <a:ext uri="{FF2B5EF4-FFF2-40B4-BE49-F238E27FC236}">
                <a16:creationId xmlns:a16="http://schemas.microsoft.com/office/drawing/2014/main" id="{9E9BACB7-ABFF-7341-AB9E-C835890669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76400" y="3941763"/>
            <a:ext cx="1143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38" name="Line 50">
            <a:extLst>
              <a:ext uri="{FF2B5EF4-FFF2-40B4-BE49-F238E27FC236}">
                <a16:creationId xmlns:a16="http://schemas.microsoft.com/office/drawing/2014/main" id="{A97BDAD8-2C4A-B849-9515-FB8EBC8D69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1000" y="3941763"/>
            <a:ext cx="1143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39" name="Arc 51">
            <a:extLst>
              <a:ext uri="{FF2B5EF4-FFF2-40B4-BE49-F238E27FC236}">
                <a16:creationId xmlns:a16="http://schemas.microsoft.com/office/drawing/2014/main" id="{EEC68626-6C8E-604D-B3E5-A1C8F219FE46}"/>
              </a:ext>
            </a:extLst>
          </p:cNvPr>
          <p:cNvSpPr>
            <a:spLocks/>
          </p:cNvSpPr>
          <p:nvPr/>
        </p:nvSpPr>
        <p:spPr bwMode="auto">
          <a:xfrm flipH="1">
            <a:off x="1306513" y="1217613"/>
            <a:ext cx="381000" cy="5334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940" name="Arc 52">
            <a:extLst>
              <a:ext uri="{FF2B5EF4-FFF2-40B4-BE49-F238E27FC236}">
                <a16:creationId xmlns:a16="http://schemas.microsoft.com/office/drawing/2014/main" id="{4D5553AA-9E6B-4D42-84F9-F4C5438B844B}"/>
              </a:ext>
            </a:extLst>
          </p:cNvPr>
          <p:cNvSpPr>
            <a:spLocks/>
          </p:cNvSpPr>
          <p:nvPr/>
        </p:nvSpPr>
        <p:spPr bwMode="auto">
          <a:xfrm flipH="1">
            <a:off x="3592513" y="1217613"/>
            <a:ext cx="381000" cy="5334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941" name="Line 54">
            <a:extLst>
              <a:ext uri="{FF2B5EF4-FFF2-40B4-BE49-F238E27FC236}">
                <a16:creationId xmlns:a16="http://schemas.microsoft.com/office/drawing/2014/main" id="{F740E839-9A58-B740-AF26-1716368A3AA4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8225" y="3141663"/>
            <a:ext cx="66294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42" name="Arc 55">
            <a:extLst>
              <a:ext uri="{FF2B5EF4-FFF2-40B4-BE49-F238E27FC236}">
                <a16:creationId xmlns:a16="http://schemas.microsoft.com/office/drawing/2014/main" id="{25E70EBC-68A5-1441-8CAC-7A6A6EC05621}"/>
              </a:ext>
            </a:extLst>
          </p:cNvPr>
          <p:cNvSpPr>
            <a:spLocks/>
          </p:cNvSpPr>
          <p:nvPr/>
        </p:nvSpPr>
        <p:spPr bwMode="auto">
          <a:xfrm flipH="1">
            <a:off x="1524000" y="3865563"/>
            <a:ext cx="381000" cy="5334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943" name="Arc 56">
            <a:extLst>
              <a:ext uri="{FF2B5EF4-FFF2-40B4-BE49-F238E27FC236}">
                <a16:creationId xmlns:a16="http://schemas.microsoft.com/office/drawing/2014/main" id="{26F2781D-3735-234E-B62E-A74BE1331F3E}"/>
              </a:ext>
            </a:extLst>
          </p:cNvPr>
          <p:cNvSpPr>
            <a:spLocks/>
          </p:cNvSpPr>
          <p:nvPr/>
        </p:nvSpPr>
        <p:spPr bwMode="auto">
          <a:xfrm flipH="1">
            <a:off x="4038600" y="3865563"/>
            <a:ext cx="381000" cy="5334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944" name="Text Box 57">
            <a:extLst>
              <a:ext uri="{FF2B5EF4-FFF2-40B4-BE49-F238E27FC236}">
                <a16:creationId xmlns:a16="http://schemas.microsoft.com/office/drawing/2014/main" id="{E37F4FB8-6F7F-AB44-B24E-95548C3395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329238"/>
            <a:ext cx="22574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r>
              <a:rPr kumimoji="0" lang="zh-CN" altLang="en-US" sz="1800">
                <a:solidFill>
                  <a:srgbClr val="000000"/>
                </a:solidFill>
                <a:latin typeface="宋体" panose="02010600030101010101" pitchFamily="2" charset="-122"/>
              </a:rPr>
              <a:t>有两个强连通分量</a:t>
            </a:r>
            <a:endParaRPr kumimoji="0" lang="zh-CN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45" name="AutoShape 58">
            <a:extLst>
              <a:ext uri="{FF2B5EF4-FFF2-40B4-BE49-F238E27FC236}">
                <a16:creationId xmlns:a16="http://schemas.microsoft.com/office/drawing/2014/main" id="{630ACFC0-D39F-9141-8D02-66B280E1A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065213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46" name="AutoShape 59">
            <a:extLst>
              <a:ext uri="{FF2B5EF4-FFF2-40B4-BE49-F238E27FC236}">
                <a16:creationId xmlns:a16="http://schemas.microsoft.com/office/drawing/2014/main" id="{080139A9-E4E3-E645-A1CF-2948ACB53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3729038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947" name="Arc 13">
            <a:extLst>
              <a:ext uri="{FF2B5EF4-FFF2-40B4-BE49-F238E27FC236}">
                <a16:creationId xmlns:a16="http://schemas.microsoft.com/office/drawing/2014/main" id="{B45D3909-A774-F040-BFAD-4873D4E08C6C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6469063" y="1220788"/>
            <a:ext cx="93662" cy="681037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" name="椭圆 1">
            <a:extLst>
              <a:ext uri="{FF2B5EF4-FFF2-40B4-BE49-F238E27FC236}">
                <a16:creationId xmlns:a16="http://schemas.microsoft.com/office/drawing/2014/main" id="{4E795396-BAF3-59B6-FFB1-4C52B77AF5A7}"/>
              </a:ext>
            </a:extLst>
          </p:cNvPr>
          <p:cNvSpPr/>
          <p:nvPr/>
        </p:nvSpPr>
        <p:spPr bwMode="auto">
          <a:xfrm>
            <a:off x="5638800" y="1628800"/>
            <a:ext cx="1143000" cy="720080"/>
          </a:xfrm>
          <a:prstGeom prst="ellipse">
            <a:avLst/>
          </a:prstGeom>
          <a:noFill/>
          <a:ln w="15875" cap="flat" cmpd="sng" algn="ctr">
            <a:solidFill>
              <a:srgbClr val="FF0000"/>
            </a:solidFill>
            <a:prstDash val="dash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zh-CN" altLang="en-US" sz="24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ahoma" pitchFamily="34" charset="0"/>
              <a:ea typeface="宋体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929" grpId="0" animBg="1"/>
      <p:bldP spid="37930" grpId="0" animBg="1"/>
      <p:bldP spid="37931" grpId="0" animBg="1"/>
      <p:bldP spid="37932" grpId="0"/>
      <p:bldP spid="37933" grpId="0" animBg="1"/>
      <p:bldP spid="37934" grpId="0" animBg="1"/>
      <p:bldP spid="37935" grpId="0" animBg="1"/>
      <p:bldP spid="37936" grpId="0"/>
      <p:bldP spid="37938" grpId="0" animBg="1"/>
      <p:bldP spid="37943" grpId="0" animBg="1"/>
      <p:bldP spid="37944" grpId="0"/>
      <p:bldP spid="37946" grpId="0" animBg="1"/>
      <p:bldP spid="2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灯片编号占位符 3">
            <a:extLst>
              <a:ext uri="{FF2B5EF4-FFF2-40B4-BE49-F238E27FC236}">
                <a16:creationId xmlns:a16="http://schemas.microsoft.com/office/drawing/2014/main" id="{E7803C8C-3F57-D447-8AEF-30EE605D1D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C889C01-9CC5-BB45-94EE-046F60ED494D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39938" name="Oval 3">
            <a:extLst>
              <a:ext uri="{FF2B5EF4-FFF2-40B4-BE49-F238E27FC236}">
                <a16:creationId xmlns:a16="http://schemas.microsoft.com/office/drawing/2014/main" id="{118D45B1-CDD0-F942-8B0C-4E5B319E8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514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39" name="Oval 4">
            <a:extLst>
              <a:ext uri="{FF2B5EF4-FFF2-40B4-BE49-F238E27FC236}">
                <a16:creationId xmlns:a16="http://schemas.microsoft.com/office/drawing/2014/main" id="{4CB0F348-4FA5-884A-BD4F-61C177425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2514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40" name="Line 5">
            <a:extLst>
              <a:ext uri="{FF2B5EF4-FFF2-40B4-BE49-F238E27FC236}">
                <a16:creationId xmlns:a16="http://schemas.microsoft.com/office/drawing/2014/main" id="{D798F587-675C-F740-8DC8-058603773A3E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27432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1" name="Text Box 6">
            <a:extLst>
              <a:ext uri="{FF2B5EF4-FFF2-40B4-BE49-F238E27FC236}">
                <a16:creationId xmlns:a16="http://schemas.microsoft.com/office/drawing/2014/main" id="{1CE2B2E1-3C02-B643-B816-BDE9FF37EA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95592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42" name="Oval 7">
            <a:extLst>
              <a:ext uri="{FF2B5EF4-FFF2-40B4-BE49-F238E27FC236}">
                <a16:creationId xmlns:a16="http://schemas.microsoft.com/office/drawing/2014/main" id="{366797B4-5311-784D-8487-9358920D5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1600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43" name="Oval 8">
            <a:extLst>
              <a:ext uri="{FF2B5EF4-FFF2-40B4-BE49-F238E27FC236}">
                <a16:creationId xmlns:a16="http://schemas.microsoft.com/office/drawing/2014/main" id="{0B9E129C-024B-7746-9A70-9B0199E197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1676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44" name="Line 9">
            <a:extLst>
              <a:ext uri="{FF2B5EF4-FFF2-40B4-BE49-F238E27FC236}">
                <a16:creationId xmlns:a16="http://schemas.microsoft.com/office/drawing/2014/main" id="{CE053492-4173-BD49-82D2-5E6B94663C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05200" y="2057400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5" name="Line 10">
            <a:extLst>
              <a:ext uri="{FF2B5EF4-FFF2-40B4-BE49-F238E27FC236}">
                <a16:creationId xmlns:a16="http://schemas.microsoft.com/office/drawing/2014/main" id="{058A95E3-BCA6-5B4C-AD75-9E22C1868DB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48000" y="182880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6" name="Line 11">
            <a:extLst>
              <a:ext uri="{FF2B5EF4-FFF2-40B4-BE49-F238E27FC236}">
                <a16:creationId xmlns:a16="http://schemas.microsoft.com/office/drawing/2014/main" id="{CE033D3F-4948-404F-956F-C19875192FA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971800" y="1905000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7" name="Line 12">
            <a:extLst>
              <a:ext uri="{FF2B5EF4-FFF2-40B4-BE49-F238E27FC236}">
                <a16:creationId xmlns:a16="http://schemas.microsoft.com/office/drawing/2014/main" id="{4286F9CF-9444-9146-99F9-3E8CC0DC69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67000" y="1981200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8" name="Line 13">
            <a:extLst>
              <a:ext uri="{FF2B5EF4-FFF2-40B4-BE49-F238E27FC236}">
                <a16:creationId xmlns:a16="http://schemas.microsoft.com/office/drawing/2014/main" id="{A90F09BA-739E-984A-AEAD-BE11398E23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9400" y="1981200"/>
            <a:ext cx="8382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9" name="Oval 14">
            <a:extLst>
              <a:ext uri="{FF2B5EF4-FFF2-40B4-BE49-F238E27FC236}">
                <a16:creationId xmlns:a16="http://schemas.microsoft.com/office/drawing/2014/main" id="{87C7521F-F528-0E46-9F1A-E042DB245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752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0" name="Line 15">
            <a:extLst>
              <a:ext uri="{FF2B5EF4-FFF2-40B4-BE49-F238E27FC236}">
                <a16:creationId xmlns:a16="http://schemas.microsoft.com/office/drawing/2014/main" id="{631D3C30-8EA8-044E-BEE7-FED6F29E02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2133600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1" name="Line 16">
            <a:extLst>
              <a:ext uri="{FF2B5EF4-FFF2-40B4-BE49-F238E27FC236}">
                <a16:creationId xmlns:a16="http://schemas.microsoft.com/office/drawing/2014/main" id="{AA18DAEC-3B54-FE44-95E3-68423D234F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09800" y="1828800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2" name="Oval 17">
            <a:extLst>
              <a:ext uri="{FF2B5EF4-FFF2-40B4-BE49-F238E27FC236}">
                <a16:creationId xmlns:a16="http://schemas.microsoft.com/office/drawing/2014/main" id="{E77F956D-7C07-7F43-95A8-30787C05E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90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3" name="Oval 18">
            <a:extLst>
              <a:ext uri="{FF2B5EF4-FFF2-40B4-BE49-F238E27FC236}">
                <a16:creationId xmlns:a16="http://schemas.microsoft.com/office/drawing/2014/main" id="{D5F03494-0882-854D-8DA8-DD6A058A9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2590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4" name="Text Box 19">
            <a:extLst>
              <a:ext uri="{FF2B5EF4-FFF2-40B4-BE49-F238E27FC236}">
                <a16:creationId xmlns:a16="http://schemas.microsoft.com/office/drawing/2014/main" id="{FF070DF0-EFEC-9443-ABCD-3C0B4A7B6E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3032125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5" name="Oval 20">
            <a:extLst>
              <a:ext uri="{FF2B5EF4-FFF2-40B4-BE49-F238E27FC236}">
                <a16:creationId xmlns:a16="http://schemas.microsoft.com/office/drawing/2014/main" id="{DB637BE2-21B5-8D41-8180-12A014EC4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1676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6" name="Oval 21">
            <a:extLst>
              <a:ext uri="{FF2B5EF4-FFF2-40B4-BE49-F238E27FC236}">
                <a16:creationId xmlns:a16="http://schemas.microsoft.com/office/drawing/2014/main" id="{99A1799E-7B97-604B-9E2B-96A932578C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1752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7" name="Line 22">
            <a:extLst>
              <a:ext uri="{FF2B5EF4-FFF2-40B4-BE49-F238E27FC236}">
                <a16:creationId xmlns:a16="http://schemas.microsoft.com/office/drawing/2014/main" id="{7B794781-021E-1142-8F9F-F20A98B3EA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53200" y="190500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8" name="Line 23">
            <a:extLst>
              <a:ext uri="{FF2B5EF4-FFF2-40B4-BE49-F238E27FC236}">
                <a16:creationId xmlns:a16="http://schemas.microsoft.com/office/drawing/2014/main" id="{16BC5D8B-2835-6845-9AB0-108E2636DC2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77000" y="1981200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9" name="Oval 24">
            <a:extLst>
              <a:ext uri="{FF2B5EF4-FFF2-40B4-BE49-F238E27FC236}">
                <a16:creationId xmlns:a16="http://schemas.microsoft.com/office/drawing/2014/main" id="{176C8292-5B7A-A240-B197-8282D6F06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1828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0" name="Line 25">
            <a:extLst>
              <a:ext uri="{FF2B5EF4-FFF2-40B4-BE49-F238E27FC236}">
                <a16:creationId xmlns:a16="http://schemas.microsoft.com/office/drawing/2014/main" id="{35A17E0E-DF9C-B140-AE99-3DB1926BAC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15000" y="1905000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61" name="Oval 26">
            <a:extLst>
              <a:ext uri="{FF2B5EF4-FFF2-40B4-BE49-F238E27FC236}">
                <a16:creationId xmlns:a16="http://schemas.microsoft.com/office/drawing/2014/main" id="{C820A358-733F-CB44-914E-42A3B3FEC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2" name="Oval 27">
            <a:extLst>
              <a:ext uri="{FF2B5EF4-FFF2-40B4-BE49-F238E27FC236}">
                <a16:creationId xmlns:a16="http://schemas.microsoft.com/office/drawing/2014/main" id="{1BDA5ECD-68EB-B141-8518-23DFA09B08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3" name="Line 28">
            <a:extLst>
              <a:ext uri="{FF2B5EF4-FFF2-40B4-BE49-F238E27FC236}">
                <a16:creationId xmlns:a16="http://schemas.microsoft.com/office/drawing/2014/main" id="{EF189231-AD0A-C54C-84C9-D8A8530DE557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6600" y="49323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64" name="Text Box 29">
            <a:extLst>
              <a:ext uri="{FF2B5EF4-FFF2-40B4-BE49-F238E27FC236}">
                <a16:creationId xmlns:a16="http://schemas.microsoft.com/office/drawing/2014/main" id="{43D6A7B9-351E-B346-9D60-029A69900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4200" y="5145088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5" name="Oval 30">
            <a:extLst>
              <a:ext uri="{FF2B5EF4-FFF2-40B4-BE49-F238E27FC236}">
                <a16:creationId xmlns:a16="http://schemas.microsoft.com/office/drawing/2014/main" id="{AA0F5B49-9EE0-6F44-BE4D-057C433FC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200" y="37893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6" name="Oval 31">
            <a:extLst>
              <a:ext uri="{FF2B5EF4-FFF2-40B4-BE49-F238E27FC236}">
                <a16:creationId xmlns:a16="http://schemas.microsoft.com/office/drawing/2014/main" id="{9EBDA896-2485-BE49-9287-05675AEF6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3865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7" name="Line 32">
            <a:extLst>
              <a:ext uri="{FF2B5EF4-FFF2-40B4-BE49-F238E27FC236}">
                <a16:creationId xmlns:a16="http://schemas.microsoft.com/office/drawing/2014/main" id="{3DA299D4-33CC-164E-96C7-129F6EBB60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5200" y="40179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68" name="Line 33">
            <a:extLst>
              <a:ext uri="{FF2B5EF4-FFF2-40B4-BE49-F238E27FC236}">
                <a16:creationId xmlns:a16="http://schemas.microsoft.com/office/drawing/2014/main" id="{2C362DCF-8C70-9F4F-BF06-8CC99B9273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34200" y="4170363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69" name="Oval 34">
            <a:extLst>
              <a:ext uri="{FF2B5EF4-FFF2-40B4-BE49-F238E27FC236}">
                <a16:creationId xmlns:a16="http://schemas.microsoft.com/office/drawing/2014/main" id="{5980281E-7AC8-A041-A9FE-9F0578D01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3941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0" name="Line 35">
            <a:extLst>
              <a:ext uri="{FF2B5EF4-FFF2-40B4-BE49-F238E27FC236}">
                <a16:creationId xmlns:a16="http://schemas.microsoft.com/office/drawing/2014/main" id="{8786D1AF-4F09-9E41-B464-763FF3EBEA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77000" y="4017963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71" name="Oval 36">
            <a:extLst>
              <a:ext uri="{FF2B5EF4-FFF2-40B4-BE49-F238E27FC236}">
                <a16:creationId xmlns:a16="http://schemas.microsoft.com/office/drawing/2014/main" id="{26C1DB38-2E50-064B-9395-A8576425E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2" name="Oval 37">
            <a:extLst>
              <a:ext uri="{FF2B5EF4-FFF2-40B4-BE49-F238E27FC236}">
                <a16:creationId xmlns:a16="http://schemas.microsoft.com/office/drawing/2014/main" id="{48F41950-1849-8E4D-8FEB-ACC638051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3" name="Text Box 38">
            <a:extLst>
              <a:ext uri="{FF2B5EF4-FFF2-40B4-BE49-F238E27FC236}">
                <a16:creationId xmlns:a16="http://schemas.microsoft.com/office/drawing/2014/main" id="{45FAFF44-80D3-604C-9262-6C5A108ED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5145088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4" name="Oval 39">
            <a:extLst>
              <a:ext uri="{FF2B5EF4-FFF2-40B4-BE49-F238E27FC236}">
                <a16:creationId xmlns:a16="http://schemas.microsoft.com/office/drawing/2014/main" id="{F65EC55D-1DD5-0D4F-BEB8-61F08B5E7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37893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5" name="Oval 40">
            <a:extLst>
              <a:ext uri="{FF2B5EF4-FFF2-40B4-BE49-F238E27FC236}">
                <a16:creationId xmlns:a16="http://schemas.microsoft.com/office/drawing/2014/main" id="{0AB61B08-E775-8946-AD26-B3735EBDDD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3865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6" name="Line 41">
            <a:extLst>
              <a:ext uri="{FF2B5EF4-FFF2-40B4-BE49-F238E27FC236}">
                <a16:creationId xmlns:a16="http://schemas.microsoft.com/office/drawing/2014/main" id="{5F10F312-0A2E-074B-920D-C0BAD75823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81600" y="424656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77" name="Line 42">
            <a:extLst>
              <a:ext uri="{FF2B5EF4-FFF2-40B4-BE49-F238E27FC236}">
                <a16:creationId xmlns:a16="http://schemas.microsoft.com/office/drawing/2014/main" id="{D8CF1FD8-994D-BD43-8B1E-F54CE7F96C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40179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78" name="Line 43">
            <a:extLst>
              <a:ext uri="{FF2B5EF4-FFF2-40B4-BE49-F238E27FC236}">
                <a16:creationId xmlns:a16="http://schemas.microsoft.com/office/drawing/2014/main" id="{C51FADB5-6D01-DB42-A3D0-A23FCC8713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95800" y="4170363"/>
            <a:ext cx="8382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79" name="Oval 44">
            <a:extLst>
              <a:ext uri="{FF2B5EF4-FFF2-40B4-BE49-F238E27FC236}">
                <a16:creationId xmlns:a16="http://schemas.microsoft.com/office/drawing/2014/main" id="{6C6C0F7F-EE41-C34C-8DC1-5B98D8855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3941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0" name="Line 45">
            <a:extLst>
              <a:ext uri="{FF2B5EF4-FFF2-40B4-BE49-F238E27FC236}">
                <a16:creationId xmlns:a16="http://schemas.microsoft.com/office/drawing/2014/main" id="{C187E7A9-110E-BA48-BF98-C40A11CFB0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86200" y="4017963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81" name="Oval 46">
            <a:extLst>
              <a:ext uri="{FF2B5EF4-FFF2-40B4-BE49-F238E27FC236}">
                <a16:creationId xmlns:a16="http://schemas.microsoft.com/office/drawing/2014/main" id="{7FCEA45F-EE2C-BC49-802E-A08907C9C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2" name="Oval 47">
            <a:extLst>
              <a:ext uri="{FF2B5EF4-FFF2-40B4-BE49-F238E27FC236}">
                <a16:creationId xmlns:a16="http://schemas.microsoft.com/office/drawing/2014/main" id="{A7BE6D3D-5A9E-F043-AEAC-F8C798FC9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3" name="Line 48">
            <a:extLst>
              <a:ext uri="{FF2B5EF4-FFF2-40B4-BE49-F238E27FC236}">
                <a16:creationId xmlns:a16="http://schemas.microsoft.com/office/drawing/2014/main" id="{1FF50B8B-9931-1A4A-BA90-91FEFD1E7F28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8800" y="49323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84" name="Text Box 49">
            <a:extLst>
              <a:ext uri="{FF2B5EF4-FFF2-40B4-BE49-F238E27FC236}">
                <a16:creationId xmlns:a16="http://schemas.microsoft.com/office/drawing/2014/main" id="{9DC7A649-A3EF-094F-B2C9-D48EE7767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5145088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5" name="Oval 50">
            <a:extLst>
              <a:ext uri="{FF2B5EF4-FFF2-40B4-BE49-F238E27FC236}">
                <a16:creationId xmlns:a16="http://schemas.microsoft.com/office/drawing/2014/main" id="{114BFCAF-1F0B-0748-9C80-21B459117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37893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6" name="Oval 51">
            <a:extLst>
              <a:ext uri="{FF2B5EF4-FFF2-40B4-BE49-F238E27FC236}">
                <a16:creationId xmlns:a16="http://schemas.microsoft.com/office/drawing/2014/main" id="{2E922AD0-681E-0440-8997-E54FD2FEB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3865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7" name="Line 52">
            <a:extLst>
              <a:ext uri="{FF2B5EF4-FFF2-40B4-BE49-F238E27FC236}">
                <a16:creationId xmlns:a16="http://schemas.microsoft.com/office/drawing/2014/main" id="{66D7C00A-9A13-7744-A746-9535F2FC64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14600" y="424656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88" name="Oval 53">
            <a:extLst>
              <a:ext uri="{FF2B5EF4-FFF2-40B4-BE49-F238E27FC236}">
                <a16:creationId xmlns:a16="http://schemas.microsoft.com/office/drawing/2014/main" id="{6FCF83B3-431E-724A-B132-D78044A10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3941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9" name="Line 54">
            <a:extLst>
              <a:ext uri="{FF2B5EF4-FFF2-40B4-BE49-F238E27FC236}">
                <a16:creationId xmlns:a16="http://schemas.microsoft.com/office/drawing/2014/main" id="{FB8AF68A-EE09-DA43-BF2A-FAD42CB3C01E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4322763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90" name="Line 55">
            <a:extLst>
              <a:ext uri="{FF2B5EF4-FFF2-40B4-BE49-F238E27FC236}">
                <a16:creationId xmlns:a16="http://schemas.microsoft.com/office/drawing/2014/main" id="{1C03E82A-8B98-634A-A629-22A1435205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72200" y="2057400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91" name="Line 56">
            <a:extLst>
              <a:ext uri="{FF2B5EF4-FFF2-40B4-BE49-F238E27FC236}">
                <a16:creationId xmlns:a16="http://schemas.microsoft.com/office/drawing/2014/main" id="{3B848CC8-4353-674B-ACB8-F4955CB835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57400" y="40179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92" name="AutoShape 57">
            <a:extLst>
              <a:ext uri="{FF2B5EF4-FFF2-40B4-BE49-F238E27FC236}">
                <a16:creationId xmlns:a16="http://schemas.microsoft.com/office/drawing/2014/main" id="{4CBC3E6E-91E4-4841-B940-F0EC82EB6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057400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3" name="AutoShape 58">
            <a:extLst>
              <a:ext uri="{FF2B5EF4-FFF2-40B4-BE49-F238E27FC236}">
                <a16:creationId xmlns:a16="http://schemas.microsoft.com/office/drawing/2014/main" id="{8158F62F-699C-C641-B6A8-1D23063AEE79}"/>
              </a:ext>
            </a:extLst>
          </p:cNvPr>
          <p:cNvSpPr>
            <a:spLocks noChangeArrowheads="1"/>
          </p:cNvSpPr>
          <p:nvPr/>
        </p:nvSpPr>
        <p:spPr bwMode="auto">
          <a:xfrm rot="1577064">
            <a:off x="4495800" y="3124200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4" name="AutoShape 59">
            <a:extLst>
              <a:ext uri="{FF2B5EF4-FFF2-40B4-BE49-F238E27FC236}">
                <a16:creationId xmlns:a16="http://schemas.microsoft.com/office/drawing/2014/main" id="{35E5C713-6D26-0D4A-B435-888AAF7043FA}"/>
              </a:ext>
            </a:extLst>
          </p:cNvPr>
          <p:cNvSpPr>
            <a:spLocks noChangeArrowheads="1"/>
          </p:cNvSpPr>
          <p:nvPr/>
        </p:nvSpPr>
        <p:spPr bwMode="auto">
          <a:xfrm rot="3318463">
            <a:off x="3390900" y="3429000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rot="10800000" vert="eaVert"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5" name="AutoShape 60">
            <a:extLst>
              <a:ext uri="{FF2B5EF4-FFF2-40B4-BE49-F238E27FC236}">
                <a16:creationId xmlns:a16="http://schemas.microsoft.com/office/drawing/2014/main" id="{C739D187-BF1B-4242-8456-E48676AFBA60}"/>
              </a:ext>
            </a:extLst>
          </p:cNvPr>
          <p:cNvSpPr>
            <a:spLocks noChangeArrowheads="1"/>
          </p:cNvSpPr>
          <p:nvPr/>
        </p:nvSpPr>
        <p:spPr bwMode="auto">
          <a:xfrm rot="7101525">
            <a:off x="1981200" y="3505200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rot="10800000" vert="eaVert"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6" name="Text Box 61">
            <a:extLst>
              <a:ext uri="{FF2B5EF4-FFF2-40B4-BE49-F238E27FC236}">
                <a16:creationId xmlns:a16="http://schemas.microsoft.com/office/drawing/2014/main" id="{11D023F1-E99D-2C42-A13D-BFDBF7BF9D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850" y="5549900"/>
            <a:ext cx="21764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的多棵生成树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7" name="Text Box 63">
            <a:extLst>
              <a:ext uri="{FF2B5EF4-FFF2-40B4-BE49-F238E27FC236}">
                <a16:creationId xmlns:a16="http://schemas.microsoft.com/office/drawing/2014/main" id="{2DFEC700-2A44-0C42-887B-B290BF1E8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307975"/>
            <a:ext cx="8064500" cy="1262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13.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设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G=(V,E),G'=(V',E'),</a:t>
            </a:r>
            <a:r>
              <a:rPr lang="en-US" altLang="zh-CN" sz="2400" dirty="0">
                <a:solidFill>
                  <a:srgbClr val="000000"/>
                </a:solidFill>
                <a:highlight>
                  <a:srgbClr val="00FFFF"/>
                </a:highlight>
                <a:latin typeface="宋体" panose="02010600030101010101" pitchFamily="2" charset="-122"/>
              </a:rPr>
              <a:t>V=V'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若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是连通图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,G'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的一个</a:t>
            </a:r>
            <a:r>
              <a:rPr lang="zh-CN" altLang="en-US" sz="2400" dirty="0">
                <a:solidFill>
                  <a:srgbClr val="0070C0"/>
                </a:solidFill>
                <a:latin typeface="宋体" panose="02010600030101010101" pitchFamily="2" charset="-122"/>
              </a:rPr>
              <a:t>极小连通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子图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 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则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的一棵生成树。</a:t>
            </a:r>
            <a:endParaRPr lang="zh-CN" altLang="en-US" sz="2400" b="0" dirty="0">
              <a:latin typeface="宋体" panose="02010600030101010101" pitchFamily="2" charset="-122"/>
            </a:endParaRPr>
          </a:p>
        </p:txBody>
      </p:sp>
      <p:sp>
        <p:nvSpPr>
          <p:cNvPr id="2" name="椭圆 1">
            <a:extLst>
              <a:ext uri="{FF2B5EF4-FFF2-40B4-BE49-F238E27FC236}">
                <a16:creationId xmlns:a16="http://schemas.microsoft.com/office/drawing/2014/main" id="{E880C1B8-A212-F64E-8E6B-2F3AA4EA0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1168400"/>
            <a:ext cx="838200" cy="360363"/>
          </a:xfrm>
          <a:prstGeom prst="ellipse">
            <a:avLst/>
          </a:prstGeom>
          <a:noFill/>
          <a:ln w="9525" algn="ctr">
            <a:solidFill>
              <a:srgbClr val="C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cxnSp>
        <p:nvCxnSpPr>
          <p:cNvPr id="4" name="直线箭头连接符 3">
            <a:extLst>
              <a:ext uri="{FF2B5EF4-FFF2-40B4-BE49-F238E27FC236}">
                <a16:creationId xmlns:a16="http://schemas.microsoft.com/office/drawing/2014/main" id="{114C0E87-169E-3849-8565-16F70627E98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028700" y="1512888"/>
            <a:ext cx="190500" cy="468312"/>
          </a:xfrm>
          <a:prstGeom prst="straightConnector1">
            <a:avLst/>
          </a:prstGeom>
          <a:noFill/>
          <a:ln w="9525" algn="ctr">
            <a:solidFill>
              <a:srgbClr val="C0000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" name="文本框 4">
            <a:extLst>
              <a:ext uri="{FF2B5EF4-FFF2-40B4-BE49-F238E27FC236}">
                <a16:creationId xmlns:a16="http://schemas.microsoft.com/office/drawing/2014/main" id="{2456783D-2C56-8643-89B3-829D19AFE8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00" y="2068513"/>
            <a:ext cx="2146300" cy="193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C00000"/>
                </a:solidFill>
              </a:rPr>
              <a:t>含有图中全部</a:t>
            </a:r>
            <a:r>
              <a:rPr lang="en-US" altLang="zh-CN" sz="2400">
                <a:solidFill>
                  <a:srgbClr val="C00000"/>
                </a:solidFill>
              </a:rPr>
              <a:t>n</a:t>
            </a:r>
            <a:r>
              <a:rPr lang="zh-CN" altLang="en-US" sz="2400">
                <a:solidFill>
                  <a:srgbClr val="C00000"/>
                </a:solidFill>
              </a:rPr>
              <a:t>个顶点，但只有足以构成一棵树的</a:t>
            </a:r>
            <a:r>
              <a:rPr lang="en-US" altLang="zh-CN" sz="2400">
                <a:solidFill>
                  <a:srgbClr val="C00000"/>
                </a:solidFill>
              </a:rPr>
              <a:t>n-1</a:t>
            </a:r>
            <a:r>
              <a:rPr lang="zh-CN" altLang="en-US" sz="2400">
                <a:solidFill>
                  <a:srgbClr val="C00000"/>
                </a:solidFill>
              </a:rPr>
              <a:t>条边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5" name="灯片编号占位符 3">
            <a:extLst>
              <a:ext uri="{FF2B5EF4-FFF2-40B4-BE49-F238E27FC236}">
                <a16:creationId xmlns:a16="http://schemas.microsoft.com/office/drawing/2014/main" id="{51B85ED4-0290-DA40-94CB-54E6A0E4143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3B72218-EB97-3B4C-B839-2256198988B1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41986" name="Text Box 3">
            <a:extLst>
              <a:ext uri="{FF2B5EF4-FFF2-40B4-BE49-F238E27FC236}">
                <a16:creationId xmlns:a16="http://schemas.microsoft.com/office/drawing/2014/main" id="{C5E5EE05-8F56-6C40-B447-425B31C0B4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775" y="836613"/>
            <a:ext cx="8712200" cy="5970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10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(1) CreateCraph(&amp;G,V,VR)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根据顶点集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和关系集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VR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生成图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(2) DestroyCraph(&amp;G)  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销毁图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(3) Locate(G,u)       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查找顶点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的位置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(4) GetVex(G,</a:t>
            </a:r>
            <a:r>
              <a:rPr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       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读取顶点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的信息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(5) PutVex(&amp;G,</a:t>
            </a:r>
            <a:r>
              <a:rPr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,value)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给顶点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的赋值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value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(6) FirstAdjVex(G,v)  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读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的第一个邻接顶点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(7) NextAdjVex(G,v,w) 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读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v(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相对于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w)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的下一个邻接顶点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(8) InsertVex(&amp;G,v)   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插入顶点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(9) DeleteVex(&amp;G,v)   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删除顶点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(10) InsertArc(&amp;G,v,w)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插入弧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&lt;v,w&gt;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(11) DeleteArc(&amp;G,v,w)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删除弧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&lt;v,w&gt;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(12) DFSTraverse(G,visit())   </a:t>
            </a:r>
            <a:r>
              <a:rPr lang="zh-CN" altLang="en-US" sz="2400">
                <a:solidFill>
                  <a:srgbClr val="C00000"/>
                </a:solidFill>
                <a:latin typeface="宋体" panose="02010600030101010101" pitchFamily="2" charset="-122"/>
              </a:rPr>
              <a:t>深度优先遍历图</a:t>
            </a:r>
            <a:endParaRPr lang="en-US" altLang="zh-CN" sz="2400">
              <a:solidFill>
                <a:srgbClr val="C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(13) BFSTraverse(G,visit())   </a:t>
            </a:r>
            <a:r>
              <a:rPr lang="zh-CN" altLang="en-US" sz="2400">
                <a:solidFill>
                  <a:srgbClr val="C00000"/>
                </a:solidFill>
                <a:latin typeface="宋体" panose="02010600030101010101" pitchFamily="2" charset="-122"/>
              </a:rPr>
              <a:t>宽度优先遍历图</a:t>
            </a:r>
            <a:endParaRPr lang="en-US" altLang="zh-CN" sz="2400">
              <a:solidFill>
                <a:srgbClr val="C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......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en-US" altLang="zh-CN" sz="2400">
              <a:latin typeface="宋体" panose="02010600030101010101" pitchFamily="2" charset="-122"/>
            </a:endParaRPr>
          </a:p>
        </p:txBody>
      </p:sp>
      <p:sp>
        <p:nvSpPr>
          <p:cNvPr id="41987" name="Text Box 4">
            <a:extLst>
              <a:ext uri="{FF2B5EF4-FFF2-40B4-BE49-F238E27FC236}">
                <a16:creationId xmlns:a16="http://schemas.microsoft.com/office/drawing/2014/main" id="{C0ACC003-E6B0-E84F-9B76-2869BCBD6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188" y="409575"/>
            <a:ext cx="49688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14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.</a:t>
            </a:r>
            <a:r>
              <a:rPr lang="en-US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图的操作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灯片编号占位符 3">
            <a:extLst>
              <a:ext uri="{FF2B5EF4-FFF2-40B4-BE49-F238E27FC236}">
                <a16:creationId xmlns:a16="http://schemas.microsoft.com/office/drawing/2014/main" id="{10E92D41-5AED-DE40-82FE-655603782C9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FC0E92D-DC0E-8F45-B080-FBA52A3FF6B2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44034" name="Text Box 33">
            <a:extLst>
              <a:ext uri="{FF2B5EF4-FFF2-40B4-BE49-F238E27FC236}">
                <a16:creationId xmlns:a16="http://schemas.microsoft.com/office/drawing/2014/main" id="{EE31B9BF-EE83-D649-BB1E-7BCE5FD1A3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313" y="549275"/>
            <a:ext cx="8424862" cy="2369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dirty="0">
                <a:solidFill>
                  <a:srgbClr val="000000"/>
                </a:solidFill>
                <a:latin typeface="宋体" panose="02010600030101010101" pitchFamily="2" charset="-122"/>
              </a:rPr>
              <a:t>7.2 </a:t>
            </a:r>
            <a:r>
              <a:rPr lang="zh-CN" altLang="en-US" dirty="0">
                <a:solidFill>
                  <a:srgbClr val="000000"/>
                </a:solidFill>
                <a:latin typeface="宋体" panose="02010600030101010101" pitchFamily="2" charset="-122"/>
              </a:rPr>
              <a:t>图的存储结构</a:t>
            </a:r>
            <a:r>
              <a:rPr lang="en-US" altLang="zh-CN" dirty="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  <a:r>
              <a:rPr lang="zh-CN" altLang="en-US" dirty="0">
                <a:solidFill>
                  <a:srgbClr val="000000"/>
                </a:solidFill>
                <a:latin typeface="宋体" panose="02010600030101010101" pitchFamily="2" charset="-122"/>
              </a:rPr>
              <a:t>顶点集；关系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8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7.2.1 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数组表示法</a:t>
            </a: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/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顺序</a:t>
            </a: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+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顺序</a:t>
            </a: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8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顶点数组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---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用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一维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数组存储顶点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元素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---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用二维数组存储顶点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元素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之间的关系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边或弧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endParaRPr lang="en-US" altLang="zh-CN" sz="2400" dirty="0">
              <a:latin typeface="宋体" panose="02010600030101010101" pitchFamily="2" charset="-122"/>
            </a:endParaRPr>
          </a:p>
        </p:txBody>
      </p:sp>
      <p:sp>
        <p:nvSpPr>
          <p:cNvPr id="44035" name="Oval 3">
            <a:extLst>
              <a:ext uri="{FF2B5EF4-FFF2-40B4-BE49-F238E27FC236}">
                <a16:creationId xmlns:a16="http://schemas.microsoft.com/office/drawing/2014/main" id="{B404F8D0-1C3A-F146-943C-6A2F6DB02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0625" y="34671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4036" name="Oval 4">
            <a:extLst>
              <a:ext uri="{FF2B5EF4-FFF2-40B4-BE49-F238E27FC236}">
                <a16:creationId xmlns:a16="http://schemas.microsoft.com/office/drawing/2014/main" id="{B86644F5-FAC6-8748-84E4-102342843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41529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4037" name="Oval 5">
            <a:extLst>
              <a:ext uri="{FF2B5EF4-FFF2-40B4-BE49-F238E27FC236}">
                <a16:creationId xmlns:a16="http://schemas.microsoft.com/office/drawing/2014/main" id="{AAD4380F-3178-D64C-B4AC-4378BD2FA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9225" y="41529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4038" name="Text Box 6">
            <a:extLst>
              <a:ext uri="{FF2B5EF4-FFF2-40B4-BE49-F238E27FC236}">
                <a16:creationId xmlns:a16="http://schemas.microsoft.com/office/drawing/2014/main" id="{1A46A420-11A5-934E-A8EB-F7548CE0B5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863" y="4811713"/>
            <a:ext cx="9588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noProof="1">
                <a:solidFill>
                  <a:srgbClr val="000000"/>
                </a:solidFill>
                <a:latin typeface="宋体" panose="02010600030101010101" pitchFamily="2" charset="-122"/>
              </a:rPr>
              <a:t>无向图</a:t>
            </a:r>
            <a:endParaRPr kumimoji="0" lang="zh-CN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4039" name="Line 7">
            <a:extLst>
              <a:ext uri="{FF2B5EF4-FFF2-40B4-BE49-F238E27FC236}">
                <a16:creationId xmlns:a16="http://schemas.microsoft.com/office/drawing/2014/main" id="{17EFC665-5C7E-994C-A434-CB2CFB2DDA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2025" y="384810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040" name="Line 8">
            <a:extLst>
              <a:ext uri="{FF2B5EF4-FFF2-40B4-BE49-F238E27FC236}">
                <a16:creationId xmlns:a16="http://schemas.microsoft.com/office/drawing/2014/main" id="{0EE8CF88-C8F7-5B43-810F-98ABEF510015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9225" y="3848100"/>
            <a:ext cx="152400" cy="320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041" name="Oval 9">
            <a:extLst>
              <a:ext uri="{FF2B5EF4-FFF2-40B4-BE49-F238E27FC236}">
                <a16:creationId xmlns:a16="http://schemas.microsoft.com/office/drawing/2014/main" id="{833D2A74-32CA-D34A-9A9D-B0EA96EF0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34671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4042" name="Line 10">
            <a:extLst>
              <a:ext uri="{FF2B5EF4-FFF2-40B4-BE49-F238E27FC236}">
                <a16:creationId xmlns:a16="http://schemas.microsoft.com/office/drawing/2014/main" id="{8E1650EC-351C-4141-AC9E-C4AE9598B49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8225" y="432117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Text Box 11">
            <a:extLst>
              <a:ext uri="{FF2B5EF4-FFF2-40B4-BE49-F238E27FC236}">
                <a16:creationId xmlns:a16="http://schemas.microsoft.com/office/drawing/2014/main" id="{2E0FAFFB-DA2E-424E-AB16-F814E8A91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6350" y="2924175"/>
            <a:ext cx="2787650" cy="1938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   0  1  2  3</a:t>
            </a:r>
          </a:p>
          <a:p>
            <a:pPr eaLnBrk="1" hangingPunct="1"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0  0  0  1  1</a:t>
            </a:r>
          </a:p>
          <a:p>
            <a:pPr eaLnBrk="1" hangingPunct="1"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1  0  0  0  0</a:t>
            </a:r>
          </a:p>
          <a:p>
            <a:pPr marL="457200" indent="-457200" eaLnBrk="1" hangingPunct="1">
              <a:buFontTx/>
              <a:buAutoNum type="arabicPlain" startAt="2"/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1  0  0  1</a:t>
            </a:r>
          </a:p>
          <a:p>
            <a:pPr marL="457200" indent="-457200" eaLnBrk="1" hangingPunct="1">
              <a:buFontTx/>
              <a:buAutoNum type="arabicPlain" startAt="2"/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1  0  1  0</a:t>
            </a:r>
          </a:p>
        </p:txBody>
      </p:sp>
      <p:sp>
        <p:nvSpPr>
          <p:cNvPr id="32" name="AutoShape 12">
            <a:extLst>
              <a:ext uri="{FF2B5EF4-FFF2-40B4-BE49-F238E27FC236}">
                <a16:creationId xmlns:a16="http://schemas.microsoft.com/office/drawing/2014/main" id="{13B2D6AB-D68A-1748-8CCB-C6159AD42119}"/>
              </a:ext>
            </a:extLst>
          </p:cNvPr>
          <p:cNvSpPr>
            <a:spLocks/>
          </p:cNvSpPr>
          <p:nvPr/>
        </p:nvSpPr>
        <p:spPr bwMode="auto">
          <a:xfrm>
            <a:off x="6805613" y="3381375"/>
            <a:ext cx="69850" cy="1465263"/>
          </a:xfrm>
          <a:prstGeom prst="leftBracket">
            <a:avLst>
              <a:gd name="adj" fmla="val 153348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33" name="AutoShape 13">
            <a:extLst>
              <a:ext uri="{FF2B5EF4-FFF2-40B4-BE49-F238E27FC236}">
                <a16:creationId xmlns:a16="http://schemas.microsoft.com/office/drawing/2014/main" id="{65552954-3D72-D64D-9068-9B6B91AAA7E0}"/>
              </a:ext>
            </a:extLst>
          </p:cNvPr>
          <p:cNvSpPr>
            <a:spLocks/>
          </p:cNvSpPr>
          <p:nvPr/>
        </p:nvSpPr>
        <p:spPr bwMode="auto">
          <a:xfrm flipH="1">
            <a:off x="8562975" y="3457575"/>
            <a:ext cx="46038" cy="1389063"/>
          </a:xfrm>
          <a:prstGeom prst="leftBracket">
            <a:avLst>
              <a:gd name="adj" fmla="val 148765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34" name="Line 16">
            <a:extLst>
              <a:ext uri="{FF2B5EF4-FFF2-40B4-BE49-F238E27FC236}">
                <a16:creationId xmlns:a16="http://schemas.microsoft.com/office/drawing/2014/main" id="{B7B7C36E-BD27-204A-B2A5-C79841912EFF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7213" y="3449638"/>
            <a:ext cx="1581150" cy="1311275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Rectangle 17">
            <a:extLst>
              <a:ext uri="{FF2B5EF4-FFF2-40B4-BE49-F238E27FC236}">
                <a16:creationId xmlns:a16="http://schemas.microsoft.com/office/drawing/2014/main" id="{F5E5A68D-A697-FD45-90AD-1E1F4D0E2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2588" y="5095875"/>
            <a:ext cx="17367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arcs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6" name="Text Box 30">
            <a:extLst>
              <a:ext uri="{FF2B5EF4-FFF2-40B4-BE49-F238E27FC236}">
                <a16:creationId xmlns:a16="http://schemas.microsoft.com/office/drawing/2014/main" id="{3904EC11-0CE6-2E4B-BEE8-4EFFD58DB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8938" y="3994150"/>
            <a:ext cx="22463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0    1   2    3  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7" name="Text Box 31">
            <a:extLst>
              <a:ext uri="{FF2B5EF4-FFF2-40B4-BE49-F238E27FC236}">
                <a16:creationId xmlns:a16="http://schemas.microsoft.com/office/drawing/2014/main" id="{0BA502FA-D4FF-AB46-B31C-A2FC5C279D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6100" y="4448175"/>
            <a:ext cx="17367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顶点数组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vexs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38" name="Group 18">
            <a:extLst>
              <a:ext uri="{FF2B5EF4-FFF2-40B4-BE49-F238E27FC236}">
                <a16:creationId xmlns:a16="http://schemas.microsoft.com/office/drawing/2014/main" id="{97A26DFF-A7D8-FF4C-BD4F-F1460E845189}"/>
              </a:ext>
            </a:extLst>
          </p:cNvPr>
          <p:cNvGraphicFramePr>
            <a:graphicFrameLocks noGrp="1"/>
          </p:cNvGraphicFramePr>
          <p:nvPr/>
        </p:nvGraphicFramePr>
        <p:xfrm>
          <a:off x="2771775" y="3551238"/>
          <a:ext cx="2314574" cy="822960"/>
        </p:xfrm>
        <a:graphic>
          <a:graphicData uri="http://schemas.openxmlformats.org/drawingml/2006/table">
            <a:tbl>
              <a:tblPr/>
              <a:tblGrid>
                <a:gridCol w="5976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91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76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00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27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1</a:t>
                      </a: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46" marR="9144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2</a:t>
                      </a: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46" marR="9144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3</a:t>
                      </a:r>
                      <a:endParaRPr kumimoji="1" lang="en-US" altLang="zh-CN" sz="24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46" marR="9144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4</a:t>
                      </a:r>
                      <a:endParaRPr kumimoji="1" lang="en-US" altLang="zh-CN" sz="24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46" marR="9144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 animBg="1"/>
      <p:bldP spid="33" grpId="0" animBg="1"/>
      <p:bldP spid="35" grpId="0"/>
      <p:bldP spid="36" grpId="0"/>
      <p:bldP spid="37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灯片编号占位符 3">
            <a:extLst>
              <a:ext uri="{FF2B5EF4-FFF2-40B4-BE49-F238E27FC236}">
                <a16:creationId xmlns:a16="http://schemas.microsoft.com/office/drawing/2014/main" id="{0B12EE35-F3EE-9D43-BF76-93DB03D855D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6C578D0-D88C-D44F-B38B-2D56660FF98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79231" name="Text Box 31">
            <a:extLst>
              <a:ext uri="{FF2B5EF4-FFF2-40B4-BE49-F238E27FC236}">
                <a16:creationId xmlns:a16="http://schemas.microsoft.com/office/drawing/2014/main" id="{3BA17FF0-67E4-4B48-938E-0A1455766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1725" y="3009900"/>
            <a:ext cx="7215188" cy="31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TD(v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arcs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中第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行元素之和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n-1        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=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arcs[i][j]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  j=0         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或：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TD(v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arcs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中第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列元素之和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n-1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=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arcs [j][i]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  j=0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083" name="Oval 3">
            <a:extLst>
              <a:ext uri="{FF2B5EF4-FFF2-40B4-BE49-F238E27FC236}">
                <a16:creationId xmlns:a16="http://schemas.microsoft.com/office/drawing/2014/main" id="{4DEB42F9-329B-A24A-8648-064782E5C5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2063" y="9572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084" name="Oval 4">
            <a:extLst>
              <a:ext uri="{FF2B5EF4-FFF2-40B4-BE49-F238E27FC236}">
                <a16:creationId xmlns:a16="http://schemas.microsoft.com/office/drawing/2014/main" id="{98B48B53-BA51-0E4B-8C67-05A5E0352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663" y="16430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085" name="Oval 5">
            <a:extLst>
              <a:ext uri="{FF2B5EF4-FFF2-40B4-BE49-F238E27FC236}">
                <a16:creationId xmlns:a16="http://schemas.microsoft.com/office/drawing/2014/main" id="{D697191F-E138-9648-AE0E-9084C54CA9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0663" y="16430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086" name="Text Box 6">
            <a:extLst>
              <a:ext uri="{FF2B5EF4-FFF2-40B4-BE49-F238E27FC236}">
                <a16:creationId xmlns:a16="http://schemas.microsoft.com/office/drawing/2014/main" id="{49556BA5-C4C3-3941-B01D-DB4A0BA90E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0513" y="2084388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087" name="Line 7">
            <a:extLst>
              <a:ext uri="{FF2B5EF4-FFF2-40B4-BE49-F238E27FC236}">
                <a16:creationId xmlns:a16="http://schemas.microsoft.com/office/drawing/2014/main" id="{660EB879-0205-414D-88E1-C5DD47EB19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3463" y="1338263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88" name="Line 8">
            <a:extLst>
              <a:ext uri="{FF2B5EF4-FFF2-40B4-BE49-F238E27FC236}">
                <a16:creationId xmlns:a16="http://schemas.microsoft.com/office/drawing/2014/main" id="{29DF2D35-01B8-B843-B1FB-55FD96B7DD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0663" y="1338263"/>
            <a:ext cx="152400" cy="320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89" name="Oval 9">
            <a:extLst>
              <a:ext uri="{FF2B5EF4-FFF2-40B4-BE49-F238E27FC236}">
                <a16:creationId xmlns:a16="http://schemas.microsoft.com/office/drawing/2014/main" id="{91AB5412-05D7-5B42-8455-3E5DC2047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9572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baseline="-25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090" name="Line 10">
            <a:extLst>
              <a:ext uri="{FF2B5EF4-FFF2-40B4-BE49-F238E27FC236}">
                <a16:creationId xmlns:a16="http://schemas.microsoft.com/office/drawing/2014/main" id="{00EBC092-3A4E-5446-9033-F9FBB2551EFF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9663" y="1811338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91" name="Text Box 11">
            <a:extLst>
              <a:ext uri="{FF2B5EF4-FFF2-40B4-BE49-F238E27FC236}">
                <a16:creationId xmlns:a16="http://schemas.microsoft.com/office/drawing/2014/main" id="{0BA9F3C8-C768-5247-9B03-DCF1A553CE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9688" y="652463"/>
            <a:ext cx="2286000" cy="193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0  1  2  3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0  0  0  1  1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1  0  0  0  0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2  1  0  0  1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3  1  0  1  0      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092" name="AutoShape 12">
            <a:extLst>
              <a:ext uri="{FF2B5EF4-FFF2-40B4-BE49-F238E27FC236}">
                <a16:creationId xmlns:a16="http://schemas.microsoft.com/office/drawing/2014/main" id="{4477B956-B463-BD49-BD28-CF743D3B6EC2}"/>
              </a:ext>
            </a:extLst>
          </p:cNvPr>
          <p:cNvSpPr>
            <a:spLocks/>
          </p:cNvSpPr>
          <p:nvPr/>
        </p:nvSpPr>
        <p:spPr bwMode="auto">
          <a:xfrm>
            <a:off x="6838950" y="1109663"/>
            <a:ext cx="76200" cy="1371600"/>
          </a:xfrm>
          <a:prstGeom prst="leftBracket">
            <a:avLst>
              <a:gd name="adj" fmla="val 1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46093" name="AutoShape 13">
            <a:extLst>
              <a:ext uri="{FF2B5EF4-FFF2-40B4-BE49-F238E27FC236}">
                <a16:creationId xmlns:a16="http://schemas.microsoft.com/office/drawing/2014/main" id="{D0CBA576-D6D1-C246-B4BB-A9185C672EA0}"/>
              </a:ext>
            </a:extLst>
          </p:cNvPr>
          <p:cNvSpPr>
            <a:spLocks/>
          </p:cNvSpPr>
          <p:nvPr/>
        </p:nvSpPr>
        <p:spPr bwMode="auto">
          <a:xfrm flipH="1">
            <a:off x="8667750" y="1185863"/>
            <a:ext cx="76200" cy="1371600"/>
          </a:xfrm>
          <a:prstGeom prst="leftBracket">
            <a:avLst>
              <a:gd name="adj" fmla="val 1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46094" name="Text Box 14">
            <a:extLst>
              <a:ext uri="{FF2B5EF4-FFF2-40B4-BE49-F238E27FC236}">
                <a16:creationId xmlns:a16="http://schemas.microsoft.com/office/drawing/2014/main" id="{DBBE8B21-99EC-C24B-AB01-837DA07DA2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0738" y="1566863"/>
            <a:ext cx="492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M=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095" name="Text Box 15">
            <a:extLst>
              <a:ext uri="{FF2B5EF4-FFF2-40B4-BE49-F238E27FC236}">
                <a16:creationId xmlns:a16="http://schemas.microsoft.com/office/drawing/2014/main" id="{2675E500-A3A0-9F4E-9DB3-B70DFFA2A2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3" y="412750"/>
            <a:ext cx="7207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例</a:t>
            </a:r>
            <a:r>
              <a:rPr kumimoji="0"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096" name="Line 16">
            <a:extLst>
              <a:ext uri="{FF2B5EF4-FFF2-40B4-BE49-F238E27FC236}">
                <a16:creationId xmlns:a16="http://schemas.microsoft.com/office/drawing/2014/main" id="{BFB3A3E8-13C2-7A4B-9CCF-081F063008E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38950" y="1033463"/>
            <a:ext cx="1981200" cy="16002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97" name="Rectangle 17">
            <a:extLst>
              <a:ext uri="{FF2B5EF4-FFF2-40B4-BE49-F238E27FC236}">
                <a16:creationId xmlns:a16="http://schemas.microsoft.com/office/drawing/2014/main" id="{04669925-8D4B-B343-8CD0-E3AB1B55C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7538" y="2609850"/>
            <a:ext cx="1206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endParaRPr kumimoji="0" lang="zh-CN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76" name="Group 18">
            <a:extLst>
              <a:ext uri="{FF2B5EF4-FFF2-40B4-BE49-F238E27FC236}">
                <a16:creationId xmlns:a16="http://schemas.microsoft.com/office/drawing/2014/main" id="{CF4ED868-90BE-B44E-8D7B-5CF0D5F24CFD}"/>
              </a:ext>
            </a:extLst>
          </p:cNvPr>
          <p:cNvGraphicFramePr>
            <a:graphicFrameLocks noGrp="1"/>
          </p:cNvGraphicFramePr>
          <p:nvPr/>
        </p:nvGraphicFramePr>
        <p:xfrm>
          <a:off x="2916238" y="1484313"/>
          <a:ext cx="2833688" cy="822960"/>
        </p:xfrm>
        <a:graphic>
          <a:graphicData uri="http://schemas.openxmlformats.org/drawingml/2006/table">
            <a:tbl>
              <a:tblPr/>
              <a:tblGrid>
                <a:gridCol w="597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89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74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987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98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7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1</a:t>
                      </a: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16" marR="914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2</a:t>
                      </a: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16" marR="914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3</a:t>
                      </a:r>
                      <a:endParaRPr kumimoji="1" lang="en-US" altLang="zh-CN" sz="24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16" marR="914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4</a:t>
                      </a:r>
                      <a:endParaRPr kumimoji="1" lang="en-US" altLang="zh-CN" sz="24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16" marR="914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-2500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…</a:t>
                      </a:r>
                    </a:p>
                  </a:txBody>
                  <a:tcPr marL="91416" marR="914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6112" name="Text Box 30">
            <a:extLst>
              <a:ext uri="{FF2B5EF4-FFF2-40B4-BE49-F238E27FC236}">
                <a16:creationId xmlns:a16="http://schemas.microsoft.com/office/drawing/2014/main" id="{746F866C-79E2-1047-92CE-8877830EDA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7675" y="2009775"/>
            <a:ext cx="2808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0    1    2    3  …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113" name="Text Box 31">
            <a:extLst>
              <a:ext uri="{FF2B5EF4-FFF2-40B4-BE49-F238E27FC236}">
                <a16:creationId xmlns:a16="http://schemas.microsoft.com/office/drawing/2014/main" id="{A1079F0F-33DD-7B49-9E98-C34EF5BE16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36963" y="2393950"/>
            <a:ext cx="1206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顶点数组</a:t>
            </a:r>
            <a:endParaRPr kumimoji="0" lang="zh-CN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114" name="Text Box 32">
            <a:extLst>
              <a:ext uri="{FF2B5EF4-FFF2-40B4-BE49-F238E27FC236}">
                <a16:creationId xmlns:a16="http://schemas.microsoft.com/office/drawing/2014/main" id="{C70EB374-D43F-394F-880F-755787837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7313" y="981075"/>
            <a:ext cx="3302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V[0...max_vertext_num-1]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6115" name="文本框 1">
            <a:extLst>
              <a:ext uri="{FF2B5EF4-FFF2-40B4-BE49-F238E27FC236}">
                <a16:creationId xmlns:a16="http://schemas.microsoft.com/office/drawing/2014/main" id="{F6EF0A0B-8755-1D40-B755-B50BB50BA4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38" y="469900"/>
            <a:ext cx="30432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>
                <a:solidFill>
                  <a:srgbClr val="C00000"/>
                </a:solidFill>
              </a:rPr>
              <a:t>无向图</a:t>
            </a:r>
            <a:r>
              <a:rPr lang="zh-CN" altLang="en-US" sz="2400" dirty="0"/>
              <a:t>的数组表示法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92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92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92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92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92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92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92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92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923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923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92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92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923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923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923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923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923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923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灯片编号占位符 3">
            <a:extLst>
              <a:ext uri="{FF2B5EF4-FFF2-40B4-BE49-F238E27FC236}">
                <a16:creationId xmlns:a16="http://schemas.microsoft.com/office/drawing/2014/main" id="{54DC9996-70EE-B14E-B56F-5EE5DB30BCC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D0A484F-97AA-924D-8B93-B8ACED1CD67A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48130" name="Text Box 15">
            <a:extLst>
              <a:ext uri="{FF2B5EF4-FFF2-40B4-BE49-F238E27FC236}">
                <a16:creationId xmlns:a16="http://schemas.microsoft.com/office/drawing/2014/main" id="{BC62F17C-8B1A-B747-B380-10747294A7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3950" y="3009900"/>
            <a:ext cx="7769225" cy="2899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顶点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的出度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OD(v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)=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arcs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中第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行元素之和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         </a:t>
            </a:r>
            <a:r>
              <a:rPr kumimoji="0" lang="en-US" altLang="zh-CN" sz="1800" dirty="0">
                <a:solidFill>
                  <a:srgbClr val="000000"/>
                </a:solidFill>
                <a:latin typeface="宋体" panose="02010600030101010101" pitchFamily="2" charset="-122"/>
              </a:rPr>
              <a:t>n-1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       =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∑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arcs[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][j]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         </a:t>
            </a:r>
            <a:r>
              <a:rPr kumimoji="0" lang="en-US" altLang="zh-CN" sz="1800" dirty="0">
                <a:solidFill>
                  <a:srgbClr val="000000"/>
                </a:solidFill>
                <a:latin typeface="宋体" panose="02010600030101010101" pitchFamily="2" charset="-122"/>
              </a:rPr>
              <a:t>j=0 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顶点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的入度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ID(v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)=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arcs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中第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列元素之和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         </a:t>
            </a:r>
            <a:r>
              <a:rPr kumimoji="0" lang="en-US" altLang="zh-CN" sz="1800" dirty="0">
                <a:solidFill>
                  <a:srgbClr val="000000"/>
                </a:solidFill>
                <a:latin typeface="宋体" panose="02010600030101010101" pitchFamily="2" charset="-122"/>
              </a:rPr>
              <a:t>n-1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       =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∑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arcs [j][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]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         </a:t>
            </a:r>
            <a:r>
              <a:rPr kumimoji="0" lang="en-US" altLang="zh-CN" sz="1800" dirty="0">
                <a:solidFill>
                  <a:srgbClr val="000000"/>
                </a:solidFill>
                <a:latin typeface="宋体" panose="02010600030101010101" pitchFamily="2" charset="-122"/>
              </a:rPr>
              <a:t>j=0         </a:t>
            </a:r>
          </a:p>
        </p:txBody>
      </p:sp>
      <p:sp>
        <p:nvSpPr>
          <p:cNvPr id="48131" name="Oval 3">
            <a:extLst>
              <a:ext uri="{FF2B5EF4-FFF2-40B4-BE49-F238E27FC236}">
                <a16:creationId xmlns:a16="http://schemas.microsoft.com/office/drawing/2014/main" id="{46E05DE9-3999-1E4D-A445-F1FEA89E1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1150" y="21177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</a:p>
        </p:txBody>
      </p:sp>
      <p:sp>
        <p:nvSpPr>
          <p:cNvPr id="48132" name="Oval 4">
            <a:extLst>
              <a:ext uri="{FF2B5EF4-FFF2-40B4-BE49-F238E27FC236}">
                <a16:creationId xmlns:a16="http://schemas.microsoft.com/office/drawing/2014/main" id="{B82C680B-4CA5-FE42-86D7-8CF00FEBA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1550" y="1203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</a:p>
        </p:txBody>
      </p:sp>
      <p:sp>
        <p:nvSpPr>
          <p:cNvPr id="48133" name="Oval 5">
            <a:extLst>
              <a:ext uri="{FF2B5EF4-FFF2-40B4-BE49-F238E27FC236}">
                <a16:creationId xmlns:a16="http://schemas.microsoft.com/office/drawing/2014/main" id="{AB2AD39B-896A-674C-BC82-B09352157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8975" y="12207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</a:p>
        </p:txBody>
      </p:sp>
      <p:sp>
        <p:nvSpPr>
          <p:cNvPr id="48134" name="Line 6">
            <a:extLst>
              <a:ext uri="{FF2B5EF4-FFF2-40B4-BE49-F238E27FC236}">
                <a16:creationId xmlns:a16="http://schemas.microsoft.com/office/drawing/2014/main" id="{BF2D7D66-1EA5-B143-935E-D632B175D2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09750" y="1557338"/>
            <a:ext cx="241300" cy="560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35" name="Line 7">
            <a:extLst>
              <a:ext uri="{FF2B5EF4-FFF2-40B4-BE49-F238E27FC236}">
                <a16:creationId xmlns:a16="http://schemas.microsoft.com/office/drawing/2014/main" id="{6D7A86F1-F22B-8542-AD82-8C784846066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331913" y="1412875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36" name="Line 8">
            <a:extLst>
              <a:ext uri="{FF2B5EF4-FFF2-40B4-BE49-F238E27FC236}">
                <a16:creationId xmlns:a16="http://schemas.microsoft.com/office/drawing/2014/main" id="{C243B353-B752-164E-8350-1EB926D1DE7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276350" y="1524000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37" name="Text Box 9">
            <a:extLst>
              <a:ext uri="{FF2B5EF4-FFF2-40B4-BE49-F238E27FC236}">
                <a16:creationId xmlns:a16="http://schemas.microsoft.com/office/drawing/2014/main" id="{99A28380-64C0-B945-839B-9A45C3A0C5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4913" y="746125"/>
            <a:ext cx="228600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0  1  2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0  0  0  1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1  1  0  0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2  1  1  0</a:t>
            </a:r>
          </a:p>
        </p:txBody>
      </p:sp>
      <p:sp>
        <p:nvSpPr>
          <p:cNvPr id="48138" name="AutoShape 10">
            <a:extLst>
              <a:ext uri="{FF2B5EF4-FFF2-40B4-BE49-F238E27FC236}">
                <a16:creationId xmlns:a16="http://schemas.microsoft.com/office/drawing/2014/main" id="{27B3FD5A-16C9-8B4F-ACE1-553AA5131497}"/>
              </a:ext>
            </a:extLst>
          </p:cNvPr>
          <p:cNvSpPr>
            <a:spLocks/>
          </p:cNvSpPr>
          <p:nvPr/>
        </p:nvSpPr>
        <p:spPr bwMode="auto">
          <a:xfrm>
            <a:off x="6665913" y="1203325"/>
            <a:ext cx="152400" cy="1066800"/>
          </a:xfrm>
          <a:prstGeom prst="leftBracket">
            <a:avLst>
              <a:gd name="adj" fmla="val 58333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48139" name="AutoShape 11">
            <a:extLst>
              <a:ext uri="{FF2B5EF4-FFF2-40B4-BE49-F238E27FC236}">
                <a16:creationId xmlns:a16="http://schemas.microsoft.com/office/drawing/2014/main" id="{74E80AF5-249D-FE4A-87FB-8EA741600DFD}"/>
              </a:ext>
            </a:extLst>
          </p:cNvPr>
          <p:cNvSpPr>
            <a:spLocks/>
          </p:cNvSpPr>
          <p:nvPr/>
        </p:nvSpPr>
        <p:spPr bwMode="auto">
          <a:xfrm flipH="1">
            <a:off x="7961313" y="1203325"/>
            <a:ext cx="76200" cy="1066800"/>
          </a:xfrm>
          <a:prstGeom prst="leftBracket">
            <a:avLst>
              <a:gd name="adj" fmla="val 116667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48140" name="Text Box 13">
            <a:extLst>
              <a:ext uri="{FF2B5EF4-FFF2-40B4-BE49-F238E27FC236}">
                <a16:creationId xmlns:a16="http://schemas.microsoft.com/office/drawing/2014/main" id="{33244EDB-4D18-6E42-8D4A-F194E80734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2422525"/>
            <a:ext cx="17907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arcs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8141" name="Freeform 14">
            <a:extLst>
              <a:ext uri="{FF2B5EF4-FFF2-40B4-BE49-F238E27FC236}">
                <a16:creationId xmlns:a16="http://schemas.microsoft.com/office/drawing/2014/main" id="{D59944C4-48A5-F648-8B13-592F8798B914}"/>
              </a:ext>
            </a:extLst>
          </p:cNvPr>
          <p:cNvSpPr>
            <a:spLocks/>
          </p:cNvSpPr>
          <p:nvPr/>
        </p:nvSpPr>
        <p:spPr bwMode="auto">
          <a:xfrm>
            <a:off x="1123950" y="1584325"/>
            <a:ext cx="457200" cy="762000"/>
          </a:xfrm>
          <a:custGeom>
            <a:avLst/>
            <a:gdLst>
              <a:gd name="T0" fmla="*/ 2147483646 w 248"/>
              <a:gd name="T1" fmla="*/ 0 h 480"/>
              <a:gd name="T2" fmla="*/ 2147483646 w 248"/>
              <a:gd name="T3" fmla="*/ 2147483646 h 480"/>
              <a:gd name="T4" fmla="*/ 2147483646 w 248"/>
              <a:gd name="T5" fmla="*/ 2147483646 h 480"/>
              <a:gd name="T6" fmla="*/ 2147483646 w 248"/>
              <a:gd name="T7" fmla="*/ 2147483646 h 480"/>
              <a:gd name="T8" fmla="*/ 2147483646 w 248"/>
              <a:gd name="T9" fmla="*/ 2147483646 h 48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8"/>
              <a:gd name="T16" fmla="*/ 0 h 480"/>
              <a:gd name="T17" fmla="*/ 248 w 248"/>
              <a:gd name="T18" fmla="*/ 480 h 48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8" h="480">
                <a:moveTo>
                  <a:pt x="8" y="0"/>
                </a:moveTo>
                <a:cubicBezTo>
                  <a:pt x="4" y="44"/>
                  <a:pt x="0" y="88"/>
                  <a:pt x="8" y="144"/>
                </a:cubicBezTo>
                <a:cubicBezTo>
                  <a:pt x="16" y="200"/>
                  <a:pt x="32" y="288"/>
                  <a:pt x="56" y="336"/>
                </a:cubicBezTo>
                <a:cubicBezTo>
                  <a:pt x="80" y="384"/>
                  <a:pt x="120" y="408"/>
                  <a:pt x="152" y="432"/>
                </a:cubicBezTo>
                <a:cubicBezTo>
                  <a:pt x="184" y="456"/>
                  <a:pt x="216" y="468"/>
                  <a:pt x="248" y="48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2" name="Text Box 16">
            <a:extLst>
              <a:ext uri="{FF2B5EF4-FFF2-40B4-BE49-F238E27FC236}">
                <a16:creationId xmlns:a16="http://schemas.microsoft.com/office/drawing/2014/main" id="{48A2EB87-1DB1-FD44-8508-938AB6CFD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188" y="561975"/>
            <a:ext cx="19446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例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</p:txBody>
      </p:sp>
      <p:graphicFrame>
        <p:nvGraphicFramePr>
          <p:cNvPr id="33" name="Group 18">
            <a:extLst>
              <a:ext uri="{FF2B5EF4-FFF2-40B4-BE49-F238E27FC236}">
                <a16:creationId xmlns:a16="http://schemas.microsoft.com/office/drawing/2014/main" id="{91D00A15-9B7E-C843-9A0C-3716F6E6BA2A}"/>
              </a:ext>
            </a:extLst>
          </p:cNvPr>
          <p:cNvGraphicFramePr>
            <a:graphicFrameLocks noGrp="1"/>
          </p:cNvGraphicFramePr>
          <p:nvPr/>
        </p:nvGraphicFramePr>
        <p:xfrm>
          <a:off x="2914650" y="1555750"/>
          <a:ext cx="1816100" cy="457200"/>
        </p:xfrm>
        <a:graphic>
          <a:graphicData uri="http://schemas.openxmlformats.org/drawingml/2006/table">
            <a:tbl>
              <a:tblPr/>
              <a:tblGrid>
                <a:gridCol w="590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17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40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27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A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63" marR="9146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B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63" marR="914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C</a:t>
                      </a:r>
                      <a:endParaRPr kumimoji="1" lang="en-US" altLang="zh-CN" sz="24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63" marR="914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8153" name="Text Box 30">
            <a:extLst>
              <a:ext uri="{FF2B5EF4-FFF2-40B4-BE49-F238E27FC236}">
                <a16:creationId xmlns:a16="http://schemas.microsoft.com/office/drawing/2014/main" id="{A8E3A7A8-70C3-3144-BD91-8CCEFDCCA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0700" y="2009775"/>
            <a:ext cx="23749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0  </a:t>
            </a:r>
            <a:r>
              <a:rPr kumimoji="0" lang="en-US" altLang="zh-CN" sz="8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1    2  …  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8154" name="Text Box 31">
            <a:extLst>
              <a:ext uri="{FF2B5EF4-FFF2-40B4-BE49-F238E27FC236}">
                <a16:creationId xmlns:a16="http://schemas.microsoft.com/office/drawing/2014/main" id="{0DA1D5E3-F461-3E45-A88B-1EC825E8CD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7675" y="2393950"/>
            <a:ext cx="23050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顶点数组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vexs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8155" name="文本框 18">
            <a:extLst>
              <a:ext uri="{FF2B5EF4-FFF2-40B4-BE49-F238E27FC236}">
                <a16:creationId xmlns:a16="http://schemas.microsoft.com/office/drawing/2014/main" id="{70C56167-2B2F-CC4E-AE1B-63E42E390B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9838" y="560388"/>
            <a:ext cx="30432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>
                <a:solidFill>
                  <a:srgbClr val="C00000"/>
                </a:solidFill>
              </a:rPr>
              <a:t>有向图</a:t>
            </a:r>
            <a:r>
              <a:rPr lang="zh-CN" altLang="en-US" sz="2400" dirty="0"/>
              <a:t>的数组表示法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74C8C42E-CFC6-50F4-529B-4A28813DC538}"/>
              </a:ext>
            </a:extLst>
          </p:cNvPr>
          <p:cNvSpPr txBox="1"/>
          <p:nvPr/>
        </p:nvSpPr>
        <p:spPr>
          <a:xfrm>
            <a:off x="4151757" y="451584"/>
            <a:ext cx="581791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sz="2000" dirty="0">
                <a:highlight>
                  <a:srgbClr val="00FFFF"/>
                </a:highlight>
                <a:latin typeface="+mn-ea"/>
                <a:ea typeface="+mn-ea"/>
              </a:rPr>
              <a:t>邻接矩阵中的</a:t>
            </a:r>
            <a:r>
              <a:rPr kumimoji="1" lang="en-US" altLang="zh-CN" sz="2000" dirty="0">
                <a:highlight>
                  <a:srgbClr val="00FFFF"/>
                </a:highlight>
                <a:latin typeface="+mn-ea"/>
                <a:ea typeface="+mn-ea"/>
              </a:rPr>
              <a:t>arcs[</a:t>
            </a:r>
            <a:r>
              <a:rPr kumimoji="1" lang="en-US" altLang="zh-CN" sz="2000" dirty="0" err="1">
                <a:highlight>
                  <a:srgbClr val="00FFFF"/>
                </a:highlight>
                <a:latin typeface="+mn-ea"/>
                <a:ea typeface="+mn-ea"/>
              </a:rPr>
              <a:t>i</a:t>
            </a:r>
            <a:r>
              <a:rPr kumimoji="1" lang="en-US" altLang="zh-CN" sz="2000" dirty="0">
                <a:highlight>
                  <a:srgbClr val="00FFFF"/>
                </a:highlight>
                <a:latin typeface="+mn-ea"/>
                <a:ea typeface="+mn-ea"/>
              </a:rPr>
              <a:t>][j]</a:t>
            </a:r>
            <a:r>
              <a:rPr lang="zh-CN" altLang="en-US" sz="2000" dirty="0">
                <a:highlight>
                  <a:srgbClr val="00FFFF"/>
                </a:highlight>
                <a:latin typeface="+mn-ea"/>
                <a:ea typeface="+mn-ea"/>
              </a:rPr>
              <a:t>代表从</a:t>
            </a:r>
            <a:r>
              <a:rPr lang="en-US" altLang="zh-CN" sz="2000" dirty="0">
                <a:highlight>
                  <a:srgbClr val="00FFFF"/>
                </a:highlight>
                <a:latin typeface="+mn-ea"/>
                <a:ea typeface="+mn-ea"/>
              </a:rPr>
              <a:t>v</a:t>
            </a:r>
            <a:r>
              <a:rPr lang="en-US" altLang="zh-CN" sz="2000" baseline="-25000" dirty="0">
                <a:highlight>
                  <a:srgbClr val="00FFFF"/>
                </a:highlight>
                <a:latin typeface="+mn-ea"/>
                <a:ea typeface="+mn-ea"/>
              </a:rPr>
              <a:t>i</a:t>
            </a:r>
            <a:r>
              <a:rPr lang="zh-CN" altLang="en-US" sz="2000" dirty="0">
                <a:highlight>
                  <a:srgbClr val="00FFFF"/>
                </a:highlight>
                <a:latin typeface="+mn-ea"/>
                <a:ea typeface="+mn-ea"/>
              </a:rPr>
              <a:t>到</a:t>
            </a:r>
            <a:r>
              <a:rPr lang="en-US" altLang="zh-CN" sz="2000" dirty="0" err="1">
                <a:highlight>
                  <a:srgbClr val="00FFFF"/>
                </a:highlight>
                <a:latin typeface="+mn-ea"/>
                <a:ea typeface="+mn-ea"/>
              </a:rPr>
              <a:t>v</a:t>
            </a:r>
            <a:r>
              <a:rPr lang="en-US" altLang="zh-CN" sz="2000" baseline="-25000" dirty="0" err="1">
                <a:highlight>
                  <a:srgbClr val="00FFFF"/>
                </a:highlight>
                <a:latin typeface="+mn-ea"/>
                <a:ea typeface="+mn-ea"/>
              </a:rPr>
              <a:t>j</a:t>
            </a:r>
            <a:r>
              <a:rPr lang="zh-CN" altLang="en-US" sz="2000" dirty="0">
                <a:highlight>
                  <a:srgbClr val="00FFFF"/>
                </a:highlight>
                <a:latin typeface="+mn-ea"/>
                <a:ea typeface="+mn-ea"/>
              </a:rPr>
              <a:t>的边</a:t>
            </a:r>
            <a:endParaRPr kumimoji="1" lang="zh-CN" altLang="en-US" sz="2000" baseline="-25000" dirty="0">
              <a:highlight>
                <a:srgbClr val="00FFFF"/>
              </a:highlight>
              <a:latin typeface="+mn-ea"/>
              <a:ea typeface="+mn-e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灯片编号占位符 3">
            <a:extLst>
              <a:ext uri="{FF2B5EF4-FFF2-40B4-BE49-F238E27FC236}">
                <a16:creationId xmlns:a16="http://schemas.microsoft.com/office/drawing/2014/main" id="{26DD8DCE-123C-D04E-8562-161398206AF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6846888" y="7289800"/>
            <a:ext cx="19050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DBFEFD9-F7FE-C846-999D-8E340BB26620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50178" name="Oval 3">
            <a:extLst>
              <a:ext uri="{FF2B5EF4-FFF2-40B4-BE49-F238E27FC236}">
                <a16:creationId xmlns:a16="http://schemas.microsoft.com/office/drawing/2014/main" id="{FF51C73D-D04B-9E47-8B8B-47C61ED26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3638" y="23018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</a:p>
        </p:txBody>
      </p:sp>
      <p:sp>
        <p:nvSpPr>
          <p:cNvPr id="50179" name="Oval 4">
            <a:extLst>
              <a:ext uri="{FF2B5EF4-FFF2-40B4-BE49-F238E27FC236}">
                <a16:creationId xmlns:a16="http://schemas.microsoft.com/office/drawing/2014/main" id="{9518DB7A-FE56-6446-B6B9-1AEC101C6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4238" y="32162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</a:p>
        </p:txBody>
      </p:sp>
      <p:sp>
        <p:nvSpPr>
          <p:cNvPr id="50180" name="Oval 5">
            <a:extLst>
              <a:ext uri="{FF2B5EF4-FFF2-40B4-BE49-F238E27FC236}">
                <a16:creationId xmlns:a16="http://schemas.microsoft.com/office/drawing/2014/main" id="{33B17F30-A00A-6947-8351-7D9190FD8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2238" y="32162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</a:p>
        </p:txBody>
      </p:sp>
      <p:sp>
        <p:nvSpPr>
          <p:cNvPr id="50181" name="Text Box 6">
            <a:extLst>
              <a:ext uri="{FF2B5EF4-FFF2-40B4-BE49-F238E27FC236}">
                <a16:creationId xmlns:a16="http://schemas.microsoft.com/office/drawing/2014/main" id="{9EDA19E1-1439-6740-AEA4-A76A27CB21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8038" y="3886200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网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182" name="Line 7">
            <a:extLst>
              <a:ext uri="{FF2B5EF4-FFF2-40B4-BE49-F238E27FC236}">
                <a16:creationId xmlns:a16="http://schemas.microsoft.com/office/drawing/2014/main" id="{CFB3A1B1-0252-6643-952F-467C5412F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1392238" y="2682875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83" name="Oval 8">
            <a:extLst>
              <a:ext uri="{FF2B5EF4-FFF2-40B4-BE49-F238E27FC236}">
                <a16:creationId xmlns:a16="http://schemas.microsoft.com/office/drawing/2014/main" id="{DE9F0FE1-510C-C543-9A20-1A2FB065E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838" y="2225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</a:p>
        </p:txBody>
      </p:sp>
      <p:sp>
        <p:nvSpPr>
          <p:cNvPr id="50184" name="Line 9">
            <a:extLst>
              <a:ext uri="{FF2B5EF4-FFF2-40B4-BE49-F238E27FC236}">
                <a16:creationId xmlns:a16="http://schemas.microsoft.com/office/drawing/2014/main" id="{E684CB77-38B4-B64A-A281-CEE35949480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73238" y="336867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85" name="Line 10">
            <a:extLst>
              <a:ext uri="{FF2B5EF4-FFF2-40B4-BE49-F238E27FC236}">
                <a16:creationId xmlns:a16="http://schemas.microsoft.com/office/drawing/2014/main" id="{0B6C23B5-265E-A54D-88BC-551C153C69AD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4638" y="2606675"/>
            <a:ext cx="762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86" name="Oval 11">
            <a:extLst>
              <a:ext uri="{FF2B5EF4-FFF2-40B4-BE49-F238E27FC236}">
                <a16:creationId xmlns:a16="http://schemas.microsoft.com/office/drawing/2014/main" id="{DAA4322F-5549-D548-AD69-44BF4F8EB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2438" y="32162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50187" name="Line 12">
            <a:extLst>
              <a:ext uri="{FF2B5EF4-FFF2-40B4-BE49-F238E27FC236}">
                <a16:creationId xmlns:a16="http://schemas.microsoft.com/office/drawing/2014/main" id="{7304DB9E-EC63-4045-8F8D-72516C9704C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35238" y="3368675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88" name="Oval 13">
            <a:extLst>
              <a:ext uri="{FF2B5EF4-FFF2-40B4-BE49-F238E27FC236}">
                <a16:creationId xmlns:a16="http://schemas.microsoft.com/office/drawing/2014/main" id="{5C9798E5-6B09-3643-9C25-CF2DD2F61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0038" y="23018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</a:p>
        </p:txBody>
      </p:sp>
      <p:sp>
        <p:nvSpPr>
          <p:cNvPr id="50189" name="Line 14">
            <a:extLst>
              <a:ext uri="{FF2B5EF4-FFF2-40B4-BE49-F238E27FC236}">
                <a16:creationId xmlns:a16="http://schemas.microsoft.com/office/drawing/2014/main" id="{1CD11583-14B6-2D44-8AC5-040FFBD2C9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59038" y="2606675"/>
            <a:ext cx="4572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0" name="Line 15">
            <a:extLst>
              <a:ext uri="{FF2B5EF4-FFF2-40B4-BE49-F238E27FC236}">
                <a16:creationId xmlns:a16="http://schemas.microsoft.com/office/drawing/2014/main" id="{C0F5C17E-02DE-6045-ACB6-3DD6806CC28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8638" y="2682875"/>
            <a:ext cx="762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1" name="Text Box 16">
            <a:extLst>
              <a:ext uri="{FF2B5EF4-FFF2-40B4-BE49-F238E27FC236}">
                <a16:creationId xmlns:a16="http://schemas.microsoft.com/office/drawing/2014/main" id="{A3216650-6013-B148-923F-DA93196746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9838" y="29114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192" name="Text Box 17">
            <a:extLst>
              <a:ext uri="{FF2B5EF4-FFF2-40B4-BE49-F238E27FC236}">
                <a16:creationId xmlns:a16="http://schemas.microsoft.com/office/drawing/2014/main" id="{820D1169-6E55-3B4C-BAF5-3EAB10F20E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5638" y="26828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193" name="Text Box 18">
            <a:extLst>
              <a:ext uri="{FF2B5EF4-FFF2-40B4-BE49-F238E27FC236}">
                <a16:creationId xmlns:a16="http://schemas.microsoft.com/office/drawing/2014/main" id="{1AD9DFA3-D4D5-734E-93DC-13D34AEA72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8" y="34448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194" name="Text Box 19">
            <a:extLst>
              <a:ext uri="{FF2B5EF4-FFF2-40B4-BE49-F238E27FC236}">
                <a16:creationId xmlns:a16="http://schemas.microsoft.com/office/drawing/2014/main" id="{8291F1CF-8539-9847-BF89-813331D820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2838" y="2759075"/>
            <a:ext cx="3810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10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195" name="Text Box 20">
            <a:extLst>
              <a:ext uri="{FF2B5EF4-FFF2-40B4-BE49-F238E27FC236}">
                <a16:creationId xmlns:a16="http://schemas.microsoft.com/office/drawing/2014/main" id="{A0DBEC26-42D4-AB44-92C0-248B7FE66E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7638" y="34448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196" name="Text Box 21">
            <a:extLst>
              <a:ext uri="{FF2B5EF4-FFF2-40B4-BE49-F238E27FC236}">
                <a16:creationId xmlns:a16="http://schemas.microsoft.com/office/drawing/2014/main" id="{7927A3F1-80C2-584F-9E94-4E90437325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4838" y="2835275"/>
            <a:ext cx="3048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197" name="Text Box 22">
            <a:extLst>
              <a:ext uri="{FF2B5EF4-FFF2-40B4-BE49-F238E27FC236}">
                <a16:creationId xmlns:a16="http://schemas.microsoft.com/office/drawing/2014/main" id="{8148FD9B-4D7E-314B-9A2C-DC7876E636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0563" y="1844675"/>
            <a:ext cx="3910012" cy="267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0  1  2  </a:t>
            </a:r>
            <a:r>
              <a:rPr kumimoji="0" lang="en-US" altLang="zh-CN" sz="11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3   4  5 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0  </a:t>
            </a:r>
            <a:r>
              <a:rPr kumimoji="0" lang="en-US" altLang="zh-CN" sz="8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4  5 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 ∞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1   4 </a:t>
            </a:r>
            <a:r>
              <a:rPr kumimoji="0" lang="en-US" altLang="zh-CN" sz="8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8 </a:t>
            </a:r>
            <a:r>
              <a: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2   5  8 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10 </a:t>
            </a:r>
            <a:r>
              <a: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  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 ∞ ∞ 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∞ ∞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  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 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10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14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  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 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7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14 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198" name="AutoShape 23">
            <a:extLst>
              <a:ext uri="{FF2B5EF4-FFF2-40B4-BE49-F238E27FC236}">
                <a16:creationId xmlns:a16="http://schemas.microsoft.com/office/drawing/2014/main" id="{93E0C325-99BC-7A42-AB81-AD5B2E3E7516}"/>
              </a:ext>
            </a:extLst>
          </p:cNvPr>
          <p:cNvSpPr>
            <a:spLocks/>
          </p:cNvSpPr>
          <p:nvPr/>
        </p:nvSpPr>
        <p:spPr bwMode="auto">
          <a:xfrm>
            <a:off x="4973638" y="2433638"/>
            <a:ext cx="76200" cy="1905000"/>
          </a:xfrm>
          <a:prstGeom prst="leftBracket">
            <a:avLst>
              <a:gd name="adj" fmla="val 208333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50199" name="AutoShape 24">
            <a:extLst>
              <a:ext uri="{FF2B5EF4-FFF2-40B4-BE49-F238E27FC236}">
                <a16:creationId xmlns:a16="http://schemas.microsoft.com/office/drawing/2014/main" id="{466CB985-8CA0-F745-8F88-A1612294418C}"/>
              </a:ext>
            </a:extLst>
          </p:cNvPr>
          <p:cNvSpPr>
            <a:spLocks/>
          </p:cNvSpPr>
          <p:nvPr/>
        </p:nvSpPr>
        <p:spPr bwMode="auto">
          <a:xfrm>
            <a:off x="7945438" y="2357438"/>
            <a:ext cx="76200" cy="2057400"/>
          </a:xfrm>
          <a:prstGeom prst="rightBracket">
            <a:avLst>
              <a:gd name="adj" fmla="val 225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50200" name="Text Box 26">
            <a:extLst>
              <a:ext uri="{FF2B5EF4-FFF2-40B4-BE49-F238E27FC236}">
                <a16:creationId xmlns:a16="http://schemas.microsoft.com/office/drawing/2014/main" id="{726FDD75-9F49-3941-BC5F-CE4CA7794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59238" y="3119438"/>
            <a:ext cx="492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M=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201" name="Text Box 27">
            <a:extLst>
              <a:ext uri="{FF2B5EF4-FFF2-40B4-BE49-F238E27FC236}">
                <a16:creationId xmlns:a16="http://schemas.microsoft.com/office/drawing/2014/main" id="{79678135-AE44-9644-86EC-CFAB39A01E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8488" y="4475163"/>
            <a:ext cx="1206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endParaRPr kumimoji="0" lang="zh-CN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202" name="Text Box 29">
            <a:extLst>
              <a:ext uri="{FF2B5EF4-FFF2-40B4-BE49-F238E27FC236}">
                <a16:creationId xmlns:a16="http://schemas.microsoft.com/office/drawing/2014/main" id="{504E9549-30FF-274C-88DA-2F4FDFD1C7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113" y="892175"/>
            <a:ext cx="1800225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 typeface="Wingdings" pitchFamily="2" charset="2"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例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lang="en-US" altLang="zh-CN" sz="2400">
              <a:latin typeface="宋体" panose="02010600030101010101" pitchFamily="2" charset="-122"/>
            </a:endParaRPr>
          </a:p>
        </p:txBody>
      </p:sp>
      <p:sp>
        <p:nvSpPr>
          <p:cNvPr id="50203" name="文本框 28">
            <a:extLst>
              <a:ext uri="{FF2B5EF4-FFF2-40B4-BE49-F238E27FC236}">
                <a16:creationId xmlns:a16="http://schemas.microsoft.com/office/drawing/2014/main" id="{C747E519-024D-C445-BE22-772700860C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7788" y="917575"/>
            <a:ext cx="36687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/>
              <a:t>网</a:t>
            </a:r>
            <a:r>
              <a:rPr lang="en-US" altLang="zh-CN" sz="2400"/>
              <a:t>/</a:t>
            </a:r>
            <a:r>
              <a:rPr lang="zh-CN" altLang="en-US" sz="2400"/>
              <a:t>有权图的数组表示法</a:t>
            </a:r>
          </a:p>
        </p:txBody>
      </p:sp>
      <p:graphicFrame>
        <p:nvGraphicFramePr>
          <p:cNvPr id="2" name="Group 18">
            <a:extLst>
              <a:ext uri="{FF2B5EF4-FFF2-40B4-BE49-F238E27FC236}">
                <a16:creationId xmlns:a16="http://schemas.microsoft.com/office/drawing/2014/main" id="{DAC5504B-9D7F-2543-2E6F-1459B8326E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1204456"/>
              </p:ext>
            </p:extLst>
          </p:nvPr>
        </p:nvGraphicFramePr>
        <p:xfrm>
          <a:off x="5068888" y="764704"/>
          <a:ext cx="2727322" cy="457200"/>
        </p:xfrm>
        <a:graphic>
          <a:graphicData uri="http://schemas.openxmlformats.org/drawingml/2006/table">
            <a:tbl>
              <a:tblPr/>
              <a:tblGrid>
                <a:gridCol w="4329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0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50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5070">
                  <a:extLst>
                    <a:ext uri="{9D8B030D-6E8A-4147-A177-3AD203B41FA5}">
                      <a16:colId xmlns:a16="http://schemas.microsoft.com/office/drawing/2014/main" val="2391621411"/>
                    </a:ext>
                  </a:extLst>
                </a:gridCol>
                <a:gridCol w="465070">
                  <a:extLst>
                    <a:ext uri="{9D8B030D-6E8A-4147-A177-3AD203B41FA5}">
                      <a16:colId xmlns:a16="http://schemas.microsoft.com/office/drawing/2014/main" val="1553033994"/>
                    </a:ext>
                  </a:extLst>
                </a:gridCol>
                <a:gridCol w="465070">
                  <a:extLst>
                    <a:ext uri="{9D8B030D-6E8A-4147-A177-3AD203B41FA5}">
                      <a16:colId xmlns:a16="http://schemas.microsoft.com/office/drawing/2014/main" val="198128602"/>
                    </a:ext>
                  </a:extLst>
                </a:gridCol>
              </a:tblGrid>
              <a:tr h="2127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1463" marR="9146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1463" marR="914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</a:t>
                      </a:r>
                      <a:endParaRPr kumimoji="1" lang="en-US" altLang="zh-CN" sz="24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1463" marR="914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</a:t>
                      </a:r>
                      <a:r>
                        <a:rPr kumimoji="1" lang="en-US" altLang="zh-CN" sz="2400" b="1" i="0" u="none" strike="noStrike" cap="none" normalizeH="0" baseline="-2500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1463" marR="914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</a:t>
                      </a:r>
                    </a:p>
                  </a:txBody>
                  <a:tcPr marL="91463" marR="914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</a:t>
                      </a:r>
                    </a:p>
                  </a:txBody>
                  <a:tcPr marL="91463" marR="914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Text Box 30">
            <a:extLst>
              <a:ext uri="{FF2B5EF4-FFF2-40B4-BE49-F238E27FC236}">
                <a16:creationId xmlns:a16="http://schemas.microsoft.com/office/drawing/2014/main" id="{094924C0-435F-AF89-7FC8-307C132405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3638" y="1286197"/>
            <a:ext cx="297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0  </a:t>
            </a:r>
            <a:r>
              <a:rPr kumimoji="0" lang="en-US" altLang="zh-CN" sz="8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1   2  3  4   5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灯片编号占位符 3">
            <a:extLst>
              <a:ext uri="{FF2B5EF4-FFF2-40B4-BE49-F238E27FC236}">
                <a16:creationId xmlns:a16="http://schemas.microsoft.com/office/drawing/2014/main" id="{49787A22-B0E0-8C48-BE42-CD050B7DE8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A375BE7-B361-1E41-826D-9C2AE351D7B5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graphicFrame>
        <p:nvGraphicFramePr>
          <p:cNvPr id="21" name="Group 13">
            <a:extLst>
              <a:ext uri="{FF2B5EF4-FFF2-40B4-BE49-F238E27FC236}">
                <a16:creationId xmlns:a16="http://schemas.microsoft.com/office/drawing/2014/main" id="{F49AF473-34DF-514C-8899-E40F1E4B0CB4}"/>
              </a:ext>
            </a:extLst>
          </p:cNvPr>
          <p:cNvGraphicFramePr>
            <a:graphicFrameLocks noGrp="1"/>
          </p:cNvGraphicFramePr>
          <p:nvPr/>
        </p:nvGraphicFramePr>
        <p:xfrm>
          <a:off x="654050" y="1700213"/>
          <a:ext cx="1416050" cy="3895725"/>
        </p:xfrm>
        <a:graphic>
          <a:graphicData uri="http://schemas.openxmlformats.org/drawingml/2006/table">
            <a:tbl>
              <a:tblPr/>
              <a:tblGrid>
                <a:gridCol w="1416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4639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...................................................................................................</a:t>
                      </a:r>
                    </a:p>
                  </a:txBody>
                  <a:tcPr marL="91389" marR="91389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18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内存单元</a:t>
                      </a:r>
                      <a:endParaRPr kumimoji="1" lang="zh-CN" altLang="zh-CN" sz="20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389" marR="91389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2" name="Text Box 113">
            <a:extLst>
              <a:ext uri="{FF2B5EF4-FFF2-40B4-BE49-F238E27FC236}">
                <a16:creationId xmlns:a16="http://schemas.microsoft.com/office/drawing/2014/main" id="{F870921F-DAB1-EE40-9300-82AA2E104E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150" y="509588"/>
            <a:ext cx="8258175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数组表示法的数据类型定义</a:t>
            </a:r>
            <a:endParaRPr lang="zh-CN" altLang="zh-CN" sz="2400" noProof="1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#define MAX_VERTEX_NUM   20</a:t>
            </a:r>
          </a:p>
        </p:txBody>
      </p:sp>
      <p:graphicFrame>
        <p:nvGraphicFramePr>
          <p:cNvPr id="23" name="Group 18">
            <a:extLst>
              <a:ext uri="{FF2B5EF4-FFF2-40B4-BE49-F238E27FC236}">
                <a16:creationId xmlns:a16="http://schemas.microsoft.com/office/drawing/2014/main" id="{A2B8A9C7-355B-9D46-AC4B-FEB836F47A01}"/>
              </a:ext>
            </a:extLst>
          </p:cNvPr>
          <p:cNvGraphicFramePr>
            <a:graphicFrameLocks noGrp="1"/>
          </p:cNvGraphicFramePr>
          <p:nvPr/>
        </p:nvGraphicFramePr>
        <p:xfrm>
          <a:off x="3749675" y="1833563"/>
          <a:ext cx="4176714" cy="514350"/>
        </p:xfrm>
        <a:graphic>
          <a:graphicData uri="http://schemas.openxmlformats.org/drawingml/2006/table">
            <a:tbl>
              <a:tblPr/>
              <a:tblGrid>
                <a:gridCol w="7441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5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41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74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74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474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43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1</a:t>
                      </a: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45" marR="91445" marT="45663" marB="4566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2</a:t>
                      </a: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45" marR="91445" marT="45663" marB="456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3</a:t>
                      </a:r>
                      <a:endParaRPr kumimoji="1" lang="en-US" altLang="zh-CN" sz="24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45" marR="91445" marT="45663" marB="456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4</a:t>
                      </a:r>
                      <a:endParaRPr kumimoji="1" lang="en-US" altLang="zh-CN" sz="24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45" marR="91445" marT="45663" marB="456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-2500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...</a:t>
                      </a:r>
                    </a:p>
                  </a:txBody>
                  <a:tcPr marL="91445" marR="91445" marT="45663" marB="456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-2500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...</a:t>
                      </a:r>
                    </a:p>
                  </a:txBody>
                  <a:tcPr marL="91445" marR="91445" marT="45663" marB="456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" name="Text Box 30">
            <a:extLst>
              <a:ext uri="{FF2B5EF4-FFF2-40B4-BE49-F238E27FC236}">
                <a16:creationId xmlns:a16="http://schemas.microsoft.com/office/drawing/2014/main" id="{EF028FA3-9C23-644E-A8EA-CE477CE4A8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75" y="2287588"/>
            <a:ext cx="44783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0    1    2    3           19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5" name="Text Box 11">
            <a:extLst>
              <a:ext uri="{FF2B5EF4-FFF2-40B4-BE49-F238E27FC236}">
                <a16:creationId xmlns:a16="http://schemas.microsoft.com/office/drawing/2014/main" id="{5DE6C364-0A4E-994F-9161-36040E47B7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1600" y="2708275"/>
            <a:ext cx="3222625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   0  1  2  3……19</a:t>
            </a:r>
          </a:p>
          <a:p>
            <a:pPr eaLnBrk="1" hangingPunct="1"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0  0  0  1  1  ……</a:t>
            </a:r>
          </a:p>
          <a:p>
            <a:pPr eaLnBrk="1" hangingPunct="1"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1  0  0  0  0  ……</a:t>
            </a:r>
          </a:p>
          <a:p>
            <a:pPr eaLnBrk="1" hangingPunct="1"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2  1  0  0  1</a:t>
            </a:r>
          </a:p>
          <a:p>
            <a:pPr marL="457200" indent="-457200" eaLnBrk="1" hangingPunct="1">
              <a:buFontTx/>
              <a:buAutoNum type="arabicPlain" startAt="3"/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1  0  1  0</a:t>
            </a:r>
          </a:p>
          <a:p>
            <a:pPr marL="457200" indent="-457200" eaLnBrk="1" hangingPunct="1">
              <a:buFontTx/>
              <a:buAutoNum type="arabicPlain" startAt="4"/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……</a:t>
            </a:r>
          </a:p>
          <a:p>
            <a:pPr marL="457200" indent="-457200" eaLnBrk="1" hangingPunct="1">
              <a:defRPr/>
            </a:pPr>
            <a:r>
              <a:rPr kumimoji="0" lang="en-US" altLang="zh-CN" dirty="0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.   </a:t>
            </a:r>
          </a:p>
          <a:p>
            <a:pPr marL="457200" indent="-457200" eaLnBrk="1" hangingPunct="1">
              <a:defRPr/>
            </a:pPr>
            <a:r>
              <a:rPr kumimoji="0" lang="en-US" altLang="zh-CN" noProof="1">
                <a:solidFill>
                  <a:srgbClr val="000000"/>
                </a:solidFill>
                <a:latin typeface="宋体" pitchFamily="2" charset="-122"/>
                <a:ea typeface="宋体" charset="-122"/>
              </a:rPr>
              <a:t>19 ……        ……</a:t>
            </a:r>
          </a:p>
        </p:txBody>
      </p:sp>
      <p:sp>
        <p:nvSpPr>
          <p:cNvPr id="26" name="AutoShape 12">
            <a:extLst>
              <a:ext uri="{FF2B5EF4-FFF2-40B4-BE49-F238E27FC236}">
                <a16:creationId xmlns:a16="http://schemas.microsoft.com/office/drawing/2014/main" id="{A9E19C8D-7647-4B4A-831A-DA6B65717778}"/>
              </a:ext>
            </a:extLst>
          </p:cNvPr>
          <p:cNvSpPr>
            <a:spLocks/>
          </p:cNvSpPr>
          <p:nvPr/>
        </p:nvSpPr>
        <p:spPr bwMode="auto">
          <a:xfrm>
            <a:off x="4360863" y="3165475"/>
            <a:ext cx="46037" cy="2424113"/>
          </a:xfrm>
          <a:prstGeom prst="leftBracket">
            <a:avLst>
              <a:gd name="adj" fmla="val 148948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27" name="AutoShape 13">
            <a:extLst>
              <a:ext uri="{FF2B5EF4-FFF2-40B4-BE49-F238E27FC236}">
                <a16:creationId xmlns:a16="http://schemas.microsoft.com/office/drawing/2014/main" id="{82200324-802B-DA40-B0FA-49FD25B6E6FF}"/>
              </a:ext>
            </a:extLst>
          </p:cNvPr>
          <p:cNvSpPr>
            <a:spLocks/>
          </p:cNvSpPr>
          <p:nvPr/>
        </p:nvSpPr>
        <p:spPr bwMode="auto">
          <a:xfrm flipH="1">
            <a:off x="7062788" y="3241675"/>
            <a:ext cx="71437" cy="2347913"/>
          </a:xfrm>
          <a:prstGeom prst="leftBracket">
            <a:avLst>
              <a:gd name="adj" fmla="val 15124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28" name="右箭头 27">
            <a:extLst>
              <a:ext uri="{FF2B5EF4-FFF2-40B4-BE49-F238E27FC236}">
                <a16:creationId xmlns:a16="http://schemas.microsoft.com/office/drawing/2014/main" id="{947B9144-6CD1-6541-A2D4-E8E816DCA4B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25713" y="2708275"/>
            <a:ext cx="1008062" cy="288925"/>
          </a:xfrm>
          <a:prstGeom prst="rightArrow">
            <a:avLst>
              <a:gd name="adj1" fmla="val 50000"/>
              <a:gd name="adj2" fmla="val 49654"/>
            </a:avLst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graphicFrame>
        <p:nvGraphicFramePr>
          <p:cNvPr id="29" name="Group 13">
            <a:extLst>
              <a:ext uri="{FF2B5EF4-FFF2-40B4-BE49-F238E27FC236}">
                <a16:creationId xmlns:a16="http://schemas.microsoft.com/office/drawing/2014/main" id="{4D7AD8CC-6D59-574D-9B38-94ACAFAEF438}"/>
              </a:ext>
            </a:extLst>
          </p:cNvPr>
          <p:cNvGraphicFramePr>
            <a:graphicFrameLocks noGrp="1"/>
          </p:cNvGraphicFramePr>
          <p:nvPr/>
        </p:nvGraphicFramePr>
        <p:xfrm>
          <a:off x="654050" y="1616075"/>
          <a:ext cx="1416050" cy="1170432"/>
        </p:xfrm>
        <a:graphic>
          <a:graphicData uri="http://schemas.openxmlformats.org/drawingml/2006/table">
            <a:tbl>
              <a:tblPr/>
              <a:tblGrid>
                <a:gridCol w="1416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80486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顶点数组</a:t>
                      </a:r>
                      <a:endParaRPr kumimoji="1" lang="zh-CN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GB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  vexs</a:t>
                      </a:r>
                      <a:endParaRPr kumimoji="1" lang="en-GB" altLang="zh-CN" sz="20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389" marR="91389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0" name="Group 13">
            <a:extLst>
              <a:ext uri="{FF2B5EF4-FFF2-40B4-BE49-F238E27FC236}">
                <a16:creationId xmlns:a16="http://schemas.microsoft.com/office/drawing/2014/main" id="{EC7B01C2-9BF2-C04B-8264-D78B5999461D}"/>
              </a:ext>
            </a:extLst>
          </p:cNvPr>
          <p:cNvGraphicFramePr>
            <a:graphicFrameLocks noGrp="1"/>
          </p:cNvGraphicFramePr>
          <p:nvPr/>
        </p:nvGraphicFramePr>
        <p:xfrm>
          <a:off x="654050" y="4005263"/>
          <a:ext cx="1416050" cy="731520"/>
        </p:xfrm>
        <a:graphic>
          <a:graphicData uri="http://schemas.openxmlformats.org/drawingml/2006/table">
            <a:tbl>
              <a:tblPr/>
              <a:tblGrid>
                <a:gridCol w="1416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弧</a:t>
                      </a:r>
                      <a:r>
                        <a:rPr kumimoji="1" lang="en-US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(</a:t>
                      </a:r>
                      <a:r>
                        <a:rPr kumimoji="1" lang="zh-CN" altLang="en-US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边</a:t>
                      </a:r>
                      <a:r>
                        <a:rPr kumimoji="1" lang="en-US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)</a:t>
                      </a:r>
                      <a:r>
                        <a:rPr kumimoji="1" lang="zh-CN" altLang="en-US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数</a:t>
                      </a:r>
                      <a:endParaRPr kumimoji="1" lang="en-US" altLang="zh-CN" sz="20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389" marR="91389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1" name="Group 13">
            <a:extLst>
              <a:ext uri="{FF2B5EF4-FFF2-40B4-BE49-F238E27FC236}">
                <a16:creationId xmlns:a16="http://schemas.microsoft.com/office/drawing/2014/main" id="{727A8F1D-2A2B-4A48-A471-B8367D9F7101}"/>
              </a:ext>
            </a:extLst>
          </p:cNvPr>
          <p:cNvGraphicFramePr>
            <a:graphicFrameLocks noGrp="1"/>
          </p:cNvGraphicFramePr>
          <p:nvPr/>
        </p:nvGraphicFramePr>
        <p:xfrm>
          <a:off x="654050" y="2420938"/>
          <a:ext cx="1416050" cy="1170432"/>
        </p:xfrm>
        <a:graphic>
          <a:graphicData uri="http://schemas.openxmlformats.org/drawingml/2006/table">
            <a:tbl>
              <a:tblPr/>
              <a:tblGrid>
                <a:gridCol w="1416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80486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邻接矩阵</a:t>
                      </a:r>
                      <a:endParaRPr kumimoji="1" lang="zh-CN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GB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  arcs</a:t>
                      </a:r>
                      <a:endParaRPr kumimoji="1" lang="en-GB" altLang="zh-CN" sz="20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389" marR="91389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2" name="右箭头 31">
            <a:extLst>
              <a:ext uri="{FF2B5EF4-FFF2-40B4-BE49-F238E27FC236}">
                <a16:creationId xmlns:a16="http://schemas.microsoft.com/office/drawing/2014/main" id="{CB2F0A6F-739E-7946-A584-0AB47FF8F3D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25713" y="1844675"/>
            <a:ext cx="1008062" cy="288925"/>
          </a:xfrm>
          <a:prstGeom prst="rightArrow">
            <a:avLst>
              <a:gd name="adj1" fmla="val 50000"/>
              <a:gd name="adj2" fmla="val 49654"/>
            </a:avLst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graphicFrame>
        <p:nvGraphicFramePr>
          <p:cNvPr id="33" name="Group 13">
            <a:extLst>
              <a:ext uri="{FF2B5EF4-FFF2-40B4-BE49-F238E27FC236}">
                <a16:creationId xmlns:a16="http://schemas.microsoft.com/office/drawing/2014/main" id="{75C2C98C-26E9-B245-99E1-AB54DB5FE0C6}"/>
              </a:ext>
            </a:extLst>
          </p:cNvPr>
          <p:cNvGraphicFramePr>
            <a:graphicFrameLocks noGrp="1"/>
          </p:cNvGraphicFramePr>
          <p:nvPr/>
        </p:nvGraphicFramePr>
        <p:xfrm>
          <a:off x="654050" y="3213100"/>
          <a:ext cx="1416050" cy="406400"/>
        </p:xfrm>
        <a:graphic>
          <a:graphicData uri="http://schemas.openxmlformats.org/drawingml/2006/table">
            <a:tbl>
              <a:tblPr/>
              <a:tblGrid>
                <a:gridCol w="1416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顶点数</a:t>
                      </a:r>
                      <a:endParaRPr kumimoji="1" lang="zh-CN" altLang="zh-CN" sz="20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389" marR="91389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" name="Group 13">
            <a:extLst>
              <a:ext uri="{FF2B5EF4-FFF2-40B4-BE49-F238E27FC236}">
                <a16:creationId xmlns:a16="http://schemas.microsoft.com/office/drawing/2014/main" id="{44DE8811-B5DC-7A4B-84B2-3E0FE76F1953}"/>
              </a:ext>
            </a:extLst>
          </p:cNvPr>
          <p:cNvGraphicFramePr>
            <a:graphicFrameLocks noGrp="1"/>
          </p:cNvGraphicFramePr>
          <p:nvPr/>
        </p:nvGraphicFramePr>
        <p:xfrm>
          <a:off x="654050" y="3573463"/>
          <a:ext cx="1416050" cy="731520"/>
        </p:xfrm>
        <a:graphic>
          <a:graphicData uri="http://schemas.openxmlformats.org/drawingml/2006/table">
            <a:tbl>
              <a:tblPr/>
              <a:tblGrid>
                <a:gridCol w="1416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318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图的类型</a:t>
                      </a:r>
                      <a:endParaRPr kumimoji="1" lang="zh-CN" altLang="zh-CN" sz="20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389" marR="91389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5" name="Text Box 113">
            <a:extLst>
              <a:ext uri="{FF2B5EF4-FFF2-40B4-BE49-F238E27FC236}">
                <a16:creationId xmlns:a16="http://schemas.microsoft.com/office/drawing/2014/main" id="{6A3E868B-7747-494C-AF93-6ABD9020B6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5250" y="1749425"/>
            <a:ext cx="6804025" cy="3108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typedef  enum{DG,DN,UDG,UDN} GraphKind;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typedef  struct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      VertexType vexs[MAX_VERTEX_NUM];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      VRType  arcs[MAX_VERTEX_NUM]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                 </a:t>
            </a:r>
            <a:r>
              <a:rPr lang="en-GB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[MAX_VERTEX_NUM];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      int vexnum,arcnum;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      GraphKind  kind;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      } Mgraph;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2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6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0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64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2" presetID="4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 animBg="1"/>
      <p:bldP spid="27" grpId="0" animBg="1"/>
      <p:bldP spid="28" grpId="0" animBg="1"/>
      <p:bldP spid="28" grpId="1" animBg="1"/>
      <p:bldP spid="32" grpId="0" animBg="1"/>
      <p:bldP spid="32" grpId="1" animBg="1"/>
      <p:bldP spid="35" grpId="0"/>
      <p:bldP spid="35" grpId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灯片编号占位符 3">
            <a:extLst>
              <a:ext uri="{FF2B5EF4-FFF2-40B4-BE49-F238E27FC236}">
                <a16:creationId xmlns:a16="http://schemas.microsoft.com/office/drawing/2014/main" id="{E302860C-2C95-2447-989C-99694033165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CC78FCB-D6AD-1A48-B27E-91FFE547CBCD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54277" name="文本框 10">
            <a:extLst>
              <a:ext uri="{FF2B5EF4-FFF2-40B4-BE49-F238E27FC236}">
                <a16:creationId xmlns:a16="http://schemas.microsoft.com/office/drawing/2014/main" id="{32BE6CD6-4595-6747-8F51-F1E98C8BFD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662" y="767647"/>
            <a:ext cx="8681372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 b="0" dirty="0">
                <a:latin typeface="+mn-ea"/>
                <a:ea typeface="+mn-ea"/>
              </a:rPr>
              <a:t>枚举：在一些应用中，变量的取值被限制在一个范围内，</a:t>
            </a:r>
            <a:r>
              <a:rPr lang="en-US" altLang="zh-CN" sz="2000" b="0" dirty="0">
                <a:latin typeface="+mn-ea"/>
                <a:ea typeface="+mn-ea"/>
              </a:rPr>
              <a:t>c</a:t>
            </a:r>
            <a:r>
              <a:rPr lang="zh-CN" altLang="en-US" sz="2000" b="0" dirty="0">
                <a:latin typeface="+mn-ea"/>
                <a:ea typeface="+mn-ea"/>
              </a:rPr>
              <a:t>为这种类型的变量定义提供了</a:t>
            </a:r>
            <a:r>
              <a:rPr lang="en-US" altLang="zh-CN" sz="2000" b="0" dirty="0" err="1">
                <a:latin typeface="+mn-ea"/>
                <a:ea typeface="+mn-ea"/>
              </a:rPr>
              <a:t>enum</a:t>
            </a:r>
            <a:r>
              <a:rPr lang="zh-CN" altLang="en-US" sz="2000" b="0" dirty="0">
                <a:latin typeface="+mn-ea"/>
                <a:ea typeface="+mn-ea"/>
              </a:rPr>
              <a:t>关键字</a:t>
            </a:r>
            <a:endParaRPr lang="en-US" altLang="zh-CN" sz="2000" b="0" dirty="0">
              <a:latin typeface="+mn-ea"/>
              <a:ea typeface="+mn-ea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0" dirty="0" err="1">
                <a:latin typeface="+mn-ea"/>
                <a:ea typeface="+mn-ea"/>
              </a:rPr>
              <a:t>enum</a:t>
            </a:r>
            <a:r>
              <a:rPr lang="zh-CN" altLang="en-US" sz="2000" b="0" dirty="0">
                <a:latin typeface="+mn-ea"/>
                <a:ea typeface="+mn-ea"/>
              </a:rPr>
              <a:t>叫枚举数据类型，是预处理指令</a:t>
            </a:r>
            <a:r>
              <a:rPr lang="en-US" altLang="zh-CN" sz="2000" b="0" dirty="0">
                <a:latin typeface="+mn-ea"/>
                <a:ea typeface="+mn-ea"/>
              </a:rPr>
              <a:t>#define</a:t>
            </a:r>
            <a:r>
              <a:rPr lang="zh-CN" altLang="en-US" sz="2000" b="0" dirty="0">
                <a:latin typeface="+mn-ea"/>
                <a:ea typeface="+mn-ea"/>
              </a:rPr>
              <a:t>的一种替代；</a:t>
            </a:r>
            <a:endParaRPr lang="en-US" altLang="zh-CN" sz="2000" b="0" dirty="0">
              <a:latin typeface="+mn-ea"/>
              <a:ea typeface="+mn-ea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 b="0" dirty="0">
                <a:latin typeface="+mn-ea"/>
                <a:ea typeface="+mn-ea"/>
              </a:rPr>
              <a:t>用法： </a:t>
            </a:r>
            <a:endParaRPr lang="en-US" altLang="zh-CN" sz="2000" b="0" dirty="0">
              <a:latin typeface="+mn-ea"/>
              <a:ea typeface="+mn-ea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0" dirty="0">
                <a:latin typeface="+mn-ea"/>
                <a:ea typeface="+mn-ea"/>
              </a:rPr>
              <a:t>		</a:t>
            </a:r>
            <a:r>
              <a:rPr lang="en-US" altLang="zh-CN" sz="2000" b="0" dirty="0" err="1">
                <a:highlight>
                  <a:srgbClr val="00FF00"/>
                </a:highlight>
                <a:latin typeface="+mn-ea"/>
                <a:ea typeface="+mn-ea"/>
              </a:rPr>
              <a:t>enum</a:t>
            </a:r>
            <a:r>
              <a:rPr lang="en-US" altLang="zh-CN" sz="2000" b="0" dirty="0">
                <a:highlight>
                  <a:srgbClr val="00FF00"/>
                </a:highlight>
                <a:latin typeface="+mn-ea"/>
                <a:ea typeface="+mn-ea"/>
              </a:rPr>
              <a:t> </a:t>
            </a:r>
            <a:r>
              <a:rPr lang="en-US" altLang="zh-CN" sz="2000" b="0" dirty="0" err="1">
                <a:highlight>
                  <a:srgbClr val="00FF00"/>
                </a:highlight>
                <a:latin typeface="+mn-ea"/>
                <a:ea typeface="+mn-ea"/>
              </a:rPr>
              <a:t>typeName</a:t>
            </a:r>
            <a:r>
              <a:rPr lang="en-US" altLang="zh-CN" sz="2000" b="0" dirty="0">
                <a:highlight>
                  <a:srgbClr val="00FF00"/>
                </a:highlight>
                <a:latin typeface="+mn-ea"/>
                <a:ea typeface="+mn-ea"/>
              </a:rPr>
              <a:t> {valueName1, valueName2…}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0" dirty="0" err="1">
                <a:latin typeface="+mn-ea"/>
                <a:ea typeface="+mn-ea"/>
              </a:rPr>
              <a:t>typeName</a:t>
            </a:r>
            <a:r>
              <a:rPr lang="zh-CN" altLang="en-US" sz="2000" b="0" dirty="0">
                <a:latin typeface="+mn-ea"/>
                <a:ea typeface="+mn-ea"/>
              </a:rPr>
              <a:t>是定义的枚举类型名，</a:t>
            </a:r>
            <a:r>
              <a:rPr lang="en-US" altLang="zh-CN" sz="2000" b="0" dirty="0" err="1">
                <a:latin typeface="+mn-ea"/>
                <a:ea typeface="+mn-ea"/>
              </a:rPr>
              <a:t>valueName</a:t>
            </a:r>
            <a:r>
              <a:rPr lang="zh-CN" altLang="en-US" sz="2000" b="0" dirty="0">
                <a:latin typeface="+mn-ea"/>
                <a:ea typeface="+mn-ea"/>
              </a:rPr>
              <a:t>是枚举元素，是</a:t>
            </a:r>
            <a:r>
              <a:rPr lang="zh-CN" altLang="en-US" sz="2000" b="0" dirty="0">
                <a:highlight>
                  <a:srgbClr val="00FFFF"/>
                </a:highlight>
                <a:latin typeface="+mn-ea"/>
                <a:ea typeface="+mn-ea"/>
              </a:rPr>
              <a:t>常量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1ABE844F-0E93-93AB-F9F9-DBA99ACE789F}"/>
              </a:ext>
            </a:extLst>
          </p:cNvPr>
          <p:cNvSpPr txBox="1"/>
          <p:nvPr/>
        </p:nvSpPr>
        <p:spPr>
          <a:xfrm>
            <a:off x="1907704" y="4448273"/>
            <a:ext cx="503151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/>
              <a:t>枚举变量赋值只能用枚举元素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B43481CF-2121-D14E-6ACE-71692E100A2E}"/>
              </a:ext>
            </a:extLst>
          </p:cNvPr>
          <p:cNvSpPr txBox="1"/>
          <p:nvPr/>
        </p:nvSpPr>
        <p:spPr>
          <a:xfrm>
            <a:off x="1547664" y="2817057"/>
            <a:ext cx="6804024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sz="2000" b="0" dirty="0">
                <a:latin typeface="+mn-ea"/>
                <a:ea typeface="+mn-ea"/>
              </a:rPr>
              <a:t>枚举变量声明：</a:t>
            </a:r>
            <a:endParaRPr kumimoji="1" lang="en-US" altLang="zh-CN" sz="2000" b="0" dirty="0">
              <a:latin typeface="+mn-ea"/>
              <a:ea typeface="+mn-ea"/>
            </a:endParaRPr>
          </a:p>
          <a:p>
            <a:pPr marL="457200" indent="-457200">
              <a:buFont typeface="+mj-lt"/>
              <a:buAutoNum type="arabicPeriod"/>
            </a:pPr>
            <a:r>
              <a:rPr lang="en-US" altLang="zh-CN" sz="2000" b="0" dirty="0" err="1">
                <a:latin typeface="+mn-ea"/>
                <a:ea typeface="+mn-ea"/>
              </a:rPr>
              <a:t>enum</a:t>
            </a:r>
            <a:r>
              <a:rPr lang="en-US" altLang="zh-CN" sz="2000" b="0" dirty="0">
                <a:latin typeface="+mn-ea"/>
                <a:ea typeface="+mn-ea"/>
              </a:rPr>
              <a:t> </a:t>
            </a:r>
            <a:r>
              <a:rPr lang="en-US" altLang="zh-CN" sz="2000" b="0" dirty="0" err="1">
                <a:latin typeface="+mn-ea"/>
                <a:ea typeface="+mn-ea"/>
              </a:rPr>
              <a:t>typeName</a:t>
            </a:r>
            <a:r>
              <a:rPr lang="en-US" altLang="zh-CN" sz="2000" b="0" dirty="0">
                <a:latin typeface="+mn-ea"/>
                <a:ea typeface="+mn-ea"/>
              </a:rPr>
              <a:t> </a:t>
            </a:r>
            <a:r>
              <a:rPr lang="en-US" altLang="zh-CN" sz="2000" b="0" dirty="0" err="1">
                <a:latin typeface="+mn-ea"/>
                <a:ea typeface="+mn-ea"/>
              </a:rPr>
              <a:t>varName</a:t>
            </a:r>
            <a:r>
              <a:rPr lang="en-US" altLang="zh-CN" sz="2000" b="0" dirty="0">
                <a:latin typeface="+mn-ea"/>
                <a:ea typeface="+mn-ea"/>
              </a:rPr>
              <a:t>;</a:t>
            </a:r>
          </a:p>
          <a:p>
            <a:pPr marL="457200" indent="-457200">
              <a:buFont typeface="+mj-lt"/>
              <a:buAutoNum type="arabicPeriod"/>
            </a:pPr>
            <a:r>
              <a:rPr lang="en-US" altLang="zh-CN" sz="2000" b="0" dirty="0" err="1">
                <a:latin typeface="+mn-ea"/>
                <a:ea typeface="+mn-ea"/>
              </a:rPr>
              <a:t>e</a:t>
            </a:r>
            <a:r>
              <a:rPr kumimoji="1" lang="en-US" altLang="zh-CN" sz="2000" b="0" dirty="0" err="1">
                <a:latin typeface="+mn-ea"/>
                <a:ea typeface="+mn-ea"/>
              </a:rPr>
              <a:t>num</a:t>
            </a:r>
            <a:r>
              <a:rPr kumimoji="1" lang="en-US" altLang="zh-CN" sz="2000" b="0" dirty="0">
                <a:latin typeface="+mn-ea"/>
                <a:ea typeface="+mn-ea"/>
              </a:rPr>
              <a:t> </a:t>
            </a:r>
            <a:r>
              <a:rPr kumimoji="1" lang="en-US" altLang="zh-CN" sz="2000" b="0" dirty="0" err="1">
                <a:latin typeface="+mn-ea"/>
                <a:ea typeface="+mn-ea"/>
              </a:rPr>
              <a:t>typeName</a:t>
            </a:r>
            <a:r>
              <a:rPr kumimoji="1" lang="en-US" altLang="zh-CN" sz="2000" b="0" dirty="0">
                <a:latin typeface="+mn-ea"/>
                <a:ea typeface="+mn-ea"/>
              </a:rPr>
              <a:t>{valueName1,valueName2...}</a:t>
            </a:r>
            <a:r>
              <a:rPr kumimoji="1" lang="en-US" altLang="zh-CN" sz="2000" b="0" dirty="0" err="1">
                <a:latin typeface="+mn-ea"/>
                <a:ea typeface="+mn-ea"/>
              </a:rPr>
              <a:t>varName</a:t>
            </a:r>
            <a:r>
              <a:rPr kumimoji="1" lang="en-US" altLang="zh-CN" sz="2000" b="0" dirty="0">
                <a:latin typeface="+mn-ea"/>
                <a:ea typeface="+mn-ea"/>
              </a:rPr>
              <a:t>;</a:t>
            </a:r>
          </a:p>
          <a:p>
            <a:pPr marL="457200" indent="-457200">
              <a:buFont typeface="+mj-lt"/>
              <a:buAutoNum type="arabicPeriod"/>
            </a:pPr>
            <a:r>
              <a:rPr lang="en-US" altLang="zh-CN" sz="2000" b="0" dirty="0" err="1">
                <a:latin typeface="+mn-ea"/>
                <a:ea typeface="+mn-ea"/>
              </a:rPr>
              <a:t>enum</a:t>
            </a:r>
            <a:r>
              <a:rPr lang="en-US" altLang="zh-CN" sz="2000" b="0" dirty="0">
                <a:latin typeface="+mn-ea"/>
                <a:ea typeface="+mn-ea"/>
              </a:rPr>
              <a:t> {</a:t>
            </a:r>
            <a:r>
              <a:rPr kumimoji="1" lang="en-US" altLang="zh-CN" sz="2000" b="0" dirty="0">
                <a:latin typeface="+mn-ea"/>
                <a:ea typeface="+mn-ea"/>
              </a:rPr>
              <a:t>valueName1,valueName2...}</a:t>
            </a:r>
            <a:r>
              <a:rPr kumimoji="1" lang="en-US" altLang="zh-CN" sz="2000" b="0" dirty="0" err="1">
                <a:latin typeface="+mn-ea"/>
                <a:ea typeface="+mn-ea"/>
              </a:rPr>
              <a:t>varName</a:t>
            </a:r>
            <a:r>
              <a:rPr kumimoji="1" lang="en-US" altLang="zh-CN" sz="2000" b="0" dirty="0">
                <a:latin typeface="+mn-ea"/>
                <a:ea typeface="+mn-ea"/>
              </a:rPr>
              <a:t>;</a:t>
            </a:r>
          </a:p>
          <a:p>
            <a:pPr marL="457200" indent="-457200">
              <a:buFont typeface="+mj-lt"/>
              <a:buAutoNum type="arabicPeriod"/>
            </a:pPr>
            <a:endParaRPr kumimoji="1" lang="zh-CN" altLang="en-US" sz="2000" b="0" dirty="0">
              <a:latin typeface="+mn-ea"/>
              <a:ea typeface="+mn-ea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781E3538-CB53-E003-BAC2-43EB3C6E0228}"/>
              </a:ext>
            </a:extLst>
          </p:cNvPr>
          <p:cNvSpPr txBox="1"/>
          <p:nvPr/>
        </p:nvSpPr>
        <p:spPr>
          <a:xfrm>
            <a:off x="1900441" y="4829858"/>
            <a:ext cx="695288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0" i="0" dirty="0">
                <a:effectLst/>
                <a:latin typeface="-apple-system"/>
              </a:rPr>
              <a:t>枚举元素本身由系统定义了一个表示序号的数值，默认从</a:t>
            </a:r>
            <a:r>
              <a:rPr lang="en-US" altLang="zh-CN" b="0" i="0" dirty="0">
                <a:effectLst/>
                <a:latin typeface="-apple-system"/>
              </a:rPr>
              <a:t>0</a:t>
            </a:r>
            <a:r>
              <a:rPr lang="zh-CN" altLang="en-US" b="0" i="0" dirty="0">
                <a:effectLst/>
                <a:latin typeface="-apple-system"/>
              </a:rPr>
              <a:t>开始顺序定义</a:t>
            </a:r>
            <a:endParaRPr kumimoji="1" lang="zh-CN" altLang="en-US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27DFE29-42D8-8ABA-7DF1-4B2FC1B5DCD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854FC593-F3E3-FB4E-9A98-0D442DC8DCE8}" type="slidenum">
              <a:rPr lang="en-US" altLang="zh-CN" smtClean="0"/>
              <a:pPr>
                <a:defRPr/>
              </a:pPr>
              <a:t>22</a:t>
            </a:fld>
            <a:endParaRPr lang="en-US" altLang="zh-CN"/>
          </a:p>
        </p:txBody>
      </p:sp>
      <p:pic>
        <p:nvPicPr>
          <p:cNvPr id="5" name="图片 12">
            <a:extLst>
              <a:ext uri="{FF2B5EF4-FFF2-40B4-BE49-F238E27FC236}">
                <a16:creationId xmlns:a16="http://schemas.microsoft.com/office/drawing/2014/main" id="{1646479D-25AB-E7AA-9799-CA47CC862E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528" y="1600199"/>
            <a:ext cx="3370262" cy="3411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>
            <a:extLst>
              <a:ext uri="{FF2B5EF4-FFF2-40B4-BE49-F238E27FC236}">
                <a16:creationId xmlns:a16="http://schemas.microsoft.com/office/drawing/2014/main" id="{6F1F02CD-8E8E-C4B6-32E2-20A97787EFE1}"/>
              </a:ext>
            </a:extLst>
          </p:cNvPr>
          <p:cNvGrpSpPr/>
          <p:nvPr/>
        </p:nvGrpSpPr>
        <p:grpSpPr>
          <a:xfrm>
            <a:off x="3705386" y="2112928"/>
            <a:ext cx="6804025" cy="2632144"/>
            <a:chOff x="179512" y="2751862"/>
            <a:chExt cx="6804025" cy="2632144"/>
          </a:xfrm>
        </p:grpSpPr>
        <p:sp>
          <p:nvSpPr>
            <p:cNvPr id="7" name="Text Box 113">
              <a:extLst>
                <a:ext uri="{FF2B5EF4-FFF2-40B4-BE49-F238E27FC236}">
                  <a16:creationId xmlns:a16="http://schemas.microsoft.com/office/drawing/2014/main" id="{1590A264-EB1B-BBAB-8401-501931AF9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512" y="2767806"/>
              <a:ext cx="6804025" cy="2616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altLang="zh-CN" sz="20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typedef  enum{DG,DN,UDG,UDN} GraphKind;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altLang="zh-CN" sz="20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typedef  struct {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altLang="zh-CN" sz="20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        VertexType vexs[MAX_VERTEX_NUM];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altLang="zh-CN" sz="20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        VRType  arcs[MAX_VERTEX_NUM]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altLang="zh-CN" sz="20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                   </a:t>
              </a:r>
              <a:r>
                <a:rPr lang="en-GB" altLang="zh-CN" sz="24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 </a:t>
              </a:r>
              <a:r>
                <a:rPr lang="en-GB" altLang="zh-CN" sz="20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[MAX_VERTEX_NUM];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altLang="zh-CN" sz="20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        int vexnum,arcnum;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altLang="zh-CN" sz="20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        GraphKind  kind;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altLang="zh-CN" sz="2000" noProof="1">
                  <a:solidFill>
                    <a:srgbClr val="000000"/>
                  </a:solidFill>
                  <a:latin typeface="宋体" panose="02010600030101010101" pitchFamily="2" charset="-122"/>
                </a:rPr>
                <a:t>        } Mgraph;</a:t>
              </a:r>
            </a:p>
          </p:txBody>
        </p:sp>
        <p:sp>
          <p:nvSpPr>
            <p:cNvPr id="8" name="椭圆 5">
              <a:extLst>
                <a:ext uri="{FF2B5EF4-FFF2-40B4-BE49-F238E27FC236}">
                  <a16:creationId xmlns:a16="http://schemas.microsoft.com/office/drawing/2014/main" id="{6D5608A4-E581-A8B9-026A-047F491C8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648" y="2751862"/>
              <a:ext cx="2519363" cy="503238"/>
            </a:xfrm>
            <a:prstGeom prst="ellipse">
              <a:avLst/>
            </a:prstGeom>
            <a:noFill/>
            <a:ln w="9525" algn="ctr">
              <a:solidFill>
                <a:srgbClr val="C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/>
            </a:p>
          </p:txBody>
        </p:sp>
      </p:grpSp>
      <p:sp>
        <p:nvSpPr>
          <p:cNvPr id="9" name="文本框 8">
            <a:extLst>
              <a:ext uri="{FF2B5EF4-FFF2-40B4-BE49-F238E27FC236}">
                <a16:creationId xmlns:a16="http://schemas.microsoft.com/office/drawing/2014/main" id="{8A890317-ED71-7C76-7BD0-ADDA1AADC091}"/>
              </a:ext>
            </a:extLst>
          </p:cNvPr>
          <p:cNvSpPr txBox="1"/>
          <p:nvPr/>
        </p:nvSpPr>
        <p:spPr>
          <a:xfrm>
            <a:off x="2339752" y="5384302"/>
            <a:ext cx="60841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/>
              <a:t>思考：这样的存储结构有什么缺点？</a:t>
            </a:r>
          </a:p>
        </p:txBody>
      </p:sp>
    </p:spTree>
    <p:extLst>
      <p:ext uri="{BB962C8B-B14F-4D97-AF65-F5344CB8AC3E}">
        <p14:creationId xmlns:p14="http://schemas.microsoft.com/office/powerpoint/2010/main" val="2377836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灯片编号占位符 3">
            <a:extLst>
              <a:ext uri="{FF2B5EF4-FFF2-40B4-BE49-F238E27FC236}">
                <a16:creationId xmlns:a16="http://schemas.microsoft.com/office/drawing/2014/main" id="{F0E084FF-83F3-A444-8B9C-8696D01FC26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EF82298-2E3E-7B4E-BE99-046ADCB13C34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55298" name="Oval 3">
            <a:extLst>
              <a:ext uri="{FF2B5EF4-FFF2-40B4-BE49-F238E27FC236}">
                <a16:creationId xmlns:a16="http://schemas.microsoft.com/office/drawing/2014/main" id="{47CCEE61-0F59-8547-89B2-3A5422FA4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2388" y="25288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5299" name="Oval 4">
            <a:extLst>
              <a:ext uri="{FF2B5EF4-FFF2-40B4-BE49-F238E27FC236}">
                <a16:creationId xmlns:a16="http://schemas.microsoft.com/office/drawing/2014/main" id="{0D74E5CD-6340-AB41-B2E0-DD8A101912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1388" y="31384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5300" name="Oval 5">
            <a:extLst>
              <a:ext uri="{FF2B5EF4-FFF2-40B4-BE49-F238E27FC236}">
                <a16:creationId xmlns:a16="http://schemas.microsoft.com/office/drawing/2014/main" id="{27CC952B-6447-CF4D-8CA2-5D11C5FCF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3388" y="31384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5301" name="Oval 6">
            <a:extLst>
              <a:ext uri="{FF2B5EF4-FFF2-40B4-BE49-F238E27FC236}">
                <a16:creationId xmlns:a16="http://schemas.microsoft.com/office/drawing/2014/main" id="{41328D50-CD2F-AB47-BEA6-94AD20C1B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4188" y="25288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5302" name="Oval 7">
            <a:extLst>
              <a:ext uri="{FF2B5EF4-FFF2-40B4-BE49-F238E27FC236}">
                <a16:creationId xmlns:a16="http://schemas.microsoft.com/office/drawing/2014/main" id="{9EF4DBA8-DECA-D844-9660-D01D2F48F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8388" y="24526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5303" name="Oval 8">
            <a:extLst>
              <a:ext uri="{FF2B5EF4-FFF2-40B4-BE49-F238E27FC236}">
                <a16:creationId xmlns:a16="http://schemas.microsoft.com/office/drawing/2014/main" id="{957A0DF4-5EDC-564B-A5DA-621EDEAE1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8388" y="31384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5304" name="Line 9">
            <a:extLst>
              <a:ext uri="{FF2B5EF4-FFF2-40B4-BE49-F238E27FC236}">
                <a16:creationId xmlns:a16="http://schemas.microsoft.com/office/drawing/2014/main" id="{B9580376-04AB-2F4D-8570-65A4127BA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1220788" y="283368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05" name="Line 10">
            <a:extLst>
              <a:ext uri="{FF2B5EF4-FFF2-40B4-BE49-F238E27FC236}">
                <a16:creationId xmlns:a16="http://schemas.microsoft.com/office/drawing/2014/main" id="{0FF93D3E-FC69-7142-8DA9-1C08CFB9CD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16188" y="2909888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06" name="Line 11">
            <a:extLst>
              <a:ext uri="{FF2B5EF4-FFF2-40B4-BE49-F238E27FC236}">
                <a16:creationId xmlns:a16="http://schemas.microsoft.com/office/drawing/2014/main" id="{62F43061-3EF5-5647-8A6F-210E3714D4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4650" y="2845492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07" name="Line 12">
            <a:extLst>
              <a:ext uri="{FF2B5EF4-FFF2-40B4-BE49-F238E27FC236}">
                <a16:creationId xmlns:a16="http://schemas.microsoft.com/office/drawing/2014/main" id="{DA6A7F6E-9E3A-C242-9683-6DFEAF472A6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2388" y="3367088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85357" name="Group 13">
            <a:extLst>
              <a:ext uri="{FF2B5EF4-FFF2-40B4-BE49-F238E27FC236}">
                <a16:creationId xmlns:a16="http://schemas.microsoft.com/office/drawing/2014/main" id="{D43E5754-B238-5544-8CED-4B515C8B62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6467305"/>
              </p:ext>
            </p:extLst>
          </p:nvPr>
        </p:nvGraphicFramePr>
        <p:xfrm>
          <a:off x="4268788" y="2293938"/>
          <a:ext cx="960437" cy="2219325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08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0</a:t>
                      </a:r>
                      <a:endParaRPr kumimoji="1" lang="en-US" altLang="zh-CN" sz="20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1</a:t>
                      </a:r>
                      <a:endParaRPr kumimoji="1" lang="en-US" altLang="zh-CN" sz="20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2</a:t>
                      </a:r>
                      <a:endParaRPr kumimoji="1" lang="en-US" altLang="zh-CN" sz="20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∧</a:t>
                      </a: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3</a:t>
                      </a:r>
                      <a:endParaRPr kumimoji="1" lang="en-US" altLang="zh-CN" sz="20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4</a:t>
                      </a:r>
                      <a:endParaRPr kumimoji="1" lang="en-US" altLang="zh-CN" sz="20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0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5</a:t>
                      </a:r>
                      <a:endParaRPr kumimoji="1" lang="en-US" altLang="zh-CN" sz="2000" b="1" i="0" u="none" strike="noStrike" cap="none" normalizeH="0" baseline="-2500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85380" name="Group 36">
            <a:extLst>
              <a:ext uri="{FF2B5EF4-FFF2-40B4-BE49-F238E27FC236}">
                <a16:creationId xmlns:a16="http://schemas.microsoft.com/office/drawing/2014/main" id="{5A35E8F2-B5D9-E64D-9DEC-9201DA000118}"/>
              </a:ext>
            </a:extLst>
          </p:cNvPr>
          <p:cNvGraphicFramePr>
            <a:graphicFrameLocks noGrp="1"/>
          </p:cNvGraphicFramePr>
          <p:nvPr/>
        </p:nvGraphicFramePr>
        <p:xfrm>
          <a:off x="5610225" y="3795713"/>
          <a:ext cx="715963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7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8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339" name="Text Box 44">
            <a:extLst>
              <a:ext uri="{FF2B5EF4-FFF2-40B4-BE49-F238E27FC236}">
                <a16:creationId xmlns:a16="http://schemas.microsoft.com/office/drawing/2014/main" id="{67A00245-2D1F-644E-9264-D8E0A738A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0313" y="2273300"/>
            <a:ext cx="679450" cy="223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0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1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2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3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4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5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5645" name="Line 45">
            <a:extLst>
              <a:ext uri="{FF2B5EF4-FFF2-40B4-BE49-F238E27FC236}">
                <a16:creationId xmlns:a16="http://schemas.microsoft.com/office/drawing/2014/main" id="{C4C8FEDB-B2D4-7A44-89BB-95A97D9CF71A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6988" y="24241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46" name="Line 46">
            <a:extLst>
              <a:ext uri="{FF2B5EF4-FFF2-40B4-BE49-F238E27FC236}">
                <a16:creationId xmlns:a16="http://schemas.microsoft.com/office/drawing/2014/main" id="{6CD88901-88A1-474C-A4A1-D2A4CAC6135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9988" y="39481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47" name="Line 47">
            <a:extLst>
              <a:ext uri="{FF2B5EF4-FFF2-40B4-BE49-F238E27FC236}">
                <a16:creationId xmlns:a16="http://schemas.microsoft.com/office/drawing/2014/main" id="{76C3D82A-73A7-264D-BEDE-8FD36536B151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6988" y="39481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48" name="Line 48">
            <a:extLst>
              <a:ext uri="{FF2B5EF4-FFF2-40B4-BE49-F238E27FC236}">
                <a16:creationId xmlns:a16="http://schemas.microsoft.com/office/drawing/2014/main" id="{4053C545-0184-D548-9A82-8BA7545E6FF0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6988" y="28051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85393" name="Group 49">
            <a:extLst>
              <a:ext uri="{FF2B5EF4-FFF2-40B4-BE49-F238E27FC236}">
                <a16:creationId xmlns:a16="http://schemas.microsoft.com/office/drawing/2014/main" id="{BC2BFF8F-4881-4243-BAD9-FAB52D066297}"/>
              </a:ext>
            </a:extLst>
          </p:cNvPr>
          <p:cNvGraphicFramePr>
            <a:graphicFrameLocks noGrp="1"/>
          </p:cNvGraphicFramePr>
          <p:nvPr/>
        </p:nvGraphicFramePr>
        <p:xfrm>
          <a:off x="5610225" y="2271713"/>
          <a:ext cx="715963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7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8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5401" name="Group 57">
            <a:extLst>
              <a:ext uri="{FF2B5EF4-FFF2-40B4-BE49-F238E27FC236}">
                <a16:creationId xmlns:a16="http://schemas.microsoft.com/office/drawing/2014/main" id="{A9B61E94-5AEC-DA4E-B6AF-7D0826D6BC7A}"/>
              </a:ext>
            </a:extLst>
          </p:cNvPr>
          <p:cNvGraphicFramePr>
            <a:graphicFrameLocks noGrp="1"/>
          </p:cNvGraphicFramePr>
          <p:nvPr/>
        </p:nvGraphicFramePr>
        <p:xfrm>
          <a:off x="6783388" y="3795713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8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5409" name="Group 65">
            <a:extLst>
              <a:ext uri="{FF2B5EF4-FFF2-40B4-BE49-F238E27FC236}">
                <a16:creationId xmlns:a16="http://schemas.microsoft.com/office/drawing/2014/main" id="{E614EDDB-7587-A24A-8DF7-3C85FBE518E2}"/>
              </a:ext>
            </a:extLst>
          </p:cNvPr>
          <p:cNvGraphicFramePr>
            <a:graphicFrameLocks noGrp="1"/>
          </p:cNvGraphicFramePr>
          <p:nvPr/>
        </p:nvGraphicFramePr>
        <p:xfrm>
          <a:off x="5610225" y="4176713"/>
          <a:ext cx="715963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7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8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673" name="Line 73">
            <a:extLst>
              <a:ext uri="{FF2B5EF4-FFF2-40B4-BE49-F238E27FC236}">
                <a16:creationId xmlns:a16="http://schemas.microsoft.com/office/drawing/2014/main" id="{16B4A616-2BF1-8F46-B111-404051F2F66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9988" y="43291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4" name="Line 74">
            <a:extLst>
              <a:ext uri="{FF2B5EF4-FFF2-40B4-BE49-F238E27FC236}">
                <a16:creationId xmlns:a16="http://schemas.microsoft.com/office/drawing/2014/main" id="{E333D935-F72E-514C-AD65-A299431078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6988" y="43291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85419" name="Group 75">
            <a:extLst>
              <a:ext uri="{FF2B5EF4-FFF2-40B4-BE49-F238E27FC236}">
                <a16:creationId xmlns:a16="http://schemas.microsoft.com/office/drawing/2014/main" id="{A16D3032-C4F5-E145-9BB0-F2CD6E28CDB1}"/>
              </a:ext>
            </a:extLst>
          </p:cNvPr>
          <p:cNvGraphicFramePr>
            <a:graphicFrameLocks noGrp="1"/>
          </p:cNvGraphicFramePr>
          <p:nvPr/>
        </p:nvGraphicFramePr>
        <p:xfrm>
          <a:off x="6783388" y="4176713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8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5427" name="Group 83">
            <a:extLst>
              <a:ext uri="{FF2B5EF4-FFF2-40B4-BE49-F238E27FC236}">
                <a16:creationId xmlns:a16="http://schemas.microsoft.com/office/drawing/2014/main" id="{BEB2F6C5-A7AF-B448-A54D-A617DC43BBB2}"/>
              </a:ext>
            </a:extLst>
          </p:cNvPr>
          <p:cNvGraphicFramePr>
            <a:graphicFrameLocks noGrp="1"/>
          </p:cNvGraphicFramePr>
          <p:nvPr/>
        </p:nvGraphicFramePr>
        <p:xfrm>
          <a:off x="5610225" y="3414713"/>
          <a:ext cx="715963" cy="304800"/>
        </p:xfrm>
        <a:graphic>
          <a:graphicData uri="http://schemas.openxmlformats.org/drawingml/2006/table">
            <a:tbl>
              <a:tblPr/>
              <a:tblGrid>
                <a:gridCol w="4587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7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8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691" name="Line 91">
            <a:extLst>
              <a:ext uri="{FF2B5EF4-FFF2-40B4-BE49-F238E27FC236}">
                <a16:creationId xmlns:a16="http://schemas.microsoft.com/office/drawing/2014/main" id="{1FD9C552-855F-B041-97FB-2447F5E78AB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9988" y="35671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92" name="Line 92">
            <a:extLst>
              <a:ext uri="{FF2B5EF4-FFF2-40B4-BE49-F238E27FC236}">
                <a16:creationId xmlns:a16="http://schemas.microsoft.com/office/drawing/2014/main" id="{B9D54A1F-B278-3C48-96EF-EB387B21E9D1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6988" y="35671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85437" name="Group 93">
            <a:extLst>
              <a:ext uri="{FF2B5EF4-FFF2-40B4-BE49-F238E27FC236}">
                <a16:creationId xmlns:a16="http://schemas.microsoft.com/office/drawing/2014/main" id="{1F3CEEF7-CFAA-B243-BBA6-59F160F70896}"/>
              </a:ext>
            </a:extLst>
          </p:cNvPr>
          <p:cNvGraphicFramePr>
            <a:graphicFrameLocks noGrp="1"/>
          </p:cNvGraphicFramePr>
          <p:nvPr/>
        </p:nvGraphicFramePr>
        <p:xfrm>
          <a:off x="6783388" y="3414713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8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85445" name="Group 101">
            <a:extLst>
              <a:ext uri="{FF2B5EF4-FFF2-40B4-BE49-F238E27FC236}">
                <a16:creationId xmlns:a16="http://schemas.microsoft.com/office/drawing/2014/main" id="{986DF104-7F65-FB4E-AEF1-AA1907A9FB25}"/>
              </a:ext>
            </a:extLst>
          </p:cNvPr>
          <p:cNvGraphicFramePr>
            <a:graphicFrameLocks noGrp="1"/>
          </p:cNvGraphicFramePr>
          <p:nvPr/>
        </p:nvGraphicFramePr>
        <p:xfrm>
          <a:off x="5610225" y="2652713"/>
          <a:ext cx="715963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7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8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404" name="Rectangle 109">
            <a:extLst>
              <a:ext uri="{FF2B5EF4-FFF2-40B4-BE49-F238E27FC236}">
                <a16:creationId xmlns:a16="http://schemas.microsoft.com/office/drawing/2014/main" id="{35D2547C-610D-6449-B07D-064B505A0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7988" y="3779838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5405" name="Rectangle 110">
            <a:extLst>
              <a:ext uri="{FF2B5EF4-FFF2-40B4-BE49-F238E27FC236}">
                <a16:creationId xmlns:a16="http://schemas.microsoft.com/office/drawing/2014/main" id="{9C6779CC-2E0A-4842-87BD-70795CED2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4568825"/>
            <a:ext cx="1335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邻接表</a:t>
            </a:r>
          </a:p>
        </p:txBody>
      </p:sp>
      <p:sp>
        <p:nvSpPr>
          <p:cNvPr id="55406" name="Text Box 111">
            <a:extLst>
              <a:ext uri="{FF2B5EF4-FFF2-40B4-BE49-F238E27FC236}">
                <a16:creationId xmlns:a16="http://schemas.microsoft.com/office/drawing/2014/main" id="{2DBABBCC-FBB5-CE4D-9533-9463FECBA4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6025" y="1959224"/>
            <a:ext cx="4059125" cy="342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noProof="1">
                <a:solidFill>
                  <a:srgbClr val="000000"/>
                </a:solidFill>
                <a:latin typeface="宋体" panose="02010600030101010101" pitchFamily="2" charset="-122"/>
              </a:rPr>
              <a:t>  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序号</a:t>
            </a:r>
            <a:r>
              <a:rPr kumimoji="0" lang="zh-CN" altLang="en-US" sz="2000" noProof="1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zh-CN" altLang="zh-CN" sz="2000" noProof="1">
                <a:solidFill>
                  <a:srgbClr val="C00000"/>
                </a:solidFill>
                <a:latin typeface="宋体" panose="02010600030101010101" pitchFamily="2" charset="-122"/>
              </a:rPr>
              <a:t>头结点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数组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zh-CN" altLang="en-US" sz="2000" dirty="0">
                <a:solidFill>
                  <a:srgbClr val="C00000"/>
                </a:solidFill>
                <a:latin typeface="宋体" panose="02010600030101010101" pitchFamily="2" charset="-122"/>
              </a:rPr>
              <a:t>表</a:t>
            </a:r>
            <a:r>
              <a:rPr kumimoji="0" lang="zh-CN" altLang="zh-CN" sz="2000" noProof="1">
                <a:solidFill>
                  <a:srgbClr val="C00000"/>
                </a:solidFill>
                <a:latin typeface="宋体" panose="02010600030101010101" pitchFamily="2" charset="-122"/>
              </a:rPr>
              <a:t>结点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单链表</a:t>
            </a:r>
          </a:p>
        </p:txBody>
      </p:sp>
      <p:sp>
        <p:nvSpPr>
          <p:cNvPr id="185456" name="Rectangle 112">
            <a:extLst>
              <a:ext uri="{FF2B5EF4-FFF2-40B4-BE49-F238E27FC236}">
                <a16:creationId xmlns:a16="http://schemas.microsoft.com/office/drawing/2014/main" id="{5B7473BB-D905-C84D-9C2D-97BEBC373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743" y="4976812"/>
            <a:ext cx="8518525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若无向图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有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个顶点和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条边，需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表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头结点和</a:t>
            </a:r>
            <a:r>
              <a:rPr kumimoji="0" lang="en-GB" altLang="zh-CN" sz="2400" noProof="1">
                <a:solidFill>
                  <a:srgbClr val="000000"/>
                </a:solidFill>
                <a:highlight>
                  <a:srgbClr val="00FFFF"/>
                </a:highlight>
                <a:latin typeface="宋体" panose="02010600030101010101" pitchFamily="2" charset="-122"/>
              </a:rPr>
              <a:t>2e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个表结点。</a:t>
            </a:r>
            <a:endParaRPr kumimoji="0" lang="zh-CN" altLang="en-US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无向图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的邻接表，顶点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GB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的度为第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个单链表的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长度。</a:t>
            </a:r>
          </a:p>
        </p:txBody>
      </p:sp>
      <p:sp>
        <p:nvSpPr>
          <p:cNvPr id="55408" name="Text Box 113">
            <a:extLst>
              <a:ext uri="{FF2B5EF4-FFF2-40B4-BE49-F238E27FC236}">
                <a16:creationId xmlns:a16="http://schemas.microsoft.com/office/drawing/2014/main" id="{EBB2D4D6-B646-C84F-A916-96D7D82A8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975" y="333375"/>
            <a:ext cx="7488238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7.2.2 </a:t>
            </a:r>
            <a:r>
              <a:rPr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邻接表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逆邻接表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顺序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+</a:t>
            </a:r>
            <a:r>
              <a:rPr lang="zh-CN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链式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):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 </a:t>
            </a:r>
            <a:r>
              <a:rPr lang="zh-CN" altLang="zh-CN" sz="2400" noProof="1">
                <a:solidFill>
                  <a:srgbClr val="C00000"/>
                </a:solidFill>
                <a:latin typeface="宋体" panose="02010600030101010101" pitchFamily="2" charset="-122"/>
              </a:rPr>
              <a:t>无向图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的邻接表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每个顶点建立一个单链表，第</a:t>
            </a: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个单链表中的结点表示依附于顶点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的边。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  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</a:t>
            </a:r>
            <a:endParaRPr lang="zh-CN" altLang="en-US" sz="240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185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25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25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25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25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185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185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185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25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5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7" dur="500"/>
                                        <p:tgtEl>
                                          <p:spTgt spid="185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0" dur="500"/>
                                        <p:tgtEl>
                                          <p:spTgt spid="185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25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25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9" dur="500"/>
                                        <p:tgtEl>
                                          <p:spTgt spid="185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2" dur="500"/>
                                        <p:tgtEl>
                                          <p:spTgt spid="185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854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854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854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854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灯片编号占位符 3">
            <a:extLst>
              <a:ext uri="{FF2B5EF4-FFF2-40B4-BE49-F238E27FC236}">
                <a16:creationId xmlns:a16="http://schemas.microsoft.com/office/drawing/2014/main" id="{0123536C-7EAB-484E-A5FF-42B86CA915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A523F59-AA21-4345-94F5-0C2DE03EF03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37" name="Rectangle 3">
            <a:extLst>
              <a:ext uri="{FF2B5EF4-FFF2-40B4-BE49-F238E27FC236}">
                <a16:creationId xmlns:a16="http://schemas.microsoft.com/office/drawing/2014/main" id="{6D60DA99-7702-9A4F-BC84-927837468C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8" y="4566985"/>
            <a:ext cx="9217148" cy="10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若有向图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有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个顶点和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条弧，则需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表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头结点和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个表结点。</a:t>
            </a:r>
            <a:endParaRPr kumimoji="0" lang="zh-CN" altLang="en-US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有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向图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的邻接表，顶点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GB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kumimoji="0" lang="zh-CN" altLang="en-US" sz="2400" dirty="0">
                <a:solidFill>
                  <a:schemeClr val="tx2"/>
                </a:solidFill>
                <a:latin typeface="宋体" panose="02010600030101010101" pitchFamily="2" charset="-122"/>
              </a:rPr>
              <a:t>出</a:t>
            </a:r>
            <a:r>
              <a:rPr kumimoji="0" lang="zh-CN" altLang="zh-CN" sz="2400" noProof="1">
                <a:solidFill>
                  <a:schemeClr val="tx2"/>
                </a:solidFill>
                <a:latin typeface="宋体" panose="02010600030101010101" pitchFamily="2" charset="-122"/>
              </a:rPr>
              <a:t>度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为第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单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链表的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长度。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求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顶点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GB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kumimoji="0" lang="zh-CN" altLang="en-US" sz="2400" dirty="0">
                <a:solidFill>
                  <a:schemeClr val="tx2"/>
                </a:solidFill>
                <a:latin typeface="宋体" panose="02010600030101010101" pitchFamily="2" charset="-122"/>
              </a:rPr>
              <a:t>入度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需遍历全部单链表，统计结点值为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的表结点数。</a:t>
            </a:r>
          </a:p>
        </p:txBody>
      </p:sp>
      <p:sp>
        <p:nvSpPr>
          <p:cNvPr id="57347" name="Oval 4">
            <a:extLst>
              <a:ext uri="{FF2B5EF4-FFF2-40B4-BE49-F238E27FC236}">
                <a16:creationId xmlns:a16="http://schemas.microsoft.com/office/drawing/2014/main" id="{B571FCC2-673F-CC4B-A737-880F3DA54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6300" y="20478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7348" name="Oval 5">
            <a:extLst>
              <a:ext uri="{FF2B5EF4-FFF2-40B4-BE49-F238E27FC236}">
                <a16:creationId xmlns:a16="http://schemas.microsoft.com/office/drawing/2014/main" id="{A5A0D180-1BB2-C341-8380-E5A58C044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5300" y="2657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7349" name="Oval 6">
            <a:extLst>
              <a:ext uri="{FF2B5EF4-FFF2-40B4-BE49-F238E27FC236}">
                <a16:creationId xmlns:a16="http://schemas.microsoft.com/office/drawing/2014/main" id="{364A4546-2155-6840-893F-79A4D1413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2657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7350" name="Oval 7">
            <a:extLst>
              <a:ext uri="{FF2B5EF4-FFF2-40B4-BE49-F238E27FC236}">
                <a16:creationId xmlns:a16="http://schemas.microsoft.com/office/drawing/2014/main" id="{F02E27C0-E767-CE41-9A70-EB43C238D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20478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7351" name="Oval 9">
            <a:extLst>
              <a:ext uri="{FF2B5EF4-FFF2-40B4-BE49-F238E27FC236}">
                <a16:creationId xmlns:a16="http://schemas.microsoft.com/office/drawing/2014/main" id="{15FC39D6-2A37-2845-A0A4-2F468BEC8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" y="2687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7352" name="Line 10">
            <a:extLst>
              <a:ext uri="{FF2B5EF4-FFF2-40B4-BE49-F238E27FC236}">
                <a16:creationId xmlns:a16="http://schemas.microsoft.com/office/drawing/2014/main" id="{037C2FA4-C46B-5B4D-A320-76C53A51DA9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700" y="238283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53" name="Line 11">
            <a:extLst>
              <a:ext uri="{FF2B5EF4-FFF2-40B4-BE49-F238E27FC236}">
                <a16:creationId xmlns:a16="http://schemas.microsoft.com/office/drawing/2014/main" id="{05E930EC-192E-BB48-9731-58BE353DC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70100" y="242887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54" name="Line 12">
            <a:extLst>
              <a:ext uri="{FF2B5EF4-FFF2-40B4-BE49-F238E27FC236}">
                <a16:creationId xmlns:a16="http://schemas.microsoft.com/office/drawing/2014/main" id="{61651147-6EBA-B449-AC1E-1D3BB9EAFD71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4900" y="242887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55" name="Line 13">
            <a:extLst>
              <a:ext uri="{FF2B5EF4-FFF2-40B4-BE49-F238E27FC236}">
                <a16:creationId xmlns:a16="http://schemas.microsoft.com/office/drawing/2014/main" id="{A9627BF1-2769-374F-83CB-CE09C19D9BE7}"/>
              </a:ext>
            </a:extLst>
          </p:cNvPr>
          <p:cNvSpPr>
            <a:spLocks noChangeShapeType="1"/>
          </p:cNvSpPr>
          <p:nvPr/>
        </p:nvSpPr>
        <p:spPr bwMode="auto">
          <a:xfrm>
            <a:off x="2146300" y="2886075"/>
            <a:ext cx="3810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47" name="Group 14">
            <a:extLst>
              <a:ext uri="{FF2B5EF4-FFF2-40B4-BE49-F238E27FC236}">
                <a16:creationId xmlns:a16="http://schemas.microsoft.com/office/drawing/2014/main" id="{D5BE27E3-2853-1B4C-9530-D5C653D9ED96}"/>
              </a:ext>
            </a:extLst>
          </p:cNvPr>
          <p:cNvGraphicFramePr>
            <a:graphicFrameLocks noGrp="1"/>
          </p:cNvGraphicFramePr>
          <p:nvPr/>
        </p:nvGraphicFramePr>
        <p:xfrm>
          <a:off x="3822700" y="1812925"/>
          <a:ext cx="960438" cy="2219325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0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A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B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∧</a:t>
                      </a: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C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D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E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0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F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∧</a:t>
                      </a: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7379" name="Text Box 37">
            <a:extLst>
              <a:ext uri="{FF2B5EF4-FFF2-40B4-BE49-F238E27FC236}">
                <a16:creationId xmlns:a16="http://schemas.microsoft.com/office/drawing/2014/main" id="{744B7032-B403-B944-8D07-03A56169D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9300" y="1793875"/>
            <a:ext cx="706438" cy="223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0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1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2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3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4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5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7380" name="Line 38">
            <a:extLst>
              <a:ext uri="{FF2B5EF4-FFF2-40B4-BE49-F238E27FC236}">
                <a16:creationId xmlns:a16="http://schemas.microsoft.com/office/drawing/2014/main" id="{F5E4A6CF-AABE-0D46-B05F-B23767490F7C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0900" y="1987550"/>
            <a:ext cx="4572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1" name="Line 39">
            <a:extLst>
              <a:ext uri="{FF2B5EF4-FFF2-40B4-BE49-F238E27FC236}">
                <a16:creationId xmlns:a16="http://schemas.microsoft.com/office/drawing/2014/main" id="{D5E3174B-8009-A54D-B37C-17E047E018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0900" y="3467100"/>
            <a:ext cx="4572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51" name="Group 40">
            <a:extLst>
              <a:ext uri="{FF2B5EF4-FFF2-40B4-BE49-F238E27FC236}">
                <a16:creationId xmlns:a16="http://schemas.microsoft.com/office/drawing/2014/main" id="{B4271FA8-D8F8-8A43-87D3-90B2D6F0C072}"/>
              </a:ext>
            </a:extLst>
          </p:cNvPr>
          <p:cNvGraphicFramePr>
            <a:graphicFrameLocks noGrp="1"/>
          </p:cNvGraphicFramePr>
          <p:nvPr/>
        </p:nvGraphicFramePr>
        <p:xfrm>
          <a:off x="6294438" y="1817688"/>
          <a:ext cx="715962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7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2" name="Group 48">
            <a:extLst>
              <a:ext uri="{FF2B5EF4-FFF2-40B4-BE49-F238E27FC236}">
                <a16:creationId xmlns:a16="http://schemas.microsoft.com/office/drawing/2014/main" id="{D3625C15-498D-5447-8D42-BD705056A204}"/>
              </a:ext>
            </a:extLst>
          </p:cNvPr>
          <p:cNvGraphicFramePr>
            <a:graphicFrameLocks noGrp="1"/>
          </p:cNvGraphicFramePr>
          <p:nvPr/>
        </p:nvGraphicFramePr>
        <p:xfrm>
          <a:off x="5194300" y="3341688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7398" name="Line 56">
            <a:extLst>
              <a:ext uri="{FF2B5EF4-FFF2-40B4-BE49-F238E27FC236}">
                <a16:creationId xmlns:a16="http://schemas.microsoft.com/office/drawing/2014/main" id="{7FAB3418-512A-6E48-A232-E8A1B513769F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0900" y="3086100"/>
            <a:ext cx="4572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54" name="Group 57">
            <a:extLst>
              <a:ext uri="{FF2B5EF4-FFF2-40B4-BE49-F238E27FC236}">
                <a16:creationId xmlns:a16="http://schemas.microsoft.com/office/drawing/2014/main" id="{6E71E11B-3622-2240-B853-1A293E4FDFB5}"/>
              </a:ext>
            </a:extLst>
          </p:cNvPr>
          <p:cNvGraphicFramePr>
            <a:graphicFrameLocks noGrp="1"/>
          </p:cNvGraphicFramePr>
          <p:nvPr/>
        </p:nvGraphicFramePr>
        <p:xfrm>
          <a:off x="5194300" y="2960688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7407" name="Rectangle 65">
            <a:extLst>
              <a:ext uri="{FF2B5EF4-FFF2-40B4-BE49-F238E27FC236}">
                <a16:creationId xmlns:a16="http://schemas.microsoft.com/office/drawing/2014/main" id="{365CA125-DE49-C542-96FF-C313B8BB3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900" y="3298825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有向图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7408" name="Rectangle 66">
            <a:extLst>
              <a:ext uri="{FF2B5EF4-FFF2-40B4-BE49-F238E27FC236}">
                <a16:creationId xmlns:a16="http://schemas.microsoft.com/office/drawing/2014/main" id="{27A9A972-6690-7A47-9A88-18448E167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3700" y="4087813"/>
            <a:ext cx="15906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邻接表</a:t>
            </a:r>
          </a:p>
        </p:txBody>
      </p:sp>
      <p:sp>
        <p:nvSpPr>
          <p:cNvPr id="57409" name="Line 67">
            <a:extLst>
              <a:ext uri="{FF2B5EF4-FFF2-40B4-BE49-F238E27FC236}">
                <a16:creationId xmlns:a16="http://schemas.microsoft.com/office/drawing/2014/main" id="{B05293E2-906C-7345-8596-3F62E4F91D5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3300" y="2198688"/>
            <a:ext cx="304800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410" name="Line 68">
            <a:extLst>
              <a:ext uri="{FF2B5EF4-FFF2-40B4-BE49-F238E27FC236}">
                <a16:creationId xmlns:a16="http://schemas.microsoft.com/office/drawing/2014/main" id="{50CD4F11-E842-E34A-A39B-A71DAE41C9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03300" y="2427288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411" name="Line 69">
            <a:extLst>
              <a:ext uri="{FF2B5EF4-FFF2-40B4-BE49-F238E27FC236}">
                <a16:creationId xmlns:a16="http://schemas.microsoft.com/office/drawing/2014/main" id="{DD2EACB8-C553-CB42-B27F-D2536416C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1689100" y="2217738"/>
            <a:ext cx="457200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412" name="Line 70">
            <a:extLst>
              <a:ext uri="{FF2B5EF4-FFF2-40B4-BE49-F238E27FC236}">
                <a16:creationId xmlns:a16="http://schemas.microsoft.com/office/drawing/2014/main" id="{AA5A4F07-1DDC-E34F-A57B-B9475C40E62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0900" y="2736850"/>
            <a:ext cx="4572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61" name="Group 71">
            <a:extLst>
              <a:ext uri="{FF2B5EF4-FFF2-40B4-BE49-F238E27FC236}">
                <a16:creationId xmlns:a16="http://schemas.microsoft.com/office/drawing/2014/main" id="{9A1BC646-7DCA-0E42-B7A1-7491C5F888DC}"/>
              </a:ext>
            </a:extLst>
          </p:cNvPr>
          <p:cNvGraphicFramePr>
            <a:graphicFrameLocks noGrp="1"/>
          </p:cNvGraphicFramePr>
          <p:nvPr/>
        </p:nvGraphicFramePr>
        <p:xfrm>
          <a:off x="5194300" y="2579688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2" name="Group 79">
            <a:extLst>
              <a:ext uri="{FF2B5EF4-FFF2-40B4-BE49-F238E27FC236}">
                <a16:creationId xmlns:a16="http://schemas.microsoft.com/office/drawing/2014/main" id="{9F088AA1-996C-C149-86EE-C7412704DEE1}"/>
              </a:ext>
            </a:extLst>
          </p:cNvPr>
          <p:cNvGraphicFramePr>
            <a:graphicFrameLocks noGrp="1"/>
          </p:cNvGraphicFramePr>
          <p:nvPr/>
        </p:nvGraphicFramePr>
        <p:xfrm>
          <a:off x="7454900" y="2579688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3" name="Group 87">
            <a:extLst>
              <a:ext uri="{FF2B5EF4-FFF2-40B4-BE49-F238E27FC236}">
                <a16:creationId xmlns:a16="http://schemas.microsoft.com/office/drawing/2014/main" id="{A9BA0197-E9BD-7949-A78A-A6BC2479CE10}"/>
              </a:ext>
            </a:extLst>
          </p:cNvPr>
          <p:cNvGraphicFramePr>
            <a:graphicFrameLocks noGrp="1"/>
          </p:cNvGraphicFramePr>
          <p:nvPr/>
        </p:nvGraphicFramePr>
        <p:xfrm>
          <a:off x="5194300" y="1817688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7437" name="Line 95">
            <a:extLst>
              <a:ext uri="{FF2B5EF4-FFF2-40B4-BE49-F238E27FC236}">
                <a16:creationId xmlns:a16="http://schemas.microsoft.com/office/drawing/2014/main" id="{EE364179-7DA6-4549-BCBF-6D7233AA567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8188" y="2730500"/>
            <a:ext cx="4572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438" name="Line 96">
            <a:extLst>
              <a:ext uri="{FF2B5EF4-FFF2-40B4-BE49-F238E27FC236}">
                <a16:creationId xmlns:a16="http://schemas.microsoft.com/office/drawing/2014/main" id="{53017D35-9CB2-4745-9CBF-0CDFF45271C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3900" y="1970088"/>
            <a:ext cx="457200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439" name="Text Box 97">
            <a:extLst>
              <a:ext uri="{FF2B5EF4-FFF2-40B4-BE49-F238E27FC236}">
                <a16:creationId xmlns:a16="http://schemas.microsoft.com/office/drawing/2014/main" id="{96030949-D193-1440-B98F-AE3672AF4B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3568" y="1496477"/>
            <a:ext cx="3929063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序号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zh-CN" altLang="zh-CN" sz="2000" noProof="1">
                <a:solidFill>
                  <a:srgbClr val="C00000"/>
                </a:solidFill>
                <a:latin typeface="宋体" panose="02010600030101010101" pitchFamily="2" charset="-122"/>
              </a:rPr>
              <a:t>头结点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数组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</a:t>
            </a:r>
            <a:r>
              <a:rPr kumimoji="0" lang="zh-CN" altLang="en-US" sz="2000" dirty="0">
                <a:solidFill>
                  <a:srgbClr val="C00000"/>
                </a:solidFill>
                <a:latin typeface="宋体" panose="02010600030101010101" pitchFamily="2" charset="-122"/>
              </a:rPr>
              <a:t>表</a:t>
            </a:r>
            <a:r>
              <a:rPr kumimoji="0" lang="zh-CN" altLang="zh-CN" sz="2000" noProof="1">
                <a:solidFill>
                  <a:srgbClr val="C00000"/>
                </a:solidFill>
                <a:latin typeface="宋体" panose="02010600030101010101" pitchFamily="2" charset="-122"/>
              </a:rPr>
              <a:t>结点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单链表</a:t>
            </a:r>
          </a:p>
        </p:txBody>
      </p:sp>
      <p:graphicFrame>
        <p:nvGraphicFramePr>
          <p:cNvPr id="67" name="Group 98">
            <a:extLst>
              <a:ext uri="{FF2B5EF4-FFF2-40B4-BE49-F238E27FC236}">
                <a16:creationId xmlns:a16="http://schemas.microsoft.com/office/drawing/2014/main" id="{43CE2C4A-C764-1540-AA33-6AD67CF3E337}"/>
              </a:ext>
            </a:extLst>
          </p:cNvPr>
          <p:cNvGraphicFramePr>
            <a:graphicFrameLocks noGrp="1"/>
          </p:cNvGraphicFramePr>
          <p:nvPr/>
        </p:nvGraphicFramePr>
        <p:xfrm>
          <a:off x="6294438" y="2579688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7448" name="Line 106">
            <a:extLst>
              <a:ext uri="{FF2B5EF4-FFF2-40B4-BE49-F238E27FC236}">
                <a16:creationId xmlns:a16="http://schemas.microsoft.com/office/drawing/2014/main" id="{50F10D7B-9923-DF44-9006-AC540A36F36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80238" y="2730500"/>
            <a:ext cx="4572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449" name="Text Box 107">
            <a:extLst>
              <a:ext uri="{FF2B5EF4-FFF2-40B4-BE49-F238E27FC236}">
                <a16:creationId xmlns:a16="http://schemas.microsoft.com/office/drawing/2014/main" id="{DF91E5C7-7974-3643-9A47-70057F84A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8" y="246856"/>
            <a:ext cx="8856662" cy="1201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（2）</a:t>
            </a:r>
            <a:r>
              <a:rPr lang="zh-CN" altLang="zh-CN" sz="2400" noProof="1">
                <a:solidFill>
                  <a:srgbClr val="C00000"/>
                </a:solidFill>
                <a:latin typeface="宋体" panose="02010600030101010101" pitchFamily="2" charset="-122"/>
              </a:rPr>
              <a:t>有向图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的邻接表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第</a:t>
            </a: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个单链表中的表结点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的值为</a:t>
            </a: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，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表示以顶点</a:t>
            </a: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GB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为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弧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尾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，以顶点</a:t>
            </a:r>
            <a:r>
              <a:rPr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为弧头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一条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弧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,v</a:t>
            </a:r>
            <a:r>
              <a:rPr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  <a:endParaRPr lang="zh-CN" altLang="en-US" sz="2400" dirty="0">
              <a:latin typeface="宋体" panose="02010600030101010101" pitchFamily="2" charset="-122"/>
            </a:endParaRPr>
          </a:p>
        </p:txBody>
      </p:sp>
      <p:sp>
        <p:nvSpPr>
          <p:cNvPr id="57450" name="Oval 8">
            <a:extLst>
              <a:ext uri="{FF2B5EF4-FFF2-40B4-BE49-F238E27FC236}">
                <a16:creationId xmlns:a16="http://schemas.microsoft.com/office/drawing/2014/main" id="{976C8BE3-39DB-0448-BEEF-D3F67ACC1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2039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灯片编号占位符 3">
            <a:extLst>
              <a:ext uri="{FF2B5EF4-FFF2-40B4-BE49-F238E27FC236}">
                <a16:creationId xmlns:a16="http://schemas.microsoft.com/office/drawing/2014/main" id="{E363504F-34AD-524A-B15E-DF8C81330C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93239FA-2E5C-F546-82AF-3FD3D2E8AE0E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59394" name="Oval 3">
            <a:extLst>
              <a:ext uri="{FF2B5EF4-FFF2-40B4-BE49-F238E27FC236}">
                <a16:creationId xmlns:a16="http://schemas.microsoft.com/office/drawing/2014/main" id="{40E2CBEC-E833-4B4D-B926-A345D3BEE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9013" y="1133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9395" name="Oval 4">
            <a:extLst>
              <a:ext uri="{FF2B5EF4-FFF2-40B4-BE49-F238E27FC236}">
                <a16:creationId xmlns:a16="http://schemas.microsoft.com/office/drawing/2014/main" id="{F326EF54-1712-E94E-ACE5-C1714766F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8013" y="17430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9396" name="Oval 5">
            <a:extLst>
              <a:ext uri="{FF2B5EF4-FFF2-40B4-BE49-F238E27FC236}">
                <a16:creationId xmlns:a16="http://schemas.microsoft.com/office/drawing/2014/main" id="{BA3A56E4-B4C5-9F47-9F60-31D05C7F5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0013" y="17430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9397" name="Oval 6">
            <a:extLst>
              <a:ext uri="{FF2B5EF4-FFF2-40B4-BE49-F238E27FC236}">
                <a16:creationId xmlns:a16="http://schemas.microsoft.com/office/drawing/2014/main" id="{B17E9D65-0413-DB44-84E5-A66555E63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0813" y="1133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9398" name="Oval 7">
            <a:extLst>
              <a:ext uri="{FF2B5EF4-FFF2-40B4-BE49-F238E27FC236}">
                <a16:creationId xmlns:a16="http://schemas.microsoft.com/office/drawing/2014/main" id="{C116D0C3-0B66-D841-9DA9-2810E1B83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1144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9399" name="Oval 8">
            <a:extLst>
              <a:ext uri="{FF2B5EF4-FFF2-40B4-BE49-F238E27FC236}">
                <a16:creationId xmlns:a16="http://schemas.microsoft.com/office/drawing/2014/main" id="{14B7EA4B-F10C-1F4D-A460-8E5AA653D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013" y="17430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9400" name="Line 9">
            <a:extLst>
              <a:ext uri="{FF2B5EF4-FFF2-40B4-BE49-F238E27FC236}">
                <a16:creationId xmlns:a16="http://schemas.microsoft.com/office/drawing/2014/main" id="{93F4E801-79F5-124E-A7CC-65960253CEB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67413" y="1512887"/>
            <a:ext cx="0" cy="2301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01" name="Line 10">
            <a:extLst>
              <a:ext uri="{FF2B5EF4-FFF2-40B4-BE49-F238E27FC236}">
                <a16:creationId xmlns:a16="http://schemas.microsoft.com/office/drawing/2014/main" id="{25384BA4-09C8-1641-845B-34465DEAC0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85026" y="146371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02" name="Line 11">
            <a:extLst>
              <a:ext uri="{FF2B5EF4-FFF2-40B4-BE49-F238E27FC236}">
                <a16:creationId xmlns:a16="http://schemas.microsoft.com/office/drawing/2014/main" id="{82DE05F9-199C-0B46-A9ED-C0AA223FB6C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0163" y="147558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03" name="Line 12">
            <a:extLst>
              <a:ext uri="{FF2B5EF4-FFF2-40B4-BE49-F238E27FC236}">
                <a16:creationId xmlns:a16="http://schemas.microsoft.com/office/drawing/2014/main" id="{7B88A464-F791-2249-9A9E-E7D23D10AB2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39013" y="197167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53" name="Group 13">
            <a:extLst>
              <a:ext uri="{FF2B5EF4-FFF2-40B4-BE49-F238E27FC236}">
                <a16:creationId xmlns:a16="http://schemas.microsoft.com/office/drawing/2014/main" id="{F92314B0-3315-044C-B17E-46ADF46FBD91}"/>
              </a:ext>
            </a:extLst>
          </p:cNvPr>
          <p:cNvGraphicFramePr>
            <a:graphicFrameLocks noGrp="1"/>
          </p:cNvGraphicFramePr>
          <p:nvPr/>
        </p:nvGraphicFramePr>
        <p:xfrm>
          <a:off x="1873250" y="3108325"/>
          <a:ext cx="960438" cy="2219325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0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A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B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∧</a:t>
                      </a: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C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D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E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0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F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∧</a:t>
                      </a: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9427" name="Text Box 36">
            <a:extLst>
              <a:ext uri="{FF2B5EF4-FFF2-40B4-BE49-F238E27FC236}">
                <a16:creationId xmlns:a16="http://schemas.microsoft.com/office/drawing/2014/main" id="{438F21F6-AC1A-274E-A266-3B3F32CAA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2400" y="3065463"/>
            <a:ext cx="701675" cy="223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0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1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2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3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4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5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9428" name="Line 37">
            <a:extLst>
              <a:ext uri="{FF2B5EF4-FFF2-40B4-BE49-F238E27FC236}">
                <a16:creationId xmlns:a16="http://schemas.microsoft.com/office/drawing/2014/main" id="{5948744C-C9F1-244A-92FA-280038FB7EB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450" y="3267075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29" name="Line 38">
            <a:extLst>
              <a:ext uri="{FF2B5EF4-FFF2-40B4-BE49-F238E27FC236}">
                <a16:creationId xmlns:a16="http://schemas.microsoft.com/office/drawing/2014/main" id="{0B8C9E1B-F7EA-3641-AEDB-6FD03082649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450" y="47625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57" name="Group 39">
            <a:extLst>
              <a:ext uri="{FF2B5EF4-FFF2-40B4-BE49-F238E27FC236}">
                <a16:creationId xmlns:a16="http://schemas.microsoft.com/office/drawing/2014/main" id="{C9B4A4F7-4ED4-9A41-BD78-E1B9AE90A5AA}"/>
              </a:ext>
            </a:extLst>
          </p:cNvPr>
          <p:cNvGraphicFramePr>
            <a:graphicFrameLocks noGrp="1"/>
          </p:cNvGraphicFramePr>
          <p:nvPr/>
        </p:nvGraphicFramePr>
        <p:xfrm>
          <a:off x="4614863" y="3113088"/>
          <a:ext cx="974725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7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87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8" name="Group 49">
            <a:extLst>
              <a:ext uri="{FF2B5EF4-FFF2-40B4-BE49-F238E27FC236}">
                <a16:creationId xmlns:a16="http://schemas.microsoft.com/office/drawing/2014/main" id="{6A280E1E-297D-B048-886B-C642FB371C4E}"/>
              </a:ext>
            </a:extLst>
          </p:cNvPr>
          <p:cNvGraphicFramePr>
            <a:graphicFrameLocks noGrp="1"/>
          </p:cNvGraphicFramePr>
          <p:nvPr/>
        </p:nvGraphicFramePr>
        <p:xfrm>
          <a:off x="3216275" y="4708525"/>
          <a:ext cx="10668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9450" name="Line 59">
            <a:extLst>
              <a:ext uri="{FF2B5EF4-FFF2-40B4-BE49-F238E27FC236}">
                <a16:creationId xmlns:a16="http://schemas.microsoft.com/office/drawing/2014/main" id="{D29B9EE7-3715-5746-9E2A-1329DE11D3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450" y="43815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60" name="Group 60">
            <a:extLst>
              <a:ext uri="{FF2B5EF4-FFF2-40B4-BE49-F238E27FC236}">
                <a16:creationId xmlns:a16="http://schemas.microsoft.com/office/drawing/2014/main" id="{FE9146C1-A8A8-4947-B321-3F774F088D99}"/>
              </a:ext>
            </a:extLst>
          </p:cNvPr>
          <p:cNvGraphicFramePr>
            <a:graphicFrameLocks noGrp="1"/>
          </p:cNvGraphicFramePr>
          <p:nvPr/>
        </p:nvGraphicFramePr>
        <p:xfrm>
          <a:off x="3216275" y="4276725"/>
          <a:ext cx="1039813" cy="304800"/>
        </p:xfrm>
        <a:graphic>
          <a:graphicData uri="http://schemas.openxmlformats.org/drawingml/2006/table">
            <a:tbl>
              <a:tblPr/>
              <a:tblGrid>
                <a:gridCol w="3508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4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44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17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9461" name="Rectangle 70">
            <a:extLst>
              <a:ext uri="{FF2B5EF4-FFF2-40B4-BE49-F238E27FC236}">
                <a16:creationId xmlns:a16="http://schemas.microsoft.com/office/drawing/2014/main" id="{36D45AE0-D0B7-054C-9BEF-6F504D08F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4613" y="2384425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有向网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9462" name="Rectangle 71">
            <a:extLst>
              <a:ext uri="{FF2B5EF4-FFF2-40B4-BE49-F238E27FC236}">
                <a16:creationId xmlns:a16="http://schemas.microsoft.com/office/drawing/2014/main" id="{DB4B9459-E1FE-3144-BFED-B58B0BDB6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113" y="5480050"/>
            <a:ext cx="21018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有向网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邻接表</a:t>
            </a:r>
          </a:p>
        </p:txBody>
      </p:sp>
      <p:sp>
        <p:nvSpPr>
          <p:cNvPr id="59463" name="Line 72">
            <a:extLst>
              <a:ext uri="{FF2B5EF4-FFF2-40B4-BE49-F238E27FC236}">
                <a16:creationId xmlns:a16="http://schemas.microsoft.com/office/drawing/2014/main" id="{061EA645-D7C1-8D49-A1B7-DF77399EE96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013" y="1341438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64" name="Line 73">
            <a:extLst>
              <a:ext uri="{FF2B5EF4-FFF2-40B4-BE49-F238E27FC236}">
                <a16:creationId xmlns:a16="http://schemas.microsoft.com/office/drawing/2014/main" id="{048E5F0F-5575-1348-A367-8749D94A58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96013" y="1512888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65" name="Line 74">
            <a:extLst>
              <a:ext uri="{FF2B5EF4-FFF2-40B4-BE49-F238E27FC236}">
                <a16:creationId xmlns:a16="http://schemas.microsoft.com/office/drawing/2014/main" id="{48961AD8-760A-BB47-9BF0-B4C591C91E34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1813" y="130175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66" name="Line 75">
            <a:extLst>
              <a:ext uri="{FF2B5EF4-FFF2-40B4-BE49-F238E27FC236}">
                <a16:creationId xmlns:a16="http://schemas.microsoft.com/office/drawing/2014/main" id="{4CF559A5-514A-124F-9E87-6529DEFC882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450" y="402113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67" name="Group 76">
            <a:extLst>
              <a:ext uri="{FF2B5EF4-FFF2-40B4-BE49-F238E27FC236}">
                <a16:creationId xmlns:a16="http://schemas.microsoft.com/office/drawing/2014/main" id="{D97CBC04-2BA9-7C43-8BEF-2941B6DE7912}"/>
              </a:ext>
            </a:extLst>
          </p:cNvPr>
          <p:cNvGraphicFramePr>
            <a:graphicFrameLocks noGrp="1"/>
          </p:cNvGraphicFramePr>
          <p:nvPr/>
        </p:nvGraphicFramePr>
        <p:xfrm>
          <a:off x="3216275" y="3860800"/>
          <a:ext cx="10668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36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59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8" name="Group 86">
            <a:extLst>
              <a:ext uri="{FF2B5EF4-FFF2-40B4-BE49-F238E27FC236}">
                <a16:creationId xmlns:a16="http://schemas.microsoft.com/office/drawing/2014/main" id="{5BC5C953-8BF5-2342-86E4-1B5B6AC49932}"/>
              </a:ext>
            </a:extLst>
          </p:cNvPr>
          <p:cNvGraphicFramePr>
            <a:graphicFrameLocks noGrp="1"/>
          </p:cNvGraphicFramePr>
          <p:nvPr/>
        </p:nvGraphicFramePr>
        <p:xfrm>
          <a:off x="5942013" y="3875088"/>
          <a:ext cx="1066800" cy="304800"/>
        </p:xfrm>
        <a:graphic>
          <a:graphicData uri="http://schemas.openxmlformats.org/drawingml/2006/table">
            <a:tbl>
              <a:tblPr/>
              <a:tblGrid>
                <a:gridCol w="473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8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10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9" name="Group 96">
            <a:extLst>
              <a:ext uri="{FF2B5EF4-FFF2-40B4-BE49-F238E27FC236}">
                <a16:creationId xmlns:a16="http://schemas.microsoft.com/office/drawing/2014/main" id="{8C0DC3F9-2694-7B48-ACC7-796C476586EA}"/>
              </a:ext>
            </a:extLst>
          </p:cNvPr>
          <p:cNvGraphicFramePr>
            <a:graphicFrameLocks noGrp="1"/>
          </p:cNvGraphicFramePr>
          <p:nvPr/>
        </p:nvGraphicFramePr>
        <p:xfrm>
          <a:off x="3216275" y="3113088"/>
          <a:ext cx="10668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9497" name="Line 106">
            <a:extLst>
              <a:ext uri="{FF2B5EF4-FFF2-40B4-BE49-F238E27FC236}">
                <a16:creationId xmlns:a16="http://schemas.microsoft.com/office/drawing/2014/main" id="{F2BECA13-40A0-F849-A430-C79594D8B302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9250" y="40116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98" name="Line 107">
            <a:extLst>
              <a:ext uri="{FF2B5EF4-FFF2-40B4-BE49-F238E27FC236}">
                <a16:creationId xmlns:a16="http://schemas.microsoft.com/office/drawing/2014/main" id="{D554CA72-BA18-9D43-90D9-73980473705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2900" y="326548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99" name="Text Box 108">
            <a:extLst>
              <a:ext uri="{FF2B5EF4-FFF2-40B4-BE49-F238E27FC236}">
                <a16:creationId xmlns:a16="http://schemas.microsoft.com/office/drawing/2014/main" id="{515BB829-633A-7A4A-BBEF-E9B9835EFA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1550" y="2420938"/>
            <a:ext cx="3799438" cy="7290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序号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头结点数组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表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结点单链表</a:t>
            </a:r>
          </a:p>
          <a:p>
            <a:pPr eaLnBrk="1" fontAlgn="t" hangingPunct="1"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800" noProof="1">
                <a:solidFill>
                  <a:srgbClr val="000000"/>
                </a:solidFill>
                <a:latin typeface="宋体" panose="02010600030101010101" pitchFamily="2" charset="-122"/>
              </a:rPr>
              <a:t>     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            </a:t>
            </a:r>
          </a:p>
          <a:p>
            <a:pPr eaLnBrk="1" fontAlgn="t" hangingPunct="1"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1400" noProof="1">
                <a:solidFill>
                  <a:srgbClr val="000000"/>
                </a:solidFill>
                <a:latin typeface="宋体" panose="02010600030101010101" pitchFamily="2" charset="-122"/>
              </a:rPr>
              <a:t>                       序号 权值 指针</a:t>
            </a:r>
            <a:endParaRPr kumimoji="0" lang="zh-CN" altLang="zh-CN" sz="1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73" name="Group 109">
            <a:extLst>
              <a:ext uri="{FF2B5EF4-FFF2-40B4-BE49-F238E27FC236}">
                <a16:creationId xmlns:a16="http://schemas.microsoft.com/office/drawing/2014/main" id="{104D9B86-0183-2647-9164-951E1FA6886D}"/>
              </a:ext>
            </a:extLst>
          </p:cNvPr>
          <p:cNvGraphicFramePr>
            <a:graphicFrameLocks noGrp="1"/>
          </p:cNvGraphicFramePr>
          <p:nvPr/>
        </p:nvGraphicFramePr>
        <p:xfrm>
          <a:off x="4614863" y="3875088"/>
          <a:ext cx="10668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9510" name="Line 119">
            <a:extLst>
              <a:ext uri="{FF2B5EF4-FFF2-40B4-BE49-F238E27FC236}">
                <a16:creationId xmlns:a16="http://schemas.microsoft.com/office/drawing/2014/main" id="{E1C32615-7D4F-E143-B0BF-60541EE9371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1475" y="40259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511" name="Rectangle 120">
            <a:extLst>
              <a:ext uri="{FF2B5EF4-FFF2-40B4-BE49-F238E27FC236}">
                <a16:creationId xmlns:a16="http://schemas.microsoft.com/office/drawing/2014/main" id="{954100F0-A293-D84A-B6D3-3D7E5BCE4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6325" y="9302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59512" name="Rectangle 121">
            <a:extLst>
              <a:ext uri="{FF2B5EF4-FFF2-40B4-BE49-F238E27FC236}">
                <a16:creationId xmlns:a16="http://schemas.microsoft.com/office/drawing/2014/main" id="{271BACB9-818D-D947-AB8B-1E895E63B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8625" y="1376363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59513" name="Rectangle 122">
            <a:extLst>
              <a:ext uri="{FF2B5EF4-FFF2-40B4-BE49-F238E27FC236}">
                <a16:creationId xmlns:a16="http://schemas.microsoft.com/office/drawing/2014/main" id="{E4225EB3-EC43-AD41-A640-2577F4493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000" y="1665288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17</a:t>
            </a:r>
          </a:p>
        </p:txBody>
      </p:sp>
      <p:sp>
        <p:nvSpPr>
          <p:cNvPr id="59514" name="Rectangle 123">
            <a:extLst>
              <a:ext uri="{FF2B5EF4-FFF2-40B4-BE49-F238E27FC236}">
                <a16:creationId xmlns:a16="http://schemas.microsoft.com/office/drawing/2014/main" id="{2DC0669A-A9EB-CF45-A58E-022E39897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8488" y="909638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</a:p>
        </p:txBody>
      </p:sp>
      <p:sp>
        <p:nvSpPr>
          <p:cNvPr id="59515" name="Rectangle 124">
            <a:extLst>
              <a:ext uri="{FF2B5EF4-FFF2-40B4-BE49-F238E27FC236}">
                <a16:creationId xmlns:a16="http://schemas.microsoft.com/office/drawing/2014/main" id="{86F9354F-1BF1-AD43-94E9-93B3382A0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9850" y="1314449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59516" name="Rectangle 125">
            <a:extLst>
              <a:ext uri="{FF2B5EF4-FFF2-40B4-BE49-F238E27FC236}">
                <a16:creationId xmlns:a16="http://schemas.microsoft.com/office/drawing/2014/main" id="{64BE3880-C770-4840-B3D7-8326AF988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2610" y="1357312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</a:p>
        </p:txBody>
      </p:sp>
      <p:sp>
        <p:nvSpPr>
          <p:cNvPr id="59517" name="Rectangle 126">
            <a:extLst>
              <a:ext uri="{FF2B5EF4-FFF2-40B4-BE49-F238E27FC236}">
                <a16:creationId xmlns:a16="http://schemas.microsoft.com/office/drawing/2014/main" id="{1A0C4872-45FD-284D-ABF2-19C81A0A5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8850" y="1881188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</a:p>
        </p:txBody>
      </p:sp>
      <p:sp>
        <p:nvSpPr>
          <p:cNvPr id="59518" name="Text Box 127">
            <a:extLst>
              <a:ext uri="{FF2B5EF4-FFF2-40B4-BE49-F238E27FC236}">
                <a16:creationId xmlns:a16="http://schemas.microsoft.com/office/drawing/2014/main" id="{E03A0142-3D4C-734C-BB89-A4EE4F4BF5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775" y="738188"/>
            <a:ext cx="4880597" cy="4766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 typeface="Wingdings" pitchFamily="2" charset="2"/>
              <a:buNone/>
            </a:pP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（3）</a:t>
            </a:r>
            <a:r>
              <a:rPr lang="zh-CN" altLang="zh-CN" sz="2400" noProof="1">
                <a:solidFill>
                  <a:srgbClr val="C00000"/>
                </a:solidFill>
                <a:latin typeface="宋体" panose="02010600030101010101" pitchFamily="2" charset="-122"/>
              </a:rPr>
              <a:t>有向网</a:t>
            </a:r>
            <a:r>
              <a:rPr lang="zh-CN" altLang="en-US" sz="2400" noProof="1">
                <a:solidFill>
                  <a:srgbClr val="C00000"/>
                </a:solidFill>
                <a:latin typeface="宋体" panose="02010600030101010101" pitchFamily="2" charset="-122"/>
              </a:rPr>
              <a:t>（带权重）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的邻接表</a:t>
            </a:r>
            <a:endParaRPr lang="zh-CN" altLang="en-US" sz="2400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427" grpId="0"/>
      <p:bldP spid="59428" grpId="0" animBg="1"/>
      <p:bldP spid="59429" grpId="0" animBg="1"/>
      <p:bldP spid="59450" grpId="0" animBg="1"/>
      <p:bldP spid="59462" grpId="0"/>
      <p:bldP spid="59466" grpId="0" animBg="1"/>
      <p:bldP spid="59497" grpId="0" animBg="1"/>
      <p:bldP spid="59498" grpId="0" animBg="1"/>
      <p:bldP spid="59499" grpId="0"/>
      <p:bldP spid="59510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灯片编号占位符 3">
            <a:extLst>
              <a:ext uri="{FF2B5EF4-FFF2-40B4-BE49-F238E27FC236}">
                <a16:creationId xmlns:a16="http://schemas.microsoft.com/office/drawing/2014/main" id="{C1B85F60-915B-7C4C-A8C5-C3EDC0163AA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787E6FF-94F1-3146-BABA-4A0E263F106E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37" name="Rectangle 3">
            <a:extLst>
              <a:ext uri="{FF2B5EF4-FFF2-40B4-BE49-F238E27FC236}">
                <a16:creationId xmlns:a16="http://schemas.microsoft.com/office/drawing/2014/main" id="{C0988B22-4D77-BB46-977D-37EF5B97D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69" y="4632739"/>
            <a:ext cx="8839200" cy="10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若有向图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有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个顶点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条弧，则需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表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头结点和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个表结点。</a:t>
            </a:r>
            <a:endParaRPr kumimoji="0" lang="zh-CN" altLang="en-US" sz="2400" dirty="0">
              <a:solidFill>
                <a:srgbClr val="000000"/>
              </a:solidFill>
              <a:latin typeface="宋体" panose="02010600030101010101" pitchFamily="2" charset="-122"/>
              <a:sym typeface="Wingdings 3" pitchFamily="2" charset="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有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向图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的逆邻接表，顶点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GB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kumimoji="0" lang="zh-CN" altLang="en-US" sz="2400" dirty="0">
                <a:solidFill>
                  <a:schemeClr val="tx2"/>
                </a:solidFill>
                <a:latin typeface="Arial" panose="020B0604020202020204" pitchFamily="34" charset="0"/>
              </a:rPr>
              <a:t>入度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为第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单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链表的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长度。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求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顶点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GB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kumimoji="0" lang="zh-CN" altLang="en-US" sz="2400" dirty="0">
                <a:solidFill>
                  <a:schemeClr val="tx2"/>
                </a:solidFill>
                <a:latin typeface="宋体" panose="02010600030101010101" pitchFamily="2" charset="-122"/>
              </a:rPr>
              <a:t>出度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需遍历全部单链表，统计结点值为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的结点数。</a:t>
            </a:r>
          </a:p>
        </p:txBody>
      </p:sp>
      <p:sp>
        <p:nvSpPr>
          <p:cNvPr id="61443" name="Oval 4">
            <a:extLst>
              <a:ext uri="{FF2B5EF4-FFF2-40B4-BE49-F238E27FC236}">
                <a16:creationId xmlns:a16="http://schemas.microsoft.com/office/drawing/2014/main" id="{41F744A9-DA03-BE49-80E0-9953FE5D4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4534" y="2195927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1444" name="Oval 5">
            <a:extLst>
              <a:ext uri="{FF2B5EF4-FFF2-40B4-BE49-F238E27FC236}">
                <a16:creationId xmlns:a16="http://schemas.microsoft.com/office/drawing/2014/main" id="{3171B251-B404-7744-95D2-270410A4C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3534" y="2805527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1445" name="Oval 6">
            <a:extLst>
              <a:ext uri="{FF2B5EF4-FFF2-40B4-BE49-F238E27FC236}">
                <a16:creationId xmlns:a16="http://schemas.microsoft.com/office/drawing/2014/main" id="{29896AD5-B303-4F48-B594-C1F89A435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5534" y="2805527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1446" name="Oval 7">
            <a:extLst>
              <a:ext uri="{FF2B5EF4-FFF2-40B4-BE49-F238E27FC236}">
                <a16:creationId xmlns:a16="http://schemas.microsoft.com/office/drawing/2014/main" id="{984C7A63-4144-9B47-B17D-E1E70BA87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6334" y="2195927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1447" name="Oval 8">
            <a:extLst>
              <a:ext uri="{FF2B5EF4-FFF2-40B4-BE49-F238E27FC236}">
                <a16:creationId xmlns:a16="http://schemas.microsoft.com/office/drawing/2014/main" id="{6D761F9E-039E-F143-96D7-387040808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959" y="2178464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1448" name="Oval 9">
            <a:extLst>
              <a:ext uri="{FF2B5EF4-FFF2-40B4-BE49-F238E27FC236}">
                <a16:creationId xmlns:a16="http://schemas.microsoft.com/office/drawing/2014/main" id="{7969E147-685B-294E-BF38-5DD806D56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534" y="2805527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1449" name="Line 10">
            <a:extLst>
              <a:ext uri="{FF2B5EF4-FFF2-40B4-BE49-F238E27FC236}">
                <a16:creationId xmlns:a16="http://schemas.microsoft.com/office/drawing/2014/main" id="{C51F6119-5870-4449-8501-5B0DF80BB8CC}"/>
              </a:ext>
            </a:extLst>
          </p:cNvPr>
          <p:cNvSpPr>
            <a:spLocks noChangeShapeType="1"/>
          </p:cNvSpPr>
          <p:nvPr/>
        </p:nvSpPr>
        <p:spPr bwMode="auto">
          <a:xfrm>
            <a:off x="1182934" y="2575339"/>
            <a:ext cx="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450" name="Line 11">
            <a:extLst>
              <a:ext uri="{FF2B5EF4-FFF2-40B4-BE49-F238E27FC236}">
                <a16:creationId xmlns:a16="http://schemas.microsoft.com/office/drawing/2014/main" id="{FD97B912-D31B-0A43-8BFE-8C6104283C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78334" y="2576927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451" name="Line 12">
            <a:extLst>
              <a:ext uri="{FF2B5EF4-FFF2-40B4-BE49-F238E27FC236}">
                <a16:creationId xmlns:a16="http://schemas.microsoft.com/office/drawing/2014/main" id="{9FC59B98-E32C-264E-AD45-4CFE06314697}"/>
              </a:ext>
            </a:extLst>
          </p:cNvPr>
          <p:cNvSpPr>
            <a:spLocks noChangeShapeType="1"/>
          </p:cNvSpPr>
          <p:nvPr/>
        </p:nvSpPr>
        <p:spPr bwMode="auto">
          <a:xfrm>
            <a:off x="2783134" y="2576927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452" name="Line 13">
            <a:extLst>
              <a:ext uri="{FF2B5EF4-FFF2-40B4-BE49-F238E27FC236}">
                <a16:creationId xmlns:a16="http://schemas.microsoft.com/office/drawing/2014/main" id="{D9BE1645-D2A6-8340-91B4-B547562D9F9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534" y="3034127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48" name="Group 14">
            <a:extLst>
              <a:ext uri="{FF2B5EF4-FFF2-40B4-BE49-F238E27FC236}">
                <a16:creationId xmlns:a16="http://schemas.microsoft.com/office/drawing/2014/main" id="{35D407A0-8B29-2640-B74E-9B6E1C0502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2525978"/>
              </p:ext>
            </p:extLst>
          </p:nvPr>
        </p:nvGraphicFramePr>
        <p:xfrm>
          <a:off x="4230934" y="1960977"/>
          <a:ext cx="960438" cy="2219325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0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A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∧</a:t>
                      </a: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B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C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∧</a:t>
                      </a: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D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E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0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F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1476" name="Text Box 37">
            <a:extLst>
              <a:ext uri="{FF2B5EF4-FFF2-40B4-BE49-F238E27FC236}">
                <a16:creationId xmlns:a16="http://schemas.microsoft.com/office/drawing/2014/main" id="{2FB44F4E-C446-A04A-8450-0C4CAC898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7534" y="1941927"/>
            <a:ext cx="779463" cy="223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0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1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2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3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4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5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1477" name="Line 38">
            <a:extLst>
              <a:ext uri="{FF2B5EF4-FFF2-40B4-BE49-F238E27FC236}">
                <a16:creationId xmlns:a16="http://schemas.microsoft.com/office/drawing/2014/main" id="{B4216540-0F39-D742-938F-7E3D97325A53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9134" y="3996152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478" name="Line 39">
            <a:extLst>
              <a:ext uri="{FF2B5EF4-FFF2-40B4-BE49-F238E27FC236}">
                <a16:creationId xmlns:a16="http://schemas.microsoft.com/office/drawing/2014/main" id="{D07A52FC-8974-0A46-BE71-3D928F4F294A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9134" y="3615152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52" name="Group 40">
            <a:extLst>
              <a:ext uri="{FF2B5EF4-FFF2-40B4-BE49-F238E27FC236}">
                <a16:creationId xmlns:a16="http://schemas.microsoft.com/office/drawing/2014/main" id="{B4CD6E47-AEC9-B540-A369-288FDC5046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5121731"/>
              </p:ext>
            </p:extLst>
          </p:nvPr>
        </p:nvGraphicFramePr>
        <p:xfrm>
          <a:off x="6716959" y="3870739"/>
          <a:ext cx="715963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7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3" name="Group 48">
            <a:extLst>
              <a:ext uri="{FF2B5EF4-FFF2-40B4-BE49-F238E27FC236}">
                <a16:creationId xmlns:a16="http://schemas.microsoft.com/office/drawing/2014/main" id="{17CDDCC2-532B-894B-BFE5-CE782578D5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8720970"/>
              </p:ext>
            </p:extLst>
          </p:nvPr>
        </p:nvGraphicFramePr>
        <p:xfrm>
          <a:off x="5602534" y="3489739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1495" name="Text Box 56">
            <a:extLst>
              <a:ext uri="{FF2B5EF4-FFF2-40B4-BE49-F238E27FC236}">
                <a16:creationId xmlns:a16="http://schemas.microsoft.com/office/drawing/2014/main" id="{D2E771B8-F932-1346-8B3F-F488501580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5134" y="1633952"/>
            <a:ext cx="40211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序号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头结点数组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   表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结点单链表</a:t>
            </a:r>
          </a:p>
        </p:txBody>
      </p:sp>
      <p:sp>
        <p:nvSpPr>
          <p:cNvPr id="61496" name="Line 57">
            <a:extLst>
              <a:ext uri="{FF2B5EF4-FFF2-40B4-BE49-F238E27FC236}">
                <a16:creationId xmlns:a16="http://schemas.microsoft.com/office/drawing/2014/main" id="{E461D854-3AF3-3845-9F7B-4294C5A6A99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9134" y="3261139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56" name="Group 58">
            <a:extLst>
              <a:ext uri="{FF2B5EF4-FFF2-40B4-BE49-F238E27FC236}">
                <a16:creationId xmlns:a16="http://schemas.microsoft.com/office/drawing/2014/main" id="{FAA3A0B4-BA5C-6E4F-A930-A340E8EB8A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2636804"/>
              </p:ext>
            </p:extLst>
          </p:nvPr>
        </p:nvGraphicFramePr>
        <p:xfrm>
          <a:off x="5602534" y="3108739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1505" name="Rectangle 66">
            <a:extLst>
              <a:ext uri="{FF2B5EF4-FFF2-40B4-BE49-F238E27FC236}">
                <a16:creationId xmlns:a16="http://schemas.microsoft.com/office/drawing/2014/main" id="{1DDD2B6C-F78E-4740-B76B-7B079C7C5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0134" y="34468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有向图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1506" name="Rectangle 67">
            <a:extLst>
              <a:ext uri="{FF2B5EF4-FFF2-40B4-BE49-F238E27FC236}">
                <a16:creationId xmlns:a16="http://schemas.microsoft.com/office/drawing/2014/main" id="{1FC0D610-2974-B14E-8F6A-8220498BBE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1934" y="4235864"/>
            <a:ext cx="18462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的逆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邻接表</a:t>
            </a:r>
          </a:p>
        </p:txBody>
      </p:sp>
      <p:sp>
        <p:nvSpPr>
          <p:cNvPr id="61507" name="Line 68">
            <a:extLst>
              <a:ext uri="{FF2B5EF4-FFF2-40B4-BE49-F238E27FC236}">
                <a16:creationId xmlns:a16="http://schemas.microsoft.com/office/drawing/2014/main" id="{C21E0A7A-49D2-2945-BAE0-7961DBD71B04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1534" y="2389602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508" name="Line 69">
            <a:extLst>
              <a:ext uri="{FF2B5EF4-FFF2-40B4-BE49-F238E27FC236}">
                <a16:creationId xmlns:a16="http://schemas.microsoft.com/office/drawing/2014/main" id="{4EC3C4BB-37ED-EE46-8752-417A113B50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11534" y="2575339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509" name="Line 70">
            <a:extLst>
              <a:ext uri="{FF2B5EF4-FFF2-40B4-BE49-F238E27FC236}">
                <a16:creationId xmlns:a16="http://schemas.microsoft.com/office/drawing/2014/main" id="{70545BD0-4990-AF4A-A206-A57AEC9ECCE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7334" y="2394364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510" name="Line 71">
            <a:extLst>
              <a:ext uri="{FF2B5EF4-FFF2-40B4-BE49-F238E27FC236}">
                <a16:creationId xmlns:a16="http://schemas.microsoft.com/office/drawing/2014/main" id="{AEC69118-2F5F-BF4D-A2C7-925EA3ADCBF7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9134" y="2505489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63" name="Group 72">
            <a:extLst>
              <a:ext uri="{FF2B5EF4-FFF2-40B4-BE49-F238E27FC236}">
                <a16:creationId xmlns:a16="http://schemas.microsoft.com/office/drawing/2014/main" id="{B352DC81-E550-0847-A292-D94E82A122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7014173"/>
              </p:ext>
            </p:extLst>
          </p:nvPr>
        </p:nvGraphicFramePr>
        <p:xfrm>
          <a:off x="5602534" y="2373727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4" name="Group 80">
            <a:extLst>
              <a:ext uri="{FF2B5EF4-FFF2-40B4-BE49-F238E27FC236}">
                <a16:creationId xmlns:a16="http://schemas.microsoft.com/office/drawing/2014/main" id="{2C15BFFC-FFE8-C04B-9442-0C8F57E12E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9300393"/>
              </p:ext>
            </p:extLst>
          </p:nvPr>
        </p:nvGraphicFramePr>
        <p:xfrm>
          <a:off x="6716959" y="2373727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Group 88">
            <a:extLst>
              <a:ext uri="{FF2B5EF4-FFF2-40B4-BE49-F238E27FC236}">
                <a16:creationId xmlns:a16="http://schemas.microsoft.com/office/drawing/2014/main" id="{07B2FA61-64D6-EA49-A20B-0246264C9A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8099061"/>
              </p:ext>
            </p:extLst>
          </p:nvPr>
        </p:nvGraphicFramePr>
        <p:xfrm>
          <a:off x="7936159" y="2373727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Group 96">
            <a:extLst>
              <a:ext uri="{FF2B5EF4-FFF2-40B4-BE49-F238E27FC236}">
                <a16:creationId xmlns:a16="http://schemas.microsoft.com/office/drawing/2014/main" id="{2FAAAF73-FAE8-A840-B375-EDA00AD9B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4840991"/>
              </p:ext>
            </p:extLst>
          </p:nvPr>
        </p:nvGraphicFramePr>
        <p:xfrm>
          <a:off x="5602534" y="3870739"/>
          <a:ext cx="762000" cy="304800"/>
        </p:xfrm>
        <a:graphic>
          <a:graphicData uri="http://schemas.openxmlformats.org/drawingml/2006/table">
            <a:tbl>
              <a:tblPr/>
              <a:tblGrid>
                <a:gridCol w="457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1543" name="Line 104">
            <a:extLst>
              <a:ext uri="{FF2B5EF4-FFF2-40B4-BE49-F238E27FC236}">
                <a16:creationId xmlns:a16="http://schemas.microsoft.com/office/drawing/2014/main" id="{CE626B01-B95A-4D42-84A2-DE86E012D13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6422" y="2524539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544" name="Line 105">
            <a:extLst>
              <a:ext uri="{FF2B5EF4-FFF2-40B4-BE49-F238E27FC236}">
                <a16:creationId xmlns:a16="http://schemas.microsoft.com/office/drawing/2014/main" id="{70DB3FA9-342F-4B46-A50D-82579D6A1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7047" y="2524539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545" name="Line 106">
            <a:extLst>
              <a:ext uri="{FF2B5EF4-FFF2-40B4-BE49-F238E27FC236}">
                <a16:creationId xmlns:a16="http://schemas.microsoft.com/office/drawing/2014/main" id="{2F6756DB-AB82-2E48-B98B-94BD7AF4C9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2134" y="4008852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546" name="Text Box 107">
            <a:extLst>
              <a:ext uri="{FF2B5EF4-FFF2-40B4-BE49-F238E27FC236}">
                <a16:creationId xmlns:a16="http://schemas.microsoft.com/office/drawing/2014/main" id="{4242C601-491E-934D-9C95-706F9A7BCA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5" y="326646"/>
            <a:ext cx="8135937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（4）有向图的</a:t>
            </a:r>
            <a:r>
              <a:rPr lang="zh-CN" altLang="zh-CN" sz="2400" noProof="1">
                <a:solidFill>
                  <a:srgbClr val="C00000"/>
                </a:solidFill>
                <a:latin typeface="宋体" panose="02010600030101010101" pitchFamily="2" charset="-122"/>
              </a:rPr>
              <a:t>逆邻接表</a:t>
            </a:r>
            <a:endParaRPr lang="zh-CN" altLang="en-US" sz="2400" dirty="0">
              <a:solidFill>
                <a:srgbClr val="C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  第</a:t>
            </a: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个单链表中的表结点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的值为</a:t>
            </a: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，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表示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一条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以顶点</a:t>
            </a:r>
            <a:r>
              <a:rPr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GB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为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弧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尾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，</a:t>
            </a:r>
            <a:r>
              <a:rPr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noProof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为弧头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一条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弧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,v</a:t>
            </a:r>
            <a:r>
              <a:rPr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  <a:endParaRPr lang="zh-CN" altLang="en-US" sz="2400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灯片编号占位符 3">
            <a:extLst>
              <a:ext uri="{FF2B5EF4-FFF2-40B4-BE49-F238E27FC236}">
                <a16:creationId xmlns:a16="http://schemas.microsoft.com/office/drawing/2014/main" id="{BA2E3DFF-C9AA-7747-A8C3-BFE9CDDC31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9AD6F30-2EEB-4444-857A-12C20D048A61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63490" name="矩形 36">
            <a:extLst>
              <a:ext uri="{FF2B5EF4-FFF2-40B4-BE49-F238E27FC236}">
                <a16:creationId xmlns:a16="http://schemas.microsoft.com/office/drawing/2014/main" id="{B346C486-BC35-8944-ADCE-31BDD45023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304" y="843756"/>
            <a:ext cx="8618215" cy="5355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#define MAX_VERTEX_NUM 20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typedef struct </a:t>
            </a:r>
            <a:r>
              <a:rPr lang="en-US" altLang="zh-CN" sz="2200" dirty="0" err="1">
                <a:latin typeface="Times New Roman" panose="02020603050405020304" pitchFamily="18" charset="0"/>
              </a:rPr>
              <a:t>ArcNode</a:t>
            </a:r>
            <a:r>
              <a:rPr lang="en-US" altLang="zh-CN" sz="2200" dirty="0">
                <a:latin typeface="Times New Roman" panose="02020603050405020304" pitchFamily="18" charset="0"/>
              </a:rPr>
              <a:t> { //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</a:rPr>
              <a:t>表结点类型</a:t>
            </a:r>
            <a:r>
              <a:rPr lang="zh-CN" altLang="en-US" sz="2200" dirty="0">
                <a:latin typeface="Times New Roman" panose="02020603050405020304" pitchFamily="18" charset="0"/>
              </a:rPr>
              <a:t>定义，对网需要加权值属性</a:t>
            </a:r>
            <a:endParaRPr lang="en-US" altLang="zh-CN" sz="22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    int </a:t>
            </a:r>
            <a:r>
              <a:rPr lang="en-US" altLang="zh-CN" sz="2200" dirty="0" err="1">
                <a:latin typeface="Times New Roman" panose="02020603050405020304" pitchFamily="18" charset="0"/>
              </a:rPr>
              <a:t>adjvex</a:t>
            </a:r>
            <a:r>
              <a:rPr lang="zh-CN" altLang="en-US" sz="2200" dirty="0">
                <a:latin typeface="Times New Roman" panose="02020603050405020304" pitchFamily="18" charset="0"/>
              </a:rPr>
              <a:t>；                          </a:t>
            </a:r>
            <a:r>
              <a:rPr lang="en-US" altLang="zh-CN" sz="2200" dirty="0">
                <a:latin typeface="Times New Roman" panose="02020603050405020304" pitchFamily="18" charset="0"/>
              </a:rPr>
              <a:t>//</a:t>
            </a:r>
            <a:r>
              <a:rPr lang="zh-CN" altLang="en-US" sz="2200" dirty="0">
                <a:latin typeface="Times New Roman" panose="02020603050405020304" pitchFamily="18" charset="0"/>
              </a:rPr>
              <a:t>顶点位置编号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200" dirty="0">
                <a:latin typeface="Times New Roman" panose="02020603050405020304" pitchFamily="18" charset="0"/>
              </a:rPr>
              <a:t>    </a:t>
            </a:r>
            <a:r>
              <a:rPr lang="en-US" altLang="zh-CN" sz="2200" dirty="0">
                <a:latin typeface="Times New Roman" panose="02020603050405020304" pitchFamily="18" charset="0"/>
              </a:rPr>
              <a:t>struct </a:t>
            </a:r>
            <a:r>
              <a:rPr lang="en-US" altLang="zh-CN" sz="2200" dirty="0" err="1">
                <a:latin typeface="Times New Roman" panose="02020603050405020304" pitchFamily="18" charset="0"/>
              </a:rPr>
              <a:t>ArcNode</a:t>
            </a:r>
            <a:r>
              <a:rPr lang="en-US" altLang="zh-CN" sz="2200" dirty="0">
                <a:latin typeface="Times New Roman" panose="02020603050405020304" pitchFamily="18" charset="0"/>
              </a:rPr>
              <a:t> *</a:t>
            </a:r>
            <a:r>
              <a:rPr lang="en-US" altLang="zh-CN" sz="2200" dirty="0" err="1">
                <a:latin typeface="Times New Roman" panose="02020603050405020304" pitchFamily="18" charset="0"/>
              </a:rPr>
              <a:t>nextarc</a:t>
            </a:r>
            <a:r>
              <a:rPr lang="en-US" altLang="zh-CN" sz="2200" dirty="0">
                <a:latin typeface="Times New Roman" panose="02020603050405020304" pitchFamily="18" charset="0"/>
              </a:rPr>
              <a:t>;    //</a:t>
            </a:r>
            <a:r>
              <a:rPr lang="zh-CN" altLang="en-US" sz="2200" dirty="0">
                <a:latin typeface="Times New Roman" panose="02020603050405020304" pitchFamily="18" charset="0"/>
              </a:rPr>
              <a:t>下一个表结点指针</a:t>
            </a:r>
            <a:endParaRPr lang="en-US" altLang="zh-CN" sz="22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    </a:t>
            </a:r>
            <a:r>
              <a:rPr lang="en-US" altLang="zh-CN" sz="2200" dirty="0" err="1">
                <a:latin typeface="Times New Roman" panose="02020603050405020304" pitchFamily="18" charset="0"/>
              </a:rPr>
              <a:t>InfoType</a:t>
            </a:r>
            <a:r>
              <a:rPr lang="en-US" altLang="zh-CN" sz="2200" dirty="0">
                <a:latin typeface="Times New Roman" panose="02020603050405020304" pitchFamily="18" charset="0"/>
              </a:rPr>
              <a:t> *info;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} </a:t>
            </a:r>
            <a:r>
              <a:rPr lang="en-US" altLang="zh-CN" sz="2200" dirty="0" err="1">
                <a:latin typeface="Times New Roman" panose="02020603050405020304" pitchFamily="18" charset="0"/>
              </a:rPr>
              <a:t>ArcNode</a:t>
            </a:r>
            <a:r>
              <a:rPr lang="en-US" altLang="zh-CN" sz="2200" dirty="0">
                <a:latin typeface="Times New Roman" panose="02020603050405020304" pitchFamily="18" charset="0"/>
              </a:rPr>
              <a:t>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typedef struct </a:t>
            </a:r>
            <a:r>
              <a:rPr lang="en-US" altLang="zh-CN" sz="2200" dirty="0" err="1">
                <a:latin typeface="Times New Roman" panose="02020603050405020304" pitchFamily="18" charset="0"/>
              </a:rPr>
              <a:t>VNode</a:t>
            </a:r>
            <a:r>
              <a:rPr lang="en-US" altLang="zh-CN" sz="2200" dirty="0">
                <a:latin typeface="Times New Roman" panose="02020603050405020304" pitchFamily="18" charset="0"/>
              </a:rPr>
              <a:t>{//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</a:rPr>
              <a:t>头结点及其数组类型</a:t>
            </a:r>
            <a:r>
              <a:rPr lang="zh-CN" altLang="en-US" sz="2200" dirty="0">
                <a:latin typeface="Times New Roman" panose="02020603050405020304" pitchFamily="18" charset="0"/>
              </a:rPr>
              <a:t>定义</a:t>
            </a:r>
            <a:endParaRPr lang="en-US" altLang="zh-CN" sz="22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    </a:t>
            </a:r>
            <a:r>
              <a:rPr lang="en-US" altLang="zh-CN" sz="2200" dirty="0" err="1">
                <a:latin typeface="Times New Roman" panose="02020603050405020304" pitchFamily="18" charset="0"/>
              </a:rPr>
              <a:t>VertexType</a:t>
            </a:r>
            <a:r>
              <a:rPr lang="en-US" altLang="zh-CN" sz="2200" dirty="0">
                <a:latin typeface="Times New Roman" panose="02020603050405020304" pitchFamily="18" charset="0"/>
              </a:rPr>
              <a:t> data;         //</a:t>
            </a:r>
            <a:r>
              <a:rPr lang="zh-CN" altLang="en-US" sz="2200" dirty="0">
                <a:latin typeface="Times New Roman" panose="02020603050405020304" pitchFamily="18" charset="0"/>
              </a:rPr>
              <a:t>顶点信息</a:t>
            </a:r>
            <a:endParaRPr lang="en-US" altLang="zh-CN" sz="22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    </a:t>
            </a:r>
            <a:r>
              <a:rPr lang="en-US" altLang="zh-CN" sz="2200" dirty="0" err="1">
                <a:latin typeface="Times New Roman" panose="02020603050405020304" pitchFamily="18" charset="0"/>
              </a:rPr>
              <a:t>ArcNode</a:t>
            </a:r>
            <a:r>
              <a:rPr lang="en-US" altLang="zh-CN" sz="2200" dirty="0">
                <a:latin typeface="Times New Roman" panose="02020603050405020304" pitchFamily="18" charset="0"/>
              </a:rPr>
              <a:t> *</a:t>
            </a:r>
            <a:r>
              <a:rPr lang="en-US" altLang="zh-CN" sz="2200" dirty="0" err="1">
                <a:latin typeface="Times New Roman" panose="02020603050405020304" pitchFamily="18" charset="0"/>
              </a:rPr>
              <a:t>firstarc</a:t>
            </a:r>
            <a:r>
              <a:rPr lang="en-US" altLang="zh-CN" sz="2200" dirty="0">
                <a:latin typeface="Times New Roman" panose="02020603050405020304" pitchFamily="18" charset="0"/>
              </a:rPr>
              <a:t>;      //</a:t>
            </a:r>
            <a:r>
              <a:rPr lang="zh-CN" altLang="en-US" sz="2200" dirty="0">
                <a:latin typeface="Times New Roman" panose="02020603050405020304" pitchFamily="18" charset="0"/>
              </a:rPr>
              <a:t>指向第一条弧</a:t>
            </a:r>
            <a:endParaRPr lang="en-US" altLang="zh-CN" sz="22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    }</a:t>
            </a:r>
            <a:r>
              <a:rPr lang="en-US" altLang="zh-CN" sz="2200" dirty="0" err="1">
                <a:latin typeface="Times New Roman" panose="02020603050405020304" pitchFamily="18" charset="0"/>
              </a:rPr>
              <a:t>VNode</a:t>
            </a:r>
            <a:r>
              <a:rPr lang="en-US" altLang="zh-CN" sz="2200" dirty="0">
                <a:latin typeface="Times New Roman" panose="02020603050405020304" pitchFamily="18" charset="0"/>
              </a:rPr>
              <a:t>,</a:t>
            </a:r>
            <a:r>
              <a:rPr lang="zh-CN" altLang="en-US" sz="2200" dirty="0">
                <a:latin typeface="Times New Roman" panose="02020603050405020304" pitchFamily="18" charset="0"/>
              </a:rPr>
              <a:t> </a:t>
            </a:r>
            <a:r>
              <a:rPr lang="en-US" altLang="zh-CN" sz="2200" dirty="0" err="1">
                <a:latin typeface="Times New Roman" panose="02020603050405020304" pitchFamily="18" charset="0"/>
              </a:rPr>
              <a:t>AdjList</a:t>
            </a:r>
            <a:r>
              <a:rPr lang="en-US" altLang="zh-CN" sz="2200" dirty="0">
                <a:latin typeface="Times New Roman" panose="02020603050405020304" pitchFamily="18" charset="0"/>
              </a:rPr>
              <a:t>[MAX_VERTEX_NUM];</a:t>
            </a:r>
            <a:r>
              <a:rPr lang="zh-CN" altLang="en-US" sz="2200" dirty="0">
                <a:latin typeface="Times New Roman" panose="02020603050405020304" pitchFamily="18" charset="0"/>
              </a:rPr>
              <a:t> </a:t>
            </a:r>
            <a:r>
              <a:rPr lang="en-US" altLang="zh-CN" sz="2200" dirty="0">
                <a:latin typeface="Times New Roman" panose="02020603050405020304" pitchFamily="18" charset="0"/>
              </a:rPr>
              <a:t>//</a:t>
            </a:r>
            <a:r>
              <a:rPr lang="en-US" altLang="zh-CN" sz="1200" dirty="0" err="1">
                <a:latin typeface="Times New Roman" panose="02020603050405020304" pitchFamily="18" charset="0"/>
              </a:rPr>
              <a:t>AdjList</a:t>
            </a:r>
            <a:r>
              <a:rPr lang="en-US" altLang="zh-CN" sz="1200" dirty="0">
                <a:latin typeface="Times New Roman" panose="02020603050405020304" pitchFamily="18" charset="0"/>
              </a:rPr>
              <a:t> = </a:t>
            </a:r>
            <a:r>
              <a:rPr lang="en-US" altLang="zh-CN" sz="1200" dirty="0" err="1">
                <a:latin typeface="Times New Roman" panose="02020603050405020304" pitchFamily="18" charset="0"/>
              </a:rPr>
              <a:t>Vnode</a:t>
            </a:r>
            <a:r>
              <a:rPr lang="en-US" altLang="zh-CN" sz="1200" dirty="0">
                <a:latin typeface="Times New Roman" panose="02020603050405020304" pitchFamily="18" charset="0"/>
              </a:rPr>
              <a:t>[MAX_VERTEX_NUM]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typedef  struct {  //</a:t>
            </a:r>
            <a:r>
              <a:rPr lang="zh-CN" altLang="en-US" sz="2200" dirty="0">
                <a:solidFill>
                  <a:srgbClr val="C00000"/>
                </a:solidFill>
                <a:latin typeface="Times New Roman" panose="02020603050405020304" pitchFamily="18" charset="0"/>
              </a:rPr>
              <a:t>邻接表</a:t>
            </a:r>
            <a:r>
              <a:rPr lang="zh-CN" altLang="en-US" sz="2200" dirty="0">
                <a:latin typeface="Times New Roman" panose="02020603050405020304" pitchFamily="18" charset="0"/>
              </a:rPr>
              <a:t>的类型定义</a:t>
            </a:r>
            <a:endParaRPr lang="en-US" altLang="zh-CN" sz="22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        </a:t>
            </a:r>
            <a:r>
              <a:rPr lang="en-US" altLang="zh-CN" sz="2200" dirty="0" err="1">
                <a:latin typeface="Times New Roman" panose="02020603050405020304" pitchFamily="18" charset="0"/>
              </a:rPr>
              <a:t>AdjList</a:t>
            </a:r>
            <a:r>
              <a:rPr lang="en-US" altLang="zh-CN" sz="2200" dirty="0">
                <a:latin typeface="Times New Roman" panose="02020603050405020304" pitchFamily="18" charset="0"/>
              </a:rPr>
              <a:t> vertices;                //</a:t>
            </a:r>
            <a:r>
              <a:rPr lang="zh-CN" altLang="en-US" sz="2200" dirty="0">
                <a:latin typeface="Times New Roman" panose="02020603050405020304" pitchFamily="18" charset="0"/>
              </a:rPr>
              <a:t>头结点数组</a:t>
            </a:r>
            <a:endParaRPr lang="en-US" altLang="zh-CN" sz="22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        int </a:t>
            </a:r>
            <a:r>
              <a:rPr lang="en-US" altLang="zh-CN" sz="2200" dirty="0" err="1">
                <a:latin typeface="Times New Roman" panose="02020603050405020304" pitchFamily="18" charset="0"/>
              </a:rPr>
              <a:t>vexnum,arcnum</a:t>
            </a:r>
            <a:r>
              <a:rPr lang="en-US" altLang="zh-CN" sz="2200" dirty="0">
                <a:latin typeface="Times New Roman" panose="02020603050405020304" pitchFamily="18" charset="0"/>
              </a:rPr>
              <a:t>;         //</a:t>
            </a:r>
            <a:r>
              <a:rPr lang="zh-CN" altLang="en-US" sz="2200" dirty="0">
                <a:latin typeface="Times New Roman" panose="02020603050405020304" pitchFamily="18" charset="0"/>
              </a:rPr>
              <a:t>顶点数、弧数</a:t>
            </a:r>
            <a:endParaRPr lang="en-US" altLang="zh-CN" sz="22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        </a:t>
            </a:r>
            <a:r>
              <a:rPr lang="en-US" altLang="zh-CN" sz="2200" dirty="0" err="1">
                <a:latin typeface="Times New Roman" panose="02020603050405020304" pitchFamily="18" charset="0"/>
              </a:rPr>
              <a:t>GraphKind</a:t>
            </a:r>
            <a:r>
              <a:rPr lang="en-US" altLang="zh-CN" sz="2200" dirty="0">
                <a:latin typeface="Times New Roman" panose="02020603050405020304" pitchFamily="18" charset="0"/>
              </a:rPr>
              <a:t>  kind;             //</a:t>
            </a:r>
            <a:r>
              <a:rPr lang="zh-CN" altLang="en-US" sz="2200" dirty="0">
                <a:latin typeface="Times New Roman" panose="02020603050405020304" pitchFamily="18" charset="0"/>
              </a:rPr>
              <a:t>图的类型</a:t>
            </a:r>
            <a:endParaRPr lang="en-US" altLang="zh-CN" sz="22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200" dirty="0">
                <a:latin typeface="Times New Roman" panose="02020603050405020304" pitchFamily="18" charset="0"/>
              </a:rPr>
              <a:t>       } </a:t>
            </a:r>
            <a:r>
              <a:rPr lang="en-US" altLang="zh-CN" sz="2200" dirty="0" err="1">
                <a:latin typeface="Times New Roman" panose="02020603050405020304" pitchFamily="18" charset="0"/>
              </a:rPr>
              <a:t>ALGraph</a:t>
            </a:r>
            <a:r>
              <a:rPr lang="en-US" altLang="zh-CN" sz="2200" dirty="0">
                <a:latin typeface="Times New Roman" panose="02020603050405020304" pitchFamily="18" charset="0"/>
              </a:rPr>
              <a:t>;</a:t>
            </a:r>
          </a:p>
        </p:txBody>
      </p:sp>
      <p:sp>
        <p:nvSpPr>
          <p:cNvPr id="63491" name="Text Box 113">
            <a:extLst>
              <a:ext uri="{FF2B5EF4-FFF2-40B4-BE49-F238E27FC236}">
                <a16:creationId xmlns:a16="http://schemas.microsoft.com/office/drawing/2014/main" id="{55AC8298-1B08-9543-96BE-387470BEA8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71" y="364902"/>
            <a:ext cx="8258175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邻接表表示法的数据类型定义</a:t>
            </a:r>
            <a:endParaRPr lang="zh-CN" altLang="zh-CN" sz="2400" noProof="1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灯片编号占位符 3">
            <a:extLst>
              <a:ext uri="{FF2B5EF4-FFF2-40B4-BE49-F238E27FC236}">
                <a16:creationId xmlns:a16="http://schemas.microsoft.com/office/drawing/2014/main" id="{E5E5D9D3-E493-A94A-A667-6E9648F9EBF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42596A5-5C9A-7841-829E-78828E20EE85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0" name="Text Box 160">
            <a:extLst>
              <a:ext uri="{FF2B5EF4-FFF2-40B4-BE49-F238E27FC236}">
                <a16:creationId xmlns:a16="http://schemas.microsoft.com/office/drawing/2014/main" id="{42336AB1-2B0B-3E41-8324-4BC89135E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313" y="315913"/>
            <a:ext cx="74168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7.2.3 </a:t>
            </a:r>
            <a:r>
              <a:rPr lang="zh-CN" altLang="zh-CN" sz="2800" noProof="1">
                <a:solidFill>
                  <a:srgbClr val="C00000"/>
                </a:solidFill>
                <a:latin typeface="宋体" panose="02010600030101010101" pitchFamily="2" charset="-122"/>
              </a:rPr>
              <a:t>有向图</a:t>
            </a:r>
            <a:r>
              <a:rPr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的十字链表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将</a:t>
            </a:r>
            <a:r>
              <a:rPr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邻接表和逆邻接表合并而成的链接表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>
                <a:solidFill>
                  <a:srgbClr val="FF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1</a:t>
            </a:r>
            <a:r>
              <a:rPr lang="zh-CN" altLang="en-US" sz="2400">
                <a:solidFill>
                  <a:srgbClr val="FF0000"/>
                </a:solidFill>
                <a:latin typeface="宋体" panose="02010600030101010101" pitchFamily="2" charset="-122"/>
              </a:rPr>
              <a:t>）每条弧有一个弧结点。 </a:t>
            </a:r>
          </a:p>
        </p:txBody>
      </p:sp>
      <p:graphicFrame>
        <p:nvGraphicFramePr>
          <p:cNvPr id="11" name="Group 199">
            <a:extLst>
              <a:ext uri="{FF2B5EF4-FFF2-40B4-BE49-F238E27FC236}">
                <a16:creationId xmlns:a16="http://schemas.microsoft.com/office/drawing/2014/main" id="{DC8A066D-78E9-6443-8BF1-CC7DCBFB130F}"/>
              </a:ext>
            </a:extLst>
          </p:cNvPr>
          <p:cNvGraphicFramePr>
            <a:graphicFrameLocks noGrp="1"/>
          </p:cNvGraphicFramePr>
          <p:nvPr/>
        </p:nvGraphicFramePr>
        <p:xfrm>
          <a:off x="3132138" y="1916113"/>
          <a:ext cx="4392612" cy="360362"/>
        </p:xfrm>
        <a:graphic>
          <a:graphicData uri="http://schemas.openxmlformats.org/drawingml/2006/table">
            <a:tbl>
              <a:tblPr/>
              <a:tblGrid>
                <a:gridCol w="11713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13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713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852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3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tailvex</a:t>
                      </a:r>
                    </a:p>
                  </a:txBody>
                  <a:tcPr marL="91443" marR="91443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headvex</a:t>
                      </a:r>
                    </a:p>
                  </a:txBody>
                  <a:tcPr marL="91443" marR="91443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hlink</a:t>
                      </a:r>
                      <a:endParaRPr kumimoji="1" lang="zh-CN" altLang="zh-CN" sz="20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ea typeface="宋体" pitchFamily="2" charset="-122"/>
                        <a:cs typeface="Times New Roman" pitchFamily="18" charset="0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tlink</a:t>
                      </a:r>
                      <a:endParaRPr kumimoji="1" lang="zh-CN" altLang="zh-CN" sz="20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ea typeface="宋体" pitchFamily="2" charset="-122"/>
                        <a:cs typeface="Times New Roman" pitchFamily="18" charset="0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" name="Text Box 160">
            <a:extLst>
              <a:ext uri="{FF2B5EF4-FFF2-40B4-BE49-F238E27FC236}">
                <a16:creationId xmlns:a16="http://schemas.microsoft.com/office/drawing/2014/main" id="{57B6FD1D-E120-364C-A9C8-C89C40EAB4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2875" y="1814513"/>
            <a:ext cx="12144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弧结点： </a:t>
            </a:r>
            <a:endParaRPr lang="zh-CN" altLang="en-US" sz="2400">
              <a:latin typeface="宋体" panose="02010600030101010101" pitchFamily="2" charset="-122"/>
            </a:endParaRPr>
          </a:p>
        </p:txBody>
      </p:sp>
      <p:sp>
        <p:nvSpPr>
          <p:cNvPr id="13" name="Text Box 160">
            <a:extLst>
              <a:ext uri="{FF2B5EF4-FFF2-40B4-BE49-F238E27FC236}">
                <a16:creationId xmlns:a16="http://schemas.microsoft.com/office/drawing/2014/main" id="{DC41FE97-B720-B94E-AFA6-395DFCD01E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0450" y="2332038"/>
            <a:ext cx="808355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其中</a:t>
            </a:r>
            <a:r>
              <a:rPr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tailvex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：弧尾的位置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标识；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	headvex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：弧头的位置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标识；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hlink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  指向下一条弧头相同的弧；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tlink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  指向下一条弧尾相同的弧。</a:t>
            </a:r>
            <a:endParaRPr lang="zh-CN" altLang="en-US" sz="2400">
              <a:latin typeface="宋体" panose="02010600030101010101" pitchFamily="2" charset="-122"/>
            </a:endParaRPr>
          </a:p>
        </p:txBody>
      </p:sp>
      <p:graphicFrame>
        <p:nvGraphicFramePr>
          <p:cNvPr id="14" name="Group 199">
            <a:extLst>
              <a:ext uri="{FF2B5EF4-FFF2-40B4-BE49-F238E27FC236}">
                <a16:creationId xmlns:a16="http://schemas.microsoft.com/office/drawing/2014/main" id="{2B1B3A32-ECC5-2249-89B6-07630CA1047D}"/>
              </a:ext>
            </a:extLst>
          </p:cNvPr>
          <p:cNvGraphicFramePr>
            <a:graphicFrameLocks noGrp="1"/>
          </p:cNvGraphicFramePr>
          <p:nvPr/>
        </p:nvGraphicFramePr>
        <p:xfrm>
          <a:off x="3833813" y="4365625"/>
          <a:ext cx="3514725" cy="360363"/>
        </p:xfrm>
        <a:graphic>
          <a:graphicData uri="http://schemas.openxmlformats.org/drawingml/2006/table">
            <a:tbl>
              <a:tblPr/>
              <a:tblGrid>
                <a:gridCol w="1171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1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715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03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data</a:t>
                      </a:r>
                    </a:p>
                  </a:txBody>
                  <a:tcPr marL="91459" marR="91459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firstin</a:t>
                      </a:r>
                    </a:p>
                  </a:txBody>
                  <a:tcPr marL="91459" marR="91459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firstout</a:t>
                      </a:r>
                      <a:endParaRPr kumimoji="1" lang="zh-CN" altLang="zh-CN" sz="20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ea typeface="宋体" pitchFamily="2" charset="-122"/>
                        <a:cs typeface="Times New Roman" pitchFamily="18" charset="0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5" name="Text Box 160">
            <a:extLst>
              <a:ext uri="{FF2B5EF4-FFF2-40B4-BE49-F238E27FC236}">
                <a16:creationId xmlns:a16="http://schemas.microsoft.com/office/drawing/2014/main" id="{A05C7817-68C8-7F4C-BD84-4F1FEAF83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5150" y="4292600"/>
            <a:ext cx="14954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顶点结点： </a:t>
            </a:r>
            <a:endParaRPr lang="zh-CN" altLang="en-US" sz="2400">
              <a:latin typeface="宋体" panose="02010600030101010101" pitchFamily="2" charset="-122"/>
            </a:endParaRPr>
          </a:p>
        </p:txBody>
      </p:sp>
      <p:sp>
        <p:nvSpPr>
          <p:cNvPr id="16" name="Text Box 160">
            <a:extLst>
              <a:ext uri="{FF2B5EF4-FFF2-40B4-BE49-F238E27FC236}">
                <a16:creationId xmlns:a16="http://schemas.microsoft.com/office/drawing/2014/main" id="{4AD75C5C-FC63-7643-92CC-6CFE66FF71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013" y="4821238"/>
            <a:ext cx="76327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其中：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data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：顶点信息； 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firstin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 指向以该顶点为弧头的第一条弧；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firstout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：指向以该顶点为弧尾的第一条弧。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7" name="Text Box 160">
            <a:extLst>
              <a:ext uri="{FF2B5EF4-FFF2-40B4-BE49-F238E27FC236}">
                <a16:creationId xmlns:a16="http://schemas.microsoft.com/office/drawing/2014/main" id="{F4F12A3B-67A3-1647-B618-98E2F4C698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013" y="3789363"/>
            <a:ext cx="7038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FF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2</a:t>
            </a:r>
            <a:r>
              <a:rPr lang="zh-CN" altLang="en-US" sz="2400">
                <a:solidFill>
                  <a:srgbClr val="FF0000"/>
                </a:solidFill>
                <a:latin typeface="宋体" panose="02010600030101010101" pitchFamily="2" charset="-122"/>
              </a:rPr>
              <a:t>）每个顶点有一个顶点结点。</a:t>
            </a:r>
            <a:endParaRPr lang="en-US" altLang="zh-CN" sz="2400">
              <a:solidFill>
                <a:srgbClr val="FF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5" grpId="0"/>
      <p:bldP spid="16" grpId="0"/>
      <p:bldP spid="17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灯片编号占位符 3">
            <a:extLst>
              <a:ext uri="{FF2B5EF4-FFF2-40B4-BE49-F238E27FC236}">
                <a16:creationId xmlns:a16="http://schemas.microsoft.com/office/drawing/2014/main" id="{868C54D1-FD4B-4549-9EF9-67D269BD665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7BB93D9-0FB3-BD49-9CA4-4CD925B8911B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67586" name="Oval 2">
            <a:extLst>
              <a:ext uri="{FF2B5EF4-FFF2-40B4-BE49-F238E27FC236}">
                <a16:creationId xmlns:a16="http://schemas.microsoft.com/office/drawing/2014/main" id="{D2BB6D21-CD2B-B544-8B47-0254782F3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1275" y="13509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7587" name="Oval 3">
            <a:extLst>
              <a:ext uri="{FF2B5EF4-FFF2-40B4-BE49-F238E27FC236}">
                <a16:creationId xmlns:a16="http://schemas.microsoft.com/office/drawing/2014/main" id="{9A6126F1-20E3-3C4C-80EB-567320C1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1275" y="512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7588" name="Oval 4">
            <a:extLst>
              <a:ext uri="{FF2B5EF4-FFF2-40B4-BE49-F238E27FC236}">
                <a16:creationId xmlns:a16="http://schemas.microsoft.com/office/drawing/2014/main" id="{A4228362-82BD-D848-AF48-0C1696B5B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5143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7589" name="Oval 5">
            <a:extLst>
              <a:ext uri="{FF2B5EF4-FFF2-40B4-BE49-F238E27FC236}">
                <a16:creationId xmlns:a16="http://schemas.microsoft.com/office/drawing/2014/main" id="{8DE68210-BF2C-8148-A1B0-DA4CAF694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13509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7590" name="Line 6">
            <a:extLst>
              <a:ext uri="{FF2B5EF4-FFF2-40B4-BE49-F238E27FC236}">
                <a16:creationId xmlns:a16="http://schemas.microsoft.com/office/drawing/2014/main" id="{7474C44F-DACB-904C-9841-BAE914476137}"/>
              </a:ext>
            </a:extLst>
          </p:cNvPr>
          <p:cNvSpPr>
            <a:spLocks noChangeShapeType="1"/>
          </p:cNvSpPr>
          <p:nvPr/>
        </p:nvSpPr>
        <p:spPr bwMode="auto">
          <a:xfrm>
            <a:off x="549275" y="895350"/>
            <a:ext cx="0" cy="455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591" name="Group 7">
            <a:extLst>
              <a:ext uri="{FF2B5EF4-FFF2-40B4-BE49-F238E27FC236}">
                <a16:creationId xmlns:a16="http://schemas.microsoft.com/office/drawing/2014/main" id="{98D0DC73-62ED-6C44-8981-B208DF49B413}"/>
              </a:ext>
            </a:extLst>
          </p:cNvPr>
          <p:cNvGraphicFramePr>
            <a:graphicFrameLocks noGrp="1"/>
          </p:cNvGraphicFramePr>
          <p:nvPr/>
        </p:nvGraphicFramePr>
        <p:xfrm>
          <a:off x="5759450" y="493713"/>
          <a:ext cx="655638" cy="1463676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46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A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B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C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D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7608" name="Text Box 24">
            <a:extLst>
              <a:ext uri="{FF2B5EF4-FFF2-40B4-BE49-F238E27FC236}">
                <a16:creationId xmlns:a16="http://schemas.microsoft.com/office/drawing/2014/main" id="{B57350DE-DB81-AA41-81A0-97F4AC1A2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6700" y="417513"/>
            <a:ext cx="593725" cy="152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0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1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2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3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7609" name="Line 25">
            <a:extLst>
              <a:ext uri="{FF2B5EF4-FFF2-40B4-BE49-F238E27FC236}">
                <a16:creationId xmlns:a16="http://schemas.microsoft.com/office/drawing/2014/main" id="{46C34FE5-F23D-D046-AA47-6A6A990DB79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2850" y="1793875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610" name="Group 26">
            <a:extLst>
              <a:ext uri="{FF2B5EF4-FFF2-40B4-BE49-F238E27FC236}">
                <a16:creationId xmlns:a16="http://schemas.microsoft.com/office/drawing/2014/main" id="{1F81E75C-CD24-C943-ABF9-483F58A43D5C}"/>
              </a:ext>
            </a:extLst>
          </p:cNvPr>
          <p:cNvGraphicFramePr>
            <a:graphicFrameLocks noGrp="1"/>
          </p:cNvGraphicFramePr>
          <p:nvPr/>
        </p:nvGraphicFramePr>
        <p:xfrm>
          <a:off x="6750050" y="1641475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7618" name="Rectangle 34">
            <a:extLst>
              <a:ext uri="{FF2B5EF4-FFF2-40B4-BE49-F238E27FC236}">
                <a16:creationId xmlns:a16="http://schemas.microsoft.com/office/drawing/2014/main" id="{A1EDA22E-E9AE-674C-8739-9D934E4C7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2175" y="173672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7619" name="Rectangle 35">
            <a:extLst>
              <a:ext uri="{FF2B5EF4-FFF2-40B4-BE49-F238E27FC236}">
                <a16:creationId xmlns:a16="http://schemas.microsoft.com/office/drawing/2014/main" id="{8BAA46D1-1978-184D-BAFC-B577E315A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1946275"/>
            <a:ext cx="15906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的逆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邻接表</a:t>
            </a:r>
          </a:p>
        </p:txBody>
      </p:sp>
      <p:sp>
        <p:nvSpPr>
          <p:cNvPr id="67620" name="Line 36">
            <a:extLst>
              <a:ext uri="{FF2B5EF4-FFF2-40B4-BE49-F238E27FC236}">
                <a16:creationId xmlns:a16="http://schemas.microsoft.com/office/drawing/2014/main" id="{B8D5296C-CDE3-0B4F-8CD2-3E6CA8D14498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875" y="6651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621" name="Line 37">
            <a:extLst>
              <a:ext uri="{FF2B5EF4-FFF2-40B4-BE49-F238E27FC236}">
                <a16:creationId xmlns:a16="http://schemas.microsoft.com/office/drawing/2014/main" id="{599E074C-C154-F646-AB67-15DDD28138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7875" y="817563"/>
            <a:ext cx="6096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622" name="Line 38">
            <a:extLst>
              <a:ext uri="{FF2B5EF4-FFF2-40B4-BE49-F238E27FC236}">
                <a16:creationId xmlns:a16="http://schemas.microsoft.com/office/drawing/2014/main" id="{29B19F22-A7C7-0D44-81E0-D3BC4F34690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2850" y="10588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623" name="Group 39">
            <a:extLst>
              <a:ext uri="{FF2B5EF4-FFF2-40B4-BE49-F238E27FC236}">
                <a16:creationId xmlns:a16="http://schemas.microsoft.com/office/drawing/2014/main" id="{1861354E-EB5F-F442-9C4F-3533EF144558}"/>
              </a:ext>
            </a:extLst>
          </p:cNvPr>
          <p:cNvGraphicFramePr>
            <a:graphicFrameLocks noGrp="1"/>
          </p:cNvGraphicFramePr>
          <p:nvPr/>
        </p:nvGraphicFramePr>
        <p:xfrm>
          <a:off x="6750050" y="906463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5631" name="Group 47">
            <a:extLst>
              <a:ext uri="{FF2B5EF4-FFF2-40B4-BE49-F238E27FC236}">
                <a16:creationId xmlns:a16="http://schemas.microsoft.com/office/drawing/2014/main" id="{8966CE15-C14B-FC40-86D8-711D1385DB43}"/>
              </a:ext>
            </a:extLst>
          </p:cNvPr>
          <p:cNvGraphicFramePr>
            <a:graphicFrameLocks noGrp="1"/>
          </p:cNvGraphicFramePr>
          <p:nvPr/>
        </p:nvGraphicFramePr>
        <p:xfrm>
          <a:off x="7588250" y="906463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5639" name="Group 55">
            <a:extLst>
              <a:ext uri="{FF2B5EF4-FFF2-40B4-BE49-F238E27FC236}">
                <a16:creationId xmlns:a16="http://schemas.microsoft.com/office/drawing/2014/main" id="{CE4C2A36-FC6B-5049-841B-2B1C95BEEBA6}"/>
              </a:ext>
            </a:extLst>
          </p:cNvPr>
          <p:cNvGraphicFramePr>
            <a:graphicFrameLocks noGrp="1"/>
          </p:cNvGraphicFramePr>
          <p:nvPr/>
        </p:nvGraphicFramePr>
        <p:xfrm>
          <a:off x="8426450" y="906463"/>
          <a:ext cx="609600" cy="304800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7647" name="Line 63">
            <a:extLst>
              <a:ext uri="{FF2B5EF4-FFF2-40B4-BE49-F238E27FC236}">
                <a16:creationId xmlns:a16="http://schemas.microsoft.com/office/drawing/2014/main" id="{5DE77CC7-1E9B-BB41-B8BD-02A8F449245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1050" y="10588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648" name="Line 64">
            <a:extLst>
              <a:ext uri="{FF2B5EF4-FFF2-40B4-BE49-F238E27FC236}">
                <a16:creationId xmlns:a16="http://schemas.microsoft.com/office/drawing/2014/main" id="{A5D26BC0-6524-DD4B-8FB2-653D9275F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69250" y="10588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649" name="Line 65">
            <a:extLst>
              <a:ext uri="{FF2B5EF4-FFF2-40B4-BE49-F238E27FC236}">
                <a16:creationId xmlns:a16="http://schemas.microsoft.com/office/drawing/2014/main" id="{EDA7F523-CD15-7042-9B85-041AEB9E15B2}"/>
              </a:ext>
            </a:extLst>
          </p:cNvPr>
          <p:cNvSpPr>
            <a:spLocks noChangeShapeType="1"/>
          </p:cNvSpPr>
          <p:nvPr/>
        </p:nvSpPr>
        <p:spPr bwMode="auto">
          <a:xfrm>
            <a:off x="1539875" y="893763"/>
            <a:ext cx="0" cy="455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650" name="Group 66">
            <a:extLst>
              <a:ext uri="{FF2B5EF4-FFF2-40B4-BE49-F238E27FC236}">
                <a16:creationId xmlns:a16="http://schemas.microsoft.com/office/drawing/2014/main" id="{937F2753-E979-9443-AAC2-A4FE6382FC4B}"/>
              </a:ext>
            </a:extLst>
          </p:cNvPr>
          <p:cNvGraphicFramePr>
            <a:graphicFrameLocks noGrp="1"/>
          </p:cNvGraphicFramePr>
          <p:nvPr/>
        </p:nvGraphicFramePr>
        <p:xfrm>
          <a:off x="2235200" y="455613"/>
          <a:ext cx="655638" cy="1463676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46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A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B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∧</a:t>
                      </a: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C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D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7667" name="Text Box 83">
            <a:extLst>
              <a:ext uri="{FF2B5EF4-FFF2-40B4-BE49-F238E27FC236}">
                <a16:creationId xmlns:a16="http://schemas.microsoft.com/office/drawing/2014/main" id="{AC704DF6-E1A0-024D-AFA7-0941BCDB2E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0" y="436563"/>
            <a:ext cx="561975" cy="152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0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1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2</a:t>
            </a:r>
          </a:p>
          <a:p>
            <a:pPr eaLnBrk="1" fontAlgn="t" hangingPunct="1">
              <a:lnSpc>
                <a:spcPct val="13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 3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7668" name="Line 84">
            <a:extLst>
              <a:ext uri="{FF2B5EF4-FFF2-40B4-BE49-F238E27FC236}">
                <a16:creationId xmlns:a16="http://schemas.microsoft.com/office/drawing/2014/main" id="{54D1C48B-D5F2-6C4E-A7BA-130CF09755E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8600" y="58578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669" name="Group 85">
            <a:extLst>
              <a:ext uri="{FF2B5EF4-FFF2-40B4-BE49-F238E27FC236}">
                <a16:creationId xmlns:a16="http://schemas.microsoft.com/office/drawing/2014/main" id="{1C0DAF55-354C-9C49-A99E-28CE39AC0343}"/>
              </a:ext>
            </a:extLst>
          </p:cNvPr>
          <p:cNvGraphicFramePr>
            <a:graphicFrameLocks noGrp="1"/>
          </p:cNvGraphicFramePr>
          <p:nvPr/>
        </p:nvGraphicFramePr>
        <p:xfrm>
          <a:off x="4064000" y="460375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7677" name="Line 93">
            <a:extLst>
              <a:ext uri="{FF2B5EF4-FFF2-40B4-BE49-F238E27FC236}">
                <a16:creationId xmlns:a16="http://schemas.microsoft.com/office/drawing/2014/main" id="{2A399E5A-CB79-F946-BF2A-047911F453D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8600" y="172878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678" name="Group 94">
            <a:extLst>
              <a:ext uri="{FF2B5EF4-FFF2-40B4-BE49-F238E27FC236}">
                <a16:creationId xmlns:a16="http://schemas.microsoft.com/office/drawing/2014/main" id="{D993FF93-F5BD-D94D-B993-4F2FCC96B34E}"/>
              </a:ext>
            </a:extLst>
          </p:cNvPr>
          <p:cNvGraphicFramePr>
            <a:graphicFrameLocks noGrp="1"/>
          </p:cNvGraphicFramePr>
          <p:nvPr/>
        </p:nvGraphicFramePr>
        <p:xfrm>
          <a:off x="4902200" y="1592263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7686" name="Rectangle 102">
            <a:extLst>
              <a:ext uri="{FF2B5EF4-FFF2-40B4-BE49-F238E27FC236}">
                <a16:creationId xmlns:a16="http://schemas.microsoft.com/office/drawing/2014/main" id="{DA6A4727-8C2B-EB4D-A73D-58CF8D8A5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1400" y="1957388"/>
            <a:ext cx="13350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邻接表</a:t>
            </a:r>
          </a:p>
        </p:txBody>
      </p:sp>
      <p:sp>
        <p:nvSpPr>
          <p:cNvPr id="67687" name="Line 103">
            <a:extLst>
              <a:ext uri="{FF2B5EF4-FFF2-40B4-BE49-F238E27FC236}">
                <a16:creationId xmlns:a16="http://schemas.microsoft.com/office/drawing/2014/main" id="{CFB92D87-809E-2B4A-BC32-2651BB80C61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8600" y="13255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688" name="Group 104">
            <a:extLst>
              <a:ext uri="{FF2B5EF4-FFF2-40B4-BE49-F238E27FC236}">
                <a16:creationId xmlns:a16="http://schemas.microsoft.com/office/drawing/2014/main" id="{1F57BDCA-4D7D-7C48-B281-5D807D3CD244}"/>
              </a:ext>
            </a:extLst>
          </p:cNvPr>
          <p:cNvGraphicFramePr>
            <a:graphicFrameLocks noGrp="1"/>
          </p:cNvGraphicFramePr>
          <p:nvPr/>
        </p:nvGraphicFramePr>
        <p:xfrm>
          <a:off x="3225800" y="1222375"/>
          <a:ext cx="554038" cy="304800"/>
        </p:xfrm>
        <a:graphic>
          <a:graphicData uri="http://schemas.openxmlformats.org/drawingml/2006/table">
            <a:tbl>
              <a:tblPr/>
              <a:tblGrid>
                <a:gridCol w="266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3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5696" name="Group 112">
            <a:extLst>
              <a:ext uri="{FF2B5EF4-FFF2-40B4-BE49-F238E27FC236}">
                <a16:creationId xmlns:a16="http://schemas.microsoft.com/office/drawing/2014/main" id="{4AB71F82-DF20-594A-986B-1D3C119350A1}"/>
              </a:ext>
            </a:extLst>
          </p:cNvPr>
          <p:cNvGraphicFramePr>
            <a:graphicFrameLocks noGrp="1"/>
          </p:cNvGraphicFramePr>
          <p:nvPr/>
        </p:nvGraphicFramePr>
        <p:xfrm>
          <a:off x="3225800" y="460375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7704" name="Line 120">
            <a:extLst>
              <a:ext uri="{FF2B5EF4-FFF2-40B4-BE49-F238E27FC236}">
                <a16:creationId xmlns:a16="http://schemas.microsoft.com/office/drawing/2014/main" id="{309241BB-1889-054E-BA45-0BF5EA8CFA10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6800" y="6016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705" name="Group 121">
            <a:extLst>
              <a:ext uri="{FF2B5EF4-FFF2-40B4-BE49-F238E27FC236}">
                <a16:creationId xmlns:a16="http://schemas.microsoft.com/office/drawing/2014/main" id="{D0E749DF-EC1B-E246-BEDF-3EB626251477}"/>
              </a:ext>
            </a:extLst>
          </p:cNvPr>
          <p:cNvGraphicFramePr>
            <a:graphicFrameLocks noGrp="1"/>
          </p:cNvGraphicFramePr>
          <p:nvPr/>
        </p:nvGraphicFramePr>
        <p:xfrm>
          <a:off x="1352550" y="3541713"/>
          <a:ext cx="1006475" cy="2187576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8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68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47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A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B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∧</a:t>
                      </a: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7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C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D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3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38100" marR="381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95727" name="Text Box 143">
            <a:extLst>
              <a:ext uri="{FF2B5EF4-FFF2-40B4-BE49-F238E27FC236}">
                <a16:creationId xmlns:a16="http://schemas.microsoft.com/office/drawing/2014/main" id="{B63A650C-7BE3-6146-919D-D99C1B2DAA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3443288"/>
            <a:ext cx="381000" cy="219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t" hangingPunct="1">
              <a:lnSpc>
                <a:spcPct val="1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</a:p>
          <a:p>
            <a:pPr eaLnBrk="1" fontAlgn="t" hangingPunct="1">
              <a:lnSpc>
                <a:spcPct val="19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</a:p>
          <a:p>
            <a:pPr eaLnBrk="1" fontAlgn="t" hangingPunct="1">
              <a:lnSpc>
                <a:spcPct val="1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  <a:p>
            <a:pPr eaLnBrk="1" fontAlgn="t" hangingPunct="1">
              <a:lnSpc>
                <a:spcPct val="1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</a:p>
        </p:txBody>
      </p:sp>
      <p:sp>
        <p:nvSpPr>
          <p:cNvPr id="195728" name="Rectangle 144">
            <a:extLst>
              <a:ext uri="{FF2B5EF4-FFF2-40B4-BE49-F238E27FC236}">
                <a16:creationId xmlns:a16="http://schemas.microsoft.com/office/drawing/2014/main" id="{2E9896E2-4138-9C47-97D5-4B6B5E17D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8350" y="3509963"/>
            <a:ext cx="576263" cy="228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十字链表</a:t>
            </a:r>
          </a:p>
        </p:txBody>
      </p:sp>
      <p:graphicFrame>
        <p:nvGraphicFramePr>
          <p:cNvPr id="195729" name="Group 145">
            <a:extLst>
              <a:ext uri="{FF2B5EF4-FFF2-40B4-BE49-F238E27FC236}">
                <a16:creationId xmlns:a16="http://schemas.microsoft.com/office/drawing/2014/main" id="{C4B55BD8-5759-A343-93BE-43DB1CDFDF01}"/>
              </a:ext>
            </a:extLst>
          </p:cNvPr>
          <p:cNvGraphicFramePr>
            <a:graphicFrameLocks noGrp="1"/>
          </p:cNvGraphicFramePr>
          <p:nvPr/>
        </p:nvGraphicFramePr>
        <p:xfrm>
          <a:off x="4171950" y="4635500"/>
          <a:ext cx="1143000" cy="331788"/>
        </p:xfrm>
        <a:graphic>
          <a:graphicData uri="http://schemas.openxmlformats.org/drawingml/2006/table">
            <a:tbl>
              <a:tblPr/>
              <a:tblGrid>
                <a:gridCol w="325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54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3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17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5741" name="Group 157">
            <a:extLst>
              <a:ext uri="{FF2B5EF4-FFF2-40B4-BE49-F238E27FC236}">
                <a16:creationId xmlns:a16="http://schemas.microsoft.com/office/drawing/2014/main" id="{5DD154D5-BF5A-0E46-9424-C6E3CE8E84B8}"/>
              </a:ext>
            </a:extLst>
          </p:cNvPr>
          <p:cNvGraphicFramePr>
            <a:graphicFrameLocks noGrp="1"/>
          </p:cNvGraphicFramePr>
          <p:nvPr/>
        </p:nvGraphicFramePr>
        <p:xfrm>
          <a:off x="4171950" y="3595688"/>
          <a:ext cx="11430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6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3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48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5753" name="Group 169">
            <a:extLst>
              <a:ext uri="{FF2B5EF4-FFF2-40B4-BE49-F238E27FC236}">
                <a16:creationId xmlns:a16="http://schemas.microsoft.com/office/drawing/2014/main" id="{38AD43F8-EC2E-1142-ADF3-EAEAC3717F48}"/>
              </a:ext>
            </a:extLst>
          </p:cNvPr>
          <p:cNvGraphicFramePr>
            <a:graphicFrameLocks noGrp="1"/>
          </p:cNvGraphicFramePr>
          <p:nvPr/>
        </p:nvGraphicFramePr>
        <p:xfrm>
          <a:off x="4171950" y="5321300"/>
          <a:ext cx="1143000" cy="331788"/>
        </p:xfrm>
        <a:graphic>
          <a:graphicData uri="http://schemas.openxmlformats.org/drawingml/2006/table">
            <a:tbl>
              <a:tblPr/>
              <a:tblGrid>
                <a:gridCol w="325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54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3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17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7765" name="Line 181">
            <a:extLst>
              <a:ext uri="{FF2B5EF4-FFF2-40B4-BE49-F238E27FC236}">
                <a16:creationId xmlns:a16="http://schemas.microsoft.com/office/drawing/2014/main" id="{5C4533F7-2F04-CC40-9466-4AE5ECEDA34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875" y="15795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766" name="Group 182">
            <a:extLst>
              <a:ext uri="{FF2B5EF4-FFF2-40B4-BE49-F238E27FC236}">
                <a16:creationId xmlns:a16="http://schemas.microsoft.com/office/drawing/2014/main" id="{3E114A88-BF4C-0D4B-9808-BFACE148793E}"/>
              </a:ext>
            </a:extLst>
          </p:cNvPr>
          <p:cNvGraphicFramePr>
            <a:graphicFrameLocks noGrp="1"/>
          </p:cNvGraphicFramePr>
          <p:nvPr/>
        </p:nvGraphicFramePr>
        <p:xfrm>
          <a:off x="3225800" y="1592263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7774" name="Line 190">
            <a:extLst>
              <a:ext uri="{FF2B5EF4-FFF2-40B4-BE49-F238E27FC236}">
                <a16:creationId xmlns:a16="http://schemas.microsoft.com/office/drawing/2014/main" id="{C808422B-7D08-3141-933B-B4C893177E2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2850" y="14398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775" name="Group 191">
            <a:extLst>
              <a:ext uri="{FF2B5EF4-FFF2-40B4-BE49-F238E27FC236}">
                <a16:creationId xmlns:a16="http://schemas.microsoft.com/office/drawing/2014/main" id="{822F5E53-1107-1E42-BA18-E248E65FB416}"/>
              </a:ext>
            </a:extLst>
          </p:cNvPr>
          <p:cNvGraphicFramePr>
            <a:graphicFrameLocks noGrp="1"/>
          </p:cNvGraphicFramePr>
          <p:nvPr/>
        </p:nvGraphicFramePr>
        <p:xfrm>
          <a:off x="6750050" y="1287463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5783" name="Group 199">
            <a:extLst>
              <a:ext uri="{FF2B5EF4-FFF2-40B4-BE49-F238E27FC236}">
                <a16:creationId xmlns:a16="http://schemas.microsoft.com/office/drawing/2014/main" id="{4E1086F6-492F-9445-B5FA-980D6EEFA0BE}"/>
              </a:ext>
            </a:extLst>
          </p:cNvPr>
          <p:cNvGraphicFramePr>
            <a:graphicFrameLocks noGrp="1"/>
          </p:cNvGraphicFramePr>
          <p:nvPr/>
        </p:nvGraphicFramePr>
        <p:xfrm>
          <a:off x="5695950" y="5321300"/>
          <a:ext cx="1143000" cy="331788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17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5795" name="Line 211">
            <a:extLst>
              <a:ext uri="{FF2B5EF4-FFF2-40B4-BE49-F238E27FC236}">
                <a16:creationId xmlns:a16="http://schemas.microsoft.com/office/drawing/2014/main" id="{2C3618BD-0154-B44A-AB86-639B33252BD9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0750" y="3748088"/>
            <a:ext cx="1981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796" name="Line 212">
            <a:extLst>
              <a:ext uri="{FF2B5EF4-FFF2-40B4-BE49-F238E27FC236}">
                <a16:creationId xmlns:a16="http://schemas.microsoft.com/office/drawing/2014/main" id="{02B1B2F8-9F7C-CA4B-A10D-BE605E5E36CE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8263" y="3748088"/>
            <a:ext cx="1981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797" name="AutoShape 213">
            <a:extLst>
              <a:ext uri="{FF2B5EF4-FFF2-40B4-BE49-F238E27FC236}">
                <a16:creationId xmlns:a16="http://schemas.microsoft.com/office/drawing/2014/main" id="{95B68DD8-E42B-BD43-8C22-275B28C4C4C6}"/>
              </a:ext>
            </a:extLst>
          </p:cNvPr>
          <p:cNvSpPr>
            <a:spLocks/>
          </p:cNvSpPr>
          <p:nvPr/>
        </p:nvSpPr>
        <p:spPr bwMode="auto">
          <a:xfrm flipV="1">
            <a:off x="244475" y="692150"/>
            <a:ext cx="150813" cy="792163"/>
          </a:xfrm>
          <a:prstGeom prst="leftBracket">
            <a:avLst>
              <a:gd name="adj" fmla="val 186784"/>
            </a:avLst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67798" name="Line 214">
            <a:extLst>
              <a:ext uri="{FF2B5EF4-FFF2-40B4-BE49-F238E27FC236}">
                <a16:creationId xmlns:a16="http://schemas.microsoft.com/office/drawing/2014/main" id="{6DD85736-E944-6F46-B292-63B41CB85CD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6800" y="172878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799" name="Group 215">
            <a:extLst>
              <a:ext uri="{FF2B5EF4-FFF2-40B4-BE49-F238E27FC236}">
                <a16:creationId xmlns:a16="http://schemas.microsoft.com/office/drawing/2014/main" id="{E25BCD9A-4345-D64B-9927-E9134121E5AE}"/>
              </a:ext>
            </a:extLst>
          </p:cNvPr>
          <p:cNvGraphicFramePr>
            <a:graphicFrameLocks noGrp="1"/>
          </p:cNvGraphicFramePr>
          <p:nvPr/>
        </p:nvGraphicFramePr>
        <p:xfrm>
          <a:off x="4064000" y="1592263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7807" name="Line 223">
            <a:extLst>
              <a:ext uri="{FF2B5EF4-FFF2-40B4-BE49-F238E27FC236}">
                <a16:creationId xmlns:a16="http://schemas.microsoft.com/office/drawing/2014/main" id="{B46A3842-A6E5-FF45-8E9F-F45E0B8CFC0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45000" y="17446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808" name="Line 224">
            <a:extLst>
              <a:ext uri="{FF2B5EF4-FFF2-40B4-BE49-F238E27FC236}">
                <a16:creationId xmlns:a16="http://schemas.microsoft.com/office/drawing/2014/main" id="{235F01A3-AC03-D447-A8C0-26C7B495A17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2850" y="70485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809" name="Group 225">
            <a:extLst>
              <a:ext uri="{FF2B5EF4-FFF2-40B4-BE49-F238E27FC236}">
                <a16:creationId xmlns:a16="http://schemas.microsoft.com/office/drawing/2014/main" id="{4F121527-F4E8-D246-94CE-D400D51E59CB}"/>
              </a:ext>
            </a:extLst>
          </p:cNvPr>
          <p:cNvGraphicFramePr>
            <a:graphicFrameLocks noGrp="1"/>
          </p:cNvGraphicFramePr>
          <p:nvPr/>
        </p:nvGraphicFramePr>
        <p:xfrm>
          <a:off x="6750050" y="525463"/>
          <a:ext cx="533400" cy="304800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16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95817" name="Group 233">
            <a:extLst>
              <a:ext uri="{FF2B5EF4-FFF2-40B4-BE49-F238E27FC236}">
                <a16:creationId xmlns:a16="http://schemas.microsoft.com/office/drawing/2014/main" id="{380B387F-50CB-5E45-BCBA-A9ECCBAE91E1}"/>
              </a:ext>
            </a:extLst>
          </p:cNvPr>
          <p:cNvGraphicFramePr>
            <a:graphicFrameLocks noGrp="1"/>
          </p:cNvGraphicFramePr>
          <p:nvPr/>
        </p:nvGraphicFramePr>
        <p:xfrm>
          <a:off x="2647950" y="5321300"/>
          <a:ext cx="1143000" cy="304800"/>
        </p:xfrm>
        <a:graphic>
          <a:graphicData uri="http://schemas.openxmlformats.org/drawingml/2006/table">
            <a:tbl>
              <a:tblPr/>
              <a:tblGrid>
                <a:gridCol w="325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54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3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78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5829" name="Line 245">
            <a:extLst>
              <a:ext uri="{FF2B5EF4-FFF2-40B4-BE49-F238E27FC236}">
                <a16:creationId xmlns:a16="http://schemas.microsoft.com/office/drawing/2014/main" id="{F0750366-180F-5E47-A29D-EF2A63FBCF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0750" y="542448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30" name="Line 246">
            <a:extLst>
              <a:ext uri="{FF2B5EF4-FFF2-40B4-BE49-F238E27FC236}">
                <a16:creationId xmlns:a16="http://schemas.microsoft.com/office/drawing/2014/main" id="{381BF280-759F-F144-8BC5-1C940645DB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0750" y="4814888"/>
            <a:ext cx="1981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31" name="Line 247">
            <a:extLst>
              <a:ext uri="{FF2B5EF4-FFF2-40B4-BE49-F238E27FC236}">
                <a16:creationId xmlns:a16="http://schemas.microsoft.com/office/drawing/2014/main" id="{5EDCFB83-6E15-F647-8057-6045B107D0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714750" y="54737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32" name="Line 248">
            <a:extLst>
              <a:ext uri="{FF2B5EF4-FFF2-40B4-BE49-F238E27FC236}">
                <a16:creationId xmlns:a16="http://schemas.microsoft.com/office/drawing/2014/main" id="{D6260225-DE3C-EB4E-ADF8-C33FF573BB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38750" y="54737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33" name="Line 249">
            <a:extLst>
              <a:ext uri="{FF2B5EF4-FFF2-40B4-BE49-F238E27FC236}">
                <a16:creationId xmlns:a16="http://schemas.microsoft.com/office/drawing/2014/main" id="{8BFD3FF0-FBE6-E74D-A93F-214CFC69F1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33950" y="4814888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34" name="Line 250">
            <a:extLst>
              <a:ext uri="{FF2B5EF4-FFF2-40B4-BE49-F238E27FC236}">
                <a16:creationId xmlns:a16="http://schemas.microsoft.com/office/drawing/2014/main" id="{237BB2D7-17B0-A148-B722-3EDF5B2750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33949" y="3748088"/>
            <a:ext cx="14271" cy="8651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195835" name="Group 251">
            <a:extLst>
              <a:ext uri="{FF2B5EF4-FFF2-40B4-BE49-F238E27FC236}">
                <a16:creationId xmlns:a16="http://schemas.microsoft.com/office/drawing/2014/main" id="{9B7BC458-DDD9-3B49-A1B7-3D526BB0D1CC}"/>
              </a:ext>
            </a:extLst>
          </p:cNvPr>
          <p:cNvGraphicFramePr>
            <a:graphicFrameLocks noGrp="1"/>
          </p:cNvGraphicFramePr>
          <p:nvPr/>
        </p:nvGraphicFramePr>
        <p:xfrm>
          <a:off x="7129463" y="3595688"/>
          <a:ext cx="1143000" cy="331787"/>
        </p:xfrm>
        <a:graphic>
          <a:graphicData uri="http://schemas.openxmlformats.org/drawingml/2006/table">
            <a:tbl>
              <a:tblPr/>
              <a:tblGrid>
                <a:gridCol w="304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178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0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0" marR="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5847" name="Line 263">
            <a:extLst>
              <a:ext uri="{FF2B5EF4-FFF2-40B4-BE49-F238E27FC236}">
                <a16:creationId xmlns:a16="http://schemas.microsoft.com/office/drawing/2014/main" id="{4B9C567C-2CF9-994A-ACEA-548075315A3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85950" y="3900488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48" name="Line 264">
            <a:extLst>
              <a:ext uri="{FF2B5EF4-FFF2-40B4-BE49-F238E27FC236}">
                <a16:creationId xmlns:a16="http://schemas.microsoft.com/office/drawing/2014/main" id="{198B87B6-1EA4-B143-913A-F492C8FA68EA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9950" y="3900488"/>
            <a:ext cx="0" cy="137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49" name="Line 265">
            <a:extLst>
              <a:ext uri="{FF2B5EF4-FFF2-40B4-BE49-F238E27FC236}">
                <a16:creationId xmlns:a16="http://schemas.microsoft.com/office/drawing/2014/main" id="{C4415FFE-BB86-ED4D-97B2-B90D6D1A88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09750" y="3367088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50" name="Line 266">
            <a:extLst>
              <a:ext uri="{FF2B5EF4-FFF2-40B4-BE49-F238E27FC236}">
                <a16:creationId xmlns:a16="http://schemas.microsoft.com/office/drawing/2014/main" id="{0B298F36-202B-3047-A99F-196B7D44A21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9750" y="3344863"/>
            <a:ext cx="2895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51" name="Line 267">
            <a:extLst>
              <a:ext uri="{FF2B5EF4-FFF2-40B4-BE49-F238E27FC236}">
                <a16:creationId xmlns:a16="http://schemas.microsoft.com/office/drawing/2014/main" id="{3E223965-0623-ED4B-A3A9-7BDD7001B73E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5350" y="3344863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52" name="Line 268">
            <a:extLst>
              <a:ext uri="{FF2B5EF4-FFF2-40B4-BE49-F238E27FC236}">
                <a16:creationId xmlns:a16="http://schemas.microsoft.com/office/drawing/2014/main" id="{3F84B829-E49D-8A4A-A69F-BE707DCB2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885950" y="5043488"/>
            <a:ext cx="4495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53" name="Line 269">
            <a:extLst>
              <a:ext uri="{FF2B5EF4-FFF2-40B4-BE49-F238E27FC236}">
                <a16:creationId xmlns:a16="http://schemas.microsoft.com/office/drawing/2014/main" id="{256DFE6E-5E64-A541-B6F4-9B12120D4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1750" y="5043488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54" name="Line 270">
            <a:extLst>
              <a:ext uri="{FF2B5EF4-FFF2-40B4-BE49-F238E27FC236}">
                <a16:creationId xmlns:a16="http://schemas.microsoft.com/office/drawing/2014/main" id="{F3D9EF03-FFD1-2542-9337-0F2F381EA7A9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9750" y="542448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55" name="Line 271">
            <a:extLst>
              <a:ext uri="{FF2B5EF4-FFF2-40B4-BE49-F238E27FC236}">
                <a16:creationId xmlns:a16="http://schemas.microsoft.com/office/drawing/2014/main" id="{AEAA021C-F481-584F-B086-9AC34195A0DE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9750" y="5805488"/>
            <a:ext cx="6096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56" name="Line 272">
            <a:extLst>
              <a:ext uri="{FF2B5EF4-FFF2-40B4-BE49-F238E27FC236}">
                <a16:creationId xmlns:a16="http://schemas.microsoft.com/office/drawing/2014/main" id="{221B38D1-5FB5-0F41-AB38-B246CE9B3C5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05750" y="3900488"/>
            <a:ext cx="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857" name="Text Box 273">
            <a:extLst>
              <a:ext uri="{FF2B5EF4-FFF2-40B4-BE49-F238E27FC236}">
                <a16:creationId xmlns:a16="http://schemas.microsoft.com/office/drawing/2014/main" id="{59C1E720-A3A5-C047-8AA6-27D6BF5B0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60" y="2235637"/>
            <a:ext cx="8912222" cy="11695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en-US" sz="2000" dirty="0">
                <a:solidFill>
                  <a:srgbClr val="000000"/>
                </a:solidFill>
                <a:latin typeface="Arial" panose="020B0604020202020204" pitchFamily="34" charset="0"/>
              </a:rPr>
              <a:t>以邻接表为基础，扩展结点属性为包含一条弧的</a:t>
            </a:r>
            <a:r>
              <a:rPr kumimoji="0" lang="zh-CN" altLang="en-US" sz="2000" dirty="0">
                <a:solidFill>
                  <a:srgbClr val="C00000"/>
                </a:solidFill>
                <a:latin typeface="Arial" panose="020B0604020202020204" pitchFamily="34" charset="0"/>
              </a:rPr>
              <a:t>起止结点编号，现在的指针链接所有具有相同弧头的弧</a:t>
            </a:r>
          </a:p>
          <a:p>
            <a:pPr eaLnBrk="1" hangingPunct="1">
              <a:spcBef>
                <a:spcPct val="50000"/>
              </a:spcBef>
              <a:buClr>
                <a:schemeClr val="tx1"/>
              </a:buClr>
              <a:buSzTx/>
              <a:buFont typeface="Wingdings" pitchFamily="2" charset="2"/>
              <a:buChar char="Ø"/>
            </a:pPr>
            <a:r>
              <a:rPr kumimoji="0" lang="zh-CN" altLang="en-US" sz="2000" dirty="0">
                <a:solidFill>
                  <a:srgbClr val="000000"/>
                </a:solidFill>
                <a:latin typeface="Arial" panose="020B0604020202020204" pitchFamily="34" charset="0"/>
              </a:rPr>
              <a:t>再添加逆邻接表信息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58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58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195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195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195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195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195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195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195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195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8" dur="500"/>
                                        <p:tgtEl>
                                          <p:spTgt spid="195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0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2" dur="500"/>
                                        <p:tgtEl>
                                          <p:spTgt spid="195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4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195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8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0" dur="500"/>
                                        <p:tgtEl>
                                          <p:spTgt spid="195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4" dur="500"/>
                                        <p:tgtEl>
                                          <p:spTgt spid="195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195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958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958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9" dur="500"/>
                                        <p:tgtEl>
                                          <p:spTgt spid="195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2" dur="500"/>
                                        <p:tgtEl>
                                          <p:spTgt spid="195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7" dur="500"/>
                                        <p:tgtEl>
                                          <p:spTgt spid="195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0" dur="500"/>
                                        <p:tgtEl>
                                          <p:spTgt spid="195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3" dur="500"/>
                                        <p:tgtEl>
                                          <p:spTgt spid="195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6" dur="500"/>
                                        <p:tgtEl>
                                          <p:spTgt spid="195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9" dur="500"/>
                                        <p:tgtEl>
                                          <p:spTgt spid="195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4" dur="500"/>
                                        <p:tgtEl>
                                          <p:spTgt spid="195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7" dur="500"/>
                                        <p:tgtEl>
                                          <p:spTgt spid="195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2" dur="500"/>
                                        <p:tgtEl>
                                          <p:spTgt spid="195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5" dur="500"/>
                                        <p:tgtEl>
                                          <p:spTgt spid="195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8" dur="500"/>
                                        <p:tgtEl>
                                          <p:spTgt spid="195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957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957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727" grpId="0"/>
      <p:bldP spid="195728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灯片编号占位符 1">
            <a:extLst>
              <a:ext uri="{FF2B5EF4-FFF2-40B4-BE49-F238E27FC236}">
                <a16:creationId xmlns:a16="http://schemas.microsoft.com/office/drawing/2014/main" id="{DF2B3BA7-6989-FB4A-A38F-AD07FD7D627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26BE596-3CB7-554A-87EF-1627DD2F7D54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69634" name="矩形 2">
            <a:extLst>
              <a:ext uri="{FF2B5EF4-FFF2-40B4-BE49-F238E27FC236}">
                <a16:creationId xmlns:a16="http://schemas.microsoft.com/office/drawing/2014/main" id="{716E0B16-A0CC-974D-995C-F2432BFC9D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765175"/>
            <a:ext cx="9144000" cy="4770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latin typeface="Times New Roman" panose="02020603050405020304" pitchFamily="18" charset="0"/>
              </a:rPr>
              <a:t>有向图十字链表存储表示的数据类型定义：</a:t>
            </a:r>
            <a:endParaRPr lang="en-US" altLang="zh-CN" sz="24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#define MAX_VERTEXT_NUM 20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typedef struct ArcBox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    int           tailvex,headvex;   //</a:t>
            </a:r>
            <a:r>
              <a:rPr lang="zh-CN" altLang="en-US" sz="2000">
                <a:latin typeface="Times New Roman" panose="02020603050405020304" pitchFamily="18" charset="0"/>
              </a:rPr>
              <a:t>该弧的尾和头顶点的位置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latin typeface="Times New Roman" panose="02020603050405020304" pitchFamily="18" charset="0"/>
              </a:rPr>
              <a:t>    </a:t>
            </a:r>
            <a:r>
              <a:rPr lang="en-US" altLang="zh-CN" sz="2000">
                <a:latin typeface="Times New Roman" panose="02020603050405020304" pitchFamily="18" charset="0"/>
              </a:rPr>
              <a:t>struct ArcBox *hlink, *tlink;    //</a:t>
            </a:r>
            <a:r>
              <a:rPr lang="zh-CN" altLang="en-US" sz="2000">
                <a:latin typeface="Times New Roman" panose="02020603050405020304" pitchFamily="18" charset="0"/>
              </a:rPr>
              <a:t>分别为弧头相同和弧尾相同的弧的链域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}  ArcBox;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typedef struct VexNode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    VertexType    data;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    ArcBox        *firstin,*firstout;//</a:t>
            </a:r>
            <a:r>
              <a:rPr lang="zh-CN" altLang="en-US" sz="2000">
                <a:latin typeface="Times New Roman" panose="02020603050405020304" pitchFamily="18" charset="0"/>
              </a:rPr>
              <a:t>分别指向该顶点的第一条入弧和出弧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}VexNode;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typedef struct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    VexNode  xlist[MAX_VERTEXT_NUM];  //</a:t>
            </a:r>
            <a:r>
              <a:rPr lang="zh-CN" altLang="en-US" sz="2000">
                <a:latin typeface="Times New Roman" panose="02020603050405020304" pitchFamily="18" charset="0"/>
              </a:rPr>
              <a:t>表头向量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latin typeface="Times New Roman" panose="02020603050405020304" pitchFamily="18" charset="0"/>
              </a:rPr>
              <a:t>    </a:t>
            </a:r>
            <a:r>
              <a:rPr lang="en-US" altLang="zh-CN" sz="2000">
                <a:latin typeface="Times New Roman" panose="02020603050405020304" pitchFamily="18" charset="0"/>
              </a:rPr>
              <a:t>int            vexnum,arcnum;                           //</a:t>
            </a:r>
            <a:r>
              <a:rPr lang="zh-CN" altLang="en-US" sz="2000">
                <a:latin typeface="Times New Roman" panose="02020603050405020304" pitchFamily="18" charset="0"/>
              </a:rPr>
              <a:t>有向图的当前顶点数和弧数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} OLGraph;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灯片编号占位符 1">
            <a:extLst>
              <a:ext uri="{FF2B5EF4-FFF2-40B4-BE49-F238E27FC236}">
                <a16:creationId xmlns:a16="http://schemas.microsoft.com/office/drawing/2014/main" id="{882DA3F7-7245-A74B-9225-B261F0C5431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B93D5D5-33D7-794B-A5E0-983204DF4C27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graphicFrame>
        <p:nvGraphicFramePr>
          <p:cNvPr id="14" name="Group 3">
            <a:extLst>
              <a:ext uri="{FF2B5EF4-FFF2-40B4-BE49-F238E27FC236}">
                <a16:creationId xmlns:a16="http://schemas.microsoft.com/office/drawing/2014/main" id="{A76179AB-AC12-9040-BBBE-A4A1ABB38836}"/>
              </a:ext>
            </a:extLst>
          </p:cNvPr>
          <p:cNvGraphicFramePr>
            <a:graphicFrameLocks noGrp="1"/>
          </p:cNvGraphicFramePr>
          <p:nvPr/>
        </p:nvGraphicFramePr>
        <p:xfrm>
          <a:off x="2127250" y="1484313"/>
          <a:ext cx="2371725" cy="504825"/>
        </p:xfrm>
        <a:graphic>
          <a:graphicData uri="http://schemas.openxmlformats.org/drawingml/2006/table">
            <a:tbl>
              <a:tblPr/>
              <a:tblGrid>
                <a:gridCol w="8597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119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data</a:t>
                      </a:r>
                    </a:p>
                  </a:txBody>
                  <a:tcPr marL="209519" marR="57142" marT="45790" marB="4579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1" noProof="1">
                          <a:solidFill>
                            <a:srgbClr val="00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firstedge</a:t>
                      </a:r>
                      <a:endParaRPr kumimoji="1" lang="zh-CN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ea typeface="宋体" pitchFamily="2" charset="-122"/>
                        <a:cs typeface="Times New Roman" pitchFamily="18" charset="0"/>
                      </a:endParaRPr>
                    </a:p>
                  </a:txBody>
                  <a:tcPr marL="209519" marR="57142" marT="45790" marB="4579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0666" name="Text Box 12">
            <a:extLst>
              <a:ext uri="{FF2B5EF4-FFF2-40B4-BE49-F238E27FC236}">
                <a16:creationId xmlns:a16="http://schemas.microsoft.com/office/drawing/2014/main" id="{C70E4243-7F86-844A-935A-804CB7990E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113" y="1484313"/>
            <a:ext cx="9588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头结点</a:t>
            </a:r>
          </a:p>
        </p:txBody>
      </p:sp>
      <p:sp>
        <p:nvSpPr>
          <p:cNvPr id="70667" name="Rectangle 13">
            <a:extLst>
              <a:ext uri="{FF2B5EF4-FFF2-40B4-BE49-F238E27FC236}">
                <a16:creationId xmlns:a16="http://schemas.microsoft.com/office/drawing/2014/main" id="{3E913ED4-726B-7B4B-9A6C-60F7FDD4B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638" y="382588"/>
            <a:ext cx="8353425" cy="260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r>
              <a:rPr kumimoji="0" lang="en-US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.2.4 (</a:t>
            </a:r>
            <a:r>
              <a:rPr kumimoji="0" lang="zh-CN" altLang="en-US" sz="2800" noProof="1">
                <a:solidFill>
                  <a:srgbClr val="C00000"/>
                </a:solidFill>
                <a:latin typeface="宋体" panose="02010600030101010101" pitchFamily="2" charset="-122"/>
              </a:rPr>
              <a:t>无向图</a:t>
            </a:r>
            <a:r>
              <a:rPr kumimoji="0"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)邻接多重表</a:t>
            </a:r>
            <a:endParaRPr kumimoji="0" lang="zh-CN" altLang="en-US" sz="28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400" noProof="1">
                <a:solidFill>
                  <a:srgbClr val="FF0000"/>
                </a:solidFill>
                <a:latin typeface="宋体" panose="02010600030101010101" pitchFamily="2" charset="-122"/>
              </a:rPr>
              <a:t>（1）</a:t>
            </a:r>
            <a:r>
              <a:rPr kumimoji="0" lang="zh-CN" altLang="en-US" sz="2400" dirty="0">
                <a:solidFill>
                  <a:srgbClr val="FF0000"/>
                </a:solidFill>
                <a:latin typeface="宋体" panose="02010600030101010101" pitchFamily="2" charset="-122"/>
              </a:rPr>
              <a:t>每个顶点有一个</a:t>
            </a:r>
            <a:r>
              <a:rPr kumimoji="0" lang="zh-CN" altLang="zh-CN" sz="2400" noProof="1">
                <a:solidFill>
                  <a:srgbClr val="FF0000"/>
                </a:solidFill>
                <a:latin typeface="宋体" panose="02010600030101010101" pitchFamily="2" charset="-122"/>
              </a:rPr>
              <a:t>头结点</a:t>
            </a:r>
            <a:endParaRPr kumimoji="0" lang="zh-CN" altLang="en-US" sz="2400" dirty="0">
              <a:solidFill>
                <a:srgbClr val="FF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 </a:t>
            </a:r>
            <a:endParaRPr kumimoji="0" lang="en-US" altLang="zh-CN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200" noProof="1">
                <a:solidFill>
                  <a:srgbClr val="000000"/>
                </a:solidFill>
                <a:latin typeface="宋体" panose="02010600030101010101" pitchFamily="2" charset="-122"/>
              </a:rPr>
              <a:t>      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其中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： 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data</a:t>
            </a:r>
            <a:r>
              <a:rPr kumimoji="0" lang="en-GB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：      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顶点信息</a:t>
            </a:r>
            <a:r>
              <a:rPr kumimoji="0"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；</a:t>
            </a:r>
            <a:endParaRPr kumimoji="0" lang="zh-CN" altLang="en-US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  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firstedge</a:t>
            </a:r>
            <a:r>
              <a:rPr kumimoji="0" lang="en-GB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指向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第一条依附于该顶点的边。</a:t>
            </a:r>
            <a:endParaRPr kumimoji="0" lang="zh-CN" altLang="en-US" sz="2400" dirty="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17" name="Group 3">
            <a:extLst>
              <a:ext uri="{FF2B5EF4-FFF2-40B4-BE49-F238E27FC236}">
                <a16:creationId xmlns:a16="http://schemas.microsoft.com/office/drawing/2014/main" id="{E6D738E2-C157-B34E-88B1-7513445325AB}"/>
              </a:ext>
            </a:extLst>
          </p:cNvPr>
          <p:cNvGraphicFramePr>
            <a:graphicFrameLocks noGrp="1"/>
          </p:cNvGraphicFramePr>
          <p:nvPr/>
        </p:nvGraphicFramePr>
        <p:xfrm>
          <a:off x="2195513" y="3571875"/>
          <a:ext cx="6265862" cy="522288"/>
        </p:xfrm>
        <a:graphic>
          <a:graphicData uri="http://schemas.openxmlformats.org/drawingml/2006/table">
            <a:tbl>
              <a:tblPr/>
              <a:tblGrid>
                <a:gridCol w="12531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05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83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05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31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22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mark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152414" marR="91449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</a:t>
                      </a:r>
                      <a:r>
                        <a:rPr kumimoji="1" lang="en-US" altLang="zh-CN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ivex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152414" marR="91449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 </a:t>
                      </a:r>
                      <a:r>
                        <a:rPr kumimoji="1" lang="en-US" altLang="zh-CN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jvex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152414" marR="91449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ilink</a:t>
                      </a:r>
                      <a:endParaRPr kumimoji="1" lang="zh-CN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152414" marR="91449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jlink</a:t>
                      </a:r>
                      <a:endParaRPr kumimoji="1" lang="zh-CN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152414" marR="91449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" name="Rectangle 2">
            <a:extLst>
              <a:ext uri="{FF2B5EF4-FFF2-40B4-BE49-F238E27FC236}">
                <a16:creationId xmlns:a16="http://schemas.microsoft.com/office/drawing/2014/main" id="{D38CAFBF-C9D3-4E49-B353-4E64814BF4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638" y="2986088"/>
            <a:ext cx="8783637" cy="316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400" noProof="1">
                <a:solidFill>
                  <a:srgbClr val="FF0000"/>
                </a:solidFill>
                <a:latin typeface="宋体" panose="02010600030101010101" pitchFamily="2" charset="-122"/>
              </a:rPr>
              <a:t>（2）</a:t>
            </a:r>
            <a:r>
              <a:rPr kumimoji="0" lang="zh-CN" altLang="en-US" sz="2400">
                <a:solidFill>
                  <a:srgbClr val="FF0000"/>
                </a:solidFill>
                <a:latin typeface="宋体" panose="02010600030101010101" pitchFamily="2" charset="-122"/>
              </a:rPr>
              <a:t>每一条边有一个</a:t>
            </a:r>
            <a:r>
              <a:rPr kumimoji="0" lang="zh-CN" altLang="en-US" sz="2400" noProof="1">
                <a:solidFill>
                  <a:srgbClr val="FF0000"/>
                </a:solidFill>
                <a:latin typeface="宋体" panose="02010600030101010101" pitchFamily="2" charset="-122"/>
              </a:rPr>
              <a:t>表</a:t>
            </a:r>
            <a:r>
              <a:rPr kumimoji="0" lang="zh-CN" altLang="zh-CN" sz="2400" noProof="1">
                <a:solidFill>
                  <a:srgbClr val="FF0000"/>
                </a:solidFill>
                <a:latin typeface="宋体" panose="02010600030101010101" pitchFamily="2" charset="-122"/>
              </a:rPr>
              <a:t>结点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endParaRPr kumimoji="0" lang="zh-CN" altLang="en-US" sz="2400">
              <a:solidFill>
                <a:srgbClr val="FF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1000" noProof="1">
                <a:solidFill>
                  <a:srgbClr val="000000"/>
                </a:solidFill>
                <a:latin typeface="宋体" panose="02010600030101010101" pitchFamily="2" charset="-122"/>
              </a:rPr>
              <a:t>	 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其中： 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mark</a:t>
            </a:r>
            <a:r>
              <a:rPr kumimoji="0" lang="en-GB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标志域，可用以标记该条边是否被搜索过；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ivex</a:t>
            </a:r>
            <a:r>
              <a:rPr kumimoji="0" lang="en-US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jvex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该条边依附的两个顶点在</a:t>
            </a:r>
            <a:r>
              <a:rPr kumimoji="0"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顶点数组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的位置；</a:t>
            </a:r>
            <a:endParaRPr kumimoji="0" lang="zh-CN" altLang="en-US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 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il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ink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指向下一条依附于顶点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边；</a:t>
            </a:r>
            <a:endParaRPr kumimoji="0" lang="zh-CN" altLang="en-US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 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jl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ink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指向下一条依附于顶点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的边。</a:t>
            </a:r>
            <a:endParaRPr kumimoji="0" lang="zh-CN" altLang="en-US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9" name="Text Box 12">
            <a:extLst>
              <a:ext uri="{FF2B5EF4-FFF2-40B4-BE49-F238E27FC236}">
                <a16:creationId xmlns:a16="http://schemas.microsoft.com/office/drawing/2014/main" id="{D1BF3D92-E6E1-7C4D-830A-1E83936411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3622675"/>
            <a:ext cx="9588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表结点</a:t>
            </a:r>
          </a:p>
        </p:txBody>
      </p:sp>
      <p:sp>
        <p:nvSpPr>
          <p:cNvPr id="70684" name="文本框 1">
            <a:extLst>
              <a:ext uri="{FF2B5EF4-FFF2-40B4-BE49-F238E27FC236}">
                <a16:creationId xmlns:a16="http://schemas.microsoft.com/office/drawing/2014/main" id="{730C66C8-46AC-B647-8C13-79F8F8AFD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8444" y="1280467"/>
            <a:ext cx="331584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dirty="0">
                <a:highlight>
                  <a:srgbClr val="00FFFF"/>
                </a:highlight>
              </a:rPr>
              <a:t>解决边重复存储的问题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灯片编号占位符 1">
            <a:extLst>
              <a:ext uri="{FF2B5EF4-FFF2-40B4-BE49-F238E27FC236}">
                <a16:creationId xmlns:a16="http://schemas.microsoft.com/office/drawing/2014/main" id="{E65E446B-12DE-FA40-854E-7DA3C5D1055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182A577-4818-AE4E-8B8A-A58706AA222F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72706" name="矩形 2">
            <a:extLst>
              <a:ext uri="{FF2B5EF4-FFF2-40B4-BE49-F238E27FC236}">
                <a16:creationId xmlns:a16="http://schemas.microsoft.com/office/drawing/2014/main" id="{25D12939-6588-6F43-841D-6C37F4F3E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8" y="476250"/>
            <a:ext cx="8640762" cy="563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latin typeface="Times New Roman" panose="02020603050405020304" pitchFamily="18" charset="0"/>
              </a:rPr>
              <a:t>无向图邻接多重表存储表示的数据类型定义：</a:t>
            </a:r>
            <a:endParaRPr lang="en-US" altLang="zh-CN" sz="24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10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#define MAX_VERTEXT_NUM 20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typedef enum {unvisited,visited} visitedIf;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typedef  struct  EBox{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    visitedIf        mark;               //</a:t>
            </a:r>
            <a:r>
              <a:rPr lang="zh-CN" altLang="en-US" sz="2000">
                <a:latin typeface="Times New Roman" panose="02020603050405020304" pitchFamily="18" charset="0"/>
              </a:rPr>
              <a:t>访问标记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latin typeface="Times New Roman" panose="02020603050405020304" pitchFamily="18" charset="0"/>
              </a:rPr>
              <a:t>    </a:t>
            </a:r>
            <a:r>
              <a:rPr lang="en-US" altLang="zh-CN" sz="2000">
                <a:latin typeface="Times New Roman" panose="02020603050405020304" pitchFamily="18" charset="0"/>
              </a:rPr>
              <a:t>int                  ivex,jvex;         //</a:t>
            </a:r>
            <a:r>
              <a:rPr lang="zh-CN" altLang="en-US" sz="2000">
                <a:latin typeface="Times New Roman" panose="02020603050405020304" pitchFamily="18" charset="0"/>
              </a:rPr>
              <a:t>该边依附的两个顶点的位置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latin typeface="Times New Roman" panose="02020603050405020304" pitchFamily="18" charset="0"/>
              </a:rPr>
              <a:t>    </a:t>
            </a:r>
            <a:r>
              <a:rPr lang="en-US" altLang="zh-CN" sz="2000">
                <a:latin typeface="Times New Roman" panose="02020603050405020304" pitchFamily="18" charset="0"/>
              </a:rPr>
              <a:t>struct EBox  *ilink,*jlink;   //</a:t>
            </a:r>
            <a:r>
              <a:rPr lang="zh-CN" altLang="en-US" sz="2000">
                <a:latin typeface="Times New Roman" panose="02020603050405020304" pitchFamily="18" charset="0"/>
              </a:rPr>
              <a:t>分别指向依附于这两个顶点的下一条边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} EBox;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typedef  struct  VexBox{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    VertexType data;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    EBox *firstedge;                   //</a:t>
            </a:r>
            <a:r>
              <a:rPr lang="zh-CN" altLang="en-US" sz="2000">
                <a:latin typeface="Times New Roman" panose="02020603050405020304" pitchFamily="18" charset="0"/>
              </a:rPr>
              <a:t>指向第一条依附于该顶点边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} VexBox;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typedef  struct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    VexBox adjmullist[MAX_VERTEXT_NUM];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    int         vexnum,edgenum;    //</a:t>
            </a:r>
            <a:r>
              <a:rPr lang="zh-CN" altLang="en-US" sz="2000">
                <a:latin typeface="Times New Roman" panose="02020603050405020304" pitchFamily="18" charset="0"/>
              </a:rPr>
              <a:t>无向图的当前顶点数和边数</a:t>
            </a:r>
            <a:endParaRPr lang="en-US" altLang="zh-CN" sz="20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Times New Roman" panose="02020603050405020304" pitchFamily="18" charset="0"/>
              </a:rPr>
              <a:t>} AMLGraph;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灯片编号占位符 1">
            <a:extLst>
              <a:ext uri="{FF2B5EF4-FFF2-40B4-BE49-F238E27FC236}">
                <a16:creationId xmlns:a16="http://schemas.microsoft.com/office/drawing/2014/main" id="{02768367-C4B9-FB4E-B1F6-10B9A42770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2D6CB5D-DB30-734E-937D-AC7FBE5548B6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73730" name="Rectangle 2">
            <a:extLst>
              <a:ext uri="{FF2B5EF4-FFF2-40B4-BE49-F238E27FC236}">
                <a16:creationId xmlns:a16="http://schemas.microsoft.com/office/drawing/2014/main" id="{65CF21D7-B4BD-774B-84B0-EAED3D3E3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333375"/>
            <a:ext cx="43481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r>
              <a:rPr kumimoji="0" lang="en-US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.2.4 </a:t>
            </a:r>
            <a:r>
              <a:rPr kumimoji="0"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邻接多重表（续）</a:t>
            </a:r>
            <a:endParaRPr kumimoji="0" lang="zh-CN" altLang="en-US" sz="28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731" name="Oval 3">
            <a:extLst>
              <a:ext uri="{FF2B5EF4-FFF2-40B4-BE49-F238E27FC236}">
                <a16:creationId xmlns:a16="http://schemas.microsoft.com/office/drawing/2014/main" id="{4C5F477A-1235-E94E-8666-CDC6ED148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9338" y="1125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732" name="Oval 4">
            <a:extLst>
              <a:ext uri="{FF2B5EF4-FFF2-40B4-BE49-F238E27FC236}">
                <a16:creationId xmlns:a16="http://schemas.microsoft.com/office/drawing/2014/main" id="{135E9EB0-5BBD-1B44-9523-A2BD5710D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1965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733" name="Oval 5">
            <a:extLst>
              <a:ext uri="{FF2B5EF4-FFF2-40B4-BE49-F238E27FC236}">
                <a16:creationId xmlns:a16="http://schemas.microsoft.com/office/drawing/2014/main" id="{EB3ABC9F-8056-7341-8718-BA2B51B5F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9338" y="1965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734" name="Oval 6">
            <a:extLst>
              <a:ext uri="{FF2B5EF4-FFF2-40B4-BE49-F238E27FC236}">
                <a16:creationId xmlns:a16="http://schemas.microsoft.com/office/drawing/2014/main" id="{38A008CE-E809-3949-B73D-299C12CDC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1125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735" name="Oval 7">
            <a:extLst>
              <a:ext uri="{FF2B5EF4-FFF2-40B4-BE49-F238E27FC236}">
                <a16:creationId xmlns:a16="http://schemas.microsoft.com/office/drawing/2014/main" id="{7EBB706E-9DAD-1E4E-8C20-71A22F831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338" y="1125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</a:p>
        </p:txBody>
      </p:sp>
      <p:sp>
        <p:nvSpPr>
          <p:cNvPr id="73736" name="Oval 8">
            <a:extLst>
              <a:ext uri="{FF2B5EF4-FFF2-40B4-BE49-F238E27FC236}">
                <a16:creationId xmlns:a16="http://schemas.microsoft.com/office/drawing/2014/main" id="{2510D85B-C69C-9241-975F-6512EEA4A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338" y="1965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737" name="Line 9">
            <a:extLst>
              <a:ext uri="{FF2B5EF4-FFF2-40B4-BE49-F238E27FC236}">
                <a16:creationId xmlns:a16="http://schemas.microsoft.com/office/drawing/2014/main" id="{5A1148B5-4676-014C-98CF-FA884FF6CD0E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738" y="1506538"/>
            <a:ext cx="0" cy="458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738" name="Rectangle 10">
            <a:extLst>
              <a:ext uri="{FF2B5EF4-FFF2-40B4-BE49-F238E27FC236}">
                <a16:creationId xmlns:a16="http://schemas.microsoft.com/office/drawing/2014/main" id="{2C0D96E9-5391-2848-844C-DCE61BC96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8463" y="2311400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739" name="Line 11">
            <a:extLst>
              <a:ext uri="{FF2B5EF4-FFF2-40B4-BE49-F238E27FC236}">
                <a16:creationId xmlns:a16="http://schemas.microsoft.com/office/drawing/2014/main" id="{4C22D519-BF0A-F145-9EB1-CE0C312A67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176338" y="135413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740" name="Line 12">
            <a:extLst>
              <a:ext uri="{FF2B5EF4-FFF2-40B4-BE49-F238E27FC236}">
                <a16:creationId xmlns:a16="http://schemas.microsoft.com/office/drawing/2014/main" id="{6FB6269F-F738-1943-9336-5D6E5ECE58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28713" y="1430338"/>
            <a:ext cx="5334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741" name="Line 13">
            <a:extLst>
              <a:ext uri="{FF2B5EF4-FFF2-40B4-BE49-F238E27FC236}">
                <a16:creationId xmlns:a16="http://schemas.microsoft.com/office/drawing/2014/main" id="{B992E4F5-7A8C-614B-9B70-7B43B9BEE6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85938" y="1506538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742" name="Line 14">
            <a:extLst>
              <a:ext uri="{FF2B5EF4-FFF2-40B4-BE49-F238E27FC236}">
                <a16:creationId xmlns:a16="http://schemas.microsoft.com/office/drawing/2014/main" id="{91472083-7C46-374C-890B-3B80D6F0F69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71738" y="1506538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743" name="Line 15">
            <a:extLst>
              <a:ext uri="{FF2B5EF4-FFF2-40B4-BE49-F238E27FC236}">
                <a16:creationId xmlns:a16="http://schemas.microsoft.com/office/drawing/2014/main" id="{4B66D5DD-558E-C046-84C6-BC6247B32F4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76338" y="219233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203792" name="Group 16">
            <a:extLst>
              <a:ext uri="{FF2B5EF4-FFF2-40B4-BE49-F238E27FC236}">
                <a16:creationId xmlns:a16="http://schemas.microsoft.com/office/drawing/2014/main" id="{DD229CAF-6FFF-8046-BBD8-5BFFC79B4EB9}"/>
              </a:ext>
            </a:extLst>
          </p:cNvPr>
          <p:cNvGraphicFramePr>
            <a:graphicFrameLocks noGrp="1"/>
          </p:cNvGraphicFramePr>
          <p:nvPr/>
        </p:nvGraphicFramePr>
        <p:xfrm>
          <a:off x="4267200" y="1436688"/>
          <a:ext cx="914400" cy="2743200"/>
        </p:xfrm>
        <a:graphic>
          <a:graphicData uri="http://schemas.openxmlformats.org/drawingml/2006/table">
            <a:tbl>
              <a:tblPr/>
              <a:tblGrid>
                <a:gridCol w="533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A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B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C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D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E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F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03815" name="Group 39">
            <a:extLst>
              <a:ext uri="{FF2B5EF4-FFF2-40B4-BE49-F238E27FC236}">
                <a16:creationId xmlns:a16="http://schemas.microsoft.com/office/drawing/2014/main" id="{D93D7242-74BA-3A4B-8256-44FF8F73E93F}"/>
              </a:ext>
            </a:extLst>
          </p:cNvPr>
          <p:cNvGraphicFramePr>
            <a:graphicFrameLocks noGrp="1"/>
          </p:cNvGraphicFramePr>
          <p:nvPr/>
        </p:nvGraphicFramePr>
        <p:xfrm>
          <a:off x="5943600" y="15128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3829" name="Group 53">
            <a:extLst>
              <a:ext uri="{FF2B5EF4-FFF2-40B4-BE49-F238E27FC236}">
                <a16:creationId xmlns:a16="http://schemas.microsoft.com/office/drawing/2014/main" id="{3CC769CF-DBEF-3648-847A-A0B2A50AF927}"/>
              </a:ext>
            </a:extLst>
          </p:cNvPr>
          <p:cNvGraphicFramePr>
            <a:graphicFrameLocks noGrp="1"/>
          </p:cNvGraphicFramePr>
          <p:nvPr/>
        </p:nvGraphicFramePr>
        <p:xfrm>
          <a:off x="5943600" y="27320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3843" name="Group 67">
            <a:extLst>
              <a:ext uri="{FF2B5EF4-FFF2-40B4-BE49-F238E27FC236}">
                <a16:creationId xmlns:a16="http://schemas.microsoft.com/office/drawing/2014/main" id="{756E6EC7-A265-7C47-82D8-7ABA339D4BE9}"/>
              </a:ext>
            </a:extLst>
          </p:cNvPr>
          <p:cNvGraphicFramePr>
            <a:graphicFrameLocks noGrp="1"/>
          </p:cNvGraphicFramePr>
          <p:nvPr/>
        </p:nvGraphicFramePr>
        <p:xfrm>
          <a:off x="5943600" y="21224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3857" name="Group 81">
            <a:extLst>
              <a:ext uri="{FF2B5EF4-FFF2-40B4-BE49-F238E27FC236}">
                <a16:creationId xmlns:a16="http://schemas.microsoft.com/office/drawing/2014/main" id="{1B5418D2-1B47-3546-9B67-402CA32EFCAA}"/>
              </a:ext>
            </a:extLst>
          </p:cNvPr>
          <p:cNvGraphicFramePr>
            <a:graphicFrameLocks noGrp="1"/>
          </p:cNvGraphicFramePr>
          <p:nvPr/>
        </p:nvGraphicFramePr>
        <p:xfrm>
          <a:off x="5943600" y="33416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3871" name="Group 95">
            <a:extLst>
              <a:ext uri="{FF2B5EF4-FFF2-40B4-BE49-F238E27FC236}">
                <a16:creationId xmlns:a16="http://schemas.microsoft.com/office/drawing/2014/main" id="{F1139630-DA20-9B48-995F-5C8A35E261B1}"/>
              </a:ext>
            </a:extLst>
          </p:cNvPr>
          <p:cNvGraphicFramePr>
            <a:graphicFrameLocks noGrp="1"/>
          </p:cNvGraphicFramePr>
          <p:nvPr/>
        </p:nvGraphicFramePr>
        <p:xfrm>
          <a:off x="5943600" y="39512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3885" name="Group 109">
            <a:extLst>
              <a:ext uri="{FF2B5EF4-FFF2-40B4-BE49-F238E27FC236}">
                <a16:creationId xmlns:a16="http://schemas.microsoft.com/office/drawing/2014/main" id="{5DD09A9F-86CD-CD4F-8A1C-EE94FB73F8F6}"/>
              </a:ext>
            </a:extLst>
          </p:cNvPr>
          <p:cNvGraphicFramePr>
            <a:graphicFrameLocks noGrp="1"/>
          </p:cNvGraphicFramePr>
          <p:nvPr/>
        </p:nvGraphicFramePr>
        <p:xfrm>
          <a:off x="5943600" y="45608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4940" name="Line 123">
            <a:extLst>
              <a:ext uri="{FF2B5EF4-FFF2-40B4-BE49-F238E27FC236}">
                <a16:creationId xmlns:a16="http://schemas.microsoft.com/office/drawing/2014/main" id="{3386DE85-37EE-9345-AE78-2C7B2B5E04B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9200" y="1665288"/>
            <a:ext cx="838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41" name="Line 124">
            <a:extLst>
              <a:ext uri="{FF2B5EF4-FFF2-40B4-BE49-F238E27FC236}">
                <a16:creationId xmlns:a16="http://schemas.microsoft.com/office/drawing/2014/main" id="{FEB558C0-C9B0-3E42-A150-D8B9EDA140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29200" y="1741488"/>
            <a:ext cx="838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42" name="Line 125">
            <a:extLst>
              <a:ext uri="{FF2B5EF4-FFF2-40B4-BE49-F238E27FC236}">
                <a16:creationId xmlns:a16="http://schemas.microsoft.com/office/drawing/2014/main" id="{33C1E976-CDAD-2F46-8C3E-6166DB8220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29200" y="2198688"/>
            <a:ext cx="838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43" name="Line 126">
            <a:extLst>
              <a:ext uri="{FF2B5EF4-FFF2-40B4-BE49-F238E27FC236}">
                <a16:creationId xmlns:a16="http://schemas.microsoft.com/office/drawing/2014/main" id="{FF7C52B5-505B-D848-ACF5-BC43D72120FA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9200" y="3036888"/>
            <a:ext cx="838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44" name="Line 127">
            <a:extLst>
              <a:ext uri="{FF2B5EF4-FFF2-40B4-BE49-F238E27FC236}">
                <a16:creationId xmlns:a16="http://schemas.microsoft.com/office/drawing/2014/main" id="{ECD667F1-89A8-9542-A384-26BAFD4D57B1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9200" y="3494088"/>
            <a:ext cx="8382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45" name="Line 128">
            <a:extLst>
              <a:ext uri="{FF2B5EF4-FFF2-40B4-BE49-F238E27FC236}">
                <a16:creationId xmlns:a16="http://schemas.microsoft.com/office/drawing/2014/main" id="{C16408B1-CB06-BA4E-9D68-81C66A010D7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9200" y="4027488"/>
            <a:ext cx="838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46" name="Line 129">
            <a:extLst>
              <a:ext uri="{FF2B5EF4-FFF2-40B4-BE49-F238E27FC236}">
                <a16:creationId xmlns:a16="http://schemas.microsoft.com/office/drawing/2014/main" id="{F50CBC8C-4FC8-C64B-9199-7E59FAA090E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1400" y="1687513"/>
            <a:ext cx="0" cy="434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47" name="Line 130">
            <a:extLst>
              <a:ext uri="{FF2B5EF4-FFF2-40B4-BE49-F238E27FC236}">
                <a16:creationId xmlns:a16="http://schemas.microsoft.com/office/drawing/2014/main" id="{A7205172-E96A-BB44-A9BF-A8561F66DFA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2400" y="2297113"/>
            <a:ext cx="0" cy="434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48" name="Line 131">
            <a:extLst>
              <a:ext uri="{FF2B5EF4-FFF2-40B4-BE49-F238E27FC236}">
                <a16:creationId xmlns:a16="http://schemas.microsoft.com/office/drawing/2014/main" id="{5586642B-0314-6A44-BD1B-E07E1BCDE1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91400" y="2906713"/>
            <a:ext cx="0" cy="434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49" name="Line 132">
            <a:extLst>
              <a:ext uri="{FF2B5EF4-FFF2-40B4-BE49-F238E27FC236}">
                <a16:creationId xmlns:a16="http://schemas.microsoft.com/office/drawing/2014/main" id="{F14AC1DD-E216-CF4E-8260-F54FA21E989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2400" y="3516313"/>
            <a:ext cx="0" cy="434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50" name="Line 133">
            <a:extLst>
              <a:ext uri="{FF2B5EF4-FFF2-40B4-BE49-F238E27FC236}">
                <a16:creationId xmlns:a16="http://schemas.microsoft.com/office/drawing/2014/main" id="{7747DB5A-AEB2-6C48-8084-ABAFF43843A1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2400" y="166528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51" name="Line 134">
            <a:extLst>
              <a:ext uri="{FF2B5EF4-FFF2-40B4-BE49-F238E27FC236}">
                <a16:creationId xmlns:a16="http://schemas.microsoft.com/office/drawing/2014/main" id="{7FDFADE2-BF41-4148-B7B7-B9ACE40F671C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9600" y="1665288"/>
            <a:ext cx="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52" name="Line 135">
            <a:extLst>
              <a:ext uri="{FF2B5EF4-FFF2-40B4-BE49-F238E27FC236}">
                <a16:creationId xmlns:a16="http://schemas.microsoft.com/office/drawing/2014/main" id="{26C0DD38-8488-BD44-8F11-8965629CAE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01000" y="2884488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53" name="Line 136">
            <a:extLst>
              <a:ext uri="{FF2B5EF4-FFF2-40B4-BE49-F238E27FC236}">
                <a16:creationId xmlns:a16="http://schemas.microsoft.com/office/drawing/2014/main" id="{3B5C7E29-2572-624B-98FD-785D395BA6F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2400" y="2960688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54" name="Line 137">
            <a:extLst>
              <a:ext uri="{FF2B5EF4-FFF2-40B4-BE49-F238E27FC236}">
                <a16:creationId xmlns:a16="http://schemas.microsoft.com/office/drawing/2014/main" id="{BEF7BCD6-B40A-934F-B5D6-0ECF0855384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2400" y="318928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55" name="Line 138">
            <a:extLst>
              <a:ext uri="{FF2B5EF4-FFF2-40B4-BE49-F238E27FC236}">
                <a16:creationId xmlns:a16="http://schemas.microsoft.com/office/drawing/2014/main" id="{64EA2E97-29A7-F94C-A1ED-25579EC0C2E7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9600" y="3189288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34956" name="Line 139">
            <a:extLst>
              <a:ext uri="{FF2B5EF4-FFF2-40B4-BE49-F238E27FC236}">
                <a16:creationId xmlns:a16="http://schemas.microsoft.com/office/drawing/2014/main" id="{55A2A251-CB37-5F48-94A5-7BE0DBC4B6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01000" y="4103688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52400" tIns="0" bIns="0"/>
          <a:lstStyle/>
          <a:p>
            <a:endParaRPr lang="zh-CN" altLang="en-US"/>
          </a:p>
        </p:txBody>
      </p:sp>
      <p:sp>
        <p:nvSpPr>
          <p:cNvPr id="73868" name="Text Box 140">
            <a:extLst>
              <a:ext uri="{FF2B5EF4-FFF2-40B4-BE49-F238E27FC236}">
                <a16:creationId xmlns:a16="http://schemas.microsoft.com/office/drawing/2014/main" id="{9CE3A048-5856-EC4D-9181-E94CE4EC9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8063" y="987425"/>
            <a:ext cx="238283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1800">
                <a:solidFill>
                  <a:srgbClr val="000000"/>
                </a:solidFill>
                <a:latin typeface="宋体" panose="02010600030101010101" pitchFamily="2" charset="-122"/>
              </a:rPr>
              <a:t>序号 </a:t>
            </a: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data firstedge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869" name="Text Box 141">
            <a:extLst>
              <a:ext uri="{FF2B5EF4-FFF2-40B4-BE49-F238E27FC236}">
                <a16:creationId xmlns:a16="http://schemas.microsoft.com/office/drawing/2014/main" id="{93BBBC71-6BA6-E645-AF4A-8D9EA9D47F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25" y="1230313"/>
            <a:ext cx="954088" cy="371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6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(A,B)</a:t>
            </a:r>
          </a:p>
          <a:p>
            <a:pPr eaLnBrk="1" hangingPunct="1">
              <a:lnSpc>
                <a:spcPct val="16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(A,C)</a:t>
            </a:r>
          </a:p>
          <a:p>
            <a:pPr eaLnBrk="1" hangingPunct="1">
              <a:lnSpc>
                <a:spcPct val="16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(B,C)</a:t>
            </a:r>
          </a:p>
          <a:p>
            <a:pPr eaLnBrk="1" hangingPunct="1">
              <a:lnSpc>
                <a:spcPct val="16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(B,D)</a:t>
            </a:r>
          </a:p>
          <a:p>
            <a:pPr eaLnBrk="1" hangingPunct="1">
              <a:lnSpc>
                <a:spcPct val="16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(C,D)</a:t>
            </a:r>
          </a:p>
          <a:p>
            <a:pPr eaLnBrk="1" hangingPunct="1">
              <a:lnSpc>
                <a:spcPct val="16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(E,F)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870" name="Text Box 142">
            <a:extLst>
              <a:ext uri="{FF2B5EF4-FFF2-40B4-BE49-F238E27FC236}">
                <a16:creationId xmlns:a16="http://schemas.microsoft.com/office/drawing/2014/main" id="{57231E5A-5097-A445-94B9-C97A70B4F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2682875"/>
            <a:ext cx="3605213" cy="267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隐含的链接表：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  (0,1)  (0,2)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  (0,1)  (1,2)  (1,3)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  (0,2)  (1,2)  (2,3)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  (1,3)  (2,3)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  (4,5)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  (4,5)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871" name="Line 143">
            <a:extLst>
              <a:ext uri="{FF2B5EF4-FFF2-40B4-BE49-F238E27FC236}">
                <a16:creationId xmlns:a16="http://schemas.microsoft.com/office/drawing/2014/main" id="{E3CFBA48-0033-D34B-A57A-28CD3AF8F6D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638" y="3332163"/>
            <a:ext cx="2286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72" name="Line 144">
            <a:extLst>
              <a:ext uri="{FF2B5EF4-FFF2-40B4-BE49-F238E27FC236}">
                <a16:creationId xmlns:a16="http://schemas.microsoft.com/office/drawing/2014/main" id="{9033BB83-7043-1E49-B6F0-061B8D1CB4D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638" y="4475163"/>
            <a:ext cx="2286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73" name="Line 145">
            <a:extLst>
              <a:ext uri="{FF2B5EF4-FFF2-40B4-BE49-F238E27FC236}">
                <a16:creationId xmlns:a16="http://schemas.microsoft.com/office/drawing/2014/main" id="{362FDB2F-76BB-F540-85DC-64ECC0F2159C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025" y="3713163"/>
            <a:ext cx="144463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74" name="Line 146">
            <a:extLst>
              <a:ext uri="{FF2B5EF4-FFF2-40B4-BE49-F238E27FC236}">
                <a16:creationId xmlns:a16="http://schemas.microsoft.com/office/drawing/2014/main" id="{68B4D681-D627-F24C-80DD-4941E21095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638" y="4094163"/>
            <a:ext cx="2286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75" name="Line 147">
            <a:extLst>
              <a:ext uri="{FF2B5EF4-FFF2-40B4-BE49-F238E27FC236}">
                <a16:creationId xmlns:a16="http://schemas.microsoft.com/office/drawing/2014/main" id="{416D7BE3-B240-7344-9F54-A4E80AD1795D}"/>
              </a:ext>
            </a:extLst>
          </p:cNvPr>
          <p:cNvSpPr>
            <a:spLocks noChangeShapeType="1"/>
          </p:cNvSpPr>
          <p:nvPr/>
        </p:nvSpPr>
        <p:spPr bwMode="auto">
          <a:xfrm>
            <a:off x="1646238" y="4475163"/>
            <a:ext cx="3048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76" name="Line 148">
            <a:extLst>
              <a:ext uri="{FF2B5EF4-FFF2-40B4-BE49-F238E27FC236}">
                <a16:creationId xmlns:a16="http://schemas.microsoft.com/office/drawing/2014/main" id="{5CD1B206-927E-2C46-96E3-E11E9C2BFC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638" y="4856163"/>
            <a:ext cx="2286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77" name="Line 149">
            <a:extLst>
              <a:ext uri="{FF2B5EF4-FFF2-40B4-BE49-F238E27FC236}">
                <a16:creationId xmlns:a16="http://schemas.microsoft.com/office/drawing/2014/main" id="{226DC59D-50B7-C94F-9E01-DB07F11F4A3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89238" y="4094163"/>
            <a:ext cx="2286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78" name="Line 150">
            <a:extLst>
              <a:ext uri="{FF2B5EF4-FFF2-40B4-BE49-F238E27FC236}">
                <a16:creationId xmlns:a16="http://schemas.microsoft.com/office/drawing/2014/main" id="{041B1716-3314-774F-B768-12261DCDE0A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2438" y="4094163"/>
            <a:ext cx="2286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79" name="Line 151">
            <a:extLst>
              <a:ext uri="{FF2B5EF4-FFF2-40B4-BE49-F238E27FC236}">
                <a16:creationId xmlns:a16="http://schemas.microsoft.com/office/drawing/2014/main" id="{A71ECF9E-BBF9-6D49-9B4D-8D717A782B99}"/>
              </a:ext>
            </a:extLst>
          </p:cNvPr>
          <p:cNvSpPr>
            <a:spLocks noChangeShapeType="1"/>
          </p:cNvSpPr>
          <p:nvPr/>
        </p:nvSpPr>
        <p:spPr bwMode="auto">
          <a:xfrm>
            <a:off x="2797175" y="3713163"/>
            <a:ext cx="2159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80" name="Line 152">
            <a:extLst>
              <a:ext uri="{FF2B5EF4-FFF2-40B4-BE49-F238E27FC236}">
                <a16:creationId xmlns:a16="http://schemas.microsoft.com/office/drawing/2014/main" id="{2D7A1409-5474-8344-9C7A-A25D602E09C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16088" y="3713163"/>
            <a:ext cx="23495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81" name="Line 153">
            <a:extLst>
              <a:ext uri="{FF2B5EF4-FFF2-40B4-BE49-F238E27FC236}">
                <a16:creationId xmlns:a16="http://schemas.microsoft.com/office/drawing/2014/main" id="{02D6B86A-7C92-C244-A2BC-18EFF9288D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2438" y="3332163"/>
            <a:ext cx="2286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82" name="Line 154">
            <a:extLst>
              <a:ext uri="{FF2B5EF4-FFF2-40B4-BE49-F238E27FC236}">
                <a16:creationId xmlns:a16="http://schemas.microsoft.com/office/drawing/2014/main" id="{E1ABC896-5428-0847-8451-FEEB4DAB2E25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638" y="5160963"/>
            <a:ext cx="2286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883" name="Text Box 155">
            <a:extLst>
              <a:ext uri="{FF2B5EF4-FFF2-40B4-BE49-F238E27FC236}">
                <a16:creationId xmlns:a16="http://schemas.microsoft.com/office/drawing/2014/main" id="{C7476B9C-75DB-BB45-8703-D389753E0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1130300"/>
            <a:ext cx="20018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ma vi vj il jl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3884" name="Text Box 156">
            <a:extLst>
              <a:ext uri="{FF2B5EF4-FFF2-40B4-BE49-F238E27FC236}">
                <a16:creationId xmlns:a16="http://schemas.microsoft.com/office/drawing/2014/main" id="{C4157D1A-BBBC-7C40-BCFA-C7FDD4D7C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23975"/>
            <a:ext cx="314325" cy="286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2000"/>
                                        <p:tgtEl>
                                          <p:spTgt spid="34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2000"/>
                                        <p:tgtEl>
                                          <p:spTgt spid="34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2000"/>
                                        <p:tgtEl>
                                          <p:spTgt spid="34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2000"/>
                                        <p:tgtEl>
                                          <p:spTgt spid="34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" dur="2000"/>
                                        <p:tgtEl>
                                          <p:spTgt spid="34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2000"/>
                                        <p:tgtEl>
                                          <p:spTgt spid="34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" dur="2000"/>
                                        <p:tgtEl>
                                          <p:spTgt spid="34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2000"/>
                                        <p:tgtEl>
                                          <p:spTgt spid="34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5" dur="2000"/>
                                        <p:tgtEl>
                                          <p:spTgt spid="34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8" dur="2000"/>
                                        <p:tgtEl>
                                          <p:spTgt spid="34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1" dur="2000"/>
                                        <p:tgtEl>
                                          <p:spTgt spid="34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4" dur="2000"/>
                                        <p:tgtEl>
                                          <p:spTgt spid="34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7" dur="2000"/>
                                        <p:tgtEl>
                                          <p:spTgt spid="34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2" dur="2000"/>
                                        <p:tgtEl>
                                          <p:spTgt spid="34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2000"/>
                                        <p:tgtEl>
                                          <p:spTgt spid="34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0" dur="2000"/>
                                        <p:tgtEl>
                                          <p:spTgt spid="34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5" dur="2000"/>
                                        <p:tgtEl>
                                          <p:spTgt spid="34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灯片编号占位符 1">
            <a:extLst>
              <a:ext uri="{FF2B5EF4-FFF2-40B4-BE49-F238E27FC236}">
                <a16:creationId xmlns:a16="http://schemas.microsoft.com/office/drawing/2014/main" id="{45F2AFBC-066B-8F4A-B6C9-E9E30D727CF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833A98E-EDE8-8742-8DC7-065CC7A7F526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75778" name="Rectangle 2">
            <a:extLst>
              <a:ext uri="{FF2B5EF4-FFF2-40B4-BE49-F238E27FC236}">
                <a16:creationId xmlns:a16="http://schemas.microsoft.com/office/drawing/2014/main" id="{83DCAF8B-BD9B-8747-A5B1-F5E566C59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3" y="260350"/>
            <a:ext cx="62198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r>
              <a:rPr kumimoji="0" lang="en-US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.2.4 </a:t>
            </a:r>
            <a:r>
              <a:rPr kumimoji="0"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邻接多重表（续）</a:t>
            </a:r>
            <a:endParaRPr kumimoji="0" lang="zh-CN" altLang="en-US" sz="28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779" name="Oval 3">
            <a:extLst>
              <a:ext uri="{FF2B5EF4-FFF2-40B4-BE49-F238E27FC236}">
                <a16:creationId xmlns:a16="http://schemas.microsoft.com/office/drawing/2014/main" id="{5AD4C5C5-9ECB-F84D-969D-3C8C24362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0013" y="20240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780" name="Oval 4">
            <a:extLst>
              <a:ext uri="{FF2B5EF4-FFF2-40B4-BE49-F238E27FC236}">
                <a16:creationId xmlns:a16="http://schemas.microsoft.com/office/drawing/2014/main" id="{2A458049-59B0-3840-83D3-DCA0AD414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8013" y="14906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781" name="Oval 5">
            <a:extLst>
              <a:ext uri="{FF2B5EF4-FFF2-40B4-BE49-F238E27FC236}">
                <a16:creationId xmlns:a16="http://schemas.microsoft.com/office/drawing/2014/main" id="{25FF7BED-115B-1C4F-AE42-C61FE6C00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0013" y="9080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782" name="Oval 6">
            <a:extLst>
              <a:ext uri="{FF2B5EF4-FFF2-40B4-BE49-F238E27FC236}">
                <a16:creationId xmlns:a16="http://schemas.microsoft.com/office/drawing/2014/main" id="{416B3FC0-145D-744E-904B-1BAE12A17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9080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</a:p>
        </p:txBody>
      </p:sp>
      <p:sp>
        <p:nvSpPr>
          <p:cNvPr id="75783" name="Oval 7">
            <a:extLst>
              <a:ext uri="{FF2B5EF4-FFF2-40B4-BE49-F238E27FC236}">
                <a16:creationId xmlns:a16="http://schemas.microsoft.com/office/drawing/2014/main" id="{C5EB5ED2-BC38-544D-9FC6-12830F5FF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20240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784" name="Line 8">
            <a:extLst>
              <a:ext uri="{FF2B5EF4-FFF2-40B4-BE49-F238E27FC236}">
                <a16:creationId xmlns:a16="http://schemas.microsoft.com/office/drawing/2014/main" id="{8866EF52-5C38-854C-81ED-E2B977CAB45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08413" y="1289050"/>
            <a:ext cx="0" cy="7350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785" name="Rectangle 9">
            <a:extLst>
              <a:ext uri="{FF2B5EF4-FFF2-40B4-BE49-F238E27FC236}">
                <a16:creationId xmlns:a16="http://schemas.microsoft.com/office/drawing/2014/main" id="{B9AB33B7-6337-2046-9832-F8C033A24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5613" y="2389188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786" name="Line 10">
            <a:extLst>
              <a:ext uri="{FF2B5EF4-FFF2-40B4-BE49-F238E27FC236}">
                <a16:creationId xmlns:a16="http://schemas.microsoft.com/office/drawing/2014/main" id="{F44AC68A-31DA-4346-BD6C-E9F362E126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37013" y="1109663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787" name="Line 11">
            <a:extLst>
              <a:ext uri="{FF2B5EF4-FFF2-40B4-BE49-F238E27FC236}">
                <a16:creationId xmlns:a16="http://schemas.microsoft.com/office/drawing/2014/main" id="{75E574CA-3BD8-AA4F-B450-137637216B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99013" y="1185863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788" name="Line 12">
            <a:extLst>
              <a:ext uri="{FF2B5EF4-FFF2-40B4-BE49-F238E27FC236}">
                <a16:creationId xmlns:a16="http://schemas.microsoft.com/office/drawing/2014/main" id="{B9C6B0B7-6F2F-D44B-AF1E-2535E7ADCB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32413" y="1262063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789" name="Line 13">
            <a:extLst>
              <a:ext uri="{FF2B5EF4-FFF2-40B4-BE49-F238E27FC236}">
                <a16:creationId xmlns:a16="http://schemas.microsoft.com/office/drawing/2014/main" id="{E86CA37D-C5B7-2445-8125-84EAF0EDA3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37013" y="1795463"/>
            <a:ext cx="4572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201742" name="Group 14">
            <a:extLst>
              <a:ext uri="{FF2B5EF4-FFF2-40B4-BE49-F238E27FC236}">
                <a16:creationId xmlns:a16="http://schemas.microsoft.com/office/drawing/2014/main" id="{39DD0EB9-D002-E345-A000-9CDA3E8F99EC}"/>
              </a:ext>
            </a:extLst>
          </p:cNvPr>
          <p:cNvGraphicFramePr>
            <a:graphicFrameLocks noGrp="1"/>
          </p:cNvGraphicFramePr>
          <p:nvPr/>
        </p:nvGraphicFramePr>
        <p:xfrm>
          <a:off x="2249488" y="3460750"/>
          <a:ext cx="914400" cy="2286000"/>
        </p:xfrm>
        <a:graphic>
          <a:graphicData uri="http://schemas.openxmlformats.org/drawingml/2006/table">
            <a:tbl>
              <a:tblPr/>
              <a:tblGrid>
                <a:gridCol w="533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A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B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C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D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E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209550" marR="5715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1762" name="Group 34">
            <a:extLst>
              <a:ext uri="{FF2B5EF4-FFF2-40B4-BE49-F238E27FC236}">
                <a16:creationId xmlns:a16="http://schemas.microsoft.com/office/drawing/2014/main" id="{40EA6252-13AF-9546-B785-60D86A0C31F2}"/>
              </a:ext>
            </a:extLst>
          </p:cNvPr>
          <p:cNvGraphicFramePr>
            <a:graphicFrameLocks noGrp="1"/>
          </p:cNvGraphicFramePr>
          <p:nvPr/>
        </p:nvGraphicFramePr>
        <p:xfrm>
          <a:off x="3757613" y="34686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1776" name="Group 48">
            <a:extLst>
              <a:ext uri="{FF2B5EF4-FFF2-40B4-BE49-F238E27FC236}">
                <a16:creationId xmlns:a16="http://schemas.microsoft.com/office/drawing/2014/main" id="{C8848930-0EC8-2946-AF29-C80BE1D4F862}"/>
              </a:ext>
            </a:extLst>
          </p:cNvPr>
          <p:cNvGraphicFramePr>
            <a:graphicFrameLocks noGrp="1"/>
          </p:cNvGraphicFramePr>
          <p:nvPr/>
        </p:nvGraphicFramePr>
        <p:xfrm>
          <a:off x="3757613" y="43830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1790" name="Group 62">
            <a:extLst>
              <a:ext uri="{FF2B5EF4-FFF2-40B4-BE49-F238E27FC236}">
                <a16:creationId xmlns:a16="http://schemas.microsoft.com/office/drawing/2014/main" id="{25C3E813-CA41-9E4E-9156-C2F818C98C32}"/>
              </a:ext>
            </a:extLst>
          </p:cNvPr>
          <p:cNvGraphicFramePr>
            <a:graphicFrameLocks noGrp="1"/>
          </p:cNvGraphicFramePr>
          <p:nvPr/>
        </p:nvGraphicFramePr>
        <p:xfrm>
          <a:off x="6348413" y="34686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6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  <a:endParaRPr kumimoji="1" lang="en-US" altLang="zh-CN" sz="16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1804" name="Group 76">
            <a:extLst>
              <a:ext uri="{FF2B5EF4-FFF2-40B4-BE49-F238E27FC236}">
                <a16:creationId xmlns:a16="http://schemas.microsoft.com/office/drawing/2014/main" id="{1CFF12FC-F88C-FF46-A1A4-91B6EE340A5A}"/>
              </a:ext>
            </a:extLst>
          </p:cNvPr>
          <p:cNvGraphicFramePr>
            <a:graphicFrameLocks noGrp="1"/>
          </p:cNvGraphicFramePr>
          <p:nvPr/>
        </p:nvGraphicFramePr>
        <p:xfrm>
          <a:off x="6348413" y="43830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18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1818" name="Group 90">
            <a:extLst>
              <a:ext uri="{FF2B5EF4-FFF2-40B4-BE49-F238E27FC236}">
                <a16:creationId xmlns:a16="http://schemas.microsoft.com/office/drawing/2014/main" id="{B8B1D9EA-60EB-654B-BC00-E0116B82094C}"/>
              </a:ext>
            </a:extLst>
          </p:cNvPr>
          <p:cNvGraphicFramePr>
            <a:graphicFrameLocks noGrp="1"/>
          </p:cNvGraphicFramePr>
          <p:nvPr/>
        </p:nvGraphicFramePr>
        <p:xfrm>
          <a:off x="6348413" y="5281613"/>
          <a:ext cx="2057400" cy="365760"/>
        </p:xfrm>
        <a:graphic>
          <a:graphicData uri="http://schemas.openxmlformats.org/drawingml/2006/table">
            <a:tbl>
              <a:tblPr/>
              <a:tblGrid>
                <a:gridCol w="4111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11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01832" name="Group 104">
            <a:extLst>
              <a:ext uri="{FF2B5EF4-FFF2-40B4-BE49-F238E27FC236}">
                <a16:creationId xmlns:a16="http://schemas.microsoft.com/office/drawing/2014/main" id="{88D2E7AD-D22B-D446-B007-EA0B8F936594}"/>
              </a:ext>
            </a:extLst>
          </p:cNvPr>
          <p:cNvGraphicFramePr>
            <a:graphicFrameLocks noGrp="1"/>
          </p:cNvGraphicFramePr>
          <p:nvPr/>
        </p:nvGraphicFramePr>
        <p:xfrm>
          <a:off x="3757613" y="5297488"/>
          <a:ext cx="2057400" cy="365760"/>
        </p:xfrm>
        <a:graphic>
          <a:graphicData uri="http://schemas.openxmlformats.org/drawingml/2006/table">
            <a:tbl>
              <a:tblPr/>
              <a:tblGrid>
                <a:gridCol w="4111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1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  <a:endParaRPr kumimoji="1" lang="en-US" altLang="zh-CN" sz="2400" b="1" i="0" u="none" strike="noStrike" cap="none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24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zh-CN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zh-CN" altLang="zh-CN" sz="1800" b="1" i="0" u="none" strike="noStrike" cap="none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∧</a:t>
                      </a:r>
                    </a:p>
                  </a:txBody>
                  <a:tcPr marL="152400" marT="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5894" name="Text Box 118">
            <a:extLst>
              <a:ext uri="{FF2B5EF4-FFF2-40B4-BE49-F238E27FC236}">
                <a16:creationId xmlns:a16="http://schemas.microsoft.com/office/drawing/2014/main" id="{41DFA09C-B33F-CC44-8E3E-681424409A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613" y="2781300"/>
            <a:ext cx="238283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1800">
                <a:solidFill>
                  <a:srgbClr val="000000"/>
                </a:solidFill>
                <a:latin typeface="宋体" panose="02010600030101010101" pitchFamily="2" charset="-122"/>
              </a:rPr>
              <a:t>序号 </a:t>
            </a: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data firstedge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895" name="Text Box 119">
            <a:extLst>
              <a:ext uri="{FF2B5EF4-FFF2-40B4-BE49-F238E27FC236}">
                <a16:creationId xmlns:a16="http://schemas.microsoft.com/office/drawing/2014/main" id="{6818EA69-21BE-C143-898F-3A169710CC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4263" y="3055938"/>
            <a:ext cx="21320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ma vi vj  il jl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896" name="Text Box 120">
            <a:extLst>
              <a:ext uri="{FF2B5EF4-FFF2-40B4-BE49-F238E27FC236}">
                <a16:creationId xmlns:a16="http://schemas.microsoft.com/office/drawing/2014/main" id="{52EA85EF-ABA1-084A-906D-CDA699D33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8813" y="3446463"/>
            <a:ext cx="314325" cy="286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897" name="Line 121">
            <a:extLst>
              <a:ext uri="{FF2B5EF4-FFF2-40B4-BE49-F238E27FC236}">
                <a16:creationId xmlns:a16="http://schemas.microsoft.com/office/drawing/2014/main" id="{39FDB087-7238-7D47-BEA4-4D3CDB08D2A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2813" y="1795463"/>
            <a:ext cx="533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898" name="Text Box 122">
            <a:extLst>
              <a:ext uri="{FF2B5EF4-FFF2-40B4-BE49-F238E27FC236}">
                <a16:creationId xmlns:a16="http://schemas.microsoft.com/office/drawing/2014/main" id="{0D020304-7763-DC48-A296-27F0FF3A0E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1263" y="3055938"/>
            <a:ext cx="21320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ma vi vj  il jl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899" name="Line 123">
            <a:extLst>
              <a:ext uri="{FF2B5EF4-FFF2-40B4-BE49-F238E27FC236}">
                <a16:creationId xmlns:a16="http://schemas.microsoft.com/office/drawing/2014/main" id="{3394AE37-5D59-9A46-AB9B-5AA1EE7B9581}"/>
              </a:ext>
            </a:extLst>
          </p:cNvPr>
          <p:cNvSpPr>
            <a:spLocks noChangeShapeType="1"/>
          </p:cNvSpPr>
          <p:nvPr/>
        </p:nvSpPr>
        <p:spPr bwMode="auto">
          <a:xfrm>
            <a:off x="2995613" y="3681413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0" name="Line 124">
            <a:extLst>
              <a:ext uri="{FF2B5EF4-FFF2-40B4-BE49-F238E27FC236}">
                <a16:creationId xmlns:a16="http://schemas.microsoft.com/office/drawing/2014/main" id="{17ADF322-D728-D94E-91B2-073F77EC42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95613" y="4595813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1" name="Line 125">
            <a:extLst>
              <a:ext uri="{FF2B5EF4-FFF2-40B4-BE49-F238E27FC236}">
                <a16:creationId xmlns:a16="http://schemas.microsoft.com/office/drawing/2014/main" id="{861AE68C-7F3C-524E-BA51-2D011CE86B1E}"/>
              </a:ext>
            </a:extLst>
          </p:cNvPr>
          <p:cNvSpPr>
            <a:spLocks noChangeShapeType="1"/>
          </p:cNvSpPr>
          <p:nvPr/>
        </p:nvSpPr>
        <p:spPr bwMode="auto">
          <a:xfrm>
            <a:off x="2995613" y="5510213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2" name="Line 126">
            <a:extLst>
              <a:ext uri="{FF2B5EF4-FFF2-40B4-BE49-F238E27FC236}">
                <a16:creationId xmlns:a16="http://schemas.microsoft.com/office/drawing/2014/main" id="{33E25509-B4D2-9A4A-B8ED-0BEC578DB7A0}"/>
              </a:ext>
            </a:extLst>
          </p:cNvPr>
          <p:cNvSpPr>
            <a:spLocks noChangeShapeType="1"/>
          </p:cNvSpPr>
          <p:nvPr/>
        </p:nvSpPr>
        <p:spPr bwMode="auto">
          <a:xfrm>
            <a:off x="5662613" y="3681413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3" name="Line 127">
            <a:extLst>
              <a:ext uri="{FF2B5EF4-FFF2-40B4-BE49-F238E27FC236}">
                <a16:creationId xmlns:a16="http://schemas.microsoft.com/office/drawing/2014/main" id="{D75F2243-D0FD-6B45-AA81-2C992B8002E1}"/>
              </a:ext>
            </a:extLst>
          </p:cNvPr>
          <p:cNvSpPr>
            <a:spLocks noChangeShapeType="1"/>
          </p:cNvSpPr>
          <p:nvPr/>
        </p:nvSpPr>
        <p:spPr bwMode="auto">
          <a:xfrm>
            <a:off x="5662613" y="4595813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4" name="Line 128">
            <a:extLst>
              <a:ext uri="{FF2B5EF4-FFF2-40B4-BE49-F238E27FC236}">
                <a16:creationId xmlns:a16="http://schemas.microsoft.com/office/drawing/2014/main" id="{65D8C105-2428-344B-A816-D68A3BAB392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316538" y="3008313"/>
            <a:ext cx="0" cy="577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5" name="Line 129">
            <a:extLst>
              <a:ext uri="{FF2B5EF4-FFF2-40B4-BE49-F238E27FC236}">
                <a16:creationId xmlns:a16="http://schemas.microsoft.com/office/drawing/2014/main" id="{5E31B7CC-1760-3446-A7C7-0A8CE5EEC2F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16538" y="2995613"/>
            <a:ext cx="2479675" cy="15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6" name="Line 130">
            <a:extLst>
              <a:ext uri="{FF2B5EF4-FFF2-40B4-BE49-F238E27FC236}">
                <a16:creationId xmlns:a16="http://schemas.microsoft.com/office/drawing/2014/main" id="{FF4B9302-2C8B-8342-B8E2-03E3773BC8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96213" y="2995613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7" name="Line 131">
            <a:extLst>
              <a:ext uri="{FF2B5EF4-FFF2-40B4-BE49-F238E27FC236}">
                <a16:creationId xmlns:a16="http://schemas.microsoft.com/office/drawing/2014/main" id="{B0E8CC06-BA44-9446-8B70-4058C1D24DA5}"/>
              </a:ext>
            </a:extLst>
          </p:cNvPr>
          <p:cNvSpPr>
            <a:spLocks noChangeShapeType="1"/>
          </p:cNvSpPr>
          <p:nvPr/>
        </p:nvSpPr>
        <p:spPr bwMode="auto">
          <a:xfrm>
            <a:off x="5205413" y="4138613"/>
            <a:ext cx="2590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8" name="Line 132">
            <a:extLst>
              <a:ext uri="{FF2B5EF4-FFF2-40B4-BE49-F238E27FC236}">
                <a16:creationId xmlns:a16="http://schemas.microsoft.com/office/drawing/2014/main" id="{73530C5D-A7D4-9644-963C-921658D583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96213" y="4138613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09" name="Line 133">
            <a:extLst>
              <a:ext uri="{FF2B5EF4-FFF2-40B4-BE49-F238E27FC236}">
                <a16:creationId xmlns:a16="http://schemas.microsoft.com/office/drawing/2014/main" id="{7138ECEA-4A7B-9A42-BF32-1BD32771FB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05413" y="4138613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10" name="Line 134">
            <a:extLst>
              <a:ext uri="{FF2B5EF4-FFF2-40B4-BE49-F238E27FC236}">
                <a16:creationId xmlns:a16="http://schemas.microsoft.com/office/drawing/2014/main" id="{A68ECD13-8789-3440-9954-B883DC8281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95613" y="4138613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11" name="Line 135">
            <a:extLst>
              <a:ext uri="{FF2B5EF4-FFF2-40B4-BE49-F238E27FC236}">
                <a16:creationId xmlns:a16="http://schemas.microsoft.com/office/drawing/2014/main" id="{C77F9E4A-5366-0249-B536-E220958338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86213" y="38338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12" name="Line 136">
            <a:extLst>
              <a:ext uri="{FF2B5EF4-FFF2-40B4-BE49-F238E27FC236}">
                <a16:creationId xmlns:a16="http://schemas.microsoft.com/office/drawing/2014/main" id="{E6B95803-F3B3-DA47-9BFA-989A05754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2995613" y="5053013"/>
            <a:ext cx="5257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13" name="Line 137">
            <a:extLst>
              <a:ext uri="{FF2B5EF4-FFF2-40B4-BE49-F238E27FC236}">
                <a16:creationId xmlns:a16="http://schemas.microsoft.com/office/drawing/2014/main" id="{EC615B69-9C0C-9C46-805C-68B24BF3BF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53413" y="47482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14" name="Line 138">
            <a:extLst>
              <a:ext uri="{FF2B5EF4-FFF2-40B4-BE49-F238E27FC236}">
                <a16:creationId xmlns:a16="http://schemas.microsoft.com/office/drawing/2014/main" id="{121E6384-1015-9043-BA3A-0DB09A8BAE8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77213" y="3833813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15" name="Line 139">
            <a:extLst>
              <a:ext uri="{FF2B5EF4-FFF2-40B4-BE49-F238E27FC236}">
                <a16:creationId xmlns:a16="http://schemas.microsoft.com/office/drawing/2014/main" id="{6D565759-33E4-FB48-B9C9-59CAF6EEA431}"/>
              </a:ext>
            </a:extLst>
          </p:cNvPr>
          <p:cNvSpPr>
            <a:spLocks noChangeShapeType="1"/>
          </p:cNvSpPr>
          <p:nvPr/>
        </p:nvSpPr>
        <p:spPr bwMode="auto">
          <a:xfrm>
            <a:off x="5281613" y="5510213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16" name="Line 140">
            <a:extLst>
              <a:ext uri="{FF2B5EF4-FFF2-40B4-BE49-F238E27FC236}">
                <a16:creationId xmlns:a16="http://schemas.microsoft.com/office/drawing/2014/main" id="{F62F7F82-D74B-FB47-BC45-46D947AF2215}"/>
              </a:ext>
            </a:extLst>
          </p:cNvPr>
          <p:cNvSpPr>
            <a:spLocks noChangeShapeType="1"/>
          </p:cNvSpPr>
          <p:nvPr/>
        </p:nvSpPr>
        <p:spPr bwMode="auto">
          <a:xfrm>
            <a:off x="5281613" y="5967413"/>
            <a:ext cx="2971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17" name="Line 141">
            <a:extLst>
              <a:ext uri="{FF2B5EF4-FFF2-40B4-BE49-F238E27FC236}">
                <a16:creationId xmlns:a16="http://schemas.microsoft.com/office/drawing/2014/main" id="{4C177E07-02F2-304F-9903-0334774609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53413" y="5662613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918" name="Line 142">
            <a:extLst>
              <a:ext uri="{FF2B5EF4-FFF2-40B4-BE49-F238E27FC236}">
                <a16:creationId xmlns:a16="http://schemas.microsoft.com/office/drawing/2014/main" id="{AEADD264-3F8D-CB40-A409-BE8F49EA3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12088" y="4581525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894" grpId="0"/>
      <p:bldP spid="75895" grpId="0"/>
      <p:bldP spid="75896" grpId="0"/>
      <p:bldP spid="75898" grpId="0"/>
      <p:bldP spid="75899" grpId="0" animBg="1"/>
      <p:bldP spid="75900" grpId="0" animBg="1"/>
      <p:bldP spid="75901" grpId="0" animBg="1"/>
      <p:bldP spid="75902" grpId="0" animBg="1"/>
      <p:bldP spid="75903" grpId="0" animBg="1"/>
      <p:bldP spid="75904" grpId="0" animBg="1"/>
      <p:bldP spid="75905" grpId="0" animBg="1"/>
      <p:bldP spid="75906" grpId="0" animBg="1"/>
      <p:bldP spid="75907" grpId="0" animBg="1"/>
      <p:bldP spid="75908" grpId="0" animBg="1"/>
      <p:bldP spid="75909" grpId="0" animBg="1"/>
      <p:bldP spid="75910" grpId="0" animBg="1"/>
      <p:bldP spid="75911" grpId="0" animBg="1"/>
      <p:bldP spid="75912" grpId="0" animBg="1"/>
      <p:bldP spid="75913" grpId="0" animBg="1"/>
      <p:bldP spid="75914" grpId="0" animBg="1"/>
      <p:bldP spid="75915" grpId="0" animBg="1"/>
      <p:bldP spid="75916" grpId="0" animBg="1"/>
      <p:bldP spid="75917" grpId="0" animBg="1"/>
      <p:bldP spid="75918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灯片编号占位符 3">
            <a:extLst>
              <a:ext uri="{FF2B5EF4-FFF2-40B4-BE49-F238E27FC236}">
                <a16:creationId xmlns:a16="http://schemas.microsoft.com/office/drawing/2014/main" id="{8556D36A-2C4C-634B-9BD6-847BB2F2D4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26AF4F5-5938-9843-BE67-FEC05909211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77826" name="Text Box 38">
            <a:extLst>
              <a:ext uri="{FF2B5EF4-FFF2-40B4-BE49-F238E27FC236}">
                <a16:creationId xmlns:a16="http://schemas.microsoft.com/office/drawing/2014/main" id="{571BB426-70C9-D44B-BE7E-22ECB8266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323850"/>
            <a:ext cx="8820150" cy="1878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00"/>
                </a:solidFill>
                <a:latin typeface="宋体" panose="02010600030101010101" pitchFamily="2" charset="-122"/>
              </a:rPr>
              <a:t>7.3 </a:t>
            </a:r>
            <a:r>
              <a:rPr lang="zh-CN" altLang="en-US">
                <a:solidFill>
                  <a:srgbClr val="000000"/>
                </a:solidFill>
                <a:latin typeface="宋体" panose="02010600030101010101" pitchFamily="2" charset="-122"/>
              </a:rPr>
              <a:t>图的遍历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从图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的某顶点出发，访问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的每个顶点一次且仅一次的过程。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r>
              <a:rPr lang="en-US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.3.1 </a:t>
            </a:r>
            <a:r>
              <a:rPr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图的深度优先搜索</a:t>
            </a:r>
            <a:endParaRPr lang="zh-CN" altLang="en-US" sz="2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DFS(Depth First Search)</a:t>
            </a:r>
            <a:endParaRPr lang="en-US" altLang="zh-CN" sz="2400" b="0">
              <a:latin typeface="宋体" panose="02010600030101010101" pitchFamily="2" charset="-122"/>
            </a:endParaRPr>
          </a:p>
        </p:txBody>
      </p:sp>
      <p:sp>
        <p:nvSpPr>
          <p:cNvPr id="77827" name="Oval 3">
            <a:extLst>
              <a:ext uri="{FF2B5EF4-FFF2-40B4-BE49-F238E27FC236}">
                <a16:creationId xmlns:a16="http://schemas.microsoft.com/office/drawing/2014/main" id="{644BE349-FD2A-AE48-BD7C-EC77E5879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5838" y="3489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828" name="Oval 4">
            <a:extLst>
              <a:ext uri="{FF2B5EF4-FFF2-40B4-BE49-F238E27FC236}">
                <a16:creationId xmlns:a16="http://schemas.microsoft.com/office/drawing/2014/main" id="{6EEBC184-20DD-F342-A3C8-4686EACCB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4038" y="3489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829" name="Oval 5">
            <a:extLst>
              <a:ext uri="{FF2B5EF4-FFF2-40B4-BE49-F238E27FC236}">
                <a16:creationId xmlns:a16="http://schemas.microsoft.com/office/drawing/2014/main" id="{B5139B32-883D-DB45-9C55-A1137654C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4438" y="25749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830" name="Oval 6">
            <a:extLst>
              <a:ext uri="{FF2B5EF4-FFF2-40B4-BE49-F238E27FC236}">
                <a16:creationId xmlns:a16="http://schemas.microsoft.com/office/drawing/2014/main" id="{9F6F0E5D-2D0D-EC45-BC1F-90CE0D99D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8838" y="26511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831" name="Line 7">
            <a:extLst>
              <a:ext uri="{FF2B5EF4-FFF2-40B4-BE49-F238E27FC236}">
                <a16:creationId xmlns:a16="http://schemas.microsoft.com/office/drawing/2014/main" id="{F3AF45ED-6220-C543-B012-27CFA185AD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2638" y="3032125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2" name="Line 8">
            <a:extLst>
              <a:ext uri="{FF2B5EF4-FFF2-40B4-BE49-F238E27FC236}">
                <a16:creationId xmlns:a16="http://schemas.microsoft.com/office/drawing/2014/main" id="{6265EB81-AFB0-4C49-8B7F-25E7E15E68E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65438" y="28035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3" name="Line 9">
            <a:extLst>
              <a:ext uri="{FF2B5EF4-FFF2-40B4-BE49-F238E27FC236}">
                <a16:creationId xmlns:a16="http://schemas.microsoft.com/office/drawing/2014/main" id="{210BE04E-ED8A-A04D-88FE-0C901F26C66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89238" y="2922588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4" name="Oval 10">
            <a:extLst>
              <a:ext uri="{FF2B5EF4-FFF2-40B4-BE49-F238E27FC236}">
                <a16:creationId xmlns:a16="http://schemas.microsoft.com/office/drawing/2014/main" id="{14D9A25A-7CF8-6949-8828-4FCA84684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6238" y="2727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835" name="Line 11">
            <a:extLst>
              <a:ext uri="{FF2B5EF4-FFF2-40B4-BE49-F238E27FC236}">
                <a16:creationId xmlns:a16="http://schemas.microsoft.com/office/drawing/2014/main" id="{BBE49851-4DA8-5348-99D1-A79112EBEDA2}"/>
              </a:ext>
            </a:extLst>
          </p:cNvPr>
          <p:cNvSpPr>
            <a:spLocks noChangeShapeType="1"/>
          </p:cNvSpPr>
          <p:nvPr/>
        </p:nvSpPr>
        <p:spPr bwMode="auto">
          <a:xfrm>
            <a:off x="1951038" y="3108325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6" name="Line 12">
            <a:extLst>
              <a:ext uri="{FF2B5EF4-FFF2-40B4-BE49-F238E27FC236}">
                <a16:creationId xmlns:a16="http://schemas.microsoft.com/office/drawing/2014/main" id="{8607E44A-2F4A-2C48-8529-32BA94C9A2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27238" y="2803525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7" name="Oval 13">
            <a:extLst>
              <a:ext uri="{FF2B5EF4-FFF2-40B4-BE49-F238E27FC236}">
                <a16:creationId xmlns:a16="http://schemas.microsoft.com/office/drawing/2014/main" id="{0CA4F71D-5992-514B-AB2D-17B8714233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238" y="44037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838" name="Oval 14">
            <a:extLst>
              <a:ext uri="{FF2B5EF4-FFF2-40B4-BE49-F238E27FC236}">
                <a16:creationId xmlns:a16="http://schemas.microsoft.com/office/drawing/2014/main" id="{3A41FE7A-1C8B-E64A-8458-2D4437801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44037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839" name="Line 15">
            <a:extLst>
              <a:ext uri="{FF2B5EF4-FFF2-40B4-BE49-F238E27FC236}">
                <a16:creationId xmlns:a16="http://schemas.microsoft.com/office/drawing/2014/main" id="{21F5D09C-AC39-D74A-9DB3-8D2B0D169F8C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8238" y="4632325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40" name="Line 16">
            <a:extLst>
              <a:ext uri="{FF2B5EF4-FFF2-40B4-BE49-F238E27FC236}">
                <a16:creationId xmlns:a16="http://schemas.microsoft.com/office/drawing/2014/main" id="{B490FD9E-6A38-B74D-B606-F74FFC948D1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60638" y="3794125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41" name="Line 17">
            <a:extLst>
              <a:ext uri="{FF2B5EF4-FFF2-40B4-BE49-F238E27FC236}">
                <a16:creationId xmlns:a16="http://schemas.microsoft.com/office/drawing/2014/main" id="{4B7C3F0B-7B09-9F46-8528-15FB636F24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55838" y="3870325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42" name="Oval 18">
            <a:extLst>
              <a:ext uri="{FF2B5EF4-FFF2-40B4-BE49-F238E27FC236}">
                <a16:creationId xmlns:a16="http://schemas.microsoft.com/office/drawing/2014/main" id="{94191544-C834-4445-82B2-6A033729B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3838" y="37179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843" name="Line 19">
            <a:extLst>
              <a:ext uri="{FF2B5EF4-FFF2-40B4-BE49-F238E27FC236}">
                <a16:creationId xmlns:a16="http://schemas.microsoft.com/office/drawing/2014/main" id="{551955F2-8740-114C-B9DF-0AB43A9C86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2438" y="3108325"/>
            <a:ext cx="1524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44" name="Line 20">
            <a:extLst>
              <a:ext uri="{FF2B5EF4-FFF2-40B4-BE49-F238E27FC236}">
                <a16:creationId xmlns:a16="http://schemas.microsoft.com/office/drawing/2014/main" id="{986A9D84-A606-B64D-AB73-557059323DD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409892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45" name="Text Box 22">
            <a:extLst>
              <a:ext uri="{FF2B5EF4-FFF2-40B4-BE49-F238E27FC236}">
                <a16:creationId xmlns:a16="http://schemas.microsoft.com/office/drawing/2014/main" id="{0F0761A1-C64E-E447-A1AD-936751B581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8538" y="5119688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8" name="Line 19">
            <a:extLst>
              <a:ext uri="{FF2B5EF4-FFF2-40B4-BE49-F238E27FC236}">
                <a16:creationId xmlns:a16="http://schemas.microsoft.com/office/drawing/2014/main" id="{D71429AD-01CE-974F-97FB-F1F6287D78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68463" y="3108325"/>
            <a:ext cx="152400" cy="6096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C826AD58-F709-3946-A2F6-565CB7D48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3713" y="3582988"/>
            <a:ext cx="36036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</a:rPr>
              <a:t>√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EF65AC51-F865-484E-AC24-C30565A92B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3" y="2359025"/>
            <a:ext cx="36036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</a:rPr>
              <a:t>√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E46D94D3-3526-BD44-90DB-205EA04B8D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8175" y="4725988"/>
            <a:ext cx="3603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</a:rPr>
              <a:t>√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77216AF-0D71-B24E-9A7C-EADBD3B56D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9975" y="3151188"/>
            <a:ext cx="3603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</a:rPr>
              <a:t>√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A790C5D-A375-2046-B8B7-95E2B1651F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3575" y="4446588"/>
            <a:ext cx="36036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</a:rPr>
              <a:t>√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9E278393-9B75-9A4D-9BC4-949EA4687D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7313" y="2286000"/>
            <a:ext cx="36036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</a:rPr>
              <a:t>√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732732C4-63D5-CB4B-9691-48F7152C62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35375" y="2278063"/>
            <a:ext cx="3603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</a:rPr>
              <a:t>√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C00E7883-EDC4-7049-8A35-109C9BD70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9475" y="3438525"/>
            <a:ext cx="3603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1800">
                <a:solidFill>
                  <a:srgbClr val="FF0000"/>
                </a:solidFill>
              </a:rPr>
              <a:t>√</a:t>
            </a:r>
          </a:p>
        </p:txBody>
      </p:sp>
      <p:sp>
        <p:nvSpPr>
          <p:cNvPr id="67" name="Line 20">
            <a:extLst>
              <a:ext uri="{FF2B5EF4-FFF2-40B4-BE49-F238E27FC236}">
                <a16:creationId xmlns:a16="http://schemas.microsoft.com/office/drawing/2014/main" id="{12EE567B-E62D-AB49-BFC8-A30BDE20461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49425" y="4130675"/>
            <a:ext cx="288925" cy="3810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Line 17">
            <a:extLst>
              <a:ext uri="{FF2B5EF4-FFF2-40B4-BE49-F238E27FC236}">
                <a16:creationId xmlns:a16="http://schemas.microsoft.com/office/drawing/2014/main" id="{B50E7B5E-D7F8-A84B-AF51-42C19BFEB4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01875" y="3870325"/>
            <a:ext cx="152400" cy="5334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Line 16">
            <a:extLst>
              <a:ext uri="{FF2B5EF4-FFF2-40B4-BE49-F238E27FC236}">
                <a16:creationId xmlns:a16="http://schemas.microsoft.com/office/drawing/2014/main" id="{E184CBDF-49A5-A045-B581-62F1ACCAAF3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13025" y="3798888"/>
            <a:ext cx="381000" cy="6096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右箭头 69">
            <a:extLst>
              <a:ext uri="{FF2B5EF4-FFF2-40B4-BE49-F238E27FC236}">
                <a16:creationId xmlns:a16="http://schemas.microsoft.com/office/drawing/2014/main" id="{489466E5-84F0-4F49-9472-F80DDFB2A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6375" y="2790825"/>
            <a:ext cx="142875" cy="2159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71" name="Line 12">
            <a:extLst>
              <a:ext uri="{FF2B5EF4-FFF2-40B4-BE49-F238E27FC236}">
                <a16:creationId xmlns:a16="http://schemas.microsoft.com/office/drawing/2014/main" id="{BBBC396F-A11A-6C49-A762-2C8A9B08DE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27238" y="2747963"/>
            <a:ext cx="457200" cy="762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Line 9">
            <a:extLst>
              <a:ext uri="{FF2B5EF4-FFF2-40B4-BE49-F238E27FC236}">
                <a16:creationId xmlns:a16="http://schemas.microsoft.com/office/drawing/2014/main" id="{271BDC4A-5BE8-5846-8EFB-D7DA9372AD7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43200" y="2959100"/>
            <a:ext cx="381000" cy="6096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Line 7">
            <a:extLst>
              <a:ext uri="{FF2B5EF4-FFF2-40B4-BE49-F238E27FC236}">
                <a16:creationId xmlns:a16="http://schemas.microsoft.com/office/drawing/2014/main" id="{B6323D56-E494-A949-9994-B9C40A1F08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76613" y="3021013"/>
            <a:ext cx="228600" cy="4572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3609539-FA7E-0E4A-B481-B98C32768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9338" y="1916113"/>
            <a:ext cx="34575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/>
              <a:t>本次访问的顶点序列：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EE6BE66-9672-7547-A8D7-C3AD64F5D5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239077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4A2FF957-A879-464A-945D-8EC774B9D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239077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E05A05C1-6561-3B4A-B673-16F9BAD952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4525" y="239077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G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C97B153C-5FFC-8340-8E04-EB22FFA5A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4888" y="239077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F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D5FF22E7-8137-5042-87E3-5519C1770A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239077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H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76C3569A-2534-6343-B7BA-56F9C8F3A7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5463" y="2390775"/>
            <a:ext cx="4333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B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CE542CFD-2333-4741-8E69-5D7CB75F1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390775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D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0BB61411-BD10-3F49-9383-35FADF1E3E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67625" y="2390775"/>
            <a:ext cx="4333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C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127BFDD0-5903-0340-9CB2-90F9DA2C3D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8102" y="2879725"/>
            <a:ext cx="450004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/>
              <a:t>深度优先其它的顶点访问序列：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42FB64F7-9DD1-694C-BECD-A12B2552A8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3327400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4EF685C-BECE-E345-9CE6-2F486DE22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3327400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F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39142D72-B9AF-E947-8EC7-C7D6564E8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4525" y="3327400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G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95C14DE1-F367-7E4D-BA69-B06C5B91C6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4888" y="3327400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E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5427BB32-4426-0146-8A60-224CB68C63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3327400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H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A7984A64-F13F-124F-90FB-03FA60D41B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5463" y="3327400"/>
            <a:ext cx="43338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B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D2B706D3-C281-034D-AF67-C78039B93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32581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D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3A7A00B7-4A92-5A44-B72A-43FF6E541D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67625" y="3327400"/>
            <a:ext cx="4333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C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6C4BF7E8-B904-5C4E-925C-B1A7BB93D8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3759200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C3C1421E-C1F7-D240-B694-8D8DE46387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3759200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B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10C856F8-0876-2740-8001-1DDF2B8098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4525" y="3759200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C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A0DDEF5-5F5E-EC49-B844-7015A8012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4888" y="3759200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D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7138C4EA-7D2E-A747-A32F-0C24EFBB91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3759200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E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62CCADEB-6920-FA4E-803F-64CF894130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5463" y="3759200"/>
            <a:ext cx="4333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G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959AA895-E691-C14C-B775-2AA99A2DD4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75761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H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4D1CBE2-44BE-B24D-96D6-086B0455AB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67625" y="3759200"/>
            <a:ext cx="4333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F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D525B20-AE97-8E4F-920D-CE02927748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4888" y="4046538"/>
            <a:ext cx="12239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……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65B19F6B-83A3-444B-AAC8-84595AC40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477" y="4394639"/>
            <a:ext cx="5134421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/>
              <a:t>按照深度优先规则不可能的顶点访问序列：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522CBD8-E48F-A046-9DF4-4336CDE47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2375" y="4983163"/>
            <a:ext cx="433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EF4D920F-D9DE-CC40-97A1-D01BEE51CF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2738" y="49831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9D11BA5-7EB3-4D42-ACC7-504C5C72B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3100" y="49831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C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2F5AE0C7-A3FD-7642-B094-CCF1AF7A9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3463" y="49831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F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132C26BE-5146-484B-9933-1659A9434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3825" y="49831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H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ABFE9975-64C9-F64C-BD62-34B3DF65BF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5625" y="49831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B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5ED32E-712C-1348-ABB3-FE73C30E3F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988" y="498157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D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202B3453-7140-7B45-89C4-42381FDD0C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7788" y="49831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G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4CE2F1E7-A2B4-0D44-AEB5-8B3DDD49F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6325" y="5199063"/>
            <a:ext cx="12239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……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7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2361 0.14682 " pathEditMode="relative" ptsTypes="AA">
                                      <p:cBhvr>
                                        <p:cTn id="1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0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518 0.14798 L 0.03003 0.25272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60" y="52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32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316 0.24856 L 0.06458 0.12278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3" y="-62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4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3" presetID="0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02 0.12278 L 0.12604 0.24856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42" y="62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0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604 0.24879 L 0.06302 0.12301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60" y="-62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0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024 0.12648 L 0.02882 0.25226 " pathEditMode="relative" rAng="0" ptsTypes="AA">
                                      <p:cBhvr>
                                        <p:cTn id="6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80" y="62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0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42 0.25087 L -0.02361 0.14613 " pathEditMode="relative" rAng="0" ptsTypes="AA">
                                      <p:cBhvr>
                                        <p:cTn id="70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60" y="-52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0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518 0.1459 L -0.00938 -0.00092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81" y="-73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1" presetID="0" presetClass="path" presetSubtype="0" accel="50000" decel="50000" fill="hold" grpId="9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0.00208 L 0.08507 -0.02936 " pathEditMode="relative" rAng="0" ptsTypes="AA">
                                      <p:cBhvr>
                                        <p:cTn id="82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104" y="-157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84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3" presetID="0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194 -0.03237 L 0.15278 0.11445 " pathEditMode="relative" rAng="0" ptsTypes="AA">
                                      <p:cBhvr>
                                        <p:cTn id="94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42" y="732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9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5" presetID="0" presetClass="path" presetSubtype="0" accel="50000" decel="50000" fill="hold" grpId="1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826 0.11237 L 0.18767 -0.02404 " pathEditMode="relative" rAng="0" ptsTypes="AA">
                                      <p:cBhvr>
                                        <p:cTn id="10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62" y="-68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0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0" presetClass="path" presetSubtype="0" accel="50000" decel="50000" fill="hold" grpId="1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875 -0.02404 L 0.14809 0.11237 " pathEditMode="relative" rAng="0" ptsTypes="AA">
                                      <p:cBhvr>
                                        <p:cTn id="114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9" y="68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0" presetClass="path" presetSubtype="0" accel="50000" decel="50000" fill="hold" grpId="1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809 0.11445 L 0.08507 -0.02196 " pathEditMode="relative" rAng="0" ptsTypes="AA">
                                      <p:cBhvr>
                                        <p:cTn id="11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60" y="-68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0" presetClass="path" presetSubtype="0" accel="50000" decel="50000" fill="hold" grpId="1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351 -0.02196 L -0.01094 -0.00092 " pathEditMode="relative" rAng="0" ptsTypes="AA">
                                      <p:cBhvr>
                                        <p:cTn id="122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22" y="10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9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3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37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4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4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49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5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57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9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 nodeType="clickPar">
                      <p:stCondLst>
                        <p:cond delay="indefinite"/>
                      </p:stCondLst>
                      <p:childTnLst>
                        <p:par>
                          <p:cTn id="1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0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9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2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5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4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0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3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6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9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 nodeType="clickPar">
                      <p:stCondLst>
                        <p:cond delay="indefinite"/>
                      </p:stCondLst>
                      <p:childTnLst>
                        <p:par>
                          <p:cTn id="2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6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9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2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8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70" grpId="0" animBg="1"/>
      <p:bldP spid="70" grpId="1" animBg="1"/>
      <p:bldP spid="70" grpId="2" animBg="1"/>
      <p:bldP spid="70" grpId="3" animBg="1"/>
      <p:bldP spid="70" grpId="4" animBg="1"/>
      <p:bldP spid="70" grpId="5" animBg="1"/>
      <p:bldP spid="70" grpId="6" animBg="1"/>
      <p:bldP spid="70" grpId="7" animBg="1"/>
      <p:bldP spid="70" grpId="8" animBg="1"/>
      <p:bldP spid="70" grpId="9" animBg="1"/>
      <p:bldP spid="70" grpId="10" animBg="1"/>
      <p:bldP spid="70" grpId="11" animBg="1"/>
      <p:bldP spid="70" grpId="12" animBg="1"/>
      <p:bldP spid="70" grpId="13" animBg="1"/>
      <p:bldP spid="70" grpId="14" animBg="1"/>
      <p:bldP spid="74" grpId="0"/>
      <p:bldP spid="83" grpId="0"/>
      <p:bldP spid="101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灯片编号占位符 3">
            <a:extLst>
              <a:ext uri="{FF2B5EF4-FFF2-40B4-BE49-F238E27FC236}">
                <a16:creationId xmlns:a16="http://schemas.microsoft.com/office/drawing/2014/main" id="{C1EF745E-EF9B-F344-8268-494770BF03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0B8CDA7-504F-1C44-8FB8-B51D4B81DA9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79874" name="Text Box 38">
            <a:extLst>
              <a:ext uri="{FF2B5EF4-FFF2-40B4-BE49-F238E27FC236}">
                <a16:creationId xmlns:a16="http://schemas.microsoft.com/office/drawing/2014/main" id="{255BEE7C-8A29-2741-9FEA-E947DA653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00" y="333375"/>
            <a:ext cx="8820150" cy="600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latin typeface="宋体" panose="02010600030101010101" pitchFamily="2" charset="-122"/>
              </a:rPr>
              <a:t>深度优先搜索遍历算法代码（假定结点序号从</a:t>
            </a:r>
            <a:r>
              <a:rPr lang="en-US" altLang="zh-CN" sz="2400">
                <a:latin typeface="宋体" panose="02010600030101010101" pitchFamily="2" charset="-122"/>
              </a:rPr>
              <a:t>0</a:t>
            </a:r>
            <a:r>
              <a:rPr lang="zh-CN" altLang="en-US" sz="2400">
                <a:latin typeface="宋体" panose="02010600030101010101" pitchFamily="2" charset="-122"/>
              </a:rPr>
              <a:t>开始）：</a:t>
            </a:r>
            <a:endParaRPr lang="en-US" altLang="zh-CN" sz="240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boolean visited[MAX];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void DFSTraverse(Graph G,Status (*visit)())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for(v=0;v&lt;G.vexnum; v++)    //</a:t>
            </a:r>
            <a:r>
              <a:rPr lang="zh-CN" altLang="en-US" sz="2400">
                <a:latin typeface="宋体" panose="02010600030101010101" pitchFamily="2" charset="-122"/>
              </a:rPr>
              <a:t>初始化各顶点未访问状态</a:t>
            </a:r>
            <a:endParaRPr lang="en-US" altLang="zh-CN" sz="240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visited[v]=false;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for(v=0;v&lt;G.vexnum; v++)  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if (!visited[v])         //</a:t>
            </a:r>
            <a:r>
              <a:rPr lang="zh-CN" altLang="en-US" sz="2400">
                <a:latin typeface="宋体" panose="02010600030101010101" pitchFamily="2" charset="-122"/>
              </a:rPr>
              <a:t>从一个未访问的顶点开始</a:t>
            </a:r>
            <a:endParaRPr lang="en-US" altLang="zh-CN" sz="240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	   DFS(G, v, visit);	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void DFS(Graph G,int v,Status (*visit)())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visited[v]=true; visit(v);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for(w=FirstAdjVex(G,v),w&gt;=0; w=NextAdjVex(G,v,w))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   if (!visited[w])     //</a:t>
            </a:r>
            <a:r>
              <a:rPr lang="zh-CN" altLang="en-US" sz="2400">
                <a:latin typeface="宋体" panose="02010600030101010101" pitchFamily="2" charset="-122"/>
              </a:rPr>
              <a:t>处理所有未访问的邻接顶点</a:t>
            </a:r>
            <a:endParaRPr lang="en-US" altLang="zh-CN" sz="240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		 DFS(G, w,visit);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2400">
              <a:latin typeface="宋体" panose="02010600030101010101" pitchFamily="2" charset="-122"/>
            </a:endParaRPr>
          </a:p>
        </p:txBody>
      </p:sp>
      <p:sp>
        <p:nvSpPr>
          <p:cNvPr id="6" name="Text Box 38">
            <a:extLst>
              <a:ext uri="{FF2B5EF4-FFF2-40B4-BE49-F238E27FC236}">
                <a16:creationId xmlns:a16="http://schemas.microsoft.com/office/drawing/2014/main" id="{B4138967-97AF-5F4F-9FB8-D960B95162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5388" y="5229225"/>
            <a:ext cx="413861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邻接矩阵：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=O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邻 接 表：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=O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n+e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</a:p>
        </p:txBody>
      </p:sp>
      <p:sp>
        <p:nvSpPr>
          <p:cNvPr id="7" name="右箭头 6">
            <a:extLst>
              <a:ext uri="{FF2B5EF4-FFF2-40B4-BE49-F238E27FC236}">
                <a16:creationId xmlns:a16="http://schemas.microsoft.com/office/drawing/2014/main" id="{9D8A1D84-99F9-EC46-96AB-9FDAFA09B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8" y="1557338"/>
            <a:ext cx="215900" cy="2159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F1270E3A-4665-B94D-87F0-7BA4E717F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650" y="1512888"/>
            <a:ext cx="8137525" cy="720725"/>
          </a:xfrm>
          <a:prstGeom prst="rect">
            <a:avLst/>
          </a:prstGeom>
          <a:noFill/>
          <a:ln w="28575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B1A7C794-3B2A-C440-857B-63DF49341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650" y="2233613"/>
            <a:ext cx="8137525" cy="719137"/>
          </a:xfrm>
          <a:prstGeom prst="rect">
            <a:avLst/>
          </a:prstGeom>
          <a:noFill/>
          <a:ln w="28575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F0B4298D-C201-F641-B1C8-063B01402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650" y="4437063"/>
            <a:ext cx="8280400" cy="720725"/>
          </a:xfrm>
          <a:prstGeom prst="rect">
            <a:avLst/>
          </a:prstGeom>
          <a:noFill/>
          <a:ln w="28575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11537 " pathEditMode="relative" ptsTypes="AA">
                                      <p:cBhvr>
                                        <p:cTn id="14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6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0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0.11214 L 0.07726 0.21711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41" y="52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7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0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483 0.21295 L -0.0118 0.38058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340" y="83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0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18 0.38058 L -0.0118 0.43515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7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0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18 0.42891 L 0.16146 0.53388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663" y="52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7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73 0.53457 C 0.16129 0.52971 0.16285 0.52856 0.16528 0.52208 C 0.16598 0.52 0.16563 0.51746 0.16685 0.51584 C 0.16858 0.51353 0.17119 0.51307 0.17327 0.51168 C 0.17935 0.50312 0.18178 0.50104 0.19063 0.49896 C 0.23924 0.50174 0.28143 0.50844 0.32882 0.51376 C 0.35782 0.51677 0.38698 0.51515 0.41598 0.51584 C 0.42917 0.51677 0.44341 0.51376 0.45573 0.52 C 0.45747 0.52093 0.45869 0.52324 0.46042 0.5244 C 0.46198 0.52532 0.46372 0.52578 0.46528 0.52648 C 0.47014 0.53087 0.4724 0.53573 0.47639 0.54128 C 0.47587 0.5526 0.4757 0.5637 0.47483 0.5748 C 0.47292 0.59977 0.45105 0.60185 0.43664 0.60463 C 0.3382 0.60347 0.30747 0.60347 0.23351 0.59838 C 0.21337 0.59515 0.19341 0.58891 0.17327 0.58567 C 0.14688 0.58128 0.12014 0.57896 0.09393 0.5748 C 0.07778 0.56971 0.06181 0.56255 0.04636 0.55607 C 0.03994 0.54682 0.04723 0.55538 0.03525 0.5496 C 0.03351 0.54867 0.03212 0.54613 0.03039 0.54544 C 0.02848 0.54405 0.02605 0.54405 0.02396 0.54336 C 0.02205 0.54197 0.01962 0.54081 0.01789 0.53919 C 0.01441 0.53665 0.00834 0.53041 0.00834 0.53087 C 0.00747 0.52786 0.00643 0.52463 0.00504 0.52208 C 0.00365 0.52023 0.00191 0.51954 0.00053 0.51792 C -0.00243 0.51422 -0.00746 0.5059 -0.00937 0.50104 C -0.01076 0.49688 -0.01145 0.49226 -0.0125 0.4881 C -0.01302 0.48625 -0.01406 0.48208 -0.01406 0.48232 C -0.01614 0.45896 -0.01701 0.42914 -0.02517 0.4081 C -0.02673 0.36948 -0.02795 0.32694 -0.01406 0.2918 C -0.01093 0.26798 -0.0052 0.24486 0.00053 0.22197 C -0.00034 0.19515 -0.00034 0.16833 -0.00138 0.14174 C -0.00173 0.13133 -0.00451 0.12301 -0.00451 0.11214 " pathEditMode="relative" rAng="0" ptsTypes="fffffffffffffffffffffffffffffffA">
                                      <p:cBhvr>
                                        <p:cTn id="5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684" y="-176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7" grpId="1" animBg="1"/>
      <p:bldP spid="7" grpId="2" animBg="1"/>
      <p:bldP spid="7" grpId="3" animBg="1"/>
      <p:bldP spid="7" grpId="4" animBg="1"/>
      <p:bldP spid="7" grpId="5" animBg="1"/>
      <p:bldP spid="7" grpId="6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0C035EB-BB14-31E0-668B-B32F1676431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854FC593-F3E3-FB4E-9A98-0D442DC8DCE8}" type="slidenum">
              <a:rPr lang="en-US" altLang="zh-CN" smtClean="0"/>
              <a:pPr>
                <a:defRPr/>
              </a:pPr>
              <a:t>37</a:t>
            </a:fld>
            <a:endParaRPr lang="en-US" altLang="zh-CN"/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98A5B344-2406-ECAA-6CF8-B91486E9B48B}"/>
              </a:ext>
            </a:extLst>
          </p:cNvPr>
          <p:cNvSpPr txBox="1"/>
          <p:nvPr/>
        </p:nvSpPr>
        <p:spPr>
          <a:xfrm>
            <a:off x="621804" y="548680"/>
            <a:ext cx="790039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>
                <a:latin typeface="+mn-ea"/>
                <a:ea typeface="+mn-ea"/>
              </a:rPr>
              <a:t>在</a:t>
            </a:r>
            <a:r>
              <a:rPr kumimoji="1" lang="en-US" altLang="zh-CN" dirty="0">
                <a:latin typeface="+mn-ea"/>
                <a:ea typeface="+mn-ea"/>
              </a:rPr>
              <a:t>c</a:t>
            </a:r>
            <a:r>
              <a:rPr kumimoji="1" lang="zh-CN" altLang="en-US" dirty="0">
                <a:latin typeface="+mn-ea"/>
                <a:ea typeface="+mn-ea"/>
              </a:rPr>
              <a:t>语言中，我们可以有指向函数的指针</a:t>
            </a:r>
            <a:endParaRPr kumimoji="1" lang="en-US" altLang="zh-CN" dirty="0">
              <a:latin typeface="+mn-ea"/>
              <a:ea typeface="+mn-ea"/>
            </a:endParaRPr>
          </a:p>
          <a:p>
            <a:r>
              <a:rPr lang="zh-CN" altLang="en-US" dirty="0">
                <a:latin typeface="+mn-ea"/>
                <a:ea typeface="+mn-ea"/>
              </a:rPr>
              <a:t>声明：</a:t>
            </a:r>
            <a:endParaRPr lang="en-US" altLang="zh-CN" dirty="0">
              <a:latin typeface="+mn-ea"/>
              <a:ea typeface="+mn-ea"/>
            </a:endParaRPr>
          </a:p>
          <a:p>
            <a:r>
              <a:rPr kumimoji="1" lang="zh-CN" altLang="en-US" dirty="0">
                <a:latin typeface="+mn-ea"/>
                <a:ea typeface="+mn-ea"/>
              </a:rPr>
              <a:t> </a:t>
            </a:r>
            <a:r>
              <a:rPr kumimoji="1" lang="en-US" altLang="zh-CN" dirty="0">
                <a:latin typeface="+mn-ea"/>
                <a:ea typeface="+mn-ea"/>
              </a:rPr>
              <a:t>	</a:t>
            </a:r>
            <a:r>
              <a:rPr kumimoji="1" lang="zh-CN" altLang="en-US" dirty="0">
                <a:latin typeface="+mn-ea"/>
                <a:ea typeface="+mn-ea"/>
              </a:rPr>
              <a:t>函数返回类型 （*函数指针名）（函数参数类型）</a:t>
            </a:r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9C423D14-B9BD-FB2D-7D76-655B27673BB0}"/>
              </a:ext>
            </a:extLst>
          </p:cNvPr>
          <p:cNvGrpSpPr/>
          <p:nvPr/>
        </p:nvGrpSpPr>
        <p:grpSpPr>
          <a:xfrm>
            <a:off x="2857138" y="1667024"/>
            <a:ext cx="5692298" cy="2867245"/>
            <a:chOff x="1612856" y="1844824"/>
            <a:chExt cx="5692298" cy="2867245"/>
          </a:xfrm>
        </p:grpSpPr>
        <p:pic>
          <p:nvPicPr>
            <p:cNvPr id="6" name="图片 5">
              <a:extLst>
                <a:ext uri="{FF2B5EF4-FFF2-40B4-BE49-F238E27FC236}">
                  <a16:creationId xmlns:a16="http://schemas.microsoft.com/office/drawing/2014/main" id="{9C64C77A-2DB1-08B7-6907-69D431B8D92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763688" y="1844824"/>
              <a:ext cx="5541466" cy="2415830"/>
            </a:xfrm>
            <a:prstGeom prst="rect">
              <a:avLst/>
            </a:prstGeom>
          </p:spPr>
        </p:pic>
        <p:pic>
          <p:nvPicPr>
            <p:cNvPr id="7" name="图片 6">
              <a:extLst>
                <a:ext uri="{FF2B5EF4-FFF2-40B4-BE49-F238E27FC236}">
                  <a16:creationId xmlns:a16="http://schemas.microsoft.com/office/drawing/2014/main" id="{527AF7EC-95D2-6273-989E-5A064A31D6D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882254" y="4356469"/>
              <a:ext cx="5422900" cy="355600"/>
            </a:xfrm>
            <a:prstGeom prst="rect">
              <a:avLst/>
            </a:prstGeom>
          </p:spPr>
        </p:pic>
        <p:sp>
          <p:nvSpPr>
            <p:cNvPr id="9" name="左大括号 8">
              <a:extLst>
                <a:ext uri="{FF2B5EF4-FFF2-40B4-BE49-F238E27FC236}">
                  <a16:creationId xmlns:a16="http://schemas.microsoft.com/office/drawing/2014/main" id="{59D338F8-F269-DCCC-7F90-E38CC77B135D}"/>
                </a:ext>
              </a:extLst>
            </p:cNvPr>
            <p:cNvSpPr/>
            <p:nvPr/>
          </p:nvSpPr>
          <p:spPr bwMode="auto">
            <a:xfrm>
              <a:off x="1612856" y="3570673"/>
              <a:ext cx="144016" cy="1141396"/>
            </a:xfrm>
            <a:prstGeom prst="leftBrac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miter lim="800000"/>
              <a:headEnd type="none" w="med" len="med"/>
              <a:tailEnd type="none"/>
            </a:ln>
            <a:effectLst/>
          </p:spPr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sp>
        <p:nvSpPr>
          <p:cNvPr id="10" name="文本框 9">
            <a:extLst>
              <a:ext uri="{FF2B5EF4-FFF2-40B4-BE49-F238E27FC236}">
                <a16:creationId xmlns:a16="http://schemas.microsoft.com/office/drawing/2014/main" id="{A9307ED1-6B94-44BC-F2E1-302D6FE7D4A1}"/>
              </a:ext>
            </a:extLst>
          </p:cNvPr>
          <p:cNvSpPr txBox="1"/>
          <p:nvPr/>
        </p:nvSpPr>
        <p:spPr>
          <a:xfrm>
            <a:off x="631706" y="3524710"/>
            <a:ext cx="2376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sz="2000" dirty="0"/>
              <a:t>函数名本身可以用来获取函数地址</a:t>
            </a:r>
          </a:p>
        </p:txBody>
      </p: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6D1258BE-B513-1E23-5846-848EB7CE9CE3}"/>
              </a:ext>
            </a:extLst>
          </p:cNvPr>
          <p:cNvGrpSpPr/>
          <p:nvPr/>
        </p:nvGrpSpPr>
        <p:grpSpPr>
          <a:xfrm>
            <a:off x="1043608" y="4703560"/>
            <a:ext cx="7386418" cy="1116654"/>
            <a:chOff x="347986" y="4837586"/>
            <a:chExt cx="7386418" cy="1116654"/>
          </a:xfrm>
        </p:grpSpPr>
        <p:pic>
          <p:nvPicPr>
            <p:cNvPr id="12" name="图片 11">
              <a:extLst>
                <a:ext uri="{FF2B5EF4-FFF2-40B4-BE49-F238E27FC236}">
                  <a16:creationId xmlns:a16="http://schemas.microsoft.com/office/drawing/2014/main" id="{39CC38DC-B322-84F7-55FA-86C69F9A1AB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035404" y="4837586"/>
              <a:ext cx="4699000" cy="609600"/>
            </a:xfrm>
            <a:prstGeom prst="rect">
              <a:avLst/>
            </a:prstGeom>
          </p:spPr>
        </p:pic>
        <p:pic>
          <p:nvPicPr>
            <p:cNvPr id="13" name="图片 12">
              <a:extLst>
                <a:ext uri="{FF2B5EF4-FFF2-40B4-BE49-F238E27FC236}">
                  <a16:creationId xmlns:a16="http://schemas.microsoft.com/office/drawing/2014/main" id="{C3A9D2CA-F47C-3498-3510-89918976401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035404" y="5535140"/>
              <a:ext cx="3657600" cy="419100"/>
            </a:xfrm>
            <a:prstGeom prst="rect">
              <a:avLst/>
            </a:prstGeom>
          </p:spPr>
        </p:pic>
        <p:sp>
          <p:nvSpPr>
            <p:cNvPr id="14" name="左大括号 13">
              <a:extLst>
                <a:ext uri="{FF2B5EF4-FFF2-40B4-BE49-F238E27FC236}">
                  <a16:creationId xmlns:a16="http://schemas.microsoft.com/office/drawing/2014/main" id="{69E00FCA-E639-EDF0-B99E-58D8DE7EBF80}"/>
                </a:ext>
              </a:extLst>
            </p:cNvPr>
            <p:cNvSpPr/>
            <p:nvPr/>
          </p:nvSpPr>
          <p:spPr bwMode="auto">
            <a:xfrm>
              <a:off x="2791530" y="4922900"/>
              <a:ext cx="144016" cy="821790"/>
            </a:xfrm>
            <a:prstGeom prst="leftBrac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miter lim="800000"/>
              <a:headEnd type="none" w="med" len="med"/>
              <a:tailEnd type="none"/>
            </a:ln>
            <a:effectLst/>
          </p:spPr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68D9858D-253E-520C-3AD3-56BEE57ABEBC}"/>
                </a:ext>
              </a:extLst>
            </p:cNvPr>
            <p:cNvSpPr txBox="1"/>
            <p:nvPr/>
          </p:nvSpPr>
          <p:spPr>
            <a:xfrm>
              <a:off x="347986" y="4967779"/>
              <a:ext cx="2515552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zh-CN" altLang="en-US" sz="2000" dirty="0"/>
                <a:t>通过函数指针使用该函数也有两种方式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5197028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82E88A64-766A-C88C-361B-1D5BFB4DA5D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854FC593-F3E3-FB4E-9A98-0D442DC8DCE8}" type="slidenum">
              <a:rPr lang="en-US" altLang="zh-CN" smtClean="0"/>
              <a:pPr>
                <a:defRPr/>
              </a:pPr>
              <a:t>38</a:t>
            </a:fld>
            <a:endParaRPr lang="en-US" altLang="zh-CN"/>
          </a:p>
        </p:txBody>
      </p:sp>
      <p:sp>
        <p:nvSpPr>
          <p:cNvPr id="6" name="AutoShape 2" descr="Depth First Search Algorithm | DFS Example | Gate Vidyalay">
            <a:extLst>
              <a:ext uri="{FF2B5EF4-FFF2-40B4-BE49-F238E27FC236}">
                <a16:creationId xmlns:a16="http://schemas.microsoft.com/office/drawing/2014/main" id="{A6B69820-F3A5-1E9C-76DD-6BCDB35E15D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419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E2E7B11B-F9B0-621F-DF05-9F0DE1AA526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642" y="1617914"/>
            <a:ext cx="3238753" cy="1800200"/>
          </a:xfrm>
          <a:prstGeom prst="rect">
            <a:avLst/>
          </a:prstGeom>
        </p:spPr>
      </p:pic>
      <p:sp>
        <p:nvSpPr>
          <p:cNvPr id="8" name="文本框 1">
            <a:extLst>
              <a:ext uri="{FF2B5EF4-FFF2-40B4-BE49-F238E27FC236}">
                <a16:creationId xmlns:a16="http://schemas.microsoft.com/office/drawing/2014/main" id="{004D2DAF-DA02-1210-DDBA-3D8E43FF37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3928" y="5442538"/>
            <a:ext cx="5545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b="0" dirty="0">
                <a:highlight>
                  <a:srgbClr val="00FFFF"/>
                </a:highlight>
              </a:rPr>
              <a:t>一个连通分量对应此处一个</a:t>
            </a:r>
            <a:r>
              <a:rPr lang="en-US" altLang="zh-CN" b="0" dirty="0">
                <a:highlight>
                  <a:srgbClr val="00FFFF"/>
                </a:highlight>
              </a:rPr>
              <a:t>DFS</a:t>
            </a:r>
            <a:endParaRPr lang="zh-CN" altLang="en-US" b="0" dirty="0">
              <a:highlight>
                <a:srgbClr val="00FFFF"/>
              </a:highlight>
            </a:endParaRPr>
          </a:p>
        </p:txBody>
      </p:sp>
      <p:sp>
        <p:nvSpPr>
          <p:cNvPr id="9" name="椭圆 8">
            <a:extLst>
              <a:ext uri="{FF2B5EF4-FFF2-40B4-BE49-F238E27FC236}">
                <a16:creationId xmlns:a16="http://schemas.microsoft.com/office/drawing/2014/main" id="{54A29888-D627-6812-8BAF-CB8A40CB6CCC}"/>
              </a:ext>
            </a:extLst>
          </p:cNvPr>
          <p:cNvSpPr/>
          <p:nvPr/>
        </p:nvSpPr>
        <p:spPr bwMode="auto">
          <a:xfrm>
            <a:off x="1403648" y="3581400"/>
            <a:ext cx="432048" cy="423664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ea"/>
                <a:ea typeface="+mn-ea"/>
              </a:rPr>
              <a:t>A</a:t>
            </a:r>
            <a:endParaRPr kumimoji="1" lang="zh-CN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n-ea"/>
              <a:ea typeface="+mn-ea"/>
            </a:endParaRPr>
          </a:p>
        </p:txBody>
      </p:sp>
      <p:sp>
        <p:nvSpPr>
          <p:cNvPr id="10" name="椭圆 9">
            <a:extLst>
              <a:ext uri="{FF2B5EF4-FFF2-40B4-BE49-F238E27FC236}">
                <a16:creationId xmlns:a16="http://schemas.microsoft.com/office/drawing/2014/main" id="{56CBEAC7-614B-8AA4-73DD-17851F59F223}"/>
              </a:ext>
            </a:extLst>
          </p:cNvPr>
          <p:cNvSpPr/>
          <p:nvPr/>
        </p:nvSpPr>
        <p:spPr bwMode="auto">
          <a:xfrm>
            <a:off x="945839" y="4365104"/>
            <a:ext cx="432048" cy="423664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zh-CN" sz="1600" b="0" dirty="0">
                <a:latin typeface="+mn-ea"/>
                <a:ea typeface="+mn-ea"/>
              </a:rPr>
              <a:t>B</a:t>
            </a:r>
            <a:endParaRPr kumimoji="1" lang="zh-CN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n-ea"/>
              <a:ea typeface="+mn-ea"/>
            </a:endParaRPr>
          </a:p>
        </p:txBody>
      </p:sp>
      <p:sp>
        <p:nvSpPr>
          <p:cNvPr id="11" name="椭圆 10">
            <a:extLst>
              <a:ext uri="{FF2B5EF4-FFF2-40B4-BE49-F238E27FC236}">
                <a16:creationId xmlns:a16="http://schemas.microsoft.com/office/drawing/2014/main" id="{B3F8692A-FAF5-C2B8-B117-714BB2782439}"/>
              </a:ext>
            </a:extLst>
          </p:cNvPr>
          <p:cNvSpPr/>
          <p:nvPr/>
        </p:nvSpPr>
        <p:spPr bwMode="auto">
          <a:xfrm>
            <a:off x="2141498" y="4153272"/>
            <a:ext cx="432048" cy="423664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zh-CN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ea"/>
                <a:ea typeface="+mn-ea"/>
              </a:rPr>
              <a:t>C</a:t>
            </a:r>
            <a:endParaRPr kumimoji="1" lang="zh-CN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n-ea"/>
              <a:ea typeface="+mn-ea"/>
            </a:endParaRPr>
          </a:p>
        </p:txBody>
      </p:sp>
      <p:sp>
        <p:nvSpPr>
          <p:cNvPr id="12" name="椭圆 11">
            <a:extLst>
              <a:ext uri="{FF2B5EF4-FFF2-40B4-BE49-F238E27FC236}">
                <a16:creationId xmlns:a16="http://schemas.microsoft.com/office/drawing/2014/main" id="{1DBBBF4E-1266-8210-72C9-6E8696A567B6}"/>
              </a:ext>
            </a:extLst>
          </p:cNvPr>
          <p:cNvSpPr/>
          <p:nvPr/>
        </p:nvSpPr>
        <p:spPr bwMode="auto">
          <a:xfrm>
            <a:off x="1593302" y="5056467"/>
            <a:ext cx="432048" cy="423664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zh-CN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ea"/>
                <a:ea typeface="+mn-ea"/>
              </a:rPr>
              <a:t>D</a:t>
            </a:r>
            <a:endParaRPr kumimoji="1" lang="zh-CN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n-ea"/>
              <a:ea typeface="+mn-ea"/>
            </a:endParaRPr>
          </a:p>
        </p:txBody>
      </p:sp>
      <p:pic>
        <p:nvPicPr>
          <p:cNvPr id="13" name="图片 12">
            <a:extLst>
              <a:ext uri="{FF2B5EF4-FFF2-40B4-BE49-F238E27FC236}">
                <a16:creationId xmlns:a16="http://schemas.microsoft.com/office/drawing/2014/main" id="{08973272-F8AC-0AF0-19DA-F30EB58C3A3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60551" y="1360936"/>
            <a:ext cx="5545138" cy="3427832"/>
          </a:xfrm>
          <a:prstGeom prst="rect">
            <a:avLst/>
          </a:prstGeom>
        </p:spPr>
      </p:pic>
      <p:sp>
        <p:nvSpPr>
          <p:cNvPr id="14" name="文本框 13">
            <a:extLst>
              <a:ext uri="{FF2B5EF4-FFF2-40B4-BE49-F238E27FC236}">
                <a16:creationId xmlns:a16="http://schemas.microsoft.com/office/drawing/2014/main" id="{E8F4BFF3-5081-B047-E111-216BA641D964}"/>
              </a:ext>
            </a:extLst>
          </p:cNvPr>
          <p:cNvSpPr txBox="1"/>
          <p:nvPr/>
        </p:nvSpPr>
        <p:spPr>
          <a:xfrm>
            <a:off x="173777" y="1223795"/>
            <a:ext cx="116989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/>
              <a:t>例</a:t>
            </a:r>
            <a:r>
              <a:rPr kumimoji="1" lang="en-US" altLang="zh-CN" dirty="0"/>
              <a:t>1</a:t>
            </a:r>
            <a:endParaRPr kumimoji="1" lang="zh-CN" altLang="en-US" dirty="0"/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7E684C39-5A68-72E2-6933-1523FF1D57B0}"/>
              </a:ext>
            </a:extLst>
          </p:cNvPr>
          <p:cNvSpPr txBox="1"/>
          <p:nvPr/>
        </p:nvSpPr>
        <p:spPr>
          <a:xfrm>
            <a:off x="207990" y="3429943"/>
            <a:ext cx="116989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/>
              <a:t>例</a:t>
            </a:r>
            <a:r>
              <a:rPr lang="en-US" altLang="zh-CN" dirty="0"/>
              <a:t>2</a:t>
            </a:r>
            <a:endParaRPr kumimoji="1" lang="zh-CN" altLang="en-US" dirty="0"/>
          </a:p>
        </p:txBody>
      </p:sp>
      <p:cxnSp>
        <p:nvCxnSpPr>
          <p:cNvPr id="17" name="直线连接符 16">
            <a:extLst>
              <a:ext uri="{FF2B5EF4-FFF2-40B4-BE49-F238E27FC236}">
                <a16:creationId xmlns:a16="http://schemas.microsoft.com/office/drawing/2014/main" id="{078C6D2A-74F1-404E-9312-2E56C06FFE5F}"/>
              </a:ext>
            </a:extLst>
          </p:cNvPr>
          <p:cNvCxnSpPr>
            <a:cxnSpLocks/>
            <a:stCxn id="9" idx="3"/>
            <a:endCxn id="10" idx="7"/>
          </p:cNvCxnSpPr>
          <p:nvPr/>
        </p:nvCxnSpPr>
        <p:spPr bwMode="auto">
          <a:xfrm flipH="1">
            <a:off x="1314615" y="3943020"/>
            <a:ext cx="152305" cy="48412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/>
          </a:ln>
          <a:effectLst/>
        </p:spPr>
      </p:cxnSp>
      <p:cxnSp>
        <p:nvCxnSpPr>
          <p:cNvPr id="20" name="直线连接符 19">
            <a:extLst>
              <a:ext uri="{FF2B5EF4-FFF2-40B4-BE49-F238E27FC236}">
                <a16:creationId xmlns:a16="http://schemas.microsoft.com/office/drawing/2014/main" id="{CB83EA84-67A1-28FF-6FFB-4FF9A93799EB}"/>
              </a:ext>
            </a:extLst>
          </p:cNvPr>
          <p:cNvCxnSpPr>
            <a:cxnSpLocks/>
            <a:stCxn id="10" idx="5"/>
            <a:endCxn id="11" idx="3"/>
          </p:cNvCxnSpPr>
          <p:nvPr/>
        </p:nvCxnSpPr>
        <p:spPr bwMode="auto">
          <a:xfrm flipV="1">
            <a:off x="1314615" y="4514892"/>
            <a:ext cx="890155" cy="21183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/>
          </a:ln>
          <a:effectLst/>
        </p:spPr>
      </p:cxnSp>
      <p:cxnSp>
        <p:nvCxnSpPr>
          <p:cNvPr id="23" name="直线连接符 22">
            <a:extLst>
              <a:ext uri="{FF2B5EF4-FFF2-40B4-BE49-F238E27FC236}">
                <a16:creationId xmlns:a16="http://schemas.microsoft.com/office/drawing/2014/main" id="{9711E1B9-968E-2566-BAA4-6201EFB5359E}"/>
              </a:ext>
            </a:extLst>
          </p:cNvPr>
          <p:cNvCxnSpPr>
            <a:cxnSpLocks/>
            <a:stCxn id="9" idx="6"/>
            <a:endCxn id="11" idx="0"/>
          </p:cNvCxnSpPr>
          <p:nvPr/>
        </p:nvCxnSpPr>
        <p:spPr bwMode="auto">
          <a:xfrm>
            <a:off x="1835696" y="3793232"/>
            <a:ext cx="521826" cy="3600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/>
          </a:ln>
          <a:effectLst/>
        </p:spPr>
      </p:cxnSp>
      <p:cxnSp>
        <p:nvCxnSpPr>
          <p:cNvPr id="27" name="曲线连接符 26">
            <a:extLst>
              <a:ext uri="{FF2B5EF4-FFF2-40B4-BE49-F238E27FC236}">
                <a16:creationId xmlns:a16="http://schemas.microsoft.com/office/drawing/2014/main" id="{3D008B34-5A89-BA05-B851-43DA58C2E801}"/>
              </a:ext>
            </a:extLst>
          </p:cNvPr>
          <p:cNvCxnSpPr>
            <a:cxnSpLocks/>
            <a:stCxn id="8" idx="0"/>
          </p:cNvCxnSpPr>
          <p:nvPr/>
        </p:nvCxnSpPr>
        <p:spPr bwMode="auto">
          <a:xfrm rot="16200000" flipV="1">
            <a:off x="5181721" y="3927761"/>
            <a:ext cx="2355111" cy="674443"/>
          </a:xfrm>
          <a:prstGeom prst="curvedConnector3">
            <a:avLst>
              <a:gd name="adj1" fmla="val 99919"/>
            </a:avLst>
          </a:prstGeom>
          <a:ln w="19050"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5896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 animBg="1"/>
      <p:bldP spid="10" grpId="0" animBg="1"/>
      <p:bldP spid="11" grpId="0" animBg="1"/>
      <p:bldP spid="12" grpId="0" animBg="1"/>
      <p:bldP spid="1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灯片编号占位符 3">
            <a:extLst>
              <a:ext uri="{FF2B5EF4-FFF2-40B4-BE49-F238E27FC236}">
                <a16:creationId xmlns:a16="http://schemas.microsoft.com/office/drawing/2014/main" id="{4DDC93D9-038A-6244-842C-AA95B0F395B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E28FBB0-5D1D-474C-9159-C6AD5C6A74F5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81922" name="Text Box 42">
            <a:extLst>
              <a:ext uri="{FF2B5EF4-FFF2-40B4-BE49-F238E27FC236}">
                <a16:creationId xmlns:a16="http://schemas.microsoft.com/office/drawing/2014/main" id="{9EA5DDFE-B3A5-AE4A-AC82-0CBBA6B78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8" y="406400"/>
            <a:ext cx="5832475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r>
              <a:rPr lang="en-US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.3.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lang="en-US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图的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广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宽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lang="zh-CN" altLang="zh-CN" sz="2800" noProof="1">
                <a:solidFill>
                  <a:srgbClr val="000000"/>
                </a:solidFill>
                <a:latin typeface="宋体" panose="02010600030101010101" pitchFamily="2" charset="-122"/>
              </a:rPr>
              <a:t>度优先搜索</a:t>
            </a:r>
            <a:endParaRPr lang="zh-CN" altLang="en-US" sz="2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latin typeface="宋体" panose="02010600030101010101" pitchFamily="2" charset="-122"/>
              </a:rPr>
              <a:t>    </a:t>
            </a:r>
            <a:r>
              <a:rPr lang="en-US" altLang="zh-CN" sz="2400">
                <a:latin typeface="宋体" panose="02010600030101010101" pitchFamily="2" charset="-122"/>
              </a:rPr>
              <a:t>BFS(Breadth First Search)</a:t>
            </a:r>
            <a:endParaRPr lang="en-US" altLang="zh-CN" sz="2400" b="0">
              <a:latin typeface="宋体" panose="02010600030101010101" pitchFamily="2" charset="-122"/>
            </a:endParaRPr>
          </a:p>
        </p:txBody>
      </p:sp>
      <p:sp>
        <p:nvSpPr>
          <p:cNvPr id="81923" name="Oval 3">
            <a:extLst>
              <a:ext uri="{FF2B5EF4-FFF2-40B4-BE49-F238E27FC236}">
                <a16:creationId xmlns:a16="http://schemas.microsoft.com/office/drawing/2014/main" id="{CB56EA3A-ECED-F447-9065-1417C283B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1375" y="29130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924" name="Oval 4">
            <a:extLst>
              <a:ext uri="{FF2B5EF4-FFF2-40B4-BE49-F238E27FC236}">
                <a16:creationId xmlns:a16="http://schemas.microsoft.com/office/drawing/2014/main" id="{8F5585A8-6C6D-D247-BBBB-334F4DFA9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9575" y="29130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925" name="Oval 5">
            <a:extLst>
              <a:ext uri="{FF2B5EF4-FFF2-40B4-BE49-F238E27FC236}">
                <a16:creationId xmlns:a16="http://schemas.microsoft.com/office/drawing/2014/main" id="{C273A831-574E-DE4B-BB7F-BF9181739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9975" y="19986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926" name="Oval 6">
            <a:extLst>
              <a:ext uri="{FF2B5EF4-FFF2-40B4-BE49-F238E27FC236}">
                <a16:creationId xmlns:a16="http://schemas.microsoft.com/office/drawing/2014/main" id="{0DB43346-3CDB-E643-8DCB-53B19A345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75" y="20748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927" name="Line 7">
            <a:extLst>
              <a:ext uri="{FF2B5EF4-FFF2-40B4-BE49-F238E27FC236}">
                <a16:creationId xmlns:a16="http://schemas.microsoft.com/office/drawing/2014/main" id="{E16175F1-882D-664F-89C4-333F4A07F3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78175" y="245586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28" name="Line 8">
            <a:extLst>
              <a:ext uri="{FF2B5EF4-FFF2-40B4-BE49-F238E27FC236}">
                <a16:creationId xmlns:a16="http://schemas.microsoft.com/office/drawing/2014/main" id="{41E9D93D-B9C1-CC4A-B5AF-2768EFCE82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20975" y="22272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29" name="Line 9">
            <a:extLst>
              <a:ext uri="{FF2B5EF4-FFF2-40B4-BE49-F238E27FC236}">
                <a16:creationId xmlns:a16="http://schemas.microsoft.com/office/drawing/2014/main" id="{C6D70280-0D85-0343-AA90-9C6ACBF15AA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44775" y="2346325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30" name="Oval 10">
            <a:extLst>
              <a:ext uri="{FF2B5EF4-FFF2-40B4-BE49-F238E27FC236}">
                <a16:creationId xmlns:a16="http://schemas.microsoft.com/office/drawing/2014/main" id="{4536B89F-00FB-2B4E-B211-E1153F041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21510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931" name="Line 11">
            <a:extLst>
              <a:ext uri="{FF2B5EF4-FFF2-40B4-BE49-F238E27FC236}">
                <a16:creationId xmlns:a16="http://schemas.microsoft.com/office/drawing/2014/main" id="{08AFE0D5-6E8A-484D-91FF-41791B87951E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6575" y="2532063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32" name="Line 12">
            <a:extLst>
              <a:ext uri="{FF2B5EF4-FFF2-40B4-BE49-F238E27FC236}">
                <a16:creationId xmlns:a16="http://schemas.microsoft.com/office/drawing/2014/main" id="{49AA17A8-7150-A544-A9F8-62E0B3B0F1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82775" y="2227263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33" name="Oval 13">
            <a:extLst>
              <a:ext uri="{FF2B5EF4-FFF2-40B4-BE49-F238E27FC236}">
                <a16:creationId xmlns:a16="http://schemas.microsoft.com/office/drawing/2014/main" id="{BFB5AE9E-A09A-6444-9D05-27B0C6B75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38274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934" name="Oval 14">
            <a:extLst>
              <a:ext uri="{FF2B5EF4-FFF2-40B4-BE49-F238E27FC236}">
                <a16:creationId xmlns:a16="http://schemas.microsoft.com/office/drawing/2014/main" id="{AFF83335-C7D9-3C44-9914-B6C7CD5BB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0975" y="38274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935" name="Line 15">
            <a:extLst>
              <a:ext uri="{FF2B5EF4-FFF2-40B4-BE49-F238E27FC236}">
                <a16:creationId xmlns:a16="http://schemas.microsoft.com/office/drawing/2014/main" id="{81BE8B5C-1F92-6943-9025-ABEE46246DC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3775" y="40560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36" name="Line 16">
            <a:extLst>
              <a:ext uri="{FF2B5EF4-FFF2-40B4-BE49-F238E27FC236}">
                <a16:creationId xmlns:a16="http://schemas.microsoft.com/office/drawing/2014/main" id="{65752CA8-0FB9-BE49-AF58-D57F35CAB57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416175" y="3217863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37" name="Line 17">
            <a:extLst>
              <a:ext uri="{FF2B5EF4-FFF2-40B4-BE49-F238E27FC236}">
                <a16:creationId xmlns:a16="http://schemas.microsoft.com/office/drawing/2014/main" id="{A1EF0D18-6998-BF46-A1C2-17BD4D60F1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1375" y="3294063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38" name="Oval 18">
            <a:extLst>
              <a:ext uri="{FF2B5EF4-FFF2-40B4-BE49-F238E27FC236}">
                <a16:creationId xmlns:a16="http://schemas.microsoft.com/office/drawing/2014/main" id="{59D8F75D-0377-B44E-9B4F-3ADEB5910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9375" y="31416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939" name="Line 19">
            <a:extLst>
              <a:ext uri="{FF2B5EF4-FFF2-40B4-BE49-F238E27FC236}">
                <a16:creationId xmlns:a16="http://schemas.microsoft.com/office/drawing/2014/main" id="{3238BA99-5FED-8B4E-BE97-D5A885BF22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77975" y="2532063"/>
            <a:ext cx="1524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40" name="Line 20">
            <a:extLst>
              <a:ext uri="{FF2B5EF4-FFF2-40B4-BE49-F238E27FC236}">
                <a16:creationId xmlns:a16="http://schemas.microsoft.com/office/drawing/2014/main" id="{3AC03D24-54EC-B442-8981-B956C7743DB3}"/>
              </a:ext>
            </a:extLst>
          </p:cNvPr>
          <p:cNvSpPr>
            <a:spLocks noChangeShapeType="1"/>
          </p:cNvSpPr>
          <p:nvPr/>
        </p:nvSpPr>
        <p:spPr bwMode="auto">
          <a:xfrm>
            <a:off x="1654175" y="3522663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941" name="Text Box 22">
            <a:extLst>
              <a:ext uri="{FF2B5EF4-FFF2-40B4-BE49-F238E27FC236}">
                <a16:creationId xmlns:a16="http://schemas.microsoft.com/office/drawing/2014/main" id="{14B7A4ED-36EC-4546-A864-4375AE329C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4075" y="4760913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8" name="Line 19">
            <a:extLst>
              <a:ext uri="{FF2B5EF4-FFF2-40B4-BE49-F238E27FC236}">
                <a16:creationId xmlns:a16="http://schemas.microsoft.com/office/drawing/2014/main" id="{C663BBD1-2B99-B24D-A3D7-5005E71334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24000" y="2530475"/>
            <a:ext cx="152400" cy="6096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Line 20">
            <a:extLst>
              <a:ext uri="{FF2B5EF4-FFF2-40B4-BE49-F238E27FC236}">
                <a16:creationId xmlns:a16="http://schemas.microsoft.com/office/drawing/2014/main" id="{5E401D85-A6BC-024A-8244-A70782D83E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604963" y="3552825"/>
            <a:ext cx="288925" cy="3810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Line 17">
            <a:extLst>
              <a:ext uri="{FF2B5EF4-FFF2-40B4-BE49-F238E27FC236}">
                <a16:creationId xmlns:a16="http://schemas.microsoft.com/office/drawing/2014/main" id="{A20E8D3C-23DC-864D-90A9-A2C38CBB1B1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35150" y="2492375"/>
            <a:ext cx="360363" cy="4318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Line 16">
            <a:extLst>
              <a:ext uri="{FF2B5EF4-FFF2-40B4-BE49-F238E27FC236}">
                <a16:creationId xmlns:a16="http://schemas.microsoft.com/office/drawing/2014/main" id="{8BFBC706-A85E-B34A-8523-1AC90A17A1E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468563" y="3222625"/>
            <a:ext cx="381000" cy="6096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右箭头 61">
            <a:extLst>
              <a:ext uri="{FF2B5EF4-FFF2-40B4-BE49-F238E27FC236}">
                <a16:creationId xmlns:a16="http://schemas.microsoft.com/office/drawing/2014/main" id="{B19D58EE-36EF-4148-98D3-99360A60F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1913" y="2214563"/>
            <a:ext cx="142875" cy="2159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63" name="Line 12">
            <a:extLst>
              <a:ext uri="{FF2B5EF4-FFF2-40B4-BE49-F238E27FC236}">
                <a16:creationId xmlns:a16="http://schemas.microsoft.com/office/drawing/2014/main" id="{6D559F39-B46B-A641-874D-8BB946CEA8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82775" y="2171700"/>
            <a:ext cx="457200" cy="762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Line 9">
            <a:extLst>
              <a:ext uri="{FF2B5EF4-FFF2-40B4-BE49-F238E27FC236}">
                <a16:creationId xmlns:a16="http://schemas.microsoft.com/office/drawing/2014/main" id="{01059C01-B3C4-4D4D-9B2F-480799417E4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98738" y="2382838"/>
            <a:ext cx="381000" cy="6096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Line 7">
            <a:extLst>
              <a:ext uri="{FF2B5EF4-FFF2-40B4-BE49-F238E27FC236}">
                <a16:creationId xmlns:a16="http://schemas.microsoft.com/office/drawing/2014/main" id="{AC8D1819-8CF5-8948-BD5F-E5B0E36DFD3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8750" y="2176463"/>
            <a:ext cx="576263" cy="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C72A4334-9955-2749-BDE5-B0BF69D81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3350" y="1731963"/>
            <a:ext cx="287338" cy="401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solidFill>
                  <a:srgbClr val="FF0000"/>
                </a:solidFill>
              </a:rPr>
              <a:t>①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DB06B13E-75C4-154C-A7C3-7C98C6B13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9250" y="2997200"/>
            <a:ext cx="4429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solidFill>
                  <a:srgbClr val="FF0000"/>
                </a:solidFill>
              </a:rPr>
              <a:t>②</a:t>
            </a:r>
          </a:p>
        </p:txBody>
      </p:sp>
      <p:sp>
        <p:nvSpPr>
          <p:cNvPr id="68" name="矩形 67">
            <a:extLst>
              <a:ext uri="{FF2B5EF4-FFF2-40B4-BE49-F238E27FC236}">
                <a16:creationId xmlns:a16="http://schemas.microsoft.com/office/drawing/2014/main" id="{33DCD47F-226B-3847-99E7-4597A90CE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2636838"/>
            <a:ext cx="4429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solidFill>
                  <a:srgbClr val="FF0000"/>
                </a:solidFill>
              </a:rPr>
              <a:t>③</a:t>
            </a:r>
          </a:p>
        </p:txBody>
      </p:sp>
      <p:sp>
        <p:nvSpPr>
          <p:cNvPr id="69" name="矩形 68">
            <a:extLst>
              <a:ext uri="{FF2B5EF4-FFF2-40B4-BE49-F238E27FC236}">
                <a16:creationId xmlns:a16="http://schemas.microsoft.com/office/drawing/2014/main" id="{DDB49079-95CB-534B-A540-204139BBA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5875" y="1700213"/>
            <a:ext cx="4429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solidFill>
                  <a:srgbClr val="FF0000"/>
                </a:solidFill>
              </a:rPr>
              <a:t>④</a:t>
            </a:r>
          </a:p>
        </p:txBody>
      </p:sp>
      <p:sp>
        <p:nvSpPr>
          <p:cNvPr id="70" name="矩形 69">
            <a:extLst>
              <a:ext uri="{FF2B5EF4-FFF2-40B4-BE49-F238E27FC236}">
                <a16:creationId xmlns:a16="http://schemas.microsoft.com/office/drawing/2014/main" id="{C7B7584E-F03B-B740-B02F-AE3D731F0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3713" y="4252913"/>
            <a:ext cx="4429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solidFill>
                  <a:srgbClr val="FF0000"/>
                </a:solidFill>
              </a:rPr>
              <a:t>⑤</a:t>
            </a:r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71766AD2-4D57-CB4D-B38C-157907412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1025" y="3789363"/>
            <a:ext cx="4429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solidFill>
                  <a:srgbClr val="FF0000"/>
                </a:solidFill>
              </a:rPr>
              <a:t>⑥</a:t>
            </a:r>
          </a:p>
        </p:txBody>
      </p:sp>
      <p:sp>
        <p:nvSpPr>
          <p:cNvPr id="72" name="矩形 71">
            <a:extLst>
              <a:ext uri="{FF2B5EF4-FFF2-40B4-BE49-F238E27FC236}">
                <a16:creationId xmlns:a16="http://schemas.microsoft.com/office/drawing/2014/main" id="{E4A261D8-D72B-304E-A620-3971B01A5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2924175"/>
            <a:ext cx="442912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solidFill>
                  <a:srgbClr val="FF0000"/>
                </a:solidFill>
              </a:rPr>
              <a:t>⑦</a:t>
            </a:r>
          </a:p>
        </p:txBody>
      </p:sp>
      <p:sp>
        <p:nvSpPr>
          <p:cNvPr id="73" name="矩形 72">
            <a:extLst>
              <a:ext uri="{FF2B5EF4-FFF2-40B4-BE49-F238E27FC236}">
                <a16:creationId xmlns:a16="http://schemas.microsoft.com/office/drawing/2014/main" id="{FA88E9E6-41DE-3D4E-94C6-B47A08633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1689100"/>
            <a:ext cx="4429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000">
                <a:solidFill>
                  <a:srgbClr val="FF0000"/>
                </a:solidFill>
              </a:rPr>
              <a:t>⑧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EA4A2EA-6CA1-CA41-978E-0E9FFC6EE1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14875" y="1628775"/>
            <a:ext cx="34575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/>
              <a:t>本次访问的顶点序列：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B9ADF18F-125D-804B-BE79-A86297F97A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9338" y="2103438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B6A19D34-C09E-9443-B4A2-645AA2E786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9700" y="2103438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AF8DF70A-888C-B849-9807-9FF992EF4F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0063" y="2103438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F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57A92739-02D6-304E-9CFB-19E94E8987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0425" y="2103438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B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7710BA6-9CF0-D644-BEC9-685FE275E3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9200" y="2103438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G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E1E7139-6C21-DD42-808C-0D75D004E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2103438"/>
            <a:ext cx="433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H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5D8ABBFF-8510-E946-A856-032122AB28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1363" y="2103438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D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34F47B85-EAFE-CA4E-AADF-D868289F5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3163" y="2103438"/>
            <a:ext cx="4333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C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4FBDC360-ABBD-2E47-B284-58CD233D4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8855" y="2590154"/>
            <a:ext cx="42496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/>
              <a:t>其它的广度优先顶点访问序列：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69BB0659-2D0E-D64D-8968-CA7C49B6D3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9338" y="3040063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370A5F8-A5EE-2343-A198-48C2926BBC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9700" y="3040063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B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63ECEFAB-73D9-2345-8BBE-0574E2D72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0063" y="3040063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F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4E0559F6-A4FB-EB46-BA2E-7CD0981B6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0425" y="3040063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E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0D850C70-EA82-F24F-A4AF-44B45D805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9200" y="3040063"/>
            <a:ext cx="4318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C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16F5174C-A947-124E-9CC0-B6E9FA03F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3040063"/>
            <a:ext cx="4333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D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2C54CC00-A4CC-724B-AED6-751B0CDC6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1363" y="303847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H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C3E25461-D626-2145-B0D8-D147C2F6E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3163" y="3040063"/>
            <a:ext cx="43338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G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1E08F3E-A9ED-B74A-A007-6EE2E3226E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9338" y="34718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CD49CFA9-A4DB-7447-80B0-F7C45E0433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9700" y="34718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F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44829B40-0B15-3047-BCFA-E67F4A57E6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0063" y="34718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B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7916738F-AF2A-4E46-8BA6-DDE48E0A68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0425" y="34718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E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3EC4AFF8-FF6E-7642-9C88-471A4ADCFE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9200" y="3471863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H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9D5D02FB-7ECC-2141-8D1D-878D6D623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3471863"/>
            <a:ext cx="433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G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CE60D577-A776-854D-BB63-48F587D694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1363" y="347027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C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0F08C00F-4706-9E47-8D0E-45CACD5837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3163" y="3471863"/>
            <a:ext cx="4333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D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91330BB6-3B22-DC43-912F-3A7E7AB453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0425" y="3759200"/>
            <a:ext cx="12239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……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E33A23D-54B1-A346-B096-87C13D140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5355" y="4288362"/>
            <a:ext cx="457949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/>
              <a:t>不可能的广度优先顶点访问序列：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E0FF873-59E2-FF42-9437-818D72B49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7913" y="4695825"/>
            <a:ext cx="4333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12E6809E-2884-6D44-8AD0-ECF0A8708F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8275" y="469582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44D4C44-0E7A-1E48-BCB3-42B1E76CCF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8638" y="469582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F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D10E9620-F771-3643-888E-688830B87A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9000" y="469582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B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A1073140-B72B-4F4B-A766-A4A3EF09B5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9363" y="469582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C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233C3CF6-BACC-834E-A173-5CDE6C8E3C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1163" y="469582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D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8673BAF8-9941-7245-A574-F239809D7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1525" y="4694238"/>
            <a:ext cx="431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H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39E3C17-F071-2348-8904-06DFA770F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3325" y="4695825"/>
            <a:ext cx="43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G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DE5D1E5-BC67-244C-B5EB-9504405352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1863" y="4911725"/>
            <a:ext cx="12239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……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7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0.00416 L -0.02378 0.14034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98" y="67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0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049 0.14011 L 0.05816 0.10867 " pathEditMode="relative" rAng="0" ptsTypes="AA">
                                      <p:cBhvr>
                                        <p:cTn id="51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24" y="-157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0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833 0.10682 L 0.08212 -0.01896 " pathEditMode="relative" rAng="0" ptsTypes="AA">
                                      <p:cBhvr>
                                        <p:cTn id="63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81" y="-62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6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0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882 -0.01711 L 0.03142 0.25549 " pathEditMode="relative" rAng="0" ptsTypes="AA">
                                      <p:cBhvr>
                                        <p:cTn id="83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78" y="136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0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986 0.25549 L 0.12431 0.25549 " pathEditMode="relative" rAng="0" ptsTypes="AA">
                                      <p:cBhvr>
                                        <p:cTn id="87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72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9" presetID="0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2274 0.25364 L 0.13854 0.11745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81" y="-68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92" presetID="0" presetClass="path" presetSubtype="0" accel="50000" decel="50000" fill="hold" grpId="7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167 0.1193 L 0.17326 -0.00671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80" y="-63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95" presetID="4" presetClass="exit" presetSubtype="16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6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8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0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1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4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1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8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20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2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2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28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0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3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4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2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5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4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7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0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6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9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2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4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7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0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 nodeType="clickPar">
                      <p:stCondLst>
                        <p:cond delay="indefinite"/>
                      </p:stCondLst>
                      <p:childTnLst>
                        <p:par>
                          <p:cTn id="1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3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8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4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7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0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3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6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9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2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  <p:bldP spid="62" grpId="1" animBg="1"/>
      <p:bldP spid="62" grpId="2" animBg="1"/>
      <p:bldP spid="62" grpId="3" animBg="1"/>
      <p:bldP spid="62" grpId="4" animBg="1"/>
      <p:bldP spid="62" grpId="5" animBg="1"/>
      <p:bldP spid="62" grpId="6" animBg="1"/>
      <p:bldP spid="62" grpId="7" animBg="1"/>
      <p:bldP spid="62" grpId="8" animBg="1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83" grpId="0"/>
      <p:bldP spid="101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灯片编号占位符 3">
            <a:extLst>
              <a:ext uri="{FF2B5EF4-FFF2-40B4-BE49-F238E27FC236}">
                <a16:creationId xmlns:a16="http://schemas.microsoft.com/office/drawing/2014/main" id="{7075D0C7-A35A-A448-9B31-01AABA61FA4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0582BC5-1E83-104F-AB84-8FC240D97197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83970" name="Text Box 38">
            <a:extLst>
              <a:ext uri="{FF2B5EF4-FFF2-40B4-BE49-F238E27FC236}">
                <a16:creationId xmlns:a16="http://schemas.microsoft.com/office/drawing/2014/main" id="{A28EFC43-CF6E-BB4A-92BE-BBB4B9901C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00" y="333375"/>
            <a:ext cx="8820150" cy="637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latin typeface="宋体" panose="02010600030101010101" pitchFamily="2" charset="-122"/>
              </a:rPr>
              <a:t>广度优先搜索遍历算法代码：</a:t>
            </a:r>
            <a:endParaRPr lang="en-US" altLang="zh-CN" sz="240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void BFSTraverse(Graph G,Status (*visit)())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for(v=0; v&lt;G.vexnum; v++)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visited[v]=false;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InitQueue(Q);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for(v=0;v&lt;G.vexnum; v++)  //</a:t>
            </a:r>
            <a:r>
              <a:rPr lang="zh-CN" altLang="en-US" sz="2400">
                <a:latin typeface="宋体" panose="02010600030101010101" pitchFamily="2" charset="-122"/>
              </a:rPr>
              <a:t>按顶点位置序号依次选择顶点</a:t>
            </a:r>
            <a:endParaRPr lang="en-US" altLang="zh-CN" sz="240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if (!visited[v])  {     //</a:t>
            </a:r>
            <a:r>
              <a:rPr lang="zh-CN" altLang="en-US" sz="2400">
                <a:latin typeface="宋体" panose="02010600030101010101" pitchFamily="2" charset="-122"/>
              </a:rPr>
              <a:t>遇到未访问过的顶点开始遍历</a:t>
            </a:r>
            <a:endParaRPr lang="en-US" altLang="zh-CN" sz="240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visited[v]=true; visit(v); EnQueue(Q,v);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while(!QueueEmpty(Q)){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	  DeQueue(Q,u);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  for(w=FirstAdjVex(G,u),w&gt;=0; w=NextAdjVex(G,u,w))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     if (!visited[w]) 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       { visited[w]=true; visit(w);EnQueue(Q,w);}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  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2400">
              <a:latin typeface="宋体" panose="02010600030101010101" pitchFamily="2" charset="-122"/>
            </a:endParaRPr>
          </a:p>
        </p:txBody>
      </p:sp>
      <p:sp>
        <p:nvSpPr>
          <p:cNvPr id="6" name="Text Box 38">
            <a:extLst>
              <a:ext uri="{FF2B5EF4-FFF2-40B4-BE49-F238E27FC236}">
                <a16:creationId xmlns:a16="http://schemas.microsoft.com/office/drawing/2014/main" id="{74E56511-88C1-5A4E-9EA4-FA81AF995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5025" y="5229225"/>
            <a:ext cx="449897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邻接矩阵：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=O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邻 接 表：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=O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n+e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</a:p>
        </p:txBody>
      </p:sp>
      <p:sp>
        <p:nvSpPr>
          <p:cNvPr id="7" name="右箭头 6">
            <a:extLst>
              <a:ext uri="{FF2B5EF4-FFF2-40B4-BE49-F238E27FC236}">
                <a16:creationId xmlns:a16="http://schemas.microsoft.com/office/drawing/2014/main" id="{F010E6F1-8F07-8D4C-A73A-DE5939DFB9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" y="1182688"/>
            <a:ext cx="117475" cy="2159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805A1942-DEC5-414F-8CFF-F5B3F9BBB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1139825"/>
            <a:ext cx="4464050" cy="719138"/>
          </a:xfrm>
          <a:prstGeom prst="rect">
            <a:avLst/>
          </a:prstGeom>
          <a:noFill/>
          <a:ln w="28575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F02322F5-B138-4247-B82E-F8D35254C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8" y="2205038"/>
            <a:ext cx="8532812" cy="792162"/>
          </a:xfrm>
          <a:prstGeom prst="rect">
            <a:avLst/>
          </a:prstGeom>
          <a:noFill/>
          <a:ln w="28575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DBF20C9-0616-AA45-8CAA-D51A0EBEE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9613" y="4408488"/>
            <a:ext cx="6948487" cy="792162"/>
          </a:xfrm>
          <a:prstGeom prst="rect">
            <a:avLst/>
          </a:prstGeom>
          <a:noFill/>
          <a:ln w="28575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16786 " pathEditMode="relative" ptsTypes="AA">
                                      <p:cBhvr>
                                        <p:cTn id="14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6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0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7 0.16462 L 0.06302 0.28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42" y="5757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0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02 0.28 L 0.06441 0.33248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" y="261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0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302 0.33225 L 0.08663 0.37433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81" y="210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0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177 0.37225 L 0.08507 0.43514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" y="314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0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49 0.43306 L 0.13524 0.48971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17" y="28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368 0.49179 L -0.00799 0.1563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083" y="-16786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7" grpId="1" animBg="1"/>
      <p:bldP spid="7" grpId="2" animBg="1"/>
      <p:bldP spid="7" grpId="3" animBg="1"/>
      <p:bldP spid="7" grpId="4" animBg="1"/>
      <p:bldP spid="7" grpId="5" animBg="1"/>
      <p:bldP spid="7" grpId="6" animBg="1"/>
      <p:bldP spid="7" grpId="7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灯片编号占位符 3">
            <a:extLst>
              <a:ext uri="{FF2B5EF4-FFF2-40B4-BE49-F238E27FC236}">
                <a16:creationId xmlns:a16="http://schemas.microsoft.com/office/drawing/2014/main" id="{36715F91-13A0-0B48-A490-60624EB333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32458FD-7215-814C-90FF-9560BAD4812E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33794" name="Oval 3">
            <a:extLst>
              <a:ext uri="{FF2B5EF4-FFF2-40B4-BE49-F238E27FC236}">
                <a16:creationId xmlns:a16="http://schemas.microsoft.com/office/drawing/2014/main" id="{296615AD-D5CF-864B-BADD-EBAB1A798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1885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795" name="Oval 4">
            <a:extLst>
              <a:ext uri="{FF2B5EF4-FFF2-40B4-BE49-F238E27FC236}">
                <a16:creationId xmlns:a16="http://schemas.microsoft.com/office/drawing/2014/main" id="{75809ADD-8D59-0940-8D1B-CFE8AF4F9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5717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796" name="Oval 5">
            <a:extLst>
              <a:ext uri="{FF2B5EF4-FFF2-40B4-BE49-F238E27FC236}">
                <a16:creationId xmlns:a16="http://schemas.microsoft.com/office/drawing/2014/main" id="{134BFF1C-A5F7-C249-9499-E92A4C18B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25717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797" name="Line 6">
            <a:extLst>
              <a:ext uri="{FF2B5EF4-FFF2-40B4-BE49-F238E27FC236}">
                <a16:creationId xmlns:a16="http://schemas.microsoft.com/office/drawing/2014/main" id="{8CEFD1C6-A919-674D-AE47-ED6E7547A4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62200" y="226695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798" name="Line 7">
            <a:extLst>
              <a:ext uri="{FF2B5EF4-FFF2-40B4-BE49-F238E27FC236}">
                <a16:creationId xmlns:a16="http://schemas.microsoft.com/office/drawing/2014/main" id="{F419A2AD-05DC-694F-A264-C3F4C258C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226695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799" name="Line 8">
            <a:extLst>
              <a:ext uri="{FF2B5EF4-FFF2-40B4-BE49-F238E27FC236}">
                <a16:creationId xmlns:a16="http://schemas.microsoft.com/office/drawing/2014/main" id="{396CDF55-5415-5246-B6A9-E21D92DD2600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2800350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00" name="Oval 9">
            <a:extLst>
              <a:ext uri="{FF2B5EF4-FFF2-40B4-BE49-F238E27FC236}">
                <a16:creationId xmlns:a16="http://schemas.microsoft.com/office/drawing/2014/main" id="{0F3C9D11-1F31-2742-B921-40A81907D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25717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1" name="Line 10">
            <a:extLst>
              <a:ext uri="{FF2B5EF4-FFF2-40B4-BE49-F238E27FC236}">
                <a16:creationId xmlns:a16="http://schemas.microsoft.com/office/drawing/2014/main" id="{27D7D3EB-D9EA-484E-A660-652FC0BACC5D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9000" y="280035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02" name="Oval 11">
            <a:extLst>
              <a:ext uri="{FF2B5EF4-FFF2-40B4-BE49-F238E27FC236}">
                <a16:creationId xmlns:a16="http://schemas.microsoft.com/office/drawing/2014/main" id="{4FF488AC-48A6-5249-9BA7-10C67CF0F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1885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3" name="Oval 12">
            <a:extLst>
              <a:ext uri="{FF2B5EF4-FFF2-40B4-BE49-F238E27FC236}">
                <a16:creationId xmlns:a16="http://schemas.microsoft.com/office/drawing/2014/main" id="{CA06B19E-0BD5-7947-AACC-DAAAEFA42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1885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4" name="Line 13">
            <a:extLst>
              <a:ext uri="{FF2B5EF4-FFF2-40B4-BE49-F238E27FC236}">
                <a16:creationId xmlns:a16="http://schemas.microsoft.com/office/drawing/2014/main" id="{A2F3A393-0D30-C145-AA66-52EFDD16DC9A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3800" y="226695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05" name="Line 14">
            <a:extLst>
              <a:ext uri="{FF2B5EF4-FFF2-40B4-BE49-F238E27FC236}">
                <a16:creationId xmlns:a16="http://schemas.microsoft.com/office/drawing/2014/main" id="{038E5CF6-5566-4E40-840B-E5EA17496D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7200" y="2266950"/>
            <a:ext cx="2286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06" name="Oval 15">
            <a:extLst>
              <a:ext uri="{FF2B5EF4-FFF2-40B4-BE49-F238E27FC236}">
                <a16:creationId xmlns:a16="http://schemas.microsoft.com/office/drawing/2014/main" id="{C162F197-8F04-A24A-B915-CF24DD97D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0300" y="40735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7" name="Oval 16">
            <a:extLst>
              <a:ext uri="{FF2B5EF4-FFF2-40B4-BE49-F238E27FC236}">
                <a16:creationId xmlns:a16="http://schemas.microsoft.com/office/drawing/2014/main" id="{1F9C87DA-CB91-5340-AD61-90C45BB3E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" y="4759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8" name="Oval 17">
            <a:extLst>
              <a:ext uri="{FF2B5EF4-FFF2-40B4-BE49-F238E27FC236}">
                <a16:creationId xmlns:a16="http://schemas.microsoft.com/office/drawing/2014/main" id="{9A55EEC0-88C9-A74A-99A4-BF155EB52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7500" y="4759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09" name="Line 18">
            <a:extLst>
              <a:ext uri="{FF2B5EF4-FFF2-40B4-BE49-F238E27FC236}">
                <a16:creationId xmlns:a16="http://schemas.microsoft.com/office/drawing/2014/main" id="{FDE8620D-BEB4-CC45-95F9-12BD878A3B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1700" y="4454525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10" name="Line 19">
            <a:extLst>
              <a:ext uri="{FF2B5EF4-FFF2-40B4-BE49-F238E27FC236}">
                <a16:creationId xmlns:a16="http://schemas.microsoft.com/office/drawing/2014/main" id="{5AC354F5-4EFB-2147-BBFB-FB1C2D057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1358900" y="445452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11" name="Oval 20">
            <a:extLst>
              <a:ext uri="{FF2B5EF4-FFF2-40B4-BE49-F238E27FC236}">
                <a16:creationId xmlns:a16="http://schemas.microsoft.com/office/drawing/2014/main" id="{A398635A-8D2E-FA42-8836-491EA48E2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1500" y="4759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2" name="Line 21">
            <a:extLst>
              <a:ext uri="{FF2B5EF4-FFF2-40B4-BE49-F238E27FC236}">
                <a16:creationId xmlns:a16="http://schemas.microsoft.com/office/drawing/2014/main" id="{FFEAF54A-6EDF-0948-8E45-319CC61B2928}"/>
              </a:ext>
            </a:extLst>
          </p:cNvPr>
          <p:cNvSpPr>
            <a:spLocks noChangeShapeType="1"/>
          </p:cNvSpPr>
          <p:nvPr/>
        </p:nvSpPr>
        <p:spPr bwMode="auto">
          <a:xfrm>
            <a:off x="977900" y="4987925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13" name="Oval 22">
            <a:extLst>
              <a:ext uri="{FF2B5EF4-FFF2-40B4-BE49-F238E27FC236}">
                <a16:creationId xmlns:a16="http://schemas.microsoft.com/office/drawing/2014/main" id="{AF1C1CA3-10FA-9846-890C-04F5585E8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8100" y="40735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4" name="Line 23">
            <a:extLst>
              <a:ext uri="{FF2B5EF4-FFF2-40B4-BE49-F238E27FC236}">
                <a16:creationId xmlns:a16="http://schemas.microsoft.com/office/drawing/2014/main" id="{9A6DADB1-E8B3-3241-A9D2-CEFAC228B05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2900" y="445452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15" name="Text Box 24">
            <a:extLst>
              <a:ext uri="{FF2B5EF4-FFF2-40B4-BE49-F238E27FC236}">
                <a16:creationId xmlns:a16="http://schemas.microsoft.com/office/drawing/2014/main" id="{82767B4E-CE4D-104C-83F2-28A328455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3121025"/>
            <a:ext cx="3048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6" name="Text Box 25">
            <a:extLst>
              <a:ext uri="{FF2B5EF4-FFF2-40B4-BE49-F238E27FC236}">
                <a16:creationId xmlns:a16="http://schemas.microsoft.com/office/drawing/2014/main" id="{48B10E2F-C2BC-2441-8DD7-A72A8D6175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2275" y="5448300"/>
            <a:ext cx="1239838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无向图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7" name="Oval 26">
            <a:extLst>
              <a:ext uri="{FF2B5EF4-FFF2-40B4-BE49-F238E27FC236}">
                <a16:creationId xmlns:a16="http://schemas.microsoft.com/office/drawing/2014/main" id="{C0E3E4B0-B9DC-E942-8F2C-595F45EAA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500" y="47434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8" name="Oval 27">
            <a:extLst>
              <a:ext uri="{FF2B5EF4-FFF2-40B4-BE49-F238E27FC236}">
                <a16:creationId xmlns:a16="http://schemas.microsoft.com/office/drawing/2014/main" id="{7174F102-97D0-B749-A780-027B3B1DC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4021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19" name="Oval 28">
            <a:extLst>
              <a:ext uri="{FF2B5EF4-FFF2-40B4-BE49-F238E27FC236}">
                <a16:creationId xmlns:a16="http://schemas.microsoft.com/office/drawing/2014/main" id="{6867BC48-BBD0-B643-A41F-A84FB4576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4706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0" name="Oval 29">
            <a:extLst>
              <a:ext uri="{FF2B5EF4-FFF2-40B4-BE49-F238E27FC236}">
                <a16:creationId xmlns:a16="http://schemas.microsoft.com/office/drawing/2014/main" id="{FD2F6038-4052-D341-8FAF-B93045055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706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1" name="Line 30">
            <a:extLst>
              <a:ext uri="{FF2B5EF4-FFF2-40B4-BE49-F238E27FC236}">
                <a16:creationId xmlns:a16="http://schemas.microsoft.com/office/drawing/2014/main" id="{8D93035E-3779-974B-97B4-4734CAE28B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19600" y="440213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22" name="Line 31">
            <a:extLst>
              <a:ext uri="{FF2B5EF4-FFF2-40B4-BE49-F238E27FC236}">
                <a16:creationId xmlns:a16="http://schemas.microsoft.com/office/drawing/2014/main" id="{D26350CC-F30C-3644-B5DA-7827271EF2C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6800" y="440213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23" name="Oval 32">
            <a:extLst>
              <a:ext uri="{FF2B5EF4-FFF2-40B4-BE49-F238E27FC236}">
                <a16:creationId xmlns:a16="http://schemas.microsoft.com/office/drawing/2014/main" id="{E95CCB4F-6C5F-F44C-9426-EF6C98BA2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4706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4" name="Line 33">
            <a:extLst>
              <a:ext uri="{FF2B5EF4-FFF2-40B4-BE49-F238E27FC236}">
                <a16:creationId xmlns:a16="http://schemas.microsoft.com/office/drawing/2014/main" id="{DB8D2B8B-0CCF-9949-A596-301A3F1A239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4935538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25" name="Oval 34">
            <a:extLst>
              <a:ext uri="{FF2B5EF4-FFF2-40B4-BE49-F238E27FC236}">
                <a16:creationId xmlns:a16="http://schemas.microsoft.com/office/drawing/2014/main" id="{1DB3DC82-D80E-3D42-BB51-84B6C580D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021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6" name="Line 35">
            <a:extLst>
              <a:ext uri="{FF2B5EF4-FFF2-40B4-BE49-F238E27FC236}">
                <a16:creationId xmlns:a16="http://schemas.microsoft.com/office/drawing/2014/main" id="{F443B13D-9CDC-8D40-9B56-3B61E79D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2400" y="440213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27" name="Text Box 36">
            <a:extLst>
              <a:ext uri="{FF2B5EF4-FFF2-40B4-BE49-F238E27FC236}">
                <a16:creationId xmlns:a16="http://schemas.microsoft.com/office/drawing/2014/main" id="{891528B2-9A9A-8443-9B89-265E8D7564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5484813"/>
            <a:ext cx="3810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8" name="Oval 37">
            <a:extLst>
              <a:ext uri="{FF2B5EF4-FFF2-40B4-BE49-F238E27FC236}">
                <a16:creationId xmlns:a16="http://schemas.microsoft.com/office/drawing/2014/main" id="{12DBEF39-7931-8F4D-97F1-3CC2658743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4624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29" name="Text Box 38">
            <a:extLst>
              <a:ext uri="{FF2B5EF4-FFF2-40B4-BE49-F238E27FC236}">
                <a16:creationId xmlns:a16="http://schemas.microsoft.com/office/drawing/2014/main" id="{2B71399F-4793-434A-8A0B-FED0DC7EAA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5484813"/>
            <a:ext cx="3810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0" name="Text Box 39">
            <a:extLst>
              <a:ext uri="{FF2B5EF4-FFF2-40B4-BE49-F238E27FC236}">
                <a16:creationId xmlns:a16="http://schemas.microsoft.com/office/drawing/2014/main" id="{CA6C5A51-7C14-784A-A000-D602FDF4C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5468938"/>
            <a:ext cx="3810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1" name="Rectangle 40">
            <a:extLst>
              <a:ext uri="{FF2B5EF4-FFF2-40B4-BE49-F238E27FC236}">
                <a16:creationId xmlns:a16="http://schemas.microsoft.com/office/drawing/2014/main" id="{092AEE03-ABC8-5744-9D62-089B4504C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" y="3213100"/>
            <a:ext cx="830738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50000"/>
              </a:spcBef>
              <a:buClrTx/>
              <a:buSzTx/>
              <a:buFont typeface="Wingdings" pitchFamily="2" charset="2"/>
              <a:buChar char="Ø"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若图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的一个极大连通子图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的一个</a:t>
            </a:r>
            <a:r>
              <a:rPr kumimoji="0" lang="zh-CN" altLang="en-US" sz="2400">
                <a:solidFill>
                  <a:schemeClr val="folHlink"/>
                </a:solidFill>
                <a:latin typeface="宋体" panose="02010600030101010101" pitchFamily="2" charset="-122"/>
              </a:rPr>
              <a:t>连通分量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2" name="AutoShape 41">
            <a:extLst>
              <a:ext uri="{FF2B5EF4-FFF2-40B4-BE49-F238E27FC236}">
                <a16:creationId xmlns:a16="http://schemas.microsoft.com/office/drawing/2014/main" id="{6512708C-FD2A-3C41-B2F0-82AB46403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4416425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3" name="Oval 42">
            <a:extLst>
              <a:ext uri="{FF2B5EF4-FFF2-40B4-BE49-F238E27FC236}">
                <a16:creationId xmlns:a16="http://schemas.microsoft.com/office/drawing/2014/main" id="{50E596A5-F644-FB4A-BE35-6E938719C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2300" y="40735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4" name="Line 43">
            <a:extLst>
              <a:ext uri="{FF2B5EF4-FFF2-40B4-BE49-F238E27FC236}">
                <a16:creationId xmlns:a16="http://schemas.microsoft.com/office/drawing/2014/main" id="{3E8B3E56-7E4F-A241-BB87-0135B05D014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1300" y="430212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35" name="Oval 44">
            <a:extLst>
              <a:ext uri="{FF2B5EF4-FFF2-40B4-BE49-F238E27FC236}">
                <a16:creationId xmlns:a16="http://schemas.microsoft.com/office/drawing/2014/main" id="{AAF06A5D-DB63-B64E-9DB9-36AAFF9A9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40052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6" name="Line 45">
            <a:extLst>
              <a:ext uri="{FF2B5EF4-FFF2-40B4-BE49-F238E27FC236}">
                <a16:creationId xmlns:a16="http://schemas.microsoft.com/office/drawing/2014/main" id="{65713169-FE43-254A-86F0-54A3A21AC09F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9200" y="4233863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837" name="Text Box 46">
            <a:extLst>
              <a:ext uri="{FF2B5EF4-FFF2-40B4-BE49-F238E27FC236}">
                <a16:creationId xmlns:a16="http://schemas.microsoft.com/office/drawing/2014/main" id="{B4287EB3-4CD5-9D45-B5DF-6FA267B902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695950"/>
            <a:ext cx="21002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有三个连通分量</a:t>
            </a:r>
            <a:endParaRPr kumimoji="0" lang="zh-CN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3838" name="Text Box 47">
            <a:extLst>
              <a:ext uri="{FF2B5EF4-FFF2-40B4-BE49-F238E27FC236}">
                <a16:creationId xmlns:a16="http://schemas.microsoft.com/office/drawing/2014/main" id="{6CD9D050-BCB3-8C41-BC36-66A00F5E7C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333375"/>
            <a:ext cx="8424863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11.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连通图及连通分量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: (</a:t>
            </a:r>
            <a:r>
              <a:rPr lang="zh-CN" altLang="en-US" sz="2800">
                <a:solidFill>
                  <a:srgbClr val="C00000"/>
                </a:solidFill>
                <a:latin typeface="宋体" panose="02010600030101010101" pitchFamily="2" charset="-122"/>
              </a:rPr>
              <a:t>无向图</a:t>
            </a:r>
            <a:r>
              <a:rPr lang="en-US" altLang="zh-CN" sz="2800">
                <a:solidFill>
                  <a:srgbClr val="C00000"/>
                </a:solidFill>
                <a:latin typeface="宋体" panose="02010600030101010101" pitchFamily="2" charset="-122"/>
              </a:rPr>
              <a:t>G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Char char="Ø"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若从顶点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有路径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和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zh-CN" altLang="en-US" sz="2400">
                <a:solidFill>
                  <a:schemeClr val="folHlink"/>
                </a:solidFill>
                <a:latin typeface="宋体" panose="02010600030101010101" pitchFamily="2" charset="-122"/>
              </a:rPr>
              <a:t>连通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的。</a:t>
            </a:r>
          </a:p>
          <a:p>
            <a:pPr eaLnBrk="1" hangingPunct="1">
              <a:spcBef>
                <a:spcPct val="0"/>
              </a:spcBef>
              <a:buClrTx/>
              <a:buSzTx/>
              <a:buFont typeface="Wingdings" pitchFamily="2" charset="2"/>
              <a:buChar char="Ø"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若图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中</a:t>
            </a:r>
            <a:r>
              <a:rPr lang="zh-CN" altLang="en-US" sz="2400">
                <a:solidFill>
                  <a:srgbClr val="C00000"/>
                </a:solidFill>
                <a:latin typeface="宋体" panose="02010600030101010101" pitchFamily="2" charset="-122"/>
              </a:rPr>
              <a:t>任意两顶点是连通的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zh-CN" altLang="en-US" sz="2400">
                <a:solidFill>
                  <a:schemeClr val="folHlink"/>
                </a:solidFill>
                <a:latin typeface="宋体" panose="02010600030101010101" pitchFamily="2" charset="-122"/>
              </a:rPr>
              <a:t>连通图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</a:p>
        </p:txBody>
      </p:sp>
      <p:sp>
        <p:nvSpPr>
          <p:cNvPr id="2" name="椭圆 1">
            <a:extLst>
              <a:ext uri="{FF2B5EF4-FFF2-40B4-BE49-F238E27FC236}">
                <a16:creationId xmlns:a16="http://schemas.microsoft.com/office/drawing/2014/main" id="{1E6229AF-1744-3D40-B862-3829F6484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9088" y="3282950"/>
            <a:ext cx="774700" cy="360363"/>
          </a:xfrm>
          <a:prstGeom prst="ellipse">
            <a:avLst/>
          </a:prstGeom>
          <a:noFill/>
          <a:ln w="9525" algn="ctr">
            <a:solidFill>
              <a:srgbClr val="C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cxnSp>
        <p:nvCxnSpPr>
          <p:cNvPr id="4" name="直线箭头连接符 3">
            <a:extLst>
              <a:ext uri="{FF2B5EF4-FFF2-40B4-BE49-F238E27FC236}">
                <a16:creationId xmlns:a16="http://schemas.microsoft.com/office/drawing/2014/main" id="{DD69D308-AAFE-E74B-9A0B-17ADD8BE37EC}"/>
              </a:ext>
            </a:extLst>
          </p:cNvPr>
          <p:cNvCxnSpPr>
            <a:cxnSpLocks noChangeShapeType="1"/>
            <a:stCxn id="2" idx="7"/>
          </p:cNvCxnSpPr>
          <p:nvPr/>
        </p:nvCxnSpPr>
        <p:spPr bwMode="auto">
          <a:xfrm flipV="1">
            <a:off x="3519488" y="3028950"/>
            <a:ext cx="1624012" cy="307975"/>
          </a:xfrm>
          <a:prstGeom prst="straightConnector1">
            <a:avLst/>
          </a:prstGeom>
          <a:noFill/>
          <a:ln w="9525" algn="ctr">
            <a:solidFill>
              <a:srgbClr val="C0000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" name="文本框 4">
            <a:extLst>
              <a:ext uri="{FF2B5EF4-FFF2-40B4-BE49-F238E27FC236}">
                <a16:creationId xmlns:a16="http://schemas.microsoft.com/office/drawing/2014/main" id="{83723F07-C4A6-464B-8057-086C7BFDA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1982788"/>
            <a:ext cx="3100388" cy="1200150"/>
          </a:xfrm>
          <a:prstGeom prst="rect">
            <a:avLst/>
          </a:prstGeom>
          <a:noFill/>
          <a:ln w="9525">
            <a:solidFill>
              <a:srgbClr val="C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/>
              <a:t>将此连通子图外的任意一个顶点加入子图都会造成不连通</a:t>
            </a:r>
          </a:p>
        </p:txBody>
      </p:sp>
    </p:spTree>
    <p:extLst>
      <p:ext uri="{BB962C8B-B14F-4D97-AF65-F5344CB8AC3E}">
        <p14:creationId xmlns:p14="http://schemas.microsoft.com/office/powerpoint/2010/main" val="2323842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灯片编号占位符 3">
            <a:extLst>
              <a:ext uri="{FF2B5EF4-FFF2-40B4-BE49-F238E27FC236}">
                <a16:creationId xmlns:a16="http://schemas.microsoft.com/office/drawing/2014/main" id="{E7803C8C-3F57-D447-8AEF-30EE605D1D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C889C01-9CC5-BB45-94EE-046F60ED494D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39938" name="Oval 3">
            <a:extLst>
              <a:ext uri="{FF2B5EF4-FFF2-40B4-BE49-F238E27FC236}">
                <a16:creationId xmlns:a16="http://schemas.microsoft.com/office/drawing/2014/main" id="{118D45B1-CDD0-F942-8B0C-4E5B319E8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514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39" name="Oval 4">
            <a:extLst>
              <a:ext uri="{FF2B5EF4-FFF2-40B4-BE49-F238E27FC236}">
                <a16:creationId xmlns:a16="http://schemas.microsoft.com/office/drawing/2014/main" id="{4CB0F348-4FA5-884A-BD4F-61C177425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2514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40" name="Line 5">
            <a:extLst>
              <a:ext uri="{FF2B5EF4-FFF2-40B4-BE49-F238E27FC236}">
                <a16:creationId xmlns:a16="http://schemas.microsoft.com/office/drawing/2014/main" id="{D798F587-675C-F740-8DC8-058603773A3E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27432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1" name="Text Box 6">
            <a:extLst>
              <a:ext uri="{FF2B5EF4-FFF2-40B4-BE49-F238E27FC236}">
                <a16:creationId xmlns:a16="http://schemas.microsoft.com/office/drawing/2014/main" id="{1CE2B2E1-3C02-B643-B816-BDE9FF37EA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295592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42" name="Oval 7">
            <a:extLst>
              <a:ext uri="{FF2B5EF4-FFF2-40B4-BE49-F238E27FC236}">
                <a16:creationId xmlns:a16="http://schemas.microsoft.com/office/drawing/2014/main" id="{366797B4-5311-784D-8487-9358920D5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1600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43" name="Oval 8">
            <a:extLst>
              <a:ext uri="{FF2B5EF4-FFF2-40B4-BE49-F238E27FC236}">
                <a16:creationId xmlns:a16="http://schemas.microsoft.com/office/drawing/2014/main" id="{0B9E129C-024B-7746-9A70-9B0199E197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1676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44" name="Line 9">
            <a:extLst>
              <a:ext uri="{FF2B5EF4-FFF2-40B4-BE49-F238E27FC236}">
                <a16:creationId xmlns:a16="http://schemas.microsoft.com/office/drawing/2014/main" id="{CE053492-4173-BD49-82D2-5E6B94663C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05200" y="2057400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5" name="Line 10">
            <a:extLst>
              <a:ext uri="{FF2B5EF4-FFF2-40B4-BE49-F238E27FC236}">
                <a16:creationId xmlns:a16="http://schemas.microsoft.com/office/drawing/2014/main" id="{058A95E3-BCA6-5B4C-AD75-9E22C1868DB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48000" y="182880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6" name="Line 11">
            <a:extLst>
              <a:ext uri="{FF2B5EF4-FFF2-40B4-BE49-F238E27FC236}">
                <a16:creationId xmlns:a16="http://schemas.microsoft.com/office/drawing/2014/main" id="{CE033D3F-4948-404F-956F-C19875192FA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971800" y="1905000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7" name="Line 12">
            <a:extLst>
              <a:ext uri="{FF2B5EF4-FFF2-40B4-BE49-F238E27FC236}">
                <a16:creationId xmlns:a16="http://schemas.microsoft.com/office/drawing/2014/main" id="{4286F9CF-9444-9146-99F9-3E8CC0DC69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67000" y="1981200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8" name="Line 13">
            <a:extLst>
              <a:ext uri="{FF2B5EF4-FFF2-40B4-BE49-F238E27FC236}">
                <a16:creationId xmlns:a16="http://schemas.microsoft.com/office/drawing/2014/main" id="{A90F09BA-739E-984A-AEAD-BE11398E23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9400" y="1981200"/>
            <a:ext cx="8382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9" name="Oval 14">
            <a:extLst>
              <a:ext uri="{FF2B5EF4-FFF2-40B4-BE49-F238E27FC236}">
                <a16:creationId xmlns:a16="http://schemas.microsoft.com/office/drawing/2014/main" id="{87C7521F-F528-0E46-9F1A-E042DB245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1752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0" name="Line 15">
            <a:extLst>
              <a:ext uri="{FF2B5EF4-FFF2-40B4-BE49-F238E27FC236}">
                <a16:creationId xmlns:a16="http://schemas.microsoft.com/office/drawing/2014/main" id="{631D3C30-8EA8-044E-BEE7-FED6F29E02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2133600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1" name="Line 16">
            <a:extLst>
              <a:ext uri="{FF2B5EF4-FFF2-40B4-BE49-F238E27FC236}">
                <a16:creationId xmlns:a16="http://schemas.microsoft.com/office/drawing/2014/main" id="{AA18DAEC-3B54-FE44-95E3-68423D234F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09800" y="1828800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2" name="Oval 17">
            <a:extLst>
              <a:ext uri="{FF2B5EF4-FFF2-40B4-BE49-F238E27FC236}">
                <a16:creationId xmlns:a16="http://schemas.microsoft.com/office/drawing/2014/main" id="{E77F956D-7C07-7F43-95A8-30787C05E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90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3" name="Oval 18">
            <a:extLst>
              <a:ext uri="{FF2B5EF4-FFF2-40B4-BE49-F238E27FC236}">
                <a16:creationId xmlns:a16="http://schemas.microsoft.com/office/drawing/2014/main" id="{D5F03494-0882-854D-8DA8-DD6A058A9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2590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4" name="Text Box 19">
            <a:extLst>
              <a:ext uri="{FF2B5EF4-FFF2-40B4-BE49-F238E27FC236}">
                <a16:creationId xmlns:a16="http://schemas.microsoft.com/office/drawing/2014/main" id="{FF070DF0-EFEC-9443-ABCD-3C0B4A7B6E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3032125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5" name="Oval 20">
            <a:extLst>
              <a:ext uri="{FF2B5EF4-FFF2-40B4-BE49-F238E27FC236}">
                <a16:creationId xmlns:a16="http://schemas.microsoft.com/office/drawing/2014/main" id="{DB637BE2-21B5-8D41-8180-12A014EC4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1676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6" name="Oval 21">
            <a:extLst>
              <a:ext uri="{FF2B5EF4-FFF2-40B4-BE49-F238E27FC236}">
                <a16:creationId xmlns:a16="http://schemas.microsoft.com/office/drawing/2014/main" id="{99A1799E-7B97-604B-9E2B-96A932578C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1752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57" name="Line 22">
            <a:extLst>
              <a:ext uri="{FF2B5EF4-FFF2-40B4-BE49-F238E27FC236}">
                <a16:creationId xmlns:a16="http://schemas.microsoft.com/office/drawing/2014/main" id="{7B794781-021E-1142-8F9F-F20A98B3EA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53200" y="190500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8" name="Line 23">
            <a:extLst>
              <a:ext uri="{FF2B5EF4-FFF2-40B4-BE49-F238E27FC236}">
                <a16:creationId xmlns:a16="http://schemas.microsoft.com/office/drawing/2014/main" id="{16BC5D8B-2835-6845-9AB0-108E2636DC2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77000" y="1981200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9" name="Oval 24">
            <a:extLst>
              <a:ext uri="{FF2B5EF4-FFF2-40B4-BE49-F238E27FC236}">
                <a16:creationId xmlns:a16="http://schemas.microsoft.com/office/drawing/2014/main" id="{176C8292-5B7A-A240-B197-8282D6F06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1828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0" name="Line 25">
            <a:extLst>
              <a:ext uri="{FF2B5EF4-FFF2-40B4-BE49-F238E27FC236}">
                <a16:creationId xmlns:a16="http://schemas.microsoft.com/office/drawing/2014/main" id="{35A17E0E-DF9C-B140-AE99-3DB1926BAC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15000" y="1905000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61" name="Oval 26">
            <a:extLst>
              <a:ext uri="{FF2B5EF4-FFF2-40B4-BE49-F238E27FC236}">
                <a16:creationId xmlns:a16="http://schemas.microsoft.com/office/drawing/2014/main" id="{C820A358-733F-CB44-914E-42A3B3FEC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2" name="Oval 27">
            <a:extLst>
              <a:ext uri="{FF2B5EF4-FFF2-40B4-BE49-F238E27FC236}">
                <a16:creationId xmlns:a16="http://schemas.microsoft.com/office/drawing/2014/main" id="{1BDA5ECD-68EB-B141-8518-23DFA09B08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3" name="Line 28">
            <a:extLst>
              <a:ext uri="{FF2B5EF4-FFF2-40B4-BE49-F238E27FC236}">
                <a16:creationId xmlns:a16="http://schemas.microsoft.com/office/drawing/2014/main" id="{EF189231-AD0A-C54C-84C9-D8A8530DE557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6600" y="49323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64" name="Text Box 29">
            <a:extLst>
              <a:ext uri="{FF2B5EF4-FFF2-40B4-BE49-F238E27FC236}">
                <a16:creationId xmlns:a16="http://schemas.microsoft.com/office/drawing/2014/main" id="{43D6A7B9-351E-B346-9D60-029A69900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4200" y="5145088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5" name="Oval 30">
            <a:extLst>
              <a:ext uri="{FF2B5EF4-FFF2-40B4-BE49-F238E27FC236}">
                <a16:creationId xmlns:a16="http://schemas.microsoft.com/office/drawing/2014/main" id="{AA0F5B49-9EE0-6F44-BE4D-057C433FC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200" y="37893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6" name="Oval 31">
            <a:extLst>
              <a:ext uri="{FF2B5EF4-FFF2-40B4-BE49-F238E27FC236}">
                <a16:creationId xmlns:a16="http://schemas.microsoft.com/office/drawing/2014/main" id="{9EBDA896-2485-BE49-9287-05675AEF6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3865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67" name="Line 32">
            <a:extLst>
              <a:ext uri="{FF2B5EF4-FFF2-40B4-BE49-F238E27FC236}">
                <a16:creationId xmlns:a16="http://schemas.microsoft.com/office/drawing/2014/main" id="{3DA299D4-33CC-164E-96C7-129F6EBB60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5200" y="40179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68" name="Line 33">
            <a:extLst>
              <a:ext uri="{FF2B5EF4-FFF2-40B4-BE49-F238E27FC236}">
                <a16:creationId xmlns:a16="http://schemas.microsoft.com/office/drawing/2014/main" id="{2C362DCF-8C70-9F4F-BF06-8CC99B9273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34200" y="4170363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69" name="Oval 34">
            <a:extLst>
              <a:ext uri="{FF2B5EF4-FFF2-40B4-BE49-F238E27FC236}">
                <a16:creationId xmlns:a16="http://schemas.microsoft.com/office/drawing/2014/main" id="{5980281E-7AC8-A041-A9FE-9F0578D01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3941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0" name="Line 35">
            <a:extLst>
              <a:ext uri="{FF2B5EF4-FFF2-40B4-BE49-F238E27FC236}">
                <a16:creationId xmlns:a16="http://schemas.microsoft.com/office/drawing/2014/main" id="{8786D1AF-4F09-9E41-B464-763FF3EBEA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77000" y="4017963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71" name="Oval 36">
            <a:extLst>
              <a:ext uri="{FF2B5EF4-FFF2-40B4-BE49-F238E27FC236}">
                <a16:creationId xmlns:a16="http://schemas.microsoft.com/office/drawing/2014/main" id="{26C1DB38-2E50-064B-9395-A8576425E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2" name="Oval 37">
            <a:extLst>
              <a:ext uri="{FF2B5EF4-FFF2-40B4-BE49-F238E27FC236}">
                <a16:creationId xmlns:a16="http://schemas.microsoft.com/office/drawing/2014/main" id="{48F41950-1849-8E4D-8FEB-ACC638051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3" name="Text Box 38">
            <a:extLst>
              <a:ext uri="{FF2B5EF4-FFF2-40B4-BE49-F238E27FC236}">
                <a16:creationId xmlns:a16="http://schemas.microsoft.com/office/drawing/2014/main" id="{45FAFF44-80D3-604C-9262-6C5A108ED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5145088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4" name="Oval 39">
            <a:extLst>
              <a:ext uri="{FF2B5EF4-FFF2-40B4-BE49-F238E27FC236}">
                <a16:creationId xmlns:a16="http://schemas.microsoft.com/office/drawing/2014/main" id="{F65EC55D-1DD5-0D4F-BEB8-61F08B5E7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37893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5" name="Oval 40">
            <a:extLst>
              <a:ext uri="{FF2B5EF4-FFF2-40B4-BE49-F238E27FC236}">
                <a16:creationId xmlns:a16="http://schemas.microsoft.com/office/drawing/2014/main" id="{0AB61B08-E775-8946-AD26-B3735EBDDD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3865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76" name="Line 41">
            <a:extLst>
              <a:ext uri="{FF2B5EF4-FFF2-40B4-BE49-F238E27FC236}">
                <a16:creationId xmlns:a16="http://schemas.microsoft.com/office/drawing/2014/main" id="{5F10F312-0A2E-074B-920D-C0BAD75823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81600" y="424656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77" name="Line 42">
            <a:extLst>
              <a:ext uri="{FF2B5EF4-FFF2-40B4-BE49-F238E27FC236}">
                <a16:creationId xmlns:a16="http://schemas.microsoft.com/office/drawing/2014/main" id="{D8CF1FD8-994D-BD43-8B1E-F54CE7F96C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40179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78" name="Line 43">
            <a:extLst>
              <a:ext uri="{FF2B5EF4-FFF2-40B4-BE49-F238E27FC236}">
                <a16:creationId xmlns:a16="http://schemas.microsoft.com/office/drawing/2014/main" id="{C51FADB5-6D01-DB42-A3D0-A23FCC8713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95800" y="4170363"/>
            <a:ext cx="8382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79" name="Oval 44">
            <a:extLst>
              <a:ext uri="{FF2B5EF4-FFF2-40B4-BE49-F238E27FC236}">
                <a16:creationId xmlns:a16="http://schemas.microsoft.com/office/drawing/2014/main" id="{6C6C0F7F-EE41-C34C-8DC1-5B98D8855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3941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0" name="Line 45">
            <a:extLst>
              <a:ext uri="{FF2B5EF4-FFF2-40B4-BE49-F238E27FC236}">
                <a16:creationId xmlns:a16="http://schemas.microsoft.com/office/drawing/2014/main" id="{C187E7A9-110E-BA48-BF98-C40A11CFB0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86200" y="4017963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81" name="Oval 46">
            <a:extLst>
              <a:ext uri="{FF2B5EF4-FFF2-40B4-BE49-F238E27FC236}">
                <a16:creationId xmlns:a16="http://schemas.microsoft.com/office/drawing/2014/main" id="{7FCEA45F-EE2C-BC49-802E-A08907C9C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2" name="Oval 47">
            <a:extLst>
              <a:ext uri="{FF2B5EF4-FFF2-40B4-BE49-F238E27FC236}">
                <a16:creationId xmlns:a16="http://schemas.microsoft.com/office/drawing/2014/main" id="{A7BE6D3D-5A9E-F043-AEAC-F8C798FC9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470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3" name="Line 48">
            <a:extLst>
              <a:ext uri="{FF2B5EF4-FFF2-40B4-BE49-F238E27FC236}">
                <a16:creationId xmlns:a16="http://schemas.microsoft.com/office/drawing/2014/main" id="{1FF50B8B-9931-1A4A-BA90-91FEFD1E7F28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8800" y="49323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84" name="Text Box 49">
            <a:extLst>
              <a:ext uri="{FF2B5EF4-FFF2-40B4-BE49-F238E27FC236}">
                <a16:creationId xmlns:a16="http://schemas.microsoft.com/office/drawing/2014/main" id="{9DC7A649-A3EF-094F-B2C9-D48EE7767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5145088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5" name="Oval 50">
            <a:extLst>
              <a:ext uri="{FF2B5EF4-FFF2-40B4-BE49-F238E27FC236}">
                <a16:creationId xmlns:a16="http://schemas.microsoft.com/office/drawing/2014/main" id="{114BFCAF-1F0B-0748-9C80-21B459117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37893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6" name="Oval 51">
            <a:extLst>
              <a:ext uri="{FF2B5EF4-FFF2-40B4-BE49-F238E27FC236}">
                <a16:creationId xmlns:a16="http://schemas.microsoft.com/office/drawing/2014/main" id="{2E922AD0-681E-0440-8997-E54FD2FEB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3865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7" name="Line 52">
            <a:extLst>
              <a:ext uri="{FF2B5EF4-FFF2-40B4-BE49-F238E27FC236}">
                <a16:creationId xmlns:a16="http://schemas.microsoft.com/office/drawing/2014/main" id="{66D7C00A-9A13-7744-A746-9535F2FC64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14600" y="424656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88" name="Oval 53">
            <a:extLst>
              <a:ext uri="{FF2B5EF4-FFF2-40B4-BE49-F238E27FC236}">
                <a16:creationId xmlns:a16="http://schemas.microsoft.com/office/drawing/2014/main" id="{6FCF83B3-431E-724A-B132-D78044A10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3941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89" name="Line 54">
            <a:extLst>
              <a:ext uri="{FF2B5EF4-FFF2-40B4-BE49-F238E27FC236}">
                <a16:creationId xmlns:a16="http://schemas.microsoft.com/office/drawing/2014/main" id="{FB8AF68A-EE09-DA43-BF2A-FAD42CB3C01E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4322763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90" name="Line 55">
            <a:extLst>
              <a:ext uri="{FF2B5EF4-FFF2-40B4-BE49-F238E27FC236}">
                <a16:creationId xmlns:a16="http://schemas.microsoft.com/office/drawing/2014/main" id="{1C03E82A-8B98-634A-A629-22A1435205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72200" y="2057400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91" name="Line 56">
            <a:extLst>
              <a:ext uri="{FF2B5EF4-FFF2-40B4-BE49-F238E27FC236}">
                <a16:creationId xmlns:a16="http://schemas.microsoft.com/office/drawing/2014/main" id="{3B848CC8-4353-674B-ACB8-F4955CB835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57400" y="40179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92" name="AutoShape 57">
            <a:extLst>
              <a:ext uri="{FF2B5EF4-FFF2-40B4-BE49-F238E27FC236}">
                <a16:creationId xmlns:a16="http://schemas.microsoft.com/office/drawing/2014/main" id="{4CBC3E6E-91E4-4841-B940-F0EC82EB6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057400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3" name="AutoShape 58">
            <a:extLst>
              <a:ext uri="{FF2B5EF4-FFF2-40B4-BE49-F238E27FC236}">
                <a16:creationId xmlns:a16="http://schemas.microsoft.com/office/drawing/2014/main" id="{8158F62F-699C-C641-B6A8-1D23063AEE79}"/>
              </a:ext>
            </a:extLst>
          </p:cNvPr>
          <p:cNvSpPr>
            <a:spLocks noChangeArrowheads="1"/>
          </p:cNvSpPr>
          <p:nvPr/>
        </p:nvSpPr>
        <p:spPr bwMode="auto">
          <a:xfrm rot="1577064">
            <a:off x="4495800" y="3124200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4" name="AutoShape 59">
            <a:extLst>
              <a:ext uri="{FF2B5EF4-FFF2-40B4-BE49-F238E27FC236}">
                <a16:creationId xmlns:a16="http://schemas.microsoft.com/office/drawing/2014/main" id="{35E5C713-6D26-0D4A-B435-888AAF7043FA}"/>
              </a:ext>
            </a:extLst>
          </p:cNvPr>
          <p:cNvSpPr>
            <a:spLocks noChangeArrowheads="1"/>
          </p:cNvSpPr>
          <p:nvPr/>
        </p:nvSpPr>
        <p:spPr bwMode="auto">
          <a:xfrm rot="3318463">
            <a:off x="3390900" y="3429000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rot="10800000" vert="eaVert"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5" name="AutoShape 60">
            <a:extLst>
              <a:ext uri="{FF2B5EF4-FFF2-40B4-BE49-F238E27FC236}">
                <a16:creationId xmlns:a16="http://schemas.microsoft.com/office/drawing/2014/main" id="{C739D187-BF1B-4242-8456-E48676AFBA60}"/>
              </a:ext>
            </a:extLst>
          </p:cNvPr>
          <p:cNvSpPr>
            <a:spLocks noChangeArrowheads="1"/>
          </p:cNvSpPr>
          <p:nvPr/>
        </p:nvSpPr>
        <p:spPr bwMode="auto">
          <a:xfrm rot="7101525">
            <a:off x="1981200" y="3505200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rot="10800000" vert="eaVert"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6" name="Text Box 61">
            <a:extLst>
              <a:ext uri="{FF2B5EF4-FFF2-40B4-BE49-F238E27FC236}">
                <a16:creationId xmlns:a16="http://schemas.microsoft.com/office/drawing/2014/main" id="{11D023F1-E99D-2C42-A13D-BFDBF7BF9D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850" y="5549900"/>
            <a:ext cx="21764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的多棵生成树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9997" name="Text Box 63">
            <a:extLst>
              <a:ext uri="{FF2B5EF4-FFF2-40B4-BE49-F238E27FC236}">
                <a16:creationId xmlns:a16="http://schemas.microsoft.com/office/drawing/2014/main" id="{2DFEC700-2A44-0C42-887B-B290BF1E8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307975"/>
            <a:ext cx="8064500" cy="1262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13.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G=(V,E),G'=(V',E'),V=V',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若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是连通图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,G'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的一个</a:t>
            </a:r>
            <a:r>
              <a:rPr lang="zh-CN" altLang="en-US" sz="2400">
                <a:solidFill>
                  <a:srgbClr val="0070C0"/>
                </a:solidFill>
                <a:latin typeface="宋体" panose="02010600030101010101" pitchFamily="2" charset="-122"/>
              </a:rPr>
              <a:t>极小连通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子图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则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G'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的一棵生成树。</a:t>
            </a:r>
            <a:endParaRPr lang="zh-CN" altLang="en-US" sz="2400" b="0">
              <a:latin typeface="宋体" panose="02010600030101010101" pitchFamily="2" charset="-122"/>
            </a:endParaRPr>
          </a:p>
        </p:txBody>
      </p:sp>
      <p:sp>
        <p:nvSpPr>
          <p:cNvPr id="2" name="椭圆 1">
            <a:extLst>
              <a:ext uri="{FF2B5EF4-FFF2-40B4-BE49-F238E27FC236}">
                <a16:creationId xmlns:a16="http://schemas.microsoft.com/office/drawing/2014/main" id="{E880C1B8-A212-F64E-8E6B-2F3AA4EA0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1168400"/>
            <a:ext cx="838200" cy="360363"/>
          </a:xfrm>
          <a:prstGeom prst="ellipse">
            <a:avLst/>
          </a:prstGeom>
          <a:noFill/>
          <a:ln w="9525" algn="ctr">
            <a:solidFill>
              <a:srgbClr val="C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cxnSp>
        <p:nvCxnSpPr>
          <p:cNvPr id="4" name="直线箭头连接符 3">
            <a:extLst>
              <a:ext uri="{FF2B5EF4-FFF2-40B4-BE49-F238E27FC236}">
                <a16:creationId xmlns:a16="http://schemas.microsoft.com/office/drawing/2014/main" id="{114C0E87-169E-3849-8565-16F70627E98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028700" y="1512888"/>
            <a:ext cx="190500" cy="468312"/>
          </a:xfrm>
          <a:prstGeom prst="straightConnector1">
            <a:avLst/>
          </a:prstGeom>
          <a:noFill/>
          <a:ln w="9525" algn="ctr">
            <a:solidFill>
              <a:srgbClr val="C0000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" name="文本框 4">
            <a:extLst>
              <a:ext uri="{FF2B5EF4-FFF2-40B4-BE49-F238E27FC236}">
                <a16:creationId xmlns:a16="http://schemas.microsoft.com/office/drawing/2014/main" id="{2456783D-2C56-8643-89B3-829D19AFE8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00" y="2068513"/>
            <a:ext cx="2146300" cy="193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C00000"/>
                </a:solidFill>
              </a:rPr>
              <a:t>含有图中全部</a:t>
            </a:r>
            <a:r>
              <a:rPr lang="en-US" altLang="zh-CN" sz="2400">
                <a:solidFill>
                  <a:srgbClr val="C00000"/>
                </a:solidFill>
              </a:rPr>
              <a:t>n</a:t>
            </a:r>
            <a:r>
              <a:rPr lang="zh-CN" altLang="en-US" sz="2400">
                <a:solidFill>
                  <a:srgbClr val="C00000"/>
                </a:solidFill>
              </a:rPr>
              <a:t>个顶点，但只有足以构成一棵树的</a:t>
            </a:r>
            <a:r>
              <a:rPr lang="en-US" altLang="zh-CN" sz="2400">
                <a:solidFill>
                  <a:srgbClr val="C00000"/>
                </a:solidFill>
              </a:rPr>
              <a:t>n-1</a:t>
            </a:r>
            <a:r>
              <a:rPr lang="zh-CN" altLang="en-US" sz="2400">
                <a:solidFill>
                  <a:srgbClr val="C00000"/>
                </a:solidFill>
              </a:rPr>
              <a:t>条边</a:t>
            </a:r>
          </a:p>
        </p:txBody>
      </p:sp>
    </p:spTree>
    <p:extLst>
      <p:ext uri="{BB962C8B-B14F-4D97-AF65-F5344CB8AC3E}">
        <p14:creationId xmlns:p14="http://schemas.microsoft.com/office/powerpoint/2010/main" val="3464879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灯片编号占位符 3">
            <a:extLst>
              <a:ext uri="{FF2B5EF4-FFF2-40B4-BE49-F238E27FC236}">
                <a16:creationId xmlns:a16="http://schemas.microsoft.com/office/drawing/2014/main" id="{2763B838-C21D-CE49-8950-14B9D0F956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BF99BCB-CEAE-BF40-AA56-BD0126AD48C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86018" name="Oval 3">
            <a:extLst>
              <a:ext uri="{FF2B5EF4-FFF2-40B4-BE49-F238E27FC236}">
                <a16:creationId xmlns:a16="http://schemas.microsoft.com/office/drawing/2014/main" id="{D9095706-0161-1345-812C-DA2A3DB67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2000" y="32400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19" name="Oval 4">
            <a:extLst>
              <a:ext uri="{FF2B5EF4-FFF2-40B4-BE49-F238E27FC236}">
                <a16:creationId xmlns:a16="http://schemas.microsoft.com/office/drawing/2014/main" id="{A41109D7-80C0-5E43-B28A-6D130F587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0200" y="30114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0" name="Oval 5">
            <a:extLst>
              <a:ext uri="{FF2B5EF4-FFF2-40B4-BE49-F238E27FC236}">
                <a16:creationId xmlns:a16="http://schemas.microsoft.com/office/drawing/2014/main" id="{446CC1BA-E68F-6244-B3F8-97ABBCA68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3000" y="23256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1" name="Oval 6">
            <a:extLst>
              <a:ext uri="{FF2B5EF4-FFF2-40B4-BE49-F238E27FC236}">
                <a16:creationId xmlns:a16="http://schemas.microsoft.com/office/drawing/2014/main" id="{0BD87CED-ACA4-0048-886E-46ED5C434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7400" y="24018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2" name="Line 7">
            <a:extLst>
              <a:ext uri="{FF2B5EF4-FFF2-40B4-BE49-F238E27FC236}">
                <a16:creationId xmlns:a16="http://schemas.microsoft.com/office/drawing/2014/main" id="{5354D070-E1CE-7147-8F91-66C872C718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09925" y="277812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3" name="Line 8">
            <a:extLst>
              <a:ext uri="{FF2B5EF4-FFF2-40B4-BE49-F238E27FC236}">
                <a16:creationId xmlns:a16="http://schemas.microsoft.com/office/drawing/2014/main" id="{6993C825-CB7E-EE43-B5F9-8E16D6EA24F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94000" y="2554288"/>
            <a:ext cx="533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4" name="Line 9">
            <a:extLst>
              <a:ext uri="{FF2B5EF4-FFF2-40B4-BE49-F238E27FC236}">
                <a16:creationId xmlns:a16="http://schemas.microsoft.com/office/drawing/2014/main" id="{E7DB0845-B09F-7440-ACD5-B8BF2F20401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82875" y="2695575"/>
            <a:ext cx="2286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5" name="Oval 10">
            <a:extLst>
              <a:ext uri="{FF2B5EF4-FFF2-40B4-BE49-F238E27FC236}">
                <a16:creationId xmlns:a16="http://schemas.microsoft.com/office/drawing/2014/main" id="{DC4DFD28-D3A6-2F4E-A682-CE8C62C2C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4800" y="24780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6" name="Line 11">
            <a:extLst>
              <a:ext uri="{FF2B5EF4-FFF2-40B4-BE49-F238E27FC236}">
                <a16:creationId xmlns:a16="http://schemas.microsoft.com/office/drawing/2014/main" id="{69F82079-D708-E04D-9DD6-ADB48FB26C46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2795588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7" name="Line 12">
            <a:extLst>
              <a:ext uri="{FF2B5EF4-FFF2-40B4-BE49-F238E27FC236}">
                <a16:creationId xmlns:a16="http://schemas.microsoft.com/office/drawing/2014/main" id="{D3C684E1-5D6D-FC47-B1CC-FFF85EA038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55800" y="2554288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8" name="Oval 13">
            <a:extLst>
              <a:ext uri="{FF2B5EF4-FFF2-40B4-BE49-F238E27FC236}">
                <a16:creationId xmlns:a16="http://schemas.microsoft.com/office/drawing/2014/main" id="{7C1E6E56-01E1-CD4E-884C-BAC4D6179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8600" y="42306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9" name="Oval 14">
            <a:extLst>
              <a:ext uri="{FF2B5EF4-FFF2-40B4-BE49-F238E27FC236}">
                <a16:creationId xmlns:a16="http://schemas.microsoft.com/office/drawing/2014/main" id="{0B7F8BA2-F2A7-6447-9DD7-1E46FE056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6800" y="41544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30" name="Line 15">
            <a:extLst>
              <a:ext uri="{FF2B5EF4-FFF2-40B4-BE49-F238E27FC236}">
                <a16:creationId xmlns:a16="http://schemas.microsoft.com/office/drawing/2014/main" id="{FB59D65A-1CBE-5C49-9DBC-CC7EDAA8E36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79600" y="438308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1" name="Line 16">
            <a:extLst>
              <a:ext uri="{FF2B5EF4-FFF2-40B4-BE49-F238E27FC236}">
                <a16:creationId xmlns:a16="http://schemas.microsoft.com/office/drawing/2014/main" id="{2454580D-ECEF-F24F-AB4C-0A8751453BA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60600" y="3621088"/>
            <a:ext cx="2286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2" name="Line 17">
            <a:extLst>
              <a:ext uri="{FF2B5EF4-FFF2-40B4-BE49-F238E27FC236}">
                <a16:creationId xmlns:a16="http://schemas.microsoft.com/office/drawing/2014/main" id="{D77F17DF-7378-9E43-9EED-3FBE8FA8B3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03400" y="3621088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3" name="Oval 18">
            <a:extLst>
              <a:ext uri="{FF2B5EF4-FFF2-40B4-BE49-F238E27FC236}">
                <a16:creationId xmlns:a16="http://schemas.microsoft.com/office/drawing/2014/main" id="{AA5AB801-F825-4546-945F-678F09EE9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6200" y="33924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34" name="Line 19">
            <a:extLst>
              <a:ext uri="{FF2B5EF4-FFF2-40B4-BE49-F238E27FC236}">
                <a16:creationId xmlns:a16="http://schemas.microsoft.com/office/drawing/2014/main" id="{F5330B8A-EA8B-3E43-B1F5-D47A0DAB5E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74800" y="2859088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5" name="Line 20">
            <a:extLst>
              <a:ext uri="{FF2B5EF4-FFF2-40B4-BE49-F238E27FC236}">
                <a16:creationId xmlns:a16="http://schemas.microsoft.com/office/drawing/2014/main" id="{154BB93A-E414-7348-9EC3-83FE5BAC50A8}"/>
              </a:ext>
            </a:extLst>
          </p:cNvPr>
          <p:cNvSpPr>
            <a:spLocks noChangeShapeType="1"/>
          </p:cNvSpPr>
          <p:nvPr/>
        </p:nvSpPr>
        <p:spPr bwMode="auto">
          <a:xfrm>
            <a:off x="1574800" y="3773488"/>
            <a:ext cx="76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6" name="Text Box 23">
            <a:extLst>
              <a:ext uri="{FF2B5EF4-FFF2-40B4-BE49-F238E27FC236}">
                <a16:creationId xmlns:a16="http://schemas.microsoft.com/office/drawing/2014/main" id="{7289BCA0-5FED-444B-B616-12B09510BD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4725" y="4760913"/>
            <a:ext cx="7429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37" name="Text Box 78">
            <a:extLst>
              <a:ext uri="{FF2B5EF4-FFF2-40B4-BE49-F238E27FC236}">
                <a16:creationId xmlns:a16="http://schemas.microsoft.com/office/drawing/2014/main" id="{C9D21553-4966-4641-ACD4-298058313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700" y="531813"/>
            <a:ext cx="8139113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00"/>
                </a:solidFill>
                <a:latin typeface="宋体" panose="02010600030101010101" pitchFamily="2" charset="-122"/>
              </a:rPr>
              <a:t>7.4 </a:t>
            </a:r>
            <a:r>
              <a:rPr lang="zh-CN" altLang="en-US">
                <a:solidFill>
                  <a:srgbClr val="000000"/>
                </a:solidFill>
                <a:latin typeface="宋体" panose="02010600030101010101" pitchFamily="2" charset="-122"/>
              </a:rPr>
              <a:t>图的连通性问题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0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   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7.4.1 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无向图的连通分量和生成树</a:t>
            </a:r>
            <a:endParaRPr lang="en-US" altLang="zh-CN" sz="2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）连通分量</a:t>
            </a:r>
            <a:endParaRPr lang="zh-CN" altLang="en-US" sz="2400">
              <a:latin typeface="宋体" panose="02010600030101010101" pitchFamily="2" charset="-122"/>
            </a:endParaRPr>
          </a:p>
        </p:txBody>
      </p:sp>
      <p:sp>
        <p:nvSpPr>
          <p:cNvPr id="86038" name="Oval 3">
            <a:extLst>
              <a:ext uri="{FF2B5EF4-FFF2-40B4-BE49-F238E27FC236}">
                <a16:creationId xmlns:a16="http://schemas.microsoft.com/office/drawing/2014/main" id="{3FF736B6-25C9-3441-8C25-0D34F68B4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2450" y="31210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39" name="Oval 4">
            <a:extLst>
              <a:ext uri="{FF2B5EF4-FFF2-40B4-BE49-F238E27FC236}">
                <a16:creationId xmlns:a16="http://schemas.microsoft.com/office/drawing/2014/main" id="{DDB33FD7-59E2-144F-9FFD-D0935C8B7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9850" y="32734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0" name="Oval 5">
            <a:extLst>
              <a:ext uri="{FF2B5EF4-FFF2-40B4-BE49-F238E27FC236}">
                <a16:creationId xmlns:a16="http://schemas.microsoft.com/office/drawing/2014/main" id="{9F90145C-6854-9A4B-B657-62667854D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8850" y="25114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1" name="Oval 6">
            <a:extLst>
              <a:ext uri="{FF2B5EF4-FFF2-40B4-BE49-F238E27FC236}">
                <a16:creationId xmlns:a16="http://schemas.microsoft.com/office/drawing/2014/main" id="{80E55EA0-8AC1-844B-8FED-C0047B3D5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50" y="25876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2" name="Line 7">
            <a:extLst>
              <a:ext uri="{FF2B5EF4-FFF2-40B4-BE49-F238E27FC236}">
                <a16:creationId xmlns:a16="http://schemas.microsoft.com/office/drawing/2014/main" id="{75CA08DB-3914-174B-A7D8-43A30F414E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31163" y="297497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43" name="Line 8">
            <a:extLst>
              <a:ext uri="{FF2B5EF4-FFF2-40B4-BE49-F238E27FC236}">
                <a16:creationId xmlns:a16="http://schemas.microsoft.com/office/drawing/2014/main" id="{F54B8515-EC82-0E4E-8396-769A7EAFB2E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89850" y="2740025"/>
            <a:ext cx="533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44" name="Line 9">
            <a:extLst>
              <a:ext uri="{FF2B5EF4-FFF2-40B4-BE49-F238E27FC236}">
                <a16:creationId xmlns:a16="http://schemas.microsoft.com/office/drawing/2014/main" id="{3D7C6FBA-129F-B143-9581-DA3BE351DAE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97763" y="2886075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45" name="Oval 10">
            <a:extLst>
              <a:ext uri="{FF2B5EF4-FFF2-40B4-BE49-F238E27FC236}">
                <a16:creationId xmlns:a16="http://schemas.microsoft.com/office/drawing/2014/main" id="{7EEA23E3-53C0-6143-99F1-737B696244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1450" y="25114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6" name="Line 11">
            <a:extLst>
              <a:ext uri="{FF2B5EF4-FFF2-40B4-BE49-F238E27FC236}">
                <a16:creationId xmlns:a16="http://schemas.microsoft.com/office/drawing/2014/main" id="{330715F7-8D36-5444-AC14-9F9C3C95C57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475" y="282575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47" name="Oval 12">
            <a:extLst>
              <a:ext uri="{FF2B5EF4-FFF2-40B4-BE49-F238E27FC236}">
                <a16:creationId xmlns:a16="http://schemas.microsoft.com/office/drawing/2014/main" id="{DE9903CB-5779-1A44-90C9-99A5BCEA4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9050" y="39592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8" name="Oval 13">
            <a:extLst>
              <a:ext uri="{FF2B5EF4-FFF2-40B4-BE49-F238E27FC236}">
                <a16:creationId xmlns:a16="http://schemas.microsoft.com/office/drawing/2014/main" id="{AB44CC0F-9CBE-0C40-9533-DEBD08B14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38830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9" name="Line 14">
            <a:extLst>
              <a:ext uri="{FF2B5EF4-FFF2-40B4-BE49-F238E27FC236}">
                <a16:creationId xmlns:a16="http://schemas.microsoft.com/office/drawing/2014/main" id="{C49EB171-855A-FF46-95ED-FB49FC164C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80050" y="4111625"/>
            <a:ext cx="3048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0" name="Line 15">
            <a:extLst>
              <a:ext uri="{FF2B5EF4-FFF2-40B4-BE49-F238E27FC236}">
                <a16:creationId xmlns:a16="http://schemas.microsoft.com/office/drawing/2014/main" id="{78046C9F-DD16-3A4B-B79C-339F0B12409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61050" y="3502025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1" name="Line 16">
            <a:extLst>
              <a:ext uri="{FF2B5EF4-FFF2-40B4-BE49-F238E27FC236}">
                <a16:creationId xmlns:a16="http://schemas.microsoft.com/office/drawing/2014/main" id="{B0C7DF7B-97EC-9448-BF97-F5FD89C0A9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57813" y="3490913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2" name="Oval 17">
            <a:extLst>
              <a:ext uri="{FF2B5EF4-FFF2-40B4-BE49-F238E27FC236}">
                <a16:creationId xmlns:a16="http://schemas.microsoft.com/office/drawing/2014/main" id="{FA37F4D6-9D92-C948-A01D-0C6047229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6650" y="31972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53" name="Line 18">
            <a:extLst>
              <a:ext uri="{FF2B5EF4-FFF2-40B4-BE49-F238E27FC236}">
                <a16:creationId xmlns:a16="http://schemas.microsoft.com/office/drawing/2014/main" id="{4826A8A8-4AA4-2A4E-966A-9176526CF2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75250" y="289242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4" name="Line 19">
            <a:extLst>
              <a:ext uri="{FF2B5EF4-FFF2-40B4-BE49-F238E27FC236}">
                <a16:creationId xmlns:a16="http://schemas.microsoft.com/office/drawing/2014/main" id="{BACB81C0-C456-FB4A-8E10-366CE24731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5250" y="3578225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5" name="Oval 20">
            <a:extLst>
              <a:ext uri="{FF2B5EF4-FFF2-40B4-BE49-F238E27FC236}">
                <a16:creationId xmlns:a16="http://schemas.microsoft.com/office/drawing/2014/main" id="{25AABEFE-DCF4-034A-90B3-D5922ECEA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8250" y="35782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56" name="Line 21">
            <a:extLst>
              <a:ext uri="{FF2B5EF4-FFF2-40B4-BE49-F238E27FC236}">
                <a16:creationId xmlns:a16="http://schemas.microsoft.com/office/drawing/2014/main" id="{6A217E95-2BD1-9A42-BDF3-DD908F915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3763" y="3460750"/>
            <a:ext cx="3810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7" name="Oval 22">
            <a:extLst>
              <a:ext uri="{FF2B5EF4-FFF2-40B4-BE49-F238E27FC236}">
                <a16:creationId xmlns:a16="http://schemas.microsoft.com/office/drawing/2014/main" id="{A0D93CF5-3FBE-5441-B077-40236D964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4450" y="25114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58" name="Oval 23">
            <a:extLst>
              <a:ext uri="{FF2B5EF4-FFF2-40B4-BE49-F238E27FC236}">
                <a16:creationId xmlns:a16="http://schemas.microsoft.com/office/drawing/2014/main" id="{E0A661EC-A7BA-D249-BF09-60097BDA0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31972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59" name="Line 24">
            <a:extLst>
              <a:ext uri="{FF2B5EF4-FFF2-40B4-BE49-F238E27FC236}">
                <a16:creationId xmlns:a16="http://schemas.microsoft.com/office/drawing/2014/main" id="{65A4ADAD-2444-F34C-BE11-FD7BF7C78E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3050" y="2892425"/>
            <a:ext cx="1524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60" name="Text Box 26">
            <a:extLst>
              <a:ext uri="{FF2B5EF4-FFF2-40B4-BE49-F238E27FC236}">
                <a16:creationId xmlns:a16="http://schemas.microsoft.com/office/drawing/2014/main" id="{36693EB0-24BD-AC4A-B3A2-ABFAC0E0F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760913"/>
            <a:ext cx="720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灯片编号占位符 3">
            <a:extLst>
              <a:ext uri="{FF2B5EF4-FFF2-40B4-BE49-F238E27FC236}">
                <a16:creationId xmlns:a16="http://schemas.microsoft.com/office/drawing/2014/main" id="{C1EF745E-EF9B-F344-8268-494770BF03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0B8CDA7-504F-1C44-8FB8-B51D4B81DA9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79874" name="Text Box 38">
            <a:extLst>
              <a:ext uri="{FF2B5EF4-FFF2-40B4-BE49-F238E27FC236}">
                <a16:creationId xmlns:a16="http://schemas.microsoft.com/office/drawing/2014/main" id="{255BEE7C-8A29-2741-9FEA-E947DA653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00" y="333375"/>
            <a:ext cx="8820150" cy="637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>
                <a:latin typeface="宋体" panose="02010600030101010101" pitchFamily="2" charset="-122"/>
              </a:rPr>
              <a:t>深度优先搜索遍历算法代码（假定结点序号从</a:t>
            </a:r>
            <a:r>
              <a:rPr lang="en-US" altLang="zh-CN" sz="2400" dirty="0">
                <a:latin typeface="宋体" panose="02010600030101010101" pitchFamily="2" charset="-122"/>
              </a:rPr>
              <a:t>0</a:t>
            </a:r>
            <a:r>
              <a:rPr lang="zh-CN" altLang="en-US" sz="2400" dirty="0">
                <a:latin typeface="宋体" panose="02010600030101010101" pitchFamily="2" charset="-122"/>
              </a:rPr>
              <a:t>开始）：</a:t>
            </a:r>
            <a:endParaRPr lang="en-US" altLang="zh-CN" sz="2400" dirty="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 err="1">
                <a:latin typeface="宋体" panose="02010600030101010101" pitchFamily="2" charset="-122"/>
              </a:rPr>
              <a:t>boolean</a:t>
            </a:r>
            <a:r>
              <a:rPr lang="en-US" altLang="zh-CN" sz="2400" dirty="0">
                <a:latin typeface="宋体" panose="02010600030101010101" pitchFamily="2" charset="-122"/>
              </a:rPr>
              <a:t> visited[MAX];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void </a:t>
            </a:r>
            <a:r>
              <a:rPr lang="en-US" altLang="zh-CN" sz="2400" dirty="0" err="1">
                <a:latin typeface="宋体" panose="02010600030101010101" pitchFamily="2" charset="-122"/>
              </a:rPr>
              <a:t>DFSTraverse</a:t>
            </a:r>
            <a:r>
              <a:rPr lang="en-US" altLang="zh-CN" sz="2400" dirty="0">
                <a:latin typeface="宋体" panose="02010600030101010101" pitchFamily="2" charset="-122"/>
              </a:rPr>
              <a:t>(Graph </a:t>
            </a:r>
            <a:r>
              <a:rPr lang="en-US" altLang="zh-CN" sz="2400" dirty="0" err="1">
                <a:latin typeface="宋体" panose="02010600030101010101" pitchFamily="2" charset="-122"/>
              </a:rPr>
              <a:t>G,Status</a:t>
            </a:r>
            <a:r>
              <a:rPr lang="en-US" altLang="zh-CN" sz="2400" dirty="0">
                <a:latin typeface="宋体" panose="02010600030101010101" pitchFamily="2" charset="-122"/>
              </a:rPr>
              <a:t> (*visit)())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   for(v=0;v&lt;</a:t>
            </a:r>
            <a:r>
              <a:rPr lang="en-US" altLang="zh-CN" sz="2400" dirty="0" err="1">
                <a:latin typeface="宋体" panose="02010600030101010101" pitchFamily="2" charset="-122"/>
              </a:rPr>
              <a:t>G.vexnum</a:t>
            </a:r>
            <a:r>
              <a:rPr lang="en-US" altLang="zh-CN" sz="2400" dirty="0">
                <a:latin typeface="宋体" panose="02010600030101010101" pitchFamily="2" charset="-122"/>
              </a:rPr>
              <a:t>; v++)    //</a:t>
            </a:r>
            <a:r>
              <a:rPr lang="zh-CN" altLang="en-US" sz="2400" dirty="0">
                <a:latin typeface="宋体" panose="02010600030101010101" pitchFamily="2" charset="-122"/>
              </a:rPr>
              <a:t>初始化各顶点未访问状态</a:t>
            </a:r>
            <a:endParaRPr lang="en-US" altLang="zh-CN" sz="2400" dirty="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      visited[v]=false;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>
                <a:latin typeface="宋体" panose="02010600030101010101" pitchFamily="2" charset="-122"/>
              </a:rPr>
              <a:t>   </a:t>
            </a:r>
            <a:r>
              <a:rPr lang="en-US" altLang="zh-CN" sz="2400" dirty="0">
                <a:latin typeface="宋体" panose="02010600030101010101" pitchFamily="2" charset="-122"/>
              </a:rPr>
              <a:t>int count=0;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   for(v=0;v&lt;</a:t>
            </a:r>
            <a:r>
              <a:rPr lang="en-US" altLang="zh-CN" sz="2400" dirty="0" err="1">
                <a:latin typeface="宋体" panose="02010600030101010101" pitchFamily="2" charset="-122"/>
              </a:rPr>
              <a:t>G.vexnum</a:t>
            </a:r>
            <a:r>
              <a:rPr lang="en-US" altLang="zh-CN" sz="2400" dirty="0">
                <a:latin typeface="宋体" panose="02010600030101010101" pitchFamily="2" charset="-122"/>
              </a:rPr>
              <a:t>; v++)  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      if (!visited[v])         //</a:t>
            </a:r>
            <a:r>
              <a:rPr lang="zh-CN" altLang="en-US" sz="2400" dirty="0">
                <a:latin typeface="宋体" panose="02010600030101010101" pitchFamily="2" charset="-122"/>
              </a:rPr>
              <a:t>从一个未访问的顶点开始</a:t>
            </a:r>
            <a:endParaRPr lang="en-US" altLang="zh-CN" sz="2400" dirty="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	   DFS(G, v, visit); count++;	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void DFS(Graph </a:t>
            </a:r>
            <a:r>
              <a:rPr lang="en-US" altLang="zh-CN" sz="2400" dirty="0" err="1">
                <a:latin typeface="宋体" panose="02010600030101010101" pitchFamily="2" charset="-122"/>
              </a:rPr>
              <a:t>G,int</a:t>
            </a:r>
            <a:r>
              <a:rPr lang="en-US" altLang="zh-CN" sz="2400" dirty="0">
                <a:latin typeface="宋体" panose="02010600030101010101" pitchFamily="2" charset="-122"/>
              </a:rPr>
              <a:t> </a:t>
            </a:r>
            <a:r>
              <a:rPr lang="en-US" altLang="zh-CN" sz="2400" dirty="0" err="1">
                <a:latin typeface="宋体" panose="02010600030101010101" pitchFamily="2" charset="-122"/>
              </a:rPr>
              <a:t>v,Status</a:t>
            </a:r>
            <a:r>
              <a:rPr lang="en-US" altLang="zh-CN" sz="2400" dirty="0">
                <a:latin typeface="宋体" panose="02010600030101010101" pitchFamily="2" charset="-122"/>
              </a:rPr>
              <a:t> (*visit)())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   visited[v]=true; visit(v);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   for(w=</a:t>
            </a:r>
            <a:r>
              <a:rPr lang="en-US" altLang="zh-CN" sz="2400" dirty="0" err="1">
                <a:latin typeface="宋体" panose="02010600030101010101" pitchFamily="2" charset="-122"/>
              </a:rPr>
              <a:t>FirstAdjVex</a:t>
            </a:r>
            <a:r>
              <a:rPr lang="en-US" altLang="zh-CN" sz="2400" dirty="0">
                <a:latin typeface="宋体" panose="02010600030101010101" pitchFamily="2" charset="-122"/>
              </a:rPr>
              <a:t>(</a:t>
            </a:r>
            <a:r>
              <a:rPr lang="en-US" altLang="zh-CN" sz="2400" dirty="0" err="1">
                <a:latin typeface="宋体" panose="02010600030101010101" pitchFamily="2" charset="-122"/>
              </a:rPr>
              <a:t>G,v</a:t>
            </a:r>
            <a:r>
              <a:rPr lang="en-US" altLang="zh-CN" sz="2400" dirty="0">
                <a:latin typeface="宋体" panose="02010600030101010101" pitchFamily="2" charset="-122"/>
              </a:rPr>
              <a:t>),w&gt;=0; w=</a:t>
            </a:r>
            <a:r>
              <a:rPr lang="en-US" altLang="zh-CN" sz="2400" dirty="0" err="1">
                <a:latin typeface="宋体" panose="02010600030101010101" pitchFamily="2" charset="-122"/>
              </a:rPr>
              <a:t>NextAdjVex</a:t>
            </a:r>
            <a:r>
              <a:rPr lang="en-US" altLang="zh-CN" sz="2400" dirty="0">
                <a:latin typeface="宋体" panose="02010600030101010101" pitchFamily="2" charset="-122"/>
              </a:rPr>
              <a:t>(</a:t>
            </a:r>
            <a:r>
              <a:rPr lang="en-US" altLang="zh-CN" sz="2400" dirty="0" err="1">
                <a:latin typeface="宋体" panose="02010600030101010101" pitchFamily="2" charset="-122"/>
              </a:rPr>
              <a:t>G,v,w</a:t>
            </a:r>
            <a:r>
              <a:rPr lang="en-US" altLang="zh-CN" sz="2400" dirty="0">
                <a:latin typeface="宋体" panose="02010600030101010101" pitchFamily="2" charset="-122"/>
              </a:rPr>
              <a:t>))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         if (!visited[w])     //</a:t>
            </a:r>
            <a:r>
              <a:rPr lang="zh-CN" altLang="en-US" sz="2400" dirty="0">
                <a:latin typeface="宋体" panose="02010600030101010101" pitchFamily="2" charset="-122"/>
              </a:rPr>
              <a:t>处理所有未访问的邻接顶点</a:t>
            </a:r>
            <a:endParaRPr lang="en-US" altLang="zh-CN" sz="2400" dirty="0"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		 DFS(G, </a:t>
            </a:r>
            <a:r>
              <a:rPr lang="en-US" altLang="zh-CN" sz="2400" dirty="0" err="1">
                <a:latin typeface="宋体" panose="02010600030101010101" pitchFamily="2" charset="-122"/>
              </a:rPr>
              <a:t>w,visit</a:t>
            </a:r>
            <a:r>
              <a:rPr lang="en-US" altLang="zh-CN" sz="2400" dirty="0">
                <a:latin typeface="宋体" panose="02010600030101010101" pitchFamily="2" charset="-122"/>
              </a:rPr>
              <a:t>);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2400" dirty="0">
              <a:latin typeface="宋体" panose="02010600030101010101" pitchFamily="2" charset="-122"/>
            </a:endParaRPr>
          </a:p>
        </p:txBody>
      </p:sp>
      <p:sp>
        <p:nvSpPr>
          <p:cNvPr id="79880" name="文本框 1">
            <a:extLst>
              <a:ext uri="{FF2B5EF4-FFF2-40B4-BE49-F238E27FC236}">
                <a16:creationId xmlns:a16="http://schemas.microsoft.com/office/drawing/2014/main" id="{D505A342-DCB4-4641-8252-B3F94DD818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645024"/>
            <a:ext cx="4446339" cy="469453"/>
          </a:xfrm>
          <a:prstGeom prst="rect">
            <a:avLst/>
          </a:prstGeom>
          <a:noFill/>
          <a:ln w="1905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b="0" dirty="0"/>
              <a:t>一个连通分量对应此处一个</a:t>
            </a:r>
            <a:r>
              <a:rPr lang="en-US" altLang="zh-CN" b="0" dirty="0"/>
              <a:t>DFS</a:t>
            </a:r>
            <a:endParaRPr lang="zh-CN" altLang="en-US" b="0" dirty="0"/>
          </a:p>
        </p:txBody>
      </p:sp>
    </p:spTree>
    <p:extLst>
      <p:ext uri="{BB962C8B-B14F-4D97-AF65-F5344CB8AC3E}">
        <p14:creationId xmlns:p14="http://schemas.microsoft.com/office/powerpoint/2010/main" val="37112384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灯片编号占位符 3">
            <a:extLst>
              <a:ext uri="{FF2B5EF4-FFF2-40B4-BE49-F238E27FC236}">
                <a16:creationId xmlns:a16="http://schemas.microsoft.com/office/drawing/2014/main" id="{2763B838-C21D-CE49-8950-14B9D0F956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105788" y="7006582"/>
            <a:ext cx="19050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BF99BCB-CEAE-BF40-AA56-BD0126AD48C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86018" name="Oval 3">
            <a:extLst>
              <a:ext uri="{FF2B5EF4-FFF2-40B4-BE49-F238E27FC236}">
                <a16:creationId xmlns:a16="http://schemas.microsoft.com/office/drawing/2014/main" id="{D9095706-0161-1345-812C-DA2A3DB67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5988" y="384587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19" name="Oval 4">
            <a:extLst>
              <a:ext uri="{FF2B5EF4-FFF2-40B4-BE49-F238E27FC236}">
                <a16:creationId xmlns:a16="http://schemas.microsoft.com/office/drawing/2014/main" id="{A41109D7-80C0-5E43-B28A-6D130F587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4188" y="361727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0" name="Oval 5">
            <a:extLst>
              <a:ext uri="{FF2B5EF4-FFF2-40B4-BE49-F238E27FC236}">
                <a16:creationId xmlns:a16="http://schemas.microsoft.com/office/drawing/2014/main" id="{446CC1BA-E68F-6244-B3F8-97ABBCA68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6988" y="293147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1" name="Oval 6">
            <a:extLst>
              <a:ext uri="{FF2B5EF4-FFF2-40B4-BE49-F238E27FC236}">
                <a16:creationId xmlns:a16="http://schemas.microsoft.com/office/drawing/2014/main" id="{0BD87CED-ACA4-0048-886E-46ED5C434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8" y="300767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2" name="Line 7">
            <a:extLst>
              <a:ext uri="{FF2B5EF4-FFF2-40B4-BE49-F238E27FC236}">
                <a16:creationId xmlns:a16="http://schemas.microsoft.com/office/drawing/2014/main" id="{5354D070-E1CE-7147-8F91-66C872C718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913" y="3383907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3" name="Line 8">
            <a:extLst>
              <a:ext uri="{FF2B5EF4-FFF2-40B4-BE49-F238E27FC236}">
                <a16:creationId xmlns:a16="http://schemas.microsoft.com/office/drawing/2014/main" id="{6993C825-CB7E-EE43-B5F9-8E16D6EA24F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117988" y="3160070"/>
            <a:ext cx="533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4" name="Line 9">
            <a:extLst>
              <a:ext uri="{FF2B5EF4-FFF2-40B4-BE49-F238E27FC236}">
                <a16:creationId xmlns:a16="http://schemas.microsoft.com/office/drawing/2014/main" id="{E7DB0845-B09F-7440-ACD5-B8BF2F20401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006863" y="3301357"/>
            <a:ext cx="2286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5" name="Oval 10">
            <a:extLst>
              <a:ext uri="{FF2B5EF4-FFF2-40B4-BE49-F238E27FC236}">
                <a16:creationId xmlns:a16="http://schemas.microsoft.com/office/drawing/2014/main" id="{DC4DFD28-D3A6-2F4E-A682-CE8C62C2C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8788" y="308387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6" name="Line 11">
            <a:extLst>
              <a:ext uri="{FF2B5EF4-FFF2-40B4-BE49-F238E27FC236}">
                <a16:creationId xmlns:a16="http://schemas.microsoft.com/office/drawing/2014/main" id="{69F82079-D708-E04D-9DD6-ADB48FB26C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8988" y="3401370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7" name="Line 12">
            <a:extLst>
              <a:ext uri="{FF2B5EF4-FFF2-40B4-BE49-F238E27FC236}">
                <a16:creationId xmlns:a16="http://schemas.microsoft.com/office/drawing/2014/main" id="{D3C684E1-5D6D-FC47-B1CC-FFF85EA038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9788" y="3160070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8" name="Oval 13">
            <a:extLst>
              <a:ext uri="{FF2B5EF4-FFF2-40B4-BE49-F238E27FC236}">
                <a16:creationId xmlns:a16="http://schemas.microsoft.com/office/drawing/2014/main" id="{7C1E6E56-01E1-CD4E-884C-BAC4D6179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2588" y="483647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29" name="Oval 14">
            <a:extLst>
              <a:ext uri="{FF2B5EF4-FFF2-40B4-BE49-F238E27FC236}">
                <a16:creationId xmlns:a16="http://schemas.microsoft.com/office/drawing/2014/main" id="{0B7F8BA2-F2A7-6447-9DD7-1E46FE056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0788" y="476027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30" name="Line 15">
            <a:extLst>
              <a:ext uri="{FF2B5EF4-FFF2-40B4-BE49-F238E27FC236}">
                <a16:creationId xmlns:a16="http://schemas.microsoft.com/office/drawing/2014/main" id="{FB59D65A-1CBE-5C49-9DBC-CC7EDAA8E36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3588" y="498887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1" name="Line 16">
            <a:extLst>
              <a:ext uri="{FF2B5EF4-FFF2-40B4-BE49-F238E27FC236}">
                <a16:creationId xmlns:a16="http://schemas.microsoft.com/office/drawing/2014/main" id="{2454580D-ECEF-F24F-AB4C-0A8751453BA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584588" y="4226870"/>
            <a:ext cx="2286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2" name="Line 17">
            <a:extLst>
              <a:ext uri="{FF2B5EF4-FFF2-40B4-BE49-F238E27FC236}">
                <a16:creationId xmlns:a16="http://schemas.microsoft.com/office/drawing/2014/main" id="{D77F17DF-7378-9E43-9EED-3FBE8FA8B3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7388" y="4226870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3" name="Oval 18">
            <a:extLst>
              <a:ext uri="{FF2B5EF4-FFF2-40B4-BE49-F238E27FC236}">
                <a16:creationId xmlns:a16="http://schemas.microsoft.com/office/drawing/2014/main" id="{AA5AB801-F825-4546-945F-678F09EE9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88" y="399827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34" name="Line 19">
            <a:extLst>
              <a:ext uri="{FF2B5EF4-FFF2-40B4-BE49-F238E27FC236}">
                <a16:creationId xmlns:a16="http://schemas.microsoft.com/office/drawing/2014/main" id="{F5330B8A-EA8B-3E43-B1F5-D47A0DAB5E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98788" y="3464870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5" name="Line 20">
            <a:extLst>
              <a:ext uri="{FF2B5EF4-FFF2-40B4-BE49-F238E27FC236}">
                <a16:creationId xmlns:a16="http://schemas.microsoft.com/office/drawing/2014/main" id="{154BB93A-E414-7348-9EC3-83FE5BAC50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788" y="4379270"/>
            <a:ext cx="76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6" name="Text Box 23">
            <a:extLst>
              <a:ext uri="{FF2B5EF4-FFF2-40B4-BE49-F238E27FC236}">
                <a16:creationId xmlns:a16="http://schemas.microsoft.com/office/drawing/2014/main" id="{7289BCA0-5FED-444B-B616-12B09510BD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8713" y="5366695"/>
            <a:ext cx="7429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230122AF-7A26-934D-85F2-B34C8104A434}"/>
              </a:ext>
            </a:extLst>
          </p:cNvPr>
          <p:cNvSpPr txBox="1"/>
          <p:nvPr/>
        </p:nvSpPr>
        <p:spPr>
          <a:xfrm>
            <a:off x="1519390" y="1658546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,A)</a:t>
            </a:r>
            <a:endParaRPr kumimoji="1" lang="zh-CN" altLang="en-US" sz="2000" b="0" dirty="0"/>
          </a:p>
        </p:txBody>
      </p:sp>
      <p:sp>
        <p:nvSpPr>
          <p:cNvPr id="4" name="左大括号 3">
            <a:extLst>
              <a:ext uri="{FF2B5EF4-FFF2-40B4-BE49-F238E27FC236}">
                <a16:creationId xmlns:a16="http://schemas.microsoft.com/office/drawing/2014/main" id="{60B6AD1A-43E9-E94E-81A5-8A001E40746A}"/>
              </a:ext>
            </a:extLst>
          </p:cNvPr>
          <p:cNvSpPr/>
          <p:nvPr/>
        </p:nvSpPr>
        <p:spPr bwMode="auto">
          <a:xfrm>
            <a:off x="2708288" y="1010474"/>
            <a:ext cx="190500" cy="1713384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D446FBAC-B062-DE45-B0F0-46DC9D2D25AC}"/>
              </a:ext>
            </a:extLst>
          </p:cNvPr>
          <p:cNvSpPr txBox="1"/>
          <p:nvPr/>
        </p:nvSpPr>
        <p:spPr>
          <a:xfrm>
            <a:off x="2974988" y="856897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,E)</a:t>
            </a:r>
            <a:endParaRPr kumimoji="1" lang="zh-CN" altLang="en-US" sz="2000" b="0" dirty="0"/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AC55CCE6-28FF-7544-951E-50029AD19DB6}"/>
              </a:ext>
            </a:extLst>
          </p:cNvPr>
          <p:cNvSpPr txBox="1"/>
          <p:nvPr/>
        </p:nvSpPr>
        <p:spPr>
          <a:xfrm>
            <a:off x="2953913" y="2481779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,B)</a:t>
            </a:r>
            <a:endParaRPr kumimoji="1" lang="zh-CN" altLang="en-US" sz="2000" b="0" dirty="0"/>
          </a:p>
        </p:txBody>
      </p:sp>
      <p:sp>
        <p:nvSpPr>
          <p:cNvPr id="5" name="左大括号 4">
            <a:extLst>
              <a:ext uri="{FF2B5EF4-FFF2-40B4-BE49-F238E27FC236}">
                <a16:creationId xmlns:a16="http://schemas.microsoft.com/office/drawing/2014/main" id="{F265EC43-A2DB-2740-9CBD-2EBA3B7776A5}"/>
              </a:ext>
            </a:extLst>
          </p:cNvPr>
          <p:cNvSpPr/>
          <p:nvPr/>
        </p:nvSpPr>
        <p:spPr bwMode="auto">
          <a:xfrm>
            <a:off x="4232229" y="724187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53" name="文本框 52">
            <a:extLst>
              <a:ext uri="{FF2B5EF4-FFF2-40B4-BE49-F238E27FC236}">
                <a16:creationId xmlns:a16="http://schemas.microsoft.com/office/drawing/2014/main" id="{4A9AC91B-F7F7-EC4E-81A1-A58AD8C6CA45}"/>
              </a:ext>
            </a:extLst>
          </p:cNvPr>
          <p:cNvSpPr txBox="1"/>
          <p:nvPr/>
        </p:nvSpPr>
        <p:spPr>
          <a:xfrm>
            <a:off x="4322332" y="877127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,G)</a:t>
            </a:r>
            <a:endParaRPr kumimoji="1" lang="zh-CN" altLang="en-US" sz="2000" b="0" dirty="0"/>
          </a:p>
        </p:txBody>
      </p:sp>
      <p:sp>
        <p:nvSpPr>
          <p:cNvPr id="55" name="左大括号 54">
            <a:extLst>
              <a:ext uri="{FF2B5EF4-FFF2-40B4-BE49-F238E27FC236}">
                <a16:creationId xmlns:a16="http://schemas.microsoft.com/office/drawing/2014/main" id="{B1B525D2-E162-7246-BCCF-A84A72D45C74}"/>
              </a:ext>
            </a:extLst>
          </p:cNvPr>
          <p:cNvSpPr/>
          <p:nvPr/>
        </p:nvSpPr>
        <p:spPr bwMode="auto">
          <a:xfrm>
            <a:off x="5583599" y="746260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56" name="文本框 55">
            <a:extLst>
              <a:ext uri="{FF2B5EF4-FFF2-40B4-BE49-F238E27FC236}">
                <a16:creationId xmlns:a16="http://schemas.microsoft.com/office/drawing/2014/main" id="{BD2D268F-35CD-3B49-BB0B-04600374A67B}"/>
              </a:ext>
            </a:extLst>
          </p:cNvPr>
          <p:cNvSpPr txBox="1"/>
          <p:nvPr/>
        </p:nvSpPr>
        <p:spPr>
          <a:xfrm>
            <a:off x="7133850" y="852934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,F)</a:t>
            </a:r>
            <a:endParaRPr kumimoji="1" lang="zh-CN" altLang="en-US" sz="2000" b="0" dirty="0"/>
          </a:p>
        </p:txBody>
      </p:sp>
      <p:sp>
        <p:nvSpPr>
          <p:cNvPr id="57" name="文本框 56">
            <a:extLst>
              <a:ext uri="{FF2B5EF4-FFF2-40B4-BE49-F238E27FC236}">
                <a16:creationId xmlns:a16="http://schemas.microsoft.com/office/drawing/2014/main" id="{613277CC-58F3-F54E-A6D4-30D6ACF0070E}"/>
              </a:ext>
            </a:extLst>
          </p:cNvPr>
          <p:cNvSpPr txBox="1"/>
          <p:nvPr/>
        </p:nvSpPr>
        <p:spPr>
          <a:xfrm>
            <a:off x="5720673" y="877127"/>
            <a:ext cx="153710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,H)</a:t>
            </a:r>
            <a:endParaRPr kumimoji="1" lang="zh-CN" altLang="en-US" sz="2000" b="0" dirty="0"/>
          </a:p>
        </p:txBody>
      </p:sp>
      <p:sp>
        <p:nvSpPr>
          <p:cNvPr id="62" name="左大括号 61">
            <a:extLst>
              <a:ext uri="{FF2B5EF4-FFF2-40B4-BE49-F238E27FC236}">
                <a16:creationId xmlns:a16="http://schemas.microsoft.com/office/drawing/2014/main" id="{EE2DC591-255F-B340-95DA-F1A16B3E6FEF}"/>
              </a:ext>
            </a:extLst>
          </p:cNvPr>
          <p:cNvSpPr/>
          <p:nvPr/>
        </p:nvSpPr>
        <p:spPr bwMode="auto">
          <a:xfrm>
            <a:off x="4285577" y="2390125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63" name="文本框 62">
            <a:extLst>
              <a:ext uri="{FF2B5EF4-FFF2-40B4-BE49-F238E27FC236}">
                <a16:creationId xmlns:a16="http://schemas.microsoft.com/office/drawing/2014/main" id="{2EBB3452-2A5D-1246-A418-DEA384D27358}"/>
              </a:ext>
            </a:extLst>
          </p:cNvPr>
          <p:cNvSpPr txBox="1"/>
          <p:nvPr/>
        </p:nvSpPr>
        <p:spPr>
          <a:xfrm>
            <a:off x="4464992" y="2481779"/>
            <a:ext cx="148110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,D)</a:t>
            </a:r>
            <a:endParaRPr kumimoji="1" lang="zh-CN" altLang="en-US" sz="2000" b="0" dirty="0"/>
          </a:p>
        </p:txBody>
      </p:sp>
      <p:sp>
        <p:nvSpPr>
          <p:cNvPr id="64" name="左大括号 63">
            <a:extLst>
              <a:ext uri="{FF2B5EF4-FFF2-40B4-BE49-F238E27FC236}">
                <a16:creationId xmlns:a16="http://schemas.microsoft.com/office/drawing/2014/main" id="{9595F93A-DE18-C24F-9450-C9E19BBF3BB8}"/>
              </a:ext>
            </a:extLst>
          </p:cNvPr>
          <p:cNvSpPr/>
          <p:nvPr/>
        </p:nvSpPr>
        <p:spPr bwMode="auto">
          <a:xfrm>
            <a:off x="5789841" y="2370614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65" name="文本框 64">
            <a:extLst>
              <a:ext uri="{FF2B5EF4-FFF2-40B4-BE49-F238E27FC236}">
                <a16:creationId xmlns:a16="http://schemas.microsoft.com/office/drawing/2014/main" id="{5FCA5892-056C-D346-A703-057815662F1B}"/>
              </a:ext>
            </a:extLst>
          </p:cNvPr>
          <p:cNvSpPr txBox="1"/>
          <p:nvPr/>
        </p:nvSpPr>
        <p:spPr>
          <a:xfrm>
            <a:off x="5962999" y="2507607"/>
            <a:ext cx="148110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,C)</a:t>
            </a:r>
            <a:endParaRPr kumimoji="1" lang="zh-CN" altLang="en-US" sz="2000" b="0" dirty="0"/>
          </a:p>
        </p:txBody>
      </p:sp>
      <p:sp>
        <p:nvSpPr>
          <p:cNvPr id="58" name="左大括号 57">
            <a:extLst>
              <a:ext uri="{FF2B5EF4-FFF2-40B4-BE49-F238E27FC236}">
                <a16:creationId xmlns:a16="http://schemas.microsoft.com/office/drawing/2014/main" id="{75168C50-49CE-5949-AC56-160A8CBBBED2}"/>
              </a:ext>
            </a:extLst>
          </p:cNvPr>
          <p:cNvSpPr/>
          <p:nvPr/>
        </p:nvSpPr>
        <p:spPr bwMode="auto">
          <a:xfrm>
            <a:off x="7014598" y="747296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76564981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灯片编号占位符 3">
            <a:extLst>
              <a:ext uri="{FF2B5EF4-FFF2-40B4-BE49-F238E27FC236}">
                <a16:creationId xmlns:a16="http://schemas.microsoft.com/office/drawing/2014/main" id="{2763B838-C21D-CE49-8950-14B9D0F956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7047582" y="6398162"/>
            <a:ext cx="19050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BF99BCB-CEAE-BF40-AA56-BD0126AD48C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86038" name="Oval 3">
            <a:extLst>
              <a:ext uri="{FF2B5EF4-FFF2-40B4-BE49-F238E27FC236}">
                <a16:creationId xmlns:a16="http://schemas.microsoft.com/office/drawing/2014/main" id="{3FF736B6-25C9-3441-8C25-0D34F68B4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7688" y="44706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39" name="Oval 4">
            <a:extLst>
              <a:ext uri="{FF2B5EF4-FFF2-40B4-BE49-F238E27FC236}">
                <a16:creationId xmlns:a16="http://schemas.microsoft.com/office/drawing/2014/main" id="{DDB33FD7-59E2-144F-9FFD-D0935C8B7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088" y="46230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0" name="Oval 5">
            <a:extLst>
              <a:ext uri="{FF2B5EF4-FFF2-40B4-BE49-F238E27FC236}">
                <a16:creationId xmlns:a16="http://schemas.microsoft.com/office/drawing/2014/main" id="{9F90145C-6854-9A4B-B657-62667854D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4088" y="38610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1" name="Oval 6">
            <a:extLst>
              <a:ext uri="{FF2B5EF4-FFF2-40B4-BE49-F238E27FC236}">
                <a16:creationId xmlns:a16="http://schemas.microsoft.com/office/drawing/2014/main" id="{80E55EA0-8AC1-844B-8FED-C0047B3D5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8488" y="39372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2" name="Line 7">
            <a:extLst>
              <a:ext uri="{FF2B5EF4-FFF2-40B4-BE49-F238E27FC236}">
                <a16:creationId xmlns:a16="http://schemas.microsoft.com/office/drawing/2014/main" id="{75CA08DB-3914-174B-A7D8-43A30F414E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86401" y="432459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43" name="Line 8">
            <a:extLst>
              <a:ext uri="{FF2B5EF4-FFF2-40B4-BE49-F238E27FC236}">
                <a16:creationId xmlns:a16="http://schemas.microsoft.com/office/drawing/2014/main" id="{F54B8515-EC82-0E4E-8396-769A7EAFB2E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745088" y="4089648"/>
            <a:ext cx="533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44" name="Line 9">
            <a:extLst>
              <a:ext uri="{FF2B5EF4-FFF2-40B4-BE49-F238E27FC236}">
                <a16:creationId xmlns:a16="http://schemas.microsoft.com/office/drawing/2014/main" id="{3D7C6FBA-129F-B143-9581-DA3BE351DAE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53001" y="4235698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45" name="Oval 10">
            <a:extLst>
              <a:ext uri="{FF2B5EF4-FFF2-40B4-BE49-F238E27FC236}">
                <a16:creationId xmlns:a16="http://schemas.microsoft.com/office/drawing/2014/main" id="{7EEA23E3-53C0-6143-99F1-737B696244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6688" y="38610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6" name="Line 11">
            <a:extLst>
              <a:ext uri="{FF2B5EF4-FFF2-40B4-BE49-F238E27FC236}">
                <a16:creationId xmlns:a16="http://schemas.microsoft.com/office/drawing/2014/main" id="{330715F7-8D36-5444-AC14-9F9C3C95C5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3713" y="4175373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47" name="Oval 12">
            <a:extLst>
              <a:ext uri="{FF2B5EF4-FFF2-40B4-BE49-F238E27FC236}">
                <a16:creationId xmlns:a16="http://schemas.microsoft.com/office/drawing/2014/main" id="{DE9903CB-5779-1A44-90C9-99A5BCEA4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4288" y="53088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8" name="Oval 13">
            <a:extLst>
              <a:ext uri="{FF2B5EF4-FFF2-40B4-BE49-F238E27FC236}">
                <a16:creationId xmlns:a16="http://schemas.microsoft.com/office/drawing/2014/main" id="{AB44CC0F-9CBE-0C40-9533-DEBD08B14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0088" y="52326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49" name="Line 14">
            <a:extLst>
              <a:ext uri="{FF2B5EF4-FFF2-40B4-BE49-F238E27FC236}">
                <a16:creationId xmlns:a16="http://schemas.microsoft.com/office/drawing/2014/main" id="{C49EB171-855A-FF46-95ED-FB49FC164C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35288" y="5461248"/>
            <a:ext cx="3048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0" name="Line 15">
            <a:extLst>
              <a:ext uri="{FF2B5EF4-FFF2-40B4-BE49-F238E27FC236}">
                <a16:creationId xmlns:a16="http://schemas.microsoft.com/office/drawing/2014/main" id="{78046C9F-DD16-3A4B-B79C-339F0B12409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16288" y="4851648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1" name="Line 16">
            <a:extLst>
              <a:ext uri="{FF2B5EF4-FFF2-40B4-BE49-F238E27FC236}">
                <a16:creationId xmlns:a16="http://schemas.microsoft.com/office/drawing/2014/main" id="{B0C7DF7B-97EC-9448-BF97-F5FD89C0A9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13051" y="4840536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2" name="Oval 17">
            <a:extLst>
              <a:ext uri="{FF2B5EF4-FFF2-40B4-BE49-F238E27FC236}">
                <a16:creationId xmlns:a16="http://schemas.microsoft.com/office/drawing/2014/main" id="{FA37F4D6-9D92-C948-A01D-0C6047229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1888" y="45468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53" name="Line 18">
            <a:extLst>
              <a:ext uri="{FF2B5EF4-FFF2-40B4-BE49-F238E27FC236}">
                <a16:creationId xmlns:a16="http://schemas.microsoft.com/office/drawing/2014/main" id="{4826A8A8-4AA4-2A4E-966A-9176526CF2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0488" y="4242048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4" name="Line 19">
            <a:extLst>
              <a:ext uri="{FF2B5EF4-FFF2-40B4-BE49-F238E27FC236}">
                <a16:creationId xmlns:a16="http://schemas.microsoft.com/office/drawing/2014/main" id="{BACB81C0-C456-FB4A-8E10-366CE24731A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0488" y="4927848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5" name="Oval 20">
            <a:extLst>
              <a:ext uri="{FF2B5EF4-FFF2-40B4-BE49-F238E27FC236}">
                <a16:creationId xmlns:a16="http://schemas.microsoft.com/office/drawing/2014/main" id="{25AABEFE-DCF4-034A-90B3-D5922ECEA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488" y="49278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56" name="Line 21">
            <a:extLst>
              <a:ext uri="{FF2B5EF4-FFF2-40B4-BE49-F238E27FC236}">
                <a16:creationId xmlns:a16="http://schemas.microsoft.com/office/drawing/2014/main" id="{6A217E95-2BD1-9A42-BDF3-DD908F915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9001" y="4810373"/>
            <a:ext cx="3810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57" name="Oval 22">
            <a:extLst>
              <a:ext uri="{FF2B5EF4-FFF2-40B4-BE49-F238E27FC236}">
                <a16:creationId xmlns:a16="http://schemas.microsoft.com/office/drawing/2014/main" id="{A0D93CF5-3FBE-5441-B077-40236D964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9688" y="38610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58" name="Oval 23">
            <a:extLst>
              <a:ext uri="{FF2B5EF4-FFF2-40B4-BE49-F238E27FC236}">
                <a16:creationId xmlns:a16="http://schemas.microsoft.com/office/drawing/2014/main" id="{E0A661EC-A7BA-D249-BF09-60097BDA0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8288" y="454684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6059" name="Line 24">
            <a:extLst>
              <a:ext uri="{FF2B5EF4-FFF2-40B4-BE49-F238E27FC236}">
                <a16:creationId xmlns:a16="http://schemas.microsoft.com/office/drawing/2014/main" id="{65A4ADAD-2444-F34C-BE11-FD7BF7C78E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8288" y="4242048"/>
            <a:ext cx="1524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60" name="Text Box 26">
            <a:extLst>
              <a:ext uri="{FF2B5EF4-FFF2-40B4-BE49-F238E27FC236}">
                <a16:creationId xmlns:a16="http://schemas.microsoft.com/office/drawing/2014/main" id="{36693EB0-24BD-AC4A-B3A2-ABFAC0E0F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9551" y="5538024"/>
            <a:ext cx="720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230122AF-7A26-934D-85F2-B34C8104A434}"/>
              </a:ext>
            </a:extLst>
          </p:cNvPr>
          <p:cNvSpPr txBox="1"/>
          <p:nvPr/>
        </p:nvSpPr>
        <p:spPr>
          <a:xfrm>
            <a:off x="350307" y="822701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,A)</a:t>
            </a:r>
            <a:endParaRPr kumimoji="1" lang="zh-CN" altLang="en-US" sz="2000" b="0" dirty="0"/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D446FBAC-B062-DE45-B0F0-46DC9D2D25AC}"/>
              </a:ext>
            </a:extLst>
          </p:cNvPr>
          <p:cNvSpPr txBox="1"/>
          <p:nvPr/>
        </p:nvSpPr>
        <p:spPr>
          <a:xfrm>
            <a:off x="1826093" y="804592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</a:t>
            </a:r>
            <a:r>
              <a:rPr lang="en-US" altLang="zh-CN" sz="2000" b="0" dirty="0"/>
              <a:t>B</a:t>
            </a:r>
            <a:r>
              <a:rPr kumimoji="1" lang="en-US" altLang="zh-CN" sz="2000" b="0" dirty="0"/>
              <a:t>)</a:t>
            </a:r>
            <a:endParaRPr kumimoji="1" lang="zh-CN" altLang="en-US" sz="2000" b="0" dirty="0"/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AC55CCE6-28FF-7544-951E-50029AD19DB6}"/>
              </a:ext>
            </a:extLst>
          </p:cNvPr>
          <p:cNvSpPr txBox="1"/>
          <p:nvPr/>
        </p:nvSpPr>
        <p:spPr>
          <a:xfrm>
            <a:off x="350307" y="1916832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,G)</a:t>
            </a:r>
            <a:endParaRPr kumimoji="1" lang="zh-CN" altLang="en-US" sz="2000" b="0" dirty="0"/>
          </a:p>
        </p:txBody>
      </p:sp>
      <p:sp>
        <p:nvSpPr>
          <p:cNvPr id="5" name="左大括号 4">
            <a:extLst>
              <a:ext uri="{FF2B5EF4-FFF2-40B4-BE49-F238E27FC236}">
                <a16:creationId xmlns:a16="http://schemas.microsoft.com/office/drawing/2014/main" id="{F265EC43-A2DB-2740-9CBD-2EBA3B7776A5}"/>
              </a:ext>
            </a:extLst>
          </p:cNvPr>
          <p:cNvSpPr/>
          <p:nvPr/>
        </p:nvSpPr>
        <p:spPr bwMode="auto">
          <a:xfrm>
            <a:off x="3083334" y="671882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53" name="文本框 52">
            <a:extLst>
              <a:ext uri="{FF2B5EF4-FFF2-40B4-BE49-F238E27FC236}">
                <a16:creationId xmlns:a16="http://schemas.microsoft.com/office/drawing/2014/main" id="{4A9AC91B-F7F7-EC4E-81A1-A58AD8C6CA45}"/>
              </a:ext>
            </a:extLst>
          </p:cNvPr>
          <p:cNvSpPr txBox="1"/>
          <p:nvPr/>
        </p:nvSpPr>
        <p:spPr>
          <a:xfrm>
            <a:off x="3173437" y="824822"/>
            <a:ext cx="14268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,D)</a:t>
            </a:r>
            <a:endParaRPr kumimoji="1" lang="zh-CN" altLang="en-US" sz="2000" b="0" dirty="0"/>
          </a:p>
        </p:txBody>
      </p:sp>
      <p:sp>
        <p:nvSpPr>
          <p:cNvPr id="55" name="左大括号 54">
            <a:extLst>
              <a:ext uri="{FF2B5EF4-FFF2-40B4-BE49-F238E27FC236}">
                <a16:creationId xmlns:a16="http://schemas.microsoft.com/office/drawing/2014/main" id="{B1B525D2-E162-7246-BCCF-A84A72D45C74}"/>
              </a:ext>
            </a:extLst>
          </p:cNvPr>
          <p:cNvSpPr/>
          <p:nvPr/>
        </p:nvSpPr>
        <p:spPr bwMode="auto">
          <a:xfrm>
            <a:off x="4434704" y="693955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56" name="文本框 55">
            <a:extLst>
              <a:ext uri="{FF2B5EF4-FFF2-40B4-BE49-F238E27FC236}">
                <a16:creationId xmlns:a16="http://schemas.microsoft.com/office/drawing/2014/main" id="{BD2D268F-35CD-3B49-BB0B-04600374A67B}"/>
              </a:ext>
            </a:extLst>
          </p:cNvPr>
          <p:cNvSpPr txBox="1"/>
          <p:nvPr/>
        </p:nvSpPr>
        <p:spPr>
          <a:xfrm>
            <a:off x="7411362" y="831172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,F)</a:t>
            </a:r>
            <a:endParaRPr kumimoji="1" lang="zh-CN" altLang="en-US" sz="2000" b="0" dirty="0"/>
          </a:p>
        </p:txBody>
      </p:sp>
      <p:sp>
        <p:nvSpPr>
          <p:cNvPr id="57" name="文本框 56">
            <a:extLst>
              <a:ext uri="{FF2B5EF4-FFF2-40B4-BE49-F238E27FC236}">
                <a16:creationId xmlns:a16="http://schemas.microsoft.com/office/drawing/2014/main" id="{613277CC-58F3-F54E-A6D4-30D6ACF0070E}"/>
              </a:ext>
            </a:extLst>
          </p:cNvPr>
          <p:cNvSpPr txBox="1"/>
          <p:nvPr/>
        </p:nvSpPr>
        <p:spPr>
          <a:xfrm>
            <a:off x="4572000" y="831172"/>
            <a:ext cx="153710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,E)</a:t>
            </a:r>
            <a:endParaRPr kumimoji="1" lang="zh-CN" altLang="en-US" sz="2000" b="0" dirty="0"/>
          </a:p>
        </p:txBody>
      </p:sp>
      <p:sp>
        <p:nvSpPr>
          <p:cNvPr id="62" name="左大括号 61">
            <a:extLst>
              <a:ext uri="{FF2B5EF4-FFF2-40B4-BE49-F238E27FC236}">
                <a16:creationId xmlns:a16="http://schemas.microsoft.com/office/drawing/2014/main" id="{EE2DC591-255F-B340-95DA-F1A16B3E6FEF}"/>
              </a:ext>
            </a:extLst>
          </p:cNvPr>
          <p:cNvSpPr/>
          <p:nvPr/>
        </p:nvSpPr>
        <p:spPr bwMode="auto">
          <a:xfrm>
            <a:off x="7310434" y="706288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64" name="左大括号 63">
            <a:extLst>
              <a:ext uri="{FF2B5EF4-FFF2-40B4-BE49-F238E27FC236}">
                <a16:creationId xmlns:a16="http://schemas.microsoft.com/office/drawing/2014/main" id="{9595F93A-DE18-C24F-9450-C9E19BBF3BB8}"/>
              </a:ext>
            </a:extLst>
          </p:cNvPr>
          <p:cNvSpPr/>
          <p:nvPr/>
        </p:nvSpPr>
        <p:spPr bwMode="auto">
          <a:xfrm>
            <a:off x="5902570" y="702424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65" name="文本框 64">
            <a:extLst>
              <a:ext uri="{FF2B5EF4-FFF2-40B4-BE49-F238E27FC236}">
                <a16:creationId xmlns:a16="http://schemas.microsoft.com/office/drawing/2014/main" id="{5FCA5892-056C-D346-A703-057815662F1B}"/>
              </a:ext>
            </a:extLst>
          </p:cNvPr>
          <p:cNvSpPr txBox="1"/>
          <p:nvPr/>
        </p:nvSpPr>
        <p:spPr>
          <a:xfrm>
            <a:off x="6044151" y="804592"/>
            <a:ext cx="148110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,C)</a:t>
            </a:r>
            <a:endParaRPr kumimoji="1" lang="zh-CN" altLang="en-US" sz="2000" b="0" dirty="0"/>
          </a:p>
        </p:txBody>
      </p:sp>
      <p:sp>
        <p:nvSpPr>
          <p:cNvPr id="90" name="左大括号 89">
            <a:extLst>
              <a:ext uri="{FF2B5EF4-FFF2-40B4-BE49-F238E27FC236}">
                <a16:creationId xmlns:a16="http://schemas.microsoft.com/office/drawing/2014/main" id="{BC853062-E11C-1843-94EA-B3850211C8C1}"/>
              </a:ext>
            </a:extLst>
          </p:cNvPr>
          <p:cNvSpPr/>
          <p:nvPr/>
        </p:nvSpPr>
        <p:spPr bwMode="auto">
          <a:xfrm>
            <a:off x="1709479" y="693954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91" name="左大括号 90">
            <a:extLst>
              <a:ext uri="{FF2B5EF4-FFF2-40B4-BE49-F238E27FC236}">
                <a16:creationId xmlns:a16="http://schemas.microsoft.com/office/drawing/2014/main" id="{FA1F72F0-D4B9-614D-9FCA-7F8B7F840BDB}"/>
              </a:ext>
            </a:extLst>
          </p:cNvPr>
          <p:cNvSpPr/>
          <p:nvPr/>
        </p:nvSpPr>
        <p:spPr bwMode="auto">
          <a:xfrm>
            <a:off x="1686460" y="1788084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92" name="文本框 91">
            <a:extLst>
              <a:ext uri="{FF2B5EF4-FFF2-40B4-BE49-F238E27FC236}">
                <a16:creationId xmlns:a16="http://schemas.microsoft.com/office/drawing/2014/main" id="{46F9A2E0-585E-5F4B-99DC-638039739A13}"/>
              </a:ext>
            </a:extLst>
          </p:cNvPr>
          <p:cNvSpPr txBox="1"/>
          <p:nvPr/>
        </p:nvSpPr>
        <p:spPr>
          <a:xfrm>
            <a:off x="1810572" y="1911042"/>
            <a:ext cx="16485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,H)</a:t>
            </a:r>
            <a:endParaRPr kumimoji="1" lang="zh-CN" altLang="en-US" sz="2000" b="0" dirty="0"/>
          </a:p>
        </p:txBody>
      </p:sp>
      <p:sp>
        <p:nvSpPr>
          <p:cNvPr id="93" name="左大括号 92">
            <a:extLst>
              <a:ext uri="{FF2B5EF4-FFF2-40B4-BE49-F238E27FC236}">
                <a16:creationId xmlns:a16="http://schemas.microsoft.com/office/drawing/2014/main" id="{7C1FE16D-2078-244C-AF32-D28F63CEB773}"/>
              </a:ext>
            </a:extLst>
          </p:cNvPr>
          <p:cNvSpPr/>
          <p:nvPr/>
        </p:nvSpPr>
        <p:spPr bwMode="auto">
          <a:xfrm>
            <a:off x="1691037" y="2794225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94" name="文本框 93">
            <a:extLst>
              <a:ext uri="{FF2B5EF4-FFF2-40B4-BE49-F238E27FC236}">
                <a16:creationId xmlns:a16="http://schemas.microsoft.com/office/drawing/2014/main" id="{2F6E9B52-124A-254F-9B72-58A3A9B59024}"/>
              </a:ext>
            </a:extLst>
          </p:cNvPr>
          <p:cNvSpPr txBox="1"/>
          <p:nvPr/>
        </p:nvSpPr>
        <p:spPr>
          <a:xfrm>
            <a:off x="1815149" y="2917183"/>
            <a:ext cx="16485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,I)</a:t>
            </a:r>
            <a:endParaRPr kumimoji="1" lang="zh-CN" altLang="en-US" sz="2000" b="0" dirty="0"/>
          </a:p>
        </p:txBody>
      </p:sp>
      <p:sp>
        <p:nvSpPr>
          <p:cNvPr id="95" name="文本框 94">
            <a:extLst>
              <a:ext uri="{FF2B5EF4-FFF2-40B4-BE49-F238E27FC236}">
                <a16:creationId xmlns:a16="http://schemas.microsoft.com/office/drawing/2014/main" id="{CD3AC6D3-FBBE-B843-B2C6-4BA5C463A8DD}"/>
              </a:ext>
            </a:extLst>
          </p:cNvPr>
          <p:cNvSpPr txBox="1"/>
          <p:nvPr/>
        </p:nvSpPr>
        <p:spPr>
          <a:xfrm>
            <a:off x="359373" y="2882214"/>
            <a:ext cx="133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,K)</a:t>
            </a:r>
            <a:endParaRPr kumimoji="1" lang="zh-CN" altLang="en-US" sz="2000" b="0" dirty="0"/>
          </a:p>
        </p:txBody>
      </p:sp>
      <p:sp>
        <p:nvSpPr>
          <p:cNvPr id="96" name="左大括号 95">
            <a:extLst>
              <a:ext uri="{FF2B5EF4-FFF2-40B4-BE49-F238E27FC236}">
                <a16:creationId xmlns:a16="http://schemas.microsoft.com/office/drawing/2014/main" id="{1B51C516-DD6A-B141-A8F9-25936C263BEE}"/>
              </a:ext>
            </a:extLst>
          </p:cNvPr>
          <p:cNvSpPr/>
          <p:nvPr/>
        </p:nvSpPr>
        <p:spPr bwMode="auto">
          <a:xfrm>
            <a:off x="3057135" y="2794225"/>
            <a:ext cx="117475" cy="657605"/>
          </a:xfrm>
          <a:prstGeom prst="leftBrac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arrow"/>
          </a:ln>
          <a:effectLst/>
        </p:spPr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97" name="文本框 96">
            <a:extLst>
              <a:ext uri="{FF2B5EF4-FFF2-40B4-BE49-F238E27FC236}">
                <a16:creationId xmlns:a16="http://schemas.microsoft.com/office/drawing/2014/main" id="{3639D670-3887-1F48-9330-E428EFBDAA48}"/>
              </a:ext>
            </a:extLst>
          </p:cNvPr>
          <p:cNvSpPr txBox="1"/>
          <p:nvPr/>
        </p:nvSpPr>
        <p:spPr>
          <a:xfrm>
            <a:off x="3168230" y="2923533"/>
            <a:ext cx="16485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2000" b="0" dirty="0"/>
              <a:t>DFS(G</a:t>
            </a:r>
            <a:r>
              <a:rPr kumimoji="1" lang="en-US" altLang="zh-CN" sz="2000" b="0" baseline="-25000" dirty="0"/>
              <a:t>1</a:t>
            </a:r>
            <a:r>
              <a:rPr kumimoji="1" lang="en-US" altLang="zh-CN" sz="2000" b="0" dirty="0"/>
              <a:t>,J)</a:t>
            </a:r>
            <a:endParaRPr kumimoji="1" lang="zh-CN" altLang="en-US" sz="2000" b="0" dirty="0"/>
          </a:p>
        </p:txBody>
      </p:sp>
    </p:spTree>
    <p:extLst>
      <p:ext uri="{BB962C8B-B14F-4D97-AF65-F5344CB8AC3E}">
        <p14:creationId xmlns:p14="http://schemas.microsoft.com/office/powerpoint/2010/main" val="330978877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灯片编号占位符 3">
            <a:extLst>
              <a:ext uri="{FF2B5EF4-FFF2-40B4-BE49-F238E27FC236}">
                <a16:creationId xmlns:a16="http://schemas.microsoft.com/office/drawing/2014/main" id="{E5F266C5-AC9C-2E45-A650-B092ECAEC82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E55EC69-A78D-0E4E-847C-D78B389C1660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88066" name="Oval 3">
            <a:extLst>
              <a:ext uri="{FF2B5EF4-FFF2-40B4-BE49-F238E27FC236}">
                <a16:creationId xmlns:a16="http://schemas.microsoft.com/office/drawing/2014/main" id="{FF173105-7EA6-754E-95FC-4755BA446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4475" y="32400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8067" name="Oval 4">
            <a:extLst>
              <a:ext uri="{FF2B5EF4-FFF2-40B4-BE49-F238E27FC236}">
                <a16:creationId xmlns:a16="http://schemas.microsoft.com/office/drawing/2014/main" id="{02DC6B5A-5316-C148-BF21-83CBE586A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2675" y="30114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8068" name="Oval 5">
            <a:extLst>
              <a:ext uri="{FF2B5EF4-FFF2-40B4-BE49-F238E27FC236}">
                <a16:creationId xmlns:a16="http://schemas.microsoft.com/office/drawing/2014/main" id="{40DF08EA-C74B-F740-9F59-E260382D8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23256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8069" name="Oval 6">
            <a:extLst>
              <a:ext uri="{FF2B5EF4-FFF2-40B4-BE49-F238E27FC236}">
                <a16:creationId xmlns:a16="http://schemas.microsoft.com/office/drawing/2014/main" id="{AB11B06A-F626-DC43-85A3-59D659A2B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9875" y="24018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8070" name="Line 7">
            <a:extLst>
              <a:ext uri="{FF2B5EF4-FFF2-40B4-BE49-F238E27FC236}">
                <a16:creationId xmlns:a16="http://schemas.microsoft.com/office/drawing/2014/main" id="{8C7F89AA-4DF8-5F48-959D-0A893BA62E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57475" y="2706688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71" name="Line 8">
            <a:extLst>
              <a:ext uri="{FF2B5EF4-FFF2-40B4-BE49-F238E27FC236}">
                <a16:creationId xmlns:a16="http://schemas.microsoft.com/office/drawing/2014/main" id="{559261B1-DD1A-0D4A-9E96-B389FECF4A0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76475" y="2554288"/>
            <a:ext cx="533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72" name="Line 9">
            <a:extLst>
              <a:ext uri="{FF2B5EF4-FFF2-40B4-BE49-F238E27FC236}">
                <a16:creationId xmlns:a16="http://schemas.microsoft.com/office/drawing/2014/main" id="{A813303E-F91F-684D-8EAB-DDA3B0576A6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00275" y="2630488"/>
            <a:ext cx="2286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73" name="Oval 10">
            <a:extLst>
              <a:ext uri="{FF2B5EF4-FFF2-40B4-BE49-F238E27FC236}">
                <a16:creationId xmlns:a16="http://schemas.microsoft.com/office/drawing/2014/main" id="{AEE2AA91-9D96-B24B-B1B6-B4A092449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275" y="24780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8074" name="Line 11">
            <a:extLst>
              <a:ext uri="{FF2B5EF4-FFF2-40B4-BE49-F238E27FC236}">
                <a16:creationId xmlns:a16="http://schemas.microsoft.com/office/drawing/2014/main" id="{1F701A37-BB55-C947-A1CE-9687AD9FF073}"/>
              </a:ext>
            </a:extLst>
          </p:cNvPr>
          <p:cNvSpPr>
            <a:spLocks noChangeShapeType="1"/>
          </p:cNvSpPr>
          <p:nvPr/>
        </p:nvSpPr>
        <p:spPr bwMode="auto">
          <a:xfrm>
            <a:off x="1362075" y="2859088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75" name="Line 12">
            <a:extLst>
              <a:ext uri="{FF2B5EF4-FFF2-40B4-BE49-F238E27FC236}">
                <a16:creationId xmlns:a16="http://schemas.microsoft.com/office/drawing/2014/main" id="{B4C7BB9B-6D2D-B84F-B139-E6F927E1D9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38275" y="2554288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76" name="Oval 13">
            <a:extLst>
              <a:ext uri="{FF2B5EF4-FFF2-40B4-BE49-F238E27FC236}">
                <a16:creationId xmlns:a16="http://schemas.microsoft.com/office/drawing/2014/main" id="{99EAD534-4923-824A-94DA-B05ED53A1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1075" y="42306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8077" name="Oval 14">
            <a:extLst>
              <a:ext uri="{FF2B5EF4-FFF2-40B4-BE49-F238E27FC236}">
                <a16:creationId xmlns:a16="http://schemas.microsoft.com/office/drawing/2014/main" id="{FF20A9B4-7682-2646-88CC-EB8D298BC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9275" y="41544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8078" name="Line 15">
            <a:extLst>
              <a:ext uri="{FF2B5EF4-FFF2-40B4-BE49-F238E27FC236}">
                <a16:creationId xmlns:a16="http://schemas.microsoft.com/office/drawing/2014/main" id="{942EC8CB-9C4F-1B4B-9DFD-C152BCB99C49}"/>
              </a:ext>
            </a:extLst>
          </p:cNvPr>
          <p:cNvSpPr>
            <a:spLocks noChangeShapeType="1"/>
          </p:cNvSpPr>
          <p:nvPr/>
        </p:nvSpPr>
        <p:spPr bwMode="auto">
          <a:xfrm>
            <a:off x="1362075" y="4383088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79" name="Line 16">
            <a:extLst>
              <a:ext uri="{FF2B5EF4-FFF2-40B4-BE49-F238E27FC236}">
                <a16:creationId xmlns:a16="http://schemas.microsoft.com/office/drawing/2014/main" id="{09614A41-E0F9-F341-94DC-F25502488C9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43075" y="3621088"/>
            <a:ext cx="2286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80" name="Line 17">
            <a:extLst>
              <a:ext uri="{FF2B5EF4-FFF2-40B4-BE49-F238E27FC236}">
                <a16:creationId xmlns:a16="http://schemas.microsoft.com/office/drawing/2014/main" id="{3F83342F-E228-6A4E-88B7-E87EA95DEF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85875" y="3621088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81" name="Oval 18">
            <a:extLst>
              <a:ext uri="{FF2B5EF4-FFF2-40B4-BE49-F238E27FC236}">
                <a16:creationId xmlns:a16="http://schemas.microsoft.com/office/drawing/2014/main" id="{7B9A70D8-44CB-1147-9CD6-2F1C5C730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675" y="33924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8082" name="Line 19">
            <a:extLst>
              <a:ext uri="{FF2B5EF4-FFF2-40B4-BE49-F238E27FC236}">
                <a16:creationId xmlns:a16="http://schemas.microsoft.com/office/drawing/2014/main" id="{AF0C585A-D5B6-6D40-A09F-4E17E7B8D2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275" y="2859088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83" name="Line 20">
            <a:extLst>
              <a:ext uri="{FF2B5EF4-FFF2-40B4-BE49-F238E27FC236}">
                <a16:creationId xmlns:a16="http://schemas.microsoft.com/office/drawing/2014/main" id="{54955467-2033-164C-B576-794F386DFE5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3773488"/>
            <a:ext cx="76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084" name="Text Box 23">
            <a:extLst>
              <a:ext uri="{FF2B5EF4-FFF2-40B4-BE49-F238E27FC236}">
                <a16:creationId xmlns:a16="http://schemas.microsoft.com/office/drawing/2014/main" id="{14C98CCF-844C-504A-8ECE-075B1740C2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27200" y="4760913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44" name="Oval 24">
            <a:extLst>
              <a:ext uri="{FF2B5EF4-FFF2-40B4-BE49-F238E27FC236}">
                <a16:creationId xmlns:a16="http://schemas.microsoft.com/office/drawing/2014/main" id="{EC5D3FAE-E3F0-9D47-80F4-A21555D1E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2838" y="32893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45" name="Oval 25">
            <a:extLst>
              <a:ext uri="{FF2B5EF4-FFF2-40B4-BE49-F238E27FC236}">
                <a16:creationId xmlns:a16="http://schemas.microsoft.com/office/drawing/2014/main" id="{870BFE4A-AB44-4D4B-BAAD-2D5C50A42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1038" y="30607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46" name="Oval 26">
            <a:extLst>
              <a:ext uri="{FF2B5EF4-FFF2-40B4-BE49-F238E27FC236}">
                <a16:creationId xmlns:a16="http://schemas.microsoft.com/office/drawing/2014/main" id="{9EE55CB5-AED9-CC47-8381-5F5BA5354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3838" y="23749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47" name="Oval 27">
            <a:extLst>
              <a:ext uri="{FF2B5EF4-FFF2-40B4-BE49-F238E27FC236}">
                <a16:creationId xmlns:a16="http://schemas.microsoft.com/office/drawing/2014/main" id="{FCB79A5B-2886-BA4D-B564-E995BC148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8238" y="24511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48" name="Line 28">
            <a:extLst>
              <a:ext uri="{FF2B5EF4-FFF2-40B4-BE49-F238E27FC236}">
                <a16:creationId xmlns:a16="http://schemas.microsoft.com/office/drawing/2014/main" id="{D2ABC5DA-7DA3-CD4D-9CD1-2995C27655C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02350" y="2830513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49" name="Line 29">
            <a:extLst>
              <a:ext uri="{FF2B5EF4-FFF2-40B4-BE49-F238E27FC236}">
                <a16:creationId xmlns:a16="http://schemas.microsoft.com/office/drawing/2014/main" id="{7A21543A-DDF9-B24B-B4E9-56D88EB3AB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72125" y="2751138"/>
            <a:ext cx="2286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50" name="Oval 30">
            <a:extLst>
              <a:ext uri="{FF2B5EF4-FFF2-40B4-BE49-F238E27FC236}">
                <a16:creationId xmlns:a16="http://schemas.microsoft.com/office/drawing/2014/main" id="{7B3C5FD0-7DAC-EC4E-830A-E2C34B7B3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5638" y="25273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51" name="Line 31">
            <a:extLst>
              <a:ext uri="{FF2B5EF4-FFF2-40B4-BE49-F238E27FC236}">
                <a16:creationId xmlns:a16="http://schemas.microsoft.com/office/drawing/2014/main" id="{E67348EC-5517-B147-98A4-A23818E7911A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0438" y="2908300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52" name="Line 32">
            <a:extLst>
              <a:ext uri="{FF2B5EF4-FFF2-40B4-BE49-F238E27FC236}">
                <a16:creationId xmlns:a16="http://schemas.microsoft.com/office/drawing/2014/main" id="{7DE526AF-B4EE-524E-BEAF-11B7E6CCA1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46638" y="2603500"/>
            <a:ext cx="457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55" name="Oval 35">
            <a:extLst>
              <a:ext uri="{FF2B5EF4-FFF2-40B4-BE49-F238E27FC236}">
                <a16:creationId xmlns:a16="http://schemas.microsoft.com/office/drawing/2014/main" id="{969052FF-98A5-C84F-9187-7227ACB61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1838" y="41275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56" name="Line 36">
            <a:extLst>
              <a:ext uri="{FF2B5EF4-FFF2-40B4-BE49-F238E27FC236}">
                <a16:creationId xmlns:a16="http://schemas.microsoft.com/office/drawing/2014/main" id="{C10D37D0-D688-B34C-B967-C0EA777EB9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70438" y="3670300"/>
            <a:ext cx="3048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57" name="Oval 37">
            <a:extLst>
              <a:ext uri="{FF2B5EF4-FFF2-40B4-BE49-F238E27FC236}">
                <a16:creationId xmlns:a16="http://schemas.microsoft.com/office/drawing/2014/main" id="{1975AC98-60FE-F947-915D-840BD4FD6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7638" y="41275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58" name="Line 38">
            <a:extLst>
              <a:ext uri="{FF2B5EF4-FFF2-40B4-BE49-F238E27FC236}">
                <a16:creationId xmlns:a16="http://schemas.microsoft.com/office/drawing/2014/main" id="{DF00EDFD-9093-B14F-9ED3-B07530FCAA9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22838" y="427990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59" name="Line 39">
            <a:extLst>
              <a:ext uri="{FF2B5EF4-FFF2-40B4-BE49-F238E27FC236}">
                <a16:creationId xmlns:a16="http://schemas.microsoft.com/office/drawing/2014/main" id="{8083DFDF-CE88-3B4B-8C7C-84FFB2A856A2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2950" y="3703638"/>
            <a:ext cx="76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60" name="Oval 40">
            <a:extLst>
              <a:ext uri="{FF2B5EF4-FFF2-40B4-BE49-F238E27FC236}">
                <a16:creationId xmlns:a16="http://schemas.microsoft.com/office/drawing/2014/main" id="{EEDA9DC9-0AA1-2D41-92EA-99E0CBEA8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3238" y="33655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61" name="AutoShape 41">
            <a:extLst>
              <a:ext uri="{FF2B5EF4-FFF2-40B4-BE49-F238E27FC236}">
                <a16:creationId xmlns:a16="http://schemas.microsoft.com/office/drawing/2014/main" id="{F3ED15AC-7742-B845-B832-FE32C753B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8438" y="2603500"/>
            <a:ext cx="304800" cy="212725"/>
          </a:xfrm>
          <a:prstGeom prst="rightArrow">
            <a:avLst>
              <a:gd name="adj1" fmla="val 50000"/>
              <a:gd name="adj2" fmla="val 35821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62" name="Rectangle 42">
            <a:extLst>
              <a:ext uri="{FF2B5EF4-FFF2-40B4-BE49-F238E27FC236}">
                <a16:creationId xmlns:a16="http://schemas.microsoft.com/office/drawing/2014/main" id="{3EFB405A-C5CA-5D4E-911B-9D665BFC7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00" y="4832350"/>
            <a:ext cx="15938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DFS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63" name="Oval 43">
            <a:extLst>
              <a:ext uri="{FF2B5EF4-FFF2-40B4-BE49-F238E27FC236}">
                <a16:creationId xmlns:a16="http://schemas.microsoft.com/office/drawing/2014/main" id="{AA24F4CF-2025-A54B-83D4-B9145F92A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4125" y="28860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64" name="Oval 44">
            <a:extLst>
              <a:ext uri="{FF2B5EF4-FFF2-40B4-BE49-F238E27FC236}">
                <a16:creationId xmlns:a16="http://schemas.microsoft.com/office/drawing/2014/main" id="{FC3C7FBC-F474-0340-8445-9DDF0AAA7E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525" y="35718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65" name="Oval 45">
            <a:extLst>
              <a:ext uri="{FF2B5EF4-FFF2-40B4-BE49-F238E27FC236}">
                <a16:creationId xmlns:a16="http://schemas.microsoft.com/office/drawing/2014/main" id="{DDD878BC-AB8D-6549-AC23-F32E6FE8E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525" y="28860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66" name="Oval 46">
            <a:extLst>
              <a:ext uri="{FF2B5EF4-FFF2-40B4-BE49-F238E27FC236}">
                <a16:creationId xmlns:a16="http://schemas.microsoft.com/office/drawing/2014/main" id="{84BA7AF4-E5F9-754B-8479-2B14F5ACF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525" y="4257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67" name="Oval 47">
            <a:extLst>
              <a:ext uri="{FF2B5EF4-FFF2-40B4-BE49-F238E27FC236}">
                <a16:creationId xmlns:a16="http://schemas.microsoft.com/office/drawing/2014/main" id="{3B6B2606-B86F-124C-8E8B-BF5DA9E20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1325" y="2276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69" name="Oval 49">
            <a:extLst>
              <a:ext uri="{FF2B5EF4-FFF2-40B4-BE49-F238E27FC236}">
                <a16:creationId xmlns:a16="http://schemas.microsoft.com/office/drawing/2014/main" id="{5FBA3E9A-1D3E-6142-B628-3184CA436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4125" y="35718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70" name="Oval 50">
            <a:extLst>
              <a:ext uri="{FF2B5EF4-FFF2-40B4-BE49-F238E27FC236}">
                <a16:creationId xmlns:a16="http://schemas.microsoft.com/office/drawing/2014/main" id="{74270EA7-6641-D347-A5E5-93988398A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8925" y="4257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71" name="Oval 51">
            <a:extLst>
              <a:ext uri="{FF2B5EF4-FFF2-40B4-BE49-F238E27FC236}">
                <a16:creationId xmlns:a16="http://schemas.microsoft.com/office/drawing/2014/main" id="{09139FAF-8E45-F549-9127-651FE719E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9325" y="4257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72" name="Line 52">
            <a:extLst>
              <a:ext uri="{FF2B5EF4-FFF2-40B4-BE49-F238E27FC236}">
                <a16:creationId xmlns:a16="http://schemas.microsoft.com/office/drawing/2014/main" id="{BDA21A6B-3493-FD48-B309-1BAB934587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17925" y="395287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73" name="Line 53">
            <a:extLst>
              <a:ext uri="{FF2B5EF4-FFF2-40B4-BE49-F238E27FC236}">
                <a16:creationId xmlns:a16="http://schemas.microsoft.com/office/drawing/2014/main" id="{64D1E18B-2D2D-AD4D-84C3-87F23C6054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725" y="395287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74" name="Line 54">
            <a:extLst>
              <a:ext uri="{FF2B5EF4-FFF2-40B4-BE49-F238E27FC236}">
                <a16:creationId xmlns:a16="http://schemas.microsoft.com/office/drawing/2014/main" id="{C04ECA5A-DD13-9B4E-8217-D757781218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6688" y="3284538"/>
            <a:ext cx="0" cy="2873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76" name="Line 56">
            <a:extLst>
              <a:ext uri="{FF2B5EF4-FFF2-40B4-BE49-F238E27FC236}">
                <a16:creationId xmlns:a16="http://schemas.microsoft.com/office/drawing/2014/main" id="{FC82D346-977E-BD45-B63F-6FEE2438BA9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60925" y="3267075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77" name="Line 57">
            <a:extLst>
              <a:ext uri="{FF2B5EF4-FFF2-40B4-BE49-F238E27FC236}">
                <a16:creationId xmlns:a16="http://schemas.microsoft.com/office/drawing/2014/main" id="{293CEB3B-E75A-F744-A607-CE8513FBC2F8}"/>
              </a:ext>
            </a:extLst>
          </p:cNvPr>
          <p:cNvSpPr>
            <a:spLocks noChangeShapeType="1"/>
          </p:cNvSpPr>
          <p:nvPr/>
        </p:nvSpPr>
        <p:spPr bwMode="auto">
          <a:xfrm>
            <a:off x="4860925" y="3952875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78" name="Line 58">
            <a:extLst>
              <a:ext uri="{FF2B5EF4-FFF2-40B4-BE49-F238E27FC236}">
                <a16:creationId xmlns:a16="http://schemas.microsoft.com/office/drawing/2014/main" id="{1C1990A2-6FF4-E142-A1BD-B015AAF599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98925" y="265747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79" name="Line 59">
            <a:extLst>
              <a:ext uri="{FF2B5EF4-FFF2-40B4-BE49-F238E27FC236}">
                <a16:creationId xmlns:a16="http://schemas.microsoft.com/office/drawing/2014/main" id="{9F75917E-038E-E24A-946E-FF14EFE9907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265747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80" name="Rectangle 60">
            <a:extLst>
              <a:ext uri="{FF2B5EF4-FFF2-40B4-BE49-F238E27FC236}">
                <a16:creationId xmlns:a16="http://schemas.microsoft.com/office/drawing/2014/main" id="{DC495C6B-44C6-6944-8359-5B689A2F2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1213" y="4832350"/>
            <a:ext cx="32893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其它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:  DFS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T2  ……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81" name="Oval 61">
            <a:extLst>
              <a:ext uri="{FF2B5EF4-FFF2-40B4-BE49-F238E27FC236}">
                <a16:creationId xmlns:a16="http://schemas.microsoft.com/office/drawing/2014/main" id="{42FFA709-03FA-624A-881C-CB29A6993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4542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82" name="Oval 62">
            <a:extLst>
              <a:ext uri="{FF2B5EF4-FFF2-40B4-BE49-F238E27FC236}">
                <a16:creationId xmlns:a16="http://schemas.microsoft.com/office/drawing/2014/main" id="{90F10A46-EA62-C144-9F0F-9B642398A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30638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83" name="Oval 63">
            <a:extLst>
              <a:ext uri="{FF2B5EF4-FFF2-40B4-BE49-F238E27FC236}">
                <a16:creationId xmlns:a16="http://schemas.microsoft.com/office/drawing/2014/main" id="{DAAE7E96-ED88-D242-A526-49DA7B76A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24542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84" name="Oval 64">
            <a:extLst>
              <a:ext uri="{FF2B5EF4-FFF2-40B4-BE49-F238E27FC236}">
                <a16:creationId xmlns:a16="http://schemas.microsoft.com/office/drawing/2014/main" id="{4810D120-BD7A-3D43-BB89-1F6B27271D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36734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85" name="Oval 65">
            <a:extLst>
              <a:ext uri="{FF2B5EF4-FFF2-40B4-BE49-F238E27FC236}">
                <a16:creationId xmlns:a16="http://schemas.microsoft.com/office/drawing/2014/main" id="{CDADDA0A-6C00-2A4D-9266-7A589D6A59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0450" y="18446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87" name="Oval 67">
            <a:extLst>
              <a:ext uri="{FF2B5EF4-FFF2-40B4-BE49-F238E27FC236}">
                <a16:creationId xmlns:a16="http://schemas.microsoft.com/office/drawing/2014/main" id="{5AB74C72-0B06-2443-A067-C12299825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30638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88" name="Oval 68">
            <a:extLst>
              <a:ext uri="{FF2B5EF4-FFF2-40B4-BE49-F238E27FC236}">
                <a16:creationId xmlns:a16="http://schemas.microsoft.com/office/drawing/2014/main" id="{341CB3B2-798A-3C4B-B262-5B598B7A6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36734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89" name="Oval 69">
            <a:extLst>
              <a:ext uri="{FF2B5EF4-FFF2-40B4-BE49-F238E27FC236}">
                <a16:creationId xmlns:a16="http://schemas.microsoft.com/office/drawing/2014/main" id="{8BFB2C4B-11CC-7243-A157-6B70DF2CC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4050" y="4294188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09990" name="Line 70">
            <a:extLst>
              <a:ext uri="{FF2B5EF4-FFF2-40B4-BE49-F238E27FC236}">
                <a16:creationId xmlns:a16="http://schemas.microsoft.com/office/drawing/2014/main" id="{04116ED8-0F6E-ED41-B72A-07A6F71EF7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19950" y="217170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91" name="Line 71">
            <a:extLst>
              <a:ext uri="{FF2B5EF4-FFF2-40B4-BE49-F238E27FC236}">
                <a16:creationId xmlns:a16="http://schemas.microsoft.com/office/drawing/2014/main" id="{BDA63187-FF62-1D48-AEFF-0CC5408702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83513" y="214630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92" name="Line 72">
            <a:extLst>
              <a:ext uri="{FF2B5EF4-FFF2-40B4-BE49-F238E27FC236}">
                <a16:creationId xmlns:a16="http://schemas.microsoft.com/office/drawing/2014/main" id="{14ABB303-2463-BA4E-A3D1-2CA83C91A49C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5650" y="2835275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93" name="Line 73">
            <a:extLst>
              <a:ext uri="{FF2B5EF4-FFF2-40B4-BE49-F238E27FC236}">
                <a16:creationId xmlns:a16="http://schemas.microsoft.com/office/drawing/2014/main" id="{FCF6DEF3-85D9-C243-B2E5-EB0923106DCC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5650" y="3444875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96" name="Line 76">
            <a:extLst>
              <a:ext uri="{FF2B5EF4-FFF2-40B4-BE49-F238E27FC236}">
                <a16:creationId xmlns:a16="http://schemas.microsoft.com/office/drawing/2014/main" id="{727B7106-2837-B647-B800-F7DDEADCA531}"/>
              </a:ext>
            </a:extLst>
          </p:cNvPr>
          <p:cNvSpPr>
            <a:spLocks noChangeShapeType="1"/>
          </p:cNvSpPr>
          <p:nvPr/>
        </p:nvSpPr>
        <p:spPr bwMode="auto">
          <a:xfrm>
            <a:off x="8020050" y="2835275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9997" name="Line 77">
            <a:extLst>
              <a:ext uri="{FF2B5EF4-FFF2-40B4-BE49-F238E27FC236}">
                <a16:creationId xmlns:a16="http://schemas.microsoft.com/office/drawing/2014/main" id="{FF28C196-E3B3-6F44-B66C-2C1E2DE4BF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020050" y="3444875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Line 77">
            <a:extLst>
              <a:ext uri="{FF2B5EF4-FFF2-40B4-BE49-F238E27FC236}">
                <a16:creationId xmlns:a16="http://schemas.microsoft.com/office/drawing/2014/main" id="{BCCF2C1B-3372-9246-87CD-3894DA8475F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9150" y="4076700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133" name="Text Box 78">
            <a:extLst>
              <a:ext uri="{FF2B5EF4-FFF2-40B4-BE49-F238E27FC236}">
                <a16:creationId xmlns:a16="http://schemas.microsoft.com/office/drawing/2014/main" id="{BEC20B07-D85A-1643-AFC9-936CCD6847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163" y="735013"/>
            <a:ext cx="81375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DFS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endParaRPr lang="zh-CN" altLang="en-US" sz="2400">
              <a:latin typeface="宋体" panose="02010600030101010101" pitchFamily="2" charset="-122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59ADD504-57FE-D943-9D2E-CDFB15988E2D}"/>
              </a:ext>
            </a:extLst>
          </p:cNvPr>
          <p:cNvSpPr txBox="1"/>
          <p:nvPr/>
        </p:nvSpPr>
        <p:spPr>
          <a:xfrm>
            <a:off x="525806" y="1273175"/>
            <a:ext cx="84130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/>
              <a:t>在</a:t>
            </a:r>
            <a:r>
              <a:rPr lang="en-US" altLang="zh-CN" dirty="0"/>
              <a:t>DFS</a:t>
            </a:r>
            <a:r>
              <a:rPr lang="zh-CN" altLang="en-US" dirty="0"/>
              <a:t>过程中，除起始节点外，任一结点只通过一条边引出</a:t>
            </a:r>
            <a:endParaRPr kumimoji="1"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09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209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209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209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209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209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209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09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209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2" dur="500"/>
                                        <p:tgtEl>
                                          <p:spTgt spid="209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7" dur="500"/>
                                        <p:tgtEl>
                                          <p:spTgt spid="209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0" dur="500"/>
                                        <p:tgtEl>
                                          <p:spTgt spid="209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209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209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3" dur="500"/>
                                        <p:tgtEl>
                                          <p:spTgt spid="209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6" dur="500"/>
                                        <p:tgtEl>
                                          <p:spTgt spid="209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0" dur="500"/>
                                        <p:tgtEl>
                                          <p:spTgt spid="2099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3" dur="500"/>
                                        <p:tgtEl>
                                          <p:spTgt spid="2099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6" dur="500"/>
                                        <p:tgtEl>
                                          <p:spTgt spid="2099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9" dur="500"/>
                                        <p:tgtEl>
                                          <p:spTgt spid="2099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2" dur="500"/>
                                        <p:tgtEl>
                                          <p:spTgt spid="2099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5" dur="500"/>
                                        <p:tgtEl>
                                          <p:spTgt spid="2099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8" dur="500"/>
                                        <p:tgtEl>
                                          <p:spTgt spid="2099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1" dur="500"/>
                                        <p:tgtEl>
                                          <p:spTgt spid="2099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4" dur="500"/>
                                        <p:tgtEl>
                                          <p:spTgt spid="2099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7" dur="500"/>
                                        <p:tgtEl>
                                          <p:spTgt spid="2099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0" dur="500"/>
                                        <p:tgtEl>
                                          <p:spTgt spid="2099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3" dur="500"/>
                                        <p:tgtEl>
                                          <p:spTgt spid="2099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6" dur="500"/>
                                        <p:tgtEl>
                                          <p:spTgt spid="2099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9" dur="500"/>
                                        <p:tgtEl>
                                          <p:spTgt spid="2099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2" dur="500"/>
                                        <p:tgtEl>
                                          <p:spTgt spid="2099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5" dur="500"/>
                                        <p:tgtEl>
                                          <p:spTgt spid="2099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0" dur="500"/>
                                        <p:tgtEl>
                                          <p:spTgt spid="209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3" dur="500"/>
                                        <p:tgtEl>
                                          <p:spTgt spid="209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6" dur="500"/>
                                        <p:tgtEl>
                                          <p:spTgt spid="209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9" dur="500"/>
                                        <p:tgtEl>
                                          <p:spTgt spid="209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2" dur="500"/>
                                        <p:tgtEl>
                                          <p:spTgt spid="209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5" dur="500"/>
                                        <p:tgtEl>
                                          <p:spTgt spid="209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8" dur="500"/>
                                        <p:tgtEl>
                                          <p:spTgt spid="209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1" dur="500"/>
                                        <p:tgtEl>
                                          <p:spTgt spid="209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4" dur="500"/>
                                        <p:tgtEl>
                                          <p:spTgt spid="209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7" dur="500"/>
                                        <p:tgtEl>
                                          <p:spTgt spid="209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0" dur="500"/>
                                        <p:tgtEl>
                                          <p:spTgt spid="209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3" dur="500"/>
                                        <p:tgtEl>
                                          <p:spTgt spid="209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6" dur="500"/>
                                        <p:tgtEl>
                                          <p:spTgt spid="209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9" dur="500"/>
                                        <p:tgtEl>
                                          <p:spTgt spid="209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2" dur="500"/>
                                        <p:tgtEl>
                                          <p:spTgt spid="209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5" dur="500"/>
                                        <p:tgtEl>
                                          <p:spTgt spid="209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 nodeType="clickPar">
                      <p:stCondLst>
                        <p:cond delay="indefinite"/>
                      </p:stCondLst>
                      <p:childTnLst>
                        <p:par>
                          <p:cTn id="1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0" dur="500"/>
                                        <p:tgtEl>
                                          <p:spTgt spid="209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3" dur="500"/>
                                        <p:tgtEl>
                                          <p:spTgt spid="209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6" dur="500"/>
                                        <p:tgtEl>
                                          <p:spTgt spid="209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9" dur="500"/>
                                        <p:tgtEl>
                                          <p:spTgt spid="209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2" dur="500"/>
                                        <p:tgtEl>
                                          <p:spTgt spid="209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5" dur="500"/>
                                        <p:tgtEl>
                                          <p:spTgt spid="209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8" dur="500"/>
                                        <p:tgtEl>
                                          <p:spTgt spid="209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1" dur="500"/>
                                        <p:tgtEl>
                                          <p:spTgt spid="209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4" dur="500"/>
                                        <p:tgtEl>
                                          <p:spTgt spid="209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7" dur="500"/>
                                        <p:tgtEl>
                                          <p:spTgt spid="209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0" dur="500"/>
                                        <p:tgtEl>
                                          <p:spTgt spid="209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3" dur="500"/>
                                        <p:tgtEl>
                                          <p:spTgt spid="209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6" dur="500"/>
                                        <p:tgtEl>
                                          <p:spTgt spid="209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9" dur="500"/>
                                        <p:tgtEl>
                                          <p:spTgt spid="209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2" dur="500"/>
                                        <p:tgtEl>
                                          <p:spTgt spid="209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944" grpId="0" animBg="1"/>
      <p:bldP spid="209944" grpId="1" animBg="1"/>
      <p:bldP spid="209945" grpId="0" animBg="1"/>
      <p:bldP spid="209945" grpId="1" animBg="1"/>
      <p:bldP spid="209946" grpId="0" animBg="1"/>
      <p:bldP spid="209946" grpId="1" animBg="1"/>
      <p:bldP spid="209947" grpId="0" animBg="1"/>
      <p:bldP spid="209947" grpId="1" animBg="1"/>
      <p:bldP spid="209950" grpId="0" animBg="1"/>
      <p:bldP spid="209950" grpId="1" animBg="1"/>
      <p:bldP spid="209955" grpId="0" animBg="1"/>
      <p:bldP spid="209955" grpId="1" animBg="1"/>
      <p:bldP spid="209957" grpId="0" animBg="1"/>
      <p:bldP spid="209957" grpId="1" animBg="1"/>
      <p:bldP spid="209960" grpId="0" animBg="1"/>
      <p:bldP spid="209960" grpId="1" animBg="1"/>
      <p:bldP spid="209961" grpId="0" animBg="1"/>
      <p:bldP spid="209961" grpId="1" animBg="1"/>
      <p:bldP spid="209962" grpId="0"/>
      <p:bldP spid="209963" grpId="0" animBg="1"/>
      <p:bldP spid="209964" grpId="0" animBg="1"/>
      <p:bldP spid="209965" grpId="0" animBg="1"/>
      <p:bldP spid="209966" grpId="0" animBg="1"/>
      <p:bldP spid="209967" grpId="0" animBg="1"/>
      <p:bldP spid="209969" grpId="0" animBg="1"/>
      <p:bldP spid="209970" grpId="0" animBg="1"/>
      <p:bldP spid="209971" grpId="0" animBg="1"/>
      <p:bldP spid="209980" grpId="0"/>
      <p:bldP spid="209981" grpId="0" animBg="1"/>
      <p:bldP spid="209982" grpId="0" animBg="1"/>
      <p:bldP spid="209983" grpId="0" animBg="1"/>
      <p:bldP spid="209984" grpId="0" animBg="1"/>
      <p:bldP spid="209985" grpId="0" animBg="1"/>
      <p:bldP spid="209987" grpId="0" animBg="1"/>
      <p:bldP spid="209988" grpId="0" animBg="1"/>
      <p:bldP spid="209989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灯片编号占位符 3">
            <a:extLst>
              <a:ext uri="{FF2B5EF4-FFF2-40B4-BE49-F238E27FC236}">
                <a16:creationId xmlns:a16="http://schemas.microsoft.com/office/drawing/2014/main" id="{CBFE1D46-0B0D-F843-A72D-01F5210F657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C9C9458-C23C-8546-AE20-FAB79FBCF6DB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90114" name="Oval 3">
            <a:extLst>
              <a:ext uri="{FF2B5EF4-FFF2-40B4-BE49-F238E27FC236}">
                <a16:creationId xmlns:a16="http://schemas.microsoft.com/office/drawing/2014/main" id="{3E6E1081-C141-8546-9234-208E4E430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6988" y="32496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115" name="Oval 4">
            <a:extLst>
              <a:ext uri="{FF2B5EF4-FFF2-40B4-BE49-F238E27FC236}">
                <a16:creationId xmlns:a16="http://schemas.microsoft.com/office/drawing/2014/main" id="{CA3990DB-5BEF-2E4C-9833-70BC47851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5188" y="31734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116" name="Oval 5">
            <a:extLst>
              <a:ext uri="{FF2B5EF4-FFF2-40B4-BE49-F238E27FC236}">
                <a16:creationId xmlns:a16="http://schemas.microsoft.com/office/drawing/2014/main" id="{3C764FCC-2A81-F246-B005-C91B9AC93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7988" y="24876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117" name="Oval 6">
            <a:extLst>
              <a:ext uri="{FF2B5EF4-FFF2-40B4-BE49-F238E27FC236}">
                <a16:creationId xmlns:a16="http://schemas.microsoft.com/office/drawing/2014/main" id="{D2A4BAA2-4B1A-254E-A7DA-4E02ED34A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2388" y="25638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118" name="Line 7">
            <a:extLst>
              <a:ext uri="{FF2B5EF4-FFF2-40B4-BE49-F238E27FC236}">
                <a16:creationId xmlns:a16="http://schemas.microsoft.com/office/drawing/2014/main" id="{30CF8384-70CC-A149-A50C-904A4F59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39988" y="2868613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19" name="Line 8">
            <a:extLst>
              <a:ext uri="{FF2B5EF4-FFF2-40B4-BE49-F238E27FC236}">
                <a16:creationId xmlns:a16="http://schemas.microsoft.com/office/drawing/2014/main" id="{A16E36BF-2A12-7E4D-8F22-EA5B4CAE2D7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058988" y="2716213"/>
            <a:ext cx="533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20" name="Line 9">
            <a:extLst>
              <a:ext uri="{FF2B5EF4-FFF2-40B4-BE49-F238E27FC236}">
                <a16:creationId xmlns:a16="http://schemas.microsoft.com/office/drawing/2014/main" id="{015F2035-B74A-3C42-8031-2BC13DAE40B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982788" y="2792413"/>
            <a:ext cx="2286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21" name="Oval 10">
            <a:extLst>
              <a:ext uri="{FF2B5EF4-FFF2-40B4-BE49-F238E27FC236}">
                <a16:creationId xmlns:a16="http://schemas.microsoft.com/office/drawing/2014/main" id="{AED6BD87-D49F-D349-AEFD-F5618A835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24876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122" name="Line 11">
            <a:extLst>
              <a:ext uri="{FF2B5EF4-FFF2-40B4-BE49-F238E27FC236}">
                <a16:creationId xmlns:a16="http://schemas.microsoft.com/office/drawing/2014/main" id="{21EDD26E-D5B4-6D4B-B843-692D9BCC3AF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4588" y="2868613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23" name="Line 12">
            <a:extLst>
              <a:ext uri="{FF2B5EF4-FFF2-40B4-BE49-F238E27FC236}">
                <a16:creationId xmlns:a16="http://schemas.microsoft.com/office/drawing/2014/main" id="{9C2C2C51-47CA-0942-BC3D-5BF6BBA581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20788" y="26400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24" name="Oval 13">
            <a:extLst>
              <a:ext uri="{FF2B5EF4-FFF2-40B4-BE49-F238E27FC236}">
                <a16:creationId xmlns:a16="http://schemas.microsoft.com/office/drawing/2014/main" id="{CDA70FCF-9DAE-3940-BB45-B150448DA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588" y="42402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125" name="Oval 14">
            <a:extLst>
              <a:ext uri="{FF2B5EF4-FFF2-40B4-BE49-F238E27FC236}">
                <a16:creationId xmlns:a16="http://schemas.microsoft.com/office/drawing/2014/main" id="{5739352B-C16D-B648-868C-AC1D9C410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41640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126" name="Line 15">
            <a:extLst>
              <a:ext uri="{FF2B5EF4-FFF2-40B4-BE49-F238E27FC236}">
                <a16:creationId xmlns:a16="http://schemas.microsoft.com/office/drawing/2014/main" id="{6C0E3E75-313A-8C47-9661-32227ACF6E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4588" y="439261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27" name="Line 16">
            <a:extLst>
              <a:ext uri="{FF2B5EF4-FFF2-40B4-BE49-F238E27FC236}">
                <a16:creationId xmlns:a16="http://schemas.microsoft.com/office/drawing/2014/main" id="{6C04EC2C-93A5-864B-86ED-5791F27E934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25588" y="3630613"/>
            <a:ext cx="2286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28" name="Line 17">
            <a:extLst>
              <a:ext uri="{FF2B5EF4-FFF2-40B4-BE49-F238E27FC236}">
                <a16:creationId xmlns:a16="http://schemas.microsoft.com/office/drawing/2014/main" id="{D2B29549-BE0B-7E47-A2F9-6E0D78A070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8388" y="3630613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29" name="Oval 18">
            <a:extLst>
              <a:ext uri="{FF2B5EF4-FFF2-40B4-BE49-F238E27FC236}">
                <a16:creationId xmlns:a16="http://schemas.microsoft.com/office/drawing/2014/main" id="{B83C56E3-3D9C-574A-8D50-7329A5E1F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34020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130" name="Line 19">
            <a:extLst>
              <a:ext uri="{FF2B5EF4-FFF2-40B4-BE49-F238E27FC236}">
                <a16:creationId xmlns:a16="http://schemas.microsoft.com/office/drawing/2014/main" id="{A7ECD2FC-DCA0-1E49-BEA4-1909EFE044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9788" y="2868613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31" name="Line 20">
            <a:extLst>
              <a:ext uri="{FF2B5EF4-FFF2-40B4-BE49-F238E27FC236}">
                <a16:creationId xmlns:a16="http://schemas.microsoft.com/office/drawing/2014/main" id="{B2AA4E1D-BF28-0E41-AE2C-71965C68CFEE}"/>
              </a:ext>
            </a:extLst>
          </p:cNvPr>
          <p:cNvSpPr>
            <a:spLocks noChangeShapeType="1"/>
          </p:cNvSpPr>
          <p:nvPr/>
        </p:nvSpPr>
        <p:spPr bwMode="auto">
          <a:xfrm>
            <a:off x="839788" y="3783013"/>
            <a:ext cx="76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132" name="Text Box 23">
            <a:extLst>
              <a:ext uri="{FF2B5EF4-FFF2-40B4-BE49-F238E27FC236}">
                <a16:creationId xmlns:a16="http://schemas.microsoft.com/office/drawing/2014/main" id="{3392A1C7-CA3D-C04B-89FF-73A9602D6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188" y="4545013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1993" name="Line 25">
            <a:extLst>
              <a:ext uri="{FF2B5EF4-FFF2-40B4-BE49-F238E27FC236}">
                <a16:creationId xmlns:a16="http://schemas.microsoft.com/office/drawing/2014/main" id="{9146A0B7-6392-4C47-992A-5EB5DD7228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2238" y="3594100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1994" name="Oval 26">
            <a:extLst>
              <a:ext uri="{FF2B5EF4-FFF2-40B4-BE49-F238E27FC236}">
                <a16:creationId xmlns:a16="http://schemas.microsoft.com/office/drawing/2014/main" id="{1AB2F546-7682-F74F-975C-F054013E2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838" y="41275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1995" name="Oval 27">
            <a:extLst>
              <a:ext uri="{FF2B5EF4-FFF2-40B4-BE49-F238E27FC236}">
                <a16:creationId xmlns:a16="http://schemas.microsoft.com/office/drawing/2014/main" id="{1305D0B1-548E-7346-9117-EAA71E4E7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4438" y="2438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1996" name="Line 28">
            <a:extLst>
              <a:ext uri="{FF2B5EF4-FFF2-40B4-BE49-F238E27FC236}">
                <a16:creationId xmlns:a16="http://schemas.microsoft.com/office/drawing/2014/main" id="{D8DE4A78-74E8-4D41-9CC8-FB1D0B0FA8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5438" y="2590800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1997" name="Oval 29">
            <a:extLst>
              <a:ext uri="{FF2B5EF4-FFF2-40B4-BE49-F238E27FC236}">
                <a16:creationId xmlns:a16="http://schemas.microsoft.com/office/drawing/2014/main" id="{E34C6D82-DCFF-7C46-AA18-02A3A0ACE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2438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1998" name="Line 30">
            <a:extLst>
              <a:ext uri="{FF2B5EF4-FFF2-40B4-BE49-F238E27FC236}">
                <a16:creationId xmlns:a16="http://schemas.microsoft.com/office/drawing/2014/main" id="{CE259EA7-91C9-6B48-8A1D-65AF518757B0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9238" y="2819400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1999" name="Oval 31">
            <a:extLst>
              <a:ext uri="{FF2B5EF4-FFF2-40B4-BE49-F238E27FC236}">
                <a16:creationId xmlns:a16="http://schemas.microsoft.com/office/drawing/2014/main" id="{76BE0333-7E26-134C-8AA6-936E5497F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2038" y="3352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00" name="Line 32">
            <a:extLst>
              <a:ext uri="{FF2B5EF4-FFF2-40B4-BE49-F238E27FC236}">
                <a16:creationId xmlns:a16="http://schemas.microsoft.com/office/drawing/2014/main" id="{A0268BE6-3650-A345-8F0F-1CDE39A1AB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30638" y="2819400"/>
            <a:ext cx="152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01" name="Oval 33">
            <a:extLst>
              <a:ext uri="{FF2B5EF4-FFF2-40B4-BE49-F238E27FC236}">
                <a16:creationId xmlns:a16="http://schemas.microsoft.com/office/drawing/2014/main" id="{129665F2-DA15-F343-A885-E8EF43A2E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638" y="3200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02" name="Line 34">
            <a:extLst>
              <a:ext uri="{FF2B5EF4-FFF2-40B4-BE49-F238E27FC236}">
                <a16:creationId xmlns:a16="http://schemas.microsoft.com/office/drawing/2014/main" id="{672D3250-57BD-104F-AC59-3D3AE683678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97438" y="2667000"/>
            <a:ext cx="533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03" name="Oval 35">
            <a:extLst>
              <a:ext uri="{FF2B5EF4-FFF2-40B4-BE49-F238E27FC236}">
                <a16:creationId xmlns:a16="http://schemas.microsoft.com/office/drawing/2014/main" id="{393F0BBE-99C6-C447-883E-82C90D437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0838" y="2590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04" name="Line 36">
            <a:extLst>
              <a:ext uri="{FF2B5EF4-FFF2-40B4-BE49-F238E27FC236}">
                <a16:creationId xmlns:a16="http://schemas.microsoft.com/office/drawing/2014/main" id="{36BB4625-3121-724B-8991-E765B9FE838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21238" y="2743200"/>
            <a:ext cx="2286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05" name="Oval 37">
            <a:extLst>
              <a:ext uri="{FF2B5EF4-FFF2-40B4-BE49-F238E27FC236}">
                <a16:creationId xmlns:a16="http://schemas.microsoft.com/office/drawing/2014/main" id="{5269FEC0-2B09-F64D-8DF5-D2CCC6186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3638" y="3048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08" name="Line 40">
            <a:extLst>
              <a:ext uri="{FF2B5EF4-FFF2-40B4-BE49-F238E27FC236}">
                <a16:creationId xmlns:a16="http://schemas.microsoft.com/office/drawing/2014/main" id="{79AA5866-CE8B-FE4C-A5D8-62B61572E05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10075" y="3581400"/>
            <a:ext cx="334963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09" name="Oval 41">
            <a:extLst>
              <a:ext uri="{FF2B5EF4-FFF2-40B4-BE49-F238E27FC236}">
                <a16:creationId xmlns:a16="http://schemas.microsoft.com/office/drawing/2014/main" id="{22C36114-05EC-6341-9FC7-6B1FF19A1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2638" y="4114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10" name="AutoShape 42">
            <a:extLst>
              <a:ext uri="{FF2B5EF4-FFF2-40B4-BE49-F238E27FC236}">
                <a16:creationId xmlns:a16="http://schemas.microsoft.com/office/drawing/2014/main" id="{9B0453BA-629E-E64D-A323-AD2A80E2643E}"/>
              </a:ext>
            </a:extLst>
          </p:cNvPr>
          <p:cNvSpPr>
            <a:spLocks noChangeArrowheads="1"/>
          </p:cNvSpPr>
          <p:nvPr/>
        </p:nvSpPr>
        <p:spPr bwMode="auto">
          <a:xfrm rot="2922678">
            <a:off x="3373438" y="2179637"/>
            <a:ext cx="304800" cy="212725"/>
          </a:xfrm>
          <a:prstGeom prst="rightArrow">
            <a:avLst>
              <a:gd name="adj1" fmla="val 50000"/>
              <a:gd name="adj2" fmla="val 35821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rot="10800000" vert="eaVert"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11" name="Oval 43">
            <a:extLst>
              <a:ext uri="{FF2B5EF4-FFF2-40B4-BE49-F238E27FC236}">
                <a16:creationId xmlns:a16="http://schemas.microsoft.com/office/drawing/2014/main" id="{941FFDBD-F57D-D04A-8F49-3DC2ECFAA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4025" y="23828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12" name="Oval 44">
            <a:extLst>
              <a:ext uri="{FF2B5EF4-FFF2-40B4-BE49-F238E27FC236}">
                <a16:creationId xmlns:a16="http://schemas.microsoft.com/office/drawing/2014/main" id="{8C07BADD-E57E-AE4E-8F2C-1DA5AC24A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25" y="3068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13" name="Oval 45">
            <a:extLst>
              <a:ext uri="{FF2B5EF4-FFF2-40B4-BE49-F238E27FC236}">
                <a16:creationId xmlns:a16="http://schemas.microsoft.com/office/drawing/2014/main" id="{1E2E2408-93DC-224F-8C5D-8FB0EAB50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4425" y="3068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14" name="Oval 46">
            <a:extLst>
              <a:ext uri="{FF2B5EF4-FFF2-40B4-BE49-F238E27FC236}">
                <a16:creationId xmlns:a16="http://schemas.microsoft.com/office/drawing/2014/main" id="{6E03CC91-6078-C44E-BAF2-25FBC45C7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4025" y="3068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15" name="Oval 47">
            <a:extLst>
              <a:ext uri="{FF2B5EF4-FFF2-40B4-BE49-F238E27FC236}">
                <a16:creationId xmlns:a16="http://schemas.microsoft.com/office/drawing/2014/main" id="{87AE2F69-75D4-ED49-B18E-30349DCE0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9425" y="3830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16" name="Oval 48">
            <a:extLst>
              <a:ext uri="{FF2B5EF4-FFF2-40B4-BE49-F238E27FC236}">
                <a16:creationId xmlns:a16="http://schemas.microsoft.com/office/drawing/2014/main" id="{CD99F6B1-197A-9547-9D61-BF7767543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3800" y="3830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17" name="Oval 49">
            <a:extLst>
              <a:ext uri="{FF2B5EF4-FFF2-40B4-BE49-F238E27FC236}">
                <a16:creationId xmlns:a16="http://schemas.microsoft.com/office/drawing/2014/main" id="{235BC332-9E76-724E-9D84-8B432CEDF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2625" y="3830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</a:p>
        </p:txBody>
      </p:sp>
      <p:sp>
        <p:nvSpPr>
          <p:cNvPr id="212018" name="Oval 50">
            <a:extLst>
              <a:ext uri="{FF2B5EF4-FFF2-40B4-BE49-F238E27FC236}">
                <a16:creationId xmlns:a16="http://schemas.microsoft.com/office/drawing/2014/main" id="{18787210-770D-B242-9866-111D7B25A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9225" y="3830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</a:p>
        </p:txBody>
      </p:sp>
      <p:sp>
        <p:nvSpPr>
          <p:cNvPr id="212021" name="Line 53">
            <a:extLst>
              <a:ext uri="{FF2B5EF4-FFF2-40B4-BE49-F238E27FC236}">
                <a16:creationId xmlns:a16="http://schemas.microsoft.com/office/drawing/2014/main" id="{D8116BEA-2D1F-5044-B440-3E17DB9F26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6425" y="276383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22" name="Line 54">
            <a:extLst>
              <a:ext uri="{FF2B5EF4-FFF2-40B4-BE49-F238E27FC236}">
                <a16:creationId xmlns:a16="http://schemas.microsoft.com/office/drawing/2014/main" id="{4C636F3A-5E79-AC48-B5DE-1FAC5AB583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9225" y="276383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23" name="Line 55">
            <a:extLst>
              <a:ext uri="{FF2B5EF4-FFF2-40B4-BE49-F238E27FC236}">
                <a16:creationId xmlns:a16="http://schemas.microsoft.com/office/drawing/2014/main" id="{7F709ABD-48E2-E740-AA66-DD175119FB67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8825" y="276383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24" name="Line 56">
            <a:extLst>
              <a:ext uri="{FF2B5EF4-FFF2-40B4-BE49-F238E27FC236}">
                <a16:creationId xmlns:a16="http://schemas.microsoft.com/office/drawing/2014/main" id="{A422E8F2-D4EC-7548-A6C5-CB8B11CA960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2625" y="3449638"/>
            <a:ext cx="152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25" name="Line 57">
            <a:extLst>
              <a:ext uri="{FF2B5EF4-FFF2-40B4-BE49-F238E27FC236}">
                <a16:creationId xmlns:a16="http://schemas.microsoft.com/office/drawing/2014/main" id="{FB179301-9335-5846-98B6-2D2D0F0C60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87825" y="3449638"/>
            <a:ext cx="2286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27" name="Line 59">
            <a:extLst>
              <a:ext uri="{FF2B5EF4-FFF2-40B4-BE49-F238E27FC236}">
                <a16:creationId xmlns:a16="http://schemas.microsoft.com/office/drawing/2014/main" id="{54D6E940-3EAC-FA46-8378-F421FFF28B7C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2225" y="3449638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28" name="Line 60">
            <a:extLst>
              <a:ext uri="{FF2B5EF4-FFF2-40B4-BE49-F238E27FC236}">
                <a16:creationId xmlns:a16="http://schemas.microsoft.com/office/drawing/2014/main" id="{A3A2F266-DE2C-1E4D-BA6B-E358540E1B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8425" y="3449638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29" name="Oval 61">
            <a:extLst>
              <a:ext uri="{FF2B5EF4-FFF2-40B4-BE49-F238E27FC236}">
                <a16:creationId xmlns:a16="http://schemas.microsoft.com/office/drawing/2014/main" id="{353DB4B6-45F2-9C47-AEF3-42D354C37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3750" y="23780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30" name="Oval 62">
            <a:extLst>
              <a:ext uri="{FF2B5EF4-FFF2-40B4-BE49-F238E27FC236}">
                <a16:creationId xmlns:a16="http://schemas.microsoft.com/office/drawing/2014/main" id="{842A5B3A-F9A5-FD49-920B-A00E2F212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3350" y="30638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31" name="Oval 63">
            <a:extLst>
              <a:ext uri="{FF2B5EF4-FFF2-40B4-BE49-F238E27FC236}">
                <a16:creationId xmlns:a16="http://schemas.microsoft.com/office/drawing/2014/main" id="{B65B1B3B-83B1-9449-BE6A-792AF520A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4150" y="30638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32" name="Oval 64">
            <a:extLst>
              <a:ext uri="{FF2B5EF4-FFF2-40B4-BE49-F238E27FC236}">
                <a16:creationId xmlns:a16="http://schemas.microsoft.com/office/drawing/2014/main" id="{1F64FDF9-8F8B-BA4F-A493-540A77604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3750" y="30638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33" name="Oval 65">
            <a:extLst>
              <a:ext uri="{FF2B5EF4-FFF2-40B4-BE49-F238E27FC236}">
                <a16:creationId xmlns:a16="http://schemas.microsoft.com/office/drawing/2014/main" id="{10FF2BA0-6C70-BA41-85EC-B1880FB30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9150" y="38258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34" name="Oval 66">
            <a:extLst>
              <a:ext uri="{FF2B5EF4-FFF2-40B4-BE49-F238E27FC236}">
                <a16:creationId xmlns:a16="http://schemas.microsoft.com/office/drawing/2014/main" id="{DB31DBD9-C04E-654A-BF43-494DD77F8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5750" y="38258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36" name="Oval 68">
            <a:extLst>
              <a:ext uri="{FF2B5EF4-FFF2-40B4-BE49-F238E27FC236}">
                <a16:creationId xmlns:a16="http://schemas.microsoft.com/office/drawing/2014/main" id="{3AEFFB97-C0BD-EF43-AF1D-3BE770C3F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2800" y="38258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38" name="Oval 70">
            <a:extLst>
              <a:ext uri="{FF2B5EF4-FFF2-40B4-BE49-F238E27FC236}">
                <a16:creationId xmlns:a16="http://schemas.microsoft.com/office/drawing/2014/main" id="{48C6053E-879D-4446-9D13-FB19FF606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5550" y="3825875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39" name="Line 71">
            <a:extLst>
              <a:ext uri="{FF2B5EF4-FFF2-40B4-BE49-F238E27FC236}">
                <a16:creationId xmlns:a16="http://schemas.microsoft.com/office/drawing/2014/main" id="{5764738D-AB6A-624D-83B0-78AA0421DE0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6150" y="2759075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40" name="Line 72">
            <a:extLst>
              <a:ext uri="{FF2B5EF4-FFF2-40B4-BE49-F238E27FC236}">
                <a16:creationId xmlns:a16="http://schemas.microsoft.com/office/drawing/2014/main" id="{C5C840B3-6248-F34B-9541-C49799B239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38950" y="2759075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41" name="Line 73">
            <a:extLst>
              <a:ext uri="{FF2B5EF4-FFF2-40B4-BE49-F238E27FC236}">
                <a16:creationId xmlns:a16="http://schemas.microsoft.com/office/drawing/2014/main" id="{E4D46178-C2C6-0642-9A0D-CC024A087CAF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8550" y="2759075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43" name="Line 75">
            <a:extLst>
              <a:ext uri="{FF2B5EF4-FFF2-40B4-BE49-F238E27FC236}">
                <a16:creationId xmlns:a16="http://schemas.microsoft.com/office/drawing/2014/main" id="{D268CE60-E6FA-7246-9F81-2A3447CEEA4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6150" y="3444875"/>
            <a:ext cx="11113" cy="379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44" name="Line 76">
            <a:extLst>
              <a:ext uri="{FF2B5EF4-FFF2-40B4-BE49-F238E27FC236}">
                <a16:creationId xmlns:a16="http://schemas.microsoft.com/office/drawing/2014/main" id="{CE23F22E-9185-0844-BBF0-4013711F64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4150" y="3444875"/>
            <a:ext cx="152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45" name="Line 77">
            <a:extLst>
              <a:ext uri="{FF2B5EF4-FFF2-40B4-BE49-F238E27FC236}">
                <a16:creationId xmlns:a16="http://schemas.microsoft.com/office/drawing/2014/main" id="{C322496E-920F-8D46-BD71-439D87AFE4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1950" y="3444875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46" name="Line 78">
            <a:extLst>
              <a:ext uri="{FF2B5EF4-FFF2-40B4-BE49-F238E27FC236}">
                <a16:creationId xmlns:a16="http://schemas.microsoft.com/office/drawing/2014/main" id="{932CA9C7-843B-9243-BCC6-E4B4A2A2B4F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8150" y="3444875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2047" name="Rectangle 79">
            <a:extLst>
              <a:ext uri="{FF2B5EF4-FFF2-40B4-BE49-F238E27FC236}">
                <a16:creationId xmlns:a16="http://schemas.microsoft.com/office/drawing/2014/main" id="{B22D6D55-151D-2B48-BC6C-F6574EB08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750" y="4545013"/>
            <a:ext cx="15938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BFS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2048" name="Rectangle 80">
            <a:extLst>
              <a:ext uri="{FF2B5EF4-FFF2-40B4-BE49-F238E27FC236}">
                <a16:creationId xmlns:a16="http://schemas.microsoft.com/office/drawing/2014/main" id="{2691D154-C0D1-EB4F-97ED-EEDD19957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4545013"/>
            <a:ext cx="31591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其它：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BFS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T2  ……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181" name="Text Box 81">
            <a:extLst>
              <a:ext uri="{FF2B5EF4-FFF2-40B4-BE49-F238E27FC236}">
                <a16:creationId xmlns:a16="http://schemas.microsoft.com/office/drawing/2014/main" id="{8CCAF528-A3B0-BA46-B3DF-B3622701B0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213" y="663575"/>
            <a:ext cx="34575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BFS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12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21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211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211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211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212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212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11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212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2" dur="500"/>
                                        <p:tgtEl>
                                          <p:spTgt spid="212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7" dur="500"/>
                                        <p:tgtEl>
                                          <p:spTgt spid="212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0" dur="500"/>
                                        <p:tgtEl>
                                          <p:spTgt spid="212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212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212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3" dur="500"/>
                                        <p:tgtEl>
                                          <p:spTgt spid="211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6" dur="500"/>
                                        <p:tgtEl>
                                          <p:spTgt spid="211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0" dur="500"/>
                                        <p:tgtEl>
                                          <p:spTgt spid="2119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3" dur="500"/>
                                        <p:tgtEl>
                                          <p:spTgt spid="2119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6" dur="500"/>
                                        <p:tgtEl>
                                          <p:spTgt spid="2119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9" dur="500"/>
                                        <p:tgtEl>
                                          <p:spTgt spid="2119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2" dur="500"/>
                                        <p:tgtEl>
                                          <p:spTgt spid="2119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5" dur="500"/>
                                        <p:tgtEl>
                                          <p:spTgt spid="2119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8" dur="500"/>
                                        <p:tgtEl>
                                          <p:spTgt spid="2119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1" dur="500"/>
                                        <p:tgtEl>
                                          <p:spTgt spid="2120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4" dur="500"/>
                                        <p:tgtEl>
                                          <p:spTgt spid="2120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7" dur="500"/>
                                        <p:tgtEl>
                                          <p:spTgt spid="2120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0" dur="500"/>
                                        <p:tgtEl>
                                          <p:spTgt spid="2120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3" dur="500"/>
                                        <p:tgtEl>
                                          <p:spTgt spid="2120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6" dur="500"/>
                                        <p:tgtEl>
                                          <p:spTgt spid="2120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9" dur="500"/>
                                        <p:tgtEl>
                                          <p:spTgt spid="2120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2" dur="500"/>
                                        <p:tgtEl>
                                          <p:spTgt spid="2120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5" dur="500"/>
                                        <p:tgtEl>
                                          <p:spTgt spid="2120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0" dur="500"/>
                                        <p:tgtEl>
                                          <p:spTgt spid="212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3" dur="500"/>
                                        <p:tgtEl>
                                          <p:spTgt spid="212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6" dur="500"/>
                                        <p:tgtEl>
                                          <p:spTgt spid="212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9" dur="500"/>
                                        <p:tgtEl>
                                          <p:spTgt spid="212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2" dur="500"/>
                                        <p:tgtEl>
                                          <p:spTgt spid="212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5" dur="500"/>
                                        <p:tgtEl>
                                          <p:spTgt spid="212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8" dur="500"/>
                                        <p:tgtEl>
                                          <p:spTgt spid="212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1" dur="500"/>
                                        <p:tgtEl>
                                          <p:spTgt spid="212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4" dur="500"/>
                                        <p:tgtEl>
                                          <p:spTgt spid="212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7" dur="500"/>
                                        <p:tgtEl>
                                          <p:spTgt spid="212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0" dur="500"/>
                                        <p:tgtEl>
                                          <p:spTgt spid="212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3" dur="500"/>
                                        <p:tgtEl>
                                          <p:spTgt spid="212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6" dur="500"/>
                                        <p:tgtEl>
                                          <p:spTgt spid="212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9" dur="500"/>
                                        <p:tgtEl>
                                          <p:spTgt spid="212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2" dur="500"/>
                                        <p:tgtEl>
                                          <p:spTgt spid="212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5" dur="500"/>
                                        <p:tgtEl>
                                          <p:spTgt spid="212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 nodeType="clickPar">
                      <p:stCondLst>
                        <p:cond delay="indefinite"/>
                      </p:stCondLst>
                      <p:childTnLst>
                        <p:par>
                          <p:cTn id="1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0" dur="500"/>
                                        <p:tgtEl>
                                          <p:spTgt spid="212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3" dur="500"/>
                                        <p:tgtEl>
                                          <p:spTgt spid="212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6" dur="500"/>
                                        <p:tgtEl>
                                          <p:spTgt spid="212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9" dur="500"/>
                                        <p:tgtEl>
                                          <p:spTgt spid="212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2" dur="500"/>
                                        <p:tgtEl>
                                          <p:spTgt spid="212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5" dur="500"/>
                                        <p:tgtEl>
                                          <p:spTgt spid="212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8" dur="500"/>
                                        <p:tgtEl>
                                          <p:spTgt spid="212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1" dur="500"/>
                                        <p:tgtEl>
                                          <p:spTgt spid="212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4" dur="500"/>
                                        <p:tgtEl>
                                          <p:spTgt spid="212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7" dur="500"/>
                                        <p:tgtEl>
                                          <p:spTgt spid="212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0" dur="500"/>
                                        <p:tgtEl>
                                          <p:spTgt spid="212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3" dur="500"/>
                                        <p:tgtEl>
                                          <p:spTgt spid="212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6" dur="500"/>
                                        <p:tgtEl>
                                          <p:spTgt spid="212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9" dur="500"/>
                                        <p:tgtEl>
                                          <p:spTgt spid="212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2" dur="500"/>
                                        <p:tgtEl>
                                          <p:spTgt spid="212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5" dur="500"/>
                                        <p:tgtEl>
                                          <p:spTgt spid="212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994" grpId="0" animBg="1"/>
      <p:bldP spid="211994" grpId="1" animBg="1"/>
      <p:bldP spid="211995" grpId="0" animBg="1"/>
      <p:bldP spid="211995" grpId="1" animBg="1"/>
      <p:bldP spid="211997" grpId="0" animBg="1"/>
      <p:bldP spid="211997" grpId="1" animBg="1"/>
      <p:bldP spid="211999" grpId="0" animBg="1"/>
      <p:bldP spid="211999" grpId="1" animBg="1"/>
      <p:bldP spid="212001" grpId="0" animBg="1"/>
      <p:bldP spid="212001" grpId="1" animBg="1"/>
      <p:bldP spid="212003" grpId="0" animBg="1"/>
      <p:bldP spid="212003" grpId="1" animBg="1"/>
      <p:bldP spid="212005" grpId="0" animBg="1"/>
      <p:bldP spid="212005" grpId="1" animBg="1"/>
      <p:bldP spid="212009" grpId="0" animBg="1"/>
      <p:bldP spid="212009" grpId="1" animBg="1"/>
      <p:bldP spid="212010" grpId="0" animBg="1"/>
      <p:bldP spid="212010" grpId="1" animBg="1"/>
      <p:bldP spid="212011" grpId="0" animBg="1"/>
      <p:bldP spid="212012" grpId="0" animBg="1"/>
      <p:bldP spid="212013" grpId="0" animBg="1"/>
      <p:bldP spid="212014" grpId="0" animBg="1"/>
      <p:bldP spid="212015" grpId="0" animBg="1"/>
      <p:bldP spid="212016" grpId="0" animBg="1"/>
      <p:bldP spid="212017" grpId="0" animBg="1"/>
      <p:bldP spid="212018" grpId="0" animBg="1"/>
      <p:bldP spid="212029" grpId="0" animBg="1"/>
      <p:bldP spid="212030" grpId="0" animBg="1"/>
      <p:bldP spid="212031" grpId="0" animBg="1"/>
      <p:bldP spid="212032" grpId="0" animBg="1"/>
      <p:bldP spid="212033" grpId="0" animBg="1"/>
      <p:bldP spid="212034" grpId="0" animBg="1"/>
      <p:bldP spid="212036" grpId="0" animBg="1"/>
      <p:bldP spid="212038" grpId="0" animBg="1"/>
      <p:bldP spid="212047" grpId="0"/>
      <p:bldP spid="212048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灯片编号占位符 3">
            <a:extLst>
              <a:ext uri="{FF2B5EF4-FFF2-40B4-BE49-F238E27FC236}">
                <a16:creationId xmlns:a16="http://schemas.microsoft.com/office/drawing/2014/main" id="{3D46B20B-E1BA-FC49-98A3-5E045AE0EC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5A63AF3-B351-704F-8657-67E6A39656FD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92162" name="Oval 3">
            <a:extLst>
              <a:ext uri="{FF2B5EF4-FFF2-40B4-BE49-F238E27FC236}">
                <a16:creationId xmlns:a16="http://schemas.microsoft.com/office/drawing/2014/main" id="{38633458-168F-A442-96EC-598E18EAD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2000" y="19510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63" name="Oval 4">
            <a:extLst>
              <a:ext uri="{FF2B5EF4-FFF2-40B4-BE49-F238E27FC236}">
                <a16:creationId xmlns:a16="http://schemas.microsoft.com/office/drawing/2014/main" id="{3B927E99-A0F2-4A49-99A7-903A274ED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9400" y="21034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64" name="Oval 5">
            <a:extLst>
              <a:ext uri="{FF2B5EF4-FFF2-40B4-BE49-F238E27FC236}">
                <a16:creationId xmlns:a16="http://schemas.microsoft.com/office/drawing/2014/main" id="{8F3A1A78-D3BC-5348-986E-E7184ED6A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8400" y="13414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65" name="Oval 6">
            <a:extLst>
              <a:ext uri="{FF2B5EF4-FFF2-40B4-BE49-F238E27FC236}">
                <a16:creationId xmlns:a16="http://schemas.microsoft.com/office/drawing/2014/main" id="{B4287D28-AC52-FA4F-9AED-10E890170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14176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66" name="Line 7">
            <a:extLst>
              <a:ext uri="{FF2B5EF4-FFF2-40B4-BE49-F238E27FC236}">
                <a16:creationId xmlns:a16="http://schemas.microsoft.com/office/drawing/2014/main" id="{50AB43AA-CDFA-2943-B7C1-D87A6AC56D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94200" y="172243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67" name="Line 8">
            <a:extLst>
              <a:ext uri="{FF2B5EF4-FFF2-40B4-BE49-F238E27FC236}">
                <a16:creationId xmlns:a16="http://schemas.microsoft.com/office/drawing/2014/main" id="{5F109C47-429E-E04F-9F9A-16440DC176E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089400" y="1570038"/>
            <a:ext cx="533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68" name="Line 9">
            <a:extLst>
              <a:ext uri="{FF2B5EF4-FFF2-40B4-BE49-F238E27FC236}">
                <a16:creationId xmlns:a16="http://schemas.microsoft.com/office/drawing/2014/main" id="{0DBC8DEF-4D08-8945-AB31-43E73073F3E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013200" y="1646238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69" name="Oval 10">
            <a:extLst>
              <a:ext uri="{FF2B5EF4-FFF2-40B4-BE49-F238E27FC236}">
                <a16:creationId xmlns:a16="http://schemas.microsoft.com/office/drawing/2014/main" id="{6E96F9DA-F105-C544-A82A-FFA3BC88F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1000" y="13414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70" name="Line 11">
            <a:extLst>
              <a:ext uri="{FF2B5EF4-FFF2-40B4-BE49-F238E27FC236}">
                <a16:creationId xmlns:a16="http://schemas.microsoft.com/office/drawing/2014/main" id="{5FCC6987-449C-3646-B8E2-55F20BD22099}"/>
              </a:ext>
            </a:extLst>
          </p:cNvPr>
          <p:cNvSpPr>
            <a:spLocks noChangeShapeType="1"/>
          </p:cNvSpPr>
          <p:nvPr/>
        </p:nvSpPr>
        <p:spPr bwMode="auto">
          <a:xfrm>
            <a:off x="1879600" y="1722438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71" name="Oval 12">
            <a:extLst>
              <a:ext uri="{FF2B5EF4-FFF2-40B4-BE49-F238E27FC236}">
                <a16:creationId xmlns:a16="http://schemas.microsoft.com/office/drawing/2014/main" id="{EB003D1A-E296-0542-8673-7A99B47CE8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8600" y="27892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72" name="Oval 13">
            <a:extLst>
              <a:ext uri="{FF2B5EF4-FFF2-40B4-BE49-F238E27FC236}">
                <a16:creationId xmlns:a16="http://schemas.microsoft.com/office/drawing/2014/main" id="{200AE8B4-DA17-ED46-9F38-474A5E27F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27130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73" name="Line 14">
            <a:extLst>
              <a:ext uri="{FF2B5EF4-FFF2-40B4-BE49-F238E27FC236}">
                <a16:creationId xmlns:a16="http://schemas.microsoft.com/office/drawing/2014/main" id="{8DC710DD-224D-8148-BEE3-10814ABE5A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79600" y="2941638"/>
            <a:ext cx="304800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74" name="Line 15">
            <a:extLst>
              <a:ext uri="{FF2B5EF4-FFF2-40B4-BE49-F238E27FC236}">
                <a16:creationId xmlns:a16="http://schemas.microsoft.com/office/drawing/2014/main" id="{DA7029F3-A8B8-AE45-A09A-296EC9D80EF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60600" y="2332038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75" name="Line 16">
            <a:extLst>
              <a:ext uri="{FF2B5EF4-FFF2-40B4-BE49-F238E27FC236}">
                <a16:creationId xmlns:a16="http://schemas.microsoft.com/office/drawing/2014/main" id="{3B02D82C-05D6-9045-A797-32A78A0FAB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03400" y="2332038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76" name="Oval 17">
            <a:extLst>
              <a:ext uri="{FF2B5EF4-FFF2-40B4-BE49-F238E27FC236}">
                <a16:creationId xmlns:a16="http://schemas.microsoft.com/office/drawing/2014/main" id="{385D4B66-C08B-D442-AF23-3D51051BCB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6200" y="20272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77" name="Line 18">
            <a:extLst>
              <a:ext uri="{FF2B5EF4-FFF2-40B4-BE49-F238E27FC236}">
                <a16:creationId xmlns:a16="http://schemas.microsoft.com/office/drawing/2014/main" id="{C90B9E97-5007-5644-8EC2-AF1E3FDB94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74800" y="1722438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78" name="Line 19">
            <a:extLst>
              <a:ext uri="{FF2B5EF4-FFF2-40B4-BE49-F238E27FC236}">
                <a16:creationId xmlns:a16="http://schemas.microsoft.com/office/drawing/2014/main" id="{CFFDF8E8-AA48-9241-ABC6-2DEBAA5D4B8D}"/>
              </a:ext>
            </a:extLst>
          </p:cNvPr>
          <p:cNvSpPr>
            <a:spLocks noChangeShapeType="1"/>
          </p:cNvSpPr>
          <p:nvPr/>
        </p:nvSpPr>
        <p:spPr bwMode="auto">
          <a:xfrm>
            <a:off x="1574800" y="2408238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79" name="Oval 20">
            <a:extLst>
              <a:ext uri="{FF2B5EF4-FFF2-40B4-BE49-F238E27FC236}">
                <a16:creationId xmlns:a16="http://schemas.microsoft.com/office/drawing/2014/main" id="{6195D31B-7AEE-8E4A-8D48-930F9B7D1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800" y="24082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80" name="Line 21">
            <a:extLst>
              <a:ext uri="{FF2B5EF4-FFF2-40B4-BE49-F238E27FC236}">
                <a16:creationId xmlns:a16="http://schemas.microsoft.com/office/drawing/2014/main" id="{77CBA172-C540-184A-9117-59382F0822D0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000" y="2255838"/>
            <a:ext cx="3810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81" name="Oval 22">
            <a:extLst>
              <a:ext uri="{FF2B5EF4-FFF2-40B4-BE49-F238E27FC236}">
                <a16:creationId xmlns:a16="http://schemas.microsoft.com/office/drawing/2014/main" id="{3321AF87-8176-4142-B5D5-6F9E02348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4000" y="13414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82" name="Oval 23">
            <a:extLst>
              <a:ext uri="{FF2B5EF4-FFF2-40B4-BE49-F238E27FC236}">
                <a16:creationId xmlns:a16="http://schemas.microsoft.com/office/drawing/2014/main" id="{B6BC8849-B68F-CC4A-900A-7CCD6638B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2600" y="20272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83" name="Line 24">
            <a:extLst>
              <a:ext uri="{FF2B5EF4-FFF2-40B4-BE49-F238E27FC236}">
                <a16:creationId xmlns:a16="http://schemas.microsoft.com/office/drawing/2014/main" id="{38B5BE6A-BFD1-FC4C-A919-06E431D555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2600" y="1722438"/>
            <a:ext cx="1524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041" name="Rectangle 25">
            <a:extLst>
              <a:ext uri="{FF2B5EF4-FFF2-40B4-BE49-F238E27FC236}">
                <a16:creationId xmlns:a16="http://schemas.microsoft.com/office/drawing/2014/main" id="{063932EC-96DE-D84F-947A-0071CACC6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1650" y="3630613"/>
            <a:ext cx="28162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从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出发，得树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185" name="Text Box 26">
            <a:extLst>
              <a:ext uri="{FF2B5EF4-FFF2-40B4-BE49-F238E27FC236}">
                <a16:creationId xmlns:a16="http://schemas.microsoft.com/office/drawing/2014/main" id="{0EE689A9-DE9B-9349-93A9-FC2DF62346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8800" y="2941638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43" name="Text Box 27">
            <a:extLst>
              <a:ext uri="{FF2B5EF4-FFF2-40B4-BE49-F238E27FC236}">
                <a16:creationId xmlns:a16="http://schemas.microsoft.com/office/drawing/2014/main" id="{70454A7C-73FF-9245-847D-F4095ABDA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8738" y="4508500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44" name="Rectangle 28">
            <a:extLst>
              <a:ext uri="{FF2B5EF4-FFF2-40B4-BE49-F238E27FC236}">
                <a16:creationId xmlns:a16="http://schemas.microsoft.com/office/drawing/2014/main" id="{6AEC6B0D-F868-BB47-8540-FDD43CE9A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7363" y="4278313"/>
            <a:ext cx="26638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从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得树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T2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45" name="Text Box 29">
            <a:extLst>
              <a:ext uri="{FF2B5EF4-FFF2-40B4-BE49-F238E27FC236}">
                <a16:creationId xmlns:a16="http://schemas.microsoft.com/office/drawing/2014/main" id="{AF8BC48E-924B-5547-865C-75AC78EB0C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1488" y="4508500"/>
            <a:ext cx="565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46" name="Oval 30">
            <a:extLst>
              <a:ext uri="{FF2B5EF4-FFF2-40B4-BE49-F238E27FC236}">
                <a16:creationId xmlns:a16="http://schemas.microsoft.com/office/drawing/2014/main" id="{5577460D-FA18-E447-BECF-BDFDA1168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25987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47" name="Oval 31">
            <a:extLst>
              <a:ext uri="{FF2B5EF4-FFF2-40B4-BE49-F238E27FC236}">
                <a16:creationId xmlns:a16="http://schemas.microsoft.com/office/drawing/2014/main" id="{D10D6212-D166-F249-B377-1535C2FC8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1989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48" name="Oval 32">
            <a:extLst>
              <a:ext uri="{FF2B5EF4-FFF2-40B4-BE49-F238E27FC236}">
                <a16:creationId xmlns:a16="http://schemas.microsoft.com/office/drawing/2014/main" id="{07F559D4-3614-E043-BF65-5583F2C28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49" name="Oval 33">
            <a:extLst>
              <a:ext uri="{FF2B5EF4-FFF2-40B4-BE49-F238E27FC236}">
                <a16:creationId xmlns:a16="http://schemas.microsoft.com/office/drawing/2014/main" id="{E557DF52-CF29-0D46-8DD0-7572DC6F5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3970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50" name="Oval 34">
            <a:extLst>
              <a:ext uri="{FF2B5EF4-FFF2-40B4-BE49-F238E27FC236}">
                <a16:creationId xmlns:a16="http://schemas.microsoft.com/office/drawing/2014/main" id="{0A87400B-11A6-9343-ADCF-E5886793A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3970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51" name="Oval 35">
            <a:extLst>
              <a:ext uri="{FF2B5EF4-FFF2-40B4-BE49-F238E27FC236}">
                <a16:creationId xmlns:a16="http://schemas.microsoft.com/office/drawing/2014/main" id="{542628DD-E867-8F4F-B36C-9E73CC30B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122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52" name="Line 36">
            <a:extLst>
              <a:ext uri="{FF2B5EF4-FFF2-40B4-BE49-F238E27FC236}">
                <a16:creationId xmlns:a16="http://schemas.microsoft.com/office/drawing/2014/main" id="{48440804-DD37-7744-BFF7-F7B9DEDBEA57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8825" y="2370138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053" name="Line 37">
            <a:extLst>
              <a:ext uri="{FF2B5EF4-FFF2-40B4-BE49-F238E27FC236}">
                <a16:creationId xmlns:a16="http://schemas.microsoft.com/office/drawing/2014/main" id="{88FC1B19-5866-CD47-AD3D-BA8A47FF16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0225" y="2979738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054" name="Line 38">
            <a:extLst>
              <a:ext uri="{FF2B5EF4-FFF2-40B4-BE49-F238E27FC236}">
                <a16:creationId xmlns:a16="http://schemas.microsoft.com/office/drawing/2014/main" id="{C4443D67-C216-2743-AD24-8548BCACB02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5025" y="2979738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055" name="Line 39">
            <a:extLst>
              <a:ext uri="{FF2B5EF4-FFF2-40B4-BE49-F238E27FC236}">
                <a16:creationId xmlns:a16="http://schemas.microsoft.com/office/drawing/2014/main" id="{384C1991-55B2-2544-9619-17B14EE1AD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05425" y="3665538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056" name="Line 40">
            <a:extLst>
              <a:ext uri="{FF2B5EF4-FFF2-40B4-BE49-F238E27FC236}">
                <a16:creationId xmlns:a16="http://schemas.microsoft.com/office/drawing/2014/main" id="{11111C19-DE17-6048-84EA-F45EF9AC8E4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0225" y="3665538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057" name="Text Box 41">
            <a:extLst>
              <a:ext uri="{FF2B5EF4-FFF2-40B4-BE49-F238E27FC236}">
                <a16:creationId xmlns:a16="http://schemas.microsoft.com/office/drawing/2014/main" id="{3284389E-9909-914E-96DB-49E9CF6A65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0063" y="4508500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58" name="Oval 42">
            <a:extLst>
              <a:ext uri="{FF2B5EF4-FFF2-40B4-BE49-F238E27FC236}">
                <a16:creationId xmlns:a16="http://schemas.microsoft.com/office/drawing/2014/main" id="{AD0DFCA5-B6E5-EC45-9CEB-91F37FCFF8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5613" y="1989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59" name="Oval 43">
            <a:extLst>
              <a:ext uri="{FF2B5EF4-FFF2-40B4-BE49-F238E27FC236}">
                <a16:creationId xmlns:a16="http://schemas.microsoft.com/office/drawing/2014/main" id="{40504FAE-2224-9B4D-BE96-BDA22A5D1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5613" y="2674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60" name="Line 44">
            <a:extLst>
              <a:ext uri="{FF2B5EF4-FFF2-40B4-BE49-F238E27FC236}">
                <a16:creationId xmlns:a16="http://schemas.microsoft.com/office/drawing/2014/main" id="{A7318D5D-C48C-4043-80B0-5B06776E820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4213" y="237013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061" name="Oval 45">
            <a:extLst>
              <a:ext uri="{FF2B5EF4-FFF2-40B4-BE49-F238E27FC236}">
                <a16:creationId xmlns:a16="http://schemas.microsoft.com/office/drawing/2014/main" id="{502864B0-9EAA-1D44-AC49-187B58C9F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0013" y="2674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62" name="Oval 46">
            <a:extLst>
              <a:ext uri="{FF2B5EF4-FFF2-40B4-BE49-F238E27FC236}">
                <a16:creationId xmlns:a16="http://schemas.microsoft.com/office/drawing/2014/main" id="{8A76FFDA-3DBA-B140-B09E-93E4C0B5A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0013" y="1989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63" name="Oval 47">
            <a:extLst>
              <a:ext uri="{FF2B5EF4-FFF2-40B4-BE49-F238E27FC236}">
                <a16:creationId xmlns:a16="http://schemas.microsoft.com/office/drawing/2014/main" id="{7528C6F5-498A-A74E-87EB-319117A97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0013" y="33607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4064" name="Line 48">
            <a:extLst>
              <a:ext uri="{FF2B5EF4-FFF2-40B4-BE49-F238E27FC236}">
                <a16:creationId xmlns:a16="http://schemas.microsoft.com/office/drawing/2014/main" id="{3FD235CB-CC09-0445-A267-9C45C5DEAD2A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2413" y="237013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065" name="Line 49">
            <a:extLst>
              <a:ext uri="{FF2B5EF4-FFF2-40B4-BE49-F238E27FC236}">
                <a16:creationId xmlns:a16="http://schemas.microsoft.com/office/drawing/2014/main" id="{856F5A80-AEDF-CA45-9AA6-B47ECE7BB8CB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2413" y="305593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066" name="Rectangle 50">
            <a:extLst>
              <a:ext uri="{FF2B5EF4-FFF2-40B4-BE49-F238E27FC236}">
                <a16:creationId xmlns:a16="http://schemas.microsoft.com/office/drawing/2014/main" id="{03B7F999-8626-2C4A-89E5-D7658C822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3238" y="4926013"/>
            <a:ext cx="26638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从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得树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T3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2210" name="Text Box 51">
            <a:extLst>
              <a:ext uri="{FF2B5EF4-FFF2-40B4-BE49-F238E27FC236}">
                <a16:creationId xmlns:a16="http://schemas.microsoft.com/office/drawing/2014/main" id="{3AAA687E-11FA-614C-8B27-96C442AC2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476250"/>
            <a:ext cx="46799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DFS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生成森林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40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40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214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214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214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214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214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214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214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14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7" dur="500"/>
                                        <p:tgtEl>
                                          <p:spTgt spid="214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0" dur="500"/>
                                        <p:tgtEl>
                                          <p:spTgt spid="214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214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214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140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140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7" dur="500"/>
                                        <p:tgtEl>
                                          <p:spTgt spid="214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0" dur="500"/>
                                        <p:tgtEl>
                                          <p:spTgt spid="214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3" dur="500"/>
                                        <p:tgtEl>
                                          <p:spTgt spid="214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6" dur="500"/>
                                        <p:tgtEl>
                                          <p:spTgt spid="214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14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14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7" dur="500"/>
                                        <p:tgtEl>
                                          <p:spTgt spid="214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0" dur="500"/>
                                        <p:tgtEl>
                                          <p:spTgt spid="214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3" dur="500"/>
                                        <p:tgtEl>
                                          <p:spTgt spid="214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6" dur="500"/>
                                        <p:tgtEl>
                                          <p:spTgt spid="214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9" dur="500"/>
                                        <p:tgtEl>
                                          <p:spTgt spid="214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2" dur="500"/>
                                        <p:tgtEl>
                                          <p:spTgt spid="214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041" grpId="0"/>
      <p:bldP spid="214043" grpId="0"/>
      <p:bldP spid="214044" grpId="0"/>
      <p:bldP spid="214045" grpId="0"/>
      <p:bldP spid="214046" grpId="0" animBg="1"/>
      <p:bldP spid="214047" grpId="0" animBg="1"/>
      <p:bldP spid="214048" grpId="0" animBg="1"/>
      <p:bldP spid="214049" grpId="0" animBg="1"/>
      <p:bldP spid="214050" grpId="0" animBg="1"/>
      <p:bldP spid="214051" grpId="0" animBg="1"/>
      <p:bldP spid="214057" grpId="0"/>
      <p:bldP spid="214058" grpId="0" animBg="1"/>
      <p:bldP spid="214059" grpId="0" animBg="1"/>
      <p:bldP spid="214061" grpId="0" animBg="1"/>
      <p:bldP spid="214062" grpId="0" animBg="1"/>
      <p:bldP spid="214063" grpId="0" animBg="1"/>
      <p:bldP spid="214066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灯片编号占位符 3">
            <a:extLst>
              <a:ext uri="{FF2B5EF4-FFF2-40B4-BE49-F238E27FC236}">
                <a16:creationId xmlns:a16="http://schemas.microsoft.com/office/drawing/2014/main" id="{37CF170B-16E9-0E47-AA8E-CAAF4C32144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7AB0FB5-7EC2-9040-ABE7-5CCDB6FAF255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94210" name="Oval 3">
            <a:extLst>
              <a:ext uri="{FF2B5EF4-FFF2-40B4-BE49-F238E27FC236}">
                <a16:creationId xmlns:a16="http://schemas.microsoft.com/office/drawing/2014/main" id="{0B218207-BA61-1648-8A34-C6538F8A2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9913" y="22129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11" name="Oval 4">
            <a:extLst>
              <a:ext uri="{FF2B5EF4-FFF2-40B4-BE49-F238E27FC236}">
                <a16:creationId xmlns:a16="http://schemas.microsoft.com/office/drawing/2014/main" id="{A821367A-4169-F94D-8E72-8375A099D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7313" y="23653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12" name="Oval 5">
            <a:extLst>
              <a:ext uri="{FF2B5EF4-FFF2-40B4-BE49-F238E27FC236}">
                <a16:creationId xmlns:a16="http://schemas.microsoft.com/office/drawing/2014/main" id="{63F86179-4EB1-F44F-9FA8-13E8ED8AF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6313" y="16033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13" name="Oval 6">
            <a:extLst>
              <a:ext uri="{FF2B5EF4-FFF2-40B4-BE49-F238E27FC236}">
                <a16:creationId xmlns:a16="http://schemas.microsoft.com/office/drawing/2014/main" id="{6DF7EB73-EEB2-5C40-BA8B-F14ACF31C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713" y="16795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14" name="Line 7">
            <a:extLst>
              <a:ext uri="{FF2B5EF4-FFF2-40B4-BE49-F238E27FC236}">
                <a16:creationId xmlns:a16="http://schemas.microsoft.com/office/drawing/2014/main" id="{F33B19BD-A77C-C54F-B30B-63BAAA534D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02113" y="198437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15" name="Line 8">
            <a:extLst>
              <a:ext uri="{FF2B5EF4-FFF2-40B4-BE49-F238E27FC236}">
                <a16:creationId xmlns:a16="http://schemas.microsoft.com/office/drawing/2014/main" id="{FFBEA93A-725F-A34E-BEB1-96830F9DA6A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897313" y="1831975"/>
            <a:ext cx="5334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16" name="Line 9">
            <a:extLst>
              <a:ext uri="{FF2B5EF4-FFF2-40B4-BE49-F238E27FC236}">
                <a16:creationId xmlns:a16="http://schemas.microsoft.com/office/drawing/2014/main" id="{195FA7F9-F241-454D-8AD6-8FB952D71D3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821113" y="1908175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17" name="Oval 10">
            <a:extLst>
              <a:ext uri="{FF2B5EF4-FFF2-40B4-BE49-F238E27FC236}">
                <a16:creationId xmlns:a16="http://schemas.microsoft.com/office/drawing/2014/main" id="{6D11F71E-8139-8140-8128-EB11DEE37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8913" y="16033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18" name="Line 11">
            <a:extLst>
              <a:ext uri="{FF2B5EF4-FFF2-40B4-BE49-F238E27FC236}">
                <a16:creationId xmlns:a16="http://schemas.microsoft.com/office/drawing/2014/main" id="{1474F766-6462-8A4F-8B6B-BEA53FD77896}"/>
              </a:ext>
            </a:extLst>
          </p:cNvPr>
          <p:cNvSpPr>
            <a:spLocks noChangeShapeType="1"/>
          </p:cNvSpPr>
          <p:nvPr/>
        </p:nvSpPr>
        <p:spPr bwMode="auto">
          <a:xfrm>
            <a:off x="1687513" y="198437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19" name="Oval 12">
            <a:extLst>
              <a:ext uri="{FF2B5EF4-FFF2-40B4-BE49-F238E27FC236}">
                <a16:creationId xmlns:a16="http://schemas.microsoft.com/office/drawing/2014/main" id="{6135C0D8-9709-2145-900B-888685BC0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6513" y="30511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20" name="Oval 13">
            <a:extLst>
              <a:ext uri="{FF2B5EF4-FFF2-40B4-BE49-F238E27FC236}">
                <a16:creationId xmlns:a16="http://schemas.microsoft.com/office/drawing/2014/main" id="{3B4BB689-84B7-EC44-82A6-53082F09B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313" y="29749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21" name="Line 14">
            <a:extLst>
              <a:ext uri="{FF2B5EF4-FFF2-40B4-BE49-F238E27FC236}">
                <a16:creationId xmlns:a16="http://schemas.microsoft.com/office/drawing/2014/main" id="{31E7758B-2A56-3543-9DAF-576439BFEB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87513" y="3203575"/>
            <a:ext cx="3048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22" name="Line 15">
            <a:extLst>
              <a:ext uri="{FF2B5EF4-FFF2-40B4-BE49-F238E27FC236}">
                <a16:creationId xmlns:a16="http://schemas.microsoft.com/office/drawing/2014/main" id="{A1F7D06A-2DF6-F74E-9746-3B6254EC1A9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068513" y="2593975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23" name="Line 16">
            <a:extLst>
              <a:ext uri="{FF2B5EF4-FFF2-40B4-BE49-F238E27FC236}">
                <a16:creationId xmlns:a16="http://schemas.microsoft.com/office/drawing/2014/main" id="{A8AF71AB-C014-DF4B-BD86-B123826455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11313" y="2593975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24" name="Oval 17">
            <a:extLst>
              <a:ext uri="{FF2B5EF4-FFF2-40B4-BE49-F238E27FC236}">
                <a16:creationId xmlns:a16="http://schemas.microsoft.com/office/drawing/2014/main" id="{E698272A-32DB-1045-8BE4-6DFBBA5CA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4113" y="22891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25" name="Line 18">
            <a:extLst>
              <a:ext uri="{FF2B5EF4-FFF2-40B4-BE49-F238E27FC236}">
                <a16:creationId xmlns:a16="http://schemas.microsoft.com/office/drawing/2014/main" id="{1D093080-E5DB-DD45-96FA-297CD995AD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82713" y="1984375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26" name="Line 19">
            <a:extLst>
              <a:ext uri="{FF2B5EF4-FFF2-40B4-BE49-F238E27FC236}">
                <a16:creationId xmlns:a16="http://schemas.microsoft.com/office/drawing/2014/main" id="{94F61D50-A3FE-9C44-B0D7-BBE72A2ADC2D}"/>
              </a:ext>
            </a:extLst>
          </p:cNvPr>
          <p:cNvSpPr>
            <a:spLocks noChangeShapeType="1"/>
          </p:cNvSpPr>
          <p:nvPr/>
        </p:nvSpPr>
        <p:spPr bwMode="auto">
          <a:xfrm>
            <a:off x="1382713" y="2670175"/>
            <a:ext cx="76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27" name="Oval 20">
            <a:extLst>
              <a:ext uri="{FF2B5EF4-FFF2-40B4-BE49-F238E27FC236}">
                <a16:creationId xmlns:a16="http://schemas.microsoft.com/office/drawing/2014/main" id="{27CF5EFF-7EF7-7D46-9E83-FC24669FC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26701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28" name="Line 21">
            <a:extLst>
              <a:ext uri="{FF2B5EF4-FFF2-40B4-BE49-F238E27FC236}">
                <a16:creationId xmlns:a16="http://schemas.microsoft.com/office/drawing/2014/main" id="{49E6D22E-8869-7145-8FFD-06C239E17F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0913" y="2517775"/>
            <a:ext cx="3810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29" name="Oval 22">
            <a:extLst>
              <a:ext uri="{FF2B5EF4-FFF2-40B4-BE49-F238E27FC236}">
                <a16:creationId xmlns:a16="http://schemas.microsoft.com/office/drawing/2014/main" id="{50C84429-15C5-594E-A099-FA6AABB01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1913" y="16033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30" name="Oval 23">
            <a:extLst>
              <a:ext uri="{FF2B5EF4-FFF2-40B4-BE49-F238E27FC236}">
                <a16:creationId xmlns:a16="http://schemas.microsoft.com/office/drawing/2014/main" id="{045C3E22-A834-3B47-B827-0ED153C90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0513" y="22891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31" name="Line 24">
            <a:extLst>
              <a:ext uri="{FF2B5EF4-FFF2-40B4-BE49-F238E27FC236}">
                <a16:creationId xmlns:a16="http://schemas.microsoft.com/office/drawing/2014/main" id="{96FF9944-9101-7D4C-8EDC-5E7D469E9DC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0513" y="1984375"/>
            <a:ext cx="1524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089" name="Rectangle 25">
            <a:extLst>
              <a:ext uri="{FF2B5EF4-FFF2-40B4-BE49-F238E27FC236}">
                <a16:creationId xmlns:a16="http://schemas.microsoft.com/office/drawing/2014/main" id="{24C068F8-4FD7-704C-8B5E-AFDCCEAD3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2225" y="3763963"/>
            <a:ext cx="27908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从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出发，得树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233" name="Text Box 26">
            <a:extLst>
              <a:ext uri="{FF2B5EF4-FFF2-40B4-BE49-F238E27FC236}">
                <a16:creationId xmlns:a16="http://schemas.microsoft.com/office/drawing/2014/main" id="{D55D8E7E-1A4B-DC40-8433-23D844D0D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6713" y="3203575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091" name="Text Box 27">
            <a:extLst>
              <a:ext uri="{FF2B5EF4-FFF2-40B4-BE49-F238E27FC236}">
                <a16:creationId xmlns:a16="http://schemas.microsoft.com/office/drawing/2014/main" id="{0166EDCF-C0B0-0742-B404-CCFE1E1A19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5738" y="4359275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092" name="Rectangle 28">
            <a:extLst>
              <a:ext uri="{FF2B5EF4-FFF2-40B4-BE49-F238E27FC236}">
                <a16:creationId xmlns:a16="http://schemas.microsoft.com/office/drawing/2014/main" id="{A839E150-61AD-C444-BB18-43ED984A9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2225" y="4314825"/>
            <a:ext cx="2638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从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得树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T2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093" name="Text Box 29">
            <a:extLst>
              <a:ext uri="{FF2B5EF4-FFF2-40B4-BE49-F238E27FC236}">
                <a16:creationId xmlns:a16="http://schemas.microsoft.com/office/drawing/2014/main" id="{694C0637-CBD3-8944-B9EE-735690CFBB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875" y="4359275"/>
            <a:ext cx="565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094" name="Text Box 30">
            <a:extLst>
              <a:ext uri="{FF2B5EF4-FFF2-40B4-BE49-F238E27FC236}">
                <a16:creationId xmlns:a16="http://schemas.microsoft.com/office/drawing/2014/main" id="{DB0F978E-D009-EC47-991C-0D15BDD9F6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9563" y="4375150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T1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095" name="Oval 31">
            <a:extLst>
              <a:ext uri="{FF2B5EF4-FFF2-40B4-BE49-F238E27FC236}">
                <a16:creationId xmlns:a16="http://schemas.microsoft.com/office/drawing/2014/main" id="{5AFEA031-FF32-734C-B253-215997883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24066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096" name="Oval 32">
            <a:extLst>
              <a:ext uri="{FF2B5EF4-FFF2-40B4-BE49-F238E27FC236}">
                <a16:creationId xmlns:a16="http://schemas.microsoft.com/office/drawing/2014/main" id="{5DAC8515-A0D0-674A-9B5F-D5577BFFD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0924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H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097" name="Line 33">
            <a:extLst>
              <a:ext uri="{FF2B5EF4-FFF2-40B4-BE49-F238E27FC236}">
                <a16:creationId xmlns:a16="http://schemas.microsoft.com/office/drawing/2014/main" id="{A1994224-D94A-C74D-A15B-4B0AA7099EE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99275" y="278765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098" name="Oval 34">
            <a:extLst>
              <a:ext uri="{FF2B5EF4-FFF2-40B4-BE49-F238E27FC236}">
                <a16:creationId xmlns:a16="http://schemas.microsoft.com/office/drawing/2014/main" id="{B3E0F7FF-07AB-ED41-8718-31443DFAC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0938" y="30924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099" name="Oval 35">
            <a:extLst>
              <a:ext uri="{FF2B5EF4-FFF2-40B4-BE49-F238E27FC236}">
                <a16:creationId xmlns:a16="http://schemas.microsoft.com/office/drawing/2014/main" id="{0E109833-9496-5F41-BDC2-937474851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5738" y="24066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100" name="Oval 36">
            <a:extLst>
              <a:ext uri="{FF2B5EF4-FFF2-40B4-BE49-F238E27FC236}">
                <a16:creationId xmlns:a16="http://schemas.microsoft.com/office/drawing/2014/main" id="{6E0E0323-5AD4-964B-B3F4-609F402B4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0538" y="30924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101" name="Rectangle 37">
            <a:extLst>
              <a:ext uri="{FF2B5EF4-FFF2-40B4-BE49-F238E27FC236}">
                <a16:creationId xmlns:a16="http://schemas.microsoft.com/office/drawing/2014/main" id="{D2A5984C-A4A7-8E40-83FB-764F12045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2225" y="4916488"/>
            <a:ext cx="2638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从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得树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T3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102" name="Oval 38">
            <a:extLst>
              <a:ext uri="{FF2B5EF4-FFF2-40B4-BE49-F238E27FC236}">
                <a16:creationId xmlns:a16="http://schemas.microsoft.com/office/drawing/2014/main" id="{CE929F8E-0A56-0F49-A36B-23AE28A6B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3050" y="24066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103" name="Oval 39">
            <a:extLst>
              <a:ext uri="{FF2B5EF4-FFF2-40B4-BE49-F238E27FC236}">
                <a16:creationId xmlns:a16="http://schemas.microsoft.com/office/drawing/2014/main" id="{ED1D60D9-078A-8B4B-8DB7-FC0DC06F4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7850" y="30924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104" name="Oval 40">
            <a:extLst>
              <a:ext uri="{FF2B5EF4-FFF2-40B4-BE49-F238E27FC236}">
                <a16:creationId xmlns:a16="http://schemas.microsoft.com/office/drawing/2014/main" id="{0B765978-09C3-B34C-BEC0-D17F1D4E8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9650" y="37782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105" name="Oval 41">
            <a:extLst>
              <a:ext uri="{FF2B5EF4-FFF2-40B4-BE49-F238E27FC236}">
                <a16:creationId xmlns:a16="http://schemas.microsoft.com/office/drawing/2014/main" id="{734D04AA-AA25-AF48-935F-28A2E9FD6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3050" y="37782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106" name="Oval 42">
            <a:extLst>
              <a:ext uri="{FF2B5EF4-FFF2-40B4-BE49-F238E27FC236}">
                <a16:creationId xmlns:a16="http://schemas.microsoft.com/office/drawing/2014/main" id="{E74D07B1-A5A6-1148-A63E-A10DD0C46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8250" y="30924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107" name="Oval 43">
            <a:extLst>
              <a:ext uri="{FF2B5EF4-FFF2-40B4-BE49-F238E27FC236}">
                <a16:creationId xmlns:a16="http://schemas.microsoft.com/office/drawing/2014/main" id="{ACD8D640-8E32-3A4F-96B1-323695778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2650" y="37782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6108" name="Line 44">
            <a:extLst>
              <a:ext uri="{FF2B5EF4-FFF2-40B4-BE49-F238E27FC236}">
                <a16:creationId xmlns:a16="http://schemas.microsoft.com/office/drawing/2014/main" id="{2663E3A1-7B80-954D-BFD0-555A66C9F3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76850" y="278765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09" name="Line 45">
            <a:extLst>
              <a:ext uri="{FF2B5EF4-FFF2-40B4-BE49-F238E27FC236}">
                <a16:creationId xmlns:a16="http://schemas.microsoft.com/office/drawing/2014/main" id="{13D9521B-B7DD-C649-B3D2-18AB4A891178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1650" y="278765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10" name="Line 46">
            <a:extLst>
              <a:ext uri="{FF2B5EF4-FFF2-40B4-BE49-F238E27FC236}">
                <a16:creationId xmlns:a16="http://schemas.microsoft.com/office/drawing/2014/main" id="{B1935167-93DD-784A-99CD-D6378E2684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81650" y="347345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11" name="Line 47">
            <a:extLst>
              <a:ext uri="{FF2B5EF4-FFF2-40B4-BE49-F238E27FC236}">
                <a16:creationId xmlns:a16="http://schemas.microsoft.com/office/drawing/2014/main" id="{F6544968-34F9-7E40-AADD-8CC85320906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86450" y="347345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12" name="Line 48">
            <a:extLst>
              <a:ext uri="{FF2B5EF4-FFF2-40B4-BE49-F238E27FC236}">
                <a16:creationId xmlns:a16="http://schemas.microsoft.com/office/drawing/2014/main" id="{48E59197-CB77-B34C-8E7E-971FFBBD9F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48250" y="3473450"/>
            <a:ext cx="1524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13" name="Line 49">
            <a:extLst>
              <a:ext uri="{FF2B5EF4-FFF2-40B4-BE49-F238E27FC236}">
                <a16:creationId xmlns:a16="http://schemas.microsoft.com/office/drawing/2014/main" id="{973C4891-D911-EE40-B98A-85BFEDF549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29538" y="278765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14" name="Line 50">
            <a:extLst>
              <a:ext uri="{FF2B5EF4-FFF2-40B4-BE49-F238E27FC236}">
                <a16:creationId xmlns:a16="http://schemas.microsoft.com/office/drawing/2014/main" id="{D1BDE3FF-221A-3042-B2FF-D71C5FB7D6E3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4338" y="2787650"/>
            <a:ext cx="2286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258" name="Text Box 51">
            <a:extLst>
              <a:ext uri="{FF2B5EF4-FFF2-40B4-BE49-F238E27FC236}">
                <a16:creationId xmlns:a16="http://schemas.microsoft.com/office/drawing/2014/main" id="{1F1547C5-9DF6-DA4E-8488-19BEA93F95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588963"/>
            <a:ext cx="5256213" cy="53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 typeface="Wingdings" pitchFamily="2" charset="2"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BFS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生成森林</a:t>
            </a:r>
            <a:endParaRPr lang="zh-CN" altLang="en-US" sz="2400" b="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60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60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216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216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216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216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216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216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216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16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7" dur="500"/>
                                        <p:tgtEl>
                                          <p:spTgt spid="216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0" dur="500"/>
                                        <p:tgtEl>
                                          <p:spTgt spid="216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216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216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160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160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7" dur="500"/>
                                        <p:tgtEl>
                                          <p:spTgt spid="216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0" dur="500"/>
                                        <p:tgtEl>
                                          <p:spTgt spid="216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3" dur="500"/>
                                        <p:tgtEl>
                                          <p:spTgt spid="216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6" dur="500"/>
                                        <p:tgtEl>
                                          <p:spTgt spid="216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16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16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7" dur="500"/>
                                        <p:tgtEl>
                                          <p:spTgt spid="216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0" dur="500"/>
                                        <p:tgtEl>
                                          <p:spTgt spid="216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3" dur="500"/>
                                        <p:tgtEl>
                                          <p:spTgt spid="216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6" dur="500"/>
                                        <p:tgtEl>
                                          <p:spTgt spid="216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9" dur="500"/>
                                        <p:tgtEl>
                                          <p:spTgt spid="216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2" dur="500"/>
                                        <p:tgtEl>
                                          <p:spTgt spid="216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6089" grpId="0"/>
      <p:bldP spid="216091" grpId="0"/>
      <p:bldP spid="216092" grpId="0"/>
      <p:bldP spid="216093" grpId="0"/>
      <p:bldP spid="216094" grpId="0"/>
      <p:bldP spid="216095" grpId="0" animBg="1"/>
      <p:bldP spid="216096" grpId="0" animBg="1"/>
      <p:bldP spid="216098" grpId="0" animBg="1"/>
      <p:bldP spid="216099" grpId="0" animBg="1"/>
      <p:bldP spid="216100" grpId="0" animBg="1"/>
      <p:bldP spid="216101" grpId="0"/>
      <p:bldP spid="216102" grpId="0" animBg="1"/>
      <p:bldP spid="216103" grpId="0" animBg="1"/>
      <p:bldP spid="216104" grpId="0" animBg="1"/>
      <p:bldP spid="216105" grpId="0" animBg="1"/>
      <p:bldP spid="216106" grpId="0" animBg="1"/>
      <p:bldP spid="216107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灯片编号占位符 3">
            <a:extLst>
              <a:ext uri="{FF2B5EF4-FFF2-40B4-BE49-F238E27FC236}">
                <a16:creationId xmlns:a16="http://schemas.microsoft.com/office/drawing/2014/main" id="{4A6003C6-ADE5-C343-A5B6-5D35FFCE3E3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A627738-6B2D-F948-9141-652A81202EE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96258" name="Text Box 89">
            <a:extLst>
              <a:ext uri="{FF2B5EF4-FFF2-40B4-BE49-F238E27FC236}">
                <a16:creationId xmlns:a16="http://schemas.microsoft.com/office/drawing/2014/main" id="{A2C4BF00-F8CF-1F4C-AA54-6990E32217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438150"/>
            <a:ext cx="8532812" cy="2370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7.4.2 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有向图的强连通分量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在有向图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中，从某个顶点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出发，顺着弧的方向进行深度优先搜索遍历，得到顶点集合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；再从顶点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出发，逆着弧的方向进行深度优先搜索遍历，得到顶点集合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；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得到一个强连通分量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:    G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s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=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s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,VR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s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其中：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       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s</a:t>
            </a:r>
            <a:r>
              <a:rPr lang="en-US" altLang="zh-CN" sz="2400">
                <a:latin typeface="宋体" panose="02010600030101010101" pitchFamily="2" charset="-122"/>
              </a:rPr>
              <a:t>=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lang="en-US" altLang="zh-CN" sz="2400">
                <a:latin typeface="宋体" panose="02010600030101010101" pitchFamily="2" charset="-122"/>
              </a:rPr>
              <a:t>∩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 </a:t>
            </a:r>
            <a:r>
              <a:rPr lang="zh-CN" altLang="en-US" sz="2400">
                <a:latin typeface="宋体" panose="02010600030101010101" pitchFamily="2" charset="-122"/>
              </a:rPr>
              <a:t>；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VR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s</a:t>
            </a:r>
            <a:r>
              <a:rPr lang="zh-CN" altLang="en-US" sz="2400">
                <a:latin typeface="宋体" panose="02010600030101010101" pitchFamily="2" charset="-122"/>
              </a:rPr>
              <a:t>为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s</a:t>
            </a:r>
            <a:r>
              <a:rPr lang="zh-CN" altLang="en-US" sz="2400">
                <a:latin typeface="宋体" panose="02010600030101010101" pitchFamily="2" charset="-122"/>
              </a:rPr>
              <a:t>中所有顶点在</a:t>
            </a:r>
            <a:r>
              <a:rPr lang="en-US" altLang="zh-CN" sz="2400">
                <a:latin typeface="宋体" panose="02010600030101010101" pitchFamily="2" charset="-122"/>
              </a:rPr>
              <a:t>G</a:t>
            </a:r>
            <a:r>
              <a:rPr lang="zh-CN" altLang="en-US" sz="2400">
                <a:latin typeface="宋体" panose="02010600030101010101" pitchFamily="2" charset="-122"/>
              </a:rPr>
              <a:t>中的弧</a:t>
            </a:r>
            <a:r>
              <a:rPr lang="en-US" altLang="zh-CN" sz="2400">
                <a:latin typeface="宋体" panose="02010600030101010101" pitchFamily="2" charset="-122"/>
              </a:rPr>
              <a:t>.</a:t>
            </a:r>
            <a:endParaRPr lang="zh-CN" altLang="en-US" sz="2400">
              <a:latin typeface="宋体" panose="02010600030101010101" pitchFamily="2" charset="-122"/>
            </a:endParaRPr>
          </a:p>
        </p:txBody>
      </p:sp>
      <p:sp>
        <p:nvSpPr>
          <p:cNvPr id="90" name="Oval 31">
            <a:extLst>
              <a:ext uri="{FF2B5EF4-FFF2-40B4-BE49-F238E27FC236}">
                <a16:creationId xmlns:a16="http://schemas.microsoft.com/office/drawing/2014/main" id="{1814CF83-2A73-174C-B43B-4BEF5B447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4638" y="3911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1" name="Arc 32">
            <a:extLst>
              <a:ext uri="{FF2B5EF4-FFF2-40B4-BE49-F238E27FC236}">
                <a16:creationId xmlns:a16="http://schemas.microsoft.com/office/drawing/2014/main" id="{89930A09-08B5-1344-A906-BB16712A3581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2076450" y="3367088"/>
            <a:ext cx="93663" cy="681037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2" name="Oval 33">
            <a:extLst>
              <a:ext uri="{FF2B5EF4-FFF2-40B4-BE49-F238E27FC236}">
                <a16:creationId xmlns:a16="http://schemas.microsoft.com/office/drawing/2014/main" id="{D8A34CDC-1134-814D-BB9A-85A656A17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8" y="3911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3" name="Line 34">
            <a:extLst>
              <a:ext uri="{FF2B5EF4-FFF2-40B4-BE49-F238E27FC236}">
                <a16:creationId xmlns:a16="http://schemas.microsoft.com/office/drawing/2014/main" id="{7F8FE60F-D7E6-3E40-B94C-BE96A3F864BD}"/>
              </a:ext>
            </a:extLst>
          </p:cNvPr>
          <p:cNvSpPr>
            <a:spLocks noChangeShapeType="1"/>
          </p:cNvSpPr>
          <p:nvPr/>
        </p:nvSpPr>
        <p:spPr bwMode="auto">
          <a:xfrm>
            <a:off x="1925638" y="4200525"/>
            <a:ext cx="762000" cy="11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Text Box 35">
            <a:extLst>
              <a:ext uri="{FF2B5EF4-FFF2-40B4-BE49-F238E27FC236}">
                <a16:creationId xmlns:a16="http://schemas.microsoft.com/office/drawing/2014/main" id="{AB725C68-CFC6-894D-8048-F579DAA1E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8038" y="4352925"/>
            <a:ext cx="314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5" name="Oval 36">
            <a:extLst>
              <a:ext uri="{FF2B5EF4-FFF2-40B4-BE49-F238E27FC236}">
                <a16:creationId xmlns:a16="http://schemas.microsoft.com/office/drawing/2014/main" id="{F9A166A5-0C4A-054E-B280-3A97A58C41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8038" y="2997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6" name="Oval 37">
            <a:extLst>
              <a:ext uri="{FF2B5EF4-FFF2-40B4-BE49-F238E27FC236}">
                <a16:creationId xmlns:a16="http://schemas.microsoft.com/office/drawing/2014/main" id="{BC4176F5-49B8-6948-A95E-35156A699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2438" y="3073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7" name="Line 38">
            <a:extLst>
              <a:ext uri="{FF2B5EF4-FFF2-40B4-BE49-F238E27FC236}">
                <a16:creationId xmlns:a16="http://schemas.microsoft.com/office/drawing/2014/main" id="{B47F59AA-25A4-6545-AF8A-7268224762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16238" y="3454400"/>
            <a:ext cx="228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Line 39">
            <a:extLst>
              <a:ext uri="{FF2B5EF4-FFF2-40B4-BE49-F238E27FC236}">
                <a16:creationId xmlns:a16="http://schemas.microsoft.com/office/drawing/2014/main" id="{E133429B-7D0B-1A44-BCE0-AFC722EE77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59038" y="322580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Line 40">
            <a:extLst>
              <a:ext uri="{FF2B5EF4-FFF2-40B4-BE49-F238E27FC236}">
                <a16:creationId xmlns:a16="http://schemas.microsoft.com/office/drawing/2014/main" id="{0FBC2D74-A29C-4041-9120-B671F71AC07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382838" y="3302000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Oval 41">
            <a:extLst>
              <a:ext uri="{FF2B5EF4-FFF2-40B4-BE49-F238E27FC236}">
                <a16:creationId xmlns:a16="http://schemas.microsoft.com/office/drawing/2014/main" id="{7575DA19-618E-2F43-8FA7-6B94160C1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9238" y="3911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1" name="Arc 42">
            <a:extLst>
              <a:ext uri="{FF2B5EF4-FFF2-40B4-BE49-F238E27FC236}">
                <a16:creationId xmlns:a16="http://schemas.microsoft.com/office/drawing/2014/main" id="{3DA13EC6-E3AD-1E49-8642-5730008FE8C9}"/>
              </a:ext>
            </a:extLst>
          </p:cNvPr>
          <p:cNvSpPr>
            <a:spLocks/>
          </p:cNvSpPr>
          <p:nvPr/>
        </p:nvSpPr>
        <p:spPr bwMode="auto">
          <a:xfrm rot="12478596" flipH="1">
            <a:off x="4591050" y="3367088"/>
            <a:ext cx="93663" cy="681037"/>
          </a:xfrm>
          <a:custGeom>
            <a:avLst/>
            <a:gdLst>
              <a:gd name="T0" fmla="*/ 2147483646 w 24034"/>
              <a:gd name="T1" fmla="*/ 0 h 43200"/>
              <a:gd name="T2" fmla="*/ 0 w 24034"/>
              <a:gd name="T3" fmla="*/ 2147483646 h 43200"/>
              <a:gd name="T4" fmla="*/ 2147483646 w 24034"/>
              <a:gd name="T5" fmla="*/ 2147483646 h 43200"/>
              <a:gd name="T6" fmla="*/ 0 60000 65536"/>
              <a:gd name="T7" fmla="*/ 0 60000 65536"/>
              <a:gd name="T8" fmla="*/ 0 60000 65536"/>
              <a:gd name="T9" fmla="*/ 0 w 24034"/>
              <a:gd name="T10" fmla="*/ 0 h 43200"/>
              <a:gd name="T11" fmla="*/ 24034 w 24034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34" h="43200" fill="none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</a:path>
              <a:path w="24034" h="43200" stroke="0" extrusionOk="0">
                <a:moveTo>
                  <a:pt x="2433" y="0"/>
                </a:moveTo>
                <a:cubicBezTo>
                  <a:pt x="14363" y="0"/>
                  <a:pt x="24034" y="9670"/>
                  <a:pt x="24034" y="21600"/>
                </a:cubicBezTo>
                <a:cubicBezTo>
                  <a:pt x="24034" y="33529"/>
                  <a:pt x="14363" y="43200"/>
                  <a:pt x="2434" y="43200"/>
                </a:cubicBezTo>
                <a:cubicBezTo>
                  <a:pt x="1620" y="43200"/>
                  <a:pt x="808" y="43154"/>
                  <a:pt x="-1" y="43062"/>
                </a:cubicBezTo>
                <a:lnTo>
                  <a:pt x="2434" y="21600"/>
                </a:lnTo>
                <a:lnTo>
                  <a:pt x="2433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2" name="Oval 43">
            <a:extLst>
              <a:ext uri="{FF2B5EF4-FFF2-40B4-BE49-F238E27FC236}">
                <a16:creationId xmlns:a16="http://schemas.microsoft.com/office/drawing/2014/main" id="{4CF950BC-B7A4-414C-A7A5-677487F86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1038" y="3530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3" name="Text Box 44">
            <a:extLst>
              <a:ext uri="{FF2B5EF4-FFF2-40B4-BE49-F238E27FC236}">
                <a16:creationId xmlns:a16="http://schemas.microsoft.com/office/drawing/2014/main" id="{EABBC3B4-1FA9-A244-B5CD-BAC74DB54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8225" y="4352925"/>
            <a:ext cx="444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" name="Oval 45">
            <a:extLst>
              <a:ext uri="{FF2B5EF4-FFF2-40B4-BE49-F238E27FC236}">
                <a16:creationId xmlns:a16="http://schemas.microsoft.com/office/drawing/2014/main" id="{0A15B494-2EF9-8843-BC6A-757132D2A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2638" y="2997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5" name="Oval 46">
            <a:extLst>
              <a:ext uri="{FF2B5EF4-FFF2-40B4-BE49-F238E27FC236}">
                <a16:creationId xmlns:a16="http://schemas.microsoft.com/office/drawing/2014/main" id="{279F4981-CECF-9549-9201-3DA8F43CB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7038" y="3073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" name="Line 47">
            <a:extLst>
              <a:ext uri="{FF2B5EF4-FFF2-40B4-BE49-F238E27FC236}">
                <a16:creationId xmlns:a16="http://schemas.microsoft.com/office/drawing/2014/main" id="{6820FFB0-6857-A84C-A97F-68F0BC8DCA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73638" y="3225800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7" name="Text Box 48">
            <a:extLst>
              <a:ext uri="{FF2B5EF4-FFF2-40B4-BE49-F238E27FC236}">
                <a16:creationId xmlns:a16="http://schemas.microsoft.com/office/drawing/2014/main" id="{C653ED12-1244-5743-9EDE-F279D16340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0250" y="4216400"/>
            <a:ext cx="444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" name="Line 49">
            <a:extLst>
              <a:ext uri="{FF2B5EF4-FFF2-40B4-BE49-F238E27FC236}">
                <a16:creationId xmlns:a16="http://schemas.microsoft.com/office/drawing/2014/main" id="{CE69C519-B933-1D49-99FA-D3DF3238223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25638" y="3438525"/>
            <a:ext cx="1143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9" name="Line 50">
            <a:extLst>
              <a:ext uri="{FF2B5EF4-FFF2-40B4-BE49-F238E27FC236}">
                <a16:creationId xmlns:a16="http://schemas.microsoft.com/office/drawing/2014/main" id="{C969421B-F2F9-4C47-90D4-AD22023D15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0238" y="3438525"/>
            <a:ext cx="1143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" name="Arc 55">
            <a:extLst>
              <a:ext uri="{FF2B5EF4-FFF2-40B4-BE49-F238E27FC236}">
                <a16:creationId xmlns:a16="http://schemas.microsoft.com/office/drawing/2014/main" id="{893831DD-1855-1D4E-9C2A-7EC52C547479}"/>
              </a:ext>
            </a:extLst>
          </p:cNvPr>
          <p:cNvSpPr>
            <a:spLocks/>
          </p:cNvSpPr>
          <p:nvPr/>
        </p:nvSpPr>
        <p:spPr bwMode="auto">
          <a:xfrm flipH="1">
            <a:off x="1773238" y="3362325"/>
            <a:ext cx="381000" cy="5334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1" name="Arc 56">
            <a:extLst>
              <a:ext uri="{FF2B5EF4-FFF2-40B4-BE49-F238E27FC236}">
                <a16:creationId xmlns:a16="http://schemas.microsoft.com/office/drawing/2014/main" id="{9051C309-E1EA-174C-893E-85980EBE50A2}"/>
              </a:ext>
            </a:extLst>
          </p:cNvPr>
          <p:cNvSpPr>
            <a:spLocks/>
          </p:cNvSpPr>
          <p:nvPr/>
        </p:nvSpPr>
        <p:spPr bwMode="auto">
          <a:xfrm flipH="1">
            <a:off x="4287838" y="3362325"/>
            <a:ext cx="381000" cy="533400"/>
          </a:xfrm>
          <a:custGeom>
            <a:avLst/>
            <a:gdLst>
              <a:gd name="T0" fmla="*/ 0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3" name="AutoShape 59">
            <a:extLst>
              <a:ext uri="{FF2B5EF4-FFF2-40B4-BE49-F238E27FC236}">
                <a16:creationId xmlns:a16="http://schemas.microsoft.com/office/drawing/2014/main" id="{1E4B0EBB-0B61-1A44-9571-88F2E20F0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75" y="3492500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" name="Text Box 89">
            <a:extLst>
              <a:ext uri="{FF2B5EF4-FFF2-40B4-BE49-F238E27FC236}">
                <a16:creationId xmlns:a16="http://schemas.microsoft.com/office/drawing/2014/main" id="{C75A35C8-42DF-774C-A80A-2D88FBBD53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4797425"/>
            <a:ext cx="702151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从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出发，顺着弧的方向得到顶点集合：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{A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D}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；逆的弧的方向得到：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{A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D}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；交集为：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{A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D}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；加上它们之间的所有弧得到强连通分量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  <a:endParaRPr lang="zh-CN" altLang="en-US" sz="240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92" grpId="0" animBg="1"/>
      <p:bldP spid="94" grpId="0"/>
      <p:bldP spid="95" grpId="0" animBg="1"/>
      <p:bldP spid="96" grpId="0" animBg="1"/>
      <p:bldP spid="100" grpId="0" animBg="1"/>
      <p:bldP spid="102" grpId="0" animBg="1"/>
      <p:bldP spid="103" grpId="0"/>
      <p:bldP spid="104" grpId="0" animBg="1"/>
      <p:bldP spid="105" grpId="0" animBg="1"/>
      <p:bldP spid="107" grpId="0"/>
      <p:bldP spid="113" grpId="0" animBg="1"/>
      <p:bldP spid="114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灯片编号占位符 3">
            <a:extLst>
              <a:ext uri="{FF2B5EF4-FFF2-40B4-BE49-F238E27FC236}">
                <a16:creationId xmlns:a16="http://schemas.microsoft.com/office/drawing/2014/main" id="{91EB67A6-CF62-FC4E-BF28-00A0B555A43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C84D3E6-2C30-3C45-B551-EA75E9F6583D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98306" name="Oval 3">
            <a:extLst>
              <a:ext uri="{FF2B5EF4-FFF2-40B4-BE49-F238E27FC236}">
                <a16:creationId xmlns:a16="http://schemas.microsoft.com/office/drawing/2014/main" id="{CD1055A2-591A-7B49-A0F5-B1A176C8E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" y="16176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8307" name="Oval 4">
            <a:extLst>
              <a:ext uri="{FF2B5EF4-FFF2-40B4-BE49-F238E27FC236}">
                <a16:creationId xmlns:a16="http://schemas.microsoft.com/office/drawing/2014/main" id="{DAC2A6EE-AA01-9341-8BE6-7A35F4242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050" y="24558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8308" name="Oval 5">
            <a:extLst>
              <a:ext uri="{FF2B5EF4-FFF2-40B4-BE49-F238E27FC236}">
                <a16:creationId xmlns:a16="http://schemas.microsoft.com/office/drawing/2014/main" id="{CD282AFA-0588-A447-92BC-D6F223640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6850" y="16176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8309" name="Oval 6">
            <a:extLst>
              <a:ext uri="{FF2B5EF4-FFF2-40B4-BE49-F238E27FC236}">
                <a16:creationId xmlns:a16="http://schemas.microsoft.com/office/drawing/2014/main" id="{0D541367-E9AC-CC4C-A8DD-7267A73CA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5450" y="24558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8310" name="Oval 7">
            <a:extLst>
              <a:ext uri="{FF2B5EF4-FFF2-40B4-BE49-F238E27FC236}">
                <a16:creationId xmlns:a16="http://schemas.microsoft.com/office/drawing/2014/main" id="{3BA3B6D2-12C4-D142-A053-D457BE235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5850" y="29130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8311" name="Line 8">
            <a:extLst>
              <a:ext uri="{FF2B5EF4-FFF2-40B4-BE49-F238E27FC236}">
                <a16:creationId xmlns:a16="http://schemas.microsoft.com/office/drawing/2014/main" id="{598EFD98-F3CB-B948-94C6-75E5F76698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9650" y="17700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312" name="Line 9">
            <a:extLst>
              <a:ext uri="{FF2B5EF4-FFF2-40B4-BE49-F238E27FC236}">
                <a16:creationId xmlns:a16="http://schemas.microsoft.com/office/drawing/2014/main" id="{4FAAAF65-EFD1-F045-9068-DE8D2F78B2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8650" y="1998663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313" name="Line 10">
            <a:extLst>
              <a:ext uri="{FF2B5EF4-FFF2-40B4-BE49-F238E27FC236}">
                <a16:creationId xmlns:a16="http://schemas.microsoft.com/office/drawing/2014/main" id="{B55319C1-496D-3145-9D5B-DE9CDC515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1050" y="2760663"/>
            <a:ext cx="3048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314" name="Line 11">
            <a:extLst>
              <a:ext uri="{FF2B5EF4-FFF2-40B4-BE49-F238E27FC236}">
                <a16:creationId xmlns:a16="http://schemas.microsoft.com/office/drawing/2014/main" id="{B69D37CA-6BCD-4E48-A604-C9B501C2CB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66850" y="2760663"/>
            <a:ext cx="2286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315" name="Line 12">
            <a:extLst>
              <a:ext uri="{FF2B5EF4-FFF2-40B4-BE49-F238E27FC236}">
                <a16:creationId xmlns:a16="http://schemas.microsoft.com/office/drawing/2014/main" id="{89D6EB07-76A0-1E46-94A6-989D41CFB3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5450" y="1998663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316" name="Text Box 13">
            <a:extLst>
              <a:ext uri="{FF2B5EF4-FFF2-40B4-BE49-F238E27FC236}">
                <a16:creationId xmlns:a16="http://schemas.microsoft.com/office/drawing/2014/main" id="{CDBF2BC8-291F-FC4E-BBE6-7BD808699E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3450" y="3259138"/>
            <a:ext cx="914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</a:p>
        </p:txBody>
      </p:sp>
      <p:sp>
        <p:nvSpPr>
          <p:cNvPr id="98317" name="Text Box 14">
            <a:extLst>
              <a:ext uri="{FF2B5EF4-FFF2-40B4-BE49-F238E27FC236}">
                <a16:creationId xmlns:a16="http://schemas.microsoft.com/office/drawing/2014/main" id="{435BE6B2-9B6B-424A-BAA7-BEE890CBA9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1998663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</a:p>
        </p:txBody>
      </p:sp>
      <p:sp>
        <p:nvSpPr>
          <p:cNvPr id="98318" name="Text Box 15">
            <a:extLst>
              <a:ext uri="{FF2B5EF4-FFF2-40B4-BE49-F238E27FC236}">
                <a16:creationId xmlns:a16="http://schemas.microsoft.com/office/drawing/2014/main" id="{961D35CE-CE03-0041-B992-0F526B1145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1387475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</p:txBody>
      </p:sp>
      <p:sp>
        <p:nvSpPr>
          <p:cNvPr id="98319" name="Text Box 16">
            <a:extLst>
              <a:ext uri="{FF2B5EF4-FFF2-40B4-BE49-F238E27FC236}">
                <a16:creationId xmlns:a16="http://schemas.microsoft.com/office/drawing/2014/main" id="{26BF3FE9-BC2E-1C4F-A4FA-686D67AFC1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1650" y="1922463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98320" name="Text Box 17">
            <a:extLst>
              <a:ext uri="{FF2B5EF4-FFF2-40B4-BE49-F238E27FC236}">
                <a16:creationId xmlns:a16="http://schemas.microsoft.com/office/drawing/2014/main" id="{4179EA82-9F11-7E40-BF35-CEAB42B5FC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0" y="2836863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</a:p>
        </p:txBody>
      </p:sp>
      <p:sp>
        <p:nvSpPr>
          <p:cNvPr id="98321" name="Text Box 18">
            <a:extLst>
              <a:ext uri="{FF2B5EF4-FFF2-40B4-BE49-F238E27FC236}">
                <a16:creationId xmlns:a16="http://schemas.microsoft.com/office/drawing/2014/main" id="{6058742A-D5D3-304F-A84F-905228B12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650" y="2913063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218131" name="Oval 19">
            <a:extLst>
              <a:ext uri="{FF2B5EF4-FFF2-40B4-BE49-F238E27FC236}">
                <a16:creationId xmlns:a16="http://schemas.microsoft.com/office/drawing/2014/main" id="{2A6051BD-0870-7845-9413-3539032B5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900" y="14605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32" name="Oval 20">
            <a:extLst>
              <a:ext uri="{FF2B5EF4-FFF2-40B4-BE49-F238E27FC236}">
                <a16:creationId xmlns:a16="http://schemas.microsoft.com/office/drawing/2014/main" id="{2F55E424-3AE0-3C40-A221-0AB741D95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4300" y="22987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33" name="Oval 21">
            <a:extLst>
              <a:ext uri="{FF2B5EF4-FFF2-40B4-BE49-F238E27FC236}">
                <a16:creationId xmlns:a16="http://schemas.microsoft.com/office/drawing/2014/main" id="{31830F26-9281-4C4F-BCB3-69DBDFDEC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14605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34" name="Oval 22">
            <a:extLst>
              <a:ext uri="{FF2B5EF4-FFF2-40B4-BE49-F238E27FC236}">
                <a16:creationId xmlns:a16="http://schemas.microsoft.com/office/drawing/2014/main" id="{97F509AA-446C-504C-AA79-77FFE2F0C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9700" y="22987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35" name="Oval 23">
            <a:extLst>
              <a:ext uri="{FF2B5EF4-FFF2-40B4-BE49-F238E27FC236}">
                <a16:creationId xmlns:a16="http://schemas.microsoft.com/office/drawing/2014/main" id="{DCCE94C2-DDE0-A244-BDA4-C8F904A2DD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27559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36" name="Line 24">
            <a:extLst>
              <a:ext uri="{FF2B5EF4-FFF2-40B4-BE49-F238E27FC236}">
                <a16:creationId xmlns:a16="http://schemas.microsoft.com/office/drawing/2014/main" id="{7A4EF19B-0CFA-8046-959E-6F759FCFAB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3900" y="16129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37" name="Line 25">
            <a:extLst>
              <a:ext uri="{FF2B5EF4-FFF2-40B4-BE49-F238E27FC236}">
                <a16:creationId xmlns:a16="http://schemas.microsoft.com/office/drawing/2014/main" id="{16B8520A-1EF9-DB47-A8D2-9192A375BF3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5300" y="2603500"/>
            <a:ext cx="3048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38" name="Line 26">
            <a:extLst>
              <a:ext uri="{FF2B5EF4-FFF2-40B4-BE49-F238E27FC236}">
                <a16:creationId xmlns:a16="http://schemas.microsoft.com/office/drawing/2014/main" id="{ED535E02-BFE1-A94F-BBB7-BC113A35C2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00" y="2603500"/>
            <a:ext cx="2286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39" name="Line 27">
            <a:extLst>
              <a:ext uri="{FF2B5EF4-FFF2-40B4-BE49-F238E27FC236}">
                <a16:creationId xmlns:a16="http://schemas.microsoft.com/office/drawing/2014/main" id="{97D21D65-F087-3F46-BBE2-57896149D40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19700" y="1841500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40" name="Text Box 28">
            <a:extLst>
              <a:ext uri="{FF2B5EF4-FFF2-40B4-BE49-F238E27FC236}">
                <a16:creationId xmlns:a16="http://schemas.microsoft.com/office/drawing/2014/main" id="{343321C5-33CD-4441-8FDB-3B07EE9C4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7000" y="3141663"/>
            <a:ext cx="25796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13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</a:p>
        </p:txBody>
      </p:sp>
      <p:sp>
        <p:nvSpPr>
          <p:cNvPr id="218141" name="Text Box 29">
            <a:extLst>
              <a:ext uri="{FF2B5EF4-FFF2-40B4-BE49-F238E27FC236}">
                <a16:creationId xmlns:a16="http://schemas.microsoft.com/office/drawing/2014/main" id="{C0C5CCFC-17F4-C849-91E1-E6A537E8F8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0100" y="1155700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</p:txBody>
      </p:sp>
      <p:sp>
        <p:nvSpPr>
          <p:cNvPr id="218142" name="Text Box 30">
            <a:extLst>
              <a:ext uri="{FF2B5EF4-FFF2-40B4-BE49-F238E27FC236}">
                <a16:creationId xmlns:a16="http://schemas.microsoft.com/office/drawing/2014/main" id="{6F23BDAE-BD53-4440-9EDD-208400AB64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5900" y="17653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218143" name="Text Box 31">
            <a:extLst>
              <a:ext uri="{FF2B5EF4-FFF2-40B4-BE49-F238E27FC236}">
                <a16:creationId xmlns:a16="http://schemas.microsoft.com/office/drawing/2014/main" id="{4BF17EA8-451C-8940-A065-C69F193DDB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7300" y="26797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</a:p>
        </p:txBody>
      </p:sp>
      <p:sp>
        <p:nvSpPr>
          <p:cNvPr id="218144" name="Text Box 32">
            <a:extLst>
              <a:ext uri="{FF2B5EF4-FFF2-40B4-BE49-F238E27FC236}">
                <a16:creationId xmlns:a16="http://schemas.microsoft.com/office/drawing/2014/main" id="{3FF43165-D267-5B4B-85F4-30F311F7EE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2900" y="2755900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218145" name="Oval 33">
            <a:extLst>
              <a:ext uri="{FF2B5EF4-FFF2-40B4-BE49-F238E27FC236}">
                <a16:creationId xmlns:a16="http://schemas.microsoft.com/office/drawing/2014/main" id="{4CC79D1F-9F3B-4D4F-83C4-0F013A2FE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14287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46" name="Oval 34">
            <a:extLst>
              <a:ext uri="{FF2B5EF4-FFF2-40B4-BE49-F238E27FC236}">
                <a16:creationId xmlns:a16="http://schemas.microsoft.com/office/drawing/2014/main" id="{9B89C63F-33C3-2B4E-A39C-39228DB3E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2525" y="2266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47" name="Oval 35">
            <a:extLst>
              <a:ext uri="{FF2B5EF4-FFF2-40B4-BE49-F238E27FC236}">
                <a16:creationId xmlns:a16="http://schemas.microsoft.com/office/drawing/2014/main" id="{3B752585-2838-FB40-9045-62E6392A1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325" y="14287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48" name="Oval 36">
            <a:extLst>
              <a:ext uri="{FF2B5EF4-FFF2-40B4-BE49-F238E27FC236}">
                <a16:creationId xmlns:a16="http://schemas.microsoft.com/office/drawing/2014/main" id="{8D75850A-A659-534C-A455-A4F1D7AF1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7925" y="2266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49" name="Oval 37">
            <a:extLst>
              <a:ext uri="{FF2B5EF4-FFF2-40B4-BE49-F238E27FC236}">
                <a16:creationId xmlns:a16="http://schemas.microsoft.com/office/drawing/2014/main" id="{5EE20A67-8CF5-4744-BCE5-BDE6083B0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325" y="27241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50" name="Line 38">
            <a:extLst>
              <a:ext uri="{FF2B5EF4-FFF2-40B4-BE49-F238E27FC236}">
                <a16:creationId xmlns:a16="http://schemas.microsoft.com/office/drawing/2014/main" id="{20A4D6F9-A99F-3B44-900C-8373E46C59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61125" y="1809750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51" name="Line 39">
            <a:extLst>
              <a:ext uri="{FF2B5EF4-FFF2-40B4-BE49-F238E27FC236}">
                <a16:creationId xmlns:a16="http://schemas.microsoft.com/office/drawing/2014/main" id="{61BA172B-C453-BF49-A515-4D7C04C818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3525" y="2571750"/>
            <a:ext cx="3048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52" name="Line 40">
            <a:extLst>
              <a:ext uri="{FF2B5EF4-FFF2-40B4-BE49-F238E27FC236}">
                <a16:creationId xmlns:a16="http://schemas.microsoft.com/office/drawing/2014/main" id="{9E8BBCDB-388F-E448-9899-B9A518F2AF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99325" y="2571750"/>
            <a:ext cx="2286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53" name="Line 41">
            <a:extLst>
              <a:ext uri="{FF2B5EF4-FFF2-40B4-BE49-F238E27FC236}">
                <a16:creationId xmlns:a16="http://schemas.microsoft.com/office/drawing/2014/main" id="{91597611-EBF2-D64F-B730-DA4BAB0CACB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809750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54" name="Text Box 42">
            <a:extLst>
              <a:ext uri="{FF2B5EF4-FFF2-40B4-BE49-F238E27FC236}">
                <a16:creationId xmlns:a16="http://schemas.microsoft.com/office/drawing/2014/main" id="{D74409C0-5824-8A4F-A9B2-41D9DF5E0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0788" y="3187700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T2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12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</a:p>
        </p:txBody>
      </p:sp>
      <p:sp>
        <p:nvSpPr>
          <p:cNvPr id="218155" name="Text Box 43">
            <a:extLst>
              <a:ext uri="{FF2B5EF4-FFF2-40B4-BE49-F238E27FC236}">
                <a16:creationId xmlns:a16="http://schemas.microsoft.com/office/drawing/2014/main" id="{38452EC8-B6DB-064F-8A80-A023E26BD1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6325" y="1809750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</a:p>
        </p:txBody>
      </p:sp>
      <p:sp>
        <p:nvSpPr>
          <p:cNvPr id="218156" name="Text Box 44">
            <a:extLst>
              <a:ext uri="{FF2B5EF4-FFF2-40B4-BE49-F238E27FC236}">
                <a16:creationId xmlns:a16="http://schemas.microsoft.com/office/drawing/2014/main" id="{82F69AAE-F8C5-CB40-BBEC-233033F58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4125" y="173355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218157" name="Text Box 45">
            <a:extLst>
              <a:ext uri="{FF2B5EF4-FFF2-40B4-BE49-F238E27FC236}">
                <a16:creationId xmlns:a16="http://schemas.microsoft.com/office/drawing/2014/main" id="{CAF77DF2-0E86-5B47-9FA7-ED0D4A185E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5525" y="264795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</a:p>
        </p:txBody>
      </p:sp>
      <p:sp>
        <p:nvSpPr>
          <p:cNvPr id="218158" name="Text Box 46">
            <a:extLst>
              <a:ext uri="{FF2B5EF4-FFF2-40B4-BE49-F238E27FC236}">
                <a16:creationId xmlns:a16="http://schemas.microsoft.com/office/drawing/2014/main" id="{2E4843B7-9505-1540-AAA0-F7EF3314DE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25" y="2724150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218159" name="Oval 47">
            <a:extLst>
              <a:ext uri="{FF2B5EF4-FFF2-40B4-BE49-F238E27FC236}">
                <a16:creationId xmlns:a16="http://schemas.microsoft.com/office/drawing/2014/main" id="{D1F33939-FB6A-7B4A-9635-08AB567C9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3789363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60" name="Oval 48">
            <a:extLst>
              <a:ext uri="{FF2B5EF4-FFF2-40B4-BE49-F238E27FC236}">
                <a16:creationId xmlns:a16="http://schemas.microsoft.com/office/drawing/2014/main" id="{2F0A4151-33D5-234D-A8BB-5DE8FC0A78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6125" y="4627563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61" name="Oval 49">
            <a:extLst>
              <a:ext uri="{FF2B5EF4-FFF2-40B4-BE49-F238E27FC236}">
                <a16:creationId xmlns:a16="http://schemas.microsoft.com/office/drawing/2014/main" id="{5F6740BB-6C8F-2749-84BE-CFA3D2A48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2925" y="3789363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62" name="Oval 50">
            <a:extLst>
              <a:ext uri="{FF2B5EF4-FFF2-40B4-BE49-F238E27FC236}">
                <a16:creationId xmlns:a16="http://schemas.microsoft.com/office/drawing/2014/main" id="{BEC3372B-81BC-2645-B86D-E15487F180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1525" y="4627563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63" name="Oval 51">
            <a:extLst>
              <a:ext uri="{FF2B5EF4-FFF2-40B4-BE49-F238E27FC236}">
                <a16:creationId xmlns:a16="http://schemas.microsoft.com/office/drawing/2014/main" id="{D5731484-E8FF-8043-B609-AC076F531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1925" y="5084763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64" name="Line 52">
            <a:extLst>
              <a:ext uri="{FF2B5EF4-FFF2-40B4-BE49-F238E27FC236}">
                <a16:creationId xmlns:a16="http://schemas.microsoft.com/office/drawing/2014/main" id="{A1D180DE-E7D7-1940-B20B-987291F7E3B0}"/>
              </a:ext>
            </a:extLst>
          </p:cNvPr>
          <p:cNvSpPr>
            <a:spLocks noChangeShapeType="1"/>
          </p:cNvSpPr>
          <p:nvPr/>
        </p:nvSpPr>
        <p:spPr bwMode="auto">
          <a:xfrm>
            <a:off x="7705725" y="39417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65" name="Line 53">
            <a:extLst>
              <a:ext uri="{FF2B5EF4-FFF2-40B4-BE49-F238E27FC236}">
                <a16:creationId xmlns:a16="http://schemas.microsoft.com/office/drawing/2014/main" id="{06725462-542F-2642-9B33-3799C27030D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4725" y="4170363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66" name="Line 54">
            <a:extLst>
              <a:ext uri="{FF2B5EF4-FFF2-40B4-BE49-F238E27FC236}">
                <a16:creationId xmlns:a16="http://schemas.microsoft.com/office/drawing/2014/main" id="{C46F2D42-CFFE-DC47-B512-2A9775BBA6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62925" y="4932363"/>
            <a:ext cx="2286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67" name="Line 55">
            <a:extLst>
              <a:ext uri="{FF2B5EF4-FFF2-40B4-BE49-F238E27FC236}">
                <a16:creationId xmlns:a16="http://schemas.microsoft.com/office/drawing/2014/main" id="{A15E324A-E537-174C-8437-106C5B5148E2}"/>
              </a:ext>
            </a:extLst>
          </p:cNvPr>
          <p:cNvSpPr>
            <a:spLocks noChangeShapeType="1"/>
          </p:cNvSpPr>
          <p:nvPr/>
        </p:nvSpPr>
        <p:spPr bwMode="auto">
          <a:xfrm>
            <a:off x="8391525" y="4170363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68" name="Text Box 56">
            <a:extLst>
              <a:ext uri="{FF2B5EF4-FFF2-40B4-BE49-F238E27FC236}">
                <a16:creationId xmlns:a16="http://schemas.microsoft.com/office/drawing/2014/main" id="{2EDEA742-BF34-524E-B832-C9A36C77CD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9925" y="5492750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T5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10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</a:p>
        </p:txBody>
      </p:sp>
      <p:sp>
        <p:nvSpPr>
          <p:cNvPr id="218169" name="Text Box 57">
            <a:extLst>
              <a:ext uri="{FF2B5EF4-FFF2-40B4-BE49-F238E27FC236}">
                <a16:creationId xmlns:a16="http://schemas.microsoft.com/office/drawing/2014/main" id="{766AA9A6-FB1E-D341-B96A-BFA2DC58A6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9925" y="4170363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</a:p>
        </p:txBody>
      </p:sp>
      <p:sp>
        <p:nvSpPr>
          <p:cNvPr id="218170" name="Text Box 58">
            <a:extLst>
              <a:ext uri="{FF2B5EF4-FFF2-40B4-BE49-F238E27FC236}">
                <a16:creationId xmlns:a16="http://schemas.microsoft.com/office/drawing/2014/main" id="{CC5BF361-1456-8E44-9AEC-5B8C94D0DE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650" y="3908425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</p:txBody>
      </p:sp>
      <p:sp>
        <p:nvSpPr>
          <p:cNvPr id="218171" name="Text Box 59">
            <a:extLst>
              <a:ext uri="{FF2B5EF4-FFF2-40B4-BE49-F238E27FC236}">
                <a16:creationId xmlns:a16="http://schemas.microsoft.com/office/drawing/2014/main" id="{D55033DC-9E97-7C43-9198-3908E127FD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7725" y="4094163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218172" name="Text Box 60">
            <a:extLst>
              <a:ext uri="{FF2B5EF4-FFF2-40B4-BE49-F238E27FC236}">
                <a16:creationId xmlns:a16="http://schemas.microsoft.com/office/drawing/2014/main" id="{D7DA06F4-8D75-2743-99C5-DC6F1C1A39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9125" y="5008563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</a:p>
        </p:txBody>
      </p:sp>
      <p:sp>
        <p:nvSpPr>
          <p:cNvPr id="218173" name="Oval 61">
            <a:extLst>
              <a:ext uri="{FF2B5EF4-FFF2-40B4-BE49-F238E27FC236}">
                <a16:creationId xmlns:a16="http://schemas.microsoft.com/office/drawing/2014/main" id="{135CFAFA-A5F1-D140-9502-9CC8C310A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7893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74" name="Oval 62">
            <a:extLst>
              <a:ext uri="{FF2B5EF4-FFF2-40B4-BE49-F238E27FC236}">
                <a16:creationId xmlns:a16="http://schemas.microsoft.com/office/drawing/2014/main" id="{AC7BCC03-D7B1-8E4F-A106-AE68047C1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00" y="4627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75" name="Oval 63">
            <a:extLst>
              <a:ext uri="{FF2B5EF4-FFF2-40B4-BE49-F238E27FC236}">
                <a16:creationId xmlns:a16="http://schemas.microsoft.com/office/drawing/2014/main" id="{96E05143-7E55-E84B-BD19-CEBF2A70A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1800" y="37893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76" name="Oval 64">
            <a:extLst>
              <a:ext uri="{FF2B5EF4-FFF2-40B4-BE49-F238E27FC236}">
                <a16:creationId xmlns:a16="http://schemas.microsoft.com/office/drawing/2014/main" id="{3C73E562-C07A-DA42-A0F3-A7AD86F69A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0400" y="4627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77" name="Oval 65">
            <a:extLst>
              <a:ext uri="{FF2B5EF4-FFF2-40B4-BE49-F238E27FC236}">
                <a16:creationId xmlns:a16="http://schemas.microsoft.com/office/drawing/2014/main" id="{C17FE3EB-AAFB-2B4C-BF06-C1CB46E59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0800" y="5084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78" name="Line 66">
            <a:extLst>
              <a:ext uri="{FF2B5EF4-FFF2-40B4-BE49-F238E27FC236}">
                <a16:creationId xmlns:a16="http://schemas.microsoft.com/office/drawing/2014/main" id="{83D9BA03-8BDB-EB47-9D58-6975807462A3}"/>
              </a:ext>
            </a:extLst>
          </p:cNvPr>
          <p:cNvSpPr>
            <a:spLocks noChangeShapeType="1"/>
          </p:cNvSpPr>
          <p:nvPr/>
        </p:nvSpPr>
        <p:spPr bwMode="auto">
          <a:xfrm>
            <a:off x="5054600" y="3941763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79" name="Line 67">
            <a:extLst>
              <a:ext uri="{FF2B5EF4-FFF2-40B4-BE49-F238E27FC236}">
                <a16:creationId xmlns:a16="http://schemas.microsoft.com/office/drawing/2014/main" id="{041E37DB-2A13-AB4A-9072-18D27BB4FF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73600" y="4170363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80" name="Line 68">
            <a:extLst>
              <a:ext uri="{FF2B5EF4-FFF2-40B4-BE49-F238E27FC236}">
                <a16:creationId xmlns:a16="http://schemas.microsoft.com/office/drawing/2014/main" id="{043A0D74-BC40-3E4A-BA5E-7478B51F5F7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26000" y="4932363"/>
            <a:ext cx="3048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81" name="Line 69">
            <a:extLst>
              <a:ext uri="{FF2B5EF4-FFF2-40B4-BE49-F238E27FC236}">
                <a16:creationId xmlns:a16="http://schemas.microsoft.com/office/drawing/2014/main" id="{E5E4BAB6-3BBF-8F42-82CB-A53AD6FD18E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40400" y="4170363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82" name="Text Box 70">
            <a:extLst>
              <a:ext uri="{FF2B5EF4-FFF2-40B4-BE49-F238E27FC236}">
                <a16:creationId xmlns:a16="http://schemas.microsoft.com/office/drawing/2014/main" id="{12BB654B-7041-4A42-9344-0D9C4FF76A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5492750"/>
            <a:ext cx="25796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T4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</a:p>
        </p:txBody>
      </p:sp>
      <p:sp>
        <p:nvSpPr>
          <p:cNvPr id="218183" name="Text Box 71">
            <a:extLst>
              <a:ext uri="{FF2B5EF4-FFF2-40B4-BE49-F238E27FC236}">
                <a16:creationId xmlns:a16="http://schemas.microsoft.com/office/drawing/2014/main" id="{AE3538E8-E486-FE48-83D4-8E1AE3E60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800" y="4170363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</a:p>
        </p:txBody>
      </p:sp>
      <p:sp>
        <p:nvSpPr>
          <p:cNvPr id="218184" name="Text Box 72">
            <a:extLst>
              <a:ext uri="{FF2B5EF4-FFF2-40B4-BE49-F238E27FC236}">
                <a16:creationId xmlns:a16="http://schemas.microsoft.com/office/drawing/2014/main" id="{524D6D70-F8DB-C94C-9D96-349686091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0800" y="3894138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</p:txBody>
      </p:sp>
      <p:sp>
        <p:nvSpPr>
          <p:cNvPr id="218185" name="Text Box 73">
            <a:extLst>
              <a:ext uri="{FF2B5EF4-FFF2-40B4-BE49-F238E27FC236}">
                <a16:creationId xmlns:a16="http://schemas.microsoft.com/office/drawing/2014/main" id="{0FFBF028-BC1D-9941-9842-0B977F73F4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6600" y="4094163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218186" name="Text Box 74">
            <a:extLst>
              <a:ext uri="{FF2B5EF4-FFF2-40B4-BE49-F238E27FC236}">
                <a16:creationId xmlns:a16="http://schemas.microsoft.com/office/drawing/2014/main" id="{F2D17E34-395F-3D4C-8E6E-A4EB0E429F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5084763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218187" name="Oval 75">
            <a:extLst>
              <a:ext uri="{FF2B5EF4-FFF2-40B4-BE49-F238E27FC236}">
                <a16:creationId xmlns:a16="http://schemas.microsoft.com/office/drawing/2014/main" id="{117A1904-5FAC-3F44-B4CC-0B2A33EF1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3784600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88" name="Oval 76">
            <a:extLst>
              <a:ext uri="{FF2B5EF4-FFF2-40B4-BE49-F238E27FC236}">
                <a16:creationId xmlns:a16="http://schemas.microsoft.com/office/drawing/2014/main" id="{3E94342D-0787-D547-AB85-1399F0A13C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3900" y="4622800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89" name="Oval 77">
            <a:extLst>
              <a:ext uri="{FF2B5EF4-FFF2-40B4-BE49-F238E27FC236}">
                <a16:creationId xmlns:a16="http://schemas.microsoft.com/office/drawing/2014/main" id="{43363938-71C6-E74F-8350-011974EB1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0700" y="3784600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90" name="Oval 78">
            <a:extLst>
              <a:ext uri="{FF2B5EF4-FFF2-40B4-BE49-F238E27FC236}">
                <a16:creationId xmlns:a16="http://schemas.microsoft.com/office/drawing/2014/main" id="{9779CB02-059C-9E4B-B34A-764E3699F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9300" y="4622800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91" name="Oval 79">
            <a:extLst>
              <a:ext uri="{FF2B5EF4-FFF2-40B4-BE49-F238E27FC236}">
                <a16:creationId xmlns:a16="http://schemas.microsoft.com/office/drawing/2014/main" id="{8856F180-55F6-D743-AAF8-2BCDADBBA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9700" y="5080000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18192" name="Line 80">
            <a:extLst>
              <a:ext uri="{FF2B5EF4-FFF2-40B4-BE49-F238E27FC236}">
                <a16:creationId xmlns:a16="http://schemas.microsoft.com/office/drawing/2014/main" id="{9B7E2FF1-0F5E-2446-B8B4-E83684DAC5C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3500" y="39370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93" name="Line 81">
            <a:extLst>
              <a:ext uri="{FF2B5EF4-FFF2-40B4-BE49-F238E27FC236}">
                <a16:creationId xmlns:a16="http://schemas.microsoft.com/office/drawing/2014/main" id="{6B2906B4-C089-C246-8956-F67F3A3AF1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22500" y="4165600"/>
            <a:ext cx="152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94" name="Line 82">
            <a:extLst>
              <a:ext uri="{FF2B5EF4-FFF2-40B4-BE49-F238E27FC236}">
                <a16:creationId xmlns:a16="http://schemas.microsoft.com/office/drawing/2014/main" id="{EAF47C1A-BEB1-894E-87C8-D0D598BF2EC4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4900" y="4927600"/>
            <a:ext cx="3048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95" name="Line 83">
            <a:extLst>
              <a:ext uri="{FF2B5EF4-FFF2-40B4-BE49-F238E27FC236}">
                <a16:creationId xmlns:a16="http://schemas.microsoft.com/office/drawing/2014/main" id="{DBB3F7F9-B76E-5F40-9C6A-51D2F838A8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60700" y="4927600"/>
            <a:ext cx="2286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196" name="Text Box 84">
            <a:extLst>
              <a:ext uri="{FF2B5EF4-FFF2-40B4-BE49-F238E27FC236}">
                <a16:creationId xmlns:a16="http://schemas.microsoft.com/office/drawing/2014/main" id="{BDB8B14C-1D58-984E-A735-4645E08D1F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5486400"/>
            <a:ext cx="21351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生成树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T3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10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</a:p>
        </p:txBody>
      </p:sp>
      <p:sp>
        <p:nvSpPr>
          <p:cNvPr id="218197" name="Text Box 85">
            <a:extLst>
              <a:ext uri="{FF2B5EF4-FFF2-40B4-BE49-F238E27FC236}">
                <a16:creationId xmlns:a16="http://schemas.microsoft.com/office/drawing/2014/main" id="{053E84ED-30C6-0043-B2EB-17CD698533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7700" y="4165600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</a:p>
        </p:txBody>
      </p:sp>
      <p:sp>
        <p:nvSpPr>
          <p:cNvPr id="218198" name="Text Box 86">
            <a:extLst>
              <a:ext uri="{FF2B5EF4-FFF2-40B4-BE49-F238E27FC236}">
                <a16:creationId xmlns:a16="http://schemas.microsoft.com/office/drawing/2014/main" id="{A8F26043-590D-2A48-8568-7F894B7A5E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9700" y="3479800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</p:txBody>
      </p:sp>
      <p:sp>
        <p:nvSpPr>
          <p:cNvPr id="218199" name="Text Box 87">
            <a:extLst>
              <a:ext uri="{FF2B5EF4-FFF2-40B4-BE49-F238E27FC236}">
                <a16:creationId xmlns:a16="http://schemas.microsoft.com/office/drawing/2014/main" id="{17F9EF48-0C4A-F245-880F-2A3896B203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6900" y="50038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</a:p>
        </p:txBody>
      </p:sp>
      <p:sp>
        <p:nvSpPr>
          <p:cNvPr id="218200" name="Text Box 88">
            <a:extLst>
              <a:ext uri="{FF2B5EF4-FFF2-40B4-BE49-F238E27FC236}">
                <a16:creationId xmlns:a16="http://schemas.microsoft.com/office/drawing/2014/main" id="{91A70FE0-6F51-F34F-A976-87C9E563B4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0" y="5080000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</a:p>
        </p:txBody>
      </p:sp>
      <p:sp>
        <p:nvSpPr>
          <p:cNvPr id="98392" name="Text Box 89">
            <a:extLst>
              <a:ext uri="{FF2B5EF4-FFF2-40B4-BE49-F238E27FC236}">
                <a16:creationId xmlns:a16="http://schemas.microsoft.com/office/drawing/2014/main" id="{175F9260-32A7-2E46-A9CB-1237E4EA9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188913"/>
            <a:ext cx="7561263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7.4.3 </a:t>
            </a:r>
            <a:r>
              <a:rPr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网的</a:t>
            </a:r>
            <a:r>
              <a:rPr lang="zh-CN" altLang="en-US" sz="2800">
                <a:solidFill>
                  <a:srgbClr val="C00000"/>
                </a:solidFill>
                <a:latin typeface="宋体" panose="02010600030101010101" pitchFamily="2" charset="-122"/>
              </a:rPr>
              <a:t>最小生成树</a:t>
            </a:r>
            <a:r>
              <a:rPr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在网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的各生成树中，其中各边的权之和最小的生成树称为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的最小生成树</a:t>
            </a:r>
            <a:endParaRPr lang="zh-CN" altLang="en-US" sz="240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18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218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218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218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218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218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218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218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218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18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7" dur="500"/>
                                        <p:tgtEl>
                                          <p:spTgt spid="218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0" dur="500"/>
                                        <p:tgtEl>
                                          <p:spTgt spid="218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218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7" dur="500"/>
                                        <p:tgtEl>
                                          <p:spTgt spid="218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2" dur="500"/>
                                        <p:tgtEl>
                                          <p:spTgt spid="218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218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218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1" dur="500"/>
                                        <p:tgtEl>
                                          <p:spTgt spid="218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4" dur="500"/>
                                        <p:tgtEl>
                                          <p:spTgt spid="218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7" dur="500"/>
                                        <p:tgtEl>
                                          <p:spTgt spid="218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0" dur="500"/>
                                        <p:tgtEl>
                                          <p:spTgt spid="218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3" dur="500"/>
                                        <p:tgtEl>
                                          <p:spTgt spid="218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6" dur="500"/>
                                        <p:tgtEl>
                                          <p:spTgt spid="218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9" dur="500"/>
                                        <p:tgtEl>
                                          <p:spTgt spid="218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2" dur="500"/>
                                        <p:tgtEl>
                                          <p:spTgt spid="218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5" dur="500"/>
                                        <p:tgtEl>
                                          <p:spTgt spid="218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8" dur="500"/>
                                        <p:tgtEl>
                                          <p:spTgt spid="218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1" dur="500"/>
                                        <p:tgtEl>
                                          <p:spTgt spid="218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6" dur="500"/>
                                        <p:tgtEl>
                                          <p:spTgt spid="218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9" dur="500"/>
                                        <p:tgtEl>
                                          <p:spTgt spid="218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2" dur="500"/>
                                        <p:tgtEl>
                                          <p:spTgt spid="218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5" dur="500"/>
                                        <p:tgtEl>
                                          <p:spTgt spid="218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8" dur="500"/>
                                        <p:tgtEl>
                                          <p:spTgt spid="218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1" dur="500"/>
                                        <p:tgtEl>
                                          <p:spTgt spid="218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4" dur="500"/>
                                        <p:tgtEl>
                                          <p:spTgt spid="218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7" dur="500"/>
                                        <p:tgtEl>
                                          <p:spTgt spid="218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0" dur="500"/>
                                        <p:tgtEl>
                                          <p:spTgt spid="218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3" dur="500"/>
                                        <p:tgtEl>
                                          <p:spTgt spid="218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6" dur="500"/>
                                        <p:tgtEl>
                                          <p:spTgt spid="218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9" dur="500"/>
                                        <p:tgtEl>
                                          <p:spTgt spid="218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2" dur="500"/>
                                        <p:tgtEl>
                                          <p:spTgt spid="218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5" dur="500"/>
                                        <p:tgtEl>
                                          <p:spTgt spid="21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0" dur="500"/>
                                        <p:tgtEl>
                                          <p:spTgt spid="218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3" dur="500"/>
                                        <p:tgtEl>
                                          <p:spTgt spid="218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6" dur="500"/>
                                        <p:tgtEl>
                                          <p:spTgt spid="218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9" dur="500"/>
                                        <p:tgtEl>
                                          <p:spTgt spid="218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2" dur="500"/>
                                        <p:tgtEl>
                                          <p:spTgt spid="218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5" dur="500"/>
                                        <p:tgtEl>
                                          <p:spTgt spid="218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8" dur="500"/>
                                        <p:tgtEl>
                                          <p:spTgt spid="218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1" dur="500"/>
                                        <p:tgtEl>
                                          <p:spTgt spid="218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4" dur="500"/>
                                        <p:tgtEl>
                                          <p:spTgt spid="218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7" dur="500"/>
                                        <p:tgtEl>
                                          <p:spTgt spid="218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0" dur="500"/>
                                        <p:tgtEl>
                                          <p:spTgt spid="218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3" dur="500"/>
                                        <p:tgtEl>
                                          <p:spTgt spid="218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6" dur="500"/>
                                        <p:tgtEl>
                                          <p:spTgt spid="218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9" dur="500"/>
                                        <p:tgtEl>
                                          <p:spTgt spid="218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 nodeType="clickPar">
                      <p:stCondLst>
                        <p:cond delay="indefinite"/>
                      </p:stCondLst>
                      <p:childTnLst>
                        <p:par>
                          <p:cTn id="1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4" dur="500"/>
                                        <p:tgtEl>
                                          <p:spTgt spid="218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7" dur="500"/>
                                        <p:tgtEl>
                                          <p:spTgt spid="218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0" dur="500"/>
                                        <p:tgtEl>
                                          <p:spTgt spid="218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3" dur="500"/>
                                        <p:tgtEl>
                                          <p:spTgt spid="218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6" dur="500"/>
                                        <p:tgtEl>
                                          <p:spTgt spid="218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9" dur="500"/>
                                        <p:tgtEl>
                                          <p:spTgt spid="218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2" dur="500"/>
                                        <p:tgtEl>
                                          <p:spTgt spid="218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5" dur="500"/>
                                        <p:tgtEl>
                                          <p:spTgt spid="218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8" dur="500"/>
                                        <p:tgtEl>
                                          <p:spTgt spid="218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1" dur="500"/>
                                        <p:tgtEl>
                                          <p:spTgt spid="218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4" dur="500"/>
                                        <p:tgtEl>
                                          <p:spTgt spid="218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7" dur="500"/>
                                        <p:tgtEl>
                                          <p:spTgt spid="218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0" dur="500"/>
                                        <p:tgtEl>
                                          <p:spTgt spid="218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3" dur="500"/>
                                        <p:tgtEl>
                                          <p:spTgt spid="218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131" grpId="0" animBg="1"/>
      <p:bldP spid="218132" grpId="0" animBg="1"/>
      <p:bldP spid="218133" grpId="0" animBg="1"/>
      <p:bldP spid="218134" grpId="0" animBg="1"/>
      <p:bldP spid="218135" grpId="0" animBg="1"/>
      <p:bldP spid="218140" grpId="0"/>
      <p:bldP spid="218141" grpId="0"/>
      <p:bldP spid="218142" grpId="0"/>
      <p:bldP spid="218143" grpId="0"/>
      <p:bldP spid="218144" grpId="0"/>
      <p:bldP spid="218145" grpId="0" animBg="1"/>
      <p:bldP spid="218146" grpId="0" animBg="1"/>
      <p:bldP spid="218147" grpId="0" animBg="1"/>
      <p:bldP spid="218148" grpId="0" animBg="1"/>
      <p:bldP spid="218149" grpId="0" animBg="1"/>
      <p:bldP spid="218154" grpId="0"/>
      <p:bldP spid="218155" grpId="0"/>
      <p:bldP spid="218156" grpId="0"/>
      <p:bldP spid="218157" grpId="0"/>
      <p:bldP spid="218158" grpId="0"/>
      <p:bldP spid="218159" grpId="0" animBg="1"/>
      <p:bldP spid="218160" grpId="0" animBg="1"/>
      <p:bldP spid="218161" grpId="0" animBg="1"/>
      <p:bldP spid="218162" grpId="0" animBg="1"/>
      <p:bldP spid="218163" grpId="0" animBg="1"/>
      <p:bldP spid="218168" grpId="0"/>
      <p:bldP spid="218169" grpId="0"/>
      <p:bldP spid="218170" grpId="0"/>
      <p:bldP spid="218171" grpId="0"/>
      <p:bldP spid="218172" grpId="0"/>
      <p:bldP spid="218173" grpId="0" animBg="1"/>
      <p:bldP spid="218174" grpId="0" animBg="1"/>
      <p:bldP spid="218175" grpId="0" animBg="1"/>
      <p:bldP spid="218176" grpId="0" animBg="1"/>
      <p:bldP spid="218177" grpId="0" animBg="1"/>
      <p:bldP spid="218182" grpId="0"/>
      <p:bldP spid="218183" grpId="0"/>
      <p:bldP spid="218184" grpId="0"/>
      <p:bldP spid="218185" grpId="0"/>
      <p:bldP spid="218186" grpId="0"/>
      <p:bldP spid="218187" grpId="0" animBg="1"/>
      <p:bldP spid="218188" grpId="0" animBg="1"/>
      <p:bldP spid="218189" grpId="0" animBg="1"/>
      <p:bldP spid="218190" grpId="0" animBg="1"/>
      <p:bldP spid="218191" grpId="0" animBg="1"/>
      <p:bldP spid="218196" grpId="0"/>
      <p:bldP spid="218197" grpId="0"/>
      <p:bldP spid="218198" grpId="0"/>
      <p:bldP spid="218199" grpId="0"/>
      <p:bldP spid="218200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灯片编号占位符 3">
            <a:extLst>
              <a:ext uri="{FF2B5EF4-FFF2-40B4-BE49-F238E27FC236}">
                <a16:creationId xmlns:a16="http://schemas.microsoft.com/office/drawing/2014/main" id="{344FC4EC-AF95-564C-9E20-E33853D98F0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0F95589-F4D7-F349-8093-FC6D7E1F0409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00354" name="Oval 2">
            <a:extLst>
              <a:ext uri="{FF2B5EF4-FFF2-40B4-BE49-F238E27FC236}">
                <a16:creationId xmlns:a16="http://schemas.microsoft.com/office/drawing/2014/main" id="{56C764A5-AF54-2B42-8E19-27E356969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5450" y="2924175"/>
            <a:ext cx="1371600" cy="23622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0355" name="Oval 4">
            <a:extLst>
              <a:ext uri="{FF2B5EF4-FFF2-40B4-BE49-F238E27FC236}">
                <a16:creationId xmlns:a16="http://schemas.microsoft.com/office/drawing/2014/main" id="{58C30064-335C-B941-B123-806ECDA2E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050" y="2924175"/>
            <a:ext cx="1371600" cy="2362200"/>
          </a:xfrm>
          <a:prstGeom prst="ellipse">
            <a:avLst/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0356" name="AutoShape 5">
            <a:extLst>
              <a:ext uri="{FF2B5EF4-FFF2-40B4-BE49-F238E27FC236}">
                <a16:creationId xmlns:a16="http://schemas.microsoft.com/office/drawing/2014/main" id="{4C347A1E-7389-FB44-AD27-05B10E38E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8450" y="3457575"/>
            <a:ext cx="304800" cy="304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0357" name="AutoShape 6">
            <a:extLst>
              <a:ext uri="{FF2B5EF4-FFF2-40B4-BE49-F238E27FC236}">
                <a16:creationId xmlns:a16="http://schemas.microsoft.com/office/drawing/2014/main" id="{BC72A3D9-008A-234C-850A-F423407D0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8450" y="4448175"/>
            <a:ext cx="304800" cy="304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0358" name="Line 7">
            <a:extLst>
              <a:ext uri="{FF2B5EF4-FFF2-40B4-BE49-F238E27FC236}">
                <a16:creationId xmlns:a16="http://schemas.microsoft.com/office/drawing/2014/main" id="{C887FC96-A7F0-5A4B-82F6-A8BD63883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990850" y="3762375"/>
            <a:ext cx="30480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59" name="Line 8">
            <a:extLst>
              <a:ext uri="{FF2B5EF4-FFF2-40B4-BE49-F238E27FC236}">
                <a16:creationId xmlns:a16="http://schemas.microsoft.com/office/drawing/2014/main" id="{0406B3AD-97B2-A244-8861-76A69D6609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14650" y="3914775"/>
            <a:ext cx="38100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60" name="Line 9">
            <a:extLst>
              <a:ext uri="{FF2B5EF4-FFF2-40B4-BE49-F238E27FC236}">
                <a16:creationId xmlns:a16="http://schemas.microsoft.com/office/drawing/2014/main" id="{16879309-7B1E-584B-B32A-64C92093A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8450" y="4067175"/>
            <a:ext cx="53340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61" name="Line 10">
            <a:extLst>
              <a:ext uri="{FF2B5EF4-FFF2-40B4-BE49-F238E27FC236}">
                <a16:creationId xmlns:a16="http://schemas.microsoft.com/office/drawing/2014/main" id="{EA866528-58D4-A44E-A054-8E81F6B6CC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62250" y="4219575"/>
            <a:ext cx="6096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62" name="Line 11">
            <a:extLst>
              <a:ext uri="{FF2B5EF4-FFF2-40B4-BE49-F238E27FC236}">
                <a16:creationId xmlns:a16="http://schemas.microsoft.com/office/drawing/2014/main" id="{5D34A97A-EF9E-5B4B-AAE3-151470CA8B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2250" y="429577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63" name="Text Box 12">
            <a:extLst>
              <a:ext uri="{FF2B5EF4-FFF2-40B4-BE49-F238E27FC236}">
                <a16:creationId xmlns:a16="http://schemas.microsoft.com/office/drawing/2014/main" id="{3B051077-51B1-1748-89A2-1EE5194F15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7450" y="3305175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endParaRPr kumimoji="0" lang="en-US" altLang="zh-CN" sz="2400" baseline="-250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0364" name="Text Box 13">
            <a:extLst>
              <a:ext uri="{FF2B5EF4-FFF2-40B4-BE49-F238E27FC236}">
                <a16:creationId xmlns:a16="http://schemas.microsoft.com/office/drawing/2014/main" id="{7A6F2515-4E47-7343-B635-1F29230568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7450" y="4371975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u’</a:t>
            </a:r>
            <a:endParaRPr kumimoji="0" lang="en-US" altLang="zh-CN" sz="2400" baseline="-250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0365" name="AutoShape 14">
            <a:extLst>
              <a:ext uri="{FF2B5EF4-FFF2-40B4-BE49-F238E27FC236}">
                <a16:creationId xmlns:a16="http://schemas.microsoft.com/office/drawing/2014/main" id="{242F57FD-F9BD-184D-909A-EC3007DC84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8850" y="3457575"/>
            <a:ext cx="304800" cy="304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0366" name="AutoShape 15">
            <a:extLst>
              <a:ext uri="{FF2B5EF4-FFF2-40B4-BE49-F238E27FC236}">
                <a16:creationId xmlns:a16="http://schemas.microsoft.com/office/drawing/2014/main" id="{EE76613C-3699-EF4A-B26A-8A58DC520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8850" y="4448175"/>
            <a:ext cx="304800" cy="304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0367" name="Line 16">
            <a:extLst>
              <a:ext uri="{FF2B5EF4-FFF2-40B4-BE49-F238E27FC236}">
                <a16:creationId xmlns:a16="http://schemas.microsoft.com/office/drawing/2014/main" id="{F05D2337-659D-FF4B-A5BA-4BA2EBE64C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1250" y="3762375"/>
            <a:ext cx="30480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68" name="Line 17">
            <a:extLst>
              <a:ext uri="{FF2B5EF4-FFF2-40B4-BE49-F238E27FC236}">
                <a16:creationId xmlns:a16="http://schemas.microsoft.com/office/drawing/2014/main" id="{119855DC-EEBB-4E44-A40A-8D7CCC804F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15050" y="3914775"/>
            <a:ext cx="38100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69" name="Line 18">
            <a:extLst>
              <a:ext uri="{FF2B5EF4-FFF2-40B4-BE49-F238E27FC236}">
                <a16:creationId xmlns:a16="http://schemas.microsoft.com/office/drawing/2014/main" id="{A26564E9-912C-2E47-9BB5-FB05B9FD669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8850" y="4067175"/>
            <a:ext cx="53340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70" name="Line 19">
            <a:extLst>
              <a:ext uri="{FF2B5EF4-FFF2-40B4-BE49-F238E27FC236}">
                <a16:creationId xmlns:a16="http://schemas.microsoft.com/office/drawing/2014/main" id="{41235B7B-DC3E-4943-B215-7958885EF7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62650" y="4219575"/>
            <a:ext cx="6096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71" name="Line 20">
            <a:extLst>
              <a:ext uri="{FF2B5EF4-FFF2-40B4-BE49-F238E27FC236}">
                <a16:creationId xmlns:a16="http://schemas.microsoft.com/office/drawing/2014/main" id="{FA979D24-026B-7149-8D25-73459E0E5180}"/>
              </a:ext>
            </a:extLst>
          </p:cNvPr>
          <p:cNvSpPr>
            <a:spLocks noChangeShapeType="1"/>
          </p:cNvSpPr>
          <p:nvPr/>
        </p:nvSpPr>
        <p:spPr bwMode="auto">
          <a:xfrm>
            <a:off x="5962650" y="429577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72" name="Text Box 21">
            <a:extLst>
              <a:ext uri="{FF2B5EF4-FFF2-40B4-BE49-F238E27FC236}">
                <a16:creationId xmlns:a16="http://schemas.microsoft.com/office/drawing/2014/main" id="{820353B1-DDEC-BA48-9380-BB0B13E8B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7850" y="3152775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</a:p>
        </p:txBody>
      </p:sp>
      <p:sp>
        <p:nvSpPr>
          <p:cNvPr id="100373" name="Text Box 22">
            <a:extLst>
              <a:ext uri="{FF2B5EF4-FFF2-40B4-BE49-F238E27FC236}">
                <a16:creationId xmlns:a16="http://schemas.microsoft.com/office/drawing/2014/main" id="{FDA0F757-CF79-0943-9F92-2743848F27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7850" y="4143375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v’</a:t>
            </a:r>
          </a:p>
        </p:txBody>
      </p:sp>
      <p:sp>
        <p:nvSpPr>
          <p:cNvPr id="100374" name="Line 23">
            <a:extLst>
              <a:ext uri="{FF2B5EF4-FFF2-40B4-BE49-F238E27FC236}">
                <a16:creationId xmlns:a16="http://schemas.microsoft.com/office/drawing/2014/main" id="{FC4B04EA-9CF8-344D-8CB8-4F499314AAA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050" y="3609975"/>
            <a:ext cx="29718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75" name="Line 24">
            <a:extLst>
              <a:ext uri="{FF2B5EF4-FFF2-40B4-BE49-F238E27FC236}">
                <a16:creationId xmlns:a16="http://schemas.microsoft.com/office/drawing/2014/main" id="{54A97124-3420-FE4A-8785-1A59942E26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3250" y="4600575"/>
            <a:ext cx="2895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376" name="Text Box 25">
            <a:extLst>
              <a:ext uri="{FF2B5EF4-FFF2-40B4-BE49-F238E27FC236}">
                <a16:creationId xmlns:a16="http://schemas.microsoft.com/office/drawing/2014/main" id="{4557BA1F-9329-5143-8836-EAC1ADE36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8450" y="5362575"/>
            <a:ext cx="914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</a:p>
        </p:txBody>
      </p:sp>
      <p:sp>
        <p:nvSpPr>
          <p:cNvPr id="100377" name="Text Box 26">
            <a:extLst>
              <a:ext uri="{FF2B5EF4-FFF2-40B4-BE49-F238E27FC236}">
                <a16:creationId xmlns:a16="http://schemas.microsoft.com/office/drawing/2014/main" id="{336369F9-8D43-664B-85D4-3FE65A16B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6450" y="5362575"/>
            <a:ext cx="914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V-U</a:t>
            </a:r>
          </a:p>
        </p:txBody>
      </p:sp>
      <p:sp>
        <p:nvSpPr>
          <p:cNvPr id="100378" name="Text Box 27">
            <a:extLst>
              <a:ext uri="{FF2B5EF4-FFF2-40B4-BE49-F238E27FC236}">
                <a16:creationId xmlns:a16="http://schemas.microsoft.com/office/drawing/2014/main" id="{D3FBC8BD-EFB5-0E48-BF8C-393AF2BFCE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313" y="292100"/>
            <a:ext cx="7991475" cy="2000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MST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性质：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设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G=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，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）是一个</a:t>
            </a:r>
            <a:r>
              <a:rPr lang="zh-CN" altLang="en-US" sz="2400" dirty="0">
                <a:solidFill>
                  <a:srgbClr val="C00000"/>
                </a:solidFill>
                <a:latin typeface="宋体" panose="02010600030101010101" pitchFamily="2" charset="-122"/>
              </a:rPr>
              <a:t>连通网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，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的一个非空子集。如果边（</a:t>
            </a:r>
            <a:r>
              <a:rPr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u,v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是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中所有一端在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中（即</a:t>
            </a:r>
            <a:r>
              <a:rPr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u∈U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）而另一端在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V-U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中（即</a:t>
            </a:r>
            <a:r>
              <a:rPr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v∈V-U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）具有</a:t>
            </a:r>
            <a:r>
              <a:rPr lang="zh-CN" altLang="en-US" sz="2400" dirty="0">
                <a:solidFill>
                  <a:srgbClr val="C00000"/>
                </a:solidFill>
                <a:latin typeface="宋体" panose="02010600030101010101" pitchFamily="2" charset="-122"/>
              </a:rPr>
              <a:t>最小值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的一条边，则存在一棵包含边（</a:t>
            </a:r>
            <a:r>
              <a:rPr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u,v</a:t>
            </a:r>
            <a:r>
              <a:rPr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的最小生成树。</a:t>
            </a:r>
            <a:endParaRPr lang="zh-CN" altLang="en-US" sz="2400" b="0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374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灯片编号占位符 3">
            <a:extLst>
              <a:ext uri="{FF2B5EF4-FFF2-40B4-BE49-F238E27FC236}">
                <a16:creationId xmlns:a16="http://schemas.microsoft.com/office/drawing/2014/main" id="{19C434DC-ACD2-DC4F-BF6E-9F72EC28EC5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7148F75-A242-D649-893B-7193E77FA752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57" name="Text Box 56">
            <a:extLst>
              <a:ext uri="{FF2B5EF4-FFF2-40B4-BE49-F238E27FC236}">
                <a16:creationId xmlns:a16="http://schemas.microsoft.com/office/drawing/2014/main" id="{A22753AA-8D1A-E548-A5F8-727A8A3A9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774700"/>
            <a:ext cx="4176713" cy="440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1.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普里姆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(prim)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算法   以选</a:t>
            </a:r>
            <a:r>
              <a:rPr kumimoji="0" lang="zh-CN" altLang="en-US" sz="2800">
                <a:solidFill>
                  <a:srgbClr val="C00000"/>
                </a:solidFill>
                <a:latin typeface="宋体" panose="02010600030101010101" pitchFamily="2" charset="-122"/>
              </a:rPr>
              <a:t>顶点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为主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en-US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个顶点的连通网，</a:t>
            </a:r>
            <a:r>
              <a:rPr kumimoji="0" lang="zh-CN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初始时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，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T=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，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TE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），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为一个开始顶点，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TE=φ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，以后根据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MST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性质，每次增加一个顶点和一条边，重复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n-1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次。Ｕ不断增大，Ｖ－Ｕ不断减小直到为空。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en-US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例：从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</a:t>
            </a:r>
            <a:endParaRPr lang="zh-CN" altLang="en-US" sz="2400">
              <a:latin typeface="宋体" panose="02010600030101010101" pitchFamily="2" charset="-122"/>
            </a:endParaRPr>
          </a:p>
        </p:txBody>
      </p:sp>
      <p:sp>
        <p:nvSpPr>
          <p:cNvPr id="58" name="Line 9">
            <a:extLst>
              <a:ext uri="{FF2B5EF4-FFF2-40B4-BE49-F238E27FC236}">
                <a16:creationId xmlns:a16="http://schemas.microsoft.com/office/drawing/2014/main" id="{BC4E82D6-D1F4-2046-A466-5BC6B170CD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87938" y="124777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Line 14">
            <a:extLst>
              <a:ext uri="{FF2B5EF4-FFF2-40B4-BE49-F238E27FC236}">
                <a16:creationId xmlns:a16="http://schemas.microsoft.com/office/drawing/2014/main" id="{41ECDC83-CDA5-A143-B9C4-A872DD12AE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1500" y="1958975"/>
            <a:ext cx="403225" cy="6064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椭圆 59">
            <a:extLst>
              <a:ext uri="{FF2B5EF4-FFF2-40B4-BE49-F238E27FC236}">
                <a16:creationId xmlns:a16="http://schemas.microsoft.com/office/drawing/2014/main" id="{9202E95A-A73F-4A42-9303-406452524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3414713"/>
            <a:ext cx="2881312" cy="2592387"/>
          </a:xfrm>
          <a:prstGeom prst="ellipse">
            <a:avLst/>
          </a:prstGeom>
          <a:noFill/>
          <a:ln w="9525" algn="ctr">
            <a:solidFill>
              <a:srgbClr val="FF0000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61" name="Text Box 55">
            <a:extLst>
              <a:ext uri="{FF2B5EF4-FFF2-40B4-BE49-F238E27FC236}">
                <a16:creationId xmlns:a16="http://schemas.microsoft.com/office/drawing/2014/main" id="{B81A9EEB-494A-0A4B-8050-F1F265EF45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650" y="1484313"/>
            <a:ext cx="13398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集合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</a:p>
        </p:txBody>
      </p:sp>
      <p:sp>
        <p:nvSpPr>
          <p:cNvPr id="62" name="Text Box 55">
            <a:extLst>
              <a:ext uri="{FF2B5EF4-FFF2-40B4-BE49-F238E27FC236}">
                <a16:creationId xmlns:a16="http://schemas.microsoft.com/office/drawing/2014/main" id="{2924EB69-AA10-244D-9FBD-0B38F0F55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39075" y="4365625"/>
            <a:ext cx="1270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集合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V-U</a:t>
            </a:r>
          </a:p>
        </p:txBody>
      </p:sp>
      <p:sp>
        <p:nvSpPr>
          <p:cNvPr id="63" name="Oval 5">
            <a:extLst>
              <a:ext uri="{FF2B5EF4-FFF2-40B4-BE49-F238E27FC236}">
                <a16:creationId xmlns:a16="http://schemas.microsoft.com/office/drawing/2014/main" id="{5D3D1ECE-8CAF-E04A-94A6-3D13A4799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0350" y="5164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4" name="Oval 8">
            <a:extLst>
              <a:ext uri="{FF2B5EF4-FFF2-40B4-BE49-F238E27FC236}">
                <a16:creationId xmlns:a16="http://schemas.microsoft.com/office/drawing/2014/main" id="{9B121B98-AAEC-FE4A-90CC-9924D9004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1950" y="4935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65" name="Line 9">
            <a:extLst>
              <a:ext uri="{FF2B5EF4-FFF2-40B4-BE49-F238E27FC236}">
                <a16:creationId xmlns:a16="http://schemas.microsoft.com/office/drawing/2014/main" id="{D61FD629-D19E-694C-8205-2CBC2F16DC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11750" y="409733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Line 10">
            <a:extLst>
              <a:ext uri="{FF2B5EF4-FFF2-40B4-BE49-F238E27FC236}">
                <a16:creationId xmlns:a16="http://schemas.microsoft.com/office/drawing/2014/main" id="{ACA13C8F-BF79-0C40-9D6C-58DC4099EAEE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1750" y="4783138"/>
            <a:ext cx="3048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Line 11">
            <a:extLst>
              <a:ext uri="{FF2B5EF4-FFF2-40B4-BE49-F238E27FC236}">
                <a16:creationId xmlns:a16="http://schemas.microsoft.com/office/drawing/2014/main" id="{19C0D84E-A991-824E-8069-792DA153513D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7950" y="4630738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Line 12">
            <a:extLst>
              <a:ext uri="{FF2B5EF4-FFF2-40B4-BE49-F238E27FC236}">
                <a16:creationId xmlns:a16="http://schemas.microsoft.com/office/drawing/2014/main" id="{35FFB374-8B14-DC43-B529-CB8C81798ACC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8625" y="4097338"/>
            <a:ext cx="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Line 13">
            <a:extLst>
              <a:ext uri="{FF2B5EF4-FFF2-40B4-BE49-F238E27FC236}">
                <a16:creationId xmlns:a16="http://schemas.microsoft.com/office/drawing/2014/main" id="{62F3F102-1778-3B4B-94C5-C9BBBCC674A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5150" y="409733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Line 14">
            <a:extLst>
              <a:ext uri="{FF2B5EF4-FFF2-40B4-BE49-F238E27FC236}">
                <a16:creationId xmlns:a16="http://schemas.microsoft.com/office/drawing/2014/main" id="{8BFC53D4-0608-DC43-9ED9-01D586BB78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45150" y="4783138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Line 15">
            <a:extLst>
              <a:ext uri="{FF2B5EF4-FFF2-40B4-BE49-F238E27FC236}">
                <a16:creationId xmlns:a16="http://schemas.microsoft.com/office/drawing/2014/main" id="{B46D28BE-BDC4-3D45-A402-00FC64752C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30950" y="4097338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Line 16">
            <a:extLst>
              <a:ext uri="{FF2B5EF4-FFF2-40B4-BE49-F238E27FC236}">
                <a16:creationId xmlns:a16="http://schemas.microsoft.com/office/drawing/2014/main" id="{F39D4AE0-833A-9C46-8276-43974BA2F0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0950" y="4630738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Line 17">
            <a:extLst>
              <a:ext uri="{FF2B5EF4-FFF2-40B4-BE49-F238E27FC236}">
                <a16:creationId xmlns:a16="http://schemas.microsoft.com/office/drawing/2014/main" id="{AE43682A-D067-C642-9EAF-636F6231769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4350" y="4097338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Text Box 18">
            <a:extLst>
              <a:ext uri="{FF2B5EF4-FFF2-40B4-BE49-F238E27FC236}">
                <a16:creationId xmlns:a16="http://schemas.microsoft.com/office/drawing/2014/main" id="{83047B5C-B48E-D242-BCD0-5C23A652C9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9338" y="40084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5" name="Text Box 19">
            <a:extLst>
              <a:ext uri="{FF2B5EF4-FFF2-40B4-BE49-F238E27FC236}">
                <a16:creationId xmlns:a16="http://schemas.microsoft.com/office/drawing/2014/main" id="{BBB74D0F-13D8-3F47-8F7A-983FE11517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1350" y="44180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6" name="Text Box 20">
            <a:extLst>
              <a:ext uri="{FF2B5EF4-FFF2-40B4-BE49-F238E27FC236}">
                <a16:creationId xmlns:a16="http://schemas.microsoft.com/office/drawing/2014/main" id="{5A01D0F9-62AB-AB4C-81C9-8E360B0B1B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3750" y="41132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" name="Text Box 21">
            <a:extLst>
              <a:ext uri="{FF2B5EF4-FFF2-40B4-BE49-F238E27FC236}">
                <a16:creationId xmlns:a16="http://schemas.microsoft.com/office/drawing/2014/main" id="{E7356FAF-9555-5844-8A04-1E35FFBB8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7150" y="48593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8" name="Text Box 22">
            <a:extLst>
              <a:ext uri="{FF2B5EF4-FFF2-40B4-BE49-F238E27FC236}">
                <a16:creationId xmlns:a16="http://schemas.microsoft.com/office/drawing/2014/main" id="{9CBCFECE-6AE6-374B-919E-C7AB0B3A5F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7150" y="41735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9" name="Text Box 23">
            <a:extLst>
              <a:ext uri="{FF2B5EF4-FFF2-40B4-BE49-F238E27FC236}">
                <a16:creationId xmlns:a16="http://schemas.microsoft.com/office/drawing/2014/main" id="{90603257-861B-114F-AA2C-4CB1F736D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0550" y="44021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0" name="Text Box 24">
            <a:extLst>
              <a:ext uri="{FF2B5EF4-FFF2-40B4-BE49-F238E27FC236}">
                <a16:creationId xmlns:a16="http://schemas.microsoft.com/office/drawing/2014/main" id="{EF2D7C66-1E2B-2140-A000-66B4C430C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9950" y="50165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1" name="Text Box 25">
            <a:extLst>
              <a:ext uri="{FF2B5EF4-FFF2-40B4-BE49-F238E27FC236}">
                <a16:creationId xmlns:a16="http://schemas.microsoft.com/office/drawing/2014/main" id="{B09639C4-2966-3647-AA66-98EE278A90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5550" y="49514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2" name="Text Box 26">
            <a:extLst>
              <a:ext uri="{FF2B5EF4-FFF2-40B4-BE49-F238E27FC236}">
                <a16:creationId xmlns:a16="http://schemas.microsoft.com/office/drawing/2014/main" id="{0AC11720-34AF-3A43-9B3D-B51347E28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8950" y="4724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3" name="Line 27">
            <a:extLst>
              <a:ext uri="{FF2B5EF4-FFF2-40B4-BE49-F238E27FC236}">
                <a16:creationId xmlns:a16="http://schemas.microsoft.com/office/drawing/2014/main" id="{4926286D-7332-6C42-B600-A0B94ED56B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721350" y="3944938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Text Box 28">
            <a:extLst>
              <a:ext uri="{FF2B5EF4-FFF2-40B4-BE49-F238E27FC236}">
                <a16:creationId xmlns:a16="http://schemas.microsoft.com/office/drawing/2014/main" id="{98F034B0-A418-AA43-82C6-AF3DFB5ED7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2350" y="37163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5" name="椭圆 84">
            <a:extLst>
              <a:ext uri="{FF2B5EF4-FFF2-40B4-BE49-F238E27FC236}">
                <a16:creationId xmlns:a16="http://schemas.microsoft.com/office/drawing/2014/main" id="{C33C6FBA-4882-3848-AFD1-80B166CFC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549275"/>
            <a:ext cx="2881312" cy="2592388"/>
          </a:xfrm>
          <a:prstGeom prst="ellipse">
            <a:avLst/>
          </a:prstGeom>
          <a:noFill/>
          <a:ln w="9525" algn="ctr">
            <a:solidFill>
              <a:srgbClr val="FF0000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86" name="Line 27">
            <a:extLst>
              <a:ext uri="{FF2B5EF4-FFF2-40B4-BE49-F238E27FC236}">
                <a16:creationId xmlns:a16="http://schemas.microsoft.com/office/drawing/2014/main" id="{DE5D2026-13FA-0540-9E92-9D0A0B6342D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1500" y="1268413"/>
            <a:ext cx="1212850" cy="2460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Text Box 28">
            <a:extLst>
              <a:ext uri="{FF2B5EF4-FFF2-40B4-BE49-F238E27FC236}">
                <a16:creationId xmlns:a16="http://schemas.microsoft.com/office/drawing/2014/main" id="{E9AAED4D-B7E4-8346-922E-579962AC99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6088" y="3070225"/>
            <a:ext cx="1524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8" name="Line 13">
            <a:extLst>
              <a:ext uri="{FF2B5EF4-FFF2-40B4-BE49-F238E27FC236}">
                <a16:creationId xmlns:a16="http://schemas.microsoft.com/office/drawing/2014/main" id="{0443DE33-20CC-024C-9DAE-8AD0FA3EC7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0063" y="1196975"/>
            <a:ext cx="504825" cy="32400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Text Box 20">
            <a:extLst>
              <a:ext uri="{FF2B5EF4-FFF2-40B4-BE49-F238E27FC236}">
                <a16:creationId xmlns:a16="http://schemas.microsoft.com/office/drawing/2014/main" id="{4D357FFC-07D6-BF4D-9933-1E6C832D7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1863" y="31877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0" name="Line 12">
            <a:extLst>
              <a:ext uri="{FF2B5EF4-FFF2-40B4-BE49-F238E27FC236}">
                <a16:creationId xmlns:a16="http://schemas.microsoft.com/office/drawing/2014/main" id="{CF91F04E-E063-464C-B974-F90CA860A0E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8625" y="1223963"/>
            <a:ext cx="0" cy="3933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Line 27">
            <a:extLst>
              <a:ext uri="{FF2B5EF4-FFF2-40B4-BE49-F238E27FC236}">
                <a16:creationId xmlns:a16="http://schemas.microsoft.com/office/drawing/2014/main" id="{4EB2456E-8B9F-9541-9D47-5CBF742EA8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46650" y="1209675"/>
            <a:ext cx="503238" cy="3227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Oval 7">
            <a:extLst>
              <a:ext uri="{FF2B5EF4-FFF2-40B4-BE49-F238E27FC236}">
                <a16:creationId xmlns:a16="http://schemas.microsoft.com/office/drawing/2014/main" id="{2247C628-7E5F-4747-9DCA-DFAE8385B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6950" y="4402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3" name="Oval 3">
            <a:extLst>
              <a:ext uri="{FF2B5EF4-FFF2-40B4-BE49-F238E27FC236}">
                <a16:creationId xmlns:a16="http://schemas.microsoft.com/office/drawing/2014/main" id="{4ADB3703-97AF-BB40-9493-C635C1EF5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9950" y="4402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4" name="Oval 4">
            <a:extLst>
              <a:ext uri="{FF2B5EF4-FFF2-40B4-BE49-F238E27FC236}">
                <a16:creationId xmlns:a16="http://schemas.microsoft.com/office/drawing/2014/main" id="{FF927101-B966-DD4A-8595-032889140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0350" y="3716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5" name="Line 13">
            <a:extLst>
              <a:ext uri="{FF2B5EF4-FFF2-40B4-BE49-F238E27FC236}">
                <a16:creationId xmlns:a16="http://schemas.microsoft.com/office/drawing/2014/main" id="{554EBDF5-0D3A-3346-A780-B93CF8058D2D}"/>
              </a:ext>
            </a:extLst>
          </p:cNvPr>
          <p:cNvSpPr>
            <a:spLocks noChangeShapeType="1"/>
          </p:cNvSpPr>
          <p:nvPr/>
        </p:nvSpPr>
        <p:spPr bwMode="auto">
          <a:xfrm>
            <a:off x="5661025" y="123348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Text Box 20">
            <a:extLst>
              <a:ext uri="{FF2B5EF4-FFF2-40B4-BE49-F238E27FC236}">
                <a16:creationId xmlns:a16="http://schemas.microsoft.com/office/drawing/2014/main" id="{3BCAD3A7-27E4-5942-B205-1F64C67B2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9625" y="12493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97" name="Line 27">
            <a:extLst>
              <a:ext uri="{FF2B5EF4-FFF2-40B4-BE49-F238E27FC236}">
                <a16:creationId xmlns:a16="http://schemas.microsoft.com/office/drawing/2014/main" id="{3F5F62A2-B6E4-5F43-9380-5B04B787F3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22913" y="1960563"/>
            <a:ext cx="576262" cy="3179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Line 27">
            <a:extLst>
              <a:ext uri="{FF2B5EF4-FFF2-40B4-BE49-F238E27FC236}">
                <a16:creationId xmlns:a16="http://schemas.microsoft.com/office/drawing/2014/main" id="{9AC39F79-046B-5741-B978-2D1BDFFB2CB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6325" y="1989138"/>
            <a:ext cx="647700" cy="2963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Text Box 21">
            <a:extLst>
              <a:ext uri="{FF2B5EF4-FFF2-40B4-BE49-F238E27FC236}">
                <a16:creationId xmlns:a16="http://schemas.microsoft.com/office/drawing/2014/main" id="{56B56205-8BC5-CD4B-B6CD-08BD7138A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9825" y="31988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0" name="Line 27">
            <a:extLst>
              <a:ext uri="{FF2B5EF4-FFF2-40B4-BE49-F238E27FC236}">
                <a16:creationId xmlns:a16="http://schemas.microsoft.com/office/drawing/2014/main" id="{87ABAD14-07C3-1545-ADE1-BD84C0C1C6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27700" y="1081088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" name="Oval 6">
            <a:extLst>
              <a:ext uri="{FF2B5EF4-FFF2-40B4-BE49-F238E27FC236}">
                <a16:creationId xmlns:a16="http://schemas.microsoft.com/office/drawing/2014/main" id="{8C49C452-9A0D-0F42-A10D-C96B46CEC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1950" y="3716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2" name="Line 27">
            <a:extLst>
              <a:ext uri="{FF2B5EF4-FFF2-40B4-BE49-F238E27FC236}">
                <a16:creationId xmlns:a16="http://schemas.microsoft.com/office/drawing/2014/main" id="{3FC88449-200B-F143-A584-AE57ADB09FA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77050" y="1268413"/>
            <a:ext cx="0" cy="3744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" name="Line 17">
            <a:extLst>
              <a:ext uri="{FF2B5EF4-FFF2-40B4-BE49-F238E27FC236}">
                <a16:creationId xmlns:a16="http://schemas.microsoft.com/office/drawing/2014/main" id="{10A42624-0EE5-2A49-BC3F-8B1CBDAC1225}"/>
              </a:ext>
            </a:extLst>
          </p:cNvPr>
          <p:cNvSpPr>
            <a:spLocks noChangeShapeType="1"/>
          </p:cNvSpPr>
          <p:nvPr/>
        </p:nvSpPr>
        <p:spPr bwMode="auto">
          <a:xfrm>
            <a:off x="6877050" y="1296988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" name="Text Box 55">
            <a:extLst>
              <a:ext uri="{FF2B5EF4-FFF2-40B4-BE49-F238E27FC236}">
                <a16:creationId xmlns:a16="http://schemas.microsoft.com/office/drawing/2014/main" id="{B8B33DBB-6627-C747-88DC-495F3AC30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2725" y="3111500"/>
            <a:ext cx="1727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最小生成树</a:t>
            </a:r>
            <a:endParaRPr kumimoji="0" lang="zh-CN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-4.79769E-6 L 5.55556E-7 -0.40902 " pathEditMode="relative" ptsTypes="AA">
                                      <p:cBhvr>
                                        <p:cTn id="27" dur="2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9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33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4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49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5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7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61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6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69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7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316 -0.23075 " pathEditMode="relative" ptsTypes="AA">
                                      <p:cBhvr>
                                        <p:cTn id="74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7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8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4.10405E-6 L -0.00052 -0.13133 " pathEditMode="relative" rAng="0" ptsTypes="AA">
                                      <p:cBhvr>
                                        <p:cTn id="81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 tmFilter="0, 0; .2, .5; .8, .5; 1, 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6" dur="250" autoRev="1" fill="hold"/>
                                        <p:tgtEl>
                                          <p:spTgt spid="8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8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 tmFilter="0, 0; .2, .5; .8, .5; 1, 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0" dur="250" autoRev="1" fill="hold"/>
                                        <p:tgtEl>
                                          <p:spTgt spid="8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0.00162 L 1.94444E-6 -0.41063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0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9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0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21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1.21387E-6 L -0.0283 -0.26127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00" y="-13100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30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40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500" tmFilter="0, 0; .2, .5; .8, .5; 1, 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53" dur="250" autoRev="1" fill="hold"/>
                                        <p:tgtEl>
                                          <p:spTgt spid="7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54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56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1.27168E-6 L -0.00712 -0.41063 " pathEditMode="relative" rAng="0" ptsTypes="AA">
                                      <p:cBhvr>
                                        <p:cTn id="159" dur="2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0" y="-20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61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6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6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08 -0.13041 L 0.02101 -0.40301 " pathEditMode="relative" rAng="0" ptsTypes="AA">
                                      <p:cBhvr>
                                        <p:cTn id="170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00" y="-13600"/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 tmFilter="0, 0; .2, .5; .8, .5; 1, 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1" dur="250" autoRev="1" fill="hold"/>
                                        <p:tgtEl>
                                          <p:spTgt spid="8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82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500" tmFilter="0, 0; .2, .5; .8, .5; 1, 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4" dur="250" autoRev="1" fill="hold"/>
                                        <p:tgtEl>
                                          <p:spTgt spid="9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5.43353E-6 L 5.55556E-7 -0.3986 " pathEditMode="relative" ptsTypes="AA">
                                      <p:cBhvr>
                                        <p:cTn id="187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89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9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9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99 -0.27792 L -0.01719 -0.38289 " pathEditMode="relative" rAng="0" ptsTypes="AA">
                                      <p:cBhvr>
                                        <p:cTn id="198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00" y="-52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 tmFilter="0, 0; .2, .5; .8, .5; 1, 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3" dur="250" autoRev="1" fill="hold"/>
                                        <p:tgtEl>
                                          <p:spTgt spid="8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 tmFilter="0, 0; .2, .5; .8, .5; 1, 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6" dur="250" autoRev="1" fill="hold"/>
                                        <p:tgtEl>
                                          <p:spTgt spid="8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0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8889E-6 -0.00463 L -0.00278 -0.40971 " pathEditMode="relative" rAng="0" ptsTypes="AA">
                                      <p:cBhvr>
                                        <p:cTn id="209" dur="2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" y="-203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1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7084 -0.32508 " pathEditMode="relative" ptsTypes="AA">
                                      <p:cBhvr>
                                        <p:cTn id="216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1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222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2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91 0.00023 L 0.00191 -0.17804 " pathEditMode="relative" rAng="0" ptsTypes="AA">
                                      <p:cBhvr>
                                        <p:cTn id="227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8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229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3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3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 nodeType="clickPar">
                      <p:stCondLst>
                        <p:cond delay="indefinite"/>
                      </p:stCondLst>
                      <p:childTnLst>
                        <p:par>
                          <p:cTn id="2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0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" dur="500" tmFilter="0, 0; .2, .5; .8, .5; 1, 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2" dur="250" autoRev="1" fill="hold"/>
                                        <p:tgtEl>
                                          <p:spTgt spid="10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4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4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5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-4.27746E-6 L -2.22222E-6 -0.40901 " pathEditMode="relative" ptsTypes="AA">
                                      <p:cBhvr>
                                        <p:cTn id="253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4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5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258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26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91 -0.17804 L 0.00191 -0.38798 " pathEditMode="relative" rAng="0" ptsTypes="AA">
                                      <p:cBhvr>
                                        <p:cTn id="263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26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 nodeType="clickPar">
                      <p:stCondLst>
                        <p:cond delay="indefinite"/>
                      </p:stCondLst>
                      <p:childTnLst>
                        <p:par>
                          <p:cTn id="2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0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74" presetID="4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78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82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8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86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8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animBg="1"/>
      <p:bldP spid="60" grpId="1" animBg="1"/>
      <p:bldP spid="61" grpId="0"/>
      <p:bldP spid="61" grpId="1"/>
      <p:bldP spid="62" grpId="0"/>
      <p:bldP spid="62" grpId="1"/>
      <p:bldP spid="74" grpId="0"/>
      <p:bldP spid="80" grpId="0"/>
      <p:bldP spid="85" grpId="0" animBg="1"/>
      <p:bldP spid="85" grpId="1" animBg="1"/>
      <p:bldP spid="87" grpId="0"/>
      <p:bldP spid="94" grpId="0" animBg="1"/>
      <p:bldP spid="104" grpId="0"/>
      <p:bldP spid="104" grpId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灯片编号占位符 3">
            <a:extLst>
              <a:ext uri="{FF2B5EF4-FFF2-40B4-BE49-F238E27FC236}">
                <a16:creationId xmlns:a16="http://schemas.microsoft.com/office/drawing/2014/main" id="{7F50C7B6-5B4A-7E4C-AB6D-89D2F62A400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7E9FC24-CE11-3744-BA5D-DC20E9CC43FE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04450" name="Text Box 2">
            <a:extLst>
              <a:ext uri="{FF2B5EF4-FFF2-40B4-BE49-F238E27FC236}">
                <a16:creationId xmlns:a16="http://schemas.microsoft.com/office/drawing/2014/main" id="{44B9A619-704B-B744-B974-4906F463BD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549275"/>
            <a:ext cx="85344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1.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普里姆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(prim)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算法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续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另一棵最小生成树：从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</a:t>
            </a:r>
          </a:p>
        </p:txBody>
      </p:sp>
      <p:sp>
        <p:nvSpPr>
          <p:cNvPr id="104451" name="Oval 3">
            <a:extLst>
              <a:ext uri="{FF2B5EF4-FFF2-40B4-BE49-F238E27FC236}">
                <a16:creationId xmlns:a16="http://schemas.microsoft.com/office/drawing/2014/main" id="{8D140162-C780-7B47-8077-4B0FB812B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5238" y="32527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52" name="Oval 4">
            <a:extLst>
              <a:ext uri="{FF2B5EF4-FFF2-40B4-BE49-F238E27FC236}">
                <a16:creationId xmlns:a16="http://schemas.microsoft.com/office/drawing/2014/main" id="{52814E97-1E63-704A-B0F2-71E096810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1989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53" name="Oval 5">
            <a:extLst>
              <a:ext uri="{FF2B5EF4-FFF2-40B4-BE49-F238E27FC236}">
                <a16:creationId xmlns:a16="http://schemas.microsoft.com/office/drawing/2014/main" id="{092EF6C0-FDC3-D043-8CCB-FA9992095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46529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54" name="Oval 6">
            <a:extLst>
              <a:ext uri="{FF2B5EF4-FFF2-40B4-BE49-F238E27FC236}">
                <a16:creationId xmlns:a16="http://schemas.microsoft.com/office/drawing/2014/main" id="{E3356AC2-210F-AB48-9584-1F8664537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00" y="2012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55" name="Oval 7">
            <a:extLst>
              <a:ext uri="{FF2B5EF4-FFF2-40B4-BE49-F238E27FC236}">
                <a16:creationId xmlns:a16="http://schemas.microsoft.com/office/drawing/2014/main" id="{BD3F3319-22B4-0842-8327-712D09153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32527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56" name="Oval 8">
            <a:extLst>
              <a:ext uri="{FF2B5EF4-FFF2-40B4-BE49-F238E27FC236}">
                <a16:creationId xmlns:a16="http://schemas.microsoft.com/office/drawing/2014/main" id="{93E6CEA0-3578-B542-BEEA-10E323CFD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00" y="45085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57" name="Line 9">
            <a:extLst>
              <a:ext uri="{FF2B5EF4-FFF2-40B4-BE49-F238E27FC236}">
                <a16:creationId xmlns:a16="http://schemas.microsoft.com/office/drawing/2014/main" id="{7248A449-C0D5-2945-A6AA-994EE36A72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0113" y="2327275"/>
            <a:ext cx="719137" cy="1030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58" name="Line 10">
            <a:extLst>
              <a:ext uri="{FF2B5EF4-FFF2-40B4-BE49-F238E27FC236}">
                <a16:creationId xmlns:a16="http://schemas.microsoft.com/office/drawing/2014/main" id="{9EEC7448-3E84-2B40-83F7-E3F04D6C5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7088" y="3573463"/>
            <a:ext cx="792162" cy="1079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59" name="Line 11">
            <a:extLst>
              <a:ext uri="{FF2B5EF4-FFF2-40B4-BE49-F238E27FC236}">
                <a16:creationId xmlns:a16="http://schemas.microsoft.com/office/drawing/2014/main" id="{282336EC-A4B3-B547-BD6A-09B366EC72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0113" y="3429000"/>
            <a:ext cx="16557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60" name="Line 12">
            <a:extLst>
              <a:ext uri="{FF2B5EF4-FFF2-40B4-BE49-F238E27FC236}">
                <a16:creationId xmlns:a16="http://schemas.microsoft.com/office/drawing/2014/main" id="{7F7690EB-8C50-CF49-B899-D83B9A2483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63713" y="2349500"/>
            <a:ext cx="0" cy="2303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61" name="Line 13">
            <a:extLst>
              <a:ext uri="{FF2B5EF4-FFF2-40B4-BE49-F238E27FC236}">
                <a16:creationId xmlns:a16="http://schemas.microsoft.com/office/drawing/2014/main" id="{A8D45F10-8773-964F-98CE-17E7368446D3}"/>
              </a:ext>
            </a:extLst>
          </p:cNvPr>
          <p:cNvSpPr>
            <a:spLocks noChangeShapeType="1"/>
          </p:cNvSpPr>
          <p:nvPr/>
        </p:nvSpPr>
        <p:spPr bwMode="auto">
          <a:xfrm>
            <a:off x="1835150" y="2327275"/>
            <a:ext cx="720725" cy="957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62" name="Line 14">
            <a:extLst>
              <a:ext uri="{FF2B5EF4-FFF2-40B4-BE49-F238E27FC236}">
                <a16:creationId xmlns:a16="http://schemas.microsoft.com/office/drawing/2014/main" id="{74D1DBB4-8C43-8A44-9512-AC1A4560A3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82775" y="3573463"/>
            <a:ext cx="744538" cy="1104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63" name="Line 15">
            <a:extLst>
              <a:ext uri="{FF2B5EF4-FFF2-40B4-BE49-F238E27FC236}">
                <a16:creationId xmlns:a16="http://schemas.microsoft.com/office/drawing/2014/main" id="{D9CD1761-1C98-3C45-A97A-BC4E58D0FA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43213" y="2349500"/>
            <a:ext cx="720725" cy="9350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64" name="Line 16">
            <a:extLst>
              <a:ext uri="{FF2B5EF4-FFF2-40B4-BE49-F238E27FC236}">
                <a16:creationId xmlns:a16="http://schemas.microsoft.com/office/drawing/2014/main" id="{6473EAF0-4EF7-3A45-B0AB-4E7EECF6E7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3213" y="3635375"/>
            <a:ext cx="720725" cy="946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65" name="Line 17">
            <a:extLst>
              <a:ext uri="{FF2B5EF4-FFF2-40B4-BE49-F238E27FC236}">
                <a16:creationId xmlns:a16="http://schemas.microsoft.com/office/drawing/2014/main" id="{16CA88E4-F265-C04A-85FF-5BDB36A9451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5700" y="2374900"/>
            <a:ext cx="12700" cy="213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66" name="Text Box 18">
            <a:extLst>
              <a:ext uri="{FF2B5EF4-FFF2-40B4-BE49-F238E27FC236}">
                <a16:creationId xmlns:a16="http://schemas.microsoft.com/office/drawing/2014/main" id="{E7056E97-5B40-8749-A2BF-281D08D258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8550" y="2565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67" name="Text Box 19">
            <a:extLst>
              <a:ext uri="{FF2B5EF4-FFF2-40B4-BE49-F238E27FC236}">
                <a16:creationId xmlns:a16="http://schemas.microsoft.com/office/drawing/2014/main" id="{F504281A-6B8F-9D44-BDCD-8393B50D4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8175" y="29972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68" name="Text Box 20">
            <a:extLst>
              <a:ext uri="{FF2B5EF4-FFF2-40B4-BE49-F238E27FC236}">
                <a16:creationId xmlns:a16="http://schemas.microsoft.com/office/drawing/2014/main" id="{4084C5F8-C0AF-8F47-8FD8-3B18204D7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8538" y="26368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69" name="Text Box 21">
            <a:extLst>
              <a:ext uri="{FF2B5EF4-FFF2-40B4-BE49-F238E27FC236}">
                <a16:creationId xmlns:a16="http://schemas.microsoft.com/office/drawing/2014/main" id="{A63D6D63-6EE8-2240-857A-52BC2651C8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5275" y="40084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70" name="Text Box 22">
            <a:extLst>
              <a:ext uri="{FF2B5EF4-FFF2-40B4-BE49-F238E27FC236}">
                <a16:creationId xmlns:a16="http://schemas.microsoft.com/office/drawing/2014/main" id="{9703F83B-2921-9A4F-8D4C-286391AB18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8338" y="24257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71" name="Text Box 23">
            <a:extLst>
              <a:ext uri="{FF2B5EF4-FFF2-40B4-BE49-F238E27FC236}">
                <a16:creationId xmlns:a16="http://schemas.microsoft.com/office/drawing/2014/main" id="{6662F0C1-6C25-1F43-89F9-E9FAF851D8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33607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72" name="Text Box 24">
            <a:extLst>
              <a:ext uri="{FF2B5EF4-FFF2-40B4-BE49-F238E27FC236}">
                <a16:creationId xmlns:a16="http://schemas.microsoft.com/office/drawing/2014/main" id="{A62E15AF-C0AE-5C44-BC18-3264283B1B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2038" y="414972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73" name="Text Box 25">
            <a:extLst>
              <a:ext uri="{FF2B5EF4-FFF2-40B4-BE49-F238E27FC236}">
                <a16:creationId xmlns:a16="http://schemas.microsoft.com/office/drawing/2014/main" id="{D9C3EBB2-729F-5140-A6B6-5BEC96577B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3613" y="41529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74" name="Text Box 26">
            <a:extLst>
              <a:ext uri="{FF2B5EF4-FFF2-40B4-BE49-F238E27FC236}">
                <a16:creationId xmlns:a16="http://schemas.microsoft.com/office/drawing/2014/main" id="{FD4EDDDE-8F82-5341-9F1F-7A1A359AA4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5" y="36480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75" name="Line 27">
            <a:extLst>
              <a:ext uri="{FF2B5EF4-FFF2-40B4-BE49-F238E27FC236}">
                <a16:creationId xmlns:a16="http://schemas.microsoft.com/office/drawing/2014/main" id="{E9FF32FB-FA2B-F64D-9097-885EBE6948AE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8175" y="2205038"/>
            <a:ext cx="1584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476" name="Text Box 28">
            <a:extLst>
              <a:ext uri="{FF2B5EF4-FFF2-40B4-BE49-F238E27FC236}">
                <a16:creationId xmlns:a16="http://schemas.microsoft.com/office/drawing/2014/main" id="{CAA7D1D2-36A9-4D44-A090-4A65BFED6B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75" y="19161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77" name="Oval 29">
            <a:extLst>
              <a:ext uri="{FF2B5EF4-FFF2-40B4-BE49-F238E27FC236}">
                <a16:creationId xmlns:a16="http://schemas.microsoft.com/office/drawing/2014/main" id="{1F289ABF-BDC6-7F48-82D0-76D6744D8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2313" y="32527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78" name="Oval 30">
            <a:extLst>
              <a:ext uri="{FF2B5EF4-FFF2-40B4-BE49-F238E27FC236}">
                <a16:creationId xmlns:a16="http://schemas.microsoft.com/office/drawing/2014/main" id="{62FCCA45-1ED3-A543-AD2D-ED096839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888" y="1989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79" name="Oval 31">
            <a:extLst>
              <a:ext uri="{FF2B5EF4-FFF2-40B4-BE49-F238E27FC236}">
                <a16:creationId xmlns:a16="http://schemas.microsoft.com/office/drawing/2014/main" id="{C4198052-39A0-4C45-8D2D-2E59B223ED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888" y="4652963"/>
            <a:ext cx="381000" cy="381000"/>
          </a:xfrm>
          <a:prstGeom prst="ellipse">
            <a:avLst/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80" name="Oval 32">
            <a:extLst>
              <a:ext uri="{FF2B5EF4-FFF2-40B4-BE49-F238E27FC236}">
                <a16:creationId xmlns:a16="http://schemas.microsoft.com/office/drawing/2014/main" id="{222FD140-63E6-8F40-9A0E-71716C541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9575" y="20129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81" name="Oval 33">
            <a:extLst>
              <a:ext uri="{FF2B5EF4-FFF2-40B4-BE49-F238E27FC236}">
                <a16:creationId xmlns:a16="http://schemas.microsoft.com/office/drawing/2014/main" id="{6FE98399-254A-CB42-B6BE-D8D04FBD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32527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482" name="Oval 34">
            <a:extLst>
              <a:ext uri="{FF2B5EF4-FFF2-40B4-BE49-F238E27FC236}">
                <a16:creationId xmlns:a16="http://schemas.microsoft.com/office/drawing/2014/main" id="{06B9943C-4016-BD4D-A09E-D404E63602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9575" y="45085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291" name="Line 35">
            <a:extLst>
              <a:ext uri="{FF2B5EF4-FFF2-40B4-BE49-F238E27FC236}">
                <a16:creationId xmlns:a16="http://schemas.microsoft.com/office/drawing/2014/main" id="{06D99A83-27EA-C84D-8982-0511906B6B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37188" y="2327275"/>
            <a:ext cx="719137" cy="1030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292" name="Line 36">
            <a:extLst>
              <a:ext uri="{FF2B5EF4-FFF2-40B4-BE49-F238E27FC236}">
                <a16:creationId xmlns:a16="http://schemas.microsoft.com/office/drawing/2014/main" id="{962C9AE2-1454-7241-A4D1-5FAA1E7AEA64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4163" y="3573463"/>
            <a:ext cx="792162" cy="1079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293" name="Line 37">
            <a:extLst>
              <a:ext uri="{FF2B5EF4-FFF2-40B4-BE49-F238E27FC236}">
                <a16:creationId xmlns:a16="http://schemas.microsoft.com/office/drawing/2014/main" id="{CDA6BE1B-FDB2-6B4F-8B68-94BF5729A5C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2225" y="2327275"/>
            <a:ext cx="720725" cy="957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294" name="Line 38">
            <a:extLst>
              <a:ext uri="{FF2B5EF4-FFF2-40B4-BE49-F238E27FC236}">
                <a16:creationId xmlns:a16="http://schemas.microsoft.com/office/drawing/2014/main" id="{8D89C7C0-814A-8F47-AA8E-6119C4CDF6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19850" y="3573463"/>
            <a:ext cx="744538" cy="1104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295" name="Line 39">
            <a:extLst>
              <a:ext uri="{FF2B5EF4-FFF2-40B4-BE49-F238E27FC236}">
                <a16:creationId xmlns:a16="http://schemas.microsoft.com/office/drawing/2014/main" id="{620BDD7F-B799-6949-A66A-DF4E6BFCEC8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32775" y="2374900"/>
            <a:ext cx="12700" cy="213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296" name="Text Box 40">
            <a:extLst>
              <a:ext uri="{FF2B5EF4-FFF2-40B4-BE49-F238E27FC236}">
                <a16:creationId xmlns:a16="http://schemas.microsoft.com/office/drawing/2014/main" id="{1B05B36A-E480-3747-84CF-F38413082B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5625" y="2565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297" name="Text Box 41">
            <a:extLst>
              <a:ext uri="{FF2B5EF4-FFF2-40B4-BE49-F238E27FC236}">
                <a16:creationId xmlns:a16="http://schemas.microsoft.com/office/drawing/2014/main" id="{AA65C3AE-E4A8-5547-A714-7C5F8EDBE3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5613" y="26368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298" name="Text Box 42">
            <a:extLst>
              <a:ext uri="{FF2B5EF4-FFF2-40B4-BE49-F238E27FC236}">
                <a16:creationId xmlns:a16="http://schemas.microsoft.com/office/drawing/2014/main" id="{5F579BD0-FEC8-BA45-A8AB-72F0B6C17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1850" y="33607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299" name="Text Box 43">
            <a:extLst>
              <a:ext uri="{FF2B5EF4-FFF2-40B4-BE49-F238E27FC236}">
                <a16:creationId xmlns:a16="http://schemas.microsoft.com/office/drawing/2014/main" id="{74E0A53B-6EAD-6E46-8064-1A42DFE751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4650" y="43735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300" name="Text Box 44">
            <a:extLst>
              <a:ext uri="{FF2B5EF4-FFF2-40B4-BE49-F238E27FC236}">
                <a16:creationId xmlns:a16="http://schemas.microsoft.com/office/drawing/2014/main" id="{9ACC0C58-3F05-7A41-B34A-29B272A7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0688" y="41529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301" name="Line 45">
            <a:extLst>
              <a:ext uri="{FF2B5EF4-FFF2-40B4-BE49-F238E27FC236}">
                <a16:creationId xmlns:a16="http://schemas.microsoft.com/office/drawing/2014/main" id="{9649C1AB-5CE8-9043-BF6F-8672217D9F13}"/>
              </a:ext>
            </a:extLst>
          </p:cNvPr>
          <p:cNvSpPr>
            <a:spLocks noChangeShapeType="1"/>
          </p:cNvSpPr>
          <p:nvPr/>
        </p:nvSpPr>
        <p:spPr bwMode="auto">
          <a:xfrm>
            <a:off x="6445250" y="2205038"/>
            <a:ext cx="1584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02" name="Text Box 46">
            <a:extLst>
              <a:ext uri="{FF2B5EF4-FFF2-40B4-BE49-F238E27FC236}">
                <a16:creationId xmlns:a16="http://schemas.microsoft.com/office/drawing/2014/main" id="{AF87F467-AE6D-F24B-852B-B9F55E08DC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2950" y="19161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303" name="Oval 47">
            <a:extLst>
              <a:ext uri="{FF2B5EF4-FFF2-40B4-BE49-F238E27FC236}">
                <a16:creationId xmlns:a16="http://schemas.microsoft.com/office/drawing/2014/main" id="{5B6491E3-9833-7B4E-8A6E-8E80F1928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3263900"/>
            <a:ext cx="381000" cy="381000"/>
          </a:xfrm>
          <a:prstGeom prst="ellipse">
            <a:avLst/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304" name="Oval 48">
            <a:extLst>
              <a:ext uri="{FF2B5EF4-FFF2-40B4-BE49-F238E27FC236}">
                <a16:creationId xmlns:a16="http://schemas.microsoft.com/office/drawing/2014/main" id="{E40159C0-092F-7D4F-A50D-DF45355E2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888" y="1989138"/>
            <a:ext cx="381000" cy="381000"/>
          </a:xfrm>
          <a:prstGeom prst="ellipse">
            <a:avLst/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305" name="Line 49">
            <a:extLst>
              <a:ext uri="{FF2B5EF4-FFF2-40B4-BE49-F238E27FC236}">
                <a16:creationId xmlns:a16="http://schemas.microsoft.com/office/drawing/2014/main" id="{B7494812-8841-EF40-BECF-DA4EDC5940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8225" y="3573463"/>
            <a:ext cx="720725" cy="946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06" name="Text Box 50">
            <a:extLst>
              <a:ext uri="{FF2B5EF4-FFF2-40B4-BE49-F238E27FC236}">
                <a16:creationId xmlns:a16="http://schemas.microsoft.com/office/drawing/2014/main" id="{FCCA6D38-2D7A-1142-8741-8C74DFFCE3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288" y="394652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307" name="Oval 51">
            <a:extLst>
              <a:ext uri="{FF2B5EF4-FFF2-40B4-BE49-F238E27FC236}">
                <a16:creationId xmlns:a16="http://schemas.microsoft.com/office/drawing/2014/main" id="{5F6DDFEA-5FBA-CC41-9BF4-BC6806916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0725" y="3263900"/>
            <a:ext cx="381000" cy="381000"/>
          </a:xfrm>
          <a:prstGeom prst="ellipse">
            <a:avLst/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308" name="Oval 52">
            <a:extLst>
              <a:ext uri="{FF2B5EF4-FFF2-40B4-BE49-F238E27FC236}">
                <a16:creationId xmlns:a16="http://schemas.microsoft.com/office/drawing/2014/main" id="{F89EC889-FBA1-9E4A-AD34-72653F7EA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7988" y="1989138"/>
            <a:ext cx="381000" cy="431800"/>
          </a:xfrm>
          <a:prstGeom prst="ellipse">
            <a:avLst/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309" name="Line 53">
            <a:extLst>
              <a:ext uri="{FF2B5EF4-FFF2-40B4-BE49-F238E27FC236}">
                <a16:creationId xmlns:a16="http://schemas.microsoft.com/office/drawing/2014/main" id="{7438AA95-7C5C-5842-9E4D-D9CFFACAC1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37288" y="2349500"/>
            <a:ext cx="0" cy="2303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10" name="Text Box 54">
            <a:extLst>
              <a:ext uri="{FF2B5EF4-FFF2-40B4-BE49-F238E27FC236}">
                <a16:creationId xmlns:a16="http://schemas.microsoft.com/office/drawing/2014/main" id="{36B251B2-69F9-6A49-8D77-2E2AE890A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4288" y="30686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24311" name="Oval 55">
            <a:extLst>
              <a:ext uri="{FF2B5EF4-FFF2-40B4-BE49-F238E27FC236}">
                <a16:creationId xmlns:a16="http://schemas.microsoft.com/office/drawing/2014/main" id="{456CE388-AB42-EE49-9748-ED9777665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7988" y="4508500"/>
            <a:ext cx="381000" cy="381000"/>
          </a:xfrm>
          <a:prstGeom prst="ellipse">
            <a:avLst/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504" name="Text Box 56">
            <a:extLst>
              <a:ext uri="{FF2B5EF4-FFF2-40B4-BE49-F238E27FC236}">
                <a16:creationId xmlns:a16="http://schemas.microsoft.com/office/drawing/2014/main" id="{A05FBCBF-D863-B447-B234-2F23F9662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1863" y="5157788"/>
            <a:ext cx="1870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最小生成树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4505" name="Text Box 57">
            <a:extLst>
              <a:ext uri="{FF2B5EF4-FFF2-40B4-BE49-F238E27FC236}">
                <a16:creationId xmlns:a16="http://schemas.microsoft.com/office/drawing/2014/main" id="{8E8E8918-E4AD-4B41-92D9-FBD12173BE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5157788"/>
            <a:ext cx="644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24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224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224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224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" dur="500"/>
                                        <p:tgtEl>
                                          <p:spTgt spid="224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224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224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3" dur="500"/>
                                        <p:tgtEl>
                                          <p:spTgt spid="224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24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1" dur="500"/>
                                        <p:tgtEl>
                                          <p:spTgt spid="224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5" dur="500"/>
                                        <p:tgtEl>
                                          <p:spTgt spid="224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0" dur="500"/>
                                        <p:tgtEl>
                                          <p:spTgt spid="224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224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7" dur="500"/>
                                        <p:tgtEl>
                                          <p:spTgt spid="224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0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2" dur="500"/>
                                        <p:tgtEl>
                                          <p:spTgt spid="224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6" dur="500"/>
                                        <p:tgtEl>
                                          <p:spTgt spid="224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1" dur="500"/>
                                        <p:tgtEl>
                                          <p:spTgt spid="224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4" dur="500"/>
                                        <p:tgtEl>
                                          <p:spTgt spid="224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9" dur="500"/>
                                        <p:tgtEl>
                                          <p:spTgt spid="224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4" dur="500"/>
                                        <p:tgtEl>
                                          <p:spTgt spid="224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7" dur="500"/>
                                        <p:tgtEl>
                                          <p:spTgt spid="224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2" dur="500"/>
                                        <p:tgtEl>
                                          <p:spTgt spid="224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224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9" dur="500"/>
                                        <p:tgtEl>
                                          <p:spTgt spid="224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4" dur="500"/>
                                        <p:tgtEl>
                                          <p:spTgt spid="224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8" dur="500"/>
                                        <p:tgtEl>
                                          <p:spTgt spid="224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3" dur="500"/>
                                        <p:tgtEl>
                                          <p:spTgt spid="224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296" grpId="0"/>
      <p:bldP spid="224297" grpId="0"/>
      <p:bldP spid="224298" grpId="0"/>
      <p:bldP spid="224299" grpId="0"/>
      <p:bldP spid="224299" grpId="1"/>
      <p:bldP spid="224300" grpId="0"/>
      <p:bldP spid="224302" grpId="0"/>
      <p:bldP spid="224303" grpId="0" animBg="1"/>
      <p:bldP spid="224304" grpId="0" animBg="1"/>
      <p:bldP spid="224306" grpId="0"/>
      <p:bldP spid="224306" grpId="1"/>
      <p:bldP spid="224307" grpId="0" animBg="1"/>
      <p:bldP spid="224308" grpId="0" animBg="1"/>
      <p:bldP spid="224310" grpId="0"/>
      <p:bldP spid="224310" grpId="1"/>
      <p:bldP spid="224311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灯片编号占位符 1">
            <a:extLst>
              <a:ext uri="{FF2B5EF4-FFF2-40B4-BE49-F238E27FC236}">
                <a16:creationId xmlns:a16="http://schemas.microsoft.com/office/drawing/2014/main" id="{CC47767E-4CFF-0C4B-9066-9B6EE830AA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C1B0769-6DE0-254F-8D4D-98C78AB860EB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06498" name="Text Box 2">
            <a:extLst>
              <a:ext uri="{FF2B5EF4-FFF2-40B4-BE49-F238E27FC236}">
                <a16:creationId xmlns:a16="http://schemas.microsoft.com/office/drawing/2014/main" id="{2357D317-8520-5D45-8A53-03DCB60A8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390525"/>
            <a:ext cx="29448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Prim</a:t>
            </a:r>
            <a:r>
              <a:rPr kumimoji="0" lang="zh-CN" altLang="en-US" sz="2800">
                <a:latin typeface="宋体" panose="02010600030101010101" pitchFamily="2" charset="-122"/>
              </a:rPr>
              <a:t>算法思想：</a:t>
            </a:r>
          </a:p>
        </p:txBody>
      </p:sp>
      <p:graphicFrame>
        <p:nvGraphicFramePr>
          <p:cNvPr id="226307" name="Group 3">
            <a:extLst>
              <a:ext uri="{FF2B5EF4-FFF2-40B4-BE49-F238E27FC236}">
                <a16:creationId xmlns:a16="http://schemas.microsoft.com/office/drawing/2014/main" id="{C355BF36-65A7-E14D-93A5-6F3AF764C8DD}"/>
              </a:ext>
            </a:extLst>
          </p:cNvPr>
          <p:cNvGraphicFramePr>
            <a:graphicFrameLocks noGrp="1"/>
          </p:cNvGraphicFramePr>
          <p:nvPr/>
        </p:nvGraphicFramePr>
        <p:xfrm>
          <a:off x="4606925" y="4127500"/>
          <a:ext cx="3695700" cy="1371600"/>
        </p:xfrm>
        <a:graphic>
          <a:graphicData uri="http://schemas.openxmlformats.org/drawingml/2006/table">
            <a:tbl>
              <a:tblPr/>
              <a:tblGrid>
                <a:gridCol w="615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85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6522" name="Text Box 35">
            <a:extLst>
              <a:ext uri="{FF2B5EF4-FFF2-40B4-BE49-F238E27FC236}">
                <a16:creationId xmlns:a16="http://schemas.microsoft.com/office/drawing/2014/main" id="{E9F269A6-6CC0-2A47-8F39-02210167C7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793750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  </a:t>
            </a:r>
            <a:r>
              <a:rPr kumimoji="0" lang="en-US" altLang="zh-CN" sz="2400">
                <a:latin typeface="宋体" panose="02010600030101010101" pitchFamily="2" charset="-122"/>
              </a:rPr>
              <a:t>  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3   1   6   6 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3       </a:t>
            </a:r>
            <a:r>
              <a:rPr kumimoji="0" lang="en-US" altLang="zh-CN" sz="2400">
                <a:latin typeface="Times New Roman" panose="02020603050405020304" pitchFamily="18" charset="0"/>
              </a:rPr>
              <a:t>∞     7      5       ∞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1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7     ∞      5       7       8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5      5     ∞       ∞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     7      ∞       ∞       4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∞      8       ∞     4       ∞</a:t>
            </a:r>
          </a:p>
        </p:txBody>
      </p:sp>
      <p:sp>
        <p:nvSpPr>
          <p:cNvPr id="106523" name="AutoShape 36">
            <a:extLst>
              <a:ext uri="{FF2B5EF4-FFF2-40B4-BE49-F238E27FC236}">
                <a16:creationId xmlns:a16="http://schemas.microsoft.com/office/drawing/2014/main" id="{7355F812-6331-6F48-8C03-824C3BDF0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793750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47142" name="AutoShape 37">
            <a:extLst>
              <a:ext uri="{FF2B5EF4-FFF2-40B4-BE49-F238E27FC236}">
                <a16:creationId xmlns:a16="http://schemas.microsoft.com/office/drawing/2014/main" id="{D6D01FD2-880B-4144-881A-667DB0CC6C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909638"/>
            <a:ext cx="457200" cy="3684587"/>
          </a:xfrm>
          <a:prstGeom prst="curvedLeftArrow">
            <a:avLst>
              <a:gd name="adj1" fmla="val 57980"/>
              <a:gd name="adj2" fmla="val 219161"/>
              <a:gd name="adj3" fmla="val 3333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6525" name="Text Box 38">
            <a:extLst>
              <a:ext uri="{FF2B5EF4-FFF2-40B4-BE49-F238E27FC236}">
                <a16:creationId xmlns:a16="http://schemas.microsoft.com/office/drawing/2014/main" id="{3BA2E708-8B00-854B-A379-15D3A74B24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4075" y="4941888"/>
            <a:ext cx="23764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相邻顶点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adjvex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06526" name="Text Box 39">
            <a:extLst>
              <a:ext uri="{FF2B5EF4-FFF2-40B4-BE49-F238E27FC236}">
                <a16:creationId xmlns:a16="http://schemas.microsoft.com/office/drawing/2014/main" id="{06CF4470-F17C-AC46-8B6E-6DA61EF320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0563" y="4078288"/>
            <a:ext cx="27400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V-U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中各顶点到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的最短边的长度：</a:t>
            </a:r>
          </a:p>
        </p:txBody>
      </p:sp>
      <p:sp>
        <p:nvSpPr>
          <p:cNvPr id="47145" name="Text Box 40">
            <a:extLst>
              <a:ext uri="{FF2B5EF4-FFF2-40B4-BE49-F238E27FC236}">
                <a16:creationId xmlns:a16="http://schemas.microsoft.com/office/drawing/2014/main" id="{AC71CDB6-C7B1-DC42-A2D9-BDF75187DB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94725" y="1936750"/>
            <a:ext cx="54927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FF0000"/>
                </a:solidFill>
                <a:latin typeface="宋体" panose="02010600030101010101" pitchFamily="2" charset="-122"/>
              </a:rPr>
              <a:t>初始化</a:t>
            </a:r>
          </a:p>
        </p:txBody>
      </p:sp>
      <p:sp>
        <p:nvSpPr>
          <p:cNvPr id="106528" name="Oval 41">
            <a:extLst>
              <a:ext uri="{FF2B5EF4-FFF2-40B4-BE49-F238E27FC236}">
                <a16:creationId xmlns:a16="http://schemas.microsoft.com/office/drawing/2014/main" id="{36CFE495-78D6-B346-BDC1-A685F33B6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11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29" name="Oval 42">
            <a:extLst>
              <a:ext uri="{FF2B5EF4-FFF2-40B4-BE49-F238E27FC236}">
                <a16:creationId xmlns:a16="http://schemas.microsoft.com/office/drawing/2014/main" id="{6A951ABC-A474-C840-B88E-D981474A7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788" y="1125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30" name="Oval 43">
            <a:extLst>
              <a:ext uri="{FF2B5EF4-FFF2-40B4-BE49-F238E27FC236}">
                <a16:creationId xmlns:a16="http://schemas.microsoft.com/office/drawing/2014/main" id="{F1C9782A-CA39-7F4A-AEF6-807A417C2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788" y="2573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31" name="Oval 44">
            <a:extLst>
              <a:ext uri="{FF2B5EF4-FFF2-40B4-BE49-F238E27FC236}">
                <a16:creationId xmlns:a16="http://schemas.microsoft.com/office/drawing/2014/main" id="{6B9B3AFD-FC2A-AE4C-98B0-B0D019833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4388" y="1125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32" name="Oval 45">
            <a:extLst>
              <a:ext uri="{FF2B5EF4-FFF2-40B4-BE49-F238E27FC236}">
                <a16:creationId xmlns:a16="http://schemas.microsoft.com/office/drawing/2014/main" id="{131C145E-9510-1143-846B-5B113B7DE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8" y="1811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33" name="Oval 46">
            <a:extLst>
              <a:ext uri="{FF2B5EF4-FFF2-40B4-BE49-F238E27FC236}">
                <a16:creationId xmlns:a16="http://schemas.microsoft.com/office/drawing/2014/main" id="{19047432-D741-A04A-864A-A09D70DFC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4388" y="23447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34" name="Text Box 47">
            <a:extLst>
              <a:ext uri="{FF2B5EF4-FFF2-40B4-BE49-F238E27FC236}">
                <a16:creationId xmlns:a16="http://schemas.microsoft.com/office/drawing/2014/main" id="{029D9548-80F1-0649-AEF0-DDFD17566E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4438" y="3030538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35" name="Line 48">
            <a:extLst>
              <a:ext uri="{FF2B5EF4-FFF2-40B4-BE49-F238E27FC236}">
                <a16:creationId xmlns:a16="http://schemas.microsoft.com/office/drawing/2014/main" id="{944428AE-B6D2-9049-9BD8-2F6A0EDCB9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4188" y="150653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36" name="Line 49">
            <a:extLst>
              <a:ext uri="{FF2B5EF4-FFF2-40B4-BE49-F238E27FC236}">
                <a16:creationId xmlns:a16="http://schemas.microsoft.com/office/drawing/2014/main" id="{024D830F-B8B2-CE49-A28E-1E7AB14AF1C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188" y="2192338"/>
            <a:ext cx="3048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37" name="Line 50">
            <a:extLst>
              <a:ext uri="{FF2B5EF4-FFF2-40B4-BE49-F238E27FC236}">
                <a16:creationId xmlns:a16="http://schemas.microsoft.com/office/drawing/2014/main" id="{102D57A2-C352-F842-85D5-CD0D21240011}"/>
              </a:ext>
            </a:extLst>
          </p:cNvPr>
          <p:cNvSpPr>
            <a:spLocks noChangeShapeType="1"/>
          </p:cNvSpPr>
          <p:nvPr/>
        </p:nvSpPr>
        <p:spPr bwMode="auto">
          <a:xfrm>
            <a:off x="560388" y="2039938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38" name="Line 51">
            <a:extLst>
              <a:ext uri="{FF2B5EF4-FFF2-40B4-BE49-F238E27FC236}">
                <a16:creationId xmlns:a16="http://schemas.microsoft.com/office/drawing/2014/main" id="{E2D8121A-F16E-7E4C-BF8B-A44D673055ED}"/>
              </a:ext>
            </a:extLst>
          </p:cNvPr>
          <p:cNvSpPr>
            <a:spLocks noChangeShapeType="1"/>
          </p:cNvSpPr>
          <p:nvPr/>
        </p:nvSpPr>
        <p:spPr bwMode="auto">
          <a:xfrm>
            <a:off x="865188" y="1506538"/>
            <a:ext cx="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39" name="Line 52">
            <a:extLst>
              <a:ext uri="{FF2B5EF4-FFF2-40B4-BE49-F238E27FC236}">
                <a16:creationId xmlns:a16="http://schemas.microsoft.com/office/drawing/2014/main" id="{0050DE80-13D5-0949-BDCB-BF156415E4A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7588" y="150653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40" name="Line 53">
            <a:extLst>
              <a:ext uri="{FF2B5EF4-FFF2-40B4-BE49-F238E27FC236}">
                <a16:creationId xmlns:a16="http://schemas.microsoft.com/office/drawing/2014/main" id="{0F8687A9-DCB4-7848-ABFF-8EDE4193D8E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17588" y="2192338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41" name="Line 54">
            <a:extLst>
              <a:ext uri="{FF2B5EF4-FFF2-40B4-BE49-F238E27FC236}">
                <a16:creationId xmlns:a16="http://schemas.microsoft.com/office/drawing/2014/main" id="{6D6E7CB9-D789-3745-8DEA-6D8E1906A7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03388" y="1506538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42" name="Line 55">
            <a:extLst>
              <a:ext uri="{FF2B5EF4-FFF2-40B4-BE49-F238E27FC236}">
                <a16:creationId xmlns:a16="http://schemas.microsoft.com/office/drawing/2014/main" id="{EC3389A8-1774-5440-A51F-E6C28647A00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03388" y="2039938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43" name="Line 56">
            <a:extLst>
              <a:ext uri="{FF2B5EF4-FFF2-40B4-BE49-F238E27FC236}">
                <a16:creationId xmlns:a16="http://schemas.microsoft.com/office/drawing/2014/main" id="{9A0990A0-F173-E648-84E4-EBD145736EB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36788" y="1506538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44" name="Text Box 57">
            <a:extLst>
              <a:ext uri="{FF2B5EF4-FFF2-40B4-BE49-F238E27FC236}">
                <a16:creationId xmlns:a16="http://schemas.microsoft.com/office/drawing/2014/main" id="{B527C5B9-F663-224F-B711-F1FDFFB20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15065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45" name="Text Box 58">
            <a:extLst>
              <a:ext uri="{FF2B5EF4-FFF2-40B4-BE49-F238E27FC236}">
                <a16:creationId xmlns:a16="http://schemas.microsoft.com/office/drawing/2014/main" id="{3290D10F-B965-6347-BC27-4182661CD0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3788" y="18272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46" name="Text Box 59">
            <a:extLst>
              <a:ext uri="{FF2B5EF4-FFF2-40B4-BE49-F238E27FC236}">
                <a16:creationId xmlns:a16="http://schemas.microsoft.com/office/drawing/2014/main" id="{A5392B3C-315B-BE46-A59B-4DB9AC9ABD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8" y="15224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47" name="Text Box 60">
            <a:extLst>
              <a:ext uri="{FF2B5EF4-FFF2-40B4-BE49-F238E27FC236}">
                <a16:creationId xmlns:a16="http://schemas.microsoft.com/office/drawing/2014/main" id="{5414DCA9-1EA5-CB40-82E7-E3E9F836A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588" y="22685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48" name="Text Box 61">
            <a:extLst>
              <a:ext uri="{FF2B5EF4-FFF2-40B4-BE49-F238E27FC236}">
                <a16:creationId xmlns:a16="http://schemas.microsoft.com/office/drawing/2014/main" id="{7256B545-C184-404D-8AB3-8CFE10882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588" y="15827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49" name="Text Box 62">
            <a:extLst>
              <a:ext uri="{FF2B5EF4-FFF2-40B4-BE49-F238E27FC236}">
                <a16:creationId xmlns:a16="http://schemas.microsoft.com/office/drawing/2014/main" id="{B41FD629-9A69-EC4F-A822-72A6F54C6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2988" y="18113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50" name="Text Box 63">
            <a:extLst>
              <a:ext uri="{FF2B5EF4-FFF2-40B4-BE49-F238E27FC236}">
                <a16:creationId xmlns:a16="http://schemas.microsoft.com/office/drawing/2014/main" id="{372BF9D8-F4B7-6F41-9F94-7F71CE7F09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2388" y="2344738"/>
            <a:ext cx="1524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51" name="Text Box 64">
            <a:extLst>
              <a:ext uri="{FF2B5EF4-FFF2-40B4-BE49-F238E27FC236}">
                <a16:creationId xmlns:a16="http://schemas.microsoft.com/office/drawing/2014/main" id="{1D2F268A-4673-BB49-B448-C50F3A500C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23606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52" name="Text Box 65">
            <a:extLst>
              <a:ext uri="{FF2B5EF4-FFF2-40B4-BE49-F238E27FC236}">
                <a16:creationId xmlns:a16="http://schemas.microsoft.com/office/drawing/2014/main" id="{51D51875-FBC4-B348-8009-288EF88C3B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1388" y="22685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53" name="Line 66">
            <a:extLst>
              <a:ext uri="{FF2B5EF4-FFF2-40B4-BE49-F238E27FC236}">
                <a16:creationId xmlns:a16="http://schemas.microsoft.com/office/drawing/2014/main" id="{CA6509B5-42B4-6842-AB9B-76F0C8A48C0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3788" y="1354138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54" name="Text Box 67">
            <a:extLst>
              <a:ext uri="{FF2B5EF4-FFF2-40B4-BE49-F238E27FC236}">
                <a16:creationId xmlns:a16="http://schemas.microsoft.com/office/drawing/2014/main" id="{DE4BBBCB-8892-F244-AD31-C03DC94C78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4788" y="11255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55" name="Oval 68">
            <a:extLst>
              <a:ext uri="{FF2B5EF4-FFF2-40B4-BE49-F238E27FC236}">
                <a16:creationId xmlns:a16="http://schemas.microsoft.com/office/drawing/2014/main" id="{0C1E5B87-91E2-B04D-8077-1055FAB02A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8" y="42640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226373" name="Group 69">
            <a:extLst>
              <a:ext uri="{FF2B5EF4-FFF2-40B4-BE49-F238E27FC236}">
                <a16:creationId xmlns:a16="http://schemas.microsoft.com/office/drawing/2014/main" id="{7B42FAE5-1469-5648-AF80-62EF6165D0A0}"/>
              </a:ext>
            </a:extLst>
          </p:cNvPr>
          <p:cNvGraphicFramePr>
            <a:graphicFrameLocks noGrp="1"/>
          </p:cNvGraphicFramePr>
          <p:nvPr/>
        </p:nvGraphicFramePr>
        <p:xfrm>
          <a:off x="4659313" y="5518150"/>
          <a:ext cx="3657600" cy="792192"/>
        </p:xfrm>
        <a:graphic>
          <a:graphicData uri="http://schemas.openxmlformats.org/drawingml/2006/table">
            <a:tbl>
              <a:tblPr/>
              <a:tblGrid>
                <a:gridCol w="6064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8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38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B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C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D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E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6569" name="Text Box 90">
            <a:extLst>
              <a:ext uri="{FF2B5EF4-FFF2-40B4-BE49-F238E27FC236}">
                <a16:creationId xmlns:a16="http://schemas.microsoft.com/office/drawing/2014/main" id="{1338C562-F3DD-8446-82CB-12D59114A3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260350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Times New Roman" panose="02020603050405020304" pitchFamily="18" charset="0"/>
              </a:rPr>
              <a:t> A     B     C     D       E       F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6570" name="Text Box 91">
            <a:extLst>
              <a:ext uri="{FF2B5EF4-FFF2-40B4-BE49-F238E27FC236}">
                <a16:creationId xmlns:a16="http://schemas.microsoft.com/office/drawing/2014/main" id="{2AADAA1A-4911-DA4D-91B2-40A460038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717550"/>
            <a:ext cx="457200" cy="319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47183" name="AutoShape 93">
            <a:extLst>
              <a:ext uri="{FF2B5EF4-FFF2-40B4-BE49-F238E27FC236}">
                <a16:creationId xmlns:a16="http://schemas.microsoft.com/office/drawing/2014/main" id="{70793A35-AD43-F349-B6EE-B42061258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3713" y="3141663"/>
            <a:ext cx="2303462" cy="792162"/>
          </a:xfrm>
          <a:prstGeom prst="wedgeRoundRectCallout">
            <a:avLst>
              <a:gd name="adj1" fmla="val 88426"/>
              <a:gd name="adj2" fmla="val 99208"/>
              <a:gd name="adj3" fmla="val 16667"/>
            </a:avLst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0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表示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中的顶点，其它为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V-U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的顶点</a:t>
            </a:r>
            <a:endParaRPr lang="zh-CN" altLang="en-US" sz="2000">
              <a:latin typeface="宋体" panose="02010600030101010101" pitchFamily="2" charset="-122"/>
            </a:endParaRPr>
          </a:p>
        </p:txBody>
      </p:sp>
      <p:graphicFrame>
        <p:nvGraphicFramePr>
          <p:cNvPr id="46" name="表格 45">
            <a:extLst>
              <a:ext uri="{FF2B5EF4-FFF2-40B4-BE49-F238E27FC236}">
                <a16:creationId xmlns:a16="http://schemas.microsoft.com/office/drawing/2014/main" id="{CBFA4EB6-D37E-3446-9AAA-7BFD4DE04564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4221163"/>
          <a:ext cx="3671886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19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rgbClr val="FFFF00"/>
                          </a:solidFill>
                        </a:rPr>
                        <a:t>0</a:t>
                      </a:r>
                      <a:endParaRPr lang="zh-CN" altLang="en-US" sz="2400" dirty="0">
                        <a:solidFill>
                          <a:srgbClr val="FFFF00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lnR w="12700" cmpd="sng">
                      <a:noFill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宋体" pitchFamily="2" charset="-122"/>
                        </a:rPr>
                        <a:t>∞</a:t>
                      </a:r>
                    </a:p>
                  </a:txBody>
                  <a:tcPr marL="91427" marR="91427" marT="45790" marB="4579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7" name="表格 46">
            <a:extLst>
              <a:ext uri="{FF2B5EF4-FFF2-40B4-BE49-F238E27FC236}">
                <a16:creationId xmlns:a16="http://schemas.microsoft.com/office/drawing/2014/main" id="{D0CE9DEF-15A9-BA44-91C3-9C47D688BAE1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4868863"/>
          <a:ext cx="3671887" cy="504825"/>
        </p:xfrm>
        <a:graphic>
          <a:graphicData uri="http://schemas.openxmlformats.org/drawingml/2006/table">
            <a:tbl>
              <a:tblPr/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1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47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47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47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42" grpId="0" animBg="1"/>
      <p:bldP spid="47145" grpId="0"/>
      <p:bldP spid="47183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9" name="表格 58">
            <a:extLst>
              <a:ext uri="{FF2B5EF4-FFF2-40B4-BE49-F238E27FC236}">
                <a16:creationId xmlns:a16="http://schemas.microsoft.com/office/drawing/2014/main" id="{54FDBBB3-184D-AA4E-920F-698A7AAFEE22}"/>
              </a:ext>
            </a:extLst>
          </p:cNvPr>
          <p:cNvGraphicFramePr>
            <a:graphicFrameLocks noGrp="1"/>
          </p:cNvGraphicFramePr>
          <p:nvPr/>
        </p:nvGraphicFramePr>
        <p:xfrm>
          <a:off x="4681538" y="4818063"/>
          <a:ext cx="3671886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19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宋体" pitchFamily="2" charset="-122"/>
                        </a:rPr>
                        <a:t>A</a:t>
                      </a:r>
                      <a:endParaRPr lang="zh-CN" altLang="en-US" sz="2400" dirty="0">
                        <a:solidFill>
                          <a:srgbClr val="FF0000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lnR w="12700" cmpd="sng">
                      <a:noFill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27" marR="91427" marT="45790" marB="4579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1" name="表格 60">
            <a:extLst>
              <a:ext uri="{FF2B5EF4-FFF2-40B4-BE49-F238E27FC236}">
                <a16:creationId xmlns:a16="http://schemas.microsoft.com/office/drawing/2014/main" id="{97A5A67D-A962-3C4B-8E82-431545841921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4149725"/>
          <a:ext cx="3671886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19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rgbClr val="FFFF00"/>
                          </a:solidFill>
                        </a:rPr>
                        <a:t>0</a:t>
                      </a:r>
                      <a:endParaRPr lang="zh-CN" altLang="en-US" sz="2400" dirty="0">
                        <a:solidFill>
                          <a:srgbClr val="FFFF00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lnR w="12700" cmpd="sng">
                      <a:noFill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27" marR="91427" marT="45790" marB="4579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8573" name="灯片编号占位符 1">
            <a:extLst>
              <a:ext uri="{FF2B5EF4-FFF2-40B4-BE49-F238E27FC236}">
                <a16:creationId xmlns:a16="http://schemas.microsoft.com/office/drawing/2014/main" id="{2F319EF0-5721-5E48-90C0-F61672C4A89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832DF36-2CAD-354F-968C-B527D240363A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08574" name="Text Box 2">
            <a:extLst>
              <a:ext uri="{FF2B5EF4-FFF2-40B4-BE49-F238E27FC236}">
                <a16:creationId xmlns:a16="http://schemas.microsoft.com/office/drawing/2014/main" id="{3C6C0112-82F8-0E49-BBBD-9C9E2A2D32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388938"/>
            <a:ext cx="2590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Prim</a:t>
            </a:r>
            <a:r>
              <a:rPr kumimoji="0" lang="zh-CN" altLang="en-US" sz="2800">
                <a:latin typeface="宋体" panose="02010600030101010101" pitchFamily="2" charset="-122"/>
              </a:rPr>
              <a:t>算法：</a:t>
            </a:r>
          </a:p>
        </p:txBody>
      </p:sp>
      <p:sp>
        <p:nvSpPr>
          <p:cNvPr id="108575" name="Text Box 35">
            <a:extLst>
              <a:ext uri="{FF2B5EF4-FFF2-40B4-BE49-F238E27FC236}">
                <a16:creationId xmlns:a16="http://schemas.microsoft.com/office/drawing/2014/main" id="{508DCEF3-762C-D84E-9015-DCE407309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609600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  </a:t>
            </a:r>
            <a:r>
              <a:rPr kumimoji="0" lang="en-US" altLang="zh-CN" sz="2400">
                <a:latin typeface="宋体" panose="02010600030101010101" pitchFamily="2" charset="-122"/>
              </a:rPr>
              <a:t>  3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 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1</a:t>
            </a:r>
            <a:r>
              <a:rPr kumimoji="0" lang="en-US" altLang="zh-CN" sz="2400">
                <a:latin typeface="宋体" panose="02010600030101010101" pitchFamily="2" charset="-122"/>
              </a:rPr>
              <a:t>   6    6  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3</a:t>
            </a: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latin typeface="Times New Roman" panose="02020603050405020304" pitchFamily="18" charset="0"/>
              </a:rPr>
              <a:t>∞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5       ∞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1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    5        7       8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5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       ∞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∞       ∞       4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∞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8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       4       ∞</a:t>
            </a:r>
          </a:p>
        </p:txBody>
      </p:sp>
      <p:sp>
        <p:nvSpPr>
          <p:cNvPr id="108576" name="AutoShape 36">
            <a:extLst>
              <a:ext uri="{FF2B5EF4-FFF2-40B4-BE49-F238E27FC236}">
                <a16:creationId xmlns:a16="http://schemas.microsoft.com/office/drawing/2014/main" id="{0ABE8BCF-912C-E243-9501-7D7D5B0A1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609600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08577" name="Text Box 37">
            <a:extLst>
              <a:ext uri="{FF2B5EF4-FFF2-40B4-BE49-F238E27FC236}">
                <a16:creationId xmlns:a16="http://schemas.microsoft.com/office/drawing/2014/main" id="{6F566C93-9269-E548-9023-8250192B1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333375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Times New Roman" panose="02020603050405020304" pitchFamily="18" charset="0"/>
              </a:rPr>
              <a:t> A     B     C     D       E       F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78" name="Text Box 38">
            <a:extLst>
              <a:ext uri="{FF2B5EF4-FFF2-40B4-BE49-F238E27FC236}">
                <a16:creationId xmlns:a16="http://schemas.microsoft.com/office/drawing/2014/main" id="{26E63B1F-FDBC-B742-942F-7131C709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533400"/>
            <a:ext cx="457200" cy="319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108579" name="Oval 40">
            <a:extLst>
              <a:ext uri="{FF2B5EF4-FFF2-40B4-BE49-F238E27FC236}">
                <a16:creationId xmlns:a16="http://schemas.microsoft.com/office/drawing/2014/main" id="{C826B960-A6B8-064D-BC8F-78B119CBF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1828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80" name="Oval 41">
            <a:extLst>
              <a:ext uri="{FF2B5EF4-FFF2-40B4-BE49-F238E27FC236}">
                <a16:creationId xmlns:a16="http://schemas.microsoft.com/office/drawing/2014/main" id="{9E99E080-4DD2-0F4F-A8D1-F81F748F7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1143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81" name="Oval 42">
            <a:extLst>
              <a:ext uri="{FF2B5EF4-FFF2-40B4-BE49-F238E27FC236}">
                <a16:creationId xmlns:a16="http://schemas.microsoft.com/office/drawing/2014/main" id="{FECBBEFC-6999-054C-BC75-9E45F562A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2590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82" name="Oval 43">
            <a:extLst>
              <a:ext uri="{FF2B5EF4-FFF2-40B4-BE49-F238E27FC236}">
                <a16:creationId xmlns:a16="http://schemas.microsoft.com/office/drawing/2014/main" id="{FF883DD0-EEB8-9C4A-B7B5-242DE7EE7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1143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83" name="Oval 44">
            <a:extLst>
              <a:ext uri="{FF2B5EF4-FFF2-40B4-BE49-F238E27FC236}">
                <a16:creationId xmlns:a16="http://schemas.microsoft.com/office/drawing/2014/main" id="{73892401-8B36-F94A-A5A5-54A029BA4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28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84" name="Oval 45">
            <a:extLst>
              <a:ext uri="{FF2B5EF4-FFF2-40B4-BE49-F238E27FC236}">
                <a16:creationId xmlns:a16="http://schemas.microsoft.com/office/drawing/2014/main" id="{BB3EA143-5F39-5647-8CE2-5E16C32C2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2362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85" name="Text Box 46">
            <a:extLst>
              <a:ext uri="{FF2B5EF4-FFF2-40B4-BE49-F238E27FC236}">
                <a16:creationId xmlns:a16="http://schemas.microsoft.com/office/drawing/2014/main" id="{80A42FED-6C8B-1E41-86A7-9AB4B699C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3048000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86" name="Line 47">
            <a:extLst>
              <a:ext uri="{FF2B5EF4-FFF2-40B4-BE49-F238E27FC236}">
                <a16:creationId xmlns:a16="http://schemas.microsoft.com/office/drawing/2014/main" id="{2B6C30CB-54C3-CE44-8EFD-C39201509A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" y="152400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587" name="Line 48">
            <a:extLst>
              <a:ext uri="{FF2B5EF4-FFF2-40B4-BE49-F238E27FC236}">
                <a16:creationId xmlns:a16="http://schemas.microsoft.com/office/drawing/2014/main" id="{F82BB6A1-AF2E-FB4D-B626-EC33FEED863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000" y="2209800"/>
            <a:ext cx="3048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588" name="Line 49">
            <a:extLst>
              <a:ext uri="{FF2B5EF4-FFF2-40B4-BE49-F238E27FC236}">
                <a16:creationId xmlns:a16="http://schemas.microsoft.com/office/drawing/2014/main" id="{316CE2BB-B06F-9C4C-8CAF-C77976E609DC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00" y="2057400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589" name="Line 50">
            <a:extLst>
              <a:ext uri="{FF2B5EF4-FFF2-40B4-BE49-F238E27FC236}">
                <a16:creationId xmlns:a16="http://schemas.microsoft.com/office/drawing/2014/main" id="{910DEC66-F76B-8241-899E-5867226F40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1524000"/>
            <a:ext cx="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590" name="Line 51">
            <a:extLst>
              <a:ext uri="{FF2B5EF4-FFF2-40B4-BE49-F238E27FC236}">
                <a16:creationId xmlns:a16="http://schemas.microsoft.com/office/drawing/2014/main" id="{50E27205-B7D5-4C40-B098-1F4E969DC443}"/>
              </a:ext>
            </a:extLst>
          </p:cNvPr>
          <p:cNvSpPr>
            <a:spLocks noChangeShapeType="1"/>
          </p:cNvSpPr>
          <p:nvPr/>
        </p:nvSpPr>
        <p:spPr bwMode="auto">
          <a:xfrm>
            <a:off x="1295400" y="152400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591" name="Line 52">
            <a:extLst>
              <a:ext uri="{FF2B5EF4-FFF2-40B4-BE49-F238E27FC236}">
                <a16:creationId xmlns:a16="http://schemas.microsoft.com/office/drawing/2014/main" id="{1F9D06DE-848A-E241-AA3E-B701977890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2209800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592" name="Line 53">
            <a:extLst>
              <a:ext uri="{FF2B5EF4-FFF2-40B4-BE49-F238E27FC236}">
                <a16:creationId xmlns:a16="http://schemas.microsoft.com/office/drawing/2014/main" id="{DAB31C79-3457-554E-AEC3-71FDE79F11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81200" y="1524000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593" name="Line 54">
            <a:extLst>
              <a:ext uri="{FF2B5EF4-FFF2-40B4-BE49-F238E27FC236}">
                <a16:creationId xmlns:a16="http://schemas.microsoft.com/office/drawing/2014/main" id="{8DAF762B-9937-7F48-910E-D4CEB34ADA82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1200" y="2057400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594" name="Line 55">
            <a:extLst>
              <a:ext uri="{FF2B5EF4-FFF2-40B4-BE49-F238E27FC236}">
                <a16:creationId xmlns:a16="http://schemas.microsoft.com/office/drawing/2014/main" id="{13778D5B-264C-1C43-8706-7FB1A85BF82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1524000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595" name="Text Box 56">
            <a:extLst>
              <a:ext uri="{FF2B5EF4-FFF2-40B4-BE49-F238E27FC236}">
                <a16:creationId xmlns:a16="http://schemas.microsoft.com/office/drawing/2014/main" id="{E5A885A0-44B5-4645-817A-4D7D06DD7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524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96" name="Text Box 57">
            <a:extLst>
              <a:ext uri="{FF2B5EF4-FFF2-40B4-BE49-F238E27FC236}">
                <a16:creationId xmlns:a16="http://schemas.microsoft.com/office/drawing/2014/main" id="{411AAFDD-3076-4344-9D5B-18C71C60F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18446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97" name="Text Box 58">
            <a:extLst>
              <a:ext uri="{FF2B5EF4-FFF2-40B4-BE49-F238E27FC236}">
                <a16:creationId xmlns:a16="http://schemas.microsoft.com/office/drawing/2014/main" id="{201B7BEC-DCB2-7848-91A0-C53FACC215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5398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98" name="Text Box 59">
            <a:extLst>
              <a:ext uri="{FF2B5EF4-FFF2-40B4-BE49-F238E27FC236}">
                <a16:creationId xmlns:a16="http://schemas.microsoft.com/office/drawing/2014/main" id="{7174DCA4-D2A8-E04F-BF75-E46D4A5421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286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599" name="Text Box 60">
            <a:extLst>
              <a:ext uri="{FF2B5EF4-FFF2-40B4-BE49-F238E27FC236}">
                <a16:creationId xmlns:a16="http://schemas.microsoft.com/office/drawing/2014/main" id="{586C1984-453E-764B-BF39-276DD7B592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6002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600" name="Text Box 61">
            <a:extLst>
              <a:ext uri="{FF2B5EF4-FFF2-40B4-BE49-F238E27FC236}">
                <a16:creationId xmlns:a16="http://schemas.microsoft.com/office/drawing/2014/main" id="{8FCBD6DA-B5F1-7E4E-B47D-E69FC8887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8288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601" name="Text Box 62">
            <a:extLst>
              <a:ext uri="{FF2B5EF4-FFF2-40B4-BE49-F238E27FC236}">
                <a16:creationId xmlns:a16="http://schemas.microsoft.com/office/drawing/2014/main" id="{DA3E1D10-8777-0241-AA5C-472B92059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2362200"/>
            <a:ext cx="1524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zh-CN" sz="2000" noProof="1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08602" name="Text Box 63">
            <a:extLst>
              <a:ext uri="{FF2B5EF4-FFF2-40B4-BE49-F238E27FC236}">
                <a16:creationId xmlns:a16="http://schemas.microsoft.com/office/drawing/2014/main" id="{B6408799-5135-D049-B68D-17CDB16ED8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23780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603" name="Text Box 64">
            <a:extLst>
              <a:ext uri="{FF2B5EF4-FFF2-40B4-BE49-F238E27FC236}">
                <a16:creationId xmlns:a16="http://schemas.microsoft.com/office/drawing/2014/main" id="{7FCCB68C-C6D8-7A41-A836-0A54ADF48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2286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604" name="Line 65">
            <a:extLst>
              <a:ext uri="{FF2B5EF4-FFF2-40B4-BE49-F238E27FC236}">
                <a16:creationId xmlns:a16="http://schemas.microsoft.com/office/drawing/2014/main" id="{2615D6FD-0F29-3847-B6D3-297F3432D1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1600" y="1371600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605" name="Text Box 66">
            <a:extLst>
              <a:ext uri="{FF2B5EF4-FFF2-40B4-BE49-F238E27FC236}">
                <a16:creationId xmlns:a16="http://schemas.microsoft.com/office/drawing/2014/main" id="{6D8984D1-EE60-FA4B-B638-193A6456F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143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8196" name="Oval 67">
            <a:extLst>
              <a:ext uri="{FF2B5EF4-FFF2-40B4-BE49-F238E27FC236}">
                <a16:creationId xmlns:a16="http://schemas.microsoft.com/office/drawing/2014/main" id="{7E145391-E7AB-2F4D-B973-D15C7177DE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4875" y="47625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08607" name="Oval 68">
            <a:extLst>
              <a:ext uri="{FF2B5EF4-FFF2-40B4-BE49-F238E27FC236}">
                <a16:creationId xmlns:a16="http://schemas.microsoft.com/office/drawing/2014/main" id="{7F61CC26-4290-4C4C-9EA4-E4C543907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40767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8198" name="Line 69">
            <a:extLst>
              <a:ext uri="{FF2B5EF4-FFF2-40B4-BE49-F238E27FC236}">
                <a16:creationId xmlns:a16="http://schemas.microsoft.com/office/drawing/2014/main" id="{CC96FE02-EA8F-224D-B9AD-0229134D7FB6}"/>
              </a:ext>
            </a:extLst>
          </p:cNvPr>
          <p:cNvSpPr>
            <a:spLocks noChangeShapeType="1"/>
          </p:cNvSpPr>
          <p:nvPr/>
        </p:nvSpPr>
        <p:spPr bwMode="auto">
          <a:xfrm>
            <a:off x="1870075" y="445770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99" name="Text Box 70">
            <a:extLst>
              <a:ext uri="{FF2B5EF4-FFF2-40B4-BE49-F238E27FC236}">
                <a16:creationId xmlns:a16="http://schemas.microsoft.com/office/drawing/2014/main" id="{DCC16330-13E4-8345-AEDD-2A3B2345B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8675" y="44735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pSp>
        <p:nvGrpSpPr>
          <p:cNvPr id="2" name="Group 126">
            <a:extLst>
              <a:ext uri="{FF2B5EF4-FFF2-40B4-BE49-F238E27FC236}">
                <a16:creationId xmlns:a16="http://schemas.microsoft.com/office/drawing/2014/main" id="{D2ACF77D-3CBD-C744-BC31-2DF061E1558B}"/>
              </a:ext>
            </a:extLst>
          </p:cNvPr>
          <p:cNvGrpSpPr>
            <a:grpSpLocks/>
          </p:cNvGrpSpPr>
          <p:nvPr/>
        </p:nvGrpSpPr>
        <p:grpSpPr bwMode="auto">
          <a:xfrm>
            <a:off x="8534400" y="1905000"/>
            <a:ext cx="609600" cy="2532063"/>
            <a:chOff x="5376" y="1248"/>
            <a:chExt cx="384" cy="1440"/>
          </a:xfrm>
        </p:grpSpPr>
        <p:sp>
          <p:nvSpPr>
            <p:cNvPr id="108708" name="AutoShape 127">
              <a:extLst>
                <a:ext uri="{FF2B5EF4-FFF2-40B4-BE49-F238E27FC236}">
                  <a16:creationId xmlns:a16="http://schemas.microsoft.com/office/drawing/2014/main" id="{BA05A4F5-A766-EC46-8657-D31A36593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6" y="1248"/>
              <a:ext cx="384" cy="1440"/>
            </a:xfrm>
            <a:prstGeom prst="upDownArrow">
              <a:avLst>
                <a:gd name="adj1" fmla="val 50000"/>
                <a:gd name="adj2" fmla="val 75000"/>
              </a:avLst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endParaRP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比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较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大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小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08709" name="Line 128">
              <a:extLst>
                <a:ext uri="{FF2B5EF4-FFF2-40B4-BE49-F238E27FC236}">
                  <a16:creationId xmlns:a16="http://schemas.microsoft.com/office/drawing/2014/main" id="{F5021200-825A-2E48-BC7D-2B1FF49597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76" y="124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0" name="Line 129">
              <a:extLst>
                <a:ext uri="{FF2B5EF4-FFF2-40B4-BE49-F238E27FC236}">
                  <a16:creationId xmlns:a16="http://schemas.microsoft.com/office/drawing/2014/main" id="{7D279F66-6A1A-C240-BA9F-3B6CF170B3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76" y="268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aphicFrame>
        <p:nvGraphicFramePr>
          <p:cNvPr id="56" name="Group 3">
            <a:extLst>
              <a:ext uri="{FF2B5EF4-FFF2-40B4-BE49-F238E27FC236}">
                <a16:creationId xmlns:a16="http://schemas.microsoft.com/office/drawing/2014/main" id="{6BB6B3A3-157E-2C47-8135-3FF38FD171A3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4076700"/>
          <a:ext cx="3695700" cy="1371600"/>
        </p:xfrm>
        <a:graphic>
          <a:graphicData uri="http://schemas.openxmlformats.org/drawingml/2006/table">
            <a:tbl>
              <a:tblPr/>
              <a:tblGrid>
                <a:gridCol w="615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85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58" name="表格 57">
            <a:extLst>
              <a:ext uri="{FF2B5EF4-FFF2-40B4-BE49-F238E27FC236}">
                <a16:creationId xmlns:a16="http://schemas.microsoft.com/office/drawing/2014/main" id="{604D8BE3-DDB8-3847-9F84-B20B6640F8E9}"/>
              </a:ext>
            </a:extLst>
          </p:cNvPr>
          <p:cNvGraphicFramePr>
            <a:graphicFrameLocks noGrp="1"/>
          </p:cNvGraphicFramePr>
          <p:nvPr/>
        </p:nvGraphicFramePr>
        <p:xfrm>
          <a:off x="5903913" y="4149725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0" name="Group 69">
            <a:extLst>
              <a:ext uri="{FF2B5EF4-FFF2-40B4-BE49-F238E27FC236}">
                <a16:creationId xmlns:a16="http://schemas.microsoft.com/office/drawing/2014/main" id="{8378191F-A0CA-2C4D-81A8-719924A89240}"/>
              </a:ext>
            </a:extLst>
          </p:cNvPr>
          <p:cNvGraphicFramePr>
            <a:graphicFrameLocks noGrp="1"/>
          </p:cNvGraphicFramePr>
          <p:nvPr/>
        </p:nvGraphicFramePr>
        <p:xfrm>
          <a:off x="4659313" y="5445125"/>
          <a:ext cx="3657600" cy="792192"/>
        </p:xfrm>
        <a:graphic>
          <a:graphicData uri="http://schemas.openxmlformats.org/drawingml/2006/table">
            <a:tbl>
              <a:tblPr/>
              <a:tblGrid>
                <a:gridCol w="6064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8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38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B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C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D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E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3" name="表格 62">
            <a:extLst>
              <a:ext uri="{FF2B5EF4-FFF2-40B4-BE49-F238E27FC236}">
                <a16:creationId xmlns:a16="http://schemas.microsoft.com/office/drawing/2014/main" id="{845056BF-29C5-7F42-9A14-E2A1446DEDA3}"/>
              </a:ext>
            </a:extLst>
          </p:cNvPr>
          <p:cNvGraphicFramePr>
            <a:graphicFrameLocks noGrp="1"/>
          </p:cNvGraphicFramePr>
          <p:nvPr/>
        </p:nvGraphicFramePr>
        <p:xfrm>
          <a:off x="5903913" y="4149725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rgbClr val="FFFF00"/>
                          </a:solidFill>
                        </a:rPr>
                        <a:t>0</a:t>
                      </a:r>
                      <a:endParaRPr lang="zh-CN" altLang="en-US" sz="2400" dirty="0">
                        <a:solidFill>
                          <a:srgbClr val="FFFF00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4" name="表格 63">
            <a:extLst>
              <a:ext uri="{FF2B5EF4-FFF2-40B4-BE49-F238E27FC236}">
                <a16:creationId xmlns:a16="http://schemas.microsoft.com/office/drawing/2014/main" id="{C932FB62-FBF0-D643-9BB5-04D2C5F7C320}"/>
              </a:ext>
            </a:extLst>
          </p:cNvPr>
          <p:cNvGraphicFramePr>
            <a:graphicFrameLocks noGrp="1"/>
          </p:cNvGraphicFramePr>
          <p:nvPr/>
        </p:nvGraphicFramePr>
        <p:xfrm>
          <a:off x="7732713" y="481171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C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表格 64">
            <a:extLst>
              <a:ext uri="{FF2B5EF4-FFF2-40B4-BE49-F238E27FC236}">
                <a16:creationId xmlns:a16="http://schemas.microsoft.com/office/drawing/2014/main" id="{897FCF24-8457-524F-8875-7796C1DB9813}"/>
              </a:ext>
            </a:extLst>
          </p:cNvPr>
          <p:cNvGraphicFramePr>
            <a:graphicFrameLocks noGrp="1"/>
          </p:cNvGraphicFramePr>
          <p:nvPr/>
        </p:nvGraphicFramePr>
        <p:xfrm>
          <a:off x="7718425" y="481171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表格 65">
            <a:extLst>
              <a:ext uri="{FF2B5EF4-FFF2-40B4-BE49-F238E27FC236}">
                <a16:creationId xmlns:a16="http://schemas.microsoft.com/office/drawing/2014/main" id="{44F199E9-7A4E-9543-AE89-399B9DCC6A8C}"/>
              </a:ext>
            </a:extLst>
          </p:cNvPr>
          <p:cNvGraphicFramePr>
            <a:graphicFrameLocks noGrp="1"/>
          </p:cNvGraphicFramePr>
          <p:nvPr/>
        </p:nvGraphicFramePr>
        <p:xfrm>
          <a:off x="7747000" y="4148138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8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7" name="表格 66">
            <a:extLst>
              <a:ext uri="{FF2B5EF4-FFF2-40B4-BE49-F238E27FC236}">
                <a16:creationId xmlns:a16="http://schemas.microsoft.com/office/drawing/2014/main" id="{486162AA-A6C6-8649-9992-6BEE636AADDD}"/>
              </a:ext>
            </a:extLst>
          </p:cNvPr>
          <p:cNvGraphicFramePr>
            <a:graphicFrameLocks noGrp="1"/>
          </p:cNvGraphicFramePr>
          <p:nvPr/>
        </p:nvGraphicFramePr>
        <p:xfrm>
          <a:off x="7740650" y="4149725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宋体" pitchFamily="2" charset="-122"/>
                        </a:rPr>
                        <a:t>∞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8" name="表格 67">
            <a:extLst>
              <a:ext uri="{FF2B5EF4-FFF2-40B4-BE49-F238E27FC236}">
                <a16:creationId xmlns:a16="http://schemas.microsoft.com/office/drawing/2014/main" id="{6D9A2C19-B7CC-D94C-ABE6-F033F5EAE971}"/>
              </a:ext>
            </a:extLst>
          </p:cNvPr>
          <p:cNvGraphicFramePr>
            <a:graphicFrameLocks noGrp="1"/>
          </p:cNvGraphicFramePr>
          <p:nvPr/>
        </p:nvGraphicFramePr>
        <p:xfrm>
          <a:off x="6480175" y="416401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0" name="表格 69">
            <a:extLst>
              <a:ext uri="{FF2B5EF4-FFF2-40B4-BE49-F238E27FC236}">
                <a16:creationId xmlns:a16="http://schemas.microsoft.com/office/drawing/2014/main" id="{0D3A4BB1-492B-A249-95C0-C6DF4AF6C43B}"/>
              </a:ext>
            </a:extLst>
          </p:cNvPr>
          <p:cNvGraphicFramePr>
            <a:graphicFrameLocks noGrp="1"/>
          </p:cNvGraphicFramePr>
          <p:nvPr/>
        </p:nvGraphicFramePr>
        <p:xfrm>
          <a:off x="6502400" y="481171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C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1" name="表格 70">
            <a:extLst>
              <a:ext uri="{FF2B5EF4-FFF2-40B4-BE49-F238E27FC236}">
                <a16:creationId xmlns:a16="http://schemas.microsoft.com/office/drawing/2014/main" id="{29759764-8D6D-9044-B4A1-85E495435139}"/>
              </a:ext>
            </a:extLst>
          </p:cNvPr>
          <p:cNvGraphicFramePr>
            <a:graphicFrameLocks noGrp="1"/>
          </p:cNvGraphicFramePr>
          <p:nvPr/>
        </p:nvGraphicFramePr>
        <p:xfrm>
          <a:off x="6502400" y="4178300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2" name="表格 71">
            <a:extLst>
              <a:ext uri="{FF2B5EF4-FFF2-40B4-BE49-F238E27FC236}">
                <a16:creationId xmlns:a16="http://schemas.microsoft.com/office/drawing/2014/main" id="{1348E295-2B13-0C42-9A7F-85D0D7A1D3F0}"/>
              </a:ext>
            </a:extLst>
          </p:cNvPr>
          <p:cNvGraphicFramePr>
            <a:graphicFrameLocks noGrp="1"/>
          </p:cNvGraphicFramePr>
          <p:nvPr/>
        </p:nvGraphicFramePr>
        <p:xfrm>
          <a:off x="6494463" y="481171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3" name="上下箭头 72">
            <a:extLst>
              <a:ext uri="{FF2B5EF4-FFF2-40B4-BE49-F238E27FC236}">
                <a16:creationId xmlns:a16="http://schemas.microsoft.com/office/drawing/2014/main" id="{BAF5143E-94A3-5446-B633-2A515BCEC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888" y="5229225"/>
            <a:ext cx="215900" cy="576263"/>
          </a:xfrm>
          <a:prstGeom prst="upDownArrow">
            <a:avLst>
              <a:gd name="adj1" fmla="val 50000"/>
              <a:gd name="adj2" fmla="val 50046"/>
            </a:avLst>
          </a:prstGeom>
          <a:solidFill>
            <a:srgbClr val="FF0000"/>
          </a:solidFill>
          <a:ln w="9525" algn="ctr">
            <a:solidFill>
              <a:srgbClr val="FF0000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4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48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48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" dur="2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0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48" presetID="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" dur="2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51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59" presetID="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2000" fill="hold"/>
                                        <p:tgtEl>
                                          <p:spTgt spid="6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62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6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70" presetID="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" dur="200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73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 nodeType="afterGroup">
                            <p:stCondLst>
                              <p:cond delay="11500"/>
                            </p:stCondLst>
                            <p:childTnLst>
                              <p:par>
                                <p:cTn id="77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96" grpId="0" animBg="1"/>
      <p:bldP spid="48199" grpId="0"/>
      <p:bldP spid="73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5" name="Group 3">
            <a:extLst>
              <a:ext uri="{FF2B5EF4-FFF2-40B4-BE49-F238E27FC236}">
                <a16:creationId xmlns:a16="http://schemas.microsoft.com/office/drawing/2014/main" id="{2E87BE92-3DB3-AD4E-8824-4DC79FF764BD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3917950"/>
          <a:ext cx="3744912" cy="1311276"/>
        </p:xfrm>
        <a:graphic>
          <a:graphicData uri="http://schemas.openxmlformats.org/drawingml/2006/table">
            <a:tbl>
              <a:tblPr/>
              <a:tblGrid>
                <a:gridCol w="6241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41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41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415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415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415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556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556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52" marR="91452" marT="45702" marB="4570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57" name="表格 56">
            <a:extLst>
              <a:ext uri="{FF2B5EF4-FFF2-40B4-BE49-F238E27FC236}">
                <a16:creationId xmlns:a16="http://schemas.microsoft.com/office/drawing/2014/main" id="{DC94CC6B-2D41-254A-8F3E-B13D773049D2}"/>
              </a:ext>
            </a:extLst>
          </p:cNvPr>
          <p:cNvGraphicFramePr>
            <a:graphicFrameLocks noGrp="1"/>
          </p:cNvGraphicFramePr>
          <p:nvPr/>
        </p:nvGraphicFramePr>
        <p:xfrm>
          <a:off x="4681538" y="4659313"/>
          <a:ext cx="3671887" cy="504825"/>
        </p:xfrm>
        <a:graphic>
          <a:graphicData uri="http://schemas.openxmlformats.org/drawingml/2006/table">
            <a:tbl>
              <a:tblPr/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1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C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C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9" name="表格 58">
            <a:extLst>
              <a:ext uri="{FF2B5EF4-FFF2-40B4-BE49-F238E27FC236}">
                <a16:creationId xmlns:a16="http://schemas.microsoft.com/office/drawing/2014/main" id="{D9752690-6313-DE40-B5AE-C938DA593166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3989388"/>
          <a:ext cx="3671887" cy="504825"/>
        </p:xfrm>
        <a:graphic>
          <a:graphicData uri="http://schemas.openxmlformats.org/drawingml/2006/table">
            <a:tbl>
              <a:tblPr/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1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5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6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0644" name="灯片编号占位符 1">
            <a:extLst>
              <a:ext uri="{FF2B5EF4-FFF2-40B4-BE49-F238E27FC236}">
                <a16:creationId xmlns:a16="http://schemas.microsoft.com/office/drawing/2014/main" id="{832BEEFE-2E34-3143-B394-FE216ED721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5CE8C25-DACA-4D43-A9D0-D94E4F311236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58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10645" name="Text Box 2">
            <a:extLst>
              <a:ext uri="{FF2B5EF4-FFF2-40B4-BE49-F238E27FC236}">
                <a16:creationId xmlns:a16="http://schemas.microsoft.com/office/drawing/2014/main" id="{5A3E575D-FA83-EE42-96E9-94126C5A6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333375"/>
            <a:ext cx="2590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Prim</a:t>
            </a:r>
            <a:r>
              <a:rPr kumimoji="0" lang="zh-CN" altLang="en-US" sz="2800">
                <a:latin typeface="宋体" panose="02010600030101010101" pitchFamily="2" charset="-122"/>
              </a:rPr>
              <a:t>算法：</a:t>
            </a:r>
          </a:p>
        </p:txBody>
      </p:sp>
      <p:sp>
        <p:nvSpPr>
          <p:cNvPr id="110646" name="Text Box 3">
            <a:extLst>
              <a:ext uri="{FF2B5EF4-FFF2-40B4-BE49-F238E27FC236}">
                <a16:creationId xmlns:a16="http://schemas.microsoft.com/office/drawing/2014/main" id="{F53D5E28-C84D-254D-861D-A3C4F4549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609600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   </a:t>
            </a:r>
            <a:r>
              <a:rPr kumimoji="0" lang="en-US" altLang="zh-CN" sz="2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3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 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1</a:t>
            </a:r>
            <a:r>
              <a:rPr kumimoji="0" lang="en-US" altLang="zh-CN" sz="2400">
                <a:latin typeface="宋体" panose="02010600030101010101" pitchFamily="2" charset="-122"/>
              </a:rPr>
              <a:t>   6    6  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3</a:t>
            </a: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latin typeface="Times New Roman" panose="02020603050405020304" pitchFamily="18" charset="0"/>
              </a:rPr>
              <a:t>∞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5        ∞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1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    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 7       8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       ∞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∞       ∞       4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latin typeface="Times New Roman" panose="02020603050405020304" pitchFamily="18" charset="0"/>
              </a:rPr>
              <a:t>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8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       4       ∞</a:t>
            </a:r>
          </a:p>
        </p:txBody>
      </p:sp>
      <p:sp>
        <p:nvSpPr>
          <p:cNvPr id="110647" name="AutoShape 4">
            <a:extLst>
              <a:ext uri="{FF2B5EF4-FFF2-40B4-BE49-F238E27FC236}">
                <a16:creationId xmlns:a16="http://schemas.microsoft.com/office/drawing/2014/main" id="{CA38596D-B221-8043-A810-8E2062AEC9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609600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10648" name="Text Box 5">
            <a:extLst>
              <a:ext uri="{FF2B5EF4-FFF2-40B4-BE49-F238E27FC236}">
                <a16:creationId xmlns:a16="http://schemas.microsoft.com/office/drawing/2014/main" id="{1320964A-F585-7A4E-986E-EA029290EB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333375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Times New Roman" panose="02020603050405020304" pitchFamily="18" charset="0"/>
              </a:rPr>
              <a:t> A     B     C     D       E       F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49" name="Text Box 6">
            <a:extLst>
              <a:ext uri="{FF2B5EF4-FFF2-40B4-BE49-F238E27FC236}">
                <a16:creationId xmlns:a16="http://schemas.microsoft.com/office/drawing/2014/main" id="{50E3DE37-2860-1247-A655-B52C282F1C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533400"/>
            <a:ext cx="457200" cy="319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110650" name="Oval 8">
            <a:extLst>
              <a:ext uri="{FF2B5EF4-FFF2-40B4-BE49-F238E27FC236}">
                <a16:creationId xmlns:a16="http://schemas.microsoft.com/office/drawing/2014/main" id="{39915136-2C44-6344-AEE5-BAED79C52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1828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51" name="Oval 9">
            <a:extLst>
              <a:ext uri="{FF2B5EF4-FFF2-40B4-BE49-F238E27FC236}">
                <a16:creationId xmlns:a16="http://schemas.microsoft.com/office/drawing/2014/main" id="{036109AB-5B32-E446-A4D2-60CF77B21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1143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52" name="Oval 10">
            <a:extLst>
              <a:ext uri="{FF2B5EF4-FFF2-40B4-BE49-F238E27FC236}">
                <a16:creationId xmlns:a16="http://schemas.microsoft.com/office/drawing/2014/main" id="{2C9639A4-F35F-5048-B817-5B54AE447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2590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53" name="Oval 11">
            <a:extLst>
              <a:ext uri="{FF2B5EF4-FFF2-40B4-BE49-F238E27FC236}">
                <a16:creationId xmlns:a16="http://schemas.microsoft.com/office/drawing/2014/main" id="{0AFB430D-BAC1-3C4A-BC06-54C1C9BD06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1143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54" name="Oval 12">
            <a:extLst>
              <a:ext uri="{FF2B5EF4-FFF2-40B4-BE49-F238E27FC236}">
                <a16:creationId xmlns:a16="http://schemas.microsoft.com/office/drawing/2014/main" id="{CC63A3C9-D883-1440-ACE7-010B90D7E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28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55" name="Oval 13">
            <a:extLst>
              <a:ext uri="{FF2B5EF4-FFF2-40B4-BE49-F238E27FC236}">
                <a16:creationId xmlns:a16="http://schemas.microsoft.com/office/drawing/2014/main" id="{04A78772-9355-4047-AE91-D096E03E0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2362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56" name="Text Box 14">
            <a:extLst>
              <a:ext uri="{FF2B5EF4-FFF2-40B4-BE49-F238E27FC236}">
                <a16:creationId xmlns:a16="http://schemas.microsoft.com/office/drawing/2014/main" id="{3D593A21-D2F1-6047-A3FF-A62760140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3048000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57" name="Line 15">
            <a:extLst>
              <a:ext uri="{FF2B5EF4-FFF2-40B4-BE49-F238E27FC236}">
                <a16:creationId xmlns:a16="http://schemas.microsoft.com/office/drawing/2014/main" id="{68E1DE20-9296-0844-859A-CA11C7AA1E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" y="152400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58" name="Line 16">
            <a:extLst>
              <a:ext uri="{FF2B5EF4-FFF2-40B4-BE49-F238E27FC236}">
                <a16:creationId xmlns:a16="http://schemas.microsoft.com/office/drawing/2014/main" id="{DEFD3FEA-1F39-6A4D-BEFC-55753DD3C0A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000" y="2209800"/>
            <a:ext cx="3048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59" name="Line 17">
            <a:extLst>
              <a:ext uri="{FF2B5EF4-FFF2-40B4-BE49-F238E27FC236}">
                <a16:creationId xmlns:a16="http://schemas.microsoft.com/office/drawing/2014/main" id="{0AA19D01-4D77-D044-AF60-4F737D1A41BF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00" y="2057400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60" name="Line 18">
            <a:extLst>
              <a:ext uri="{FF2B5EF4-FFF2-40B4-BE49-F238E27FC236}">
                <a16:creationId xmlns:a16="http://schemas.microsoft.com/office/drawing/2014/main" id="{CA5F09F1-1AC5-CB4E-AE40-969DC0B0336F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1524000"/>
            <a:ext cx="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61" name="Line 19">
            <a:extLst>
              <a:ext uri="{FF2B5EF4-FFF2-40B4-BE49-F238E27FC236}">
                <a16:creationId xmlns:a16="http://schemas.microsoft.com/office/drawing/2014/main" id="{E402B5A0-4B6E-E24F-9B42-91B289328D1E}"/>
              </a:ext>
            </a:extLst>
          </p:cNvPr>
          <p:cNvSpPr>
            <a:spLocks noChangeShapeType="1"/>
          </p:cNvSpPr>
          <p:nvPr/>
        </p:nvSpPr>
        <p:spPr bwMode="auto">
          <a:xfrm>
            <a:off x="1295400" y="152400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62" name="Line 20">
            <a:extLst>
              <a:ext uri="{FF2B5EF4-FFF2-40B4-BE49-F238E27FC236}">
                <a16:creationId xmlns:a16="http://schemas.microsoft.com/office/drawing/2014/main" id="{E711466B-8713-CF46-96E6-3D1A6B3BC3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2209800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63" name="Line 21">
            <a:extLst>
              <a:ext uri="{FF2B5EF4-FFF2-40B4-BE49-F238E27FC236}">
                <a16:creationId xmlns:a16="http://schemas.microsoft.com/office/drawing/2014/main" id="{4BABE4E8-3836-8E4F-83AF-9F89408643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81200" y="1524000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64" name="Line 22">
            <a:extLst>
              <a:ext uri="{FF2B5EF4-FFF2-40B4-BE49-F238E27FC236}">
                <a16:creationId xmlns:a16="http://schemas.microsoft.com/office/drawing/2014/main" id="{80A962A9-C25B-C544-9392-BB07C880D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1200" y="2057400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65" name="Line 23">
            <a:extLst>
              <a:ext uri="{FF2B5EF4-FFF2-40B4-BE49-F238E27FC236}">
                <a16:creationId xmlns:a16="http://schemas.microsoft.com/office/drawing/2014/main" id="{F674313F-1210-5F43-985E-D0395AE08A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1524000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66" name="Text Box 24">
            <a:extLst>
              <a:ext uri="{FF2B5EF4-FFF2-40B4-BE49-F238E27FC236}">
                <a16:creationId xmlns:a16="http://schemas.microsoft.com/office/drawing/2014/main" id="{C15BD316-0C82-5041-9EE6-A2DAB22A7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524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67" name="Text Box 25">
            <a:extLst>
              <a:ext uri="{FF2B5EF4-FFF2-40B4-BE49-F238E27FC236}">
                <a16:creationId xmlns:a16="http://schemas.microsoft.com/office/drawing/2014/main" id="{BC4BEEFC-CDFA-514E-8786-BC497FEE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18446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68" name="Text Box 26">
            <a:extLst>
              <a:ext uri="{FF2B5EF4-FFF2-40B4-BE49-F238E27FC236}">
                <a16:creationId xmlns:a16="http://schemas.microsoft.com/office/drawing/2014/main" id="{8261DFF6-76BC-8D4F-80EE-6E52319ACF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5398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69" name="Text Box 27">
            <a:extLst>
              <a:ext uri="{FF2B5EF4-FFF2-40B4-BE49-F238E27FC236}">
                <a16:creationId xmlns:a16="http://schemas.microsoft.com/office/drawing/2014/main" id="{9F864510-173E-2243-99F3-B87A73D073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286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70" name="Text Box 28">
            <a:extLst>
              <a:ext uri="{FF2B5EF4-FFF2-40B4-BE49-F238E27FC236}">
                <a16:creationId xmlns:a16="http://schemas.microsoft.com/office/drawing/2014/main" id="{8C7F6C8E-E1E6-1741-BFF8-90E9FAEB6D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6002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71" name="Text Box 29">
            <a:extLst>
              <a:ext uri="{FF2B5EF4-FFF2-40B4-BE49-F238E27FC236}">
                <a16:creationId xmlns:a16="http://schemas.microsoft.com/office/drawing/2014/main" id="{EC78D6B4-B356-764C-AB66-77AF8A8307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8288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72" name="Text Box 30">
            <a:extLst>
              <a:ext uri="{FF2B5EF4-FFF2-40B4-BE49-F238E27FC236}">
                <a16:creationId xmlns:a16="http://schemas.microsoft.com/office/drawing/2014/main" id="{21589C38-4277-E746-93D7-CFE4CE86D5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2362200"/>
            <a:ext cx="1524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73" name="Text Box 31">
            <a:extLst>
              <a:ext uri="{FF2B5EF4-FFF2-40B4-BE49-F238E27FC236}">
                <a16:creationId xmlns:a16="http://schemas.microsoft.com/office/drawing/2014/main" id="{49E6697E-CAF7-374A-BEA5-34A707F282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23780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74" name="Text Box 32">
            <a:extLst>
              <a:ext uri="{FF2B5EF4-FFF2-40B4-BE49-F238E27FC236}">
                <a16:creationId xmlns:a16="http://schemas.microsoft.com/office/drawing/2014/main" id="{FB415211-FFF9-2049-A1AA-62C696B4B5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2286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75" name="Line 33">
            <a:extLst>
              <a:ext uri="{FF2B5EF4-FFF2-40B4-BE49-F238E27FC236}">
                <a16:creationId xmlns:a16="http://schemas.microsoft.com/office/drawing/2014/main" id="{274B47E7-DC99-3648-A613-DD880E20BBCD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1600" y="1371600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76" name="Text Box 34">
            <a:extLst>
              <a:ext uri="{FF2B5EF4-FFF2-40B4-BE49-F238E27FC236}">
                <a16:creationId xmlns:a16="http://schemas.microsoft.com/office/drawing/2014/main" id="{98A2369D-AA0A-E047-BC91-6A44990483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143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77" name="Oval 35">
            <a:extLst>
              <a:ext uri="{FF2B5EF4-FFF2-40B4-BE49-F238E27FC236}">
                <a16:creationId xmlns:a16="http://schemas.microsoft.com/office/drawing/2014/main" id="{2A0185C0-ECDC-6946-9B4E-0740B35BD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2250" y="45608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78" name="Oval 36">
            <a:extLst>
              <a:ext uri="{FF2B5EF4-FFF2-40B4-BE49-F238E27FC236}">
                <a16:creationId xmlns:a16="http://schemas.microsoft.com/office/drawing/2014/main" id="{3BA3A899-B6F5-C243-88DD-BCFF557E8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38750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0679" name="Line 37">
            <a:extLst>
              <a:ext uri="{FF2B5EF4-FFF2-40B4-BE49-F238E27FC236}">
                <a16:creationId xmlns:a16="http://schemas.microsoft.com/office/drawing/2014/main" id="{F7AC79CD-39FD-A14D-8981-CAAF2FDFD30B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7450" y="425608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680" name="Text Box 38">
            <a:extLst>
              <a:ext uri="{FF2B5EF4-FFF2-40B4-BE49-F238E27FC236}">
                <a16:creationId xmlns:a16="http://schemas.microsoft.com/office/drawing/2014/main" id="{67A3FE90-E131-294B-B6F9-616060A797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6050" y="42719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9263" name="Oval 126">
            <a:extLst>
              <a:ext uri="{FF2B5EF4-FFF2-40B4-BE49-F238E27FC236}">
                <a16:creationId xmlns:a16="http://schemas.microsoft.com/office/drawing/2014/main" id="{D9DF8381-825B-EE44-953D-84127D9B3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9250" y="4500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49264" name="Line 127">
            <a:extLst>
              <a:ext uri="{FF2B5EF4-FFF2-40B4-BE49-F238E27FC236}">
                <a16:creationId xmlns:a16="http://schemas.microsoft.com/office/drawing/2014/main" id="{0C84DBBD-46E7-F842-B475-24EFD623A5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4050" y="4195763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265" name="Text Box 128">
            <a:extLst>
              <a:ext uri="{FF2B5EF4-FFF2-40B4-BE49-F238E27FC236}">
                <a16:creationId xmlns:a16="http://schemas.microsoft.com/office/drawing/2014/main" id="{06214BCB-97E9-EE42-B141-E6B2A9BD7C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0" y="41957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pSp>
        <p:nvGrpSpPr>
          <p:cNvPr id="2" name="Group 129">
            <a:extLst>
              <a:ext uri="{FF2B5EF4-FFF2-40B4-BE49-F238E27FC236}">
                <a16:creationId xmlns:a16="http://schemas.microsoft.com/office/drawing/2014/main" id="{ACD0B515-7FDF-E44D-94B3-BB4FE5673638}"/>
              </a:ext>
            </a:extLst>
          </p:cNvPr>
          <p:cNvGrpSpPr>
            <a:grpSpLocks/>
          </p:cNvGrpSpPr>
          <p:nvPr/>
        </p:nvGrpSpPr>
        <p:grpSpPr bwMode="auto">
          <a:xfrm>
            <a:off x="8459788" y="1371600"/>
            <a:ext cx="609600" cy="2819400"/>
            <a:chOff x="5376" y="1248"/>
            <a:chExt cx="384" cy="1440"/>
          </a:xfrm>
        </p:grpSpPr>
        <p:sp>
          <p:nvSpPr>
            <p:cNvPr id="110711" name="AutoShape 130">
              <a:extLst>
                <a:ext uri="{FF2B5EF4-FFF2-40B4-BE49-F238E27FC236}">
                  <a16:creationId xmlns:a16="http://schemas.microsoft.com/office/drawing/2014/main" id="{A8804128-714B-D742-BAD1-38842D248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6" y="1248"/>
              <a:ext cx="384" cy="1440"/>
            </a:xfrm>
            <a:prstGeom prst="upDownArrow">
              <a:avLst>
                <a:gd name="adj1" fmla="val 50000"/>
                <a:gd name="adj2" fmla="val 75000"/>
              </a:avLst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endParaRP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比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较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大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小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10712" name="Line 131">
              <a:extLst>
                <a:ext uri="{FF2B5EF4-FFF2-40B4-BE49-F238E27FC236}">
                  <a16:creationId xmlns:a16="http://schemas.microsoft.com/office/drawing/2014/main" id="{14B934C8-0F3C-814F-A280-1C54BE912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76" y="124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713" name="Line 132">
              <a:extLst>
                <a:ext uri="{FF2B5EF4-FFF2-40B4-BE49-F238E27FC236}">
                  <a16:creationId xmlns:a16="http://schemas.microsoft.com/office/drawing/2014/main" id="{A9178C83-942B-894C-AE04-D45950A7B0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76" y="268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aphicFrame>
        <p:nvGraphicFramePr>
          <p:cNvPr id="56" name="表格 55">
            <a:extLst>
              <a:ext uri="{FF2B5EF4-FFF2-40B4-BE49-F238E27FC236}">
                <a16:creationId xmlns:a16="http://schemas.microsoft.com/office/drawing/2014/main" id="{5EDE6F13-EE2F-0347-86B1-937E332BD07F}"/>
              </a:ext>
            </a:extLst>
          </p:cNvPr>
          <p:cNvGraphicFramePr>
            <a:graphicFrameLocks noGrp="1"/>
          </p:cNvGraphicFramePr>
          <p:nvPr/>
        </p:nvGraphicFramePr>
        <p:xfrm>
          <a:off x="5256213" y="400526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8" name="Group 69">
            <a:extLst>
              <a:ext uri="{FF2B5EF4-FFF2-40B4-BE49-F238E27FC236}">
                <a16:creationId xmlns:a16="http://schemas.microsoft.com/office/drawing/2014/main" id="{A4C1B44D-63E9-EE47-B98B-2F26E8A4607B}"/>
              </a:ext>
            </a:extLst>
          </p:cNvPr>
          <p:cNvGraphicFramePr>
            <a:graphicFrameLocks noGrp="1"/>
          </p:cNvGraphicFramePr>
          <p:nvPr/>
        </p:nvGraphicFramePr>
        <p:xfrm>
          <a:off x="4659313" y="5286375"/>
          <a:ext cx="3657600" cy="792192"/>
        </p:xfrm>
        <a:graphic>
          <a:graphicData uri="http://schemas.openxmlformats.org/drawingml/2006/table">
            <a:tbl>
              <a:tblPr/>
              <a:tblGrid>
                <a:gridCol w="6064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8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38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B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C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D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E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0" name="表格 59">
            <a:extLst>
              <a:ext uri="{FF2B5EF4-FFF2-40B4-BE49-F238E27FC236}">
                <a16:creationId xmlns:a16="http://schemas.microsoft.com/office/drawing/2014/main" id="{1310B9A2-E2E8-FF4F-97CA-D54EC4C0F22E}"/>
              </a:ext>
            </a:extLst>
          </p:cNvPr>
          <p:cNvGraphicFramePr>
            <a:graphicFrameLocks noGrp="1"/>
          </p:cNvGraphicFramePr>
          <p:nvPr/>
        </p:nvGraphicFramePr>
        <p:xfrm>
          <a:off x="5249863" y="400526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rgbClr val="FFFF00"/>
                          </a:solidFill>
                        </a:rPr>
                        <a:t>0</a:t>
                      </a:r>
                      <a:endParaRPr lang="zh-CN" altLang="en-US" sz="2400" dirty="0">
                        <a:solidFill>
                          <a:srgbClr val="FFFF00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5" name="上下箭头 64">
            <a:extLst>
              <a:ext uri="{FF2B5EF4-FFF2-40B4-BE49-F238E27FC236}">
                <a16:creationId xmlns:a16="http://schemas.microsoft.com/office/drawing/2014/main" id="{5BEA9EA7-514C-4447-BCEC-8B7DD7C2B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0050" y="5084763"/>
            <a:ext cx="215900" cy="576262"/>
          </a:xfrm>
          <a:prstGeom prst="upDownArrow">
            <a:avLst>
              <a:gd name="adj1" fmla="val 50000"/>
              <a:gd name="adj2" fmla="val 50046"/>
            </a:avLst>
          </a:prstGeom>
          <a:solidFill>
            <a:srgbClr val="FF0000"/>
          </a:solidFill>
          <a:ln w="9525" algn="ctr">
            <a:solidFill>
              <a:srgbClr val="FF0000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49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49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49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263" grpId="0" animBg="1"/>
      <p:bldP spid="49265" grpId="0"/>
      <p:bldP spid="65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8" name="Group 3">
            <a:extLst>
              <a:ext uri="{FF2B5EF4-FFF2-40B4-BE49-F238E27FC236}">
                <a16:creationId xmlns:a16="http://schemas.microsoft.com/office/drawing/2014/main" id="{3BF6A901-FFC1-7549-AE51-07EE644CB739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3917950"/>
          <a:ext cx="3695700" cy="1371600"/>
        </p:xfrm>
        <a:graphic>
          <a:graphicData uri="http://schemas.openxmlformats.org/drawingml/2006/table">
            <a:tbl>
              <a:tblPr/>
              <a:tblGrid>
                <a:gridCol w="615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85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0" name="表格 59">
            <a:extLst>
              <a:ext uri="{FF2B5EF4-FFF2-40B4-BE49-F238E27FC236}">
                <a16:creationId xmlns:a16="http://schemas.microsoft.com/office/drawing/2014/main" id="{2C6C1C1D-1440-9449-BAEA-6B539B200140}"/>
              </a:ext>
            </a:extLst>
          </p:cNvPr>
          <p:cNvGraphicFramePr>
            <a:graphicFrameLocks noGrp="1"/>
          </p:cNvGraphicFramePr>
          <p:nvPr/>
        </p:nvGraphicFramePr>
        <p:xfrm>
          <a:off x="4681538" y="4659313"/>
          <a:ext cx="3671887" cy="504825"/>
        </p:xfrm>
        <a:graphic>
          <a:graphicData uri="http://schemas.openxmlformats.org/drawingml/2006/table">
            <a:tbl>
              <a:tblPr/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1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C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C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2" name="表格 61">
            <a:extLst>
              <a:ext uri="{FF2B5EF4-FFF2-40B4-BE49-F238E27FC236}">
                <a16:creationId xmlns:a16="http://schemas.microsoft.com/office/drawing/2014/main" id="{CEF77A69-34D1-F64E-B6E8-1E72A00C632E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3989388"/>
          <a:ext cx="3671887" cy="504825"/>
        </p:xfrm>
        <a:graphic>
          <a:graphicData uri="http://schemas.openxmlformats.org/drawingml/2006/table">
            <a:tbl>
              <a:tblPr/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1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27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6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2692" name="灯片编号占位符 1">
            <a:extLst>
              <a:ext uri="{FF2B5EF4-FFF2-40B4-BE49-F238E27FC236}">
                <a16:creationId xmlns:a16="http://schemas.microsoft.com/office/drawing/2014/main" id="{EB22CBD5-44E7-D548-9875-E193ACD611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1FDA496-F19F-374D-9A4B-00E677B6359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12693" name="Text Box 2">
            <a:extLst>
              <a:ext uri="{FF2B5EF4-FFF2-40B4-BE49-F238E27FC236}">
                <a16:creationId xmlns:a16="http://schemas.microsoft.com/office/drawing/2014/main" id="{6815237F-9154-8748-8998-902298892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388938"/>
            <a:ext cx="2590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Prim</a:t>
            </a:r>
            <a:r>
              <a:rPr kumimoji="0" lang="zh-CN" altLang="en-US" sz="2800">
                <a:latin typeface="宋体" panose="02010600030101010101" pitchFamily="2" charset="-122"/>
              </a:rPr>
              <a:t>算法：</a:t>
            </a:r>
          </a:p>
        </p:txBody>
      </p:sp>
      <p:sp>
        <p:nvSpPr>
          <p:cNvPr id="112694" name="Text Box 3">
            <a:extLst>
              <a:ext uri="{FF2B5EF4-FFF2-40B4-BE49-F238E27FC236}">
                <a16:creationId xmlns:a16="http://schemas.microsoft.com/office/drawing/2014/main" id="{4E807D03-F255-F049-AD6C-AAD7E13E7B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609600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  </a:t>
            </a:r>
            <a:r>
              <a:rPr kumimoji="0" lang="en-US" altLang="zh-CN" sz="2400">
                <a:latin typeface="宋体" panose="02010600030101010101" pitchFamily="2" charset="-122"/>
              </a:rPr>
              <a:t> 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3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 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1</a:t>
            </a:r>
            <a:r>
              <a:rPr kumimoji="0" lang="en-US" altLang="zh-CN" sz="2400">
                <a:latin typeface="宋体" panose="02010600030101010101" pitchFamily="2" charset="-122"/>
              </a:rPr>
              <a:t>  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6</a:t>
            </a:r>
            <a:r>
              <a:rPr kumimoji="0" lang="en-US" altLang="zh-CN" sz="2400">
                <a:latin typeface="宋体" panose="02010600030101010101" pitchFamily="2" charset="-122"/>
              </a:rPr>
              <a:t>   6  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3</a:t>
            </a: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  </a:t>
            </a:r>
            <a:r>
              <a:rPr kumimoji="0" lang="en-US" altLang="zh-CN" sz="2400">
                <a:latin typeface="Times New Roman" panose="02020603050405020304" pitchFamily="18" charset="0"/>
              </a:rPr>
              <a:t>     ∞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∞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1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∞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 7       8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∞    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 ∞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∞       4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latin typeface="Times New Roman" panose="02020603050405020304" pitchFamily="18" charset="0"/>
              </a:rPr>
              <a:t>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8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 4       ∞</a:t>
            </a:r>
          </a:p>
        </p:txBody>
      </p:sp>
      <p:sp>
        <p:nvSpPr>
          <p:cNvPr id="112695" name="AutoShape 4">
            <a:extLst>
              <a:ext uri="{FF2B5EF4-FFF2-40B4-BE49-F238E27FC236}">
                <a16:creationId xmlns:a16="http://schemas.microsoft.com/office/drawing/2014/main" id="{0F8A51F9-44E8-CA40-AF64-C4D07FD34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609600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12696" name="Text Box 5">
            <a:extLst>
              <a:ext uri="{FF2B5EF4-FFF2-40B4-BE49-F238E27FC236}">
                <a16:creationId xmlns:a16="http://schemas.microsoft.com/office/drawing/2014/main" id="{999E54C3-6063-B54A-98B6-A86ED70479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333375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Times New Roman" panose="02020603050405020304" pitchFamily="18" charset="0"/>
              </a:rPr>
              <a:t> A     B     C     D       E       F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697" name="Text Box 6">
            <a:extLst>
              <a:ext uri="{FF2B5EF4-FFF2-40B4-BE49-F238E27FC236}">
                <a16:creationId xmlns:a16="http://schemas.microsoft.com/office/drawing/2014/main" id="{FFF35667-53F7-5544-99A5-EE84BB5A0A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533400"/>
            <a:ext cx="457200" cy="319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112698" name="Oval 8">
            <a:extLst>
              <a:ext uri="{FF2B5EF4-FFF2-40B4-BE49-F238E27FC236}">
                <a16:creationId xmlns:a16="http://schemas.microsoft.com/office/drawing/2014/main" id="{EEF9D68B-BCC1-784C-A590-C3920DB34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1828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699" name="Oval 9">
            <a:extLst>
              <a:ext uri="{FF2B5EF4-FFF2-40B4-BE49-F238E27FC236}">
                <a16:creationId xmlns:a16="http://schemas.microsoft.com/office/drawing/2014/main" id="{BBC26B2F-9352-294D-9C1C-9463F402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1143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00" name="Oval 10">
            <a:extLst>
              <a:ext uri="{FF2B5EF4-FFF2-40B4-BE49-F238E27FC236}">
                <a16:creationId xmlns:a16="http://schemas.microsoft.com/office/drawing/2014/main" id="{AB40DEC0-281D-F84F-A1A8-CA0C59CB6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2590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01" name="Oval 11">
            <a:extLst>
              <a:ext uri="{FF2B5EF4-FFF2-40B4-BE49-F238E27FC236}">
                <a16:creationId xmlns:a16="http://schemas.microsoft.com/office/drawing/2014/main" id="{4138CD85-F132-2E40-B5EC-782274B5BD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1143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02" name="Oval 12">
            <a:extLst>
              <a:ext uri="{FF2B5EF4-FFF2-40B4-BE49-F238E27FC236}">
                <a16:creationId xmlns:a16="http://schemas.microsoft.com/office/drawing/2014/main" id="{3BF830DB-DEA6-7E4D-A7F4-F958FDC3C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28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03" name="Oval 13">
            <a:extLst>
              <a:ext uri="{FF2B5EF4-FFF2-40B4-BE49-F238E27FC236}">
                <a16:creationId xmlns:a16="http://schemas.microsoft.com/office/drawing/2014/main" id="{2AC1EFAA-5C59-7B42-87F5-527A11E18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2362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04" name="Text Box 14">
            <a:extLst>
              <a:ext uri="{FF2B5EF4-FFF2-40B4-BE49-F238E27FC236}">
                <a16:creationId xmlns:a16="http://schemas.microsoft.com/office/drawing/2014/main" id="{C49F0EFF-5125-FC48-A9DC-F6981D89EC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3048000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05" name="Line 15">
            <a:extLst>
              <a:ext uri="{FF2B5EF4-FFF2-40B4-BE49-F238E27FC236}">
                <a16:creationId xmlns:a16="http://schemas.microsoft.com/office/drawing/2014/main" id="{A1112DD9-2C34-CA44-B388-5A4A4BFBE4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" y="152400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06" name="Line 16">
            <a:extLst>
              <a:ext uri="{FF2B5EF4-FFF2-40B4-BE49-F238E27FC236}">
                <a16:creationId xmlns:a16="http://schemas.microsoft.com/office/drawing/2014/main" id="{CFF787CA-3E7B-8C47-BDE4-00B64E52A1C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000" y="2209800"/>
            <a:ext cx="3048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07" name="Line 17">
            <a:extLst>
              <a:ext uri="{FF2B5EF4-FFF2-40B4-BE49-F238E27FC236}">
                <a16:creationId xmlns:a16="http://schemas.microsoft.com/office/drawing/2014/main" id="{256A8176-E4EC-7C4B-A18D-D6B8D0E46377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00" y="2057400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08" name="Line 18">
            <a:extLst>
              <a:ext uri="{FF2B5EF4-FFF2-40B4-BE49-F238E27FC236}">
                <a16:creationId xmlns:a16="http://schemas.microsoft.com/office/drawing/2014/main" id="{770DA963-1B0F-4E48-8E42-979671043A0C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1524000"/>
            <a:ext cx="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09" name="Line 19">
            <a:extLst>
              <a:ext uri="{FF2B5EF4-FFF2-40B4-BE49-F238E27FC236}">
                <a16:creationId xmlns:a16="http://schemas.microsoft.com/office/drawing/2014/main" id="{C8BD9942-DE16-7A4B-8405-7F18E923106D}"/>
              </a:ext>
            </a:extLst>
          </p:cNvPr>
          <p:cNvSpPr>
            <a:spLocks noChangeShapeType="1"/>
          </p:cNvSpPr>
          <p:nvPr/>
        </p:nvSpPr>
        <p:spPr bwMode="auto">
          <a:xfrm>
            <a:off x="1295400" y="152400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10" name="Line 20">
            <a:extLst>
              <a:ext uri="{FF2B5EF4-FFF2-40B4-BE49-F238E27FC236}">
                <a16:creationId xmlns:a16="http://schemas.microsoft.com/office/drawing/2014/main" id="{7593337B-D380-C747-BD20-C53FC2DB04F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2209800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11" name="Line 21">
            <a:extLst>
              <a:ext uri="{FF2B5EF4-FFF2-40B4-BE49-F238E27FC236}">
                <a16:creationId xmlns:a16="http://schemas.microsoft.com/office/drawing/2014/main" id="{5D31B75E-6EDE-D644-A30C-82E8DE6E1E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81200" y="1524000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12" name="Line 22">
            <a:extLst>
              <a:ext uri="{FF2B5EF4-FFF2-40B4-BE49-F238E27FC236}">
                <a16:creationId xmlns:a16="http://schemas.microsoft.com/office/drawing/2014/main" id="{4187B7F6-6C8D-5C4B-A9E0-892B3AD7DB9B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1200" y="2057400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13" name="Line 23">
            <a:extLst>
              <a:ext uri="{FF2B5EF4-FFF2-40B4-BE49-F238E27FC236}">
                <a16:creationId xmlns:a16="http://schemas.microsoft.com/office/drawing/2014/main" id="{A339251B-D2F5-D248-9C9B-04F96D7F23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1524000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14" name="Text Box 24">
            <a:extLst>
              <a:ext uri="{FF2B5EF4-FFF2-40B4-BE49-F238E27FC236}">
                <a16:creationId xmlns:a16="http://schemas.microsoft.com/office/drawing/2014/main" id="{07530C77-44AD-DB42-BF3A-AEAC3515A7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524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15" name="Text Box 25">
            <a:extLst>
              <a:ext uri="{FF2B5EF4-FFF2-40B4-BE49-F238E27FC236}">
                <a16:creationId xmlns:a16="http://schemas.microsoft.com/office/drawing/2014/main" id="{4E0CAE0F-8167-884A-B845-D27F7669C8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18446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16" name="Text Box 26">
            <a:extLst>
              <a:ext uri="{FF2B5EF4-FFF2-40B4-BE49-F238E27FC236}">
                <a16:creationId xmlns:a16="http://schemas.microsoft.com/office/drawing/2014/main" id="{BD1DBB55-C045-DD46-B824-491219BA6A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5398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17" name="Text Box 27">
            <a:extLst>
              <a:ext uri="{FF2B5EF4-FFF2-40B4-BE49-F238E27FC236}">
                <a16:creationId xmlns:a16="http://schemas.microsoft.com/office/drawing/2014/main" id="{6EDCA44A-D323-3148-A20E-A9AE47A6E3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286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18" name="Text Box 28">
            <a:extLst>
              <a:ext uri="{FF2B5EF4-FFF2-40B4-BE49-F238E27FC236}">
                <a16:creationId xmlns:a16="http://schemas.microsoft.com/office/drawing/2014/main" id="{0D77EEDA-9A81-2240-AF77-59CA1A637D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6002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19" name="Text Box 29">
            <a:extLst>
              <a:ext uri="{FF2B5EF4-FFF2-40B4-BE49-F238E27FC236}">
                <a16:creationId xmlns:a16="http://schemas.microsoft.com/office/drawing/2014/main" id="{419DA9EA-25EC-9648-8842-0D65ADAF2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8288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20" name="Text Box 30">
            <a:extLst>
              <a:ext uri="{FF2B5EF4-FFF2-40B4-BE49-F238E27FC236}">
                <a16:creationId xmlns:a16="http://schemas.microsoft.com/office/drawing/2014/main" id="{03BDA12C-DCB1-6D48-ADA4-DD9430459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2362200"/>
            <a:ext cx="1524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21" name="Text Box 31">
            <a:extLst>
              <a:ext uri="{FF2B5EF4-FFF2-40B4-BE49-F238E27FC236}">
                <a16:creationId xmlns:a16="http://schemas.microsoft.com/office/drawing/2014/main" id="{A5C19063-21F8-794C-A2EC-BA1858A15F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23780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22" name="Text Box 32">
            <a:extLst>
              <a:ext uri="{FF2B5EF4-FFF2-40B4-BE49-F238E27FC236}">
                <a16:creationId xmlns:a16="http://schemas.microsoft.com/office/drawing/2014/main" id="{36522CFC-872E-FF43-928D-40BD77A602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2286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23" name="Line 33">
            <a:extLst>
              <a:ext uri="{FF2B5EF4-FFF2-40B4-BE49-F238E27FC236}">
                <a16:creationId xmlns:a16="http://schemas.microsoft.com/office/drawing/2014/main" id="{4CED97B0-39DB-3246-BDC6-25BB3D2C1AF6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1600" y="1371600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24" name="Text Box 34">
            <a:extLst>
              <a:ext uri="{FF2B5EF4-FFF2-40B4-BE49-F238E27FC236}">
                <a16:creationId xmlns:a16="http://schemas.microsoft.com/office/drawing/2014/main" id="{C59E107D-A6B9-9C4C-B2B1-46F5E61C24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1430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25" name="Oval 35">
            <a:extLst>
              <a:ext uri="{FF2B5EF4-FFF2-40B4-BE49-F238E27FC236}">
                <a16:creationId xmlns:a16="http://schemas.microsoft.com/office/drawing/2014/main" id="{DE860D38-0036-F74E-8FE3-A698433F0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2250" y="43307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26" name="Oval 36">
            <a:extLst>
              <a:ext uri="{FF2B5EF4-FFF2-40B4-BE49-F238E27FC236}">
                <a16:creationId xmlns:a16="http://schemas.microsoft.com/office/drawing/2014/main" id="{3F448FEB-15DA-634D-93B6-33EC6FB20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36449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27" name="Line 37">
            <a:extLst>
              <a:ext uri="{FF2B5EF4-FFF2-40B4-BE49-F238E27FC236}">
                <a16:creationId xmlns:a16="http://schemas.microsoft.com/office/drawing/2014/main" id="{4095C31C-BB50-1544-BAA7-8C95CF3C2289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7450" y="402590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28" name="Text Box 38">
            <a:extLst>
              <a:ext uri="{FF2B5EF4-FFF2-40B4-BE49-F238E27FC236}">
                <a16:creationId xmlns:a16="http://schemas.microsoft.com/office/drawing/2014/main" id="{5C334793-F401-C24A-BA26-7067CB5B85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6050" y="40417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29" name="Oval 94">
            <a:extLst>
              <a:ext uri="{FF2B5EF4-FFF2-40B4-BE49-F238E27FC236}">
                <a16:creationId xmlns:a16="http://schemas.microsoft.com/office/drawing/2014/main" id="{74889906-E9F1-574B-B341-5D455D593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9250" y="42703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2730" name="Line 95">
            <a:extLst>
              <a:ext uri="{FF2B5EF4-FFF2-40B4-BE49-F238E27FC236}">
                <a16:creationId xmlns:a16="http://schemas.microsoft.com/office/drawing/2014/main" id="{C280A9C5-852D-984A-BD48-FE3419463D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4050" y="396557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31" name="Text Box 96">
            <a:extLst>
              <a:ext uri="{FF2B5EF4-FFF2-40B4-BE49-F238E27FC236}">
                <a16:creationId xmlns:a16="http://schemas.microsoft.com/office/drawing/2014/main" id="{EA9D2493-A4FF-1A43-B6AA-F881F25413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0" y="39655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290" name="Oval 129">
            <a:extLst>
              <a:ext uri="{FF2B5EF4-FFF2-40B4-BE49-F238E27FC236}">
                <a16:creationId xmlns:a16="http://schemas.microsoft.com/office/drawing/2014/main" id="{969C20E6-DE8A-2E41-92B6-CD2EDC973B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6450" y="50323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291" name="Line 130">
            <a:extLst>
              <a:ext uri="{FF2B5EF4-FFF2-40B4-BE49-F238E27FC236}">
                <a16:creationId xmlns:a16="http://schemas.microsoft.com/office/drawing/2014/main" id="{63E779E7-A750-E344-9EB8-808D6CF04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11413" y="4652963"/>
            <a:ext cx="43180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292" name="Text Box 131">
            <a:extLst>
              <a:ext uri="{FF2B5EF4-FFF2-40B4-BE49-F238E27FC236}">
                <a16:creationId xmlns:a16="http://schemas.microsoft.com/office/drawing/2014/main" id="{8E429DFA-3019-CE45-8B3F-08A8B3D36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0338" y="48688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pSp>
        <p:nvGrpSpPr>
          <p:cNvPr id="2" name="Group 132">
            <a:extLst>
              <a:ext uri="{FF2B5EF4-FFF2-40B4-BE49-F238E27FC236}">
                <a16:creationId xmlns:a16="http://schemas.microsoft.com/office/drawing/2014/main" id="{5B6256D0-50FE-044B-8C13-4513AC38ABFE}"/>
              </a:ext>
            </a:extLst>
          </p:cNvPr>
          <p:cNvGrpSpPr>
            <a:grpSpLocks/>
          </p:cNvGrpSpPr>
          <p:nvPr/>
        </p:nvGrpSpPr>
        <p:grpSpPr bwMode="auto">
          <a:xfrm>
            <a:off x="8534400" y="2438400"/>
            <a:ext cx="609600" cy="1752600"/>
            <a:chOff x="5376" y="1248"/>
            <a:chExt cx="384" cy="1440"/>
          </a:xfrm>
        </p:grpSpPr>
        <p:sp>
          <p:nvSpPr>
            <p:cNvPr id="112762" name="AutoShape 133">
              <a:extLst>
                <a:ext uri="{FF2B5EF4-FFF2-40B4-BE49-F238E27FC236}">
                  <a16:creationId xmlns:a16="http://schemas.microsoft.com/office/drawing/2014/main" id="{6BB1B3E3-8136-1445-AD93-D7D217D57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6" y="1248"/>
              <a:ext cx="384" cy="1440"/>
            </a:xfrm>
            <a:prstGeom prst="upDownArrow">
              <a:avLst>
                <a:gd name="adj1" fmla="val 50000"/>
                <a:gd name="adj2" fmla="val 75000"/>
              </a:avLst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endParaRP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比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较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大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小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12763" name="Line 134">
              <a:extLst>
                <a:ext uri="{FF2B5EF4-FFF2-40B4-BE49-F238E27FC236}">
                  <a16:creationId xmlns:a16="http://schemas.microsoft.com/office/drawing/2014/main" id="{B67933A1-F6BB-3E45-97C3-F7F4359F4A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76" y="124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64" name="Line 135">
              <a:extLst>
                <a:ext uri="{FF2B5EF4-FFF2-40B4-BE49-F238E27FC236}">
                  <a16:creationId xmlns:a16="http://schemas.microsoft.com/office/drawing/2014/main" id="{AD20921F-1D35-9548-A39F-C03F3E36D2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76" y="268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aphicFrame>
        <p:nvGraphicFramePr>
          <p:cNvPr id="61" name="Group 69">
            <a:extLst>
              <a:ext uri="{FF2B5EF4-FFF2-40B4-BE49-F238E27FC236}">
                <a16:creationId xmlns:a16="http://schemas.microsoft.com/office/drawing/2014/main" id="{A20C61C4-D1C7-5248-98A7-619A97D49ECE}"/>
              </a:ext>
            </a:extLst>
          </p:cNvPr>
          <p:cNvGraphicFramePr>
            <a:graphicFrameLocks noGrp="1"/>
          </p:cNvGraphicFramePr>
          <p:nvPr/>
        </p:nvGraphicFramePr>
        <p:xfrm>
          <a:off x="4659313" y="5286375"/>
          <a:ext cx="3657600" cy="792192"/>
        </p:xfrm>
        <a:graphic>
          <a:graphicData uri="http://schemas.openxmlformats.org/drawingml/2006/table">
            <a:tbl>
              <a:tblPr/>
              <a:tblGrid>
                <a:gridCol w="6064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8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38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B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C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D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E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6" name="表格 65">
            <a:extLst>
              <a:ext uri="{FF2B5EF4-FFF2-40B4-BE49-F238E27FC236}">
                <a16:creationId xmlns:a16="http://schemas.microsoft.com/office/drawing/2014/main" id="{27A2C5E8-B25F-7B4A-A0BB-0C6851680797}"/>
              </a:ext>
            </a:extLst>
          </p:cNvPr>
          <p:cNvGraphicFramePr>
            <a:graphicFrameLocks noGrp="1"/>
          </p:cNvGraphicFramePr>
          <p:nvPr/>
        </p:nvGraphicFramePr>
        <p:xfrm>
          <a:off x="6480175" y="400526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7" name="表格 66">
            <a:extLst>
              <a:ext uri="{FF2B5EF4-FFF2-40B4-BE49-F238E27FC236}">
                <a16:creationId xmlns:a16="http://schemas.microsoft.com/office/drawing/2014/main" id="{07749F48-768C-554A-9EC2-0EB89597021A}"/>
              </a:ext>
            </a:extLst>
          </p:cNvPr>
          <p:cNvGraphicFramePr>
            <a:graphicFrameLocks noGrp="1"/>
          </p:cNvGraphicFramePr>
          <p:nvPr/>
        </p:nvGraphicFramePr>
        <p:xfrm>
          <a:off x="6486525" y="3990975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ahoma" pitchFamily="34" charset="0"/>
                          <a:ea typeface="宋体" pitchFamily="2" charset="-122"/>
                        </a:rPr>
                        <a:t>0</a:t>
                      </a:r>
                      <a:endParaRPr lang="zh-CN" altLang="en-US" sz="2400" dirty="0">
                        <a:solidFill>
                          <a:srgbClr val="FFFF00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8" name="上下箭头 67">
            <a:extLst>
              <a:ext uri="{FF2B5EF4-FFF2-40B4-BE49-F238E27FC236}">
                <a16:creationId xmlns:a16="http://schemas.microsoft.com/office/drawing/2014/main" id="{1EF86FDB-8DE4-F949-87E1-BA017BAEF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563" y="5084763"/>
            <a:ext cx="215900" cy="576262"/>
          </a:xfrm>
          <a:prstGeom prst="upDownArrow">
            <a:avLst>
              <a:gd name="adj1" fmla="val 50000"/>
              <a:gd name="adj2" fmla="val 50046"/>
            </a:avLst>
          </a:prstGeom>
          <a:solidFill>
            <a:srgbClr val="FF0000"/>
          </a:solidFill>
          <a:ln w="9525" algn="ctr">
            <a:solidFill>
              <a:srgbClr val="FF0000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6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50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50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50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290" grpId="0" animBg="1"/>
      <p:bldP spid="50292" grpId="0"/>
      <p:bldP spid="68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89" name="灯片编号占位符 1">
            <a:extLst>
              <a:ext uri="{FF2B5EF4-FFF2-40B4-BE49-F238E27FC236}">
                <a16:creationId xmlns:a16="http://schemas.microsoft.com/office/drawing/2014/main" id="{392019FE-9A42-2843-9A8E-A1C33C0EC8D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FAC402C-820A-A44E-9962-9993D7E057A2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14690" name="Text Box 2">
            <a:extLst>
              <a:ext uri="{FF2B5EF4-FFF2-40B4-BE49-F238E27FC236}">
                <a16:creationId xmlns:a16="http://schemas.microsoft.com/office/drawing/2014/main" id="{16158F84-DD12-294F-908E-4773C1A9E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317500"/>
            <a:ext cx="2590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Prim</a:t>
            </a:r>
            <a:r>
              <a:rPr kumimoji="0" lang="zh-CN" altLang="en-US" sz="2800">
                <a:latin typeface="宋体" panose="02010600030101010101" pitchFamily="2" charset="-122"/>
              </a:rPr>
              <a:t>算法：</a:t>
            </a:r>
          </a:p>
        </p:txBody>
      </p:sp>
      <p:sp>
        <p:nvSpPr>
          <p:cNvPr id="114691" name="Text Box 3">
            <a:extLst>
              <a:ext uri="{FF2B5EF4-FFF2-40B4-BE49-F238E27FC236}">
                <a16:creationId xmlns:a16="http://schemas.microsoft.com/office/drawing/2014/main" id="{AAE2DC5F-5143-4F4B-BE99-7F8A13658C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609600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  </a:t>
            </a:r>
            <a:r>
              <a:rPr kumimoji="0" lang="en-US" altLang="zh-CN" sz="2400">
                <a:latin typeface="宋体" panose="02010600030101010101" pitchFamily="2" charset="-122"/>
              </a:rPr>
              <a:t> 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3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 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1</a:t>
            </a:r>
            <a:r>
              <a:rPr kumimoji="0" lang="en-US" altLang="zh-CN" sz="2400">
                <a:latin typeface="宋体" panose="02010600030101010101" pitchFamily="2" charset="-122"/>
              </a:rPr>
              <a:t>  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6</a:t>
            </a:r>
            <a:r>
              <a:rPr kumimoji="0" lang="en-US" altLang="zh-CN" sz="2400">
                <a:latin typeface="宋体" panose="02010600030101010101" pitchFamily="2" charset="-122"/>
              </a:rPr>
              <a:t>   </a:t>
            </a:r>
            <a:r>
              <a:rPr kumimoji="0" lang="en-US" altLang="zh-CN" sz="2400">
                <a:solidFill>
                  <a:srgbClr val="FFFF66"/>
                </a:solidFill>
                <a:latin typeface="宋体" panose="02010600030101010101" pitchFamily="2" charset="-122"/>
              </a:rPr>
              <a:t> 6 </a:t>
            </a:r>
            <a:r>
              <a:rPr kumimoji="0" lang="en-US" altLang="zh-CN" sz="2400">
                <a:latin typeface="宋体" panose="02010600030101010101" pitchFamily="2" charset="-122"/>
              </a:rPr>
              <a:t> 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solidFill>
                  <a:srgbClr val="FF0000"/>
                </a:solidFill>
                <a:latin typeface="宋体" panose="02010600030101010101" pitchFamily="2" charset="-122"/>
              </a:rPr>
              <a:t> 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3</a:t>
            </a: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  </a:t>
            </a:r>
            <a:r>
              <a:rPr kumimoji="0" lang="en-US" altLang="zh-CN" sz="2400">
                <a:latin typeface="Times New Roman" panose="02020603050405020304" pitchFamily="18" charset="0"/>
              </a:rPr>
              <a:t>    ∞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latin typeface="Times New Roman" panose="02020603050405020304" pitchFamily="18" charset="0"/>
              </a:rPr>
              <a:t>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1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∞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 </a:t>
            </a:r>
            <a:r>
              <a:rPr kumimoji="0" lang="en-US" altLang="zh-CN" sz="2400">
                <a:latin typeface="Times New Roman" panose="02020603050405020304" pitchFamily="18" charset="0"/>
              </a:rPr>
              <a:t>     8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5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    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6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7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      </a:t>
            </a:r>
            <a:r>
              <a:rPr kumimoji="0" lang="en-US" altLang="zh-CN" sz="2400">
                <a:solidFill>
                  <a:srgbClr val="FF0000"/>
                </a:solidFill>
                <a:latin typeface="Times New Roman" panose="02020603050405020304" pitchFamily="18" charset="0"/>
              </a:rPr>
              <a:t>4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latin typeface="Times New Roman" panose="02020603050405020304" pitchFamily="18" charset="0"/>
              </a:rPr>
              <a:t>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8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   </a:t>
            </a:r>
            <a:r>
              <a:rPr kumimoji="0" lang="en-US" altLang="zh-CN" sz="2400">
                <a:solidFill>
                  <a:srgbClr val="FFFF66"/>
                </a:solidFill>
                <a:latin typeface="Times New Roman" panose="02020603050405020304" pitchFamily="18" charset="0"/>
              </a:rPr>
              <a:t>4</a:t>
            </a:r>
            <a:r>
              <a:rPr kumimoji="0" lang="en-US" altLang="zh-CN" sz="2400">
                <a:latin typeface="Times New Roman" panose="02020603050405020304" pitchFamily="18" charset="0"/>
              </a:rPr>
              <a:t>       ∞</a:t>
            </a:r>
          </a:p>
        </p:txBody>
      </p:sp>
      <p:sp>
        <p:nvSpPr>
          <p:cNvPr id="114692" name="AutoShape 4">
            <a:extLst>
              <a:ext uri="{FF2B5EF4-FFF2-40B4-BE49-F238E27FC236}">
                <a16:creationId xmlns:a16="http://schemas.microsoft.com/office/drawing/2014/main" id="{52E7E0DB-4FF2-F14D-A607-0FE93FFBF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609600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14693" name="Text Box 5">
            <a:extLst>
              <a:ext uri="{FF2B5EF4-FFF2-40B4-BE49-F238E27FC236}">
                <a16:creationId xmlns:a16="http://schemas.microsoft.com/office/drawing/2014/main" id="{0698DB08-B951-934E-9974-252D1A9A30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333375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Times New Roman" panose="02020603050405020304" pitchFamily="18" charset="0"/>
              </a:rPr>
              <a:t> A     B     C     D       E       F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694" name="Text Box 6">
            <a:extLst>
              <a:ext uri="{FF2B5EF4-FFF2-40B4-BE49-F238E27FC236}">
                <a16:creationId xmlns:a16="http://schemas.microsoft.com/office/drawing/2014/main" id="{F16FE5FA-CB6A-9A4B-AC37-3F61AD4F8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533400"/>
            <a:ext cx="457200" cy="319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114695" name="Oval 8">
            <a:extLst>
              <a:ext uri="{FF2B5EF4-FFF2-40B4-BE49-F238E27FC236}">
                <a16:creationId xmlns:a16="http://schemas.microsoft.com/office/drawing/2014/main" id="{00903D2A-12A8-7D42-9D66-FCFB53A09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1525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696" name="Oval 9">
            <a:extLst>
              <a:ext uri="{FF2B5EF4-FFF2-40B4-BE49-F238E27FC236}">
                <a16:creationId xmlns:a16="http://schemas.microsoft.com/office/drawing/2014/main" id="{0D0C1360-CBF9-A44A-B97C-4BFB31327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8397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697" name="Oval 10">
            <a:extLst>
              <a:ext uri="{FF2B5EF4-FFF2-40B4-BE49-F238E27FC236}">
                <a16:creationId xmlns:a16="http://schemas.microsoft.com/office/drawing/2014/main" id="{EF7213F3-2274-8543-9B6E-BA464380B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2287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698" name="Oval 11">
            <a:extLst>
              <a:ext uri="{FF2B5EF4-FFF2-40B4-BE49-F238E27FC236}">
                <a16:creationId xmlns:a16="http://schemas.microsoft.com/office/drawing/2014/main" id="{666DD1AC-FC1E-0848-AD10-7214781D0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8397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699" name="Oval 12">
            <a:extLst>
              <a:ext uri="{FF2B5EF4-FFF2-40B4-BE49-F238E27FC236}">
                <a16:creationId xmlns:a16="http://schemas.microsoft.com/office/drawing/2014/main" id="{87B741B5-2FE0-1F40-AC8D-443E77D8B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525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00" name="Oval 13">
            <a:extLst>
              <a:ext uri="{FF2B5EF4-FFF2-40B4-BE49-F238E27FC236}">
                <a16:creationId xmlns:a16="http://schemas.microsoft.com/office/drawing/2014/main" id="{5E6DCC7E-B72C-8F41-A3C5-E71A35AF7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2058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01" name="Text Box 14">
            <a:extLst>
              <a:ext uri="{FF2B5EF4-FFF2-40B4-BE49-F238E27FC236}">
                <a16:creationId xmlns:a16="http://schemas.microsoft.com/office/drawing/2014/main" id="{72074461-B81A-1349-9271-D1D482D88E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2744788"/>
            <a:ext cx="568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02" name="Line 15">
            <a:extLst>
              <a:ext uri="{FF2B5EF4-FFF2-40B4-BE49-F238E27FC236}">
                <a16:creationId xmlns:a16="http://schemas.microsoft.com/office/drawing/2014/main" id="{78B2E13E-73AA-B549-B069-2F438AA52A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" y="1220788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03" name="Line 16">
            <a:extLst>
              <a:ext uri="{FF2B5EF4-FFF2-40B4-BE49-F238E27FC236}">
                <a16:creationId xmlns:a16="http://schemas.microsoft.com/office/drawing/2014/main" id="{02424C6B-206A-7A41-AC70-8593E1A5366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000" y="1906588"/>
            <a:ext cx="3048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04" name="Line 17">
            <a:extLst>
              <a:ext uri="{FF2B5EF4-FFF2-40B4-BE49-F238E27FC236}">
                <a16:creationId xmlns:a16="http://schemas.microsoft.com/office/drawing/2014/main" id="{21B6DCF1-4F05-F645-A4F3-F07FE0027ABE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00" y="1754188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05" name="Line 18">
            <a:extLst>
              <a:ext uri="{FF2B5EF4-FFF2-40B4-BE49-F238E27FC236}">
                <a16:creationId xmlns:a16="http://schemas.microsoft.com/office/drawing/2014/main" id="{69F99F63-2DDC-944B-910A-5D3100A1C6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1220788"/>
            <a:ext cx="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06" name="Line 19">
            <a:extLst>
              <a:ext uri="{FF2B5EF4-FFF2-40B4-BE49-F238E27FC236}">
                <a16:creationId xmlns:a16="http://schemas.microsoft.com/office/drawing/2014/main" id="{A42C6688-BAF1-3243-AECE-4627E1F7F233}"/>
              </a:ext>
            </a:extLst>
          </p:cNvPr>
          <p:cNvSpPr>
            <a:spLocks noChangeShapeType="1"/>
          </p:cNvSpPr>
          <p:nvPr/>
        </p:nvSpPr>
        <p:spPr bwMode="auto">
          <a:xfrm>
            <a:off x="1295400" y="122078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07" name="Line 20">
            <a:extLst>
              <a:ext uri="{FF2B5EF4-FFF2-40B4-BE49-F238E27FC236}">
                <a16:creationId xmlns:a16="http://schemas.microsoft.com/office/drawing/2014/main" id="{4931E123-A93A-3947-B8E0-AF77240AF4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1906588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08" name="Line 21">
            <a:extLst>
              <a:ext uri="{FF2B5EF4-FFF2-40B4-BE49-F238E27FC236}">
                <a16:creationId xmlns:a16="http://schemas.microsoft.com/office/drawing/2014/main" id="{BAE99ECE-50A9-6A42-8569-114B4A2135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81200" y="1220788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09" name="Line 22">
            <a:extLst>
              <a:ext uri="{FF2B5EF4-FFF2-40B4-BE49-F238E27FC236}">
                <a16:creationId xmlns:a16="http://schemas.microsoft.com/office/drawing/2014/main" id="{2C448B13-95F2-AB44-9D82-6B346C151EF9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1200" y="1754188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10" name="Line 23">
            <a:extLst>
              <a:ext uri="{FF2B5EF4-FFF2-40B4-BE49-F238E27FC236}">
                <a16:creationId xmlns:a16="http://schemas.microsoft.com/office/drawing/2014/main" id="{918E9749-E865-1444-AF8D-9C1ACE56C1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1220788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11" name="Text Box 24">
            <a:extLst>
              <a:ext uri="{FF2B5EF4-FFF2-40B4-BE49-F238E27FC236}">
                <a16:creationId xmlns:a16="http://schemas.microsoft.com/office/drawing/2014/main" id="{86B49DCA-4B96-DA4C-9B3A-55DAB38410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22078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12" name="Text Box 25">
            <a:extLst>
              <a:ext uri="{FF2B5EF4-FFF2-40B4-BE49-F238E27FC236}">
                <a16:creationId xmlns:a16="http://schemas.microsoft.com/office/drawing/2014/main" id="{4EDD4EBB-3B96-7346-B219-9375AE2A1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15414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13" name="Text Box 26">
            <a:extLst>
              <a:ext uri="{FF2B5EF4-FFF2-40B4-BE49-F238E27FC236}">
                <a16:creationId xmlns:a16="http://schemas.microsoft.com/office/drawing/2014/main" id="{651BCC99-B324-1742-9560-E142F5B61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2366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14" name="Text Box 27">
            <a:extLst>
              <a:ext uri="{FF2B5EF4-FFF2-40B4-BE49-F238E27FC236}">
                <a16:creationId xmlns:a16="http://schemas.microsoft.com/office/drawing/2014/main" id="{2B21B629-2A03-5A4A-91AB-68D2F2DBA0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98278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15" name="Text Box 28">
            <a:extLst>
              <a:ext uri="{FF2B5EF4-FFF2-40B4-BE49-F238E27FC236}">
                <a16:creationId xmlns:a16="http://schemas.microsoft.com/office/drawing/2014/main" id="{657639E5-06C0-FB43-B635-359989B95D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29698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16" name="Text Box 29">
            <a:extLst>
              <a:ext uri="{FF2B5EF4-FFF2-40B4-BE49-F238E27FC236}">
                <a16:creationId xmlns:a16="http://schemas.microsoft.com/office/drawing/2014/main" id="{34774A9E-6BF8-B34A-80FB-359E7881E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152558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17" name="Text Box 30">
            <a:extLst>
              <a:ext uri="{FF2B5EF4-FFF2-40B4-BE49-F238E27FC236}">
                <a16:creationId xmlns:a16="http://schemas.microsoft.com/office/drawing/2014/main" id="{BA31AE5E-438B-D145-A8D9-7DA1FD2E33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2058988"/>
            <a:ext cx="1524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18" name="Text Box 31">
            <a:extLst>
              <a:ext uri="{FF2B5EF4-FFF2-40B4-BE49-F238E27FC236}">
                <a16:creationId xmlns:a16="http://schemas.microsoft.com/office/drawing/2014/main" id="{0E92394B-5240-8040-AC76-C823E9B1CC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20748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19" name="Text Box 32">
            <a:extLst>
              <a:ext uri="{FF2B5EF4-FFF2-40B4-BE49-F238E27FC236}">
                <a16:creationId xmlns:a16="http://schemas.microsoft.com/office/drawing/2014/main" id="{0A204802-62EC-C84C-B89F-A427A8CAB5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98278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20" name="Line 33">
            <a:extLst>
              <a:ext uri="{FF2B5EF4-FFF2-40B4-BE49-F238E27FC236}">
                <a16:creationId xmlns:a16="http://schemas.microsoft.com/office/drawing/2014/main" id="{2747BF31-BCA3-B54D-9C07-E2EE5ED9A9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1600" y="1068388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21" name="Text Box 34">
            <a:extLst>
              <a:ext uri="{FF2B5EF4-FFF2-40B4-BE49-F238E27FC236}">
                <a16:creationId xmlns:a16="http://schemas.microsoft.com/office/drawing/2014/main" id="{D1784975-0E3B-7343-A76F-D383E10C93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83978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22" name="Oval 35">
            <a:extLst>
              <a:ext uri="{FF2B5EF4-FFF2-40B4-BE49-F238E27FC236}">
                <a16:creationId xmlns:a16="http://schemas.microsoft.com/office/drawing/2014/main" id="{E4E585A2-680F-FB4C-9ABB-9FF4D7979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217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23" name="Oval 36">
            <a:extLst>
              <a:ext uri="{FF2B5EF4-FFF2-40B4-BE49-F238E27FC236}">
                <a16:creationId xmlns:a16="http://schemas.microsoft.com/office/drawing/2014/main" id="{210B85E2-17AA-6143-9AEB-B2F4F4EB4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2288" y="35321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24" name="Line 37">
            <a:extLst>
              <a:ext uri="{FF2B5EF4-FFF2-40B4-BE49-F238E27FC236}">
                <a16:creationId xmlns:a16="http://schemas.microsoft.com/office/drawing/2014/main" id="{A3E444F2-7D2B-1F44-BA5F-2DBDA727789C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7088" y="3913188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25" name="Text Box 38">
            <a:extLst>
              <a:ext uri="{FF2B5EF4-FFF2-40B4-BE49-F238E27FC236}">
                <a16:creationId xmlns:a16="http://schemas.microsoft.com/office/drawing/2014/main" id="{D3415DEC-6240-6145-922A-2E8DC357B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5688" y="39290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26" name="Oval 94">
            <a:extLst>
              <a:ext uri="{FF2B5EF4-FFF2-40B4-BE49-F238E27FC236}">
                <a16:creationId xmlns:a16="http://schemas.microsoft.com/office/drawing/2014/main" id="{33726C57-763E-5649-A620-42913E22F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8888" y="41576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27" name="Line 95">
            <a:extLst>
              <a:ext uri="{FF2B5EF4-FFF2-40B4-BE49-F238E27FC236}">
                <a16:creationId xmlns:a16="http://schemas.microsoft.com/office/drawing/2014/main" id="{09B54EEC-CE90-6A47-AD3D-CB78D89017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63688" y="3852863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28" name="Text Box 96">
            <a:extLst>
              <a:ext uri="{FF2B5EF4-FFF2-40B4-BE49-F238E27FC236}">
                <a16:creationId xmlns:a16="http://schemas.microsoft.com/office/drawing/2014/main" id="{41D1D86A-9144-EC4B-A031-EA04AE6E22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7488" y="38528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1317" name="Oval 132">
            <a:extLst>
              <a:ext uri="{FF2B5EF4-FFF2-40B4-BE49-F238E27FC236}">
                <a16:creationId xmlns:a16="http://schemas.microsoft.com/office/drawing/2014/main" id="{6D94DE04-6CFB-C647-B57B-E27532ABF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3888" y="34718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1318" name="Line 133">
            <a:extLst>
              <a:ext uri="{FF2B5EF4-FFF2-40B4-BE49-F238E27FC236}">
                <a16:creationId xmlns:a16="http://schemas.microsoft.com/office/drawing/2014/main" id="{F548BD38-FF5F-5E43-BE4D-0D9B3DCD69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73288" y="3700463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319" name="Text Box 134">
            <a:extLst>
              <a:ext uri="{FF2B5EF4-FFF2-40B4-BE49-F238E27FC236}">
                <a16:creationId xmlns:a16="http://schemas.microsoft.com/office/drawing/2014/main" id="{8FB91104-33C2-084B-8EB7-C0DE8BC470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4288" y="34718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pSp>
        <p:nvGrpSpPr>
          <p:cNvPr id="2" name="Group 135">
            <a:extLst>
              <a:ext uri="{FF2B5EF4-FFF2-40B4-BE49-F238E27FC236}">
                <a16:creationId xmlns:a16="http://schemas.microsoft.com/office/drawing/2014/main" id="{62F76427-311C-5040-83C7-C89FAEAD09E1}"/>
              </a:ext>
            </a:extLst>
          </p:cNvPr>
          <p:cNvGrpSpPr>
            <a:grpSpLocks/>
          </p:cNvGrpSpPr>
          <p:nvPr/>
        </p:nvGrpSpPr>
        <p:grpSpPr bwMode="auto">
          <a:xfrm>
            <a:off x="8534400" y="3048000"/>
            <a:ext cx="609600" cy="1143000"/>
            <a:chOff x="5376" y="1248"/>
            <a:chExt cx="384" cy="1440"/>
          </a:xfrm>
        </p:grpSpPr>
        <p:sp>
          <p:nvSpPr>
            <p:cNvPr id="114841" name="AutoShape 136">
              <a:extLst>
                <a:ext uri="{FF2B5EF4-FFF2-40B4-BE49-F238E27FC236}">
                  <a16:creationId xmlns:a16="http://schemas.microsoft.com/office/drawing/2014/main" id="{FDAC837A-2023-2D47-A5E6-4D96C3A48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6" y="1248"/>
              <a:ext cx="384" cy="1440"/>
            </a:xfrm>
            <a:prstGeom prst="upDownArrow">
              <a:avLst>
                <a:gd name="adj1" fmla="val 50000"/>
                <a:gd name="adj2" fmla="val 75000"/>
              </a:avLst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endParaRP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比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较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大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zh-CN" altLang="en-US" sz="1600">
                  <a:solidFill>
                    <a:srgbClr val="000000"/>
                  </a:solidFill>
                  <a:latin typeface="宋体" panose="02010600030101010101" pitchFamily="2" charset="-122"/>
                </a:rPr>
                <a:t>小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en-US" altLang="zh-CN" sz="1600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14842" name="Line 137">
              <a:extLst>
                <a:ext uri="{FF2B5EF4-FFF2-40B4-BE49-F238E27FC236}">
                  <a16:creationId xmlns:a16="http://schemas.microsoft.com/office/drawing/2014/main" id="{21B9C7AA-9488-4945-A934-E0574EFD34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76" y="124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43" name="Line 138">
              <a:extLst>
                <a:ext uri="{FF2B5EF4-FFF2-40B4-BE49-F238E27FC236}">
                  <a16:creationId xmlns:a16="http://schemas.microsoft.com/office/drawing/2014/main" id="{028B3941-CF4C-D644-A536-E0336C58A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76" y="268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14733" name="Oval 129">
            <a:extLst>
              <a:ext uri="{FF2B5EF4-FFF2-40B4-BE49-F238E27FC236}">
                <a16:creationId xmlns:a16="http://schemas.microsoft.com/office/drawing/2014/main" id="{3A1BFD1D-D5BF-3149-A809-FB44EDF10F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8150" y="4960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4734" name="Line 130">
            <a:extLst>
              <a:ext uri="{FF2B5EF4-FFF2-40B4-BE49-F238E27FC236}">
                <a16:creationId xmlns:a16="http://schemas.microsoft.com/office/drawing/2014/main" id="{F8ADB5B1-4620-3E4C-BE5C-23E08BE143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43113" y="4581525"/>
            <a:ext cx="43180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735" name="Text Box 131">
            <a:extLst>
              <a:ext uri="{FF2B5EF4-FFF2-40B4-BE49-F238E27FC236}">
                <a16:creationId xmlns:a16="http://schemas.microsoft.com/office/drawing/2014/main" id="{BE6E6AB7-2FF1-5E46-BE01-417D179DF9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2038" y="479742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64" name="Group 3">
            <a:extLst>
              <a:ext uri="{FF2B5EF4-FFF2-40B4-BE49-F238E27FC236}">
                <a16:creationId xmlns:a16="http://schemas.microsoft.com/office/drawing/2014/main" id="{D3C3A605-6636-1C44-9118-22C9BFD19F43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3917950"/>
          <a:ext cx="3695700" cy="1371600"/>
        </p:xfrm>
        <a:graphic>
          <a:graphicData uri="http://schemas.openxmlformats.org/drawingml/2006/table">
            <a:tbl>
              <a:tblPr/>
              <a:tblGrid>
                <a:gridCol w="615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85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8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5" name="表格 64">
            <a:extLst>
              <a:ext uri="{FF2B5EF4-FFF2-40B4-BE49-F238E27FC236}">
                <a16:creationId xmlns:a16="http://schemas.microsoft.com/office/drawing/2014/main" id="{11A37C45-7209-724E-AA8B-A5F19C8648FD}"/>
              </a:ext>
            </a:extLst>
          </p:cNvPr>
          <p:cNvGraphicFramePr>
            <a:graphicFrameLocks noGrp="1"/>
          </p:cNvGraphicFramePr>
          <p:nvPr/>
        </p:nvGraphicFramePr>
        <p:xfrm>
          <a:off x="4681538" y="4659313"/>
          <a:ext cx="3671886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19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宋体" pitchFamily="2" charset="-122"/>
                        </a:rPr>
                        <a:t>A</a:t>
                      </a:r>
                      <a:endParaRPr lang="zh-CN" altLang="en-US" sz="2400" dirty="0">
                        <a:solidFill>
                          <a:srgbClr val="FF0000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C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A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lnR w="12700" cmpd="sng">
                      <a:noFill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27" marR="91427" marT="45790" marB="4579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表格 65">
            <a:extLst>
              <a:ext uri="{FF2B5EF4-FFF2-40B4-BE49-F238E27FC236}">
                <a16:creationId xmlns:a16="http://schemas.microsoft.com/office/drawing/2014/main" id="{A5CBD0A3-DC45-3C49-B792-C283398694C6}"/>
              </a:ext>
            </a:extLst>
          </p:cNvPr>
          <p:cNvGraphicFramePr>
            <a:graphicFrameLocks noGrp="1"/>
          </p:cNvGraphicFramePr>
          <p:nvPr/>
        </p:nvGraphicFramePr>
        <p:xfrm>
          <a:off x="4643438" y="3989388"/>
          <a:ext cx="3671886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19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198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rgbClr val="FFFF00"/>
                          </a:solidFill>
                        </a:rPr>
                        <a:t>0</a:t>
                      </a:r>
                      <a:endParaRPr lang="zh-CN" altLang="en-US" sz="2400" dirty="0">
                        <a:solidFill>
                          <a:srgbClr val="FFFF00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2400" dirty="0">
                          <a:solidFill>
                            <a:srgbClr val="FFFF00"/>
                          </a:solidFill>
                        </a:rPr>
                        <a:t>0</a:t>
                      </a:r>
                      <a:endParaRPr lang="zh-CN" altLang="en-US" sz="2400" dirty="0">
                        <a:solidFill>
                          <a:srgbClr val="FFFF00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2400" dirty="0">
                          <a:solidFill>
                            <a:srgbClr val="FFFF00"/>
                          </a:solidFill>
                        </a:rPr>
                        <a:t>0</a:t>
                      </a:r>
                      <a:endParaRPr lang="zh-CN" altLang="en-US" sz="2400" dirty="0">
                        <a:solidFill>
                          <a:srgbClr val="FFFF00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rgbClr val="FFFF00"/>
                          </a:solidFill>
                        </a:rPr>
                        <a:t>0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427" marR="91427" marT="45790" marB="45790">
                    <a:lnR w="12700" cmpd="sng">
                      <a:noFill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宋体" pitchFamily="2" charset="-122"/>
                      </a:endParaRPr>
                    </a:p>
                  </a:txBody>
                  <a:tcPr marL="91427" marR="91427" marT="45790" marB="4579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7" name="Group 69">
            <a:extLst>
              <a:ext uri="{FF2B5EF4-FFF2-40B4-BE49-F238E27FC236}">
                <a16:creationId xmlns:a16="http://schemas.microsoft.com/office/drawing/2014/main" id="{CC9ECD34-3E54-C941-AD63-A18AA8BB7C5F}"/>
              </a:ext>
            </a:extLst>
          </p:cNvPr>
          <p:cNvGraphicFramePr>
            <a:graphicFrameLocks noGrp="1"/>
          </p:cNvGraphicFramePr>
          <p:nvPr/>
        </p:nvGraphicFramePr>
        <p:xfrm>
          <a:off x="4659313" y="5286375"/>
          <a:ext cx="3657600" cy="792192"/>
        </p:xfrm>
        <a:graphic>
          <a:graphicData uri="http://schemas.openxmlformats.org/drawingml/2006/table">
            <a:tbl>
              <a:tblPr/>
              <a:tblGrid>
                <a:gridCol w="6064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8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38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0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A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B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C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D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E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marT="45648" marB="45648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8" name="表格 67">
            <a:extLst>
              <a:ext uri="{FF2B5EF4-FFF2-40B4-BE49-F238E27FC236}">
                <a16:creationId xmlns:a16="http://schemas.microsoft.com/office/drawing/2014/main" id="{8968B245-0906-3440-BE19-21FA05A3371A}"/>
              </a:ext>
            </a:extLst>
          </p:cNvPr>
          <p:cNvGraphicFramePr>
            <a:graphicFrameLocks noGrp="1"/>
          </p:cNvGraphicFramePr>
          <p:nvPr/>
        </p:nvGraphicFramePr>
        <p:xfrm>
          <a:off x="7107238" y="400526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6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9" name="表格 68">
            <a:extLst>
              <a:ext uri="{FF2B5EF4-FFF2-40B4-BE49-F238E27FC236}">
                <a16:creationId xmlns:a16="http://schemas.microsoft.com/office/drawing/2014/main" id="{37E4683B-F761-4046-97B3-AE1DA8185C3C}"/>
              </a:ext>
            </a:extLst>
          </p:cNvPr>
          <p:cNvGraphicFramePr>
            <a:graphicFrameLocks noGrp="1"/>
          </p:cNvGraphicFramePr>
          <p:nvPr/>
        </p:nvGraphicFramePr>
        <p:xfrm>
          <a:off x="7113588" y="400526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ahoma" pitchFamily="34" charset="0"/>
                          <a:ea typeface="宋体" pitchFamily="2" charset="-122"/>
                        </a:rPr>
                        <a:t>0</a:t>
                      </a:r>
                      <a:endParaRPr lang="zh-CN" altLang="en-US" sz="2400" dirty="0">
                        <a:solidFill>
                          <a:srgbClr val="FFFF00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0" name="表格 69">
            <a:extLst>
              <a:ext uri="{FF2B5EF4-FFF2-40B4-BE49-F238E27FC236}">
                <a16:creationId xmlns:a16="http://schemas.microsoft.com/office/drawing/2014/main" id="{D2CD3851-5C9A-0C44-BD87-4EAEB5864D67}"/>
              </a:ext>
            </a:extLst>
          </p:cNvPr>
          <p:cNvGraphicFramePr>
            <a:graphicFrameLocks noGrp="1"/>
          </p:cNvGraphicFramePr>
          <p:nvPr/>
        </p:nvGraphicFramePr>
        <p:xfrm>
          <a:off x="7726363" y="400526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8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1" name="表格 70">
            <a:extLst>
              <a:ext uri="{FF2B5EF4-FFF2-40B4-BE49-F238E27FC236}">
                <a16:creationId xmlns:a16="http://schemas.microsoft.com/office/drawing/2014/main" id="{53B3B77D-6BCC-D948-ABF1-C9D49B90DAEE}"/>
              </a:ext>
            </a:extLst>
          </p:cNvPr>
          <p:cNvGraphicFramePr>
            <a:graphicFrameLocks noGrp="1"/>
          </p:cNvGraphicFramePr>
          <p:nvPr/>
        </p:nvGraphicFramePr>
        <p:xfrm>
          <a:off x="7740650" y="400526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bg2"/>
                          </a:solidFill>
                        </a:rPr>
                        <a:t>4</a:t>
                      </a:r>
                      <a:endParaRPr lang="zh-CN" altLang="en-US" sz="2400" dirty="0">
                        <a:solidFill>
                          <a:schemeClr val="bg2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4" name="表格 73">
            <a:extLst>
              <a:ext uri="{FF2B5EF4-FFF2-40B4-BE49-F238E27FC236}">
                <a16:creationId xmlns:a16="http://schemas.microsoft.com/office/drawing/2014/main" id="{E9C7DBE0-DF2C-2D4B-95B0-9A863C2461B2}"/>
              </a:ext>
            </a:extLst>
          </p:cNvPr>
          <p:cNvGraphicFramePr>
            <a:graphicFrameLocks noGrp="1"/>
          </p:cNvGraphicFramePr>
          <p:nvPr/>
        </p:nvGraphicFramePr>
        <p:xfrm>
          <a:off x="7704138" y="465296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tx1"/>
                          </a:solidFill>
                        </a:rPr>
                        <a:t>C</a:t>
                      </a:r>
                      <a:endParaRPr lang="zh-CN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5" name="表格 74">
            <a:extLst>
              <a:ext uri="{FF2B5EF4-FFF2-40B4-BE49-F238E27FC236}">
                <a16:creationId xmlns:a16="http://schemas.microsoft.com/office/drawing/2014/main" id="{E6C6A079-E7B7-5641-8CC2-4E1B0ED8FE24}"/>
              </a:ext>
            </a:extLst>
          </p:cNvPr>
          <p:cNvGraphicFramePr>
            <a:graphicFrameLocks noGrp="1"/>
          </p:cNvGraphicFramePr>
          <p:nvPr/>
        </p:nvGraphicFramePr>
        <p:xfrm>
          <a:off x="7712075" y="4652963"/>
          <a:ext cx="612775" cy="504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7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82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400" dirty="0">
                          <a:solidFill>
                            <a:schemeClr val="bg2"/>
                          </a:solidFill>
                        </a:rPr>
                        <a:t>E</a:t>
                      </a:r>
                      <a:endParaRPr lang="zh-CN" altLang="en-US" sz="2400" dirty="0">
                        <a:solidFill>
                          <a:schemeClr val="bg2"/>
                        </a:solidFill>
                      </a:endParaRPr>
                    </a:p>
                  </a:txBody>
                  <a:tcPr marL="91546" marR="91546" marT="45790" marB="4579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6" name="Oval 13">
            <a:extLst>
              <a:ext uri="{FF2B5EF4-FFF2-40B4-BE49-F238E27FC236}">
                <a16:creationId xmlns:a16="http://schemas.microsoft.com/office/drawing/2014/main" id="{8DB70675-8352-094E-97F5-7961C6D9D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7225" y="46704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7" name="Line 23">
            <a:extLst>
              <a:ext uri="{FF2B5EF4-FFF2-40B4-BE49-F238E27FC236}">
                <a16:creationId xmlns:a16="http://schemas.microsoft.com/office/drawing/2014/main" id="{8370A5A2-9D38-E749-A9A4-05A3835845F3}"/>
              </a:ext>
            </a:extLst>
          </p:cNvPr>
          <p:cNvSpPr>
            <a:spLocks noChangeShapeType="1"/>
          </p:cNvSpPr>
          <p:nvPr/>
        </p:nvSpPr>
        <p:spPr bwMode="auto">
          <a:xfrm>
            <a:off x="3349625" y="3832225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Text Box 29">
            <a:extLst>
              <a:ext uri="{FF2B5EF4-FFF2-40B4-BE49-F238E27FC236}">
                <a16:creationId xmlns:a16="http://schemas.microsoft.com/office/drawing/2014/main" id="{FD7B052E-2A99-3B43-9FE3-3BD5507F5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5825" y="413702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9" name="Text Box 14">
            <a:extLst>
              <a:ext uri="{FF2B5EF4-FFF2-40B4-BE49-F238E27FC236}">
                <a16:creationId xmlns:a16="http://schemas.microsoft.com/office/drawing/2014/main" id="{FF7A1236-7A97-A64E-912C-84043FD49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5405438"/>
            <a:ext cx="14747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noProof="1">
                <a:solidFill>
                  <a:srgbClr val="000000"/>
                </a:solidFill>
                <a:latin typeface="宋体" panose="02010600030101010101" pitchFamily="2" charset="-122"/>
              </a:rPr>
              <a:t>最小生成树</a:t>
            </a:r>
            <a:endParaRPr kumimoji="0" lang="zh-CN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0" name="上下箭头 79">
            <a:extLst>
              <a:ext uri="{FF2B5EF4-FFF2-40B4-BE49-F238E27FC236}">
                <a16:creationId xmlns:a16="http://schemas.microsoft.com/office/drawing/2014/main" id="{31793DDD-D9FA-4E41-80D8-D146D49EE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8850" y="5084763"/>
            <a:ext cx="215900" cy="576262"/>
          </a:xfrm>
          <a:prstGeom prst="upDownArrow">
            <a:avLst>
              <a:gd name="adj1" fmla="val 50000"/>
              <a:gd name="adj2" fmla="val 50046"/>
            </a:avLst>
          </a:prstGeom>
          <a:solidFill>
            <a:srgbClr val="FF0000"/>
          </a:solidFill>
          <a:ln w="9525" algn="ctr">
            <a:solidFill>
              <a:srgbClr val="FF0000"/>
            </a:solidFill>
            <a:miter lim="800000"/>
            <a:headEnd/>
            <a:tailEnd/>
          </a:ln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6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51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51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51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8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5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49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4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17" grpId="0" animBg="1"/>
      <p:bldP spid="51319" grpId="0"/>
      <p:bldP spid="76" grpId="0" animBg="1"/>
      <p:bldP spid="78" grpId="0"/>
      <p:bldP spid="79" grpId="0"/>
      <p:bldP spid="80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灯片编号占位符 3">
            <a:extLst>
              <a:ext uri="{FF2B5EF4-FFF2-40B4-BE49-F238E27FC236}">
                <a16:creationId xmlns:a16="http://schemas.microsoft.com/office/drawing/2014/main" id="{87AE837B-DEA4-7E4C-8622-9FDE9813950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CB86412-56EF-9745-9C68-FD175648775D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16738" name="Text Box 49">
            <a:extLst>
              <a:ext uri="{FF2B5EF4-FFF2-40B4-BE49-F238E27FC236}">
                <a16:creationId xmlns:a16="http://schemas.microsoft.com/office/drawing/2014/main" id="{6964D2F0-741D-7145-B566-CA23DA5D2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333375"/>
            <a:ext cx="8893175" cy="600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Prim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算法代码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(closedge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包含最小权值与依附顶点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个属性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void Prim(MGraph G,VertexType u){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k=LocateVex(G,u);            //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确定起始顶点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的位置序号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for(j=0;j&lt;G.vexnum;j++) //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初始化最短边权值和依附顶点值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if (j!=k) closedge[j]={u ,G.arcs[k][j].adj}; </a:t>
            </a:r>
            <a:endParaRPr lang="zh-CN" altLang="en-US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closedge[k].lowcost=0;               //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选定起点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中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for(i=1;i&lt;G.vexnum;i++) { //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依次加入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n-1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个顶点、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n-1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条边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k=minimum(closedge);//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选择下一个最短边对应的顶点序号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printf(closedge[k].adjvex,G.vexs[k]) //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输出生成树边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closedge[k].lowcost=0;               //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加到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U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中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for(j=0;j&lt;G.vexnum;j++)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 if (G.arcs[k][j].adj&lt;closedge[j].lowcost)</a:t>
            </a:r>
            <a:endParaRPr lang="zh-CN" altLang="en-US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        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closedge[j]={G.vexs[k], G.arcs[k][j].adj}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；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		                    //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替换最小权值和依附顶点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0" name="Text Box 54">
            <a:extLst>
              <a:ext uri="{FF2B5EF4-FFF2-40B4-BE49-F238E27FC236}">
                <a16:creationId xmlns:a16="http://schemas.microsoft.com/office/drawing/2014/main" id="{31E21878-350D-E04C-9DB9-80D601F334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0599" y="5517232"/>
            <a:ext cx="6264473" cy="461962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算法适合边稠密的无向连通网，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T(n,e)=O(n</a:t>
            </a:r>
            <a:r>
              <a:rPr kumimoji="0" lang="en-GB" altLang="zh-CN" sz="2400" baseline="30000" noProof="1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灯片编号占位符 3">
            <a:extLst>
              <a:ext uri="{FF2B5EF4-FFF2-40B4-BE49-F238E27FC236}">
                <a16:creationId xmlns:a16="http://schemas.microsoft.com/office/drawing/2014/main" id="{D5B39448-087A-3A4C-97E1-C08E6444504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0095D4B-1352-8C4D-B3FB-B0F0B9A46452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18786" name="Oval 3">
            <a:extLst>
              <a:ext uri="{FF2B5EF4-FFF2-40B4-BE49-F238E27FC236}">
                <a16:creationId xmlns:a16="http://schemas.microsoft.com/office/drawing/2014/main" id="{05361558-92BE-D44B-9CE9-5420343DC5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0450" y="3251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787" name="Oval 4">
            <a:extLst>
              <a:ext uri="{FF2B5EF4-FFF2-40B4-BE49-F238E27FC236}">
                <a16:creationId xmlns:a16="http://schemas.microsoft.com/office/drawing/2014/main" id="{92C1C1AC-C19E-2247-919F-1DA5891C6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0850" y="2565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788" name="Oval 5">
            <a:extLst>
              <a:ext uri="{FF2B5EF4-FFF2-40B4-BE49-F238E27FC236}">
                <a16:creationId xmlns:a16="http://schemas.microsoft.com/office/drawing/2014/main" id="{D47E82E7-F245-674E-A46D-658501560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0850" y="4013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789" name="Oval 6">
            <a:extLst>
              <a:ext uri="{FF2B5EF4-FFF2-40B4-BE49-F238E27FC236}">
                <a16:creationId xmlns:a16="http://schemas.microsoft.com/office/drawing/2014/main" id="{57BD66B3-10C6-1C4D-9275-D3A35CAA8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450" y="2565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790" name="Oval 7">
            <a:extLst>
              <a:ext uri="{FF2B5EF4-FFF2-40B4-BE49-F238E27FC236}">
                <a16:creationId xmlns:a16="http://schemas.microsoft.com/office/drawing/2014/main" id="{71F924D0-6096-3343-8D60-3663DA636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7450" y="3251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791" name="Oval 8">
            <a:extLst>
              <a:ext uri="{FF2B5EF4-FFF2-40B4-BE49-F238E27FC236}">
                <a16:creationId xmlns:a16="http://schemas.microsoft.com/office/drawing/2014/main" id="{A22104D0-5BD2-2042-B33E-8D171E707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450" y="3784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792" name="Line 9">
            <a:extLst>
              <a:ext uri="{FF2B5EF4-FFF2-40B4-BE49-F238E27FC236}">
                <a16:creationId xmlns:a16="http://schemas.microsoft.com/office/drawing/2014/main" id="{190681BD-FEBC-E34F-B55F-545825ABFB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92250" y="294640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793" name="Line 10">
            <a:extLst>
              <a:ext uri="{FF2B5EF4-FFF2-40B4-BE49-F238E27FC236}">
                <a16:creationId xmlns:a16="http://schemas.microsoft.com/office/drawing/2014/main" id="{9E2CB502-0E02-FC45-8ABB-A6C331AF3D19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0" y="3632200"/>
            <a:ext cx="3048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794" name="Line 11">
            <a:extLst>
              <a:ext uri="{FF2B5EF4-FFF2-40B4-BE49-F238E27FC236}">
                <a16:creationId xmlns:a16="http://schemas.microsoft.com/office/drawing/2014/main" id="{F86CE7BC-CE36-8E45-971A-8470CFFFA97D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8450" y="3479800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795" name="Line 12">
            <a:extLst>
              <a:ext uri="{FF2B5EF4-FFF2-40B4-BE49-F238E27FC236}">
                <a16:creationId xmlns:a16="http://schemas.microsoft.com/office/drawing/2014/main" id="{408A6A96-B57F-724D-9456-6249F87C47EB}"/>
              </a:ext>
            </a:extLst>
          </p:cNvPr>
          <p:cNvSpPr>
            <a:spLocks noChangeShapeType="1"/>
          </p:cNvSpPr>
          <p:nvPr/>
        </p:nvSpPr>
        <p:spPr bwMode="auto">
          <a:xfrm>
            <a:off x="1873250" y="2946400"/>
            <a:ext cx="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796" name="Line 13">
            <a:extLst>
              <a:ext uri="{FF2B5EF4-FFF2-40B4-BE49-F238E27FC236}">
                <a16:creationId xmlns:a16="http://schemas.microsoft.com/office/drawing/2014/main" id="{F4AEB27E-595D-3B44-8B12-A995A65C2F0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25650" y="294640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797" name="Line 14">
            <a:extLst>
              <a:ext uri="{FF2B5EF4-FFF2-40B4-BE49-F238E27FC236}">
                <a16:creationId xmlns:a16="http://schemas.microsoft.com/office/drawing/2014/main" id="{C1227178-3A60-8749-9049-90EAE6936F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25650" y="3632200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798" name="Line 15">
            <a:extLst>
              <a:ext uri="{FF2B5EF4-FFF2-40B4-BE49-F238E27FC236}">
                <a16:creationId xmlns:a16="http://schemas.microsoft.com/office/drawing/2014/main" id="{66361B48-9482-0644-951B-631D846B6E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11450" y="2946400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799" name="Line 16">
            <a:extLst>
              <a:ext uri="{FF2B5EF4-FFF2-40B4-BE49-F238E27FC236}">
                <a16:creationId xmlns:a16="http://schemas.microsoft.com/office/drawing/2014/main" id="{12A91346-EEE6-CE44-8645-E1964F730F5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450" y="3479800"/>
            <a:ext cx="4572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800" name="Line 17">
            <a:extLst>
              <a:ext uri="{FF2B5EF4-FFF2-40B4-BE49-F238E27FC236}">
                <a16:creationId xmlns:a16="http://schemas.microsoft.com/office/drawing/2014/main" id="{F6AF6D08-358A-B045-AF75-3FA132A77C2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4850" y="2946400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801" name="Text Box 18">
            <a:extLst>
              <a:ext uri="{FF2B5EF4-FFF2-40B4-BE49-F238E27FC236}">
                <a16:creationId xmlns:a16="http://schemas.microsoft.com/office/drawing/2014/main" id="{94CECED5-78DF-E04C-90C0-87291CABE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2946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02" name="Text Box 19">
            <a:extLst>
              <a:ext uri="{FF2B5EF4-FFF2-40B4-BE49-F238E27FC236}">
                <a16:creationId xmlns:a16="http://schemas.microsoft.com/office/drawing/2014/main" id="{1FCE02DA-322D-8C47-AB20-B8D4BE0FC5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1850" y="32670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03" name="Text Box 20">
            <a:extLst>
              <a:ext uri="{FF2B5EF4-FFF2-40B4-BE49-F238E27FC236}">
                <a16:creationId xmlns:a16="http://schemas.microsoft.com/office/drawing/2014/main" id="{5C89A7F2-091C-504B-A6E8-58A3BC16E1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4250" y="29622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04" name="Text Box 21">
            <a:extLst>
              <a:ext uri="{FF2B5EF4-FFF2-40B4-BE49-F238E27FC236}">
                <a16:creationId xmlns:a16="http://schemas.microsoft.com/office/drawing/2014/main" id="{57E34E7E-06AB-6842-AA22-2D084B090D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7650" y="3708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05" name="Text Box 22">
            <a:extLst>
              <a:ext uri="{FF2B5EF4-FFF2-40B4-BE49-F238E27FC236}">
                <a16:creationId xmlns:a16="http://schemas.microsoft.com/office/drawing/2014/main" id="{79CE17B2-F6EA-3846-81E5-721DCF0F37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7650" y="30226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06" name="Text Box 23">
            <a:extLst>
              <a:ext uri="{FF2B5EF4-FFF2-40B4-BE49-F238E27FC236}">
                <a16:creationId xmlns:a16="http://schemas.microsoft.com/office/drawing/2014/main" id="{78A99A89-7933-DE46-9F4E-5A0FC97202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21050" y="32512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07" name="Text Box 24">
            <a:extLst>
              <a:ext uri="{FF2B5EF4-FFF2-40B4-BE49-F238E27FC236}">
                <a16:creationId xmlns:a16="http://schemas.microsoft.com/office/drawing/2014/main" id="{2009AE64-9763-1E49-A039-682D7162BC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0450" y="37846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08" name="Text Box 25">
            <a:extLst>
              <a:ext uri="{FF2B5EF4-FFF2-40B4-BE49-F238E27FC236}">
                <a16:creationId xmlns:a16="http://schemas.microsoft.com/office/drawing/2014/main" id="{57B8CC7F-6881-344E-A21D-ADDD1756FA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6050" y="38004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09" name="Text Box 26">
            <a:extLst>
              <a:ext uri="{FF2B5EF4-FFF2-40B4-BE49-F238E27FC236}">
                <a16:creationId xmlns:a16="http://schemas.microsoft.com/office/drawing/2014/main" id="{CF492579-2A0E-A845-88D3-6E1DCCBDF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9450" y="3708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10" name="Line 27">
            <a:extLst>
              <a:ext uri="{FF2B5EF4-FFF2-40B4-BE49-F238E27FC236}">
                <a16:creationId xmlns:a16="http://schemas.microsoft.com/office/drawing/2014/main" id="{D511C02D-C251-5D4E-ABA8-3DBD88B41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2101850" y="2794000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811" name="Text Box 28">
            <a:extLst>
              <a:ext uri="{FF2B5EF4-FFF2-40B4-BE49-F238E27FC236}">
                <a16:creationId xmlns:a16="http://schemas.microsoft.com/office/drawing/2014/main" id="{F8F6CF3B-B405-D140-A9DE-1E8333643E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2850" y="2565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12" name="Oval 29">
            <a:extLst>
              <a:ext uri="{FF2B5EF4-FFF2-40B4-BE49-F238E27FC236}">
                <a16:creationId xmlns:a16="http://schemas.microsoft.com/office/drawing/2014/main" id="{AB655B7E-F429-2F4A-8215-E866AB780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700" y="3251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13" name="Oval 30">
            <a:extLst>
              <a:ext uri="{FF2B5EF4-FFF2-40B4-BE49-F238E27FC236}">
                <a16:creationId xmlns:a16="http://schemas.microsoft.com/office/drawing/2014/main" id="{1B33C570-0BA2-6643-9DC9-96418C865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3100" y="2565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14" name="Oval 31">
            <a:extLst>
              <a:ext uri="{FF2B5EF4-FFF2-40B4-BE49-F238E27FC236}">
                <a16:creationId xmlns:a16="http://schemas.microsoft.com/office/drawing/2014/main" id="{DDCF908C-4A3F-9E40-A11A-48B418606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3100" y="4013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15" name="Oval 32">
            <a:extLst>
              <a:ext uri="{FF2B5EF4-FFF2-40B4-BE49-F238E27FC236}">
                <a16:creationId xmlns:a16="http://schemas.microsoft.com/office/drawing/2014/main" id="{3C818B92-3DF6-8E40-8BF0-32BEFBE80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4700" y="2565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16" name="Oval 33">
            <a:extLst>
              <a:ext uri="{FF2B5EF4-FFF2-40B4-BE49-F238E27FC236}">
                <a16:creationId xmlns:a16="http://schemas.microsoft.com/office/drawing/2014/main" id="{00CE365C-85B3-4841-9205-368AB5923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9700" y="3251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17" name="Oval 34">
            <a:extLst>
              <a:ext uri="{FF2B5EF4-FFF2-40B4-BE49-F238E27FC236}">
                <a16:creationId xmlns:a16="http://schemas.microsoft.com/office/drawing/2014/main" id="{56D95FC3-1D33-6740-8DFA-CBC0E9CCD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4700" y="3784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38627" name="Line 35">
            <a:extLst>
              <a:ext uri="{FF2B5EF4-FFF2-40B4-BE49-F238E27FC236}">
                <a16:creationId xmlns:a16="http://schemas.microsoft.com/office/drawing/2014/main" id="{37A4330E-8C9F-354F-A309-3BD975FFFF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24500" y="2946400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8628" name="Line 36">
            <a:extLst>
              <a:ext uri="{FF2B5EF4-FFF2-40B4-BE49-F238E27FC236}">
                <a16:creationId xmlns:a16="http://schemas.microsoft.com/office/drawing/2014/main" id="{D2716998-1AEE-AD42-9233-AFE650DBAE4E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8940" y="3623151"/>
            <a:ext cx="3048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8629" name="Line 37">
            <a:extLst>
              <a:ext uri="{FF2B5EF4-FFF2-40B4-BE49-F238E27FC236}">
                <a16:creationId xmlns:a16="http://schemas.microsoft.com/office/drawing/2014/main" id="{9CB6C4F1-5591-E34E-BFC2-1AF482C8ED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057900" y="2946400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8630" name="Line 38">
            <a:extLst>
              <a:ext uri="{FF2B5EF4-FFF2-40B4-BE49-F238E27FC236}">
                <a16:creationId xmlns:a16="http://schemas.microsoft.com/office/drawing/2014/main" id="{815A8938-3F31-E049-A453-D0749001F7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57900" y="3632200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8631" name="Line 39">
            <a:extLst>
              <a:ext uri="{FF2B5EF4-FFF2-40B4-BE49-F238E27FC236}">
                <a16:creationId xmlns:a16="http://schemas.microsoft.com/office/drawing/2014/main" id="{769AC17D-AFBD-6444-A4C7-D9FC79642D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77100" y="2946400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8632" name="Text Box 40">
            <a:extLst>
              <a:ext uri="{FF2B5EF4-FFF2-40B4-BE49-F238E27FC236}">
                <a16:creationId xmlns:a16="http://schemas.microsoft.com/office/drawing/2014/main" id="{DA8AEBD4-AE9A-F04D-964C-29A625D3C7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2946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38633" name="Text Box 41">
            <a:extLst>
              <a:ext uri="{FF2B5EF4-FFF2-40B4-BE49-F238E27FC236}">
                <a16:creationId xmlns:a16="http://schemas.microsoft.com/office/drawing/2014/main" id="{E337DE54-784A-AD49-A6A7-6397A412A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6500" y="29622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38634" name="Text Box 42">
            <a:extLst>
              <a:ext uri="{FF2B5EF4-FFF2-40B4-BE49-F238E27FC236}">
                <a16:creationId xmlns:a16="http://schemas.microsoft.com/office/drawing/2014/main" id="{48873E72-20EB-CF46-922D-D8553DF465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3300" y="32512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38635" name="Text Box 43">
            <a:extLst>
              <a:ext uri="{FF2B5EF4-FFF2-40B4-BE49-F238E27FC236}">
                <a16:creationId xmlns:a16="http://schemas.microsoft.com/office/drawing/2014/main" id="{69CA5C25-2BAB-384F-B6B3-752F3281D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2700" y="37846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38636" name="Text Box 44">
            <a:extLst>
              <a:ext uri="{FF2B5EF4-FFF2-40B4-BE49-F238E27FC236}">
                <a16:creationId xmlns:a16="http://schemas.microsoft.com/office/drawing/2014/main" id="{88A80B88-4D73-A947-A4F5-350ABB536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8300" y="38004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38637" name="Line 45">
            <a:extLst>
              <a:ext uri="{FF2B5EF4-FFF2-40B4-BE49-F238E27FC236}">
                <a16:creationId xmlns:a16="http://schemas.microsoft.com/office/drawing/2014/main" id="{8B11143F-B899-F541-8D53-BAA113182A7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4100" y="2794000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8638" name="Text Box 46">
            <a:extLst>
              <a:ext uri="{FF2B5EF4-FFF2-40B4-BE49-F238E27FC236}">
                <a16:creationId xmlns:a16="http://schemas.microsoft.com/office/drawing/2014/main" id="{87E39699-82E9-3B4B-8CBB-2EC617369B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00" y="2565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30" name="Text Box 47">
            <a:extLst>
              <a:ext uri="{FF2B5EF4-FFF2-40B4-BE49-F238E27FC236}">
                <a16:creationId xmlns:a16="http://schemas.microsoft.com/office/drawing/2014/main" id="{292C7528-88E9-0C43-A41E-FB11519C17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4776788"/>
            <a:ext cx="1870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最小生成树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31" name="Text Box 48">
            <a:extLst>
              <a:ext uri="{FF2B5EF4-FFF2-40B4-BE49-F238E27FC236}">
                <a16:creationId xmlns:a16="http://schemas.microsoft.com/office/drawing/2014/main" id="{4ABA3134-4E84-4542-BF56-96290F3F4B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4225" y="4762500"/>
            <a:ext cx="644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18832" name="Text Box 49">
            <a:extLst>
              <a:ext uri="{FF2B5EF4-FFF2-40B4-BE49-F238E27FC236}">
                <a16:creationId xmlns:a16="http://schemas.microsoft.com/office/drawing/2014/main" id="{BDC6B38A-CB15-6F40-9A61-DA9E3E060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1550" y="549275"/>
            <a:ext cx="7129463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2.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克鲁斯卡尔（</a:t>
            </a:r>
            <a:r>
              <a:rPr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Kruskal)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算法，以</a:t>
            </a:r>
            <a:r>
              <a:rPr lang="zh-CN" altLang="en-US" sz="2800" dirty="0">
                <a:solidFill>
                  <a:srgbClr val="C00000"/>
                </a:solidFill>
                <a:latin typeface="宋体" panose="02010600030101010101" pitchFamily="2" charset="-122"/>
              </a:rPr>
              <a:t>选边</a:t>
            </a:r>
            <a:r>
              <a:rPr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为主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8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需要将边按递增次序排列以供选择。</a:t>
            </a:r>
            <a:endParaRPr lang="zh-CN" altLang="en-US" sz="2400" dirty="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38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238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238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238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238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238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238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238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238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2" dur="500"/>
                                        <p:tgtEl>
                                          <p:spTgt spid="238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6" dur="500"/>
                                        <p:tgtEl>
                                          <p:spTgt spid="2386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9" dur="500"/>
                                        <p:tgtEl>
                                          <p:spTgt spid="2386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238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238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8632" grpId="0"/>
      <p:bldP spid="238633" grpId="0"/>
      <p:bldP spid="238634" grpId="0"/>
      <p:bldP spid="238635" grpId="0"/>
      <p:bldP spid="238636" grpId="0"/>
      <p:bldP spid="238636" grpId="1"/>
      <p:bldP spid="23863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灯片编号占位符 3">
            <a:extLst>
              <a:ext uri="{FF2B5EF4-FFF2-40B4-BE49-F238E27FC236}">
                <a16:creationId xmlns:a16="http://schemas.microsoft.com/office/drawing/2014/main" id="{9B321032-3BCB-EF45-B847-8937B71150F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7F3DF36-577D-A54A-A53A-27AA25D8D47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20834" name="Oval 3">
            <a:extLst>
              <a:ext uri="{FF2B5EF4-FFF2-40B4-BE49-F238E27FC236}">
                <a16:creationId xmlns:a16="http://schemas.microsoft.com/office/drawing/2014/main" id="{12507F42-28EC-AE49-AC88-70A1C3A43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5238" y="2820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35" name="Oval 4">
            <a:extLst>
              <a:ext uri="{FF2B5EF4-FFF2-40B4-BE49-F238E27FC236}">
                <a16:creationId xmlns:a16="http://schemas.microsoft.com/office/drawing/2014/main" id="{06807CAA-6A4F-3C4F-8B7A-3C533626F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1557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36" name="Oval 5">
            <a:extLst>
              <a:ext uri="{FF2B5EF4-FFF2-40B4-BE49-F238E27FC236}">
                <a16:creationId xmlns:a16="http://schemas.microsoft.com/office/drawing/2014/main" id="{5508D764-00AB-9A4B-8E1D-F40AFC0E6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42211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37" name="Oval 6">
            <a:extLst>
              <a:ext uri="{FF2B5EF4-FFF2-40B4-BE49-F238E27FC236}">
                <a16:creationId xmlns:a16="http://schemas.microsoft.com/office/drawing/2014/main" id="{82F088C0-8801-E241-87E0-B40FC8EA0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00" y="15811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38" name="Oval 7">
            <a:extLst>
              <a:ext uri="{FF2B5EF4-FFF2-40B4-BE49-F238E27FC236}">
                <a16:creationId xmlns:a16="http://schemas.microsoft.com/office/drawing/2014/main" id="{793EB79F-3497-584C-BDEF-4D603D3B6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2820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39" name="Oval 8">
            <a:extLst>
              <a:ext uri="{FF2B5EF4-FFF2-40B4-BE49-F238E27FC236}">
                <a16:creationId xmlns:a16="http://schemas.microsoft.com/office/drawing/2014/main" id="{AE9C873F-1F23-7B43-AF99-FA832FC67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00" y="40767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40" name="Text Box 9">
            <a:extLst>
              <a:ext uri="{FF2B5EF4-FFF2-40B4-BE49-F238E27FC236}">
                <a16:creationId xmlns:a16="http://schemas.microsoft.com/office/drawing/2014/main" id="{3E013EAD-9537-3648-9017-D0A97FBB9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8175" y="4889500"/>
            <a:ext cx="644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50" name="Line 10">
            <a:extLst>
              <a:ext uri="{FF2B5EF4-FFF2-40B4-BE49-F238E27FC236}">
                <a16:creationId xmlns:a16="http://schemas.microsoft.com/office/drawing/2014/main" id="{BB915F47-3FAA-894D-B9AF-C66A1509FE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0113" y="1895475"/>
            <a:ext cx="719137" cy="1030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51" name="Line 11">
            <a:extLst>
              <a:ext uri="{FF2B5EF4-FFF2-40B4-BE49-F238E27FC236}">
                <a16:creationId xmlns:a16="http://schemas.microsoft.com/office/drawing/2014/main" id="{64CF4879-69BF-264F-951D-141DF8F9C4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7088" y="3141663"/>
            <a:ext cx="792162" cy="1079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843" name="Line 12">
            <a:extLst>
              <a:ext uri="{FF2B5EF4-FFF2-40B4-BE49-F238E27FC236}">
                <a16:creationId xmlns:a16="http://schemas.microsoft.com/office/drawing/2014/main" id="{F2BF665D-40E9-9249-8DA6-AC92D5BB6C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0113" y="2997200"/>
            <a:ext cx="16557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844" name="Line 13">
            <a:extLst>
              <a:ext uri="{FF2B5EF4-FFF2-40B4-BE49-F238E27FC236}">
                <a16:creationId xmlns:a16="http://schemas.microsoft.com/office/drawing/2014/main" id="{59C50D62-B1FB-B04A-B9DE-D408C30027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63713" y="1917700"/>
            <a:ext cx="0" cy="2303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54" name="Line 14">
            <a:extLst>
              <a:ext uri="{FF2B5EF4-FFF2-40B4-BE49-F238E27FC236}">
                <a16:creationId xmlns:a16="http://schemas.microsoft.com/office/drawing/2014/main" id="{22B2DDEC-8791-F04F-B425-829E36887FF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35150" y="1895475"/>
            <a:ext cx="720725" cy="957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55" name="Line 15">
            <a:extLst>
              <a:ext uri="{FF2B5EF4-FFF2-40B4-BE49-F238E27FC236}">
                <a16:creationId xmlns:a16="http://schemas.microsoft.com/office/drawing/2014/main" id="{7A7237D0-1429-C743-BBE9-97E8FC90AC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82775" y="3141663"/>
            <a:ext cx="744538" cy="1104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847" name="Line 16">
            <a:extLst>
              <a:ext uri="{FF2B5EF4-FFF2-40B4-BE49-F238E27FC236}">
                <a16:creationId xmlns:a16="http://schemas.microsoft.com/office/drawing/2014/main" id="{52246759-AA65-4044-9F93-F6B27611E7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43213" y="1917700"/>
            <a:ext cx="720725" cy="9350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848" name="Line 17">
            <a:extLst>
              <a:ext uri="{FF2B5EF4-FFF2-40B4-BE49-F238E27FC236}">
                <a16:creationId xmlns:a16="http://schemas.microsoft.com/office/drawing/2014/main" id="{19F53400-AA3C-164E-AF53-C4D8B0BB5FB1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3213" y="3203575"/>
            <a:ext cx="720725" cy="946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58" name="Line 18">
            <a:extLst>
              <a:ext uri="{FF2B5EF4-FFF2-40B4-BE49-F238E27FC236}">
                <a16:creationId xmlns:a16="http://schemas.microsoft.com/office/drawing/2014/main" id="{9DEE7254-1614-E340-A9F2-310C6F628A8A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5700" y="1943100"/>
            <a:ext cx="12700" cy="213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59" name="Text Box 19">
            <a:extLst>
              <a:ext uri="{FF2B5EF4-FFF2-40B4-BE49-F238E27FC236}">
                <a16:creationId xmlns:a16="http://schemas.microsoft.com/office/drawing/2014/main" id="{4063AD5B-B5C9-1749-BA02-3CC69EF8A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8550" y="21336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51" name="Text Box 20">
            <a:extLst>
              <a:ext uri="{FF2B5EF4-FFF2-40B4-BE49-F238E27FC236}">
                <a16:creationId xmlns:a16="http://schemas.microsoft.com/office/drawing/2014/main" id="{AE68DB5E-879D-0A4E-A8A9-0C1C89141C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8175" y="25654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61" name="Text Box 21">
            <a:extLst>
              <a:ext uri="{FF2B5EF4-FFF2-40B4-BE49-F238E27FC236}">
                <a16:creationId xmlns:a16="http://schemas.microsoft.com/office/drawing/2014/main" id="{9BEBD17B-7FDD-0843-A6A0-450E0A649F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8538" y="22050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53" name="Text Box 22">
            <a:extLst>
              <a:ext uri="{FF2B5EF4-FFF2-40B4-BE49-F238E27FC236}">
                <a16:creationId xmlns:a16="http://schemas.microsoft.com/office/drawing/2014/main" id="{1CF6468A-091D-C14C-9178-D065AB1EBB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5275" y="35766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54" name="Text Box 23">
            <a:extLst>
              <a:ext uri="{FF2B5EF4-FFF2-40B4-BE49-F238E27FC236}">
                <a16:creationId xmlns:a16="http://schemas.microsoft.com/office/drawing/2014/main" id="{59976086-65D5-3749-BA64-7AF2584437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8338" y="19939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64" name="Text Box 24">
            <a:extLst>
              <a:ext uri="{FF2B5EF4-FFF2-40B4-BE49-F238E27FC236}">
                <a16:creationId xmlns:a16="http://schemas.microsoft.com/office/drawing/2014/main" id="{78F87E45-FC46-5541-B2D2-62CA2487C5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9289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65" name="Text Box 25">
            <a:extLst>
              <a:ext uri="{FF2B5EF4-FFF2-40B4-BE49-F238E27FC236}">
                <a16:creationId xmlns:a16="http://schemas.microsoft.com/office/drawing/2014/main" id="{45BDC02C-E678-1045-B7B8-3E1C700B98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2038" y="371792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66" name="Text Box 26">
            <a:extLst>
              <a:ext uri="{FF2B5EF4-FFF2-40B4-BE49-F238E27FC236}">
                <a16:creationId xmlns:a16="http://schemas.microsoft.com/office/drawing/2014/main" id="{6768BC57-D5CB-A64A-B536-09E9DC053F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3613" y="37211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58" name="Text Box 27">
            <a:extLst>
              <a:ext uri="{FF2B5EF4-FFF2-40B4-BE49-F238E27FC236}">
                <a16:creationId xmlns:a16="http://schemas.microsoft.com/office/drawing/2014/main" id="{A32F2D53-9F94-404E-B9D4-A3765076D6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1913" y="31416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68" name="Line 28">
            <a:extLst>
              <a:ext uri="{FF2B5EF4-FFF2-40B4-BE49-F238E27FC236}">
                <a16:creationId xmlns:a16="http://schemas.microsoft.com/office/drawing/2014/main" id="{933F4FB8-C224-0F47-9405-9850FA73414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8175" y="1773238"/>
            <a:ext cx="1584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69" name="Text Box 29">
            <a:extLst>
              <a:ext uri="{FF2B5EF4-FFF2-40B4-BE49-F238E27FC236}">
                <a16:creationId xmlns:a16="http://schemas.microsoft.com/office/drawing/2014/main" id="{56FC64BC-6023-094F-9EC0-99DB76EB5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75" y="14843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61" name="Oval 30">
            <a:extLst>
              <a:ext uri="{FF2B5EF4-FFF2-40B4-BE49-F238E27FC236}">
                <a16:creationId xmlns:a16="http://schemas.microsoft.com/office/drawing/2014/main" id="{394C7ECA-7CE5-F845-9E7B-10828988F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2313" y="2820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62" name="Oval 31">
            <a:extLst>
              <a:ext uri="{FF2B5EF4-FFF2-40B4-BE49-F238E27FC236}">
                <a16:creationId xmlns:a16="http://schemas.microsoft.com/office/drawing/2014/main" id="{32A934ED-7C63-8D4F-A6D4-3DA1A72EA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888" y="1557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63" name="Oval 32">
            <a:extLst>
              <a:ext uri="{FF2B5EF4-FFF2-40B4-BE49-F238E27FC236}">
                <a16:creationId xmlns:a16="http://schemas.microsoft.com/office/drawing/2014/main" id="{91771819-2355-DB48-ADB8-1D2645584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888" y="42211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64" name="Oval 33">
            <a:extLst>
              <a:ext uri="{FF2B5EF4-FFF2-40B4-BE49-F238E27FC236}">
                <a16:creationId xmlns:a16="http://schemas.microsoft.com/office/drawing/2014/main" id="{A17D8C96-E568-2946-9B67-4D1B991F8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9575" y="158115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65" name="Oval 34">
            <a:extLst>
              <a:ext uri="{FF2B5EF4-FFF2-40B4-BE49-F238E27FC236}">
                <a16:creationId xmlns:a16="http://schemas.microsoft.com/office/drawing/2014/main" id="{D36B28E1-1B43-E540-A775-481F020D8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2820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66" name="Oval 35">
            <a:extLst>
              <a:ext uri="{FF2B5EF4-FFF2-40B4-BE49-F238E27FC236}">
                <a16:creationId xmlns:a16="http://schemas.microsoft.com/office/drawing/2014/main" id="{FAEEF26E-56D2-384C-AFEB-6321D07527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9575" y="40767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76" name="Line 36">
            <a:extLst>
              <a:ext uri="{FF2B5EF4-FFF2-40B4-BE49-F238E27FC236}">
                <a16:creationId xmlns:a16="http://schemas.microsoft.com/office/drawing/2014/main" id="{ED8A26A4-F5CC-C34D-8D18-C259781121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37188" y="1895475"/>
            <a:ext cx="719137" cy="1030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77" name="Line 37">
            <a:extLst>
              <a:ext uri="{FF2B5EF4-FFF2-40B4-BE49-F238E27FC236}">
                <a16:creationId xmlns:a16="http://schemas.microsoft.com/office/drawing/2014/main" id="{C16222DD-A62E-9449-A2BC-C7FC2A27D8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4163" y="3141663"/>
            <a:ext cx="792162" cy="1079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78" name="Line 38">
            <a:extLst>
              <a:ext uri="{FF2B5EF4-FFF2-40B4-BE49-F238E27FC236}">
                <a16:creationId xmlns:a16="http://schemas.microsoft.com/office/drawing/2014/main" id="{D8F6E203-5516-B941-A063-5824FDD5B73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2225" y="1895475"/>
            <a:ext cx="720725" cy="957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79" name="Line 39">
            <a:extLst>
              <a:ext uri="{FF2B5EF4-FFF2-40B4-BE49-F238E27FC236}">
                <a16:creationId xmlns:a16="http://schemas.microsoft.com/office/drawing/2014/main" id="{08E41B1C-85A1-3643-8497-18D1BD3C4D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19850" y="3141663"/>
            <a:ext cx="744538" cy="1104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80" name="Line 40">
            <a:extLst>
              <a:ext uri="{FF2B5EF4-FFF2-40B4-BE49-F238E27FC236}">
                <a16:creationId xmlns:a16="http://schemas.microsoft.com/office/drawing/2014/main" id="{DD274850-C9BF-DB46-89BD-6E0DBF71B712}"/>
              </a:ext>
            </a:extLst>
          </p:cNvPr>
          <p:cNvSpPr>
            <a:spLocks noChangeShapeType="1"/>
          </p:cNvSpPr>
          <p:nvPr/>
        </p:nvSpPr>
        <p:spPr bwMode="auto">
          <a:xfrm>
            <a:off x="8232775" y="1943100"/>
            <a:ext cx="12700" cy="213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81" name="Text Box 41">
            <a:extLst>
              <a:ext uri="{FF2B5EF4-FFF2-40B4-BE49-F238E27FC236}">
                <a16:creationId xmlns:a16="http://schemas.microsoft.com/office/drawing/2014/main" id="{C042FE5D-71B4-D544-A725-1013BA54E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5625" y="21336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82" name="Text Box 42">
            <a:extLst>
              <a:ext uri="{FF2B5EF4-FFF2-40B4-BE49-F238E27FC236}">
                <a16:creationId xmlns:a16="http://schemas.microsoft.com/office/drawing/2014/main" id="{4B2C9998-7045-1F42-957B-AB8C2A9086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5613" y="22050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83" name="Text Box 43">
            <a:extLst>
              <a:ext uri="{FF2B5EF4-FFF2-40B4-BE49-F238E27FC236}">
                <a16:creationId xmlns:a16="http://schemas.microsoft.com/office/drawing/2014/main" id="{9846EA01-DCC5-744D-B46F-DBEFD3B1B9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1850" y="2928938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84" name="Text Box 44">
            <a:extLst>
              <a:ext uri="{FF2B5EF4-FFF2-40B4-BE49-F238E27FC236}">
                <a16:creationId xmlns:a16="http://schemas.microsoft.com/office/drawing/2014/main" id="{94545CA0-EF99-7540-BEAA-255CF8FB6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4650" y="394176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85" name="Text Box 45">
            <a:extLst>
              <a:ext uri="{FF2B5EF4-FFF2-40B4-BE49-F238E27FC236}">
                <a16:creationId xmlns:a16="http://schemas.microsoft.com/office/drawing/2014/main" id="{0E92C408-EC49-0B46-A1B1-CA3AF8D6E9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0688" y="372110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86" name="Line 46">
            <a:extLst>
              <a:ext uri="{FF2B5EF4-FFF2-40B4-BE49-F238E27FC236}">
                <a16:creationId xmlns:a16="http://schemas.microsoft.com/office/drawing/2014/main" id="{47387920-5017-5C48-B2CD-0A031D028A24}"/>
              </a:ext>
            </a:extLst>
          </p:cNvPr>
          <p:cNvSpPr>
            <a:spLocks noChangeShapeType="1"/>
          </p:cNvSpPr>
          <p:nvPr/>
        </p:nvSpPr>
        <p:spPr bwMode="auto">
          <a:xfrm>
            <a:off x="6445250" y="1773238"/>
            <a:ext cx="1584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87" name="Text Box 47">
            <a:extLst>
              <a:ext uri="{FF2B5EF4-FFF2-40B4-BE49-F238E27FC236}">
                <a16:creationId xmlns:a16="http://schemas.microsoft.com/office/drawing/2014/main" id="{EA86FE45-ECB6-C54B-BF9E-369BB72A8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2950" y="1484313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88" name="AutoShape 48">
            <a:extLst>
              <a:ext uri="{FF2B5EF4-FFF2-40B4-BE49-F238E27FC236}">
                <a16:creationId xmlns:a16="http://schemas.microsoft.com/office/drawing/2014/main" id="{2713ECE2-841E-B34B-AC93-EB69E2261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9275" y="2205038"/>
            <a:ext cx="304800" cy="212725"/>
          </a:xfrm>
          <a:prstGeom prst="rightArrow">
            <a:avLst>
              <a:gd name="adj1" fmla="val 50000"/>
              <a:gd name="adj2" fmla="val 35821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89" name="AutoShape 49">
            <a:extLst>
              <a:ext uri="{FF2B5EF4-FFF2-40B4-BE49-F238E27FC236}">
                <a16:creationId xmlns:a16="http://schemas.microsoft.com/office/drawing/2014/main" id="{520784C4-CCAE-C542-9967-B6E0751A3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213" y="2424113"/>
            <a:ext cx="304800" cy="212725"/>
          </a:xfrm>
          <a:prstGeom prst="rightArrow">
            <a:avLst>
              <a:gd name="adj1" fmla="val 50000"/>
              <a:gd name="adj2" fmla="val 35821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90" name="AutoShape 50">
            <a:extLst>
              <a:ext uri="{FF2B5EF4-FFF2-40B4-BE49-F238E27FC236}">
                <a16:creationId xmlns:a16="http://schemas.microsoft.com/office/drawing/2014/main" id="{30D4FEF6-2A9A-A14B-B570-DAE45DB41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0575" y="2928938"/>
            <a:ext cx="304800" cy="212725"/>
          </a:xfrm>
          <a:prstGeom prst="rightArrow">
            <a:avLst>
              <a:gd name="adj1" fmla="val 50000"/>
              <a:gd name="adj2" fmla="val 35821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91" name="AutoShape 51">
            <a:extLst>
              <a:ext uri="{FF2B5EF4-FFF2-40B4-BE49-F238E27FC236}">
                <a16:creationId xmlns:a16="http://schemas.microsoft.com/office/drawing/2014/main" id="{D49EE64B-1006-A143-9DD6-7D5AB60E9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188" y="3429000"/>
            <a:ext cx="304800" cy="212725"/>
          </a:xfrm>
          <a:prstGeom prst="rightArrow">
            <a:avLst>
              <a:gd name="adj1" fmla="val 50000"/>
              <a:gd name="adj2" fmla="val 35821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92" name="AutoShape 52">
            <a:extLst>
              <a:ext uri="{FF2B5EF4-FFF2-40B4-BE49-F238E27FC236}">
                <a16:creationId xmlns:a16="http://schemas.microsoft.com/office/drawing/2014/main" id="{8D713520-089B-1449-982F-4691F651D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3357563"/>
            <a:ext cx="304800" cy="212725"/>
          </a:xfrm>
          <a:prstGeom prst="rightArrow">
            <a:avLst>
              <a:gd name="adj1" fmla="val 50000"/>
              <a:gd name="adj2" fmla="val 35821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40693" name="AutoShape 53">
            <a:extLst>
              <a:ext uri="{FF2B5EF4-FFF2-40B4-BE49-F238E27FC236}">
                <a16:creationId xmlns:a16="http://schemas.microsoft.com/office/drawing/2014/main" id="{B4477F52-1AED-BC43-B44E-F7E3AEB2A2F1}"/>
              </a:ext>
            </a:extLst>
          </p:cNvPr>
          <p:cNvSpPr>
            <a:spLocks noChangeArrowheads="1"/>
          </p:cNvSpPr>
          <p:nvPr/>
        </p:nvSpPr>
        <p:spPr bwMode="auto">
          <a:xfrm rot="-5499672">
            <a:off x="2434431" y="1939132"/>
            <a:ext cx="303213" cy="228600"/>
          </a:xfrm>
          <a:prstGeom prst="rightArrow">
            <a:avLst>
              <a:gd name="adj1" fmla="val 50000"/>
              <a:gd name="adj2" fmla="val 33160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85" name="Text Box 54">
            <a:extLst>
              <a:ext uri="{FF2B5EF4-FFF2-40B4-BE49-F238E27FC236}">
                <a16:creationId xmlns:a16="http://schemas.microsoft.com/office/drawing/2014/main" id="{C0F52176-8D74-484F-8E23-8FD921BC2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4921250"/>
            <a:ext cx="1870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最小生成树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0886" name="Text Box 55">
            <a:extLst>
              <a:ext uri="{FF2B5EF4-FFF2-40B4-BE49-F238E27FC236}">
                <a16:creationId xmlns:a16="http://schemas.microsoft.com/office/drawing/2014/main" id="{44A1057E-DC2A-404E-A1C0-ED699BF043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313" y="739775"/>
            <a:ext cx="655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克鲁斯卡尔（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Kruskal)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算法的另一最小生成树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40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" dur="500"/>
                                        <p:tgtEl>
                                          <p:spTgt spid="2406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" dur="500"/>
                                        <p:tgtEl>
                                          <p:spTgt spid="2406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" dur="500"/>
                                        <p:tgtEl>
                                          <p:spTgt spid="2406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2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240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240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3" dur="500"/>
                                        <p:tgtEl>
                                          <p:spTgt spid="240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7" dur="500"/>
                                        <p:tgtEl>
                                          <p:spTgt spid="2406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0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1" dur="500"/>
                                        <p:tgtEl>
                                          <p:spTgt spid="2406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4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5" dur="500"/>
                                        <p:tgtEl>
                                          <p:spTgt spid="2406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4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0" dur="500"/>
                                        <p:tgtEl>
                                          <p:spTgt spid="240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5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4" dur="500"/>
                                        <p:tgtEl>
                                          <p:spTgt spid="240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9" dur="500"/>
                                        <p:tgtEl>
                                          <p:spTgt spid="240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3" dur="500"/>
                                        <p:tgtEl>
                                          <p:spTgt spid="2406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6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7" dur="500"/>
                                        <p:tgtEl>
                                          <p:spTgt spid="2406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2406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7" dur="500"/>
                                        <p:tgtEl>
                                          <p:spTgt spid="240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1" dur="500"/>
                                        <p:tgtEl>
                                          <p:spTgt spid="240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6" dur="500"/>
                                        <p:tgtEl>
                                          <p:spTgt spid="240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8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9" dur="500"/>
                                        <p:tgtEl>
                                          <p:spTgt spid="2406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2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3" dur="500"/>
                                        <p:tgtEl>
                                          <p:spTgt spid="2406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96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7" dur="500"/>
                                        <p:tgtEl>
                                          <p:spTgt spid="2406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00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2" dur="500"/>
                                        <p:tgtEl>
                                          <p:spTgt spid="240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04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6" dur="500"/>
                                        <p:tgtEl>
                                          <p:spTgt spid="240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1" dur="500"/>
                                        <p:tgtEl>
                                          <p:spTgt spid="240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5" dur="500"/>
                                        <p:tgtEl>
                                          <p:spTgt spid="2406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8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9" dur="500"/>
                                        <p:tgtEl>
                                          <p:spTgt spid="2406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3" dur="500"/>
                                        <p:tgtEl>
                                          <p:spTgt spid="2406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2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8" dur="500"/>
                                        <p:tgtEl>
                                          <p:spTgt spid="240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0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2" dur="500"/>
                                        <p:tgtEl>
                                          <p:spTgt spid="240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6" dur="500"/>
                                        <p:tgtEl>
                                          <p:spTgt spid="2406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9" dur="500"/>
                                        <p:tgtEl>
                                          <p:spTgt spid="2406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5" dur="500"/>
                                        <p:tgtEl>
                                          <p:spTgt spid="240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9" dur="500"/>
                                        <p:tgtEl>
                                          <p:spTgt spid="2406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2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3" dur="500"/>
                                        <p:tgtEl>
                                          <p:spTgt spid="2406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6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7" dur="500"/>
                                        <p:tgtEl>
                                          <p:spTgt spid="2406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60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2" dur="500"/>
                                        <p:tgtEl>
                                          <p:spTgt spid="240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6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6" dur="500"/>
                                        <p:tgtEl>
                                          <p:spTgt spid="240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0659" grpId="0"/>
      <p:bldP spid="240661" grpId="0"/>
      <p:bldP spid="240664" grpId="0"/>
      <p:bldP spid="240665" grpId="0"/>
      <p:bldP spid="240666" grpId="0"/>
      <p:bldP spid="240669" grpId="0"/>
      <p:bldP spid="240681" grpId="0"/>
      <p:bldP spid="240682" grpId="0"/>
      <p:bldP spid="240683" grpId="0"/>
      <p:bldP spid="240684" grpId="0"/>
      <p:bldP spid="240684" grpId="1"/>
      <p:bldP spid="240685" grpId="0"/>
      <p:bldP spid="240687" grpId="0"/>
      <p:bldP spid="240688" grpId="0" animBg="1"/>
      <p:bldP spid="240688" grpId="1" animBg="1"/>
      <p:bldP spid="240689" grpId="0" animBg="1"/>
      <p:bldP spid="240689" grpId="1" animBg="1"/>
      <p:bldP spid="240690" grpId="0" animBg="1"/>
      <p:bldP spid="240690" grpId="1" animBg="1"/>
      <p:bldP spid="240691" grpId="0" animBg="1"/>
      <p:bldP spid="240691" grpId="1" animBg="1"/>
      <p:bldP spid="240692" grpId="0" animBg="1"/>
      <p:bldP spid="240692" grpId="1" animBg="1"/>
      <p:bldP spid="240693" grpId="0" animBg="1"/>
      <p:bldP spid="240693" grpId="1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内容占位符 2">
            <a:extLst>
              <a:ext uri="{FF2B5EF4-FFF2-40B4-BE49-F238E27FC236}">
                <a16:creationId xmlns:a16="http://schemas.microsoft.com/office/drawing/2014/main" id="{3D6D5238-6ECE-8A45-B3F9-274B5D7AD752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042988" y="6350"/>
            <a:ext cx="8101012" cy="6518275"/>
          </a:xfrm>
        </p:spPr>
        <p:txBody>
          <a:bodyPr/>
          <a:lstStyle/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#define MAX_VERTEX_NUM 20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#define </a:t>
            </a:r>
            <a:r>
              <a:rPr lang="en-GB" altLang="zh-CN" sz="1600" dirty="0" err="1"/>
              <a:t>VertexType</a:t>
            </a:r>
            <a:r>
              <a:rPr lang="en-GB" altLang="zh-CN" sz="1600" dirty="0"/>
              <a:t> int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typedef struct edge{ </a:t>
            </a:r>
            <a:r>
              <a:rPr lang="en-GB" altLang="zh-CN" sz="1600" dirty="0" err="1"/>
              <a:t>VertexType</a:t>
            </a:r>
            <a:r>
              <a:rPr lang="en-GB" altLang="zh-CN" sz="1600" dirty="0"/>
              <a:t> initial; </a:t>
            </a:r>
            <a:r>
              <a:rPr lang="en-GB" altLang="zh-CN" sz="1600" dirty="0" err="1"/>
              <a:t>VertexType</a:t>
            </a:r>
            <a:r>
              <a:rPr lang="en-GB" altLang="zh-CN" sz="1600" dirty="0"/>
              <a:t> end; </a:t>
            </a:r>
            <a:r>
              <a:rPr lang="en-GB" altLang="zh-CN" sz="1600" dirty="0" err="1"/>
              <a:t>VertexType</a:t>
            </a:r>
            <a:r>
              <a:rPr lang="en-GB" altLang="zh-CN" sz="1600" dirty="0"/>
              <a:t> weight; 				}edge[MAX_VERTEX_NUM];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typedef struct { </a:t>
            </a:r>
            <a:r>
              <a:rPr lang="en-GB" altLang="zh-CN" sz="1600" dirty="0" err="1"/>
              <a:t>VertexType</a:t>
            </a:r>
            <a:r>
              <a:rPr lang="en-GB" altLang="zh-CN" sz="1600" dirty="0"/>
              <a:t> value;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	int sign;</a:t>
            </a:r>
            <a:r>
              <a:rPr lang="en-US" altLang="zh-CN" sz="1600" dirty="0"/>
              <a:t>}</a:t>
            </a:r>
            <a:r>
              <a:rPr lang="en-GB" altLang="zh-CN" sz="1600" dirty="0"/>
              <a:t>assist[MAX_VERTEX_NUM];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assist assists;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int main(){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int </a:t>
            </a:r>
            <a:r>
              <a:rPr lang="en-GB" altLang="zh-CN" sz="1600" dirty="0" err="1"/>
              <a:t>arcnum,vexnum</a:t>
            </a:r>
            <a:r>
              <a:rPr lang="en-GB" altLang="zh-CN" sz="1600" dirty="0"/>
              <a:t>;  	edge edges; 	Create(&amp;edges,&amp;</a:t>
            </a:r>
            <a:r>
              <a:rPr lang="en-GB" altLang="zh-CN" sz="1600" dirty="0" err="1"/>
              <a:t>vexnum</a:t>
            </a:r>
            <a:r>
              <a:rPr lang="en-GB" altLang="zh-CN" sz="1600" dirty="0"/>
              <a:t>,&amp;</a:t>
            </a:r>
            <a:r>
              <a:rPr lang="en-GB" altLang="zh-CN" sz="1600" dirty="0" err="1"/>
              <a:t>arcnum</a:t>
            </a:r>
            <a:r>
              <a:rPr lang="en-GB" altLang="zh-CN" sz="1600" dirty="0"/>
              <a:t>);//</a:t>
            </a:r>
            <a:r>
              <a:rPr lang="zh-CN" altLang="en-US" sz="1600" dirty="0"/>
              <a:t>存储所有的边信息到</a:t>
            </a:r>
            <a:r>
              <a:rPr lang="en-US" altLang="zh-CN" sz="1600" dirty="0"/>
              <a:t>edges</a:t>
            </a:r>
            <a:r>
              <a:rPr lang="zh-CN" altLang="en-US" sz="1600" dirty="0"/>
              <a:t>数组中</a:t>
            </a:r>
            <a:endParaRPr lang="en-US" altLang="zh-CN" sz="1600" dirty="0"/>
          </a:p>
          <a:p>
            <a:pPr marL="0" indent="0">
              <a:buFont typeface="Wingdings" pitchFamily="2" charset="2"/>
              <a:buNone/>
            </a:pPr>
            <a:r>
              <a:rPr lang="en-US" altLang="zh-CN" sz="1600" dirty="0"/>
              <a:t>	</a:t>
            </a:r>
            <a:r>
              <a:rPr lang="en-GB" altLang="zh-CN" sz="1600" dirty="0" err="1"/>
              <a:t>qsort</a:t>
            </a:r>
            <a:r>
              <a:rPr lang="en-GB" altLang="zh-CN" sz="1600" dirty="0"/>
              <a:t>(edges, </a:t>
            </a:r>
            <a:r>
              <a:rPr lang="en-GB" altLang="zh-CN" sz="1600" dirty="0" err="1"/>
              <a:t>arcnum</a:t>
            </a:r>
            <a:r>
              <a:rPr lang="en-GB" altLang="zh-CN" sz="1600" dirty="0"/>
              <a:t>, </a:t>
            </a:r>
            <a:r>
              <a:rPr lang="en-GB" altLang="zh-CN" sz="1600" dirty="0" err="1"/>
              <a:t>sizeof</a:t>
            </a:r>
            <a:r>
              <a:rPr lang="en-GB" altLang="zh-CN" sz="1600" dirty="0"/>
              <a:t>(edges[0]), </a:t>
            </a:r>
            <a:r>
              <a:rPr lang="en-GB" altLang="zh-CN" sz="1600" dirty="0" err="1"/>
              <a:t>cmp</a:t>
            </a:r>
            <a:r>
              <a:rPr lang="en-GB" altLang="zh-CN" sz="1600" dirty="0"/>
              <a:t>); </a:t>
            </a:r>
            <a:r>
              <a:rPr lang="en-US" altLang="zh-CN" sz="1600" dirty="0"/>
              <a:t>//</a:t>
            </a:r>
            <a:r>
              <a:rPr lang="zh-CN" altLang="en-US" sz="1600" dirty="0"/>
              <a:t>边按照权值排序</a:t>
            </a:r>
            <a:endParaRPr lang="en-US" altLang="zh-CN" sz="1600" dirty="0"/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int </a:t>
            </a:r>
            <a:r>
              <a:rPr lang="en-GB" altLang="zh-CN" sz="1600" dirty="0" err="1"/>
              <a:t>num</a:t>
            </a:r>
            <a:r>
              <a:rPr lang="en-GB" altLang="zh-CN" sz="1600" dirty="0"/>
              <a:t>=0;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for (int </a:t>
            </a:r>
            <a:r>
              <a:rPr lang="en-GB" altLang="zh-CN" sz="1600" dirty="0" err="1"/>
              <a:t>i</a:t>
            </a:r>
            <a:r>
              <a:rPr lang="en-GB" altLang="zh-CN" sz="1600" dirty="0"/>
              <a:t>=0; </a:t>
            </a:r>
            <a:r>
              <a:rPr lang="en-GB" altLang="zh-CN" sz="1600" dirty="0" err="1"/>
              <a:t>i</a:t>
            </a:r>
            <a:r>
              <a:rPr lang="en-GB" altLang="zh-CN" sz="1600" dirty="0"/>
              <a:t>&lt;</a:t>
            </a:r>
            <a:r>
              <a:rPr lang="en-GB" altLang="zh-CN" sz="1600" dirty="0" err="1"/>
              <a:t>arcnum</a:t>
            </a:r>
            <a:r>
              <a:rPr lang="en-GB" altLang="zh-CN" sz="1600" dirty="0"/>
              <a:t>; </a:t>
            </a:r>
            <a:r>
              <a:rPr lang="en-GB" altLang="zh-CN" sz="1600" dirty="0" err="1"/>
              <a:t>i</a:t>
            </a:r>
            <a:r>
              <a:rPr lang="en-GB" altLang="zh-CN" sz="1600" dirty="0"/>
              <a:t>++) { </a:t>
            </a:r>
            <a:r>
              <a:rPr lang="en-US" altLang="zh-CN" sz="1600" dirty="0"/>
              <a:t>						</a:t>
            </a:r>
            <a:r>
              <a:rPr lang="en-GB" altLang="zh-CN" sz="1600" dirty="0"/>
              <a:t>initial=</a:t>
            </a:r>
            <a:r>
              <a:rPr lang="en-GB" altLang="zh-CN" sz="1600" dirty="0" err="1"/>
              <a:t>Locatevex</a:t>
            </a:r>
            <a:r>
              <a:rPr lang="en-GB" altLang="zh-CN" sz="1600" dirty="0"/>
              <a:t>(</a:t>
            </a:r>
            <a:r>
              <a:rPr lang="en-GB" altLang="zh-CN" sz="1600" dirty="0" err="1"/>
              <a:t>vexnum</a:t>
            </a:r>
            <a:r>
              <a:rPr lang="en-GB" altLang="zh-CN" sz="1600" dirty="0"/>
              <a:t>, edges[</a:t>
            </a:r>
            <a:r>
              <a:rPr lang="en-GB" altLang="zh-CN" sz="1600" dirty="0" err="1"/>
              <a:t>i</a:t>
            </a:r>
            <a:r>
              <a:rPr lang="en-GB" altLang="zh-CN" sz="1600" dirty="0"/>
              <a:t>].initial);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	int end=</a:t>
            </a:r>
            <a:r>
              <a:rPr lang="en-GB" altLang="zh-CN" sz="1600" dirty="0" err="1"/>
              <a:t>Locatevex</a:t>
            </a:r>
            <a:r>
              <a:rPr lang="en-GB" altLang="zh-CN" sz="1600" dirty="0"/>
              <a:t>(</a:t>
            </a:r>
            <a:r>
              <a:rPr lang="en-GB" altLang="zh-CN" sz="1600" dirty="0" err="1"/>
              <a:t>vexnum</a:t>
            </a:r>
            <a:r>
              <a:rPr lang="en-GB" altLang="zh-CN" sz="1600" dirty="0"/>
              <a:t>, edges[</a:t>
            </a:r>
            <a:r>
              <a:rPr lang="en-GB" altLang="zh-CN" sz="1600" dirty="0" err="1"/>
              <a:t>i</a:t>
            </a:r>
            <a:r>
              <a:rPr lang="en-GB" altLang="zh-CN" sz="1600" dirty="0"/>
              <a:t>].end);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	if (initial!=-1&amp;&amp; end!=-1&amp;&amp;assists[initial].sign!=assists[end].sign) {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		</a:t>
            </a:r>
            <a:r>
              <a:rPr lang="en-GB" altLang="zh-CN" sz="1600" dirty="0" err="1"/>
              <a:t>minTree</a:t>
            </a:r>
            <a:r>
              <a:rPr lang="en-GB" altLang="zh-CN" sz="1600" dirty="0"/>
              <a:t>[</a:t>
            </a:r>
            <a:r>
              <a:rPr lang="en-GB" altLang="zh-CN" sz="1600" dirty="0" err="1"/>
              <a:t>num</a:t>
            </a:r>
            <a:r>
              <a:rPr lang="en-GB" altLang="zh-CN" sz="1600" dirty="0"/>
              <a:t>]=edges[</a:t>
            </a:r>
            <a:r>
              <a:rPr lang="en-GB" altLang="zh-CN" sz="1600" dirty="0" err="1"/>
              <a:t>i</a:t>
            </a:r>
            <a:r>
              <a:rPr lang="en-GB" altLang="zh-CN" sz="1600" dirty="0"/>
              <a:t>]; </a:t>
            </a:r>
            <a:r>
              <a:rPr lang="zh-CN" altLang="en-US" sz="1600" dirty="0"/>
              <a:t> </a:t>
            </a:r>
            <a:r>
              <a:rPr lang="en-GB" altLang="zh-CN" sz="1600" dirty="0" err="1"/>
              <a:t>num</a:t>
            </a:r>
            <a:r>
              <a:rPr lang="en-GB" altLang="zh-CN" sz="1600" dirty="0"/>
              <a:t>++;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		//</a:t>
            </a:r>
            <a:r>
              <a:rPr lang="zh-CN" altLang="en-US" sz="1600" dirty="0"/>
              <a:t>记录该边，作为最小生成树的组成部分 </a:t>
            </a:r>
            <a:r>
              <a:rPr lang="en-US" altLang="zh-CN" sz="1600" dirty="0"/>
              <a:t>	</a:t>
            </a:r>
            <a:endParaRPr lang="en-GB" altLang="zh-CN" sz="1600" dirty="0"/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		for (int k=0; k&lt;</a:t>
            </a:r>
            <a:r>
              <a:rPr lang="en-GB" altLang="zh-CN" sz="1600" dirty="0" err="1"/>
              <a:t>vexnum</a:t>
            </a:r>
            <a:r>
              <a:rPr lang="en-GB" altLang="zh-CN" sz="1600" dirty="0"/>
              <a:t>; k++) {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			if (assists[k].sign==assists[end].sign) { 					assists[k].sign=assists[initial].sign; } }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	</a:t>
            </a:r>
            <a:r>
              <a:rPr lang="zh-CN" altLang="en-US" sz="1600" dirty="0"/>
              <a:t> </a:t>
            </a:r>
            <a:r>
              <a:rPr lang="en-US" altLang="zh-CN" sz="1600" dirty="0"/>
              <a:t>	</a:t>
            </a:r>
            <a:r>
              <a:rPr lang="en-GB" altLang="zh-CN" sz="1600" dirty="0"/>
              <a:t>if (</a:t>
            </a:r>
            <a:r>
              <a:rPr lang="en-GB" altLang="zh-CN" sz="1600" dirty="0" err="1"/>
              <a:t>num</a:t>
            </a:r>
            <a:r>
              <a:rPr lang="en-GB" altLang="zh-CN" sz="1600" dirty="0"/>
              <a:t>==vexnum-1) { break; } } }  </a:t>
            </a:r>
          </a:p>
          <a:p>
            <a:pPr marL="0" indent="0">
              <a:buFont typeface="Wingdings" pitchFamily="2" charset="2"/>
              <a:buNone/>
            </a:pPr>
            <a:r>
              <a:rPr lang="en-GB" altLang="zh-CN" sz="1600" dirty="0"/>
              <a:t>	return 0; }</a:t>
            </a:r>
            <a:endParaRPr lang="zh-CN" altLang="en-US" sz="1600" dirty="0"/>
          </a:p>
        </p:txBody>
      </p:sp>
      <p:sp>
        <p:nvSpPr>
          <p:cNvPr id="122882" name="灯片编号占位符 3">
            <a:extLst>
              <a:ext uri="{FF2B5EF4-FFF2-40B4-BE49-F238E27FC236}">
                <a16:creationId xmlns:a16="http://schemas.microsoft.com/office/drawing/2014/main" id="{5EE82631-0D72-8D48-B639-D87B1D91B93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01AD89E-CD89-0D47-AC00-6D58E865A69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22883" name="Text Box 55">
            <a:extLst>
              <a:ext uri="{FF2B5EF4-FFF2-40B4-BE49-F238E27FC236}">
                <a16:creationId xmlns:a16="http://schemas.microsoft.com/office/drawing/2014/main" id="{B366674A-2E61-0C41-A0F8-75DB27A68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9563" y="1412875"/>
            <a:ext cx="6553200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克鲁斯卡尔</a:t>
            </a:r>
            <a:endParaRPr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Kruskal)</a:t>
            </a:r>
            <a:r>
              <a:rPr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算法</a:t>
            </a:r>
          </a:p>
        </p:txBody>
      </p:sp>
      <p:sp>
        <p:nvSpPr>
          <p:cNvPr id="6" name="Text Box 54">
            <a:extLst>
              <a:ext uri="{FF2B5EF4-FFF2-40B4-BE49-F238E27FC236}">
                <a16:creationId xmlns:a16="http://schemas.microsoft.com/office/drawing/2014/main" id="{71577203-00BA-9F4D-8D35-4D52CD1383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1387" y="2135187"/>
            <a:ext cx="7159625" cy="460375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noProof="1">
                <a:solidFill>
                  <a:srgbClr val="000000"/>
                </a:solidFill>
                <a:latin typeface="宋体" panose="02010600030101010101" pitchFamily="2" charset="-122"/>
              </a:rPr>
              <a:t>算法适合边稠密的无向连通网，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T(n,e)=O(e log 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1E47911-AC86-170B-21E4-7C35E284505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854FC593-F3E3-FB4E-9A98-0D442DC8DCE8}" type="slidenum">
              <a:rPr lang="en-US" altLang="zh-CN" smtClean="0"/>
              <a:pPr>
                <a:defRPr/>
              </a:pPr>
              <a:t>65</a:t>
            </a:fld>
            <a:endParaRPr lang="en-US" altLang="zh-CN"/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F1597E7F-6F0A-2759-C78D-5D1ED5A27F73}"/>
              </a:ext>
            </a:extLst>
          </p:cNvPr>
          <p:cNvSpPr txBox="1"/>
          <p:nvPr/>
        </p:nvSpPr>
        <p:spPr>
          <a:xfrm>
            <a:off x="179512" y="889843"/>
            <a:ext cx="7704856" cy="5078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GB" altLang="zh-CN" sz="1800" dirty="0">
                <a:latin typeface="+mn-ea"/>
                <a:ea typeface="+mn-ea"/>
              </a:rPr>
              <a:t>int parent[V];</a:t>
            </a:r>
          </a:p>
          <a:p>
            <a:endParaRPr kumimoji="1" lang="en-GB" altLang="zh-CN" sz="1800" dirty="0">
              <a:latin typeface="+mn-ea"/>
              <a:ea typeface="+mn-ea"/>
            </a:endParaRPr>
          </a:p>
          <a:p>
            <a:r>
              <a:rPr kumimoji="1" lang="en-GB" altLang="zh-CN" sz="1800" dirty="0">
                <a:latin typeface="+mn-ea"/>
                <a:ea typeface="+mn-ea"/>
              </a:rPr>
              <a:t>int find(int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)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{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while (parent[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] !=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)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	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 = parent[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];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return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;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}</a:t>
            </a:r>
          </a:p>
          <a:p>
            <a:endParaRPr kumimoji="1" lang="en-GB" altLang="zh-CN" sz="1800" dirty="0">
              <a:latin typeface="+mn-ea"/>
              <a:ea typeface="+mn-ea"/>
            </a:endParaRPr>
          </a:p>
          <a:p>
            <a:r>
              <a:rPr kumimoji="1" lang="en-GB" altLang="zh-CN" sz="1800" dirty="0">
                <a:latin typeface="+mn-ea"/>
                <a:ea typeface="+mn-ea"/>
              </a:rPr>
              <a:t>void union1(int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, int j)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{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int a = find(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);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int b = find(j);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parent[a] = b;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}</a:t>
            </a:r>
          </a:p>
          <a:p>
            <a:endParaRPr kumimoji="1" lang="en-GB" altLang="zh-CN" sz="1800" dirty="0">
              <a:latin typeface="+mn-ea"/>
              <a:ea typeface="+mn-ea"/>
            </a:endParaRPr>
          </a:p>
          <a:p>
            <a:endParaRPr kumimoji="1" lang="en-GB" altLang="zh-CN" sz="1800" dirty="0">
              <a:latin typeface="+mn-ea"/>
              <a:ea typeface="+mn-ea"/>
            </a:endParaRPr>
          </a:p>
          <a:p>
            <a:endParaRPr kumimoji="1" lang="zh-CN" altLang="en-US" sz="1800" dirty="0">
              <a:latin typeface="+mn-ea"/>
              <a:ea typeface="+mn-ea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77D72D3C-06B2-8F55-3E31-4ACD29095373}"/>
              </a:ext>
            </a:extLst>
          </p:cNvPr>
          <p:cNvSpPr txBox="1"/>
          <p:nvPr/>
        </p:nvSpPr>
        <p:spPr>
          <a:xfrm>
            <a:off x="3779912" y="611456"/>
            <a:ext cx="5076564" cy="590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GB" altLang="zh-CN" sz="1800" dirty="0">
                <a:latin typeface="+mn-ea"/>
                <a:ea typeface="+mn-ea"/>
              </a:rPr>
              <a:t>void </a:t>
            </a:r>
            <a:r>
              <a:rPr kumimoji="1" lang="en-GB" altLang="zh-CN" sz="1800" dirty="0" err="1">
                <a:latin typeface="+mn-ea"/>
                <a:ea typeface="+mn-ea"/>
              </a:rPr>
              <a:t>kruskalMST</a:t>
            </a:r>
            <a:r>
              <a:rPr kumimoji="1" lang="en-GB" altLang="zh-CN" sz="1800" dirty="0">
                <a:latin typeface="+mn-ea"/>
                <a:ea typeface="+mn-ea"/>
              </a:rPr>
              <a:t>(int cost[][V])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{</a:t>
            </a:r>
          </a:p>
          <a:p>
            <a:r>
              <a:rPr lang="zh-CN" altLang="en-US" sz="1800" dirty="0">
                <a:latin typeface="+mn-ea"/>
                <a:ea typeface="+mn-ea"/>
              </a:rPr>
              <a:t>  </a:t>
            </a:r>
            <a:r>
              <a:rPr kumimoji="1" lang="en-GB" altLang="zh-CN" sz="1800" dirty="0">
                <a:latin typeface="+mn-ea"/>
                <a:ea typeface="+mn-ea"/>
              </a:rPr>
              <a:t>int </a:t>
            </a:r>
            <a:r>
              <a:rPr kumimoji="1" lang="en-GB" altLang="zh-CN" sz="1800" dirty="0" err="1">
                <a:latin typeface="+mn-ea"/>
                <a:ea typeface="+mn-ea"/>
              </a:rPr>
              <a:t>mincost</a:t>
            </a:r>
            <a:r>
              <a:rPr kumimoji="1" lang="en-GB" altLang="zh-CN" sz="1800" dirty="0">
                <a:latin typeface="+mn-ea"/>
                <a:ea typeface="+mn-ea"/>
              </a:rPr>
              <a:t> = 0; 	</a:t>
            </a:r>
          </a:p>
          <a:p>
            <a:r>
              <a:rPr kumimoji="1" lang="zh-CN" altLang="en-US" sz="1800" dirty="0">
                <a:latin typeface="+mn-ea"/>
                <a:ea typeface="+mn-ea"/>
              </a:rPr>
              <a:t>  </a:t>
            </a:r>
            <a:r>
              <a:rPr kumimoji="1" lang="en-GB" altLang="zh-CN" sz="1800" dirty="0">
                <a:latin typeface="+mn-ea"/>
                <a:ea typeface="+mn-ea"/>
              </a:rPr>
              <a:t>for (int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 = 0;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 &lt; V;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++)</a:t>
            </a:r>
          </a:p>
          <a:p>
            <a:r>
              <a:rPr lang="zh-CN" altLang="en-US" sz="1800" dirty="0">
                <a:latin typeface="+mn-ea"/>
                <a:ea typeface="+mn-ea"/>
              </a:rPr>
              <a:t>     </a:t>
            </a:r>
            <a:r>
              <a:rPr kumimoji="1" lang="en-GB" altLang="zh-CN" sz="1800" dirty="0">
                <a:latin typeface="+mn-ea"/>
                <a:ea typeface="+mn-ea"/>
              </a:rPr>
              <a:t>parent[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] =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;</a:t>
            </a:r>
          </a:p>
          <a:p>
            <a:r>
              <a:rPr lang="zh-CN" altLang="en-US" sz="1800" dirty="0">
                <a:latin typeface="+mn-ea"/>
                <a:ea typeface="+mn-ea"/>
              </a:rPr>
              <a:t>  </a:t>
            </a:r>
            <a:r>
              <a:rPr kumimoji="1" lang="en-GB" altLang="zh-CN" sz="1800" dirty="0">
                <a:latin typeface="+mn-ea"/>
                <a:ea typeface="+mn-ea"/>
              </a:rPr>
              <a:t>int </a:t>
            </a:r>
            <a:r>
              <a:rPr kumimoji="1" lang="en-GB" altLang="zh-CN" sz="1800" dirty="0" err="1">
                <a:latin typeface="+mn-ea"/>
                <a:ea typeface="+mn-ea"/>
              </a:rPr>
              <a:t>edge_count</a:t>
            </a:r>
            <a:r>
              <a:rPr kumimoji="1" lang="en-GB" altLang="zh-CN" sz="1800" dirty="0">
                <a:latin typeface="+mn-ea"/>
                <a:ea typeface="+mn-ea"/>
              </a:rPr>
              <a:t> = 0;</a:t>
            </a:r>
          </a:p>
          <a:p>
            <a:r>
              <a:rPr lang="zh-CN" altLang="en-US" sz="1800" dirty="0">
                <a:latin typeface="+mn-ea"/>
                <a:ea typeface="+mn-ea"/>
              </a:rPr>
              <a:t>  </a:t>
            </a:r>
            <a:r>
              <a:rPr kumimoji="1" lang="en-GB" altLang="zh-CN" sz="1800" dirty="0">
                <a:latin typeface="+mn-ea"/>
                <a:ea typeface="+mn-ea"/>
              </a:rPr>
              <a:t>while (</a:t>
            </a:r>
            <a:r>
              <a:rPr kumimoji="1" lang="en-GB" altLang="zh-CN" sz="1800" dirty="0" err="1">
                <a:latin typeface="+mn-ea"/>
                <a:ea typeface="+mn-ea"/>
              </a:rPr>
              <a:t>edge_count</a:t>
            </a:r>
            <a:r>
              <a:rPr kumimoji="1" lang="en-GB" altLang="zh-CN" sz="1800" dirty="0">
                <a:latin typeface="+mn-ea"/>
                <a:ea typeface="+mn-ea"/>
              </a:rPr>
              <a:t> &lt; V - 1) {</a:t>
            </a:r>
          </a:p>
          <a:p>
            <a:r>
              <a:rPr lang="zh-CN" altLang="en-US" sz="1800" dirty="0">
                <a:latin typeface="+mn-ea"/>
                <a:ea typeface="+mn-ea"/>
              </a:rPr>
              <a:t>     </a:t>
            </a:r>
            <a:r>
              <a:rPr kumimoji="1" lang="en-GB" altLang="zh-CN" sz="1800" dirty="0">
                <a:latin typeface="+mn-ea"/>
                <a:ea typeface="+mn-ea"/>
              </a:rPr>
              <a:t>int min = INT_MAX, a = -1, b = -1;</a:t>
            </a:r>
          </a:p>
          <a:p>
            <a:r>
              <a:rPr lang="zh-CN" altLang="en-US" sz="1800" dirty="0">
                <a:latin typeface="+mn-ea"/>
                <a:ea typeface="+mn-ea"/>
              </a:rPr>
              <a:t>     </a:t>
            </a:r>
            <a:r>
              <a:rPr kumimoji="1" lang="en-GB" altLang="zh-CN" sz="1800" dirty="0">
                <a:latin typeface="+mn-ea"/>
                <a:ea typeface="+mn-ea"/>
              </a:rPr>
              <a:t>for (int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 = 0;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 &lt; V; 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++) {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for (int j = 0; j &lt; V; </a:t>
            </a:r>
            <a:r>
              <a:rPr kumimoji="1" lang="en-GB" altLang="zh-CN" sz="1800" dirty="0" err="1">
                <a:latin typeface="+mn-ea"/>
                <a:ea typeface="+mn-ea"/>
              </a:rPr>
              <a:t>j++</a:t>
            </a:r>
            <a:r>
              <a:rPr kumimoji="1" lang="en-GB" altLang="zh-CN" sz="1800" dirty="0">
                <a:latin typeface="+mn-ea"/>
                <a:ea typeface="+mn-ea"/>
              </a:rPr>
              <a:t>) {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</a:t>
            </a:r>
            <a:r>
              <a:rPr lang="zh-CN" altLang="en-US" sz="1800" dirty="0">
                <a:latin typeface="+mn-ea"/>
                <a:ea typeface="+mn-ea"/>
              </a:rPr>
              <a:t>  </a:t>
            </a:r>
            <a:r>
              <a:rPr kumimoji="1" lang="en-GB" altLang="zh-CN" sz="1800" dirty="0">
                <a:latin typeface="+mn-ea"/>
                <a:ea typeface="+mn-ea"/>
              </a:rPr>
              <a:t>if (find(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) != find(j) &amp;&amp; cost[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][j] &lt; min) {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min = cost[</a:t>
            </a:r>
            <a:r>
              <a:rPr kumimoji="1" lang="en-GB" altLang="zh-CN" sz="1800" dirty="0" err="1">
                <a:latin typeface="+mn-ea"/>
                <a:ea typeface="+mn-ea"/>
              </a:rPr>
              <a:t>i</a:t>
            </a:r>
            <a:r>
              <a:rPr kumimoji="1" lang="en-GB" altLang="zh-CN" sz="1800" dirty="0">
                <a:latin typeface="+mn-ea"/>
                <a:ea typeface="+mn-ea"/>
              </a:rPr>
              <a:t>][j];a = </a:t>
            </a:r>
            <a:r>
              <a:rPr kumimoji="1" lang="en-GB" altLang="zh-CN" sz="1800" dirty="0" err="1">
                <a:latin typeface="+mn-ea"/>
                <a:ea typeface="+mn-ea"/>
              </a:rPr>
              <a:t>i;b</a:t>
            </a:r>
            <a:r>
              <a:rPr kumimoji="1" lang="en-GB" altLang="zh-CN" sz="1800" dirty="0">
                <a:latin typeface="+mn-ea"/>
                <a:ea typeface="+mn-ea"/>
              </a:rPr>
              <a:t> = j;</a:t>
            </a:r>
            <a:r>
              <a:rPr lang="en-US" altLang="zh-CN" sz="1800" dirty="0">
                <a:latin typeface="+mn-ea"/>
                <a:ea typeface="+mn-ea"/>
              </a:rPr>
              <a:t>}}}</a:t>
            </a:r>
            <a:endParaRPr kumimoji="1" lang="en-GB" altLang="zh-CN" sz="1800" dirty="0">
              <a:latin typeface="+mn-ea"/>
              <a:ea typeface="+mn-ea"/>
            </a:endParaRPr>
          </a:p>
          <a:p>
            <a:r>
              <a:rPr lang="en-GB" altLang="zh-CN" sz="1800" dirty="0">
                <a:latin typeface="+mn-ea"/>
                <a:ea typeface="+mn-ea"/>
              </a:rPr>
              <a:t>  </a:t>
            </a:r>
            <a:r>
              <a:rPr kumimoji="1" lang="en-GB" altLang="zh-CN" sz="1800" dirty="0">
                <a:latin typeface="+mn-ea"/>
                <a:ea typeface="+mn-ea"/>
              </a:rPr>
              <a:t>union1(a, b);</a:t>
            </a:r>
          </a:p>
          <a:p>
            <a:r>
              <a:rPr lang="en-GB" altLang="zh-CN" sz="1800" dirty="0">
                <a:latin typeface="+mn-ea"/>
                <a:ea typeface="+mn-ea"/>
              </a:rPr>
              <a:t>  </a:t>
            </a:r>
            <a:r>
              <a:rPr kumimoji="1" lang="en-GB" altLang="zh-CN" sz="1800" dirty="0" err="1">
                <a:latin typeface="+mn-ea"/>
                <a:ea typeface="+mn-ea"/>
              </a:rPr>
              <a:t>printf</a:t>
            </a:r>
            <a:r>
              <a:rPr kumimoji="1" lang="en-GB" altLang="zh-CN" sz="1800" dirty="0">
                <a:latin typeface="+mn-ea"/>
                <a:ea typeface="+mn-ea"/>
              </a:rPr>
              <a:t>("Edge %d:(%d, %d) cost:%d \n",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</a:t>
            </a:r>
            <a:r>
              <a:rPr kumimoji="1" lang="en-GB" altLang="zh-CN" sz="1800" dirty="0" err="1">
                <a:latin typeface="+mn-ea"/>
                <a:ea typeface="+mn-ea"/>
              </a:rPr>
              <a:t>edge_count</a:t>
            </a:r>
            <a:r>
              <a:rPr kumimoji="1" lang="en-GB" altLang="zh-CN" sz="1800" dirty="0">
                <a:latin typeface="+mn-ea"/>
                <a:ea typeface="+mn-ea"/>
              </a:rPr>
              <a:t>++, a, b, min);</a:t>
            </a:r>
          </a:p>
          <a:p>
            <a:r>
              <a:rPr lang="en-GB" altLang="zh-CN" sz="1800" dirty="0">
                <a:latin typeface="+mn-ea"/>
                <a:ea typeface="+mn-ea"/>
              </a:rPr>
              <a:t>  </a:t>
            </a:r>
            <a:r>
              <a:rPr kumimoji="1" lang="en-GB" altLang="zh-CN" sz="1800" dirty="0" err="1">
                <a:latin typeface="+mn-ea"/>
                <a:ea typeface="+mn-ea"/>
              </a:rPr>
              <a:t>mincost</a:t>
            </a:r>
            <a:r>
              <a:rPr kumimoji="1" lang="en-GB" altLang="zh-CN" sz="1800" dirty="0">
                <a:latin typeface="+mn-ea"/>
                <a:ea typeface="+mn-ea"/>
              </a:rPr>
              <a:t> += min;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	}</a:t>
            </a:r>
          </a:p>
          <a:p>
            <a:r>
              <a:rPr kumimoji="1" lang="en-GB" altLang="zh-CN" sz="1800" dirty="0" err="1">
                <a:latin typeface="+mn-ea"/>
                <a:ea typeface="+mn-ea"/>
              </a:rPr>
              <a:t>printf</a:t>
            </a:r>
            <a:r>
              <a:rPr kumimoji="1" lang="en-GB" altLang="zh-CN" sz="1800" dirty="0">
                <a:latin typeface="+mn-ea"/>
                <a:ea typeface="+mn-ea"/>
              </a:rPr>
              <a:t>("\n Minimum cost= %d \n", </a:t>
            </a:r>
            <a:r>
              <a:rPr kumimoji="1" lang="en-GB" altLang="zh-CN" sz="1800" dirty="0" err="1">
                <a:latin typeface="+mn-ea"/>
                <a:ea typeface="+mn-ea"/>
              </a:rPr>
              <a:t>mincost</a:t>
            </a:r>
            <a:r>
              <a:rPr kumimoji="1" lang="en-GB" altLang="zh-CN" sz="1800" dirty="0">
                <a:latin typeface="+mn-ea"/>
                <a:ea typeface="+mn-ea"/>
              </a:rPr>
              <a:t>);</a:t>
            </a:r>
          </a:p>
          <a:p>
            <a:r>
              <a:rPr kumimoji="1" lang="en-GB" altLang="zh-CN" sz="1800" dirty="0">
                <a:latin typeface="+mn-ea"/>
                <a:ea typeface="+mn-ea"/>
              </a:rPr>
              <a:t>}</a:t>
            </a:r>
          </a:p>
          <a:p>
            <a:endParaRPr kumimoji="1" lang="en-GB" altLang="zh-CN" sz="1800" dirty="0">
              <a:latin typeface="+mn-ea"/>
              <a:ea typeface="+mn-ea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AF11BB66-7314-872E-0DA6-EDCF873CD65D}"/>
              </a:ext>
            </a:extLst>
          </p:cNvPr>
          <p:cNvSpPr txBox="1"/>
          <p:nvPr/>
        </p:nvSpPr>
        <p:spPr>
          <a:xfrm>
            <a:off x="283522" y="414181"/>
            <a:ext cx="34963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/>
              <a:t>克鲁斯卡尔算法实现：</a:t>
            </a:r>
          </a:p>
        </p:txBody>
      </p:sp>
    </p:spTree>
    <p:extLst>
      <p:ext uri="{BB962C8B-B14F-4D97-AF65-F5344CB8AC3E}">
        <p14:creationId xmlns:p14="http://schemas.microsoft.com/office/powerpoint/2010/main" val="279301002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灯片编号占位符 1">
            <a:extLst>
              <a:ext uri="{FF2B5EF4-FFF2-40B4-BE49-F238E27FC236}">
                <a16:creationId xmlns:a16="http://schemas.microsoft.com/office/drawing/2014/main" id="{6EDC60F4-13B5-D44D-9D63-A438BBD3DA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967BDCB-E991-8942-B696-EA7D7AC8AC54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23906" name="Text Box 2">
            <a:extLst>
              <a:ext uri="{FF2B5EF4-FFF2-40B4-BE49-F238E27FC236}">
                <a16:creationId xmlns:a16="http://schemas.microsoft.com/office/drawing/2014/main" id="{30822352-79B4-7C47-9D13-DF51E19D7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352425"/>
            <a:ext cx="8839200" cy="149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>
                <a:solidFill>
                  <a:srgbClr val="000000"/>
                </a:solidFill>
                <a:latin typeface="宋体" panose="02010600030101010101" pitchFamily="2" charset="-122"/>
              </a:rPr>
              <a:t>7.5  </a:t>
            </a:r>
            <a:r>
              <a:rPr kumimoji="0" lang="zh-CN" altLang="en-US">
                <a:solidFill>
                  <a:srgbClr val="000000"/>
                </a:solidFill>
                <a:latin typeface="宋体" panose="02010600030101010101" pitchFamily="2" charset="-122"/>
              </a:rPr>
              <a:t>有向无环图及其应用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一个无环的有向图称为有向无环图（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directed acycline graph),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简称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DAG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图。</a:t>
            </a:r>
          </a:p>
        </p:txBody>
      </p:sp>
      <p:sp>
        <p:nvSpPr>
          <p:cNvPr id="123907" name="Oval 3">
            <a:extLst>
              <a:ext uri="{FF2B5EF4-FFF2-40B4-BE49-F238E27FC236}">
                <a16:creationId xmlns:a16="http://schemas.microsoft.com/office/drawing/2014/main" id="{7AE14FD6-7244-9B48-B527-F811315FF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3292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08" name="Oval 4">
            <a:extLst>
              <a:ext uri="{FF2B5EF4-FFF2-40B4-BE49-F238E27FC236}">
                <a16:creationId xmlns:a16="http://schemas.microsoft.com/office/drawing/2014/main" id="{E242D267-CA1D-C640-BDE2-819DD622D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3292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09" name="Oval 5">
            <a:extLst>
              <a:ext uri="{FF2B5EF4-FFF2-40B4-BE49-F238E27FC236}">
                <a16:creationId xmlns:a16="http://schemas.microsoft.com/office/drawing/2014/main" id="{E118E684-6A72-294C-AB67-552513B07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4054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0" name="Oval 6">
            <a:extLst>
              <a:ext uri="{FF2B5EF4-FFF2-40B4-BE49-F238E27FC236}">
                <a16:creationId xmlns:a16="http://schemas.microsoft.com/office/drawing/2014/main" id="{0A4B3B0B-8024-C24F-8834-1FB63845A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2606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1" name="Oval 7">
            <a:extLst>
              <a:ext uri="{FF2B5EF4-FFF2-40B4-BE49-F238E27FC236}">
                <a16:creationId xmlns:a16="http://schemas.microsoft.com/office/drawing/2014/main" id="{F0152E13-39FB-9F47-AC3C-2550A4C04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2606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2" name="Oval 8">
            <a:extLst>
              <a:ext uri="{FF2B5EF4-FFF2-40B4-BE49-F238E27FC236}">
                <a16:creationId xmlns:a16="http://schemas.microsoft.com/office/drawing/2014/main" id="{D3B7EC67-48BC-714B-BE05-786A30AFB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4054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3" name="Oval 9">
            <a:extLst>
              <a:ext uri="{FF2B5EF4-FFF2-40B4-BE49-F238E27FC236}">
                <a16:creationId xmlns:a16="http://schemas.microsoft.com/office/drawing/2014/main" id="{0A77E3A9-E121-544A-B032-9A3103E7A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26828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4" name="Oval 10">
            <a:extLst>
              <a:ext uri="{FF2B5EF4-FFF2-40B4-BE49-F238E27FC236}">
                <a16:creationId xmlns:a16="http://schemas.microsoft.com/office/drawing/2014/main" id="{1B206499-B396-6842-B555-094BFF4A0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1844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5" name="Oval 11">
            <a:extLst>
              <a:ext uri="{FF2B5EF4-FFF2-40B4-BE49-F238E27FC236}">
                <a16:creationId xmlns:a16="http://schemas.microsoft.com/office/drawing/2014/main" id="{40860F23-43EC-1D49-918A-1136BEDA5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3673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6" name="Oval 12">
            <a:extLst>
              <a:ext uri="{FF2B5EF4-FFF2-40B4-BE49-F238E27FC236}">
                <a16:creationId xmlns:a16="http://schemas.microsoft.com/office/drawing/2014/main" id="{B85E20C1-15CA-2D4F-B0CE-02EB1CC4B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7200" y="46640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7" name="Oval 13">
            <a:extLst>
              <a:ext uri="{FF2B5EF4-FFF2-40B4-BE49-F238E27FC236}">
                <a16:creationId xmlns:a16="http://schemas.microsoft.com/office/drawing/2014/main" id="{F8D69AAA-2E43-CB42-94C4-DF5FB063C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7200" y="5578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8" name="Oval 14">
            <a:extLst>
              <a:ext uri="{FF2B5EF4-FFF2-40B4-BE49-F238E27FC236}">
                <a16:creationId xmlns:a16="http://schemas.microsoft.com/office/drawing/2014/main" id="{8B285C70-F2BC-3A4A-B3F7-BB091C31A6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3749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19" name="Text Box 15">
            <a:extLst>
              <a:ext uri="{FF2B5EF4-FFF2-40B4-BE49-F238E27FC236}">
                <a16:creationId xmlns:a16="http://schemas.microsoft.com/office/drawing/2014/main" id="{E9DBB053-584F-3747-8D3F-42EDA3CF69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22256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20" name="Line 16">
            <a:extLst>
              <a:ext uri="{FF2B5EF4-FFF2-40B4-BE49-F238E27FC236}">
                <a16:creationId xmlns:a16="http://schemas.microsoft.com/office/drawing/2014/main" id="{F49C013D-52CA-6848-A82D-94E3564A76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00" y="3444875"/>
            <a:ext cx="914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21" name="Line 17">
            <a:extLst>
              <a:ext uri="{FF2B5EF4-FFF2-40B4-BE49-F238E27FC236}">
                <a16:creationId xmlns:a16="http://schemas.microsoft.com/office/drawing/2014/main" id="{43FF9AA8-651F-C246-97C3-550F4CE03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000" y="3597275"/>
            <a:ext cx="4572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22" name="Line 18">
            <a:extLst>
              <a:ext uri="{FF2B5EF4-FFF2-40B4-BE49-F238E27FC236}">
                <a16:creationId xmlns:a16="http://schemas.microsoft.com/office/drawing/2014/main" id="{DDDB05B9-0CB1-0141-B05A-E72028E2272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1600" y="3597275"/>
            <a:ext cx="4572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23" name="Line 19">
            <a:extLst>
              <a:ext uri="{FF2B5EF4-FFF2-40B4-BE49-F238E27FC236}">
                <a16:creationId xmlns:a16="http://schemas.microsoft.com/office/drawing/2014/main" id="{6FEBAAE2-E886-1841-85B9-0AE367E5CA72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7800" y="2987675"/>
            <a:ext cx="381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24" name="Line 20">
            <a:extLst>
              <a:ext uri="{FF2B5EF4-FFF2-40B4-BE49-F238E27FC236}">
                <a16:creationId xmlns:a16="http://schemas.microsoft.com/office/drawing/2014/main" id="{49AE9F2B-C71E-AF4E-9C1B-53C80A93C393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2759075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25" name="Line 21">
            <a:extLst>
              <a:ext uri="{FF2B5EF4-FFF2-40B4-BE49-F238E27FC236}">
                <a16:creationId xmlns:a16="http://schemas.microsoft.com/office/drawing/2014/main" id="{3A5D6579-B070-1D4C-8278-CD9731B86E2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3200" y="2987675"/>
            <a:ext cx="0" cy="1143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26" name="Line 22">
            <a:extLst>
              <a:ext uri="{FF2B5EF4-FFF2-40B4-BE49-F238E27FC236}">
                <a16:creationId xmlns:a16="http://schemas.microsoft.com/office/drawing/2014/main" id="{8E66067B-9B10-CA4B-B849-AD47889920A3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4283075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27" name="Line 23">
            <a:extLst>
              <a:ext uri="{FF2B5EF4-FFF2-40B4-BE49-F238E27FC236}">
                <a16:creationId xmlns:a16="http://schemas.microsoft.com/office/drawing/2014/main" id="{F7AEBC93-C709-5740-B3AB-00E39CA097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7400" y="3597275"/>
            <a:ext cx="533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28" name="Line 24">
            <a:extLst>
              <a:ext uri="{FF2B5EF4-FFF2-40B4-BE49-F238E27FC236}">
                <a16:creationId xmlns:a16="http://schemas.microsoft.com/office/drawing/2014/main" id="{074193D0-3ADF-1947-8F2C-E1FD499A37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86200" y="2225675"/>
            <a:ext cx="304800" cy="144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29" name="Line 25">
            <a:extLst>
              <a:ext uri="{FF2B5EF4-FFF2-40B4-BE49-F238E27FC236}">
                <a16:creationId xmlns:a16="http://schemas.microsoft.com/office/drawing/2014/main" id="{CA3DCCCC-E7BA-4043-BDBD-2F591451A80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2225675"/>
            <a:ext cx="4572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30" name="Line 26">
            <a:extLst>
              <a:ext uri="{FF2B5EF4-FFF2-40B4-BE49-F238E27FC236}">
                <a16:creationId xmlns:a16="http://schemas.microsoft.com/office/drawing/2014/main" id="{C47210ED-C81B-5541-B10D-CA4DFB488D8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38599" y="3041650"/>
            <a:ext cx="762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31" name="Line 27">
            <a:extLst>
              <a:ext uri="{FF2B5EF4-FFF2-40B4-BE49-F238E27FC236}">
                <a16:creationId xmlns:a16="http://schemas.microsoft.com/office/drawing/2014/main" id="{7ACB1F42-C907-0A4F-BA72-6F02B7C540D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6800" y="3063875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32" name="Line 28">
            <a:extLst>
              <a:ext uri="{FF2B5EF4-FFF2-40B4-BE49-F238E27FC236}">
                <a16:creationId xmlns:a16="http://schemas.microsoft.com/office/drawing/2014/main" id="{1117A1E2-65AC-3A49-BAC9-6960C2495E5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4054475"/>
            <a:ext cx="3810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33" name="Line 29">
            <a:extLst>
              <a:ext uri="{FF2B5EF4-FFF2-40B4-BE49-F238E27FC236}">
                <a16:creationId xmlns:a16="http://schemas.microsoft.com/office/drawing/2014/main" id="{2D9D072B-7308-4A43-B961-3C11F13BB5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72000" y="4130675"/>
            <a:ext cx="3048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34" name="Text Box 30">
            <a:extLst>
              <a:ext uri="{FF2B5EF4-FFF2-40B4-BE49-F238E27FC236}">
                <a16:creationId xmlns:a16="http://schemas.microsoft.com/office/drawing/2014/main" id="{D671755A-8E01-3842-8468-028921442F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330835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8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35" name="Line 31">
            <a:extLst>
              <a:ext uri="{FF2B5EF4-FFF2-40B4-BE49-F238E27FC236}">
                <a16:creationId xmlns:a16="http://schemas.microsoft.com/office/drawing/2014/main" id="{5B4DDED7-1F43-E74B-8138-ECC0FCBD35E4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5045075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36" name="Text Box 32">
            <a:extLst>
              <a:ext uri="{FF2B5EF4-FFF2-40B4-BE49-F238E27FC236}">
                <a16:creationId xmlns:a16="http://schemas.microsoft.com/office/drawing/2014/main" id="{D22C6756-5F79-FC4F-9CD0-F93E918FD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27590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37" name="Text Box 33">
            <a:extLst>
              <a:ext uri="{FF2B5EF4-FFF2-40B4-BE49-F238E27FC236}">
                <a16:creationId xmlns:a16="http://schemas.microsoft.com/office/drawing/2014/main" id="{29BC1481-6FE9-574B-A766-12AAE6BACD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315595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7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38" name="Text Box 34">
            <a:extLst>
              <a:ext uri="{FF2B5EF4-FFF2-40B4-BE49-F238E27FC236}">
                <a16:creationId xmlns:a16="http://schemas.microsoft.com/office/drawing/2014/main" id="{EF9971C1-1784-8543-AE05-87249C7F2A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41306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39" name="Text Box 35">
            <a:extLst>
              <a:ext uri="{FF2B5EF4-FFF2-40B4-BE49-F238E27FC236}">
                <a16:creationId xmlns:a16="http://schemas.microsoft.com/office/drawing/2014/main" id="{62936BCE-CBEB-2748-8050-C36BB3488B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4130675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6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40" name="Text Box 36">
            <a:extLst>
              <a:ext uri="{FF2B5EF4-FFF2-40B4-BE49-F238E27FC236}">
                <a16:creationId xmlns:a16="http://schemas.microsoft.com/office/drawing/2014/main" id="{71D81769-08F8-A042-A56A-699D7D891D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213350"/>
            <a:ext cx="152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41" name="Oval 37">
            <a:extLst>
              <a:ext uri="{FF2B5EF4-FFF2-40B4-BE49-F238E27FC236}">
                <a16:creationId xmlns:a16="http://schemas.microsoft.com/office/drawing/2014/main" id="{AFCC8C3A-76FF-FA49-9F3E-46A7DB820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32162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42" name="Oval 38">
            <a:extLst>
              <a:ext uri="{FF2B5EF4-FFF2-40B4-BE49-F238E27FC236}">
                <a16:creationId xmlns:a16="http://schemas.microsoft.com/office/drawing/2014/main" id="{B010E940-1EB0-F543-94CE-4A9ECD1EB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2530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43" name="Oval 39">
            <a:extLst>
              <a:ext uri="{FF2B5EF4-FFF2-40B4-BE49-F238E27FC236}">
                <a16:creationId xmlns:a16="http://schemas.microsoft.com/office/drawing/2014/main" id="{98D53A75-2B15-F94D-9466-7A3100A54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39782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44" name="Oval 40">
            <a:extLst>
              <a:ext uri="{FF2B5EF4-FFF2-40B4-BE49-F238E27FC236}">
                <a16:creationId xmlns:a16="http://schemas.microsoft.com/office/drawing/2014/main" id="{87E6DBF8-480F-2945-A4C0-A6C04811D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25304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45" name="Oval 41">
            <a:extLst>
              <a:ext uri="{FF2B5EF4-FFF2-40B4-BE49-F238E27FC236}">
                <a16:creationId xmlns:a16="http://schemas.microsoft.com/office/drawing/2014/main" id="{4E62803A-3CED-8940-A47F-8FFBF74398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32162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B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46" name="Oval 42">
            <a:extLst>
              <a:ext uri="{FF2B5EF4-FFF2-40B4-BE49-F238E27FC236}">
                <a16:creationId xmlns:a16="http://schemas.microsoft.com/office/drawing/2014/main" id="{E1B74949-45E6-C344-B0B5-40C92415E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3749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3947" name="Line 43">
            <a:extLst>
              <a:ext uri="{FF2B5EF4-FFF2-40B4-BE49-F238E27FC236}">
                <a16:creationId xmlns:a16="http://schemas.microsoft.com/office/drawing/2014/main" id="{7B4386B3-2F97-AB43-9625-3F67BAF0913D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8000" y="2682875"/>
            <a:ext cx="1066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48" name="Line 44">
            <a:extLst>
              <a:ext uri="{FF2B5EF4-FFF2-40B4-BE49-F238E27FC236}">
                <a16:creationId xmlns:a16="http://schemas.microsoft.com/office/drawing/2014/main" id="{C29649D3-EAB4-944C-8C5E-D61FAB2207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7200" y="2911475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49" name="Line 45">
            <a:extLst>
              <a:ext uri="{FF2B5EF4-FFF2-40B4-BE49-F238E27FC236}">
                <a16:creationId xmlns:a16="http://schemas.microsoft.com/office/drawing/2014/main" id="{ED408192-7A9E-B24A-BEBE-BD9D0BD61B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400" y="2835275"/>
            <a:ext cx="304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50" name="Line 46">
            <a:extLst>
              <a:ext uri="{FF2B5EF4-FFF2-40B4-BE49-F238E27FC236}">
                <a16:creationId xmlns:a16="http://schemas.microsoft.com/office/drawing/2014/main" id="{5524BE4C-B5AC-5944-9974-BEE8E90077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91400" y="2835275"/>
            <a:ext cx="457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51" name="Line 47">
            <a:extLst>
              <a:ext uri="{FF2B5EF4-FFF2-40B4-BE49-F238E27FC236}">
                <a16:creationId xmlns:a16="http://schemas.microsoft.com/office/drawing/2014/main" id="{0C1AD141-EEAA-5C43-9F79-6D50FF60A8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05600" y="3521075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52" name="Line 48">
            <a:extLst>
              <a:ext uri="{FF2B5EF4-FFF2-40B4-BE49-F238E27FC236}">
                <a16:creationId xmlns:a16="http://schemas.microsoft.com/office/drawing/2014/main" id="{E47FA1D1-9C0E-ED48-9603-7520F991BFD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72200" y="3521075"/>
            <a:ext cx="3810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53" name="Line 49">
            <a:extLst>
              <a:ext uri="{FF2B5EF4-FFF2-40B4-BE49-F238E27FC236}">
                <a16:creationId xmlns:a16="http://schemas.microsoft.com/office/drawing/2014/main" id="{A601D103-C221-5844-9885-CF51976DB5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3444875"/>
            <a:ext cx="762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54" name="Text Box 50">
            <a:extLst>
              <a:ext uri="{FF2B5EF4-FFF2-40B4-BE49-F238E27FC236}">
                <a16:creationId xmlns:a16="http://schemas.microsoft.com/office/drawing/2014/main" id="{D5F0EBD3-F5B8-AE49-9F15-D2626E5CEC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24013" y="4868863"/>
            <a:ext cx="1219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</a:p>
        </p:txBody>
      </p:sp>
      <p:sp>
        <p:nvSpPr>
          <p:cNvPr id="123955" name="Text Box 51">
            <a:extLst>
              <a:ext uri="{FF2B5EF4-FFF2-40B4-BE49-F238E27FC236}">
                <a16:creationId xmlns:a16="http://schemas.microsoft.com/office/drawing/2014/main" id="{1F40EFC1-18C4-A147-86CC-4DF1CB316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5197475"/>
            <a:ext cx="1219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</a:p>
        </p:txBody>
      </p:sp>
      <p:sp>
        <p:nvSpPr>
          <p:cNvPr id="123956" name="Text Box 52">
            <a:extLst>
              <a:ext uri="{FF2B5EF4-FFF2-40B4-BE49-F238E27FC236}">
                <a16:creationId xmlns:a16="http://schemas.microsoft.com/office/drawing/2014/main" id="{ADCA2054-F833-CA44-905E-829FF2F579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588" y="5197475"/>
            <a:ext cx="2133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（非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DAG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灯片编号占位符 1">
            <a:extLst>
              <a:ext uri="{FF2B5EF4-FFF2-40B4-BE49-F238E27FC236}">
                <a16:creationId xmlns:a16="http://schemas.microsoft.com/office/drawing/2014/main" id="{6FD98141-D374-8B43-A515-E4EDAB0E7C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5FC2753-403A-5248-A1A1-95123B6E6450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25954" name="Text Box 2">
            <a:extLst>
              <a:ext uri="{FF2B5EF4-FFF2-40B4-BE49-F238E27FC236}">
                <a16:creationId xmlns:a16="http://schemas.microsoft.com/office/drawing/2014/main" id="{BF9B15DD-0558-AC48-BD01-AC91C7EA9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288" y="115888"/>
            <a:ext cx="8678862" cy="1341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7.5.1  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拓扑排序</a:t>
            </a:r>
          </a:p>
          <a:p>
            <a:pPr eaLnBrk="1" hangingPunct="1">
              <a:spcBef>
                <a:spcPts val="3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AOV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网（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Activity  On Vertex network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）：以顶点表示活动，弧表示活动之间的优先关系的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DAG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图。</a:t>
            </a:r>
          </a:p>
        </p:txBody>
      </p:sp>
      <p:graphicFrame>
        <p:nvGraphicFramePr>
          <p:cNvPr id="248919" name="Group 87">
            <a:extLst>
              <a:ext uri="{FF2B5EF4-FFF2-40B4-BE49-F238E27FC236}">
                <a16:creationId xmlns:a16="http://schemas.microsoft.com/office/drawing/2014/main" id="{66AE6834-4699-1647-AC85-59D560ED6191}"/>
              </a:ext>
            </a:extLst>
          </p:cNvPr>
          <p:cNvGraphicFramePr>
            <a:graphicFrameLocks noGrp="1"/>
          </p:cNvGraphicFramePr>
          <p:nvPr/>
        </p:nvGraphicFramePr>
        <p:xfrm>
          <a:off x="1433513" y="1409700"/>
          <a:ext cx="7026275" cy="4754594"/>
        </p:xfrm>
        <a:graphic>
          <a:graphicData uri="http://schemas.openxmlformats.org/drawingml/2006/table">
            <a:tbl>
              <a:tblPr/>
              <a:tblGrid>
                <a:gridCol w="1609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4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224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课程编号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课程名称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先决条件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程序设计基础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无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C2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离散数学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C3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数据结构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</a:t>
                      </a: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，</a:t>
                      </a: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C2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C4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汇编语言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C5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语言的设计和分析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C3</a:t>
                      </a: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，</a:t>
                      </a: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C4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C6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计算机原理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C11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C7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编译原理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C5</a:t>
                      </a: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，</a:t>
                      </a: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C3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C8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操作系统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C3</a:t>
                      </a: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，</a:t>
                      </a: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C6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C9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高等数学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无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C10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线性代数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C9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C11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普通物理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C9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657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C12</a:t>
                      </a:r>
                    </a:p>
                  </a:txBody>
                  <a:tcPr marL="91432" marR="91432" marT="45709" marB="45709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数值分析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C9</a:t>
                      </a: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，</a:t>
                      </a: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C10</a:t>
                      </a:r>
                      <a:r>
                        <a:rPr kumimoji="1" lang="zh-CN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，</a:t>
                      </a: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C1</a:t>
                      </a:r>
                    </a:p>
                  </a:txBody>
                  <a:tcPr marL="91432" marR="91432" marT="45709" marB="4570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126011" name="Text Box 85">
            <a:extLst>
              <a:ext uri="{FF2B5EF4-FFF2-40B4-BE49-F238E27FC236}">
                <a16:creationId xmlns:a16="http://schemas.microsoft.com/office/drawing/2014/main" id="{B7355B52-51C7-BB4F-B8A7-A0F17EAA1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325" y="1773238"/>
            <a:ext cx="549275" cy="381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计算机软件专业课程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灯片编号占位符 1">
            <a:extLst>
              <a:ext uri="{FF2B5EF4-FFF2-40B4-BE49-F238E27FC236}">
                <a16:creationId xmlns:a16="http://schemas.microsoft.com/office/drawing/2014/main" id="{5B94011A-83C5-CD4A-8618-F8E666EE0F1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B83312D-FF3B-F84D-A45E-217D77CFB816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28002" name="Oval 2">
            <a:extLst>
              <a:ext uri="{FF2B5EF4-FFF2-40B4-BE49-F238E27FC236}">
                <a16:creationId xmlns:a16="http://schemas.microsoft.com/office/drawing/2014/main" id="{6B21B4A5-F069-C743-8EC5-6CE99314A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7450" y="1422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03" name="Oval 3">
            <a:extLst>
              <a:ext uri="{FF2B5EF4-FFF2-40B4-BE49-F238E27FC236}">
                <a16:creationId xmlns:a16="http://schemas.microsoft.com/office/drawing/2014/main" id="{A019AA88-F46B-0143-BE0C-8A2D4869E2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8650" y="8128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04" name="Oval 4">
            <a:extLst>
              <a:ext uri="{FF2B5EF4-FFF2-40B4-BE49-F238E27FC236}">
                <a16:creationId xmlns:a16="http://schemas.microsoft.com/office/drawing/2014/main" id="{92642A15-41C6-1A42-B5A3-C8BA5E4D6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6650" y="4048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05" name="Oval 5">
            <a:extLst>
              <a:ext uri="{FF2B5EF4-FFF2-40B4-BE49-F238E27FC236}">
                <a16:creationId xmlns:a16="http://schemas.microsoft.com/office/drawing/2014/main" id="{5B399C9C-0744-A14F-8BFC-CA35B74597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3250" y="4048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06" name="Oval 6">
            <a:extLst>
              <a:ext uri="{FF2B5EF4-FFF2-40B4-BE49-F238E27FC236}">
                <a16:creationId xmlns:a16="http://schemas.microsoft.com/office/drawing/2014/main" id="{912A6BCE-8D7A-6148-986A-202D18D6F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6850" y="1422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07" name="Oval 7">
            <a:extLst>
              <a:ext uri="{FF2B5EF4-FFF2-40B4-BE49-F238E27FC236}">
                <a16:creationId xmlns:a16="http://schemas.microsoft.com/office/drawing/2014/main" id="{0D15908B-9D50-E744-BF9D-33E93BD68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450" y="14224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C7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08" name="Oval 8">
            <a:extLst>
              <a:ext uri="{FF2B5EF4-FFF2-40B4-BE49-F238E27FC236}">
                <a16:creationId xmlns:a16="http://schemas.microsoft.com/office/drawing/2014/main" id="{A71C97B4-7673-5246-AB25-ADDB84F88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8650" y="1938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12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09" name="Oval 9">
            <a:extLst>
              <a:ext uri="{FF2B5EF4-FFF2-40B4-BE49-F238E27FC236}">
                <a16:creationId xmlns:a16="http://schemas.microsoft.com/office/drawing/2014/main" id="{0E49CA76-2DF9-AD4B-A63C-61A20460E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7450" y="2700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C9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10" name="Oval 10">
            <a:extLst>
              <a:ext uri="{FF2B5EF4-FFF2-40B4-BE49-F238E27FC236}">
                <a16:creationId xmlns:a16="http://schemas.microsoft.com/office/drawing/2014/main" id="{CAB1099C-47CC-E94D-9B63-E285A21CA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6650" y="2928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10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11" name="Oval 11">
            <a:extLst>
              <a:ext uri="{FF2B5EF4-FFF2-40B4-BE49-F238E27FC236}">
                <a16:creationId xmlns:a16="http://schemas.microsoft.com/office/drawing/2014/main" id="{33617933-827D-9849-9053-86E38C391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6650" y="3538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C</a:t>
            </a:r>
            <a:r>
              <a:rPr kumimoji="0" lang="en-US" altLang="zh-CN" sz="1800">
                <a:solidFill>
                  <a:srgbClr val="000000"/>
                </a:solidFill>
                <a:latin typeface="宋体" panose="02010600030101010101" pitchFamily="2" charset="-122"/>
              </a:rPr>
              <a:t>11</a:t>
            </a:r>
            <a:endParaRPr kumimoji="0" lang="en-US" altLang="zh-CN" sz="18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12" name="Oval 12">
            <a:extLst>
              <a:ext uri="{FF2B5EF4-FFF2-40B4-BE49-F238E27FC236}">
                <a16:creationId xmlns:a16="http://schemas.microsoft.com/office/drawing/2014/main" id="{C9A5A3B6-737B-4B40-B0D3-D94560AD4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3081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13" name="Oval 13">
            <a:extLst>
              <a:ext uri="{FF2B5EF4-FFF2-40B4-BE49-F238E27FC236}">
                <a16:creationId xmlns:a16="http://schemas.microsoft.com/office/drawing/2014/main" id="{BA841565-8FD9-A44E-BFBF-8CEC78779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450" y="2624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C8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14" name="Line 14">
            <a:extLst>
              <a:ext uri="{FF2B5EF4-FFF2-40B4-BE49-F238E27FC236}">
                <a16:creationId xmlns:a16="http://schemas.microsoft.com/office/drawing/2014/main" id="{7D8D86C7-8BD2-1A4E-B2FD-34A976EB8D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0" y="714375"/>
            <a:ext cx="955675" cy="708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15" name="Line 15">
            <a:extLst>
              <a:ext uri="{FF2B5EF4-FFF2-40B4-BE49-F238E27FC236}">
                <a16:creationId xmlns:a16="http://schemas.microsoft.com/office/drawing/2014/main" id="{3140315D-6ADC-5B43-BBAF-5348DD6B81E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87650" y="569913"/>
            <a:ext cx="2895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16" name="Line 16">
            <a:extLst>
              <a:ext uri="{FF2B5EF4-FFF2-40B4-BE49-F238E27FC236}">
                <a16:creationId xmlns:a16="http://schemas.microsoft.com/office/drawing/2014/main" id="{C80490A3-6A54-5349-BA6F-47791EAF9E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68450" y="1041400"/>
            <a:ext cx="16002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17" name="Line 17">
            <a:extLst>
              <a:ext uri="{FF2B5EF4-FFF2-40B4-BE49-F238E27FC236}">
                <a16:creationId xmlns:a16="http://schemas.microsoft.com/office/drawing/2014/main" id="{B6E414F2-8C09-D74E-A5A6-8D4256930C87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8450" y="1651000"/>
            <a:ext cx="2438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18" name="Line 18">
            <a:extLst>
              <a:ext uri="{FF2B5EF4-FFF2-40B4-BE49-F238E27FC236}">
                <a16:creationId xmlns:a16="http://schemas.microsoft.com/office/drawing/2014/main" id="{ED55BBEF-1535-4D4D-9057-8FDEB3C2D1C9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7850" y="1651000"/>
            <a:ext cx="2514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19" name="Line 19">
            <a:extLst>
              <a:ext uri="{FF2B5EF4-FFF2-40B4-BE49-F238E27FC236}">
                <a16:creationId xmlns:a16="http://schemas.microsoft.com/office/drawing/2014/main" id="{6E6FB89F-8ADE-E440-9270-E093308527A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3450" y="1117600"/>
            <a:ext cx="533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0" name="Line 20">
            <a:extLst>
              <a:ext uri="{FF2B5EF4-FFF2-40B4-BE49-F238E27FC236}">
                <a16:creationId xmlns:a16="http://schemas.microsoft.com/office/drawing/2014/main" id="{1F5020DB-F12B-8548-90F0-DF0BFD8F72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11650" y="714375"/>
            <a:ext cx="1376363" cy="784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1" name="Line 21">
            <a:extLst>
              <a:ext uri="{FF2B5EF4-FFF2-40B4-BE49-F238E27FC236}">
                <a16:creationId xmlns:a16="http://schemas.microsoft.com/office/drawing/2014/main" id="{2BA1F5CB-0985-2B42-8893-DE8EC7565C5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3913" y="714375"/>
            <a:ext cx="1081087" cy="769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2" name="Line 22">
            <a:extLst>
              <a:ext uri="{FF2B5EF4-FFF2-40B4-BE49-F238E27FC236}">
                <a16:creationId xmlns:a16="http://schemas.microsoft.com/office/drawing/2014/main" id="{3705E18B-3571-EB42-9D9B-342711960DCE}"/>
              </a:ext>
            </a:extLst>
          </p:cNvPr>
          <p:cNvSpPr>
            <a:spLocks noChangeShapeType="1"/>
          </p:cNvSpPr>
          <p:nvPr/>
        </p:nvSpPr>
        <p:spPr bwMode="auto">
          <a:xfrm>
            <a:off x="1439863" y="1722438"/>
            <a:ext cx="1728787" cy="360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3" name="Line 23">
            <a:extLst>
              <a:ext uri="{FF2B5EF4-FFF2-40B4-BE49-F238E27FC236}">
                <a16:creationId xmlns:a16="http://schemas.microsoft.com/office/drawing/2014/main" id="{360C427F-8FF0-3D4F-AEAB-E2432D9560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0" y="2166938"/>
            <a:ext cx="1676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4" name="Line 24">
            <a:extLst>
              <a:ext uri="{FF2B5EF4-FFF2-40B4-BE49-F238E27FC236}">
                <a16:creationId xmlns:a16="http://schemas.microsoft.com/office/drawing/2014/main" id="{2C65D29C-B787-0747-982B-FD1E4CA30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8450" y="2852738"/>
            <a:ext cx="83820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5" name="Line 25">
            <a:extLst>
              <a:ext uri="{FF2B5EF4-FFF2-40B4-BE49-F238E27FC236}">
                <a16:creationId xmlns:a16="http://schemas.microsoft.com/office/drawing/2014/main" id="{6C6DF81C-28C1-5E4F-8A5E-F1A414A164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87650" y="2319338"/>
            <a:ext cx="5334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6" name="Line 26">
            <a:extLst>
              <a:ext uri="{FF2B5EF4-FFF2-40B4-BE49-F238E27FC236}">
                <a16:creationId xmlns:a16="http://schemas.microsoft.com/office/drawing/2014/main" id="{F3005183-B78E-F14A-9501-84420F923B66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0" y="3005138"/>
            <a:ext cx="9144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7" name="Line 27">
            <a:extLst>
              <a:ext uri="{FF2B5EF4-FFF2-40B4-BE49-F238E27FC236}">
                <a16:creationId xmlns:a16="http://schemas.microsoft.com/office/drawing/2014/main" id="{7DB7AE2A-70B9-6749-B8B5-1CDBA0555A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87650" y="3309938"/>
            <a:ext cx="2057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8" name="Line 28">
            <a:extLst>
              <a:ext uri="{FF2B5EF4-FFF2-40B4-BE49-F238E27FC236}">
                <a16:creationId xmlns:a16="http://schemas.microsoft.com/office/drawing/2014/main" id="{A397BC95-01FB-6849-A4B3-154DA5DD075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26050" y="2928938"/>
            <a:ext cx="16764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29" name="Line 29">
            <a:extLst>
              <a:ext uri="{FF2B5EF4-FFF2-40B4-BE49-F238E27FC236}">
                <a16:creationId xmlns:a16="http://schemas.microsoft.com/office/drawing/2014/main" id="{2A2E8B03-961C-9245-BA74-7FA34FC7FE6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1650" y="1727200"/>
            <a:ext cx="2600325" cy="1003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030" name="Text Box 30">
            <a:extLst>
              <a:ext uri="{FF2B5EF4-FFF2-40B4-BE49-F238E27FC236}">
                <a16:creationId xmlns:a16="http://schemas.microsoft.com/office/drawing/2014/main" id="{E6718D73-0B90-CD48-8DB7-DC0E4DD9B8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7450" y="538163"/>
            <a:ext cx="914400" cy="3392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表示课程间关系的有向图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8031" name="Text Box 31">
            <a:extLst>
              <a:ext uri="{FF2B5EF4-FFF2-40B4-BE49-F238E27FC236}">
                <a16:creationId xmlns:a16="http://schemas.microsoft.com/office/drawing/2014/main" id="{144411CB-52D3-6442-842F-8061A2C0F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4076700"/>
            <a:ext cx="887133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拓扑排序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是有向图的全部顶点的一个线性序列，该序列保持了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原有向图中各顶点间的相对</a:t>
            </a:r>
            <a:r>
              <a:rPr kumimoji="0" lang="zh-CN" altLang="en-US" sz="2400" dirty="0">
                <a:solidFill>
                  <a:srgbClr val="C00000"/>
                </a:solidFill>
                <a:latin typeface="宋体" panose="02010600030101010101" pitchFamily="2" charset="-122"/>
              </a:rPr>
              <a:t>次序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。例：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  （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C1,C2,C3,C4,C5,C7,C9,C10,C11,C6,C12,C8)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     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C9,C10,C11,C6,C1,C12,C4,C2,C3,C5,C7,C8)</a:t>
            </a:r>
          </a:p>
          <a:p>
            <a:pPr eaLnBrk="1" hangingPunct="1">
              <a:spcBef>
                <a:spcPct val="0"/>
              </a:spcBef>
              <a:buClrTx/>
              <a:buSz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		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C9,C10,C11,</a:t>
            </a:r>
            <a:r>
              <a:rPr kumimoji="0" lang="en-US" altLang="zh-CN" sz="2400" dirty="0">
                <a:solidFill>
                  <a:srgbClr val="C00000"/>
                </a:solidFill>
                <a:latin typeface="宋体" panose="02010600030101010101" pitchFamily="2" charset="-122"/>
              </a:rPr>
              <a:t>C12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,C6,C1,C4,</a:t>
            </a:r>
            <a:r>
              <a:rPr kumimoji="0" lang="en-US" altLang="zh-CN" sz="2400" dirty="0">
                <a:solidFill>
                  <a:srgbClr val="C00000"/>
                </a:solidFill>
                <a:latin typeface="宋体" panose="02010600030101010101" pitchFamily="2" charset="-122"/>
              </a:rPr>
              <a:t>C5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,C2,C3,C7,C8)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2400" dirty="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灯片编号占位符 1">
            <a:extLst>
              <a:ext uri="{FF2B5EF4-FFF2-40B4-BE49-F238E27FC236}">
                <a16:creationId xmlns:a16="http://schemas.microsoft.com/office/drawing/2014/main" id="{3A8688B6-EF12-B44C-BA2F-0DBF6C4C41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3067C02-B3E4-5A44-8956-784203CFC7C0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30050" name="Text Box 3">
            <a:extLst>
              <a:ext uri="{FF2B5EF4-FFF2-40B4-BE49-F238E27FC236}">
                <a16:creationId xmlns:a16="http://schemas.microsoft.com/office/drawing/2014/main" id="{3511C9AC-D25C-364F-ABAD-9BD4BC467F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0350"/>
            <a:ext cx="937895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拓扑排序算法思想：重复下列操作，直到所有顶点输出完。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）在有向图中选一个没有前驱的顶点输出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选择入度为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；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）从图中删除该顶点和所有以它为尾的弧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修改其它顶点入度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</a:p>
        </p:txBody>
      </p:sp>
      <p:sp>
        <p:nvSpPr>
          <p:cNvPr id="130051" name="Oval 4">
            <a:extLst>
              <a:ext uri="{FF2B5EF4-FFF2-40B4-BE49-F238E27FC236}">
                <a16:creationId xmlns:a16="http://schemas.microsoft.com/office/drawing/2014/main" id="{54E6F5CA-576B-5943-9CF9-F716FF2AFB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1452563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52" name="Oval 5">
            <a:extLst>
              <a:ext uri="{FF2B5EF4-FFF2-40B4-BE49-F238E27FC236}">
                <a16:creationId xmlns:a16="http://schemas.microsoft.com/office/drawing/2014/main" id="{165F21A3-ABF3-844F-923A-1C0417789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1452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53" name="Oval 6">
            <a:extLst>
              <a:ext uri="{FF2B5EF4-FFF2-40B4-BE49-F238E27FC236}">
                <a16:creationId xmlns:a16="http://schemas.microsoft.com/office/drawing/2014/main" id="{BE9D8B91-6450-1F4E-AE3E-1412D58C6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24431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54" name="Oval 7">
            <a:extLst>
              <a:ext uri="{FF2B5EF4-FFF2-40B4-BE49-F238E27FC236}">
                <a16:creationId xmlns:a16="http://schemas.microsoft.com/office/drawing/2014/main" id="{9E2C7592-7246-F949-BA85-8D928F86E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3433763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55" name="Oval 8">
            <a:extLst>
              <a:ext uri="{FF2B5EF4-FFF2-40B4-BE49-F238E27FC236}">
                <a16:creationId xmlns:a16="http://schemas.microsoft.com/office/drawing/2014/main" id="{2E0027F2-A76F-324B-A9E3-FF082ECA3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43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56" name="Oval 9">
            <a:extLst>
              <a:ext uri="{FF2B5EF4-FFF2-40B4-BE49-F238E27FC236}">
                <a16:creationId xmlns:a16="http://schemas.microsoft.com/office/drawing/2014/main" id="{E50E8A0E-1CD3-124F-9D66-D679DC46C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4431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57" name="Line 10">
            <a:extLst>
              <a:ext uri="{FF2B5EF4-FFF2-40B4-BE49-F238E27FC236}">
                <a16:creationId xmlns:a16="http://schemas.microsoft.com/office/drawing/2014/main" id="{059A9AA4-67B2-4841-A4CD-0F44480ED9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295400" y="1833563"/>
            <a:ext cx="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58" name="Line 11">
            <a:extLst>
              <a:ext uri="{FF2B5EF4-FFF2-40B4-BE49-F238E27FC236}">
                <a16:creationId xmlns:a16="http://schemas.microsoft.com/office/drawing/2014/main" id="{16E2E0C1-05F7-6C46-BBFB-486329DB1387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1604963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59" name="Line 12">
            <a:extLst>
              <a:ext uri="{FF2B5EF4-FFF2-40B4-BE49-F238E27FC236}">
                <a16:creationId xmlns:a16="http://schemas.microsoft.com/office/drawing/2014/main" id="{5A835E77-33D4-6148-9B6B-1FF417840B0C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7800" y="1833563"/>
            <a:ext cx="6096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60" name="Line 13">
            <a:extLst>
              <a:ext uri="{FF2B5EF4-FFF2-40B4-BE49-F238E27FC236}">
                <a16:creationId xmlns:a16="http://schemas.microsoft.com/office/drawing/2014/main" id="{8A916191-C492-784F-B4EA-843B564E3B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86000" y="1833563"/>
            <a:ext cx="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61" name="Line 14">
            <a:extLst>
              <a:ext uri="{FF2B5EF4-FFF2-40B4-BE49-F238E27FC236}">
                <a16:creationId xmlns:a16="http://schemas.microsoft.com/office/drawing/2014/main" id="{8479D78E-B119-1743-B1E5-D4773B8BD74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95400" y="2824163"/>
            <a:ext cx="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62" name="Line 15">
            <a:extLst>
              <a:ext uri="{FF2B5EF4-FFF2-40B4-BE49-F238E27FC236}">
                <a16:creationId xmlns:a16="http://schemas.microsoft.com/office/drawing/2014/main" id="{CE760066-39EF-914E-9809-BB9C55A9AE0D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7800" y="2747963"/>
            <a:ext cx="6096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63" name="Line 16">
            <a:extLst>
              <a:ext uri="{FF2B5EF4-FFF2-40B4-BE49-F238E27FC236}">
                <a16:creationId xmlns:a16="http://schemas.microsoft.com/office/drawing/2014/main" id="{90744E0C-9F59-D448-B4E6-DE74123CF7DB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3662363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64" name="Line 17">
            <a:extLst>
              <a:ext uri="{FF2B5EF4-FFF2-40B4-BE49-F238E27FC236}">
                <a16:creationId xmlns:a16="http://schemas.microsoft.com/office/drawing/2014/main" id="{7BB40A35-7FFD-1043-86AC-D717F6012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824163"/>
            <a:ext cx="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65" name="Oval 18">
            <a:extLst>
              <a:ext uri="{FF2B5EF4-FFF2-40B4-BE49-F238E27FC236}">
                <a16:creationId xmlns:a16="http://schemas.microsoft.com/office/drawing/2014/main" id="{54CA4A75-D20D-4647-93A8-3F42C2EE9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452563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66" name="Oval 19">
            <a:extLst>
              <a:ext uri="{FF2B5EF4-FFF2-40B4-BE49-F238E27FC236}">
                <a16:creationId xmlns:a16="http://schemas.microsoft.com/office/drawing/2014/main" id="{DC05F3CC-15BC-5940-92D9-BD0C22B2E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1452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67" name="Oval 20">
            <a:extLst>
              <a:ext uri="{FF2B5EF4-FFF2-40B4-BE49-F238E27FC236}">
                <a16:creationId xmlns:a16="http://schemas.microsoft.com/office/drawing/2014/main" id="{48726EC0-FB60-7B48-89D0-EF1C4AABF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24431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68" name="Oval 21">
            <a:extLst>
              <a:ext uri="{FF2B5EF4-FFF2-40B4-BE49-F238E27FC236}">
                <a16:creationId xmlns:a16="http://schemas.microsoft.com/office/drawing/2014/main" id="{4BD2F817-9D3F-1643-8A06-88B7603A2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3433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69" name="Oval 22">
            <a:extLst>
              <a:ext uri="{FF2B5EF4-FFF2-40B4-BE49-F238E27FC236}">
                <a16:creationId xmlns:a16="http://schemas.microsoft.com/office/drawing/2014/main" id="{640B4A70-EE31-754D-847F-C0230BA1DE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24431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70" name="Line 23">
            <a:extLst>
              <a:ext uri="{FF2B5EF4-FFF2-40B4-BE49-F238E27FC236}">
                <a16:creationId xmlns:a16="http://schemas.microsoft.com/office/drawing/2014/main" id="{21B46E4D-EF67-AF4B-9503-6E386969D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0" y="1833563"/>
            <a:ext cx="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71" name="Line 24">
            <a:extLst>
              <a:ext uri="{FF2B5EF4-FFF2-40B4-BE49-F238E27FC236}">
                <a16:creationId xmlns:a16="http://schemas.microsoft.com/office/drawing/2014/main" id="{F845C7B9-C111-A449-9062-375827E9F4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1604963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72" name="Line 25">
            <a:extLst>
              <a:ext uri="{FF2B5EF4-FFF2-40B4-BE49-F238E27FC236}">
                <a16:creationId xmlns:a16="http://schemas.microsoft.com/office/drawing/2014/main" id="{4E29D1C5-57DC-F848-914E-5AD67E8C29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1833563"/>
            <a:ext cx="6096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73" name="Line 26">
            <a:extLst>
              <a:ext uri="{FF2B5EF4-FFF2-40B4-BE49-F238E27FC236}">
                <a16:creationId xmlns:a16="http://schemas.microsoft.com/office/drawing/2014/main" id="{6A1287C6-C8B0-EB4B-8A95-6D2490536F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00600" y="1833563"/>
            <a:ext cx="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74" name="Line 27">
            <a:extLst>
              <a:ext uri="{FF2B5EF4-FFF2-40B4-BE49-F238E27FC236}">
                <a16:creationId xmlns:a16="http://schemas.microsoft.com/office/drawing/2014/main" id="{864F028D-DC47-6D4A-9EDC-E6E86AAD770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747963"/>
            <a:ext cx="6096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75" name="Line 28">
            <a:extLst>
              <a:ext uri="{FF2B5EF4-FFF2-40B4-BE49-F238E27FC236}">
                <a16:creationId xmlns:a16="http://schemas.microsoft.com/office/drawing/2014/main" id="{370460A7-C416-E647-91C3-A2674DAD8F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0600" y="2824163"/>
            <a:ext cx="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76" name="Oval 29">
            <a:extLst>
              <a:ext uri="{FF2B5EF4-FFF2-40B4-BE49-F238E27FC236}">
                <a16:creationId xmlns:a16="http://schemas.microsoft.com/office/drawing/2014/main" id="{6E776AA2-2E4E-7C42-825A-3521A7773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200" y="1452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77" name="Oval 30">
            <a:extLst>
              <a:ext uri="{FF2B5EF4-FFF2-40B4-BE49-F238E27FC236}">
                <a16:creationId xmlns:a16="http://schemas.microsoft.com/office/drawing/2014/main" id="{076F63DE-0346-6545-879D-57C95FFB3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450" y="2349500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78" name="Oval 31">
            <a:extLst>
              <a:ext uri="{FF2B5EF4-FFF2-40B4-BE49-F238E27FC236}">
                <a16:creationId xmlns:a16="http://schemas.microsoft.com/office/drawing/2014/main" id="{DA27059F-6662-CF48-B7D5-F01B843F9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32131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79" name="Oval 32">
            <a:extLst>
              <a:ext uri="{FF2B5EF4-FFF2-40B4-BE49-F238E27FC236}">
                <a16:creationId xmlns:a16="http://schemas.microsoft.com/office/drawing/2014/main" id="{0C6E10B2-E2EC-5644-9A98-9D47FC426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2349500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80" name="Line 33">
            <a:extLst>
              <a:ext uri="{FF2B5EF4-FFF2-40B4-BE49-F238E27FC236}">
                <a16:creationId xmlns:a16="http://schemas.microsoft.com/office/drawing/2014/main" id="{3DF4CEC5-EAB0-FC43-816F-6C707B958B9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086600" y="1833563"/>
            <a:ext cx="6350" cy="587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81" name="Line 34">
            <a:extLst>
              <a:ext uri="{FF2B5EF4-FFF2-40B4-BE49-F238E27FC236}">
                <a16:creationId xmlns:a16="http://schemas.microsoft.com/office/drawing/2014/main" id="{2B585D3F-8566-1F41-A33A-9A990B9ACC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8400" y="2747963"/>
            <a:ext cx="700088" cy="53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82" name="Line 35">
            <a:extLst>
              <a:ext uri="{FF2B5EF4-FFF2-40B4-BE49-F238E27FC236}">
                <a16:creationId xmlns:a16="http://schemas.microsoft.com/office/drawing/2014/main" id="{87626E7E-1E09-3448-B50A-ED20310020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86600" y="2708275"/>
            <a:ext cx="6350" cy="509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83" name="Oval 36">
            <a:extLst>
              <a:ext uri="{FF2B5EF4-FFF2-40B4-BE49-F238E27FC236}">
                <a16:creationId xmlns:a16="http://schemas.microsoft.com/office/drawing/2014/main" id="{6FC2F1C5-E022-9E41-89DF-D7F8927CF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39338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84" name="Oval 37">
            <a:extLst>
              <a:ext uri="{FF2B5EF4-FFF2-40B4-BE49-F238E27FC236}">
                <a16:creationId xmlns:a16="http://schemas.microsoft.com/office/drawing/2014/main" id="{B9D3458C-77FE-4748-A998-11CFD4B29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4675" y="57118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85" name="Oval 38">
            <a:extLst>
              <a:ext uri="{FF2B5EF4-FFF2-40B4-BE49-F238E27FC236}">
                <a16:creationId xmlns:a16="http://schemas.microsoft.com/office/drawing/2014/main" id="{79EBC8AA-8459-624A-B77B-4941D41C0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4675" y="4776788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86" name="Line 39">
            <a:extLst>
              <a:ext uri="{FF2B5EF4-FFF2-40B4-BE49-F238E27FC236}">
                <a16:creationId xmlns:a16="http://schemas.microsoft.com/office/drawing/2014/main" id="{FB0EFA2F-3F4F-DC4F-AD04-FC6ACC45A71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080250" y="4314825"/>
            <a:ext cx="9525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87" name="Line 40">
            <a:extLst>
              <a:ext uri="{FF2B5EF4-FFF2-40B4-BE49-F238E27FC236}">
                <a16:creationId xmlns:a16="http://schemas.microsoft.com/office/drawing/2014/main" id="{B14C4498-AD1B-6E4D-911F-923EA5CA70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9775" y="5084763"/>
            <a:ext cx="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088" name="Oval 41">
            <a:extLst>
              <a:ext uri="{FF2B5EF4-FFF2-40B4-BE49-F238E27FC236}">
                <a16:creationId xmlns:a16="http://schemas.microsoft.com/office/drawing/2014/main" id="{8ADE7740-4760-624C-95E4-3419F1E75B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4271963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89" name="Oval 42">
            <a:extLst>
              <a:ext uri="{FF2B5EF4-FFF2-40B4-BE49-F238E27FC236}">
                <a16:creationId xmlns:a16="http://schemas.microsoft.com/office/drawing/2014/main" id="{6109CDF1-17D0-3A49-AF2A-E5723C4F3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5445125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90" name="Oval 43">
            <a:extLst>
              <a:ext uri="{FF2B5EF4-FFF2-40B4-BE49-F238E27FC236}">
                <a16:creationId xmlns:a16="http://schemas.microsoft.com/office/drawing/2014/main" id="{A84F06F6-612B-D043-A594-4C79A8E51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0" y="4870450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0091" name="AutoShape 44">
            <a:extLst>
              <a:ext uri="{FF2B5EF4-FFF2-40B4-BE49-F238E27FC236}">
                <a16:creationId xmlns:a16="http://schemas.microsoft.com/office/drawing/2014/main" id="{86368FF7-17F1-A04B-8A3E-250BEDF1F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2595563"/>
            <a:ext cx="762000" cy="3810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30092" name="AutoShape 45">
            <a:extLst>
              <a:ext uri="{FF2B5EF4-FFF2-40B4-BE49-F238E27FC236}">
                <a16:creationId xmlns:a16="http://schemas.microsoft.com/office/drawing/2014/main" id="{02399FC2-13C2-7B4A-8F29-2AC848054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2595563"/>
            <a:ext cx="762000" cy="3810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30093" name="AutoShape 46">
            <a:extLst>
              <a:ext uri="{FF2B5EF4-FFF2-40B4-BE49-F238E27FC236}">
                <a16:creationId xmlns:a16="http://schemas.microsoft.com/office/drawing/2014/main" id="{9B39D001-44B6-D445-ACC4-8C6E972B2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625" y="2349500"/>
            <a:ext cx="354013" cy="3352800"/>
          </a:xfrm>
          <a:prstGeom prst="curvedLeftArrow">
            <a:avLst>
              <a:gd name="adj1" fmla="val 189417"/>
              <a:gd name="adj2" fmla="val 378834"/>
              <a:gd name="adj3" fmla="val 33333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30094" name="AutoShape 47">
            <a:extLst>
              <a:ext uri="{FF2B5EF4-FFF2-40B4-BE49-F238E27FC236}">
                <a16:creationId xmlns:a16="http://schemas.microsoft.com/office/drawing/2014/main" id="{D3A0110B-D9E3-D94F-A132-4174CD1D8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5338763"/>
            <a:ext cx="838200" cy="381000"/>
          </a:xfrm>
          <a:prstGeom prst="leftArrow">
            <a:avLst>
              <a:gd name="adj1" fmla="val 50000"/>
              <a:gd name="adj2" fmla="val 55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30095" name="AutoShape 48">
            <a:extLst>
              <a:ext uri="{FF2B5EF4-FFF2-40B4-BE49-F238E27FC236}">
                <a16:creationId xmlns:a16="http://schemas.microsoft.com/office/drawing/2014/main" id="{12611EEC-D72C-E649-9C9A-FFD456DE0E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5338763"/>
            <a:ext cx="838200" cy="381000"/>
          </a:xfrm>
          <a:prstGeom prst="leftArrow">
            <a:avLst>
              <a:gd name="adj1" fmla="val 50000"/>
              <a:gd name="adj2" fmla="val 55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30096" name="Text Box 49">
            <a:extLst>
              <a:ext uri="{FF2B5EF4-FFF2-40B4-BE49-F238E27FC236}">
                <a16:creationId xmlns:a16="http://schemas.microsoft.com/office/drawing/2014/main" id="{82AC15AF-8B08-684B-91BE-840981E0E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2138363"/>
            <a:ext cx="1143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输出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</a:p>
        </p:txBody>
      </p:sp>
      <p:sp>
        <p:nvSpPr>
          <p:cNvPr id="130097" name="Text Box 50">
            <a:extLst>
              <a:ext uri="{FF2B5EF4-FFF2-40B4-BE49-F238E27FC236}">
                <a16:creationId xmlns:a16="http://schemas.microsoft.com/office/drawing/2014/main" id="{A1411DFB-5EB8-1E45-BCC4-FF2AA8979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138363"/>
            <a:ext cx="1143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输出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</a:p>
        </p:txBody>
      </p:sp>
      <p:sp>
        <p:nvSpPr>
          <p:cNvPr id="130098" name="Text Box 51">
            <a:extLst>
              <a:ext uri="{FF2B5EF4-FFF2-40B4-BE49-F238E27FC236}">
                <a16:creationId xmlns:a16="http://schemas.microsoft.com/office/drawing/2014/main" id="{F6F6B2FB-FD54-0545-9D5F-5020B97775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2138363"/>
            <a:ext cx="1143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输出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</a:p>
        </p:txBody>
      </p:sp>
      <p:sp>
        <p:nvSpPr>
          <p:cNvPr id="130099" name="Text Box 52">
            <a:extLst>
              <a:ext uri="{FF2B5EF4-FFF2-40B4-BE49-F238E27FC236}">
                <a16:creationId xmlns:a16="http://schemas.microsoft.com/office/drawing/2014/main" id="{544359AF-6F13-E14B-876B-2BD095C574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4865688"/>
            <a:ext cx="1143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输出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</a:p>
        </p:txBody>
      </p:sp>
      <p:sp>
        <p:nvSpPr>
          <p:cNvPr id="130100" name="Text Box 53">
            <a:extLst>
              <a:ext uri="{FF2B5EF4-FFF2-40B4-BE49-F238E27FC236}">
                <a16:creationId xmlns:a16="http://schemas.microsoft.com/office/drawing/2014/main" id="{94E113BF-AB97-F34B-AD6E-0D4CA8BBD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4881563"/>
            <a:ext cx="1143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输出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</a:p>
        </p:txBody>
      </p:sp>
      <p:sp>
        <p:nvSpPr>
          <p:cNvPr id="130101" name="Text Box 54">
            <a:extLst>
              <a:ext uri="{FF2B5EF4-FFF2-40B4-BE49-F238E27FC236}">
                <a16:creationId xmlns:a16="http://schemas.microsoft.com/office/drawing/2014/main" id="{5052086D-285E-4A42-9A41-FB8990A5F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4473575"/>
            <a:ext cx="1143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输出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灯片编号占位符 1">
            <a:extLst>
              <a:ext uri="{FF2B5EF4-FFF2-40B4-BE49-F238E27FC236}">
                <a16:creationId xmlns:a16="http://schemas.microsoft.com/office/drawing/2014/main" id="{4676C710-AAF5-114C-B4D0-BEC3C60E8C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DEFC16A-D918-B544-A202-09212A0FA27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32098" name="Oval 2">
            <a:extLst>
              <a:ext uri="{FF2B5EF4-FFF2-40B4-BE49-F238E27FC236}">
                <a16:creationId xmlns:a16="http://schemas.microsoft.com/office/drawing/2014/main" id="{E422BB75-9F7C-4E43-B38C-164D04D68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5788" y="2058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099" name="Oval 3">
            <a:extLst>
              <a:ext uri="{FF2B5EF4-FFF2-40B4-BE49-F238E27FC236}">
                <a16:creationId xmlns:a16="http://schemas.microsoft.com/office/drawing/2014/main" id="{8921A980-BE1B-0342-A6AA-12CD903A92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8" y="3049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00" name="Oval 4">
            <a:extLst>
              <a:ext uri="{FF2B5EF4-FFF2-40B4-BE49-F238E27FC236}">
                <a16:creationId xmlns:a16="http://schemas.microsoft.com/office/drawing/2014/main" id="{A8775806-058A-6A4F-94E3-54AF23B63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9588" y="40401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01" name="Oval 5">
            <a:extLst>
              <a:ext uri="{FF2B5EF4-FFF2-40B4-BE49-F238E27FC236}">
                <a16:creationId xmlns:a16="http://schemas.microsoft.com/office/drawing/2014/main" id="{1528BA81-EBDC-3D4D-90B3-5CF61A855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7788" y="3049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02" name="Line 6">
            <a:extLst>
              <a:ext uri="{FF2B5EF4-FFF2-40B4-BE49-F238E27FC236}">
                <a16:creationId xmlns:a16="http://schemas.microsoft.com/office/drawing/2014/main" id="{E9CB1FF7-2AD9-2B4C-8CEF-9A85B8E1C5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4188" y="2439988"/>
            <a:ext cx="457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03" name="Line 7">
            <a:extLst>
              <a:ext uri="{FF2B5EF4-FFF2-40B4-BE49-F238E27FC236}">
                <a16:creationId xmlns:a16="http://schemas.microsoft.com/office/drawing/2014/main" id="{43CF88E9-59ED-3C4B-86C8-CA1F6AD5405C}"/>
              </a:ext>
            </a:extLst>
          </p:cNvPr>
          <p:cNvSpPr>
            <a:spLocks noChangeShapeType="1"/>
          </p:cNvSpPr>
          <p:nvPr/>
        </p:nvSpPr>
        <p:spPr bwMode="auto">
          <a:xfrm>
            <a:off x="1246188" y="2211388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04" name="Line 8">
            <a:extLst>
              <a:ext uri="{FF2B5EF4-FFF2-40B4-BE49-F238E27FC236}">
                <a16:creationId xmlns:a16="http://schemas.microsoft.com/office/drawing/2014/main" id="{E0FD9B7A-D5CD-4B4E-86ED-3432F7DD77AD}"/>
              </a:ext>
            </a:extLst>
          </p:cNvPr>
          <p:cNvSpPr>
            <a:spLocks noChangeShapeType="1"/>
          </p:cNvSpPr>
          <p:nvPr/>
        </p:nvSpPr>
        <p:spPr bwMode="auto">
          <a:xfrm>
            <a:off x="1169988" y="2439988"/>
            <a:ext cx="14478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05" name="Line 9">
            <a:extLst>
              <a:ext uri="{FF2B5EF4-FFF2-40B4-BE49-F238E27FC236}">
                <a16:creationId xmlns:a16="http://schemas.microsoft.com/office/drawing/2014/main" id="{1C5A0881-E71D-7B43-A34D-31F539F7C6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69988" y="2439988"/>
            <a:ext cx="83820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06" name="Line 10">
            <a:extLst>
              <a:ext uri="{FF2B5EF4-FFF2-40B4-BE49-F238E27FC236}">
                <a16:creationId xmlns:a16="http://schemas.microsoft.com/office/drawing/2014/main" id="{BCC765FD-85A7-2243-9222-FB789C05B8B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4188" y="3354388"/>
            <a:ext cx="129540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07" name="Line 11">
            <a:extLst>
              <a:ext uri="{FF2B5EF4-FFF2-40B4-BE49-F238E27FC236}">
                <a16:creationId xmlns:a16="http://schemas.microsoft.com/office/drawing/2014/main" id="{3F4FF5BB-1374-E445-AC33-6E98678FDDC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3788" y="2439988"/>
            <a:ext cx="6858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08" name="Line 12">
            <a:extLst>
              <a:ext uri="{FF2B5EF4-FFF2-40B4-BE49-F238E27FC236}">
                <a16:creationId xmlns:a16="http://schemas.microsoft.com/office/drawing/2014/main" id="{55A394E1-ABF7-C74B-92FD-CBEAB1727446}"/>
              </a:ext>
            </a:extLst>
          </p:cNvPr>
          <p:cNvSpPr>
            <a:spLocks noChangeShapeType="1"/>
          </p:cNvSpPr>
          <p:nvPr/>
        </p:nvSpPr>
        <p:spPr bwMode="auto">
          <a:xfrm>
            <a:off x="1246188" y="426878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09" name="Line 13">
            <a:extLst>
              <a:ext uri="{FF2B5EF4-FFF2-40B4-BE49-F238E27FC236}">
                <a16:creationId xmlns:a16="http://schemas.microsoft.com/office/drawing/2014/main" id="{28081ADF-810E-9049-8B79-0CF4E78CB9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08188" y="3430588"/>
            <a:ext cx="6858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10" name="Oval 14">
            <a:extLst>
              <a:ext uri="{FF2B5EF4-FFF2-40B4-BE49-F238E27FC236}">
                <a16:creationId xmlns:a16="http://schemas.microsoft.com/office/drawing/2014/main" id="{CC3E82DE-D3D2-4846-A0E8-5B74C89E5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188" y="2058988"/>
            <a:ext cx="381000" cy="381000"/>
          </a:xfrm>
          <a:prstGeom prst="ellipse">
            <a:avLst/>
          </a:prstGeom>
          <a:solidFill>
            <a:srgbClr val="99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11" name="Line 15">
            <a:extLst>
              <a:ext uri="{FF2B5EF4-FFF2-40B4-BE49-F238E27FC236}">
                <a16:creationId xmlns:a16="http://schemas.microsoft.com/office/drawing/2014/main" id="{5889864C-D71C-E24E-81AC-D7DB86344EB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160588" y="2439988"/>
            <a:ext cx="5334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12" name="Oval 16">
            <a:extLst>
              <a:ext uri="{FF2B5EF4-FFF2-40B4-BE49-F238E27FC236}">
                <a16:creationId xmlns:a16="http://schemas.microsoft.com/office/drawing/2014/main" id="{09D88F94-0F71-374C-9E35-08EE8A5A4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188" y="3963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13" name="Line 17">
            <a:extLst>
              <a:ext uri="{FF2B5EF4-FFF2-40B4-BE49-F238E27FC236}">
                <a16:creationId xmlns:a16="http://schemas.microsoft.com/office/drawing/2014/main" id="{3DCC2B1C-4B32-9A46-8476-810B33B247F7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7588" y="2439988"/>
            <a:ext cx="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14" name="Line 18">
            <a:extLst>
              <a:ext uri="{FF2B5EF4-FFF2-40B4-BE49-F238E27FC236}">
                <a16:creationId xmlns:a16="http://schemas.microsoft.com/office/drawing/2014/main" id="{AA4C1757-CCC4-C94E-B326-74CE65A80DF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988" y="3354388"/>
            <a:ext cx="457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15" name="Oval 19">
            <a:extLst>
              <a:ext uri="{FF2B5EF4-FFF2-40B4-BE49-F238E27FC236}">
                <a16:creationId xmlns:a16="http://schemas.microsoft.com/office/drawing/2014/main" id="{095191F2-CE98-014D-9C77-36FD84D50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8588" y="2058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16" name="Oval 20">
            <a:extLst>
              <a:ext uri="{FF2B5EF4-FFF2-40B4-BE49-F238E27FC236}">
                <a16:creationId xmlns:a16="http://schemas.microsoft.com/office/drawing/2014/main" id="{349A2E88-A187-1C4E-874F-68DB52E10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2188" y="3049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17" name="Oval 21">
            <a:extLst>
              <a:ext uri="{FF2B5EF4-FFF2-40B4-BE49-F238E27FC236}">
                <a16:creationId xmlns:a16="http://schemas.microsoft.com/office/drawing/2014/main" id="{38DD37CF-F800-644F-90F2-4FDFFD597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2388" y="40401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18" name="Oval 22">
            <a:extLst>
              <a:ext uri="{FF2B5EF4-FFF2-40B4-BE49-F238E27FC236}">
                <a16:creationId xmlns:a16="http://schemas.microsoft.com/office/drawing/2014/main" id="{F35E46DD-7715-B641-B9BD-63E5198D8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0588" y="3049588"/>
            <a:ext cx="381000" cy="381000"/>
          </a:xfrm>
          <a:prstGeom prst="ellipse">
            <a:avLst/>
          </a:prstGeom>
          <a:solidFill>
            <a:srgbClr val="99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19" name="Line 23">
            <a:extLst>
              <a:ext uri="{FF2B5EF4-FFF2-40B4-BE49-F238E27FC236}">
                <a16:creationId xmlns:a16="http://schemas.microsoft.com/office/drawing/2014/main" id="{C7469531-3E60-114C-B72F-239B61B718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2788" y="2439988"/>
            <a:ext cx="83820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20" name="Line 24">
            <a:extLst>
              <a:ext uri="{FF2B5EF4-FFF2-40B4-BE49-F238E27FC236}">
                <a16:creationId xmlns:a16="http://schemas.microsoft.com/office/drawing/2014/main" id="{4302EB32-0C9C-8145-B38B-BF502351E2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836988" y="3354388"/>
            <a:ext cx="129540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21" name="Line 25">
            <a:extLst>
              <a:ext uri="{FF2B5EF4-FFF2-40B4-BE49-F238E27FC236}">
                <a16:creationId xmlns:a16="http://schemas.microsoft.com/office/drawing/2014/main" id="{C1FE7B08-ECA4-D94A-8AF5-5ED47402BE8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98988" y="426878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22" name="Line 26">
            <a:extLst>
              <a:ext uri="{FF2B5EF4-FFF2-40B4-BE49-F238E27FC236}">
                <a16:creationId xmlns:a16="http://schemas.microsoft.com/office/drawing/2014/main" id="{3AD868C7-6C92-244C-84A3-7AFF3EB959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60988" y="3430588"/>
            <a:ext cx="685800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23" name="Line 27">
            <a:extLst>
              <a:ext uri="{FF2B5EF4-FFF2-40B4-BE49-F238E27FC236}">
                <a16:creationId xmlns:a16="http://schemas.microsoft.com/office/drawing/2014/main" id="{83B5E527-3318-B84E-925D-7B112E049E0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3388" y="2439988"/>
            <a:ext cx="5334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24" name="Oval 28">
            <a:extLst>
              <a:ext uri="{FF2B5EF4-FFF2-40B4-BE49-F238E27FC236}">
                <a16:creationId xmlns:a16="http://schemas.microsoft.com/office/drawing/2014/main" id="{499CB2C1-15A7-F34E-BC8C-1DB522622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963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25" name="Line 29">
            <a:extLst>
              <a:ext uri="{FF2B5EF4-FFF2-40B4-BE49-F238E27FC236}">
                <a16:creationId xmlns:a16="http://schemas.microsoft.com/office/drawing/2014/main" id="{10E0BBB4-C563-9944-BB02-5F8F4F74B8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60788" y="3354388"/>
            <a:ext cx="457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26" name="Oval 30">
            <a:extLst>
              <a:ext uri="{FF2B5EF4-FFF2-40B4-BE49-F238E27FC236}">
                <a16:creationId xmlns:a16="http://schemas.microsoft.com/office/drawing/2014/main" id="{FCC1BACF-447A-E047-A991-ECEF2A596D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1388" y="1989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27" name="Oval 31">
            <a:extLst>
              <a:ext uri="{FF2B5EF4-FFF2-40B4-BE49-F238E27FC236}">
                <a16:creationId xmlns:a16="http://schemas.microsoft.com/office/drawing/2014/main" id="{ECD42626-51C9-B149-A2F1-AA2A4D1B8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4988" y="29797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28" name="Oval 32">
            <a:extLst>
              <a:ext uri="{FF2B5EF4-FFF2-40B4-BE49-F238E27FC236}">
                <a16:creationId xmlns:a16="http://schemas.microsoft.com/office/drawing/2014/main" id="{62FEC11E-3B63-114E-9E7D-ADAB52984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5188" y="3970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29" name="Line 33">
            <a:extLst>
              <a:ext uri="{FF2B5EF4-FFF2-40B4-BE49-F238E27FC236}">
                <a16:creationId xmlns:a16="http://schemas.microsoft.com/office/drawing/2014/main" id="{FB453157-F196-E14F-8FA3-5E26D59EA0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75588" y="2370138"/>
            <a:ext cx="83820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30" name="Line 34">
            <a:extLst>
              <a:ext uri="{FF2B5EF4-FFF2-40B4-BE49-F238E27FC236}">
                <a16:creationId xmlns:a16="http://schemas.microsoft.com/office/drawing/2014/main" id="{9ED3F369-581E-8D40-9EA0-96D02FEBD6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89788" y="3284538"/>
            <a:ext cx="129540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31" name="Line 35">
            <a:extLst>
              <a:ext uri="{FF2B5EF4-FFF2-40B4-BE49-F238E27FC236}">
                <a16:creationId xmlns:a16="http://schemas.microsoft.com/office/drawing/2014/main" id="{34E535B8-BF2A-AE47-A822-7F4E3AD358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1788" y="419893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32" name="Oval 36">
            <a:extLst>
              <a:ext uri="{FF2B5EF4-FFF2-40B4-BE49-F238E27FC236}">
                <a16:creationId xmlns:a16="http://schemas.microsoft.com/office/drawing/2014/main" id="{8882ED0B-0777-204D-B91F-4404AA47F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38941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32133" name="Line 37">
            <a:extLst>
              <a:ext uri="{FF2B5EF4-FFF2-40B4-BE49-F238E27FC236}">
                <a16:creationId xmlns:a16="http://schemas.microsoft.com/office/drawing/2014/main" id="{E256CC0D-CAA4-DD4D-B4B2-6C015EA244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3588" y="3284538"/>
            <a:ext cx="457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134" name="AutoShape 38">
            <a:extLst>
              <a:ext uri="{FF2B5EF4-FFF2-40B4-BE49-F238E27FC236}">
                <a16:creationId xmlns:a16="http://schemas.microsoft.com/office/drawing/2014/main" id="{04701E53-7B78-C74F-9175-B18FC1A77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3582988"/>
            <a:ext cx="762000" cy="3810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32135" name="AutoShape 39">
            <a:extLst>
              <a:ext uri="{FF2B5EF4-FFF2-40B4-BE49-F238E27FC236}">
                <a16:creationId xmlns:a16="http://schemas.microsoft.com/office/drawing/2014/main" id="{A2A56D0A-937C-B942-9F0C-E6020FF335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9188" y="3582988"/>
            <a:ext cx="762000" cy="3810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32136" name="Text Box 40">
            <a:extLst>
              <a:ext uri="{FF2B5EF4-FFF2-40B4-BE49-F238E27FC236}">
                <a16:creationId xmlns:a16="http://schemas.microsoft.com/office/drawing/2014/main" id="{C9795B6A-96B3-0241-982A-F5658912A1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1388" y="4654550"/>
            <a:ext cx="1143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输出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</a:p>
        </p:txBody>
      </p:sp>
      <p:sp>
        <p:nvSpPr>
          <p:cNvPr id="132137" name="Text Box 41">
            <a:extLst>
              <a:ext uri="{FF2B5EF4-FFF2-40B4-BE49-F238E27FC236}">
                <a16:creationId xmlns:a16="http://schemas.microsoft.com/office/drawing/2014/main" id="{772DFE2D-D1F4-A045-815D-F792F6856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2788" y="4670425"/>
            <a:ext cx="1143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输出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</a:p>
        </p:txBody>
      </p:sp>
      <p:sp>
        <p:nvSpPr>
          <p:cNvPr id="132138" name="Text Box 42">
            <a:extLst>
              <a:ext uri="{FF2B5EF4-FFF2-40B4-BE49-F238E27FC236}">
                <a16:creationId xmlns:a16="http://schemas.microsoft.com/office/drawing/2014/main" id="{808837AD-A14C-C34B-A280-3DB27B2CE8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2188" y="4654550"/>
            <a:ext cx="152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不能输出</a:t>
            </a:r>
          </a:p>
        </p:txBody>
      </p:sp>
      <p:sp>
        <p:nvSpPr>
          <p:cNvPr id="132139" name="Text Box 43">
            <a:extLst>
              <a:ext uri="{FF2B5EF4-FFF2-40B4-BE49-F238E27FC236}">
                <a16:creationId xmlns:a16="http://schemas.microsoft.com/office/drawing/2014/main" id="{16752D2C-6062-2246-8ED6-277D25865B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990600"/>
            <a:ext cx="6781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有回路的有向图不存在拓扑排序。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灯片编号占位符 1">
            <a:extLst>
              <a:ext uri="{FF2B5EF4-FFF2-40B4-BE49-F238E27FC236}">
                <a16:creationId xmlns:a16="http://schemas.microsoft.com/office/drawing/2014/main" id="{E58A60F3-546B-C64B-ADD2-1AC4D17E75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3A88E7E-5200-8841-AA98-BAF23009359E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34146" name="Rectangle 2">
            <a:extLst>
              <a:ext uri="{FF2B5EF4-FFF2-40B4-BE49-F238E27FC236}">
                <a16:creationId xmlns:a16="http://schemas.microsoft.com/office/drawing/2014/main" id="{2AE89853-F6D2-444A-A7E9-AB72BBB60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" y="333375"/>
            <a:ext cx="9363075" cy="553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拓扑排序算法代码（物理结构是邻接表）：</a:t>
            </a:r>
            <a:endParaRPr kumimoji="0" lang="en-US" altLang="zh-CN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Status 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ToplogicalSort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ALGraph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G){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CountInDegree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G,indegree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);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统计顶点入度到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indegree[0..G.vexnum-1]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InitStack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(S); count=0;      //</a:t>
            </a: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初始化栈和访问顶点计数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for(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=0;i&lt;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G.vexnum;i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++)     //</a:t>
            </a: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入度为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的顶点序号进栈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if (!indegree[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]) Push(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S,i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);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while(!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StackEmpty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(S)){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   Pop(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S,i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); 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printf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G.vertices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].data);count++;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   for(p=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G.vertices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].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firstarc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; p; p=p-&gt;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nextarc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)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       j=p-&gt;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adjvex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;                  //</a:t>
            </a: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取弧头顶点序号赋值给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endParaRPr kumimoji="0" lang="zh-CN" altLang="en-US" sz="22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        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if (!--indegree[j]) Push(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S,j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)  //</a:t>
            </a: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入度减一后为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，进栈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        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   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if (count&lt;</a:t>
            </a:r>
            <a:r>
              <a:rPr kumimoji="0" lang="en-US" altLang="zh-CN" sz="22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G.vexnum</a:t>
            </a: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) return ERROR;  //</a:t>
            </a:r>
            <a:r>
              <a:rPr kumimoji="0" lang="zh-CN" altLang="en-US" sz="2200" dirty="0">
                <a:solidFill>
                  <a:srgbClr val="000000"/>
                </a:solidFill>
                <a:latin typeface="宋体" panose="02010600030101010101" pitchFamily="2" charset="-122"/>
              </a:rPr>
              <a:t>有回路；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 else                return OK;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200" dirty="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</p:txBody>
      </p:sp>
      <p:sp>
        <p:nvSpPr>
          <p:cNvPr id="35" name="Text Box 54">
            <a:extLst>
              <a:ext uri="{FF2B5EF4-FFF2-40B4-BE49-F238E27FC236}">
                <a16:creationId xmlns:a16="http://schemas.microsoft.com/office/drawing/2014/main" id="{A1E69717-61D2-9A42-B389-B025CBDF1C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3238" y="5445125"/>
            <a:ext cx="1895475" cy="461963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T(n)=O(n+e)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灯片编号占位符 1">
            <a:extLst>
              <a:ext uri="{FF2B5EF4-FFF2-40B4-BE49-F238E27FC236}">
                <a16:creationId xmlns:a16="http://schemas.microsoft.com/office/drawing/2014/main" id="{65B40810-5A2D-CA45-8B4D-56EC7C41649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FD395D8-2CE3-3942-9751-382B712BE206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36194" name="Rectangle 2">
            <a:extLst>
              <a:ext uri="{FF2B5EF4-FFF2-40B4-BE49-F238E27FC236}">
                <a16:creationId xmlns:a16="http://schemas.microsoft.com/office/drawing/2014/main" id="{F10498BE-9AF7-C540-8790-2592CBA22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382588"/>
            <a:ext cx="8686800" cy="26468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7.5.2  </a:t>
            </a: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关键路径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AOE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网（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Activity On Edge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）：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是一个带权的有向无环图，其中以顶点表示事件，弧表示活动，权表示活动持续的时间。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当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AOE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网用来估算工程的完成时间时，只有一个开始点（入度为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0,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称为源点）和一个完成点（出度为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，称为汇点）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D5F8DCC-AF95-4759-F091-65C547043729}"/>
              </a:ext>
            </a:extLst>
          </p:cNvPr>
          <p:cNvGrpSpPr/>
          <p:nvPr/>
        </p:nvGrpSpPr>
        <p:grpSpPr>
          <a:xfrm>
            <a:off x="1331640" y="3284984"/>
            <a:ext cx="6705600" cy="2438400"/>
            <a:chOff x="1250950" y="3295650"/>
            <a:chExt cx="6705600" cy="2438400"/>
          </a:xfrm>
        </p:grpSpPr>
        <p:sp>
          <p:nvSpPr>
            <p:cNvPr id="136195" name="Oval 3">
              <a:extLst>
                <a:ext uri="{FF2B5EF4-FFF2-40B4-BE49-F238E27FC236}">
                  <a16:creationId xmlns:a16="http://schemas.microsoft.com/office/drawing/2014/main" id="{FC69849F-9AA8-BA4B-9C3D-4D94D19D1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150" y="32956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V2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36196" name="Oval 4">
              <a:extLst>
                <a:ext uri="{FF2B5EF4-FFF2-40B4-BE49-F238E27FC236}">
                  <a16:creationId xmlns:a16="http://schemas.microsoft.com/office/drawing/2014/main" id="{10D3CA65-7E84-214E-8E27-C8E524BD8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950" y="3829050"/>
              <a:ext cx="381000" cy="381000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V1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36197" name="Oval 5">
              <a:extLst>
                <a:ext uri="{FF2B5EF4-FFF2-40B4-BE49-F238E27FC236}">
                  <a16:creationId xmlns:a16="http://schemas.microsoft.com/office/drawing/2014/main" id="{F4554586-0DFD-E94A-91C1-439F7414A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350" y="53530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V6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36198" name="Oval 6">
              <a:extLst>
                <a:ext uri="{FF2B5EF4-FFF2-40B4-BE49-F238E27FC236}">
                  <a16:creationId xmlns:a16="http://schemas.microsoft.com/office/drawing/2014/main" id="{789C8BD1-D2F5-9743-9876-0BDC0D421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150" y="43624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V3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36199" name="Oval 7">
              <a:extLst>
                <a:ext uri="{FF2B5EF4-FFF2-40B4-BE49-F238E27FC236}">
                  <a16:creationId xmlns:a16="http://schemas.microsoft.com/office/drawing/2014/main" id="{AE1D1212-DFFA-FF4F-9DB2-EFE40CFC5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150" y="53530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V4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36200" name="Oval 8">
              <a:extLst>
                <a:ext uri="{FF2B5EF4-FFF2-40B4-BE49-F238E27FC236}">
                  <a16:creationId xmlns:a16="http://schemas.microsoft.com/office/drawing/2014/main" id="{255CD37A-1354-2545-A367-641C1ECF1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950" y="38290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V5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36201" name="Oval 9">
              <a:extLst>
                <a:ext uri="{FF2B5EF4-FFF2-40B4-BE49-F238E27FC236}">
                  <a16:creationId xmlns:a16="http://schemas.microsoft.com/office/drawing/2014/main" id="{CE98D30D-F581-774C-A458-C69D6E397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150" y="32956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V7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36202" name="Oval 10">
              <a:extLst>
                <a:ext uri="{FF2B5EF4-FFF2-40B4-BE49-F238E27FC236}">
                  <a16:creationId xmlns:a16="http://schemas.microsoft.com/office/drawing/2014/main" id="{52E7E4CE-11A4-7247-877E-C3B54CA0B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150" y="44386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V8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36203" name="Oval 11">
              <a:extLst>
                <a:ext uri="{FF2B5EF4-FFF2-40B4-BE49-F238E27FC236}">
                  <a16:creationId xmlns:a16="http://schemas.microsoft.com/office/drawing/2014/main" id="{3E04571D-2E8E-B344-BC16-2FBE8BD30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5550" y="3905250"/>
              <a:ext cx="381000" cy="3810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V9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36204" name="Line 12">
              <a:extLst>
                <a:ext uri="{FF2B5EF4-FFF2-40B4-BE49-F238E27FC236}">
                  <a16:creationId xmlns:a16="http://schemas.microsoft.com/office/drawing/2014/main" id="{157C7425-24BA-6541-B035-DA37BF738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1950" y="4057650"/>
              <a:ext cx="121920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5" name="Line 13">
              <a:extLst>
                <a:ext uri="{FF2B5EF4-FFF2-40B4-BE49-F238E27FC236}">
                  <a16:creationId xmlns:a16="http://schemas.microsoft.com/office/drawing/2014/main" id="{969A1B7F-C21F-C341-8330-66209CCE54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2150" y="4133850"/>
              <a:ext cx="10668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6" name="Line 14">
              <a:extLst>
                <a:ext uri="{FF2B5EF4-FFF2-40B4-BE49-F238E27FC236}">
                  <a16:creationId xmlns:a16="http://schemas.microsoft.com/office/drawing/2014/main" id="{284FD07B-A8FB-C54B-B259-B436E1099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2150" y="3524250"/>
              <a:ext cx="10668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7" name="Line 15">
              <a:extLst>
                <a:ext uri="{FF2B5EF4-FFF2-40B4-BE49-F238E27FC236}">
                  <a16:creationId xmlns:a16="http://schemas.microsoft.com/office/drawing/2014/main" id="{68D058AD-7555-804E-AB95-9BC395A6B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9950" y="3524250"/>
              <a:ext cx="12192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8" name="Line 16">
              <a:extLst>
                <a:ext uri="{FF2B5EF4-FFF2-40B4-BE49-F238E27FC236}">
                  <a16:creationId xmlns:a16="http://schemas.microsoft.com/office/drawing/2014/main" id="{CA0D7354-5AD7-FD48-B9E7-6AAF0E8F9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750" y="4133850"/>
              <a:ext cx="129540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9" name="Line 17">
              <a:extLst>
                <a:ext uri="{FF2B5EF4-FFF2-40B4-BE49-F238E27FC236}">
                  <a16:creationId xmlns:a16="http://schemas.microsoft.com/office/drawing/2014/main" id="{72B38A6B-D1EE-5949-A470-64AD67A692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0150" y="4210050"/>
              <a:ext cx="12954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0" name="Line 18">
              <a:extLst>
                <a:ext uri="{FF2B5EF4-FFF2-40B4-BE49-F238E27FC236}">
                  <a16:creationId xmlns:a16="http://schemas.microsoft.com/office/drawing/2014/main" id="{D7777865-10E9-4647-B417-D052CE2804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0150" y="3524250"/>
              <a:ext cx="1295400" cy="533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1" name="Line 19">
              <a:extLst>
                <a:ext uri="{FF2B5EF4-FFF2-40B4-BE49-F238E27FC236}">
                  <a16:creationId xmlns:a16="http://schemas.microsoft.com/office/drawing/2014/main" id="{FEF76BE7-6A66-4B4D-A79E-6592D8AB16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5750" y="4210050"/>
              <a:ext cx="137160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2" name="Line 20">
              <a:extLst>
                <a:ext uri="{FF2B5EF4-FFF2-40B4-BE49-F238E27FC236}">
                  <a16:creationId xmlns:a16="http://schemas.microsoft.com/office/drawing/2014/main" id="{F71DDE19-2067-8947-9655-9E357A22F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2150" y="5581650"/>
              <a:ext cx="8382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3" name="Line 21">
              <a:extLst>
                <a:ext uri="{FF2B5EF4-FFF2-40B4-BE49-F238E27FC236}">
                  <a16:creationId xmlns:a16="http://schemas.microsoft.com/office/drawing/2014/main" id="{4A3B1678-21B1-504A-8DF5-44820F4E56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1350" y="4743450"/>
              <a:ext cx="1447800" cy="762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4" name="Line 22">
              <a:extLst>
                <a:ext uri="{FF2B5EF4-FFF2-40B4-BE49-F238E27FC236}">
                  <a16:creationId xmlns:a16="http://schemas.microsoft.com/office/drawing/2014/main" id="{B9646B0F-AEB6-0D4C-A256-FEB36DA943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1950" y="3524250"/>
              <a:ext cx="12192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5" name="WordArt 23">
              <a:extLst>
                <a:ext uri="{FF2B5EF4-FFF2-40B4-BE49-F238E27FC236}">
                  <a16:creationId xmlns:a16="http://schemas.microsoft.com/office/drawing/2014/main" id="{7A498159-9518-EC4E-B08E-4EBF0643D5EB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1860550" y="35083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a1=6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16" name="WordArt 24">
              <a:extLst>
                <a:ext uri="{FF2B5EF4-FFF2-40B4-BE49-F238E27FC236}">
                  <a16:creationId xmlns:a16="http://schemas.microsoft.com/office/drawing/2014/main" id="{8C9621A6-BD3B-9C4C-912F-B92098ACEF65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4984750" y="34321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a7=9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17" name="WordArt 25">
              <a:extLst>
                <a:ext uri="{FF2B5EF4-FFF2-40B4-BE49-F238E27FC236}">
                  <a16:creationId xmlns:a16="http://schemas.microsoft.com/office/drawing/2014/main" id="{08E206E0-CA08-AA4D-A7E1-BD8E20F3AAAE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6470650" y="4133850"/>
              <a:ext cx="5715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a11=4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18" name="WordArt 26">
              <a:extLst>
                <a:ext uri="{FF2B5EF4-FFF2-40B4-BE49-F238E27FC236}">
                  <a16:creationId xmlns:a16="http://schemas.microsoft.com/office/drawing/2014/main" id="{4F715EAC-B55A-2F4D-9A31-3362D12A174F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3384550" y="41179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a5=1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19" name="WordArt 27">
              <a:extLst>
                <a:ext uri="{FF2B5EF4-FFF2-40B4-BE49-F238E27FC236}">
                  <a16:creationId xmlns:a16="http://schemas.microsoft.com/office/drawing/2014/main" id="{CD975C9C-DDED-494A-8DD0-0A1904417032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1690103">
              <a:off x="4602163" y="4913313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a9=4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20" name="WordArt 28">
              <a:extLst>
                <a:ext uri="{FF2B5EF4-FFF2-40B4-BE49-F238E27FC236}">
                  <a16:creationId xmlns:a16="http://schemas.microsoft.com/office/drawing/2014/main" id="{2102AEAA-8B21-CF49-8973-3DC01FD54845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298406">
              <a:off x="3490913" y="33559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a4=1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21" name="WordArt 29">
              <a:extLst>
                <a:ext uri="{FF2B5EF4-FFF2-40B4-BE49-F238E27FC236}">
                  <a16:creationId xmlns:a16="http://schemas.microsoft.com/office/drawing/2014/main" id="{843723F6-A56E-524D-81FE-958BFAA2F260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275432">
              <a:off x="2012950" y="39655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a2=4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22" name="WordArt 30">
              <a:extLst>
                <a:ext uri="{FF2B5EF4-FFF2-40B4-BE49-F238E27FC236}">
                  <a16:creationId xmlns:a16="http://schemas.microsoft.com/office/drawing/2014/main" id="{F2CA3DCD-6736-A248-BF21-2C13BE8199E2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2442582">
              <a:off x="1784350" y="4743450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a3=5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23" name="WordArt 31">
              <a:extLst>
                <a:ext uri="{FF2B5EF4-FFF2-40B4-BE49-F238E27FC236}">
                  <a16:creationId xmlns:a16="http://schemas.microsoft.com/office/drawing/2014/main" id="{058B90E1-4999-2C41-9FF0-B6005797F187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130484">
              <a:off x="3382963" y="52609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a6=2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24" name="WordArt 32">
              <a:extLst>
                <a:ext uri="{FF2B5EF4-FFF2-40B4-BE49-F238E27FC236}">
                  <a16:creationId xmlns:a16="http://schemas.microsoft.com/office/drawing/2014/main" id="{EFCA4F86-6998-AF45-97F3-CC54620A5C79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884637">
              <a:off x="5137150" y="40417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a8=7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36225" name="WordArt 33">
              <a:extLst>
                <a:ext uri="{FF2B5EF4-FFF2-40B4-BE49-F238E27FC236}">
                  <a16:creationId xmlns:a16="http://schemas.microsoft.com/office/drawing/2014/main" id="{29E44BB9-A7CE-1142-86A6-F942B812F732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164342">
              <a:off x="6605588" y="3432175"/>
              <a:ext cx="5715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a10=2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</p:grp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灯片编号占位符 1">
            <a:extLst>
              <a:ext uri="{FF2B5EF4-FFF2-40B4-BE49-F238E27FC236}">
                <a16:creationId xmlns:a16="http://schemas.microsoft.com/office/drawing/2014/main" id="{E3A6E05F-BA0C-C741-B649-4DB40F1E971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C06F372-E868-174A-BA21-C0A2E8DB7A0F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38242" name="Text Box 2">
            <a:extLst>
              <a:ext uri="{FF2B5EF4-FFF2-40B4-BE49-F238E27FC236}">
                <a16:creationId xmlns:a16="http://schemas.microsoft.com/office/drawing/2014/main" id="{1A9217D5-54FA-5F48-AF72-A7EAFBD928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59" y="2645929"/>
            <a:ext cx="8208962" cy="40318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AOE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网研究的问题：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） 完成整项工程至少需要多少时间；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） 哪些活动是影响工程进度的关键。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在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AOE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网中，部分活动可并行进行，所以完成工程的最短时间是从开始点到完成点的</a:t>
            </a:r>
            <a:r>
              <a:rPr kumimoji="0" lang="zh-CN" altLang="en-US" sz="2400" dirty="0">
                <a:solidFill>
                  <a:srgbClr val="C00000"/>
                </a:solidFill>
                <a:latin typeface="宋体" panose="02010600030101010101" pitchFamily="2" charset="-122"/>
              </a:rPr>
              <a:t>最长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路径长度（</a:t>
            </a:r>
            <a:r>
              <a:rPr lang="zh-CN" altLang="zh-CN" sz="2400" dirty="0"/>
              <a:t>这里是指路径上的权值之和具有最大值</a:t>
            </a:r>
            <a:r>
              <a:rPr lang="zh-CN" altLang="en-US" sz="2400" dirty="0"/>
              <a:t>）</a:t>
            </a:r>
            <a:r>
              <a:rPr lang="zh-CN" altLang="zh-CN" sz="2400" dirty="0"/>
              <a:t>。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路径长度最长的路径称为关键路径（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Critical  Path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）。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kumimoji="0" lang="en-US" altLang="zh-CN" sz="2400" dirty="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86F8F5C-1E03-8E27-96A4-7668262A3C6F}"/>
              </a:ext>
            </a:extLst>
          </p:cNvPr>
          <p:cNvGrpSpPr/>
          <p:nvPr/>
        </p:nvGrpSpPr>
        <p:grpSpPr>
          <a:xfrm>
            <a:off x="1407840" y="404664"/>
            <a:ext cx="6705600" cy="2438400"/>
            <a:chOff x="1250950" y="3295650"/>
            <a:chExt cx="6705600" cy="2438400"/>
          </a:xfrm>
        </p:grpSpPr>
        <p:sp>
          <p:nvSpPr>
            <p:cNvPr id="3" name="Oval 3">
              <a:extLst>
                <a:ext uri="{FF2B5EF4-FFF2-40B4-BE49-F238E27FC236}">
                  <a16:creationId xmlns:a16="http://schemas.microsoft.com/office/drawing/2014/main" id="{90CAF111-1B9F-CE19-CA5C-EB084A968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150" y="32956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V2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4" name="Oval 4">
              <a:extLst>
                <a:ext uri="{FF2B5EF4-FFF2-40B4-BE49-F238E27FC236}">
                  <a16:creationId xmlns:a16="http://schemas.microsoft.com/office/drawing/2014/main" id="{B2458877-A6E5-6978-C9D4-FDBBC465D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950" y="3829050"/>
              <a:ext cx="381000" cy="381000"/>
            </a:xfrm>
            <a:prstGeom prst="ellipse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V1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5" name="Oval 5">
              <a:extLst>
                <a:ext uri="{FF2B5EF4-FFF2-40B4-BE49-F238E27FC236}">
                  <a16:creationId xmlns:a16="http://schemas.microsoft.com/office/drawing/2014/main" id="{5C7880AF-8B12-1AD2-6109-6E6449817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350" y="53530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V6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" name="Oval 6">
              <a:extLst>
                <a:ext uri="{FF2B5EF4-FFF2-40B4-BE49-F238E27FC236}">
                  <a16:creationId xmlns:a16="http://schemas.microsoft.com/office/drawing/2014/main" id="{D48F1E31-168F-D500-84CE-57AD97B38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150" y="43624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V3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7" name="Oval 7">
              <a:extLst>
                <a:ext uri="{FF2B5EF4-FFF2-40B4-BE49-F238E27FC236}">
                  <a16:creationId xmlns:a16="http://schemas.microsoft.com/office/drawing/2014/main" id="{BB0CA524-05F8-19B1-254C-99EE8259C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150" y="53530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V4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8" name="Oval 8">
              <a:extLst>
                <a:ext uri="{FF2B5EF4-FFF2-40B4-BE49-F238E27FC236}">
                  <a16:creationId xmlns:a16="http://schemas.microsoft.com/office/drawing/2014/main" id="{BB624800-F906-4619-F416-0C7769303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950" y="38290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V5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9" name="Oval 9">
              <a:extLst>
                <a:ext uri="{FF2B5EF4-FFF2-40B4-BE49-F238E27FC236}">
                  <a16:creationId xmlns:a16="http://schemas.microsoft.com/office/drawing/2014/main" id="{AF417578-B64E-5609-8C82-CC23519F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150" y="32956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V7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0" name="Oval 10">
              <a:extLst>
                <a:ext uri="{FF2B5EF4-FFF2-40B4-BE49-F238E27FC236}">
                  <a16:creationId xmlns:a16="http://schemas.microsoft.com/office/drawing/2014/main" id="{C4CF5BE5-6633-E5B2-B9D2-9CBACB5F6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150" y="4438650"/>
              <a:ext cx="381000" cy="38100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V8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1" name="Oval 11">
              <a:extLst>
                <a:ext uri="{FF2B5EF4-FFF2-40B4-BE49-F238E27FC236}">
                  <a16:creationId xmlns:a16="http://schemas.microsoft.com/office/drawing/2014/main" id="{D20AF19F-1D06-45B8-FD30-1DC689F74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5550" y="3905250"/>
              <a:ext cx="381000" cy="3810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2400">
                  <a:solidFill>
                    <a:srgbClr val="000000"/>
                  </a:solidFill>
                  <a:latin typeface="宋体" panose="02010600030101010101" pitchFamily="2" charset="-122"/>
                </a:rPr>
                <a:t>V9</a:t>
              </a:r>
              <a:endParaRPr kumimoji="0" lang="en-US" altLang="zh-CN" sz="24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2" name="Line 12">
              <a:extLst>
                <a:ext uri="{FF2B5EF4-FFF2-40B4-BE49-F238E27FC236}">
                  <a16:creationId xmlns:a16="http://schemas.microsoft.com/office/drawing/2014/main" id="{2BC351C7-FCC7-4E62-9C47-DB4E0EB66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1950" y="4057650"/>
              <a:ext cx="121920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Line 13">
              <a:extLst>
                <a:ext uri="{FF2B5EF4-FFF2-40B4-BE49-F238E27FC236}">
                  <a16:creationId xmlns:a16="http://schemas.microsoft.com/office/drawing/2014/main" id="{A099E714-E945-EB5C-D772-9E1AE79793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2150" y="4133850"/>
              <a:ext cx="10668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Line 14">
              <a:extLst>
                <a:ext uri="{FF2B5EF4-FFF2-40B4-BE49-F238E27FC236}">
                  <a16:creationId xmlns:a16="http://schemas.microsoft.com/office/drawing/2014/main" id="{82FD251F-D7E1-8964-DC40-002843555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2150" y="3524250"/>
              <a:ext cx="10668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Line 15">
              <a:extLst>
                <a:ext uri="{FF2B5EF4-FFF2-40B4-BE49-F238E27FC236}">
                  <a16:creationId xmlns:a16="http://schemas.microsoft.com/office/drawing/2014/main" id="{DA8EE04A-080B-1AA0-2AC0-36B2F68EA0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9950" y="3524250"/>
              <a:ext cx="12192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Line 16">
              <a:extLst>
                <a:ext uri="{FF2B5EF4-FFF2-40B4-BE49-F238E27FC236}">
                  <a16:creationId xmlns:a16="http://schemas.microsoft.com/office/drawing/2014/main" id="{954027F6-2878-4F43-0C6B-A4303566F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750" y="4133850"/>
              <a:ext cx="129540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Line 17">
              <a:extLst>
                <a:ext uri="{FF2B5EF4-FFF2-40B4-BE49-F238E27FC236}">
                  <a16:creationId xmlns:a16="http://schemas.microsoft.com/office/drawing/2014/main" id="{A35161F4-762E-74B3-AF82-7092B638F4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0150" y="4210050"/>
              <a:ext cx="12954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Line 18">
              <a:extLst>
                <a:ext uri="{FF2B5EF4-FFF2-40B4-BE49-F238E27FC236}">
                  <a16:creationId xmlns:a16="http://schemas.microsoft.com/office/drawing/2014/main" id="{463A494D-173F-C78B-EE7A-308ADBDBB5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0150" y="3524250"/>
              <a:ext cx="1295400" cy="533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Line 19">
              <a:extLst>
                <a:ext uri="{FF2B5EF4-FFF2-40B4-BE49-F238E27FC236}">
                  <a16:creationId xmlns:a16="http://schemas.microsoft.com/office/drawing/2014/main" id="{F65F774C-E075-0024-F19E-52DA7BAE42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5750" y="4210050"/>
              <a:ext cx="137160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Line 20">
              <a:extLst>
                <a:ext uri="{FF2B5EF4-FFF2-40B4-BE49-F238E27FC236}">
                  <a16:creationId xmlns:a16="http://schemas.microsoft.com/office/drawing/2014/main" id="{8B9A7ED8-6F5D-FAE5-BD6D-0DB8225D3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2150" y="5581650"/>
              <a:ext cx="8382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Line 21">
              <a:extLst>
                <a:ext uri="{FF2B5EF4-FFF2-40B4-BE49-F238E27FC236}">
                  <a16:creationId xmlns:a16="http://schemas.microsoft.com/office/drawing/2014/main" id="{9F5A25C5-C618-E4C5-DAC5-8ABA59A207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1350" y="4743450"/>
              <a:ext cx="1447800" cy="762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Line 22">
              <a:extLst>
                <a:ext uri="{FF2B5EF4-FFF2-40B4-BE49-F238E27FC236}">
                  <a16:creationId xmlns:a16="http://schemas.microsoft.com/office/drawing/2014/main" id="{D0D558C5-2C1A-9966-3052-EC3B59C9B5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1950" y="3524250"/>
              <a:ext cx="1219200" cy="381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WordArt 23">
              <a:extLst>
                <a:ext uri="{FF2B5EF4-FFF2-40B4-BE49-F238E27FC236}">
                  <a16:creationId xmlns:a16="http://schemas.microsoft.com/office/drawing/2014/main" id="{768CC51A-1EA8-B918-B6B1-A56E80578536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1860550" y="35083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a1=6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24" name="WordArt 24">
              <a:extLst>
                <a:ext uri="{FF2B5EF4-FFF2-40B4-BE49-F238E27FC236}">
                  <a16:creationId xmlns:a16="http://schemas.microsoft.com/office/drawing/2014/main" id="{57F6D430-6D42-1CA2-6FF5-3BC1ECDC750B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4984750" y="34321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a7=9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25" name="WordArt 25">
              <a:extLst>
                <a:ext uri="{FF2B5EF4-FFF2-40B4-BE49-F238E27FC236}">
                  <a16:creationId xmlns:a16="http://schemas.microsoft.com/office/drawing/2014/main" id="{FBDDCBA6-F86E-B3EC-9948-068F9F0238B8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6470650" y="4133850"/>
              <a:ext cx="5715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a11=4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26" name="WordArt 26">
              <a:extLst>
                <a:ext uri="{FF2B5EF4-FFF2-40B4-BE49-F238E27FC236}">
                  <a16:creationId xmlns:a16="http://schemas.microsoft.com/office/drawing/2014/main" id="{70CC4C29-87A3-E3FC-A541-A71FFD675801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3384550" y="41179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a5=1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27" name="WordArt 27">
              <a:extLst>
                <a:ext uri="{FF2B5EF4-FFF2-40B4-BE49-F238E27FC236}">
                  <a16:creationId xmlns:a16="http://schemas.microsoft.com/office/drawing/2014/main" id="{7F3D43A2-5301-D19A-C4B8-F3CB302334B2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1690103">
              <a:off x="4602163" y="4913313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a9=4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28" name="WordArt 28">
              <a:extLst>
                <a:ext uri="{FF2B5EF4-FFF2-40B4-BE49-F238E27FC236}">
                  <a16:creationId xmlns:a16="http://schemas.microsoft.com/office/drawing/2014/main" id="{C78069FB-1532-56CC-E947-65D0E8160448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298406">
              <a:off x="3490913" y="33559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a4=1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29" name="WordArt 29">
              <a:extLst>
                <a:ext uri="{FF2B5EF4-FFF2-40B4-BE49-F238E27FC236}">
                  <a16:creationId xmlns:a16="http://schemas.microsoft.com/office/drawing/2014/main" id="{2B7E7034-8B5C-F748-193D-CD38348B395D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275432">
              <a:off x="2012950" y="39655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a2=4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30" name="WordArt 30">
              <a:extLst>
                <a:ext uri="{FF2B5EF4-FFF2-40B4-BE49-F238E27FC236}">
                  <a16:creationId xmlns:a16="http://schemas.microsoft.com/office/drawing/2014/main" id="{0EEA3F0D-A905-DA81-D2AE-D8B6E15A5EC6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2442582">
              <a:off x="1784350" y="4743450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a3=5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31" name="WordArt 31">
              <a:extLst>
                <a:ext uri="{FF2B5EF4-FFF2-40B4-BE49-F238E27FC236}">
                  <a16:creationId xmlns:a16="http://schemas.microsoft.com/office/drawing/2014/main" id="{E40EB535-8E0B-0475-4AF6-18636F9B7C66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130484">
              <a:off x="3382963" y="52609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a6=2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32" name="WordArt 32">
              <a:extLst>
                <a:ext uri="{FF2B5EF4-FFF2-40B4-BE49-F238E27FC236}">
                  <a16:creationId xmlns:a16="http://schemas.microsoft.com/office/drawing/2014/main" id="{A7497243-25E6-5491-DC49-BFAD940BB71A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884637">
              <a:off x="5137150" y="4041775"/>
              <a:ext cx="4572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a8=7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33" name="WordArt 33">
              <a:extLst>
                <a:ext uri="{FF2B5EF4-FFF2-40B4-BE49-F238E27FC236}">
                  <a16:creationId xmlns:a16="http://schemas.microsoft.com/office/drawing/2014/main" id="{65A8D8D5-72DF-930E-A996-43F4433C6E8F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164342">
              <a:off x="6605588" y="3432175"/>
              <a:ext cx="571500" cy="244475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a10=2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</p:grp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灯片编号占位符 1">
            <a:extLst>
              <a:ext uri="{FF2B5EF4-FFF2-40B4-BE49-F238E27FC236}">
                <a16:creationId xmlns:a16="http://schemas.microsoft.com/office/drawing/2014/main" id="{5A505A07-218E-FD4A-99F4-AFC1575A365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54461F6-D5FA-5043-97F4-2EBEE1D43F9D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40290" name="Text Box 25">
            <a:extLst>
              <a:ext uri="{FF2B5EF4-FFF2-40B4-BE49-F238E27FC236}">
                <a16:creationId xmlns:a16="http://schemas.microsoft.com/office/drawing/2014/main" id="{33EFD2AB-787F-C543-9D9C-3C43B689F3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9813" y="3925888"/>
            <a:ext cx="4114800" cy="1735137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有多个前驱顶点：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ve(v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)=max{ve(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前驱顶点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)+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前驱活动时间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=max{6+1,4+1,5+5}=10</a:t>
            </a:r>
          </a:p>
        </p:txBody>
      </p:sp>
      <p:sp>
        <p:nvSpPr>
          <p:cNvPr id="140291" name="Text Box 2">
            <a:extLst>
              <a:ext uri="{FF2B5EF4-FFF2-40B4-BE49-F238E27FC236}">
                <a16:creationId xmlns:a16="http://schemas.microsoft.com/office/drawing/2014/main" id="{3402E766-D0AF-0D42-A692-505093D2C3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333375"/>
            <a:ext cx="82296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顶点）事件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的最早发生时间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：                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从开始点到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的最长路径长度。（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(v1)=0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）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既表示事件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的最早发生时间，也表示所有以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为尾的弧所对应的活动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的最早发生时间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e(k)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。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如下例的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a7,a8)</a:t>
            </a:r>
          </a:p>
        </p:txBody>
      </p:sp>
      <p:sp>
        <p:nvSpPr>
          <p:cNvPr id="140292" name="Oval 3">
            <a:extLst>
              <a:ext uri="{FF2B5EF4-FFF2-40B4-BE49-F238E27FC236}">
                <a16:creationId xmlns:a16="http://schemas.microsoft.com/office/drawing/2014/main" id="{1744CA85-75A5-BD44-B13A-F9A16A499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057400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0293" name="Oval 4">
            <a:extLst>
              <a:ext uri="{FF2B5EF4-FFF2-40B4-BE49-F238E27FC236}">
                <a16:creationId xmlns:a16="http://schemas.microsoft.com/office/drawing/2014/main" id="{96EEB06D-CBA2-0545-AC2C-B3B7205E3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2895600"/>
            <a:ext cx="381000" cy="381000"/>
          </a:xfrm>
          <a:prstGeom prst="ellipse">
            <a:avLst/>
          </a:prstGeom>
          <a:solidFill>
            <a:srgbClr val="FFFF99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0294" name="Oval 5">
            <a:extLst>
              <a:ext uri="{FF2B5EF4-FFF2-40B4-BE49-F238E27FC236}">
                <a16:creationId xmlns:a16="http://schemas.microsoft.com/office/drawing/2014/main" id="{1077AFA9-0B96-5D46-8FE7-31B3CA69A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95600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0295" name="Oval 6">
            <a:extLst>
              <a:ext uri="{FF2B5EF4-FFF2-40B4-BE49-F238E27FC236}">
                <a16:creationId xmlns:a16="http://schemas.microsoft.com/office/drawing/2014/main" id="{674D720F-8ADF-7C47-89EC-A90B6D505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810000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0296" name="Oval 7">
            <a:extLst>
              <a:ext uri="{FF2B5EF4-FFF2-40B4-BE49-F238E27FC236}">
                <a16:creationId xmlns:a16="http://schemas.microsoft.com/office/drawing/2014/main" id="{E249756E-1B7F-BA4E-AB85-437A570D0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2895600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0297" name="Line 8">
            <a:extLst>
              <a:ext uri="{FF2B5EF4-FFF2-40B4-BE49-F238E27FC236}">
                <a16:creationId xmlns:a16="http://schemas.microsoft.com/office/drawing/2014/main" id="{EED8A8E6-31ED-2543-A94D-B83F0116C9FC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31242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298" name="Line 9">
            <a:extLst>
              <a:ext uri="{FF2B5EF4-FFF2-40B4-BE49-F238E27FC236}">
                <a16:creationId xmlns:a16="http://schemas.microsoft.com/office/drawing/2014/main" id="{05097173-BA85-4B47-A282-AF912BEA46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76800" y="31242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299" name="Line 10">
            <a:extLst>
              <a:ext uri="{FF2B5EF4-FFF2-40B4-BE49-F238E27FC236}">
                <a16:creationId xmlns:a16="http://schemas.microsoft.com/office/drawing/2014/main" id="{06EC9618-27E6-4E43-911D-4DEA6BBFB8E0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6800" y="2286000"/>
            <a:ext cx="1600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300" name="Line 12">
            <a:extLst>
              <a:ext uri="{FF2B5EF4-FFF2-40B4-BE49-F238E27FC236}">
                <a16:creationId xmlns:a16="http://schemas.microsoft.com/office/drawing/2014/main" id="{C9FD573A-DBF7-0649-B50B-2C9D52103F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76800" y="3276600"/>
            <a:ext cx="1600200" cy="762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301" name="Line 13">
            <a:extLst>
              <a:ext uri="{FF2B5EF4-FFF2-40B4-BE49-F238E27FC236}">
                <a16:creationId xmlns:a16="http://schemas.microsoft.com/office/drawing/2014/main" id="{487FAB04-55F5-0D40-AAC5-BCBBFAFC26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71800" y="2286000"/>
            <a:ext cx="1524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302" name="WordArt 14">
            <a:extLst>
              <a:ext uri="{FF2B5EF4-FFF2-40B4-BE49-F238E27FC236}">
                <a16:creationId xmlns:a16="http://schemas.microsoft.com/office/drawing/2014/main" id="{52C6D255-2D08-A244-A996-DE2FF447A7DB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3505200" y="22701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a1=6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0303" name="WordArt 15">
            <a:extLst>
              <a:ext uri="{FF2B5EF4-FFF2-40B4-BE49-F238E27FC236}">
                <a16:creationId xmlns:a16="http://schemas.microsoft.com/office/drawing/2014/main" id="{47B049BC-9E22-624F-B708-4898F509A4AC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80506">
            <a:off x="5181600" y="28035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a5=1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0304" name="WordArt 16">
            <a:extLst>
              <a:ext uri="{FF2B5EF4-FFF2-40B4-BE49-F238E27FC236}">
                <a16:creationId xmlns:a16="http://schemas.microsoft.com/office/drawing/2014/main" id="{A987768B-C4A3-2E45-AFC3-568D6612862A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298406">
            <a:off x="5135563" y="21177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a4=1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0305" name="WordArt 17">
            <a:extLst>
              <a:ext uri="{FF2B5EF4-FFF2-40B4-BE49-F238E27FC236}">
                <a16:creationId xmlns:a16="http://schemas.microsoft.com/office/drawing/2014/main" id="{A78C7C21-E672-FE48-B259-8BD96EBF1F99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211630">
            <a:off x="3657600" y="28035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a2=4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0306" name="WordArt 18">
            <a:extLst>
              <a:ext uri="{FF2B5EF4-FFF2-40B4-BE49-F238E27FC236}">
                <a16:creationId xmlns:a16="http://schemas.microsoft.com/office/drawing/2014/main" id="{56FEAA61-4224-1B43-841D-A0B6FE148FDE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669153">
            <a:off x="3657600" y="33369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a3=5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0307" name="WordArt 19">
            <a:extLst>
              <a:ext uri="{FF2B5EF4-FFF2-40B4-BE49-F238E27FC236}">
                <a16:creationId xmlns:a16="http://schemas.microsoft.com/office/drawing/2014/main" id="{73E5170E-C265-3E4C-B1B3-452143BE91BE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485916">
            <a:off x="5181600" y="34290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a6=5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0308" name="Line 20">
            <a:extLst>
              <a:ext uri="{FF2B5EF4-FFF2-40B4-BE49-F238E27FC236}">
                <a16:creationId xmlns:a16="http://schemas.microsoft.com/office/drawing/2014/main" id="{0F1B5CD6-A76A-A047-BED0-89EF5FDDF9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1800" y="2590800"/>
            <a:ext cx="1295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309" name="Line 21">
            <a:extLst>
              <a:ext uri="{FF2B5EF4-FFF2-40B4-BE49-F238E27FC236}">
                <a16:creationId xmlns:a16="http://schemas.microsoft.com/office/drawing/2014/main" id="{F7FA4AB1-727A-1145-AE9E-B6FAAF78A729}"/>
              </a:ext>
            </a:extLst>
          </p:cNvPr>
          <p:cNvSpPr>
            <a:spLocks noChangeShapeType="1"/>
          </p:cNvSpPr>
          <p:nvPr/>
        </p:nvSpPr>
        <p:spPr bwMode="auto">
          <a:xfrm>
            <a:off x="6781800" y="3200400"/>
            <a:ext cx="1371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310" name="WordArt 22">
            <a:extLst>
              <a:ext uri="{FF2B5EF4-FFF2-40B4-BE49-F238E27FC236}">
                <a16:creationId xmlns:a16="http://schemas.microsoft.com/office/drawing/2014/main" id="{75A423B3-9238-FF47-913E-DA282855E82A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7162800" y="24987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a7=9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0311" name="WordArt 23">
            <a:extLst>
              <a:ext uri="{FF2B5EF4-FFF2-40B4-BE49-F238E27FC236}">
                <a16:creationId xmlns:a16="http://schemas.microsoft.com/office/drawing/2014/main" id="{3FC01156-D3FA-0F48-95F0-493ACFABCF7E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884637">
            <a:off x="7315200" y="31083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a8=7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0312" name="Text Box 24">
            <a:extLst>
              <a:ext uri="{FF2B5EF4-FFF2-40B4-BE49-F238E27FC236}">
                <a16:creationId xmlns:a16="http://schemas.microsoft.com/office/drawing/2014/main" id="{96EF82FE-30D2-154C-B2D0-C895829AE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3344863"/>
            <a:ext cx="3529013" cy="1828800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仅有一个前驱顶点：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ve(v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)=ve(v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)+6=0+6=6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ve(v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)=ve(v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)+4=0+6=4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ve(v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4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)=ve(v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)+6=0+5=5</a:t>
            </a:r>
          </a:p>
        </p:txBody>
      </p:sp>
      <p:sp>
        <p:nvSpPr>
          <p:cNvPr id="261146" name="Text Box 26">
            <a:extLst>
              <a:ext uri="{FF2B5EF4-FFF2-40B4-BE49-F238E27FC236}">
                <a16:creationId xmlns:a16="http://schemas.microsoft.com/office/drawing/2014/main" id="{80A3774C-829A-B549-BC31-EBE8B239D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4075" y="5589588"/>
            <a:ext cx="70231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完成点（汇点）的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ve(vn)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为工程完成所需要的时间。</a:t>
            </a:r>
          </a:p>
        </p:txBody>
      </p:sp>
      <p:sp>
        <p:nvSpPr>
          <p:cNvPr id="140314" name="Line 11">
            <a:extLst>
              <a:ext uri="{FF2B5EF4-FFF2-40B4-BE49-F238E27FC236}">
                <a16:creationId xmlns:a16="http://schemas.microsoft.com/office/drawing/2014/main" id="{4D8C1971-617F-9146-A990-39FDF42BCD8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3200400"/>
            <a:ext cx="1524000" cy="762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61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1146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灯片编号占位符 1">
            <a:extLst>
              <a:ext uri="{FF2B5EF4-FFF2-40B4-BE49-F238E27FC236}">
                <a16:creationId xmlns:a16="http://schemas.microsoft.com/office/drawing/2014/main" id="{C59D6BFE-9F32-3C49-A9E4-D5D73C4F601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F54D052-C0DE-6744-97E5-86628CB1F6C5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42338" name="Text Box 2">
            <a:extLst>
              <a:ext uri="{FF2B5EF4-FFF2-40B4-BE49-F238E27FC236}">
                <a16:creationId xmlns:a16="http://schemas.microsoft.com/office/drawing/2014/main" id="{CA27A062-712B-5243-85A1-16765A46D1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98463"/>
            <a:ext cx="8915400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不推迟整个工程完成的前提下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, (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顶点）事件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允许的最迟开始时间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vl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：  完成点（汇点）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的的最早发生时间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(n)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减去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到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的最长路径长度。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的最早发生时间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(n)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等于最迟开始时间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vl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(n)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）。 </a:t>
            </a:r>
          </a:p>
        </p:txBody>
      </p:sp>
      <p:sp>
        <p:nvSpPr>
          <p:cNvPr id="142339" name="Oval 3">
            <a:extLst>
              <a:ext uri="{FF2B5EF4-FFF2-40B4-BE49-F238E27FC236}">
                <a16:creationId xmlns:a16="http://schemas.microsoft.com/office/drawing/2014/main" id="{2ECE1894-E28E-844B-BCFF-7B57A0B4A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4648200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2340" name="Oval 4">
            <a:extLst>
              <a:ext uri="{FF2B5EF4-FFF2-40B4-BE49-F238E27FC236}">
                <a16:creationId xmlns:a16="http://schemas.microsoft.com/office/drawing/2014/main" id="{E21F8EE7-2D15-D547-90B0-20972066D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3124200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2341" name="Oval 5">
            <a:extLst>
              <a:ext uri="{FF2B5EF4-FFF2-40B4-BE49-F238E27FC236}">
                <a16:creationId xmlns:a16="http://schemas.microsoft.com/office/drawing/2014/main" id="{CB8624EF-FF73-F447-B088-38C9A50C8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2590800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V7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2342" name="Oval 6">
            <a:extLst>
              <a:ext uri="{FF2B5EF4-FFF2-40B4-BE49-F238E27FC236}">
                <a16:creationId xmlns:a16="http://schemas.microsoft.com/office/drawing/2014/main" id="{98B41CB4-0961-AF4F-868E-37CC0C204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733800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V8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2343" name="Oval 7">
            <a:extLst>
              <a:ext uri="{FF2B5EF4-FFF2-40B4-BE49-F238E27FC236}">
                <a16:creationId xmlns:a16="http://schemas.microsoft.com/office/drawing/2014/main" id="{D157FA8A-29EE-AF49-A38F-8051D9454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3200400"/>
            <a:ext cx="381000" cy="381000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V9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2344" name="Line 8">
            <a:extLst>
              <a:ext uri="{FF2B5EF4-FFF2-40B4-BE49-F238E27FC236}">
                <a16:creationId xmlns:a16="http://schemas.microsoft.com/office/drawing/2014/main" id="{1FE3D0D8-EFD2-DE4D-BE44-A3F34A9E20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14400" y="2819400"/>
            <a:ext cx="121920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2345" name="Line 9">
            <a:extLst>
              <a:ext uri="{FF2B5EF4-FFF2-40B4-BE49-F238E27FC236}">
                <a16:creationId xmlns:a16="http://schemas.microsoft.com/office/drawing/2014/main" id="{46F49A12-2FB4-0542-963A-2D5E6868BEF5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00" y="3429000"/>
            <a:ext cx="1288481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2346" name="Line 10">
            <a:extLst>
              <a:ext uri="{FF2B5EF4-FFF2-40B4-BE49-F238E27FC236}">
                <a16:creationId xmlns:a16="http://schemas.microsoft.com/office/drawing/2014/main" id="{363BA89B-F7A5-3449-AE1F-A3B8B4AB5D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14600" y="3505200"/>
            <a:ext cx="1295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2347" name="Line 11">
            <a:extLst>
              <a:ext uri="{FF2B5EF4-FFF2-40B4-BE49-F238E27FC236}">
                <a16:creationId xmlns:a16="http://schemas.microsoft.com/office/drawing/2014/main" id="{8EB9527D-44AB-4141-8892-83DA0DCD5955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2819400"/>
            <a:ext cx="1295400" cy="533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2348" name="Line 12">
            <a:extLst>
              <a:ext uri="{FF2B5EF4-FFF2-40B4-BE49-F238E27FC236}">
                <a16:creationId xmlns:a16="http://schemas.microsoft.com/office/drawing/2014/main" id="{3B17D2D5-09AD-4944-BC9A-8034E4FD98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800" y="4038600"/>
            <a:ext cx="14478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2349" name="WordArt 13">
            <a:extLst>
              <a:ext uri="{FF2B5EF4-FFF2-40B4-BE49-F238E27FC236}">
                <a16:creationId xmlns:a16="http://schemas.microsoft.com/office/drawing/2014/main" id="{87077AA9-63A0-0945-A78C-910D7CE1132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1219200" y="27273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a7=9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2350" name="WordArt 14">
            <a:extLst>
              <a:ext uri="{FF2B5EF4-FFF2-40B4-BE49-F238E27FC236}">
                <a16:creationId xmlns:a16="http://schemas.microsoft.com/office/drawing/2014/main" id="{D7949C5C-F36E-7C4A-BF4E-B44AA663F46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2705100" y="3429000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a11=4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2351" name="WordArt 15">
            <a:extLst>
              <a:ext uri="{FF2B5EF4-FFF2-40B4-BE49-F238E27FC236}">
                <a16:creationId xmlns:a16="http://schemas.microsoft.com/office/drawing/2014/main" id="{F328A1FC-6261-7848-8276-359AFA9F309A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690103">
            <a:off x="836613" y="420846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a9=4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2352" name="WordArt 16">
            <a:extLst>
              <a:ext uri="{FF2B5EF4-FFF2-40B4-BE49-F238E27FC236}">
                <a16:creationId xmlns:a16="http://schemas.microsoft.com/office/drawing/2014/main" id="{9A276F3B-7025-6749-A8D1-A218D7EC1A4D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884637">
            <a:off x="1371600" y="33369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a8=4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2353" name="WordArt 17">
            <a:extLst>
              <a:ext uri="{FF2B5EF4-FFF2-40B4-BE49-F238E27FC236}">
                <a16:creationId xmlns:a16="http://schemas.microsoft.com/office/drawing/2014/main" id="{9C1641C6-66CD-D14F-B4EA-920AD04551BB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164342">
            <a:off x="2840038" y="2727325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a10=2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2354" name="Text Box 18">
            <a:extLst>
              <a:ext uri="{FF2B5EF4-FFF2-40B4-BE49-F238E27FC236}">
                <a16:creationId xmlns:a16="http://schemas.microsoft.com/office/drawing/2014/main" id="{20366E96-49E1-C84A-8617-C70A3006E7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2198688"/>
            <a:ext cx="4343400" cy="2743200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仅有一个后继顶点：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假定工程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18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天完成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(ve(v9)=18),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则：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vl(v9)=18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vl(v7)= vl(v9)-2=16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vl(v8)= vl(v9)-4=14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vl(v6)= vl(v8)-4=10</a:t>
            </a:r>
          </a:p>
        </p:txBody>
      </p:sp>
      <p:sp>
        <p:nvSpPr>
          <p:cNvPr id="142355" name="Text Box 19">
            <a:extLst>
              <a:ext uri="{FF2B5EF4-FFF2-40B4-BE49-F238E27FC236}">
                <a16:creationId xmlns:a16="http://schemas.microsoft.com/office/drawing/2014/main" id="{B48930FA-54BA-F44B-8FE3-D99F8CA3D2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5513" y="5013325"/>
            <a:ext cx="6781800" cy="9144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有多个后继顶点：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vl(v5)= min{vl(v7)-9, vl(v8)-4}=min{7,10}=7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灯片编号占位符 1">
            <a:extLst>
              <a:ext uri="{FF2B5EF4-FFF2-40B4-BE49-F238E27FC236}">
                <a16:creationId xmlns:a16="http://schemas.microsoft.com/office/drawing/2014/main" id="{69DB246C-5581-2F4E-8F3B-B4A7979355E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AD88D9E-F307-2945-93B7-9EAD7F379EE9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44386" name="Oval 2">
            <a:extLst>
              <a:ext uri="{FF2B5EF4-FFF2-40B4-BE49-F238E27FC236}">
                <a16:creationId xmlns:a16="http://schemas.microsoft.com/office/drawing/2014/main" id="{969B38D8-E30C-2741-852D-94A7C5AD6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250" y="5746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4387" name="Oval 3">
            <a:extLst>
              <a:ext uri="{FF2B5EF4-FFF2-40B4-BE49-F238E27FC236}">
                <a16:creationId xmlns:a16="http://schemas.microsoft.com/office/drawing/2014/main" id="{754AA333-F730-8A4E-A699-EA0C26865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9250" y="1412875"/>
            <a:ext cx="381000" cy="381000"/>
          </a:xfrm>
          <a:prstGeom prst="ellipse">
            <a:avLst/>
          </a:prstGeom>
          <a:solidFill>
            <a:srgbClr val="FFFF99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4388" name="Oval 4">
            <a:extLst>
              <a:ext uri="{FF2B5EF4-FFF2-40B4-BE49-F238E27FC236}">
                <a16:creationId xmlns:a16="http://schemas.microsoft.com/office/drawing/2014/main" id="{628A4E45-5BFE-7842-841E-A827189EB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250" y="14128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4389" name="Oval 5">
            <a:extLst>
              <a:ext uri="{FF2B5EF4-FFF2-40B4-BE49-F238E27FC236}">
                <a16:creationId xmlns:a16="http://schemas.microsoft.com/office/drawing/2014/main" id="{4323FB1F-9AF2-BA41-B1D2-2A0A11324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250" y="23272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4390" name="Oval 6">
            <a:extLst>
              <a:ext uri="{FF2B5EF4-FFF2-40B4-BE49-F238E27FC236}">
                <a16:creationId xmlns:a16="http://schemas.microsoft.com/office/drawing/2014/main" id="{703F12C0-14A5-9B4B-9C64-A6BDAE5523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9250" y="14128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0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4391" name="Line 7">
            <a:extLst>
              <a:ext uri="{FF2B5EF4-FFF2-40B4-BE49-F238E27FC236}">
                <a16:creationId xmlns:a16="http://schemas.microsoft.com/office/drawing/2014/main" id="{9BE01EA5-A426-9C4B-A7FF-A82A28206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0250" y="1641475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392" name="Line 8">
            <a:extLst>
              <a:ext uri="{FF2B5EF4-FFF2-40B4-BE49-F238E27FC236}">
                <a16:creationId xmlns:a16="http://schemas.microsoft.com/office/drawing/2014/main" id="{0913EA31-56DC-6E45-8C73-ABB37C9F06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5250" y="1641475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393" name="Line 9">
            <a:extLst>
              <a:ext uri="{FF2B5EF4-FFF2-40B4-BE49-F238E27FC236}">
                <a16:creationId xmlns:a16="http://schemas.microsoft.com/office/drawing/2014/main" id="{1684A84C-C87E-6640-8B00-97B7C29CC85D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5250" y="803275"/>
            <a:ext cx="1600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394" name="Line 10">
            <a:extLst>
              <a:ext uri="{FF2B5EF4-FFF2-40B4-BE49-F238E27FC236}">
                <a16:creationId xmlns:a16="http://schemas.microsoft.com/office/drawing/2014/main" id="{D6E19C95-358F-BF43-92DD-A33FD1708DC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0250" y="1717675"/>
            <a:ext cx="15240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395" name="Line 11">
            <a:extLst>
              <a:ext uri="{FF2B5EF4-FFF2-40B4-BE49-F238E27FC236}">
                <a16:creationId xmlns:a16="http://schemas.microsoft.com/office/drawing/2014/main" id="{771D6E70-F30E-A040-B758-D81A34BC1C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5250" y="1793875"/>
            <a:ext cx="16002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396" name="Line 12">
            <a:extLst>
              <a:ext uri="{FF2B5EF4-FFF2-40B4-BE49-F238E27FC236}">
                <a16:creationId xmlns:a16="http://schemas.microsoft.com/office/drawing/2014/main" id="{229D8028-CE7A-294E-91C7-5BDDFBC639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00250" y="803275"/>
            <a:ext cx="1524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397" name="WordArt 13">
            <a:extLst>
              <a:ext uri="{FF2B5EF4-FFF2-40B4-BE49-F238E27FC236}">
                <a16:creationId xmlns:a16="http://schemas.microsoft.com/office/drawing/2014/main" id="{ED2435C5-7F42-D241-AC99-589FA50B3A1E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2533650" y="7874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a1=6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4398" name="WordArt 14">
            <a:extLst>
              <a:ext uri="{FF2B5EF4-FFF2-40B4-BE49-F238E27FC236}">
                <a16:creationId xmlns:a16="http://schemas.microsoft.com/office/drawing/2014/main" id="{B23149CA-D412-324E-B65E-4D44E10C8E7B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80506">
            <a:off x="4210050" y="13208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a5=1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4399" name="WordArt 15">
            <a:extLst>
              <a:ext uri="{FF2B5EF4-FFF2-40B4-BE49-F238E27FC236}">
                <a16:creationId xmlns:a16="http://schemas.microsoft.com/office/drawing/2014/main" id="{8E939135-0E4F-0F4F-8B37-29547D3EF3E6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298406">
            <a:off x="4164013" y="6350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a4=1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4400" name="WordArt 16">
            <a:extLst>
              <a:ext uri="{FF2B5EF4-FFF2-40B4-BE49-F238E27FC236}">
                <a16:creationId xmlns:a16="http://schemas.microsoft.com/office/drawing/2014/main" id="{05FF73D6-E45F-904E-B6C6-058A4AE10077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211630">
            <a:off x="2686050" y="13208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a2=4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4401" name="WordArt 17">
            <a:extLst>
              <a:ext uri="{FF2B5EF4-FFF2-40B4-BE49-F238E27FC236}">
                <a16:creationId xmlns:a16="http://schemas.microsoft.com/office/drawing/2014/main" id="{F9F31D5D-0260-4146-822E-BBA6D85D1C4F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669153">
            <a:off x="2686050" y="18542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a3=5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4402" name="WordArt 18">
            <a:extLst>
              <a:ext uri="{FF2B5EF4-FFF2-40B4-BE49-F238E27FC236}">
                <a16:creationId xmlns:a16="http://schemas.microsoft.com/office/drawing/2014/main" id="{109B1093-DDE5-F64C-B7D3-E5DFEA60BCC1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485916">
            <a:off x="4210050" y="194627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a6=5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4403" name="Line 19">
            <a:extLst>
              <a:ext uri="{FF2B5EF4-FFF2-40B4-BE49-F238E27FC236}">
                <a16:creationId xmlns:a16="http://schemas.microsoft.com/office/drawing/2014/main" id="{CF2F2D27-D7FB-1947-AE69-A5CE540ABE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1108075"/>
            <a:ext cx="1295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404" name="Line 20">
            <a:extLst>
              <a:ext uri="{FF2B5EF4-FFF2-40B4-BE49-F238E27FC236}">
                <a16:creationId xmlns:a16="http://schemas.microsoft.com/office/drawing/2014/main" id="{D220D5D1-BEED-F843-954D-847E44A9E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0250" y="1717675"/>
            <a:ext cx="13716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405" name="WordArt 21">
            <a:extLst>
              <a:ext uri="{FF2B5EF4-FFF2-40B4-BE49-F238E27FC236}">
                <a16:creationId xmlns:a16="http://schemas.microsoft.com/office/drawing/2014/main" id="{6532D0E7-71DE-3143-91FD-689141F1B230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6191250" y="10160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a7=9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4406" name="WordArt 22">
            <a:extLst>
              <a:ext uri="{FF2B5EF4-FFF2-40B4-BE49-F238E27FC236}">
                <a16:creationId xmlns:a16="http://schemas.microsoft.com/office/drawing/2014/main" id="{39C8F230-8C54-A041-9FE1-BC0D58168101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884637">
            <a:off x="6343650" y="16256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a8=7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4407" name="Text Box 23">
            <a:extLst>
              <a:ext uri="{FF2B5EF4-FFF2-40B4-BE49-F238E27FC236}">
                <a16:creationId xmlns:a16="http://schemas.microsoft.com/office/drawing/2014/main" id="{5FCE9635-CB13-5645-A775-CD989B107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3068638"/>
            <a:ext cx="4038600" cy="2100262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各顶点事件最早开始时间：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ve(v1)=0   ve(v2)=6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ve(v3)=4   ve(v4)=5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ve(v5)=10</a:t>
            </a:r>
          </a:p>
        </p:txBody>
      </p:sp>
      <p:sp>
        <p:nvSpPr>
          <p:cNvPr id="144408" name="Text Box 24">
            <a:extLst>
              <a:ext uri="{FF2B5EF4-FFF2-40B4-BE49-F238E27FC236}">
                <a16:creationId xmlns:a16="http://schemas.microsoft.com/office/drawing/2014/main" id="{4E958BBF-B014-704F-8864-CFB15AF1E4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7538" y="2754313"/>
            <a:ext cx="4572000" cy="3195637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各活动最早开始时间： 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e(a1)= e(a2)=e(a3)=ve(v1)=0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e(a4)=ve(v2)=6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e(a5)=ve(v3)=4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e(a6)=ve(v4)=5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e(a7)=e(a8)=ve(v5)=10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灯片编号占位符 1">
            <a:extLst>
              <a:ext uri="{FF2B5EF4-FFF2-40B4-BE49-F238E27FC236}">
                <a16:creationId xmlns:a16="http://schemas.microsoft.com/office/drawing/2014/main" id="{DD700E87-164C-044A-A38A-548FFFD0722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0F8367E-D59E-034C-9D7E-F0E0201CA7F6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46434" name="Text Box 2">
            <a:extLst>
              <a:ext uri="{FF2B5EF4-FFF2-40B4-BE49-F238E27FC236}">
                <a16:creationId xmlns:a16="http://schemas.microsoft.com/office/drawing/2014/main" id="{F15E50E0-6375-F74D-B444-2F2EF3B94B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5125" y="5087938"/>
            <a:ext cx="6059488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l(i)-e(i)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意味着完成活动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的时间余量。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关键活动：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l(i)=e(i)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的活动。</a:t>
            </a:r>
          </a:p>
        </p:txBody>
      </p:sp>
      <p:sp>
        <p:nvSpPr>
          <p:cNvPr id="146435" name="Text Box 3">
            <a:extLst>
              <a:ext uri="{FF2B5EF4-FFF2-40B4-BE49-F238E27FC236}">
                <a16:creationId xmlns:a16="http://schemas.microsoft.com/office/drawing/2014/main" id="{404B094B-C2FD-E14B-927B-1C0A92934D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549275"/>
            <a:ext cx="8496300" cy="1662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确定了顶点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的最迟开始时间后，确定所有以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为弧头的活动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的最迟开始时间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l(k)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：表示在不推迟整个工程完成的前提下，活动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最迟必须开始的时间。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l(a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)=vl(a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后继事件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/a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弧头对应顶点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)-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活动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的持续时间</a:t>
            </a:r>
          </a:p>
        </p:txBody>
      </p:sp>
      <p:sp>
        <p:nvSpPr>
          <p:cNvPr id="146436" name="Oval 4">
            <a:extLst>
              <a:ext uri="{FF2B5EF4-FFF2-40B4-BE49-F238E27FC236}">
                <a16:creationId xmlns:a16="http://schemas.microsoft.com/office/drawing/2014/main" id="{E26D5F2A-C99A-6443-BD40-1B2D6D11A6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4333875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6437" name="Oval 5">
            <a:extLst>
              <a:ext uri="{FF2B5EF4-FFF2-40B4-BE49-F238E27FC236}">
                <a16:creationId xmlns:a16="http://schemas.microsoft.com/office/drawing/2014/main" id="{3489051A-4537-C64F-8B0C-8D3AF678F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038" y="2809875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6438" name="Oval 6">
            <a:extLst>
              <a:ext uri="{FF2B5EF4-FFF2-40B4-BE49-F238E27FC236}">
                <a16:creationId xmlns:a16="http://schemas.microsoft.com/office/drawing/2014/main" id="{BFC7D29F-EAC7-0342-8D42-450B1C58D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238" y="2276475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V7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6439" name="Oval 7">
            <a:extLst>
              <a:ext uri="{FF2B5EF4-FFF2-40B4-BE49-F238E27FC236}">
                <a16:creationId xmlns:a16="http://schemas.microsoft.com/office/drawing/2014/main" id="{7F4A487C-805E-7A46-B540-06ADBDD7F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238" y="3419475"/>
            <a:ext cx="381000" cy="381000"/>
          </a:xfrm>
          <a:prstGeom prst="ellipse">
            <a:avLst/>
          </a:prstGeom>
          <a:solidFill>
            <a:srgbClr val="99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V8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6440" name="Oval 8">
            <a:extLst>
              <a:ext uri="{FF2B5EF4-FFF2-40B4-BE49-F238E27FC236}">
                <a16:creationId xmlns:a16="http://schemas.microsoft.com/office/drawing/2014/main" id="{5478AFEE-F002-6944-99A7-63905D765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3638" y="2886075"/>
            <a:ext cx="381000" cy="381000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V9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6441" name="Line 9">
            <a:extLst>
              <a:ext uri="{FF2B5EF4-FFF2-40B4-BE49-F238E27FC236}">
                <a16:creationId xmlns:a16="http://schemas.microsoft.com/office/drawing/2014/main" id="{B4D0AF61-0864-D641-8B15-9B556CA4D0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8038" y="2505075"/>
            <a:ext cx="121920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6442" name="Line 10">
            <a:extLst>
              <a:ext uri="{FF2B5EF4-FFF2-40B4-BE49-F238E27FC236}">
                <a16:creationId xmlns:a16="http://schemas.microsoft.com/office/drawing/2014/main" id="{271B5E07-FB92-6B4D-8192-6AFC84C285E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838" y="3114674"/>
            <a:ext cx="1295400" cy="4840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6443" name="Line 11">
            <a:extLst>
              <a:ext uri="{FF2B5EF4-FFF2-40B4-BE49-F238E27FC236}">
                <a16:creationId xmlns:a16="http://schemas.microsoft.com/office/drawing/2014/main" id="{D8AC5ECE-E248-A94F-91F6-3028052796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08238" y="3190875"/>
            <a:ext cx="1295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6444" name="Line 12">
            <a:extLst>
              <a:ext uri="{FF2B5EF4-FFF2-40B4-BE49-F238E27FC236}">
                <a16:creationId xmlns:a16="http://schemas.microsoft.com/office/drawing/2014/main" id="{62A29E60-9917-2245-A897-8FCAF537B2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8238" y="2505075"/>
            <a:ext cx="1295400" cy="533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6445" name="Line 13">
            <a:extLst>
              <a:ext uri="{FF2B5EF4-FFF2-40B4-BE49-F238E27FC236}">
                <a16:creationId xmlns:a16="http://schemas.microsoft.com/office/drawing/2014/main" id="{23CD03CB-4A09-4244-B356-88FD7935CB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1825" y="3729038"/>
            <a:ext cx="14478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6446" name="WordArt 14">
            <a:extLst>
              <a:ext uri="{FF2B5EF4-FFF2-40B4-BE49-F238E27FC236}">
                <a16:creationId xmlns:a16="http://schemas.microsoft.com/office/drawing/2014/main" id="{04663CF1-9083-DB4E-8823-16F50E1997AF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1112838" y="24130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a7=9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6447" name="WordArt 15">
            <a:extLst>
              <a:ext uri="{FF2B5EF4-FFF2-40B4-BE49-F238E27FC236}">
                <a16:creationId xmlns:a16="http://schemas.microsoft.com/office/drawing/2014/main" id="{9D4F4B07-3871-7D47-B2C4-A9529204BCD8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2598738" y="3114675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a11=4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6448" name="WordArt 16">
            <a:extLst>
              <a:ext uri="{FF2B5EF4-FFF2-40B4-BE49-F238E27FC236}">
                <a16:creationId xmlns:a16="http://schemas.microsoft.com/office/drawing/2014/main" id="{2A8EF45A-F223-FB44-84AD-6747B42E22FF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690103">
            <a:off x="730250" y="3894138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a9=4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6449" name="WordArt 17">
            <a:extLst>
              <a:ext uri="{FF2B5EF4-FFF2-40B4-BE49-F238E27FC236}">
                <a16:creationId xmlns:a16="http://schemas.microsoft.com/office/drawing/2014/main" id="{35DFBDB2-D8E7-B347-8CAC-ECD786216465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884637">
            <a:off x="1265238" y="30226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a8=4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6450" name="WordArt 18">
            <a:extLst>
              <a:ext uri="{FF2B5EF4-FFF2-40B4-BE49-F238E27FC236}">
                <a16:creationId xmlns:a16="http://schemas.microsoft.com/office/drawing/2014/main" id="{AC710E7C-2B82-554A-B77C-89D37BA862A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164342">
            <a:off x="2733675" y="2413000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a10=2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6451" name="Text Box 19">
            <a:extLst>
              <a:ext uri="{FF2B5EF4-FFF2-40B4-BE49-F238E27FC236}">
                <a16:creationId xmlns:a16="http://schemas.microsoft.com/office/drawing/2014/main" id="{683BEDA9-9358-DC4A-9202-42BDB5C86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6238" y="3573463"/>
            <a:ext cx="2808287" cy="1311275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vl(v7)= vl(v9)-2=16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vl(v8)= vl(v9)-4=14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vl(v9)=18</a:t>
            </a:r>
          </a:p>
        </p:txBody>
      </p:sp>
      <p:sp>
        <p:nvSpPr>
          <p:cNvPr id="146452" name="Text Box 20">
            <a:extLst>
              <a:ext uri="{FF2B5EF4-FFF2-40B4-BE49-F238E27FC236}">
                <a16:creationId xmlns:a16="http://schemas.microsoft.com/office/drawing/2014/main" id="{C2799867-1738-B34B-A59A-52432291B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5963" y="2636838"/>
            <a:ext cx="3276600" cy="2225675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l(a11)=Vl(v9)-4=18-4=14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l(a10)=Vl(v9)-2=18-2=16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l(a9)=Vl(v8)-4=14-4=10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l(a8)=Vl(v8)-4=14-4=10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l(a7)=Vl(v7)-9=16-9=7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BE4BD386-1879-7BF8-AC35-DC01F3C80FF8}"/>
              </a:ext>
            </a:extLst>
          </p:cNvPr>
          <p:cNvSpPr txBox="1"/>
          <p:nvPr/>
        </p:nvSpPr>
        <p:spPr>
          <a:xfrm>
            <a:off x="3499568" y="2482532"/>
            <a:ext cx="15841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800" b="0" dirty="0" err="1">
                <a:latin typeface="+mn-ea"/>
                <a:ea typeface="+mn-ea"/>
              </a:rPr>
              <a:t>vl</a:t>
            </a:r>
            <a:r>
              <a:rPr kumimoji="1" lang="en-US" altLang="zh-CN" sz="1800" b="0" dirty="0">
                <a:latin typeface="+mn-ea"/>
                <a:ea typeface="+mn-ea"/>
              </a:rPr>
              <a:t>(v9)=18</a:t>
            </a:r>
            <a:endParaRPr kumimoji="1" lang="zh-CN" altLang="en-US" sz="1800" b="0" dirty="0">
              <a:latin typeface="+mn-ea"/>
              <a:ea typeface="+mn-ea"/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A1CB2133-49D8-E5F7-F346-9627FBD6CDAE}"/>
              </a:ext>
            </a:extLst>
          </p:cNvPr>
          <p:cNvSpPr txBox="1"/>
          <p:nvPr/>
        </p:nvSpPr>
        <p:spPr>
          <a:xfrm>
            <a:off x="973399" y="145703"/>
            <a:ext cx="622247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>
                <a:highlight>
                  <a:srgbClr val="00FFFF"/>
                </a:highlight>
              </a:rPr>
              <a:t>为什么不能是前序事件的最迟开始时间？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灯片编号占位符 1">
            <a:extLst>
              <a:ext uri="{FF2B5EF4-FFF2-40B4-BE49-F238E27FC236}">
                <a16:creationId xmlns:a16="http://schemas.microsoft.com/office/drawing/2014/main" id="{A60D605C-671F-6D47-8B7F-5EF8B171ADB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E7BBEB2-E640-4F4D-A1BB-B638D41362E7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48482" name="Text Box 2">
            <a:extLst>
              <a:ext uri="{FF2B5EF4-FFF2-40B4-BE49-F238E27FC236}">
                <a16:creationId xmlns:a16="http://schemas.microsoft.com/office/drawing/2014/main" id="{EF1974A0-B892-A34C-8E35-3D8F6C44D1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284163"/>
            <a:ext cx="8534400" cy="271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关键路径算法步骤：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）初始化各顶点最早发生时间为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。从开始点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出发，按拓朴排序序列求其它各顶点的最早发生时间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Ve(j)=max{ve(i)+dut(&lt;i,j&gt;)}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(vi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为以顶点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vj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为弧头的所有弧的弧尾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对应的顶点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</p:txBody>
      </p:sp>
      <p:sp>
        <p:nvSpPr>
          <p:cNvPr id="269315" name="Oval 3">
            <a:extLst>
              <a:ext uri="{FF2B5EF4-FFF2-40B4-BE49-F238E27FC236}">
                <a16:creationId xmlns:a16="http://schemas.microsoft.com/office/drawing/2014/main" id="{6FAE7B90-38A2-EF47-9C38-289B954E3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31511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9316" name="Oval 4">
            <a:extLst>
              <a:ext uri="{FF2B5EF4-FFF2-40B4-BE49-F238E27FC236}">
                <a16:creationId xmlns:a16="http://schemas.microsoft.com/office/drawing/2014/main" id="{ECA8D384-74FD-F34C-8C21-47F7D084E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3684588"/>
            <a:ext cx="381000" cy="381000"/>
          </a:xfrm>
          <a:prstGeom prst="ellipse">
            <a:avLst/>
          </a:prstGeom>
          <a:solidFill>
            <a:srgbClr val="FFFF99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9317" name="Oval 5">
            <a:extLst>
              <a:ext uri="{FF2B5EF4-FFF2-40B4-BE49-F238E27FC236}">
                <a16:creationId xmlns:a16="http://schemas.microsoft.com/office/drawing/2014/main" id="{2FF1D8A9-B3D5-4847-95B8-BAE98805A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5208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9318" name="Oval 6">
            <a:extLst>
              <a:ext uri="{FF2B5EF4-FFF2-40B4-BE49-F238E27FC236}">
                <a16:creationId xmlns:a16="http://schemas.microsoft.com/office/drawing/2014/main" id="{F041E3FF-A1D7-604C-8A7A-A32FE1A9F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217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9319" name="Oval 7">
            <a:extLst>
              <a:ext uri="{FF2B5EF4-FFF2-40B4-BE49-F238E27FC236}">
                <a16:creationId xmlns:a16="http://schemas.microsoft.com/office/drawing/2014/main" id="{401D78F4-2C72-9141-85AB-C4141EDDC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5208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9320" name="Oval 8">
            <a:extLst>
              <a:ext uri="{FF2B5EF4-FFF2-40B4-BE49-F238E27FC236}">
                <a16:creationId xmlns:a16="http://schemas.microsoft.com/office/drawing/2014/main" id="{CC4572C3-71C3-3848-9E18-230E46F93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684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9321" name="Oval 9">
            <a:extLst>
              <a:ext uri="{FF2B5EF4-FFF2-40B4-BE49-F238E27FC236}">
                <a16:creationId xmlns:a16="http://schemas.microsoft.com/office/drawing/2014/main" id="{A4CF6C6C-955B-D844-AF0F-A259A2A57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31511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V7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9322" name="Oval 10">
            <a:extLst>
              <a:ext uri="{FF2B5EF4-FFF2-40B4-BE49-F238E27FC236}">
                <a16:creationId xmlns:a16="http://schemas.microsoft.com/office/drawing/2014/main" id="{34482E75-BCF5-EB41-90A3-B512CC9E9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42941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V8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48491" name="Oval 11">
            <a:extLst>
              <a:ext uri="{FF2B5EF4-FFF2-40B4-BE49-F238E27FC236}">
                <a16:creationId xmlns:a16="http://schemas.microsoft.com/office/drawing/2014/main" id="{4E336766-AA3D-6344-886C-2ECBD6D1A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3760788"/>
            <a:ext cx="381000" cy="381000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V9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9324" name="Line 12">
            <a:extLst>
              <a:ext uri="{FF2B5EF4-FFF2-40B4-BE49-F238E27FC236}">
                <a16:creationId xmlns:a16="http://schemas.microsoft.com/office/drawing/2014/main" id="{ED0BFB4F-17C8-DF41-8053-A6109A7FC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000" y="3913188"/>
            <a:ext cx="762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25" name="Line 13">
            <a:extLst>
              <a:ext uri="{FF2B5EF4-FFF2-40B4-BE49-F238E27FC236}">
                <a16:creationId xmlns:a16="http://schemas.microsoft.com/office/drawing/2014/main" id="{C83EB1D0-CBDC-2349-8E81-38A8ED838C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05000" y="3989388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26" name="Line 14">
            <a:extLst>
              <a:ext uri="{FF2B5EF4-FFF2-40B4-BE49-F238E27FC236}">
                <a16:creationId xmlns:a16="http://schemas.microsoft.com/office/drawing/2014/main" id="{95E5556A-A3C3-C94F-88D6-4C657271C485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3379788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27" name="Line 15">
            <a:extLst>
              <a:ext uri="{FF2B5EF4-FFF2-40B4-BE49-F238E27FC236}">
                <a16:creationId xmlns:a16="http://schemas.microsoft.com/office/drawing/2014/main" id="{03E59010-6FA3-014F-BFBC-B463F7CBBD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00400" y="3379788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28" name="Line 16">
            <a:extLst>
              <a:ext uri="{FF2B5EF4-FFF2-40B4-BE49-F238E27FC236}">
                <a16:creationId xmlns:a16="http://schemas.microsoft.com/office/drawing/2014/main" id="{7D58589C-364A-FD4E-8E91-05B6B9B2AD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0400" y="3989388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29" name="Line 17">
            <a:extLst>
              <a:ext uri="{FF2B5EF4-FFF2-40B4-BE49-F238E27FC236}">
                <a16:creationId xmlns:a16="http://schemas.microsoft.com/office/drawing/2014/main" id="{0CF5B169-53DF-0A4A-AABB-AEDFDAE925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72000" y="4065588"/>
            <a:ext cx="762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30" name="Line 18">
            <a:extLst>
              <a:ext uri="{FF2B5EF4-FFF2-40B4-BE49-F238E27FC236}">
                <a16:creationId xmlns:a16="http://schemas.microsoft.com/office/drawing/2014/main" id="{BC56E151-0BFA-1140-8118-FEA4B858C00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3379788"/>
            <a:ext cx="914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31" name="Line 19">
            <a:extLst>
              <a:ext uri="{FF2B5EF4-FFF2-40B4-BE49-F238E27FC236}">
                <a16:creationId xmlns:a16="http://schemas.microsoft.com/office/drawing/2014/main" id="{C575FD97-49AC-5547-9C53-94857BB721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800" y="4065588"/>
            <a:ext cx="91440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32" name="Line 20">
            <a:extLst>
              <a:ext uri="{FF2B5EF4-FFF2-40B4-BE49-F238E27FC236}">
                <a16:creationId xmlns:a16="http://schemas.microsoft.com/office/drawing/2014/main" id="{56D34775-7FFF-BA4C-841E-B47D3DF49D46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5437188"/>
            <a:ext cx="685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33" name="Line 21">
            <a:extLst>
              <a:ext uri="{FF2B5EF4-FFF2-40B4-BE49-F238E27FC236}">
                <a16:creationId xmlns:a16="http://schemas.microsoft.com/office/drawing/2014/main" id="{3E448A71-1D1B-984C-B6C5-047C7402E4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71800" y="4598988"/>
            <a:ext cx="12192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9334" name="Line 22">
            <a:extLst>
              <a:ext uri="{FF2B5EF4-FFF2-40B4-BE49-F238E27FC236}">
                <a16:creationId xmlns:a16="http://schemas.microsoft.com/office/drawing/2014/main" id="{5C7536B4-CBBA-F140-8364-C28E7BCBE1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2000" y="3455988"/>
            <a:ext cx="7620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269395" name="Group 83">
            <a:extLst>
              <a:ext uri="{FF2B5EF4-FFF2-40B4-BE49-F238E27FC236}">
                <a16:creationId xmlns:a16="http://schemas.microsoft.com/office/drawing/2014/main" id="{9B00012E-C6C3-5B4A-AF4D-2D0EA13C4200}"/>
              </a:ext>
            </a:extLst>
          </p:cNvPr>
          <p:cNvGraphicFramePr>
            <a:graphicFrameLocks noGrp="1"/>
          </p:cNvGraphicFramePr>
          <p:nvPr/>
        </p:nvGraphicFramePr>
        <p:xfrm>
          <a:off x="5940425" y="1812925"/>
          <a:ext cx="3048000" cy="4110038"/>
        </p:xfrm>
        <a:graphic>
          <a:graphicData uri="http://schemas.openxmlformats.org/drawingml/2006/table">
            <a:tbl>
              <a:tblPr/>
              <a:tblGrid>
                <a:gridCol w="1066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顶点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ve(i)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vl(i)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4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9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269381" name="WordArt 69">
            <a:extLst>
              <a:ext uri="{FF2B5EF4-FFF2-40B4-BE49-F238E27FC236}">
                <a16:creationId xmlns:a16="http://schemas.microsoft.com/office/drawing/2014/main" id="{01DCE767-3223-5646-848E-9E0D263FED60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838200" y="32877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a1=6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82" name="WordArt 70">
            <a:extLst>
              <a:ext uri="{FF2B5EF4-FFF2-40B4-BE49-F238E27FC236}">
                <a16:creationId xmlns:a16="http://schemas.microsoft.com/office/drawing/2014/main" id="{5FC9EF5A-8ECF-C242-8E74-BED0BBF31AB0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251933">
            <a:off x="3276600" y="32877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a7=9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83" name="WordArt 71">
            <a:extLst>
              <a:ext uri="{FF2B5EF4-FFF2-40B4-BE49-F238E27FC236}">
                <a16:creationId xmlns:a16="http://schemas.microsoft.com/office/drawing/2014/main" id="{FB3503AB-078A-9F44-900F-DB27AF45799A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476021">
            <a:off x="4533900" y="3973513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a11=4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84" name="WordArt 72">
            <a:extLst>
              <a:ext uri="{FF2B5EF4-FFF2-40B4-BE49-F238E27FC236}">
                <a16:creationId xmlns:a16="http://schemas.microsoft.com/office/drawing/2014/main" id="{18A7A6FD-3651-174E-9CDE-22C63678226B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2057400" y="38211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a5=1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85" name="WordArt 73">
            <a:extLst>
              <a:ext uri="{FF2B5EF4-FFF2-40B4-BE49-F238E27FC236}">
                <a16:creationId xmlns:a16="http://schemas.microsoft.com/office/drawing/2014/main" id="{D489B7B1-E75E-EC47-958E-0BB8B165B56B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690103">
            <a:off x="3124200" y="48117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a9=4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86" name="WordArt 74">
            <a:extLst>
              <a:ext uri="{FF2B5EF4-FFF2-40B4-BE49-F238E27FC236}">
                <a16:creationId xmlns:a16="http://schemas.microsoft.com/office/drawing/2014/main" id="{4E94BA56-B89C-5340-9A4B-6F6195FCCBC6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298406">
            <a:off x="2209800" y="3303588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a4=1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87" name="WordArt 75">
            <a:extLst>
              <a:ext uri="{FF2B5EF4-FFF2-40B4-BE49-F238E27FC236}">
                <a16:creationId xmlns:a16="http://schemas.microsoft.com/office/drawing/2014/main" id="{4D7F3379-049B-BF4A-9F4E-6F5FC26F3DB5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275432">
            <a:off x="1066800" y="38211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a2=4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88" name="WordArt 76">
            <a:extLst>
              <a:ext uri="{FF2B5EF4-FFF2-40B4-BE49-F238E27FC236}">
                <a16:creationId xmlns:a16="http://schemas.microsoft.com/office/drawing/2014/main" id="{B057397C-4C5E-634A-928E-2B74F66036B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3489148">
            <a:off x="762001" y="462915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a3=5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89" name="WordArt 77">
            <a:extLst>
              <a:ext uri="{FF2B5EF4-FFF2-40B4-BE49-F238E27FC236}">
                <a16:creationId xmlns:a16="http://schemas.microsoft.com/office/drawing/2014/main" id="{6CA31E2F-9150-EE4F-ACFA-112C6D9B0E67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30484">
            <a:off x="1981200" y="51165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a6=2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90" name="WordArt 78">
            <a:extLst>
              <a:ext uri="{FF2B5EF4-FFF2-40B4-BE49-F238E27FC236}">
                <a16:creationId xmlns:a16="http://schemas.microsoft.com/office/drawing/2014/main" id="{B8780B98-A646-9049-8749-F2348D786148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526444">
            <a:off x="3581400" y="39735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a8=7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269391" name="WordArt 79">
            <a:extLst>
              <a:ext uri="{FF2B5EF4-FFF2-40B4-BE49-F238E27FC236}">
                <a16:creationId xmlns:a16="http://schemas.microsoft.com/office/drawing/2014/main" id="{6DD30F70-672F-E247-AA54-8682CFAB5AAD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447650">
            <a:off x="4724400" y="3287713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a10=2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48560" name="Text Box 80">
            <a:extLst>
              <a:ext uri="{FF2B5EF4-FFF2-40B4-BE49-F238E27FC236}">
                <a16:creationId xmlns:a16="http://schemas.microsoft.com/office/drawing/2014/main" id="{5592AFF2-68EF-2143-A88A-B7C10AB3A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0725" y="3703638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zh-CN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269396" name="Text Box 84">
            <a:extLst>
              <a:ext uri="{FF2B5EF4-FFF2-40B4-BE49-F238E27FC236}">
                <a16:creationId xmlns:a16="http://schemas.microsoft.com/office/drawing/2014/main" id="{2AA15EEA-6C72-7D40-88FE-E6DFA727C3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1088" y="2179638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269398" name="Text Box 86">
            <a:extLst>
              <a:ext uri="{FF2B5EF4-FFF2-40B4-BE49-F238E27FC236}">
                <a16:creationId xmlns:a16="http://schemas.microsoft.com/office/drawing/2014/main" id="{4017AEA1-523B-5747-B0DC-E36442400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6800" y="2586038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6</a:t>
            </a:r>
          </a:p>
        </p:txBody>
      </p:sp>
      <p:sp>
        <p:nvSpPr>
          <p:cNvPr id="269400" name="Text Box 88">
            <a:extLst>
              <a:ext uri="{FF2B5EF4-FFF2-40B4-BE49-F238E27FC236}">
                <a16:creationId xmlns:a16="http://schemas.microsoft.com/office/drawing/2014/main" id="{CAA71788-D84F-D34F-9DE7-6696C9558E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6800" y="3017838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4</a:t>
            </a:r>
          </a:p>
        </p:txBody>
      </p:sp>
      <p:sp>
        <p:nvSpPr>
          <p:cNvPr id="269401" name="Text Box 89">
            <a:extLst>
              <a:ext uri="{FF2B5EF4-FFF2-40B4-BE49-F238E27FC236}">
                <a16:creationId xmlns:a16="http://schemas.microsoft.com/office/drawing/2014/main" id="{2E2FD318-73D3-F541-A4C7-C121175E6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4673600"/>
            <a:ext cx="7191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16</a:t>
            </a:r>
          </a:p>
        </p:txBody>
      </p:sp>
      <p:sp>
        <p:nvSpPr>
          <p:cNvPr id="269402" name="Text Box 90">
            <a:extLst>
              <a:ext uri="{FF2B5EF4-FFF2-40B4-BE49-F238E27FC236}">
                <a16:creationId xmlns:a16="http://schemas.microsoft.com/office/drawing/2014/main" id="{C6AA5A0F-BA36-3A4A-9ED0-85FAB4DA74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1088" y="3810000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7</a:t>
            </a:r>
          </a:p>
        </p:txBody>
      </p:sp>
      <p:sp>
        <p:nvSpPr>
          <p:cNvPr id="269403" name="Text Box 91">
            <a:extLst>
              <a:ext uri="{FF2B5EF4-FFF2-40B4-BE49-F238E27FC236}">
                <a16:creationId xmlns:a16="http://schemas.microsoft.com/office/drawing/2014/main" id="{8581381C-AFCC-6F41-80C5-90ADEE1D45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1088" y="3403600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5</a:t>
            </a:r>
          </a:p>
        </p:txBody>
      </p:sp>
      <p:sp>
        <p:nvSpPr>
          <p:cNvPr id="269404" name="Text Box 92">
            <a:extLst>
              <a:ext uri="{FF2B5EF4-FFF2-40B4-BE49-F238E27FC236}">
                <a16:creationId xmlns:a16="http://schemas.microsoft.com/office/drawing/2014/main" id="{52E5744A-EC8A-8F47-B5CD-9B2BE01F3D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1088" y="3810000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5</a:t>
            </a:r>
          </a:p>
        </p:txBody>
      </p:sp>
      <p:sp>
        <p:nvSpPr>
          <p:cNvPr id="269405" name="Text Box 93">
            <a:extLst>
              <a:ext uri="{FF2B5EF4-FFF2-40B4-BE49-F238E27FC236}">
                <a16:creationId xmlns:a16="http://schemas.microsoft.com/office/drawing/2014/main" id="{1F5A0A4C-BE4B-7F45-A85F-5986E40A8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6800" y="4241800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7</a:t>
            </a:r>
          </a:p>
        </p:txBody>
      </p:sp>
      <p:sp>
        <p:nvSpPr>
          <p:cNvPr id="269406" name="Text Box 94">
            <a:extLst>
              <a:ext uri="{FF2B5EF4-FFF2-40B4-BE49-F238E27FC236}">
                <a16:creationId xmlns:a16="http://schemas.microsoft.com/office/drawing/2014/main" id="{7E01D489-D64B-604D-9712-B1B96A81C5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491163"/>
            <a:ext cx="720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269408" name="Text Box 96">
            <a:extLst>
              <a:ext uri="{FF2B5EF4-FFF2-40B4-BE49-F238E27FC236}">
                <a16:creationId xmlns:a16="http://schemas.microsoft.com/office/drawing/2014/main" id="{C978EAA5-1812-2E42-B934-4AC82E3A0D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059363"/>
            <a:ext cx="647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14</a:t>
            </a:r>
          </a:p>
        </p:txBody>
      </p:sp>
      <p:sp>
        <p:nvSpPr>
          <p:cNvPr id="269409" name="Text Box 97">
            <a:extLst>
              <a:ext uri="{FF2B5EF4-FFF2-40B4-BE49-F238E27FC236}">
                <a16:creationId xmlns:a16="http://schemas.microsoft.com/office/drawing/2014/main" id="{2C84CD91-EC1A-2E4F-9767-AEB041EFCE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059363"/>
            <a:ext cx="647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11</a:t>
            </a:r>
          </a:p>
        </p:txBody>
      </p:sp>
      <p:sp>
        <p:nvSpPr>
          <p:cNvPr id="48" name="Text Box 84">
            <a:extLst>
              <a:ext uri="{FF2B5EF4-FFF2-40B4-BE49-F238E27FC236}">
                <a16:creationId xmlns:a16="http://schemas.microsoft.com/office/drawing/2014/main" id="{A45BF3A7-0706-664A-8590-27431A108B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150" y="2611438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49" name="Text Box 84">
            <a:extLst>
              <a:ext uri="{FF2B5EF4-FFF2-40B4-BE49-F238E27FC236}">
                <a16:creationId xmlns:a16="http://schemas.microsoft.com/office/drawing/2014/main" id="{57BE35AF-5BEC-1A4A-BCA2-C8F048977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1088" y="3014663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50" name="Text Box 84">
            <a:extLst>
              <a:ext uri="{FF2B5EF4-FFF2-40B4-BE49-F238E27FC236}">
                <a16:creationId xmlns:a16="http://schemas.microsoft.com/office/drawing/2014/main" id="{FAF77186-32B9-7046-AC83-7768727C44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1088" y="3403600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51" name="Text Box 84">
            <a:extLst>
              <a:ext uri="{FF2B5EF4-FFF2-40B4-BE49-F238E27FC236}">
                <a16:creationId xmlns:a16="http://schemas.microsoft.com/office/drawing/2014/main" id="{8088C29C-C53C-124B-BCE2-6E99F23F33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1088" y="3821113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52" name="Text Box 84">
            <a:extLst>
              <a:ext uri="{FF2B5EF4-FFF2-40B4-BE49-F238E27FC236}">
                <a16:creationId xmlns:a16="http://schemas.microsoft.com/office/drawing/2014/main" id="{6C9710C0-1AB6-9846-AD82-878C0B046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8863" y="4252913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53" name="Text Box 84">
            <a:extLst>
              <a:ext uri="{FF2B5EF4-FFF2-40B4-BE49-F238E27FC236}">
                <a16:creationId xmlns:a16="http://schemas.microsoft.com/office/drawing/2014/main" id="{5809243E-5CE3-8C44-8FD2-284F49D08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150" y="4672013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54" name="Text Box 84">
            <a:extLst>
              <a:ext uri="{FF2B5EF4-FFF2-40B4-BE49-F238E27FC236}">
                <a16:creationId xmlns:a16="http://schemas.microsoft.com/office/drawing/2014/main" id="{FE18F26A-34FC-A441-9639-299FE11E5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150" y="5059363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55" name="Text Box 84">
            <a:extLst>
              <a:ext uri="{FF2B5EF4-FFF2-40B4-BE49-F238E27FC236}">
                <a16:creationId xmlns:a16="http://schemas.microsoft.com/office/drawing/2014/main" id="{3D918EF3-3352-AB40-8F9F-F613F3D837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1725" y="5492750"/>
            <a:ext cx="323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56" name="Line 15">
            <a:extLst>
              <a:ext uri="{FF2B5EF4-FFF2-40B4-BE49-F238E27FC236}">
                <a16:creationId xmlns:a16="http://schemas.microsoft.com/office/drawing/2014/main" id="{E8D37A33-EBF8-244A-8D41-3A0F7EB68C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3860800"/>
            <a:ext cx="2016125" cy="73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WordArt 71">
            <a:extLst>
              <a:ext uri="{FF2B5EF4-FFF2-40B4-BE49-F238E27FC236}">
                <a16:creationId xmlns:a16="http://schemas.microsoft.com/office/drawing/2014/main" id="{5CDB9A58-B790-A044-AD92-302D313E15EB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4237038" y="3608388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a12=10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69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5" dur="500"/>
                                        <p:tgtEl>
                                          <p:spTgt spid="269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8" dur="500"/>
                                        <p:tgtEl>
                                          <p:spTgt spid="269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269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5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1" dur="500"/>
                                        <p:tgtEl>
                                          <p:spTgt spid="269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269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7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9" dur="500"/>
                                        <p:tgtEl>
                                          <p:spTgt spid="269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7" dur="500"/>
                                        <p:tgtEl>
                                          <p:spTgt spid="269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0" dur="500"/>
                                        <p:tgtEl>
                                          <p:spTgt spid="269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3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4" dur="500"/>
                                        <p:tgtEl>
                                          <p:spTgt spid="269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7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9" dur="500"/>
                                        <p:tgtEl>
                                          <p:spTgt spid="269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8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7" dur="500"/>
                                        <p:tgtEl>
                                          <p:spTgt spid="269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269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3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4" dur="500"/>
                                        <p:tgtEl>
                                          <p:spTgt spid="269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7" presetID="4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9" dur="500"/>
                                        <p:tgtEl>
                                          <p:spTgt spid="269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8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in)">
                                      <p:cBhvr>
                                        <p:cTn id="107" dur="2000"/>
                                        <p:tgtEl>
                                          <p:spTgt spid="269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9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8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in)">
                                      <p:cBhvr>
                                        <p:cTn id="110" dur="2000"/>
                                        <p:tgtEl>
                                          <p:spTgt spid="269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9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13" presetID="8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in)">
                                      <p:cBhvr>
                                        <p:cTn id="114" dur="2000"/>
                                        <p:tgtEl>
                                          <p:spTgt spid="269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17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8" dur="500"/>
                                        <p:tgtEl>
                                          <p:spTgt spid="269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2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3" dur="500"/>
                                        <p:tgtEl>
                                          <p:spTgt spid="269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7" dur="500"/>
                                        <p:tgtEl>
                                          <p:spTgt spid="2693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0" dur="500"/>
                                        <p:tgtEl>
                                          <p:spTgt spid="269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3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4" dur="500"/>
                                        <p:tgtEl>
                                          <p:spTgt spid="269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7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9" dur="500"/>
                                        <p:tgtEl>
                                          <p:spTgt spid="269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4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7" dur="500"/>
                                        <p:tgtEl>
                                          <p:spTgt spid="269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0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1" dur="500"/>
                                        <p:tgtEl>
                                          <p:spTgt spid="269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4" dur="500"/>
                                        <p:tgtEl>
                                          <p:spTgt spid="269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7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9" dur="500"/>
                                        <p:tgtEl>
                                          <p:spTgt spid="269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6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6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67" dur="500"/>
                                        <p:tgtEl>
                                          <p:spTgt spid="269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0" dur="500"/>
                                        <p:tgtEl>
                                          <p:spTgt spid="269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6" dur="500"/>
                                        <p:tgtEl>
                                          <p:spTgt spid="269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78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 nodeType="clickPar">
                      <p:stCondLst>
                        <p:cond delay="indefinite"/>
                      </p:stCondLst>
                      <p:childTnLst>
                        <p:par>
                          <p:cTn id="1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3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4" dur="500"/>
                                        <p:tgtEl>
                                          <p:spTgt spid="2693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7" dur="500"/>
                                        <p:tgtEl>
                                          <p:spTgt spid="269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2" dur="500"/>
                                        <p:tgtEl>
                                          <p:spTgt spid="269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7" dur="500"/>
                                        <p:tgtEl>
                                          <p:spTgt spid="269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 nodeType="clickPar">
                      <p:stCondLst>
                        <p:cond delay="indefinite"/>
                      </p:stCondLst>
                      <p:childTnLst>
                        <p:par>
                          <p:cTn id="1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0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01" dur="500"/>
                                        <p:tgtEl>
                                          <p:spTgt spid="269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04" dur="500"/>
                                        <p:tgtEl>
                                          <p:spTgt spid="269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07" dur="500"/>
                                        <p:tgtEl>
                                          <p:spTgt spid="269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3" dur="500"/>
                                        <p:tgtEl>
                                          <p:spTgt spid="269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5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 nodeType="clickPar">
                      <p:stCondLst>
                        <p:cond delay="indefinite"/>
                      </p:stCondLst>
                      <p:childTnLst>
                        <p:par>
                          <p:cTn id="2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0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1" dur="500"/>
                                        <p:tgtEl>
                                          <p:spTgt spid="269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4" dur="500"/>
                                        <p:tgtEl>
                                          <p:spTgt spid="269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7" dur="500"/>
                                        <p:tgtEl>
                                          <p:spTgt spid="269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 nodeType="clickPar">
                      <p:stCondLst>
                        <p:cond delay="indefinite"/>
                      </p:stCondLst>
                      <p:childTnLst>
                        <p:par>
                          <p:cTn id="2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32" dur="500"/>
                                        <p:tgtEl>
                                          <p:spTgt spid="269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5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3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39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9315" grpId="0" animBg="1"/>
      <p:bldP spid="269316" grpId="0" animBg="1"/>
      <p:bldP spid="269317" grpId="0" animBg="1"/>
      <p:bldP spid="269318" grpId="0" animBg="1"/>
      <p:bldP spid="269319" grpId="0" animBg="1"/>
      <p:bldP spid="269320" grpId="0" animBg="1"/>
      <p:bldP spid="269321" grpId="0" animBg="1"/>
      <p:bldP spid="269322" grpId="0" animBg="1"/>
      <p:bldP spid="269396" grpId="0"/>
      <p:bldP spid="269398" grpId="0"/>
      <p:bldP spid="269400" grpId="0"/>
      <p:bldP spid="269401" grpId="0"/>
      <p:bldP spid="269402" grpId="0"/>
      <p:bldP spid="269403" grpId="0"/>
      <p:bldP spid="269404" grpId="0"/>
      <p:bldP spid="269404" grpId="1"/>
      <p:bldP spid="269405" grpId="0"/>
      <p:bldP spid="269406" grpId="0"/>
      <p:bldP spid="269408" grpId="0"/>
      <p:bldP spid="269409" grpId="0"/>
      <p:bldP spid="269409" grpId="1"/>
      <p:bldP spid="48" grpId="0"/>
      <p:bldP spid="48" grpId="1"/>
      <p:bldP spid="49" grpId="0"/>
      <p:bldP spid="49" grpId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灯片编号占位符 1">
            <a:extLst>
              <a:ext uri="{FF2B5EF4-FFF2-40B4-BE49-F238E27FC236}">
                <a16:creationId xmlns:a16="http://schemas.microsoft.com/office/drawing/2014/main" id="{DD868866-8FAB-A14A-8C1B-77F05609B6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3C55B2F-96B9-9142-830D-559DD4C3E739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50530" name="Text Box 2">
            <a:extLst>
              <a:ext uri="{FF2B5EF4-FFF2-40B4-BE49-F238E27FC236}">
                <a16:creationId xmlns:a16="http://schemas.microsoft.com/office/drawing/2014/main" id="{140C2828-8350-6546-BDDF-82C0CC40AA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228600"/>
            <a:ext cx="8534400" cy="271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关键路径算法步骤：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）从完成点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出发，令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vl(n)=ve(n),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按逆拓朴排序序列求其它各顶点的最迟发生时间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Vl(j)=min{vl(k)-dut(&lt;j,k&gt;)}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(vk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为以顶点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vj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为弧尾的所有弧的弧头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对应的顶点集合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</p:txBody>
      </p:sp>
      <p:sp>
        <p:nvSpPr>
          <p:cNvPr id="71684" name="Oval 3">
            <a:extLst>
              <a:ext uri="{FF2B5EF4-FFF2-40B4-BE49-F238E27FC236}">
                <a16:creationId xmlns:a16="http://schemas.microsoft.com/office/drawing/2014/main" id="{B2A96B31-1133-9A41-A266-3F960FEC1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3525" y="31511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1685" name="Oval 4">
            <a:extLst>
              <a:ext uri="{FF2B5EF4-FFF2-40B4-BE49-F238E27FC236}">
                <a16:creationId xmlns:a16="http://schemas.microsoft.com/office/drawing/2014/main" id="{0E38C264-4B40-334E-B640-8DCF26664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684588"/>
            <a:ext cx="381000" cy="381000"/>
          </a:xfrm>
          <a:prstGeom prst="ellipse">
            <a:avLst/>
          </a:prstGeom>
          <a:solidFill>
            <a:srgbClr val="FFFF99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1686" name="Oval 5">
            <a:extLst>
              <a:ext uri="{FF2B5EF4-FFF2-40B4-BE49-F238E27FC236}">
                <a16:creationId xmlns:a16="http://schemas.microsoft.com/office/drawing/2014/main" id="{2300FBF1-FB1F-FA43-A139-8A94F1630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5208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1687" name="Oval 6">
            <a:extLst>
              <a:ext uri="{FF2B5EF4-FFF2-40B4-BE49-F238E27FC236}">
                <a16:creationId xmlns:a16="http://schemas.microsoft.com/office/drawing/2014/main" id="{94309C74-2025-634A-8209-61772390B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3525" y="42179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1688" name="Oval 7">
            <a:extLst>
              <a:ext uri="{FF2B5EF4-FFF2-40B4-BE49-F238E27FC236}">
                <a16:creationId xmlns:a16="http://schemas.microsoft.com/office/drawing/2014/main" id="{B2AC073E-0F57-2B42-8A16-45AAD0534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3525" y="5208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1689" name="Oval 8">
            <a:extLst>
              <a:ext uri="{FF2B5EF4-FFF2-40B4-BE49-F238E27FC236}">
                <a16:creationId xmlns:a16="http://schemas.microsoft.com/office/drawing/2014/main" id="{848EB3DF-DE3D-4C49-835D-9F687896E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925" y="36845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1690" name="Oval 9">
            <a:extLst>
              <a:ext uri="{FF2B5EF4-FFF2-40B4-BE49-F238E27FC236}">
                <a16:creationId xmlns:a16="http://schemas.microsoft.com/office/drawing/2014/main" id="{5C13AA0B-E3E9-324A-83DB-015BBAFD2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4325" y="31511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V7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1691" name="Oval 10">
            <a:extLst>
              <a:ext uri="{FF2B5EF4-FFF2-40B4-BE49-F238E27FC236}">
                <a16:creationId xmlns:a16="http://schemas.microsoft.com/office/drawing/2014/main" id="{B7624EAD-5E43-3549-974F-4928C064D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4325" y="42941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V8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71692" name="Oval 11">
            <a:extLst>
              <a:ext uri="{FF2B5EF4-FFF2-40B4-BE49-F238E27FC236}">
                <a16:creationId xmlns:a16="http://schemas.microsoft.com/office/drawing/2014/main" id="{DBEC29D5-7F72-824F-8493-BD5F16CBC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3525" y="3760788"/>
            <a:ext cx="381000" cy="381000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V9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0540" name="Line 12">
            <a:extLst>
              <a:ext uri="{FF2B5EF4-FFF2-40B4-BE49-F238E27FC236}">
                <a16:creationId xmlns:a16="http://schemas.microsoft.com/office/drawing/2014/main" id="{CC935D07-6A9B-3143-9626-B32FD6F1E3A1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525" y="3913188"/>
            <a:ext cx="762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694" name="Line 13">
            <a:extLst>
              <a:ext uri="{FF2B5EF4-FFF2-40B4-BE49-F238E27FC236}">
                <a16:creationId xmlns:a16="http://schemas.microsoft.com/office/drawing/2014/main" id="{5CF56984-D71E-BE43-85CC-E5F40EB224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14525" y="3989388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695" name="Line 14">
            <a:extLst>
              <a:ext uri="{FF2B5EF4-FFF2-40B4-BE49-F238E27FC236}">
                <a16:creationId xmlns:a16="http://schemas.microsoft.com/office/drawing/2014/main" id="{3B94ED85-8C06-AC4F-AA8E-EC15C6DDB2C4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4525" y="3379788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696" name="Line 15">
            <a:extLst>
              <a:ext uri="{FF2B5EF4-FFF2-40B4-BE49-F238E27FC236}">
                <a16:creationId xmlns:a16="http://schemas.microsoft.com/office/drawing/2014/main" id="{E7D50823-24EC-684F-BBE2-A09AD7DCEC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09925" y="3379788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697" name="Line 16">
            <a:extLst>
              <a:ext uri="{FF2B5EF4-FFF2-40B4-BE49-F238E27FC236}">
                <a16:creationId xmlns:a16="http://schemas.microsoft.com/office/drawing/2014/main" id="{2D429039-D433-8E4D-9566-F9630ACAC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9925" y="3989388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698" name="Line 17">
            <a:extLst>
              <a:ext uri="{FF2B5EF4-FFF2-40B4-BE49-F238E27FC236}">
                <a16:creationId xmlns:a16="http://schemas.microsoft.com/office/drawing/2014/main" id="{66A5955C-5B4B-9D4E-AD6B-371A2129D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525" y="4065588"/>
            <a:ext cx="762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699" name="Line 18">
            <a:extLst>
              <a:ext uri="{FF2B5EF4-FFF2-40B4-BE49-F238E27FC236}">
                <a16:creationId xmlns:a16="http://schemas.microsoft.com/office/drawing/2014/main" id="{E319ECC4-D1AD-0842-88DF-F780CEB3108A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5325" y="3379788"/>
            <a:ext cx="9144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700" name="Line 19">
            <a:extLst>
              <a:ext uri="{FF2B5EF4-FFF2-40B4-BE49-F238E27FC236}">
                <a16:creationId xmlns:a16="http://schemas.microsoft.com/office/drawing/2014/main" id="{7F522AED-9347-634F-A03D-3DF2C537AF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95325" y="4065588"/>
            <a:ext cx="91440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701" name="Line 20">
            <a:extLst>
              <a:ext uri="{FF2B5EF4-FFF2-40B4-BE49-F238E27FC236}">
                <a16:creationId xmlns:a16="http://schemas.microsoft.com/office/drawing/2014/main" id="{C7B53FF6-7E64-D44D-97A3-F357B8B9490B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4525" y="5437188"/>
            <a:ext cx="685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702" name="Line 21">
            <a:extLst>
              <a:ext uri="{FF2B5EF4-FFF2-40B4-BE49-F238E27FC236}">
                <a16:creationId xmlns:a16="http://schemas.microsoft.com/office/drawing/2014/main" id="{BF9ADD98-7928-6A47-8068-90FD5F39B2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81325" y="4598988"/>
            <a:ext cx="12192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703" name="Line 22">
            <a:extLst>
              <a:ext uri="{FF2B5EF4-FFF2-40B4-BE49-F238E27FC236}">
                <a16:creationId xmlns:a16="http://schemas.microsoft.com/office/drawing/2014/main" id="{10DCD7C1-0228-9241-9EFD-7B954E4FF7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525" y="3455988"/>
            <a:ext cx="76200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271383" name="Group 23">
            <a:extLst>
              <a:ext uri="{FF2B5EF4-FFF2-40B4-BE49-F238E27FC236}">
                <a16:creationId xmlns:a16="http://schemas.microsoft.com/office/drawing/2014/main" id="{74695B19-820D-9F4C-8580-8BCBC0B205EB}"/>
              </a:ext>
            </a:extLst>
          </p:cNvPr>
          <p:cNvGraphicFramePr>
            <a:graphicFrameLocks noGrp="1"/>
          </p:cNvGraphicFramePr>
          <p:nvPr/>
        </p:nvGraphicFramePr>
        <p:xfrm>
          <a:off x="5845175" y="1393825"/>
          <a:ext cx="3048000" cy="4572000"/>
        </p:xfrm>
        <a:graphic>
          <a:graphicData uri="http://schemas.openxmlformats.org/drawingml/2006/table">
            <a:tbl>
              <a:tblPr/>
              <a:tblGrid>
                <a:gridCol w="914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顶点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ve(i)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vl(i)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4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9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71750" name="WordArt 69">
            <a:extLst>
              <a:ext uri="{FF2B5EF4-FFF2-40B4-BE49-F238E27FC236}">
                <a16:creationId xmlns:a16="http://schemas.microsoft.com/office/drawing/2014/main" id="{882042FB-2D62-3A45-A5A8-994D47B126D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847725" y="32877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a1=6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51" name="WordArt 70">
            <a:extLst>
              <a:ext uri="{FF2B5EF4-FFF2-40B4-BE49-F238E27FC236}">
                <a16:creationId xmlns:a16="http://schemas.microsoft.com/office/drawing/2014/main" id="{91852AEC-DE1E-5840-9F64-B7410ED8632C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251933">
            <a:off x="3286125" y="32877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a7=9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52" name="WordArt 71">
            <a:extLst>
              <a:ext uri="{FF2B5EF4-FFF2-40B4-BE49-F238E27FC236}">
                <a16:creationId xmlns:a16="http://schemas.microsoft.com/office/drawing/2014/main" id="{62249CF4-93D4-144B-ADA4-D6032EDA128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476021">
            <a:off x="4767263" y="4373563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a11=4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53" name="WordArt 72">
            <a:extLst>
              <a:ext uri="{FF2B5EF4-FFF2-40B4-BE49-F238E27FC236}">
                <a16:creationId xmlns:a16="http://schemas.microsoft.com/office/drawing/2014/main" id="{A3E148B2-A4F2-3145-BDF6-98F2DC7E555E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2066925" y="38211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a5=1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54" name="WordArt 73">
            <a:extLst>
              <a:ext uri="{FF2B5EF4-FFF2-40B4-BE49-F238E27FC236}">
                <a16:creationId xmlns:a16="http://schemas.microsoft.com/office/drawing/2014/main" id="{C638DFEF-4CA2-A54C-9F65-93EE544ED112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690103">
            <a:off x="3133725" y="48117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a9=4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55" name="WordArt 74">
            <a:extLst>
              <a:ext uri="{FF2B5EF4-FFF2-40B4-BE49-F238E27FC236}">
                <a16:creationId xmlns:a16="http://schemas.microsoft.com/office/drawing/2014/main" id="{9E82B221-AD9E-204F-B0F9-2FC74F25F2E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298406">
            <a:off x="2219325" y="3303588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a4=1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56" name="WordArt 75">
            <a:extLst>
              <a:ext uri="{FF2B5EF4-FFF2-40B4-BE49-F238E27FC236}">
                <a16:creationId xmlns:a16="http://schemas.microsoft.com/office/drawing/2014/main" id="{0D652545-E2B1-3C49-B773-9A5A5F762D3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275432">
            <a:off x="1076325" y="38211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a2=4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57" name="WordArt 76">
            <a:extLst>
              <a:ext uri="{FF2B5EF4-FFF2-40B4-BE49-F238E27FC236}">
                <a16:creationId xmlns:a16="http://schemas.microsoft.com/office/drawing/2014/main" id="{CB462F13-6C51-A643-8474-AA0F94551BB6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3489148">
            <a:off x="771526" y="462915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a3=5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58" name="WordArt 77">
            <a:extLst>
              <a:ext uri="{FF2B5EF4-FFF2-40B4-BE49-F238E27FC236}">
                <a16:creationId xmlns:a16="http://schemas.microsoft.com/office/drawing/2014/main" id="{5B4DD5E3-CB8A-3F4F-A82E-4801A971132A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30484">
            <a:off x="1990725" y="51165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a6=2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59" name="WordArt 78">
            <a:extLst>
              <a:ext uri="{FF2B5EF4-FFF2-40B4-BE49-F238E27FC236}">
                <a16:creationId xmlns:a16="http://schemas.microsoft.com/office/drawing/2014/main" id="{A7EAC1CC-0235-DC47-AB39-BCA5A0F3D0D5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526444">
            <a:off x="3590925" y="397351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a8=7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71760" name="WordArt 79">
            <a:extLst>
              <a:ext uri="{FF2B5EF4-FFF2-40B4-BE49-F238E27FC236}">
                <a16:creationId xmlns:a16="http://schemas.microsoft.com/office/drawing/2014/main" id="{983BA0D3-265E-E144-B339-3FFDB6100869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447650">
            <a:off x="4733925" y="3287713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a10=2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36" name="Text Box 84">
            <a:extLst>
              <a:ext uri="{FF2B5EF4-FFF2-40B4-BE49-F238E27FC236}">
                <a16:creationId xmlns:a16="http://schemas.microsoft.com/office/drawing/2014/main" id="{3F925CC8-CDA4-C84D-8243-3DCC19990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2888" y="1887538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37" name="Text Box 84">
            <a:extLst>
              <a:ext uri="{FF2B5EF4-FFF2-40B4-BE49-F238E27FC236}">
                <a16:creationId xmlns:a16="http://schemas.microsoft.com/office/drawing/2014/main" id="{069FF7EE-473E-724E-8151-6B84E1C356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2888" y="2319338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38" name="Text Box 84">
            <a:extLst>
              <a:ext uri="{FF2B5EF4-FFF2-40B4-BE49-F238E27FC236}">
                <a16:creationId xmlns:a16="http://schemas.microsoft.com/office/drawing/2014/main" id="{4D34A71A-7D10-E44A-9B54-E22497D3F5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2888" y="2751138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39" name="Text Box 84">
            <a:extLst>
              <a:ext uri="{FF2B5EF4-FFF2-40B4-BE49-F238E27FC236}">
                <a16:creationId xmlns:a16="http://schemas.microsoft.com/office/drawing/2014/main" id="{C22252C1-DEA7-D346-A54A-A5F8189A51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2888" y="3255963"/>
            <a:ext cx="5969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40" name="Text Box 84">
            <a:extLst>
              <a:ext uri="{FF2B5EF4-FFF2-40B4-BE49-F238E27FC236}">
                <a16:creationId xmlns:a16="http://schemas.microsoft.com/office/drawing/2014/main" id="{6B72CDA3-9B03-C14B-AB67-7A3241482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3687763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41" name="Text Box 84">
            <a:extLst>
              <a:ext uri="{FF2B5EF4-FFF2-40B4-BE49-F238E27FC236}">
                <a16:creationId xmlns:a16="http://schemas.microsoft.com/office/drawing/2014/main" id="{4E1EE438-438A-D647-B4CD-025C7ED355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4119563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42" name="Text Box 84">
            <a:extLst>
              <a:ext uri="{FF2B5EF4-FFF2-40B4-BE49-F238E27FC236}">
                <a16:creationId xmlns:a16="http://schemas.microsoft.com/office/drawing/2014/main" id="{503FC5A9-ADFC-6444-99B7-69B21B071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4622800"/>
            <a:ext cx="5969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43" name="Text Box 84">
            <a:extLst>
              <a:ext uri="{FF2B5EF4-FFF2-40B4-BE49-F238E27FC236}">
                <a16:creationId xmlns:a16="http://schemas.microsoft.com/office/drawing/2014/main" id="{AC2E6E5D-A838-C348-BE6A-6545B04CE2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5056188"/>
            <a:ext cx="5969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44" name="Text Box 84">
            <a:extLst>
              <a:ext uri="{FF2B5EF4-FFF2-40B4-BE49-F238E27FC236}">
                <a16:creationId xmlns:a16="http://schemas.microsoft.com/office/drawing/2014/main" id="{BD266F81-F8F8-7A44-A1A4-97DBBEA314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5545138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18</a:t>
            </a:r>
          </a:p>
        </p:txBody>
      </p:sp>
      <p:sp>
        <p:nvSpPr>
          <p:cNvPr id="45" name="Text Box 84">
            <a:extLst>
              <a:ext uri="{FF2B5EF4-FFF2-40B4-BE49-F238E27FC236}">
                <a16:creationId xmlns:a16="http://schemas.microsoft.com/office/drawing/2014/main" id="{8114E20E-5E45-9C4C-BC8C-CB06C885E1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5056188"/>
            <a:ext cx="5969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14</a:t>
            </a:r>
          </a:p>
        </p:txBody>
      </p:sp>
      <p:sp>
        <p:nvSpPr>
          <p:cNvPr id="46" name="Text Box 84">
            <a:extLst>
              <a:ext uri="{FF2B5EF4-FFF2-40B4-BE49-F238E27FC236}">
                <a16:creationId xmlns:a16="http://schemas.microsoft.com/office/drawing/2014/main" id="{8E8474AA-D341-F64A-8578-15D081257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4622800"/>
            <a:ext cx="5969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16</a:t>
            </a:r>
          </a:p>
        </p:txBody>
      </p:sp>
      <p:sp>
        <p:nvSpPr>
          <p:cNvPr id="47" name="Text Box 84">
            <a:extLst>
              <a:ext uri="{FF2B5EF4-FFF2-40B4-BE49-F238E27FC236}">
                <a16:creationId xmlns:a16="http://schemas.microsoft.com/office/drawing/2014/main" id="{7791EC9C-1539-A044-BD93-EA4211B784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4119563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10</a:t>
            </a:r>
          </a:p>
        </p:txBody>
      </p:sp>
      <p:sp>
        <p:nvSpPr>
          <p:cNvPr id="48" name="Text Box 84">
            <a:extLst>
              <a:ext uri="{FF2B5EF4-FFF2-40B4-BE49-F238E27FC236}">
                <a16:creationId xmlns:a16="http://schemas.microsoft.com/office/drawing/2014/main" id="{CC09D1D8-F883-5642-B34F-D3B6385F7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3687763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7</a:t>
            </a:r>
          </a:p>
        </p:txBody>
      </p:sp>
      <p:sp>
        <p:nvSpPr>
          <p:cNvPr id="49" name="Text Box 84">
            <a:extLst>
              <a:ext uri="{FF2B5EF4-FFF2-40B4-BE49-F238E27FC236}">
                <a16:creationId xmlns:a16="http://schemas.microsoft.com/office/drawing/2014/main" id="{1BF43652-5263-EB4B-B424-ADAFE1F69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3241675"/>
            <a:ext cx="5969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8</a:t>
            </a:r>
          </a:p>
        </p:txBody>
      </p:sp>
      <p:sp>
        <p:nvSpPr>
          <p:cNvPr id="50" name="Text Box 84">
            <a:extLst>
              <a:ext uri="{FF2B5EF4-FFF2-40B4-BE49-F238E27FC236}">
                <a16:creationId xmlns:a16="http://schemas.microsoft.com/office/drawing/2014/main" id="{371F951A-D8FB-A942-A605-C08C0BBB5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2751138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6</a:t>
            </a:r>
          </a:p>
        </p:txBody>
      </p:sp>
      <p:sp>
        <p:nvSpPr>
          <p:cNvPr id="51" name="Text Box 84">
            <a:extLst>
              <a:ext uri="{FF2B5EF4-FFF2-40B4-BE49-F238E27FC236}">
                <a16:creationId xmlns:a16="http://schemas.microsoft.com/office/drawing/2014/main" id="{35FF83C0-3567-B645-A782-43B31B0DB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2319338"/>
            <a:ext cx="596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6</a:t>
            </a:r>
          </a:p>
        </p:txBody>
      </p:sp>
      <p:sp>
        <p:nvSpPr>
          <p:cNvPr id="52" name="Text Box 84">
            <a:extLst>
              <a:ext uri="{FF2B5EF4-FFF2-40B4-BE49-F238E27FC236}">
                <a16:creationId xmlns:a16="http://schemas.microsoft.com/office/drawing/2014/main" id="{2F82F1B1-D86F-FB4E-8261-36D5B321ED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1873250"/>
            <a:ext cx="5969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3</a:t>
            </a:r>
          </a:p>
        </p:txBody>
      </p:sp>
      <p:sp>
        <p:nvSpPr>
          <p:cNvPr id="53" name="Text Box 84">
            <a:extLst>
              <a:ext uri="{FF2B5EF4-FFF2-40B4-BE49-F238E27FC236}">
                <a16:creationId xmlns:a16="http://schemas.microsoft.com/office/drawing/2014/main" id="{9EE09DA5-14F0-C546-9291-E38E015C09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1873250"/>
            <a:ext cx="5969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2</a:t>
            </a:r>
          </a:p>
        </p:txBody>
      </p:sp>
      <p:sp>
        <p:nvSpPr>
          <p:cNvPr id="54" name="Text Box 84">
            <a:extLst>
              <a:ext uri="{FF2B5EF4-FFF2-40B4-BE49-F238E27FC236}">
                <a16:creationId xmlns:a16="http://schemas.microsoft.com/office/drawing/2014/main" id="{8300B0F8-9C02-2B4D-8AD8-41D430F5E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1873250"/>
            <a:ext cx="5969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56" name="Line 12">
            <a:extLst>
              <a:ext uri="{FF2B5EF4-FFF2-40B4-BE49-F238E27FC236}">
                <a16:creationId xmlns:a16="http://schemas.microsoft.com/office/drawing/2014/main" id="{7B907EE5-753A-974B-872A-24CE763AFC7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7088" y="3933825"/>
            <a:ext cx="762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Line 15">
            <a:extLst>
              <a:ext uri="{FF2B5EF4-FFF2-40B4-BE49-F238E27FC236}">
                <a16:creationId xmlns:a16="http://schemas.microsoft.com/office/drawing/2014/main" id="{ACE7447B-9DE0-E14C-BE8B-7960F75D59E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3860800"/>
            <a:ext cx="2016125" cy="73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WordArt 71">
            <a:extLst>
              <a:ext uri="{FF2B5EF4-FFF2-40B4-BE49-F238E27FC236}">
                <a16:creationId xmlns:a16="http://schemas.microsoft.com/office/drawing/2014/main" id="{831C602B-3AE2-9D48-A325-BDB009D9D56A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4237038" y="3608388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a12=10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58" name="Text Box 84">
            <a:extLst>
              <a:ext uri="{FF2B5EF4-FFF2-40B4-BE49-F238E27FC236}">
                <a16:creationId xmlns:a16="http://schemas.microsoft.com/office/drawing/2014/main" id="{188E1D40-34DB-2149-B1FA-9C0F7C2AE9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7350" y="3687763"/>
            <a:ext cx="5969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8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" dur="500" fill="hold"/>
                                        <p:tgtEl>
                                          <p:spTgt spid="716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500" fill="hold"/>
                                        <p:tgtEl>
                                          <p:spTgt spid="7169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1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 tmFilter="0, 0; .2, .5; .8, .5; 1, 0"/>
                                        <p:tgtEl>
                                          <p:spTgt spid="716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3" dur="250" autoRev="1" fill="hold"/>
                                        <p:tgtEl>
                                          <p:spTgt spid="716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4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 tmFilter="0, 0; .2, .5; .8, .5; 1, 0"/>
                                        <p:tgtEl>
                                          <p:spTgt spid="7175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6" dur="250" autoRev="1" fill="hold"/>
                                        <p:tgtEl>
                                          <p:spTgt spid="7175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8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2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" dur="500" fill="hold"/>
                                        <p:tgtEl>
                                          <p:spTgt spid="7169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0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 tmFilter="0, 0; .2, .5; .8, .5; 1, 0"/>
                                        <p:tgtEl>
                                          <p:spTgt spid="7176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2" dur="250" autoRev="1" fill="hold"/>
                                        <p:tgtEl>
                                          <p:spTgt spid="7176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 tmFilter="0, 0; .2, .5; .8, .5; 1, 0"/>
                                        <p:tgtEl>
                                          <p:spTgt spid="7169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6" dur="250" autoRev="1" fill="hold"/>
                                        <p:tgtEl>
                                          <p:spTgt spid="7169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68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72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" dur="200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" dur="200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2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" dur="500" fill="hold"/>
                                        <p:tgtEl>
                                          <p:spTgt spid="7168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85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8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" dur="500" fill="hold"/>
                                        <p:tgtEl>
                                          <p:spTgt spid="7168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7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500" tmFilter="0, 0; .2, .5; .8, .5; 1, 0"/>
                                        <p:tgtEl>
                                          <p:spTgt spid="7170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9" dur="250" autoRev="1" fill="hold"/>
                                        <p:tgtEl>
                                          <p:spTgt spid="7170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0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 tmFilter="0, 0; .2, .5; .8, .5; 1, 0"/>
                                        <p:tgtEl>
                                          <p:spTgt spid="7175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2" dur="250" autoRev="1" fill="hold"/>
                                        <p:tgtEl>
                                          <p:spTgt spid="7175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4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 tmFilter="0, 0; .2, .5; .8, .5; 1, 0"/>
                                        <p:tgtEl>
                                          <p:spTgt spid="7169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5" dur="250" autoRev="1" fill="hold"/>
                                        <p:tgtEl>
                                          <p:spTgt spid="7169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7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 tmFilter="0, 0; .2, .5; .8, .5; 1, 0"/>
                                        <p:tgtEl>
                                          <p:spTgt spid="7175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9" dur="250" autoRev="1" fill="hold"/>
                                        <p:tgtEl>
                                          <p:spTgt spid="7175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2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 tmFilter="0, 0; .2, .5; .8, .5; 1, 0"/>
                                        <p:tgtEl>
                                          <p:spTgt spid="7169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2" dur="250" autoRev="1" fill="hold"/>
                                        <p:tgtEl>
                                          <p:spTgt spid="7169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 tmFilter="0, 0; .2, .5; .8, .5; 1, 0"/>
                                        <p:tgtEl>
                                          <p:spTgt spid="7175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5" dur="250" autoRev="1" fill="hold"/>
                                        <p:tgtEl>
                                          <p:spTgt spid="7175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9" dur="500" fill="hold"/>
                                        <p:tgtEl>
                                          <p:spTgt spid="7168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1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 tmFilter="0, 0; .2, .5; .8, .5; 1, 0"/>
                                        <p:tgtEl>
                                          <p:spTgt spid="7170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43" dur="250" autoRev="1" fill="hold"/>
                                        <p:tgtEl>
                                          <p:spTgt spid="7170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 tmFilter="0, 0; .2, .5; .8, .5; 1, 0"/>
                                        <p:tgtEl>
                                          <p:spTgt spid="7175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47" dur="250" autoRev="1" fill="hold"/>
                                        <p:tgtEl>
                                          <p:spTgt spid="7175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49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 nodeType="clickPar">
                      <p:stCondLst>
                        <p:cond delay="indefinite"/>
                      </p:stCondLst>
                      <p:childTnLst>
                        <p:par>
                          <p:cTn id="1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7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8" dur="500" fill="hold"/>
                                        <p:tgtEl>
                                          <p:spTgt spid="7168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0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 tmFilter="0, 0; .2, .5; .8, .5; 1, 0"/>
                                        <p:tgtEl>
                                          <p:spTgt spid="7169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2" dur="250" autoRev="1" fill="hold"/>
                                        <p:tgtEl>
                                          <p:spTgt spid="7169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64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 tmFilter="0, 0; .2, .5; .8, .5; 1, 0"/>
                                        <p:tgtEl>
                                          <p:spTgt spid="7175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6" dur="250" autoRev="1" fill="hold"/>
                                        <p:tgtEl>
                                          <p:spTgt spid="7175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68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7" dur="500" fill="hold"/>
                                        <p:tgtEl>
                                          <p:spTgt spid="7168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79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 tmFilter="0, 0; .2, .5; .8, .5; 1, 0"/>
                                        <p:tgtEl>
                                          <p:spTgt spid="717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1" dur="250" autoRev="1" fill="hold"/>
                                        <p:tgtEl>
                                          <p:spTgt spid="717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3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" dur="500" tmFilter="0, 0; .2, .5; .8, .5; 1, 0"/>
                                        <p:tgtEl>
                                          <p:spTgt spid="7169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5" dur="250" autoRev="1" fill="hold"/>
                                        <p:tgtEl>
                                          <p:spTgt spid="7169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87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 nodeType="clickPar">
                      <p:stCondLst>
                        <p:cond delay="indefinite"/>
                      </p:stCondLst>
                      <p:childTnLst>
                        <p:par>
                          <p:cTn id="1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6" dur="500" fill="hold"/>
                                        <p:tgtEl>
                                          <p:spTgt spid="7168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8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 tmFilter="0, 0; .2, .5; .8, .5; 1, 0"/>
                                        <p:tgtEl>
                                          <p:spTgt spid="7170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0" dur="250" autoRev="1" fill="hold"/>
                                        <p:tgtEl>
                                          <p:spTgt spid="7170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2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500" tmFilter="0, 0; .2, .5; .8, .5; 1, 0"/>
                                        <p:tgtEl>
                                          <p:spTgt spid="7175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4" dur="250" autoRev="1" fill="hold"/>
                                        <p:tgtEl>
                                          <p:spTgt spid="7175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06" presetID="4" presetClass="exit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0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1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 nodeType="clickPar">
                      <p:stCondLst>
                        <p:cond delay="indefinite"/>
                      </p:stCondLst>
                      <p:childTnLst>
                        <p:par>
                          <p:cTn id="2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4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500" tmFilter="0, 0; .2, .5; .8, .5; 1, 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6" dur="250" autoRev="1" fill="hold"/>
                                        <p:tgtEl>
                                          <p:spTgt spid="5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8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 tmFilter="0, 0; .2, .5; .8, .5; 1, 0"/>
                                        <p:tgtEl>
                                          <p:spTgt spid="7175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20" dur="250" autoRev="1" fill="hold"/>
                                        <p:tgtEl>
                                          <p:spTgt spid="7175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22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7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 nodeType="clickPar">
                      <p:stCondLst>
                        <p:cond delay="indefinite"/>
                      </p:stCondLst>
                      <p:childTnLst>
                        <p:par>
                          <p:cTn id="2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0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 tmFilter="0, 0; .2, .5; .8, .5; 1, 0"/>
                                        <p:tgtEl>
                                          <p:spTgt spid="7175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32" dur="250" autoRev="1" fill="hold"/>
                                        <p:tgtEl>
                                          <p:spTgt spid="7175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33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500" tmFilter="0, 0; .2, .5; .8, .5; 1, 0"/>
                                        <p:tgtEl>
                                          <p:spTgt spid="7170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35" dur="250" autoRev="1" fill="hold"/>
                                        <p:tgtEl>
                                          <p:spTgt spid="7170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7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3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2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84" grpId="0" animBg="1"/>
      <p:bldP spid="71685" grpId="0" animBg="1"/>
      <p:bldP spid="71686" grpId="0" animBg="1"/>
      <p:bldP spid="71687" grpId="0" animBg="1"/>
      <p:bldP spid="71688" grpId="0" animBg="1"/>
      <p:bldP spid="71689" grpId="0" animBg="1"/>
      <p:bldP spid="71690" grpId="0" animBg="1"/>
      <p:bldP spid="71691" grpId="0" animBg="1"/>
      <p:bldP spid="71692" grpId="0" animBg="1"/>
      <p:bldP spid="36" grpId="0"/>
      <p:bldP spid="37" grpId="0"/>
      <p:bldP spid="38" grpId="0"/>
      <p:bldP spid="42" grpId="0"/>
      <p:bldP spid="43" grpId="0"/>
      <p:bldP spid="45" grpId="0"/>
      <p:bldP spid="46" grpId="0"/>
      <p:bldP spid="47" grpId="0"/>
      <p:bldP spid="48" grpId="0"/>
      <p:bldP spid="50" grpId="0"/>
      <p:bldP spid="51" grpId="0"/>
      <p:bldP spid="52" grpId="0"/>
      <p:bldP spid="52" grpId="1"/>
      <p:bldP spid="53" grpId="0"/>
      <p:bldP spid="53" grpId="1"/>
      <p:bldP spid="54" grpId="0"/>
      <p:bldP spid="58" grpId="0"/>
      <p:bldP spid="58" grpId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灯片编号占位符 1">
            <a:extLst>
              <a:ext uri="{FF2B5EF4-FFF2-40B4-BE49-F238E27FC236}">
                <a16:creationId xmlns:a16="http://schemas.microsoft.com/office/drawing/2014/main" id="{3E101DA0-35B2-1E41-AB89-6E3BE6503A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E81F141-7385-E14A-B867-4C690C6996B2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52578" name="Text Box 2">
            <a:extLst>
              <a:ext uri="{FF2B5EF4-FFF2-40B4-BE49-F238E27FC236}">
                <a16:creationId xmlns:a16="http://schemas.microsoft.com/office/drawing/2014/main" id="{72C7553F-D918-9443-B528-EC3170534E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8" y="554038"/>
            <a:ext cx="5724525" cy="114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5000"/>
              </a:lnSpc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关键路径算法步骤：</a:t>
            </a:r>
          </a:p>
          <a:p>
            <a:pPr eaLnBrk="1" hangingPunct="1">
              <a:lnSpc>
                <a:spcPct val="75000"/>
              </a:lnSpc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）求每一项活动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ai(vj,vk):</a:t>
            </a:r>
          </a:p>
          <a:p>
            <a:pPr eaLnBrk="1" hangingPunct="1">
              <a:lnSpc>
                <a:spcPct val="75000"/>
              </a:lnSpc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e(i)=ve(j)     l(i)=vl(k)-dut(ai)</a:t>
            </a:r>
          </a:p>
        </p:txBody>
      </p:sp>
      <p:graphicFrame>
        <p:nvGraphicFramePr>
          <p:cNvPr id="273563" name="Group 155">
            <a:extLst>
              <a:ext uri="{FF2B5EF4-FFF2-40B4-BE49-F238E27FC236}">
                <a16:creationId xmlns:a16="http://schemas.microsoft.com/office/drawing/2014/main" id="{36DDE27F-21D3-D645-9FFA-0A2D666B0901}"/>
              </a:ext>
            </a:extLst>
          </p:cNvPr>
          <p:cNvGraphicFramePr>
            <a:graphicFrameLocks noGrp="1"/>
          </p:cNvGraphicFramePr>
          <p:nvPr/>
        </p:nvGraphicFramePr>
        <p:xfrm>
          <a:off x="6084888" y="549275"/>
          <a:ext cx="2895600" cy="5427664"/>
        </p:xfrm>
        <a:graphic>
          <a:graphicData uri="http://schemas.openxmlformats.org/drawingml/2006/table">
            <a:tbl>
              <a:tblPr/>
              <a:tblGrid>
                <a:gridCol w="708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1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6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活动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e(i)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l(i)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l(i)-e(i)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24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556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9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556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pSp>
        <p:nvGrpSpPr>
          <p:cNvPr id="152651" name="Group 70">
            <a:extLst>
              <a:ext uri="{FF2B5EF4-FFF2-40B4-BE49-F238E27FC236}">
                <a16:creationId xmlns:a16="http://schemas.microsoft.com/office/drawing/2014/main" id="{268953B6-E4BC-D140-AD9B-7E34F52815E0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2781300"/>
            <a:ext cx="3581400" cy="2133600"/>
            <a:chOff x="96" y="2304"/>
            <a:chExt cx="3360" cy="1536"/>
          </a:xfrm>
        </p:grpSpPr>
        <p:sp>
          <p:nvSpPr>
            <p:cNvPr id="152700" name="Oval 71">
              <a:extLst>
                <a:ext uri="{FF2B5EF4-FFF2-40B4-BE49-F238E27FC236}">
                  <a16:creationId xmlns:a16="http://schemas.microsoft.com/office/drawing/2014/main" id="{DD644713-27C5-D046-AB1B-D13D48105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304"/>
              <a:ext cx="240" cy="24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1800">
                  <a:solidFill>
                    <a:srgbClr val="000000"/>
                  </a:solidFill>
                  <a:latin typeface="宋体" panose="02010600030101010101" pitchFamily="2" charset="-122"/>
                </a:rPr>
                <a:t>V2</a:t>
              </a:r>
              <a:endPara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52701" name="Oval 72">
              <a:extLst>
                <a:ext uri="{FF2B5EF4-FFF2-40B4-BE49-F238E27FC236}">
                  <a16:creationId xmlns:a16="http://schemas.microsoft.com/office/drawing/2014/main" id="{6E55F8AC-FB74-E343-A889-539F7022A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" y="2640"/>
              <a:ext cx="240" cy="240"/>
            </a:xfrm>
            <a:prstGeom prst="ellipse">
              <a:avLst/>
            </a:prstGeom>
            <a:solidFill>
              <a:srgbClr val="FFFF99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1800">
                  <a:solidFill>
                    <a:srgbClr val="000000"/>
                  </a:solidFill>
                  <a:latin typeface="宋体" panose="02010600030101010101" pitchFamily="2" charset="-122"/>
                </a:rPr>
                <a:t>V1</a:t>
              </a:r>
              <a:endPara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52702" name="Oval 73">
              <a:extLst>
                <a:ext uri="{FF2B5EF4-FFF2-40B4-BE49-F238E27FC236}">
                  <a16:creationId xmlns:a16="http://schemas.microsoft.com/office/drawing/2014/main" id="{B879DD64-83A7-704D-AEAE-3C8B3E1DA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3600"/>
              <a:ext cx="240" cy="24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1800">
                  <a:solidFill>
                    <a:srgbClr val="000000"/>
                  </a:solidFill>
                  <a:latin typeface="宋体" panose="02010600030101010101" pitchFamily="2" charset="-122"/>
                </a:rPr>
                <a:t>V6</a:t>
              </a:r>
              <a:endPara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52703" name="Oval 74">
              <a:extLst>
                <a:ext uri="{FF2B5EF4-FFF2-40B4-BE49-F238E27FC236}">
                  <a16:creationId xmlns:a16="http://schemas.microsoft.com/office/drawing/2014/main" id="{536A3A9A-6B6E-CF49-984E-B9A708B34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976"/>
              <a:ext cx="240" cy="24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1800">
                  <a:solidFill>
                    <a:srgbClr val="000000"/>
                  </a:solidFill>
                  <a:latin typeface="宋体" panose="02010600030101010101" pitchFamily="2" charset="-122"/>
                </a:rPr>
                <a:t>V3</a:t>
              </a:r>
              <a:endPara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52704" name="Oval 75">
              <a:extLst>
                <a:ext uri="{FF2B5EF4-FFF2-40B4-BE49-F238E27FC236}">
                  <a16:creationId xmlns:a16="http://schemas.microsoft.com/office/drawing/2014/main" id="{18448679-00D7-D04A-9CBB-29ACDD7C0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3600"/>
              <a:ext cx="240" cy="24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1800">
                  <a:solidFill>
                    <a:srgbClr val="000000"/>
                  </a:solidFill>
                  <a:latin typeface="宋体" panose="02010600030101010101" pitchFamily="2" charset="-122"/>
                </a:rPr>
                <a:t>V4</a:t>
              </a:r>
              <a:endPara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52705" name="Oval 76">
              <a:extLst>
                <a:ext uri="{FF2B5EF4-FFF2-40B4-BE49-F238E27FC236}">
                  <a16:creationId xmlns:a16="http://schemas.microsoft.com/office/drawing/2014/main" id="{603E2782-C764-6F45-B900-6011D4628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2" y="2640"/>
              <a:ext cx="240" cy="24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1800">
                  <a:solidFill>
                    <a:srgbClr val="000000"/>
                  </a:solidFill>
                  <a:latin typeface="宋体" panose="02010600030101010101" pitchFamily="2" charset="-122"/>
                </a:rPr>
                <a:t>V5</a:t>
              </a:r>
              <a:endPara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52706" name="Oval 77">
              <a:extLst>
                <a:ext uri="{FF2B5EF4-FFF2-40B4-BE49-F238E27FC236}">
                  <a16:creationId xmlns:a16="http://schemas.microsoft.com/office/drawing/2014/main" id="{9D2275D2-3F06-B041-8586-CE5F2B79A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304"/>
              <a:ext cx="240" cy="24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1800">
                  <a:solidFill>
                    <a:srgbClr val="000000"/>
                  </a:solidFill>
                  <a:latin typeface="宋体" panose="02010600030101010101" pitchFamily="2" charset="-122"/>
                </a:rPr>
                <a:t>V7</a:t>
              </a:r>
              <a:endPara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52707" name="Oval 78">
              <a:extLst>
                <a:ext uri="{FF2B5EF4-FFF2-40B4-BE49-F238E27FC236}">
                  <a16:creationId xmlns:a16="http://schemas.microsoft.com/office/drawing/2014/main" id="{B2C13280-0497-8F41-85B1-9961EC6F4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3024"/>
              <a:ext cx="240" cy="240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1800">
                  <a:solidFill>
                    <a:srgbClr val="000000"/>
                  </a:solidFill>
                  <a:latin typeface="宋体" panose="02010600030101010101" pitchFamily="2" charset="-122"/>
                </a:rPr>
                <a:t>V8</a:t>
              </a:r>
              <a:endPara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52708" name="Oval 79">
              <a:extLst>
                <a:ext uri="{FF2B5EF4-FFF2-40B4-BE49-F238E27FC236}">
                  <a16:creationId xmlns:a16="http://schemas.microsoft.com/office/drawing/2014/main" id="{1DDF31AA-F1F6-1643-A50D-006A2A0BA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2688"/>
              <a:ext cx="240" cy="240"/>
            </a:xfrm>
            <a:prstGeom prst="ellipse">
              <a:avLst/>
            </a:prstGeom>
            <a:solidFill>
              <a:schemeClr val="accent1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CN" sz="1800">
                  <a:solidFill>
                    <a:srgbClr val="000000"/>
                  </a:solidFill>
                  <a:latin typeface="宋体" panose="02010600030101010101" pitchFamily="2" charset="-122"/>
                </a:rPr>
                <a:t>V9</a:t>
              </a:r>
              <a:endParaRPr kumimoji="0" lang="en-US" altLang="zh-CN" sz="1800" noProof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52709" name="Line 80">
              <a:extLst>
                <a:ext uri="{FF2B5EF4-FFF2-40B4-BE49-F238E27FC236}">
                  <a16:creationId xmlns:a16="http://schemas.microsoft.com/office/drawing/2014/main" id="{8C0AD8AA-A2CF-EC41-98B7-5D7B3D043B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" y="2784"/>
              <a:ext cx="48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0" name="Line 81">
              <a:extLst>
                <a:ext uri="{FF2B5EF4-FFF2-40B4-BE49-F238E27FC236}">
                  <a16:creationId xmlns:a16="http://schemas.microsoft.com/office/drawing/2014/main" id="{3694EFC2-D201-A048-977E-EE9C4999AD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6" y="2832"/>
              <a:ext cx="57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1" name="Line 82">
              <a:extLst>
                <a:ext uri="{FF2B5EF4-FFF2-40B4-BE49-F238E27FC236}">
                  <a16:creationId xmlns:a16="http://schemas.microsoft.com/office/drawing/2014/main" id="{1253921D-8B54-324A-8ECA-89CCB6CD07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2448"/>
              <a:ext cx="57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2" name="Line 83">
              <a:extLst>
                <a:ext uri="{FF2B5EF4-FFF2-40B4-BE49-F238E27FC236}">
                  <a16:creationId xmlns:a16="http://schemas.microsoft.com/office/drawing/2014/main" id="{21C9F8A9-8A4B-F749-8E7F-051E1A4B99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2" y="2448"/>
              <a:ext cx="57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3" name="Line 84">
              <a:extLst>
                <a:ext uri="{FF2B5EF4-FFF2-40B4-BE49-F238E27FC236}">
                  <a16:creationId xmlns:a16="http://schemas.microsoft.com/office/drawing/2014/main" id="{688C1910-7D53-3B42-94A5-E97F801A88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2832"/>
              <a:ext cx="57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4" name="Line 85">
              <a:extLst>
                <a:ext uri="{FF2B5EF4-FFF2-40B4-BE49-F238E27FC236}">
                  <a16:creationId xmlns:a16="http://schemas.microsoft.com/office/drawing/2014/main" id="{7AC891AF-2522-4148-BB69-D17B90E39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6" y="2880"/>
              <a:ext cx="48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5" name="Line 86">
              <a:extLst>
                <a:ext uri="{FF2B5EF4-FFF2-40B4-BE49-F238E27FC236}">
                  <a16:creationId xmlns:a16="http://schemas.microsoft.com/office/drawing/2014/main" id="{3A91DDAB-6F2B-0C43-A156-8F635E8BFC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2448"/>
              <a:ext cx="576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6" name="Line 87">
              <a:extLst>
                <a:ext uri="{FF2B5EF4-FFF2-40B4-BE49-F238E27FC236}">
                  <a16:creationId xmlns:a16="http://schemas.microsoft.com/office/drawing/2014/main" id="{14B61568-00FA-DC49-9A1D-084285C68F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" y="2880"/>
              <a:ext cx="576" cy="7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7" name="Line 88">
              <a:extLst>
                <a:ext uri="{FF2B5EF4-FFF2-40B4-BE49-F238E27FC236}">
                  <a16:creationId xmlns:a16="http://schemas.microsoft.com/office/drawing/2014/main" id="{5F42BAAE-2CC6-9541-9935-7E274130C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3744"/>
              <a:ext cx="43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8" name="Line 89">
              <a:extLst>
                <a:ext uri="{FF2B5EF4-FFF2-40B4-BE49-F238E27FC236}">
                  <a16:creationId xmlns:a16="http://schemas.microsoft.com/office/drawing/2014/main" id="{AD6430AC-339D-6642-A7DF-60FBB21CCF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3216"/>
              <a:ext cx="768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19" name="Line 90">
              <a:extLst>
                <a:ext uri="{FF2B5EF4-FFF2-40B4-BE49-F238E27FC236}">
                  <a16:creationId xmlns:a16="http://schemas.microsoft.com/office/drawing/2014/main" id="{336CEB1B-3755-AC40-9DF4-2407F0719C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" y="2496"/>
              <a:ext cx="48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20" name="WordArt 91">
              <a:extLst>
                <a:ext uri="{FF2B5EF4-FFF2-40B4-BE49-F238E27FC236}">
                  <a16:creationId xmlns:a16="http://schemas.microsoft.com/office/drawing/2014/main" id="{F822FB43-4FAB-B54A-B4F0-7B88C30BF385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384" y="2390"/>
              <a:ext cx="288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a1=6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21" name="WordArt 92">
              <a:extLst>
                <a:ext uri="{FF2B5EF4-FFF2-40B4-BE49-F238E27FC236}">
                  <a16:creationId xmlns:a16="http://schemas.microsoft.com/office/drawing/2014/main" id="{B1F579E6-1520-CB4A-A636-4C0FC7DB6370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1251933">
              <a:off x="1920" y="2390"/>
              <a:ext cx="288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a7=9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22" name="WordArt 93">
              <a:extLst>
                <a:ext uri="{FF2B5EF4-FFF2-40B4-BE49-F238E27FC236}">
                  <a16:creationId xmlns:a16="http://schemas.microsoft.com/office/drawing/2014/main" id="{8CAA1733-7A50-D04B-AF10-D2D1B5535F86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1476021">
              <a:off x="2712" y="2822"/>
              <a:ext cx="360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a11=4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23" name="WordArt 94">
              <a:extLst>
                <a:ext uri="{FF2B5EF4-FFF2-40B4-BE49-F238E27FC236}">
                  <a16:creationId xmlns:a16="http://schemas.microsoft.com/office/drawing/2014/main" id="{35565166-223F-F043-92FE-BECFBCE20ACA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815012">
              <a:off x="1152" y="2726"/>
              <a:ext cx="288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a5=1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24" name="WordArt 95">
              <a:extLst>
                <a:ext uri="{FF2B5EF4-FFF2-40B4-BE49-F238E27FC236}">
                  <a16:creationId xmlns:a16="http://schemas.microsoft.com/office/drawing/2014/main" id="{C4D0A556-4497-CC42-B51B-F915D520CAD5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1690103">
              <a:off x="1824" y="3350"/>
              <a:ext cx="288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a9=4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25" name="WordArt 96">
              <a:extLst>
                <a:ext uri="{FF2B5EF4-FFF2-40B4-BE49-F238E27FC236}">
                  <a16:creationId xmlns:a16="http://schemas.microsoft.com/office/drawing/2014/main" id="{C0DDE167-907F-3847-8970-A4C993EE34AE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298406">
              <a:off x="1248" y="2400"/>
              <a:ext cx="288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a4=1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26" name="WordArt 97">
              <a:extLst>
                <a:ext uri="{FF2B5EF4-FFF2-40B4-BE49-F238E27FC236}">
                  <a16:creationId xmlns:a16="http://schemas.microsoft.com/office/drawing/2014/main" id="{EBA3BEAB-8210-9B42-9EF6-6F2AB3ADDAB9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275432">
              <a:off x="528" y="2726"/>
              <a:ext cx="288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a2=4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27" name="WordArt 98">
              <a:extLst>
                <a:ext uri="{FF2B5EF4-FFF2-40B4-BE49-F238E27FC236}">
                  <a16:creationId xmlns:a16="http://schemas.microsoft.com/office/drawing/2014/main" id="{176BA122-9907-A84C-97AD-C82105D90191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3489148">
              <a:off x="336" y="3235"/>
              <a:ext cx="288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a3=5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28" name="WordArt 99">
              <a:extLst>
                <a:ext uri="{FF2B5EF4-FFF2-40B4-BE49-F238E27FC236}">
                  <a16:creationId xmlns:a16="http://schemas.microsoft.com/office/drawing/2014/main" id="{54AAEC1C-195B-2A4C-8C9A-05720A0F3B38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-130484">
              <a:off x="1104" y="3542"/>
              <a:ext cx="288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a6=2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29" name="WordArt 100">
              <a:extLst>
                <a:ext uri="{FF2B5EF4-FFF2-40B4-BE49-F238E27FC236}">
                  <a16:creationId xmlns:a16="http://schemas.microsoft.com/office/drawing/2014/main" id="{3818A482-4C5E-5D49-92EA-0B5C1C69CBB0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526444">
              <a:off x="2112" y="2822"/>
              <a:ext cx="288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a8=7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  <p:sp>
          <p:nvSpPr>
            <p:cNvPr id="152730" name="WordArt 101">
              <a:extLst>
                <a:ext uri="{FF2B5EF4-FFF2-40B4-BE49-F238E27FC236}">
                  <a16:creationId xmlns:a16="http://schemas.microsoft.com/office/drawing/2014/main" id="{52C269BC-CCE1-3E45-A3A2-8684F8198875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 rot="1447650">
              <a:off x="2832" y="2390"/>
              <a:ext cx="360" cy="154"/>
            </a:xfrm>
            <a:prstGeom prst="rect">
              <a:avLst/>
            </a:prstGeom>
          </p:spPr>
          <p:txBody>
            <a:bodyPr wrap="none" fromWordArt="1">
              <a:prstTxWarp prst="textCanDown">
                <a:avLst>
                  <a:gd name="adj" fmla="val 6514"/>
                </a:avLst>
              </a:prstTxWarp>
            </a:bodyPr>
            <a:lstStyle/>
            <a:p>
              <a:pPr algn="ctr"/>
              <a:r>
                <a:rPr lang="en-GB" altLang="zh-CN" sz="1800" kern="10"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ea typeface="Tahoma" panose="020B0604030504040204" pitchFamily="34" charset="0"/>
                  <a:cs typeface="Tahoma" panose="020B0604030504040204" pitchFamily="34" charset="0"/>
                </a:rPr>
                <a:t>a10=2</a:t>
              </a:r>
              <a:endParaRPr lang="zh-CN" altLang="en-US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cs typeface="Tahoma" panose="020B0604030504040204" pitchFamily="34" charset="0"/>
              </a:endParaRPr>
            </a:p>
          </p:txBody>
        </p:sp>
      </p:grpSp>
      <p:graphicFrame>
        <p:nvGraphicFramePr>
          <p:cNvPr id="273564" name="Group 156">
            <a:extLst>
              <a:ext uri="{FF2B5EF4-FFF2-40B4-BE49-F238E27FC236}">
                <a16:creationId xmlns:a16="http://schemas.microsoft.com/office/drawing/2014/main" id="{F72FDA09-A0EE-6D48-8753-321532F12314}"/>
              </a:ext>
            </a:extLst>
          </p:cNvPr>
          <p:cNvGraphicFramePr>
            <a:graphicFrameLocks noGrp="1"/>
          </p:cNvGraphicFramePr>
          <p:nvPr/>
        </p:nvGraphicFramePr>
        <p:xfrm>
          <a:off x="3779838" y="1941513"/>
          <a:ext cx="2160587" cy="3998913"/>
        </p:xfrm>
        <a:graphic>
          <a:graphicData uri="http://schemas.openxmlformats.org/drawingml/2006/table">
            <a:tbl>
              <a:tblPr/>
              <a:tblGrid>
                <a:gridCol w="7921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3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05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顶点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ve(i)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vl(i)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2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4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10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333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7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16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16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8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14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14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</a:t>
                      </a:r>
                      <a:r>
                        <a:rPr kumimoji="1" lang="en-US" altLang="zh-CN" sz="2000" b="1" i="0" u="none" strike="noStrike" cap="none" normalizeH="0" baseline="-2500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9</a:t>
                      </a:r>
                    </a:p>
                  </a:txBody>
                  <a:tcPr marT="45724" marB="4572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18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18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8" name="Line 15">
            <a:extLst>
              <a:ext uri="{FF2B5EF4-FFF2-40B4-BE49-F238E27FC236}">
                <a16:creationId xmlns:a16="http://schemas.microsoft.com/office/drawing/2014/main" id="{1860678B-8212-5646-86E1-0A5DE9BC523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1050" y="3429000"/>
            <a:ext cx="13684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WordArt 71">
            <a:extLst>
              <a:ext uri="{FF2B5EF4-FFF2-40B4-BE49-F238E27FC236}">
                <a16:creationId xmlns:a16="http://schemas.microsoft.com/office/drawing/2014/main" id="{BFE96CDF-4F5E-EA4F-960D-B117A5B54EA2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2508250" y="3176588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a12=10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3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5" name="灯片编号占位符 1">
            <a:extLst>
              <a:ext uri="{FF2B5EF4-FFF2-40B4-BE49-F238E27FC236}">
                <a16:creationId xmlns:a16="http://schemas.microsoft.com/office/drawing/2014/main" id="{BE472F88-A07E-1A40-BD6C-00887D24BF3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77C3CE2-623E-FB48-BC76-A98D61222C5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54626" name="Oval 2">
            <a:extLst>
              <a:ext uri="{FF2B5EF4-FFF2-40B4-BE49-F238E27FC236}">
                <a16:creationId xmlns:a16="http://schemas.microsoft.com/office/drawing/2014/main" id="{CC0FAA23-0856-CB47-9F79-5320AEC57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3124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27" name="Oval 3">
            <a:extLst>
              <a:ext uri="{FF2B5EF4-FFF2-40B4-BE49-F238E27FC236}">
                <a16:creationId xmlns:a16="http://schemas.microsoft.com/office/drawing/2014/main" id="{C06B391E-1C0C-294E-B606-7352161F1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3657600"/>
            <a:ext cx="381000" cy="381000"/>
          </a:xfrm>
          <a:prstGeom prst="ellipse">
            <a:avLst/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28" name="Oval 4">
            <a:extLst>
              <a:ext uri="{FF2B5EF4-FFF2-40B4-BE49-F238E27FC236}">
                <a16:creationId xmlns:a16="http://schemas.microsoft.com/office/drawing/2014/main" id="{E6E5E3BC-EFA7-8E4B-8B7F-A474601FA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181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V6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29" name="Oval 5">
            <a:extLst>
              <a:ext uri="{FF2B5EF4-FFF2-40B4-BE49-F238E27FC236}">
                <a16:creationId xmlns:a16="http://schemas.microsoft.com/office/drawing/2014/main" id="{A755D2EF-3DFC-2C4E-8795-A3643D3BD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41910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30" name="Oval 6">
            <a:extLst>
              <a:ext uri="{FF2B5EF4-FFF2-40B4-BE49-F238E27FC236}">
                <a16:creationId xmlns:a16="http://schemas.microsoft.com/office/drawing/2014/main" id="{F933C476-8157-8A40-AFBD-79CA7DBD4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5181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31" name="Oval 7">
            <a:extLst>
              <a:ext uri="{FF2B5EF4-FFF2-40B4-BE49-F238E27FC236}">
                <a16:creationId xmlns:a16="http://schemas.microsoft.com/office/drawing/2014/main" id="{E59A9809-9DE6-4F40-9C9E-29D9964DB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36576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32" name="Oval 8">
            <a:extLst>
              <a:ext uri="{FF2B5EF4-FFF2-40B4-BE49-F238E27FC236}">
                <a16:creationId xmlns:a16="http://schemas.microsoft.com/office/drawing/2014/main" id="{ED0A86A6-9DE8-3949-BDCA-64F0C5E9F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3124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V7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33" name="Oval 9">
            <a:extLst>
              <a:ext uri="{FF2B5EF4-FFF2-40B4-BE49-F238E27FC236}">
                <a16:creationId xmlns:a16="http://schemas.microsoft.com/office/drawing/2014/main" id="{B338B949-5D1A-484C-98D3-DB3395088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4267200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V8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34" name="Oval 10">
            <a:extLst>
              <a:ext uri="{FF2B5EF4-FFF2-40B4-BE49-F238E27FC236}">
                <a16:creationId xmlns:a16="http://schemas.microsoft.com/office/drawing/2014/main" id="{DE4098A1-21FC-484D-932B-DF5497C82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3733800"/>
            <a:ext cx="381000" cy="3810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V9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54635" name="Line 11">
            <a:extLst>
              <a:ext uri="{FF2B5EF4-FFF2-40B4-BE49-F238E27FC236}">
                <a16:creationId xmlns:a16="http://schemas.microsoft.com/office/drawing/2014/main" id="{E587281F-4D60-6B40-B8B8-D5153DBC2F36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7800" y="3886200"/>
            <a:ext cx="121920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36" name="Line 12">
            <a:extLst>
              <a:ext uri="{FF2B5EF4-FFF2-40B4-BE49-F238E27FC236}">
                <a16:creationId xmlns:a16="http://schemas.microsoft.com/office/drawing/2014/main" id="{605E67FF-BCD4-AD48-AC37-F64E4D5C1D0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48000" y="3962400"/>
            <a:ext cx="10668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37" name="Line 13">
            <a:extLst>
              <a:ext uri="{FF2B5EF4-FFF2-40B4-BE49-F238E27FC236}">
                <a16:creationId xmlns:a16="http://schemas.microsoft.com/office/drawing/2014/main" id="{B6707BAD-9E25-A04D-8F8A-56D06764C4E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8000" y="3352800"/>
            <a:ext cx="1066800" cy="381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38" name="Line 14">
            <a:extLst>
              <a:ext uri="{FF2B5EF4-FFF2-40B4-BE49-F238E27FC236}">
                <a16:creationId xmlns:a16="http://schemas.microsoft.com/office/drawing/2014/main" id="{9DBB9731-1615-7B4C-9E3F-3392E42FE5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95800" y="3352800"/>
            <a:ext cx="1219200" cy="381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39" name="Line 15">
            <a:extLst>
              <a:ext uri="{FF2B5EF4-FFF2-40B4-BE49-F238E27FC236}">
                <a16:creationId xmlns:a16="http://schemas.microsoft.com/office/drawing/2014/main" id="{FF8C2DDD-B93D-274A-83BA-DCEDFF736A7D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3962400"/>
            <a:ext cx="1371600" cy="4572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40" name="Line 16">
            <a:extLst>
              <a:ext uri="{FF2B5EF4-FFF2-40B4-BE49-F238E27FC236}">
                <a16:creationId xmlns:a16="http://schemas.microsoft.com/office/drawing/2014/main" id="{134F2D46-99F0-4C4E-A46F-942FA2271C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96000" y="4038600"/>
            <a:ext cx="1295400" cy="381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41" name="Line 17">
            <a:extLst>
              <a:ext uri="{FF2B5EF4-FFF2-40B4-BE49-F238E27FC236}">
                <a16:creationId xmlns:a16="http://schemas.microsoft.com/office/drawing/2014/main" id="{3C58CF8E-CA54-6F45-B95D-DEE3F10405ED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3352800"/>
            <a:ext cx="1295400" cy="5334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42" name="Line 18">
            <a:extLst>
              <a:ext uri="{FF2B5EF4-FFF2-40B4-BE49-F238E27FC236}">
                <a16:creationId xmlns:a16="http://schemas.microsoft.com/office/drawing/2014/main" id="{5AD2AFE1-D916-7C4A-8B44-398F90935776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1600" y="4038600"/>
            <a:ext cx="1371600" cy="1219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43" name="Line 19">
            <a:extLst>
              <a:ext uri="{FF2B5EF4-FFF2-40B4-BE49-F238E27FC236}">
                <a16:creationId xmlns:a16="http://schemas.microsoft.com/office/drawing/2014/main" id="{43DD168D-328D-1C4C-BD4C-646CFA02E4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8000" y="5410200"/>
            <a:ext cx="838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44" name="Line 20">
            <a:extLst>
              <a:ext uri="{FF2B5EF4-FFF2-40B4-BE49-F238E27FC236}">
                <a16:creationId xmlns:a16="http://schemas.microsoft.com/office/drawing/2014/main" id="{00B79D9B-42EE-3349-AF02-6195E55BBA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67200" y="4572000"/>
            <a:ext cx="144780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45" name="Line 21">
            <a:extLst>
              <a:ext uri="{FF2B5EF4-FFF2-40B4-BE49-F238E27FC236}">
                <a16:creationId xmlns:a16="http://schemas.microsoft.com/office/drawing/2014/main" id="{061CA711-B60A-B64F-BCF8-D81A4DD649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47800" y="3352800"/>
            <a:ext cx="1219200" cy="381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4646" name="WordArt 22">
            <a:extLst>
              <a:ext uri="{FF2B5EF4-FFF2-40B4-BE49-F238E27FC236}">
                <a16:creationId xmlns:a16="http://schemas.microsoft.com/office/drawing/2014/main" id="{68DC5202-59E0-544D-9C39-A0830EA01716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1676400" y="33369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a1=6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47" name="WordArt 23">
            <a:extLst>
              <a:ext uri="{FF2B5EF4-FFF2-40B4-BE49-F238E27FC236}">
                <a16:creationId xmlns:a16="http://schemas.microsoft.com/office/drawing/2014/main" id="{1C5CD58E-EE63-684E-9A23-F73E990327B7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4800600" y="32607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a7=9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48" name="WordArt 24">
            <a:extLst>
              <a:ext uri="{FF2B5EF4-FFF2-40B4-BE49-F238E27FC236}">
                <a16:creationId xmlns:a16="http://schemas.microsoft.com/office/drawing/2014/main" id="{E075B3E2-DE06-1B4B-8E4A-0DC0F6D2E929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6286500" y="3962400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a11=4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49" name="WordArt 25">
            <a:extLst>
              <a:ext uri="{FF2B5EF4-FFF2-40B4-BE49-F238E27FC236}">
                <a16:creationId xmlns:a16="http://schemas.microsoft.com/office/drawing/2014/main" id="{F4826AAB-3521-7244-9F6B-181A0BE3340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815012">
            <a:off x="3200400" y="39465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a5=1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50" name="WordArt 26">
            <a:extLst>
              <a:ext uri="{FF2B5EF4-FFF2-40B4-BE49-F238E27FC236}">
                <a16:creationId xmlns:a16="http://schemas.microsoft.com/office/drawing/2014/main" id="{6ACF21C5-493A-EE4D-8F81-400F96B4D1DB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690103">
            <a:off x="4418013" y="4741863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a9=4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51" name="WordArt 27">
            <a:extLst>
              <a:ext uri="{FF2B5EF4-FFF2-40B4-BE49-F238E27FC236}">
                <a16:creationId xmlns:a16="http://schemas.microsoft.com/office/drawing/2014/main" id="{F18BF553-F949-2042-81FC-DD8A324C1570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298406">
            <a:off x="3306763" y="31845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a4=1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52" name="WordArt 28">
            <a:extLst>
              <a:ext uri="{FF2B5EF4-FFF2-40B4-BE49-F238E27FC236}">
                <a16:creationId xmlns:a16="http://schemas.microsoft.com/office/drawing/2014/main" id="{3FB846EB-8584-5C49-A00C-AFB6F37EEB32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275432">
            <a:off x="1828800" y="37941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a2=4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53" name="WordArt 29">
            <a:extLst>
              <a:ext uri="{FF2B5EF4-FFF2-40B4-BE49-F238E27FC236}">
                <a16:creationId xmlns:a16="http://schemas.microsoft.com/office/drawing/2014/main" id="{A597E2C3-4F97-2347-A411-494E72B06339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2442582">
            <a:off x="1600200" y="4572000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a3=5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54" name="WordArt 30">
            <a:extLst>
              <a:ext uri="{FF2B5EF4-FFF2-40B4-BE49-F238E27FC236}">
                <a16:creationId xmlns:a16="http://schemas.microsoft.com/office/drawing/2014/main" id="{03D68506-245E-3A4A-A3A7-FE9A160DBE51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130484">
            <a:off x="3198813" y="50895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a6=2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55" name="WordArt 31">
            <a:extLst>
              <a:ext uri="{FF2B5EF4-FFF2-40B4-BE49-F238E27FC236}">
                <a16:creationId xmlns:a16="http://schemas.microsoft.com/office/drawing/2014/main" id="{84D91C23-6103-0A44-9630-DAC51C9240F3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884637">
            <a:off x="4953000" y="387032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a8=7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56" name="WordArt 32">
            <a:extLst>
              <a:ext uri="{FF2B5EF4-FFF2-40B4-BE49-F238E27FC236}">
                <a16:creationId xmlns:a16="http://schemas.microsoft.com/office/drawing/2014/main" id="{CA204A8E-5BB1-C34C-BCA0-DA24D0B8D96B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1164342">
            <a:off x="6421438" y="3260725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a10=2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54657" name="Text Box 33">
            <a:extLst>
              <a:ext uri="{FF2B5EF4-FFF2-40B4-BE49-F238E27FC236}">
                <a16:creationId xmlns:a16="http://schemas.microsoft.com/office/drawing/2014/main" id="{17345EA0-A1EF-B943-A5C2-C99B0F89E2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25463"/>
            <a:ext cx="6858000" cy="210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关键活动：选取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e(i)=l(i)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的活动。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关键路径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：         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           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）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v1 v2  v5  v7  v9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           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2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）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v1 v2  v5  v8  v9</a:t>
            </a:r>
          </a:p>
        </p:txBody>
      </p:sp>
      <p:sp>
        <p:nvSpPr>
          <p:cNvPr id="35" name="Line 15">
            <a:extLst>
              <a:ext uri="{FF2B5EF4-FFF2-40B4-BE49-F238E27FC236}">
                <a16:creationId xmlns:a16="http://schemas.microsoft.com/office/drawing/2014/main" id="{2C64FB2E-0D75-D840-BAAA-DDEEA09C7CB7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2000" y="3860800"/>
            <a:ext cx="2736850" cy="73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WordArt 71">
            <a:extLst>
              <a:ext uri="{FF2B5EF4-FFF2-40B4-BE49-F238E27FC236}">
                <a16:creationId xmlns:a16="http://schemas.microsoft.com/office/drawing/2014/main" id="{A4C2E6DD-772F-8745-9F23-F3BA5A7815E3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5532438" y="3608388"/>
            <a:ext cx="5715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GB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a12=10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3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3" name="灯片编号占位符 1">
            <a:extLst>
              <a:ext uri="{FF2B5EF4-FFF2-40B4-BE49-F238E27FC236}">
                <a16:creationId xmlns:a16="http://schemas.microsoft.com/office/drawing/2014/main" id="{60AE05F7-4B39-594D-A405-A0920340F3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D432C22-98A9-6F42-8F60-99E61FFDCBF8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56674" name="Rectangle 2">
            <a:extLst>
              <a:ext uri="{FF2B5EF4-FFF2-40B4-BE49-F238E27FC236}">
                <a16:creationId xmlns:a16="http://schemas.microsoft.com/office/drawing/2014/main" id="{7CEAD1A2-BCA6-F44B-B7AE-155EC2F9A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" y="369888"/>
            <a:ext cx="9363075" cy="5938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利用拓扑排序算法计算各顶点最早发生时间代码（拓扑排序结果放在栈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中）：</a:t>
            </a:r>
            <a:endParaRPr kumimoji="0" lang="en-US" altLang="zh-CN" sz="20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Status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ToplogicalOrder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ALGraph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G,Stack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&amp;T){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CountInDegree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G,indegree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);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统计顶点入度到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indegree[0..G.vexnum-1]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InitStack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(S); count=0;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初始化栈和访问顶点计数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[0...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G.vexnum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]=0;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初始化各顶点的最早开始时间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for(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=0;i&lt;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G.vexnum;i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++)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入度为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的顶点序号进栈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if (!indegree[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]) Push(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S,i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);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while(!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StackEmpty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(S)){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Pop(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S,i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); </a:t>
            </a:r>
            <a:r>
              <a:rPr kumimoji="0" lang="en-US" altLang="zh-CN" sz="2000" dirty="0">
                <a:solidFill>
                  <a:srgbClr val="C00000"/>
                </a:solidFill>
                <a:latin typeface="宋体" panose="02010600030101010101" pitchFamily="2" charset="-122"/>
              </a:rPr>
              <a:t>Push(</a:t>
            </a:r>
            <a:r>
              <a:rPr kumimoji="0" lang="en-US" altLang="zh-CN" sz="2000" dirty="0" err="1">
                <a:solidFill>
                  <a:srgbClr val="C00000"/>
                </a:solidFill>
                <a:latin typeface="宋体" panose="02010600030101010101" pitchFamily="2" charset="-122"/>
              </a:rPr>
              <a:t>T,i</a:t>
            </a:r>
            <a:r>
              <a:rPr kumimoji="0" lang="en-US" altLang="zh-CN" sz="2000" dirty="0">
                <a:solidFill>
                  <a:srgbClr val="C00000"/>
                </a:solidFill>
                <a:latin typeface="宋体" panose="02010600030101010101" pitchFamily="2" charset="-122"/>
              </a:rPr>
              <a:t>);count++;  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//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入栈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，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count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计数访问过的顶点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for(p=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G.vertices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].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firstarc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; p; p=p-&gt;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nextarc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)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  j=p-&gt;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adjvex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;                 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取弧头顶点序号赋值给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  if (!--indegree[j]) Push(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S,j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);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入度减一后为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，进栈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if 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]+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dut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&gt;)&gt;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[j])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     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[j]=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]+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dut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&gt;);       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用较大值替换替换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		 if (count&lt;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G.vexnum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) return ERROR;   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有回路；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		 else                return OK;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灯片编号占位符 1">
            <a:extLst>
              <a:ext uri="{FF2B5EF4-FFF2-40B4-BE49-F238E27FC236}">
                <a16:creationId xmlns:a16="http://schemas.microsoft.com/office/drawing/2014/main" id="{215634CF-D41A-DC49-8D8F-4FB7CC4F1C7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F2E20C4-4C73-144E-99DA-D7BF88C13601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58722" name="Rectangle 2">
            <a:extLst>
              <a:ext uri="{FF2B5EF4-FFF2-40B4-BE49-F238E27FC236}">
                <a16:creationId xmlns:a16="http://schemas.microsoft.com/office/drawing/2014/main" id="{CDE64965-44FD-7C4B-826C-8BCAA4B7B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75" y="207963"/>
            <a:ext cx="9039225" cy="7171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计算关键活动代码（拓扑排序结果在栈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T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中，退栈完成逆拓扑排序）：</a:t>
            </a:r>
            <a:endParaRPr kumimoji="0" lang="en-US" altLang="zh-CN" sz="20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Status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CriticalPath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ALGraph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G){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if (!</a:t>
            </a:r>
            <a:r>
              <a:rPr kumimoji="0" lang="en-US" altLang="zh-CN" sz="2000" dirty="0" err="1">
                <a:solidFill>
                  <a:srgbClr val="C00000"/>
                </a:solidFill>
                <a:latin typeface="宋体" panose="02010600030101010101" pitchFamily="2" charset="-122"/>
              </a:rPr>
              <a:t>TopologicalOrde</a:t>
            </a:r>
            <a:r>
              <a:rPr kumimoji="0" lang="en-US" altLang="zh-CN" sz="2000" dirty="0">
                <a:solidFill>
                  <a:srgbClr val="C00000"/>
                </a:solidFill>
                <a:latin typeface="宋体" panose="02010600030101010101" pitchFamily="2" charset="-122"/>
              </a:rPr>
              <a:t>(G,T)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) return ERROR;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vl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[0...G.vexnum-1]=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[G.vexnum-1];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初始化顶点最迟发生时间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while(!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StackEmpty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(T)){      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逆拓扑排序求顶点最迟发生时间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for(Pop(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S,i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), p=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G.vertices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].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firstarc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; p; p=p-&gt;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nextarc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) {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j=p-&gt;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adjvex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;                  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取弧头顶点序号赋值给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if 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vl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[j]-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dut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&gt;)&lt;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vl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])    //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dut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j,k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&gt;)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表示弧活动持续时间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  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vl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vl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[j]-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dut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&gt;);            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用较小值替换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for(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=0;i&lt;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G.vexnum;i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++)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按顶点次序，取出该顶点作为弧尾的各活动分析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for(p=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G.vertices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].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firstarc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; p; p=p-&gt;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nextarc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) {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j=p-&gt;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adjvex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;                        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准备分析弧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ee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];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el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vl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[j]-duty(&lt;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&gt;);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计算弧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最早、最迟开始时间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if 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ee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el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)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printf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&gt;,duty(&lt;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i,j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&gt;),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ee,el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)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输出关键活动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return OK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25000"/>
              </a:spcBef>
              <a:buClrTx/>
              <a:buSzTx/>
              <a:buFontTx/>
              <a:buNone/>
            </a:pPr>
            <a:endParaRPr kumimoji="0" lang="en-US" altLang="zh-CN" sz="2000" dirty="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69" name="灯片编号占位符 1">
            <a:extLst>
              <a:ext uri="{FF2B5EF4-FFF2-40B4-BE49-F238E27FC236}">
                <a16:creationId xmlns:a16="http://schemas.microsoft.com/office/drawing/2014/main" id="{847B3E98-4DA8-D248-BA85-554EB61721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4C52024-B349-9A4A-8BBA-EB71DC7D6C2A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60770" name="Text Box 2">
            <a:extLst>
              <a:ext uri="{FF2B5EF4-FFF2-40B4-BE49-F238E27FC236}">
                <a16:creationId xmlns:a16="http://schemas.microsoft.com/office/drawing/2014/main" id="{DEF71B5A-3E94-6844-91BD-67A9E37CE0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404813"/>
            <a:ext cx="7620000" cy="1135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>
                <a:solidFill>
                  <a:srgbClr val="000000"/>
                </a:solidFill>
                <a:latin typeface="宋体" panose="02010600030101010101" pitchFamily="2" charset="-122"/>
              </a:rPr>
              <a:t>7.6 </a:t>
            </a:r>
            <a:r>
              <a:rPr kumimoji="0" lang="zh-CN" altLang="en-US">
                <a:solidFill>
                  <a:srgbClr val="000000"/>
                </a:solidFill>
                <a:latin typeface="宋体" panose="02010600030101010101" pitchFamily="2" charset="-122"/>
              </a:rPr>
              <a:t>最短路径</a:t>
            </a:r>
          </a:p>
          <a:p>
            <a:pPr eaLnBrk="1" hangingPunct="1">
              <a:spcBef>
                <a:spcPct val="30000"/>
              </a:spcBef>
              <a:buClrTx/>
              <a:buSzTx/>
              <a:buFontTx/>
              <a:buNone/>
            </a:pP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  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7.6.1  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从</a:t>
            </a:r>
            <a:r>
              <a:rPr kumimoji="0" lang="zh-CN" altLang="en-US" sz="2800">
                <a:solidFill>
                  <a:srgbClr val="C00000"/>
                </a:solidFill>
                <a:latin typeface="宋体" panose="02010600030101010101" pitchFamily="2" charset="-122"/>
              </a:rPr>
              <a:t>某个源点到其余各顶点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的最短路径</a:t>
            </a:r>
          </a:p>
        </p:txBody>
      </p:sp>
      <p:sp>
        <p:nvSpPr>
          <p:cNvPr id="160771" name="Oval 3">
            <a:extLst>
              <a:ext uri="{FF2B5EF4-FFF2-40B4-BE49-F238E27FC236}">
                <a16:creationId xmlns:a16="http://schemas.microsoft.com/office/drawing/2014/main" id="{E73D086D-66E4-0E4D-8829-7BA988BAC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9561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0772" name="Oval 4">
            <a:extLst>
              <a:ext uri="{FF2B5EF4-FFF2-40B4-BE49-F238E27FC236}">
                <a16:creationId xmlns:a16="http://schemas.microsoft.com/office/drawing/2014/main" id="{B7D84B9D-CBC1-374D-9C87-5B5BF1304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2974975"/>
            <a:ext cx="381000" cy="381000"/>
          </a:xfrm>
          <a:prstGeom prst="ellipse">
            <a:avLst/>
          </a:pr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0773" name="Oval 5">
            <a:extLst>
              <a:ext uri="{FF2B5EF4-FFF2-40B4-BE49-F238E27FC236}">
                <a16:creationId xmlns:a16="http://schemas.microsoft.com/office/drawing/2014/main" id="{8E565F0A-6275-E744-AF82-9C1BA18EA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40417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0774" name="Oval 6">
            <a:extLst>
              <a:ext uri="{FF2B5EF4-FFF2-40B4-BE49-F238E27FC236}">
                <a16:creationId xmlns:a16="http://schemas.microsoft.com/office/drawing/2014/main" id="{0658F4EC-EC3B-8B42-BD87-B37460CA9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40417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0775" name="Oval 7">
            <a:extLst>
              <a:ext uri="{FF2B5EF4-FFF2-40B4-BE49-F238E27FC236}">
                <a16:creationId xmlns:a16="http://schemas.microsoft.com/office/drawing/2014/main" id="{DFDA56C5-4A30-0D44-BCB6-A1DFCF59F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20605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0776" name="Oval 8">
            <a:extLst>
              <a:ext uri="{FF2B5EF4-FFF2-40B4-BE49-F238E27FC236}">
                <a16:creationId xmlns:a16="http://schemas.microsoft.com/office/drawing/2014/main" id="{938C964F-D112-A745-8B82-D1208288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297497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60777" name="Line 9">
            <a:extLst>
              <a:ext uri="{FF2B5EF4-FFF2-40B4-BE49-F238E27FC236}">
                <a16:creationId xmlns:a16="http://schemas.microsoft.com/office/drawing/2014/main" id="{B8706BC2-DEEA-D348-9323-E43D62E6D3A3}"/>
              </a:ext>
            </a:extLst>
          </p:cNvPr>
          <p:cNvSpPr>
            <a:spLocks noChangeShapeType="1"/>
          </p:cNvSpPr>
          <p:nvPr/>
        </p:nvSpPr>
        <p:spPr bwMode="auto">
          <a:xfrm>
            <a:off x="914400" y="3203575"/>
            <a:ext cx="1981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778" name="Line 10">
            <a:extLst>
              <a:ext uri="{FF2B5EF4-FFF2-40B4-BE49-F238E27FC236}">
                <a16:creationId xmlns:a16="http://schemas.microsoft.com/office/drawing/2014/main" id="{34597F52-7070-B744-A8F2-31952790A1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33600" y="4346575"/>
            <a:ext cx="838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779" name="Line 11">
            <a:extLst>
              <a:ext uri="{FF2B5EF4-FFF2-40B4-BE49-F238E27FC236}">
                <a16:creationId xmlns:a16="http://schemas.microsoft.com/office/drawing/2014/main" id="{CDB8071B-9A94-E549-8353-7DCEFACE3F45}"/>
              </a:ext>
            </a:extLst>
          </p:cNvPr>
          <p:cNvSpPr>
            <a:spLocks noChangeShapeType="1"/>
          </p:cNvSpPr>
          <p:nvPr/>
        </p:nvSpPr>
        <p:spPr bwMode="auto">
          <a:xfrm>
            <a:off x="914400" y="4346575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780" name="Line 12">
            <a:extLst>
              <a:ext uri="{FF2B5EF4-FFF2-40B4-BE49-F238E27FC236}">
                <a16:creationId xmlns:a16="http://schemas.microsoft.com/office/drawing/2014/main" id="{28D97BF8-9341-0349-AC6D-53D14C8E87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00" y="3279775"/>
            <a:ext cx="10668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781" name="Line 13">
            <a:extLst>
              <a:ext uri="{FF2B5EF4-FFF2-40B4-BE49-F238E27FC236}">
                <a16:creationId xmlns:a16="http://schemas.microsoft.com/office/drawing/2014/main" id="{7B301A3D-4F67-B04F-B7FE-560E65097A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14400" y="2365375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782" name="WordArt 14">
            <a:extLst>
              <a:ext uri="{FF2B5EF4-FFF2-40B4-BE49-F238E27FC236}">
                <a16:creationId xmlns:a16="http://schemas.microsoft.com/office/drawing/2014/main" id="{B510BA57-D951-4646-A4C1-B5644E43B3DA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2376635">
            <a:off x="914400" y="2517775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US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100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60783" name="Line 15">
            <a:extLst>
              <a:ext uri="{FF2B5EF4-FFF2-40B4-BE49-F238E27FC236}">
                <a16:creationId xmlns:a16="http://schemas.microsoft.com/office/drawing/2014/main" id="{70FB6823-3C4E-1D42-9F78-101E4FB8EB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133600" y="2365375"/>
            <a:ext cx="762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784" name="Line 16">
            <a:extLst>
              <a:ext uri="{FF2B5EF4-FFF2-40B4-BE49-F238E27FC236}">
                <a16:creationId xmlns:a16="http://schemas.microsoft.com/office/drawing/2014/main" id="{07DB13BD-E032-1647-B754-7FFCDB52DDE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981200" y="2400300"/>
            <a:ext cx="990600" cy="1717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785" name="Line 17">
            <a:extLst>
              <a:ext uri="{FF2B5EF4-FFF2-40B4-BE49-F238E27FC236}">
                <a16:creationId xmlns:a16="http://schemas.microsoft.com/office/drawing/2014/main" id="{69B35C64-91E5-F04A-AAC6-652E94E33A62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8000" y="3355975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786" name="Text Box 18">
            <a:extLst>
              <a:ext uri="{FF2B5EF4-FFF2-40B4-BE49-F238E27FC236}">
                <a16:creationId xmlns:a16="http://schemas.microsoft.com/office/drawing/2014/main" id="{3F5D2994-0FBA-FA42-A004-24A37E7E08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575175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60787" name="Text Box 19">
            <a:extLst>
              <a:ext uri="{FF2B5EF4-FFF2-40B4-BE49-F238E27FC236}">
                <a16:creationId xmlns:a16="http://schemas.microsoft.com/office/drawing/2014/main" id="{9445246D-A87D-954E-8DB1-1A8C5FD58E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82257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30</a:t>
            </a:r>
          </a:p>
        </p:txBody>
      </p:sp>
      <p:sp>
        <p:nvSpPr>
          <p:cNvPr id="160788" name="Text Box 20">
            <a:extLst>
              <a:ext uri="{FF2B5EF4-FFF2-40B4-BE49-F238E27FC236}">
                <a16:creationId xmlns:a16="http://schemas.microsoft.com/office/drawing/2014/main" id="{20FB1F22-644D-CC40-A09B-879AB672FC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419417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50</a:t>
            </a:r>
          </a:p>
        </p:txBody>
      </p:sp>
      <p:sp>
        <p:nvSpPr>
          <p:cNvPr id="160789" name="Text Box 21">
            <a:extLst>
              <a:ext uri="{FF2B5EF4-FFF2-40B4-BE49-F238E27FC236}">
                <a16:creationId xmlns:a16="http://schemas.microsoft.com/office/drawing/2014/main" id="{DA048CD9-537D-2D46-9901-6721DF4920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373697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60790" name="Text Box 22">
            <a:extLst>
              <a:ext uri="{FF2B5EF4-FFF2-40B4-BE49-F238E27FC236}">
                <a16:creationId xmlns:a16="http://schemas.microsoft.com/office/drawing/2014/main" id="{3805BDE1-0A22-5649-91FA-14C1456749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343217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60791" name="Text Box 23">
            <a:extLst>
              <a:ext uri="{FF2B5EF4-FFF2-40B4-BE49-F238E27FC236}">
                <a16:creationId xmlns:a16="http://schemas.microsoft.com/office/drawing/2014/main" id="{B98831A2-0554-5545-9475-446466CE9B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28917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60</a:t>
            </a:r>
          </a:p>
        </p:txBody>
      </p:sp>
      <p:graphicFrame>
        <p:nvGraphicFramePr>
          <p:cNvPr id="277570" name="Group 66">
            <a:extLst>
              <a:ext uri="{FF2B5EF4-FFF2-40B4-BE49-F238E27FC236}">
                <a16:creationId xmlns:a16="http://schemas.microsoft.com/office/drawing/2014/main" id="{8BE59B0E-0217-074F-B45E-49443B9C9A4C}"/>
              </a:ext>
            </a:extLst>
          </p:cNvPr>
          <p:cNvGraphicFramePr>
            <a:graphicFrameLocks noGrp="1"/>
          </p:cNvGraphicFramePr>
          <p:nvPr/>
        </p:nvGraphicFramePr>
        <p:xfrm>
          <a:off x="3608388" y="1916113"/>
          <a:ext cx="5356225" cy="3775711"/>
        </p:xfrm>
        <a:graphic>
          <a:graphicData uri="http://schemas.openxmlformats.org/drawingml/2006/table">
            <a:tbl>
              <a:tblPr/>
              <a:tblGrid>
                <a:gridCol w="9350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21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129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16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2706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始点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终点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最短路径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路径长度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30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无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096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v2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v0,v2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96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v3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v0,v4,v3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33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v4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v0,v4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3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v5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v0,v4,v3,v5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60820" name="Text Box 64">
            <a:extLst>
              <a:ext uri="{FF2B5EF4-FFF2-40B4-BE49-F238E27FC236}">
                <a16:creationId xmlns:a16="http://schemas.microsoft.com/office/drawing/2014/main" id="{C699086E-4786-C247-910A-A248242896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343217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BA709365-4BB3-2D05-8B89-B46F9489C36F}"/>
              </a:ext>
            </a:extLst>
          </p:cNvPr>
          <p:cNvSpPr txBox="1"/>
          <p:nvPr/>
        </p:nvSpPr>
        <p:spPr>
          <a:xfrm>
            <a:off x="3608388" y="5547669"/>
            <a:ext cx="50292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/>
              <a:t>有无求最短路径的思路？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灯片编号占位符 1">
            <a:extLst>
              <a:ext uri="{FF2B5EF4-FFF2-40B4-BE49-F238E27FC236}">
                <a16:creationId xmlns:a16="http://schemas.microsoft.com/office/drawing/2014/main" id="{1B622067-9D10-2647-860D-7750487F304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18588A3-2384-1149-9AD7-974BCEE2C68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85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45" name="Oval 5">
            <a:extLst>
              <a:ext uri="{FF2B5EF4-FFF2-40B4-BE49-F238E27FC236}">
                <a16:creationId xmlns:a16="http://schemas.microsoft.com/office/drawing/2014/main" id="{0CD9D3A9-E9CB-2449-A44E-3D26BB13D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1450" y="29765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k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46" name="Oval 8">
            <a:extLst>
              <a:ext uri="{FF2B5EF4-FFF2-40B4-BE49-F238E27FC236}">
                <a16:creationId xmlns:a16="http://schemas.microsoft.com/office/drawing/2014/main" id="{12E2229A-EB47-794D-9074-936D1E4C7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1450" y="190976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j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47" name="Line 9">
            <a:extLst>
              <a:ext uri="{FF2B5EF4-FFF2-40B4-BE49-F238E27FC236}">
                <a16:creationId xmlns:a16="http://schemas.microsoft.com/office/drawing/2014/main" id="{9463F78C-15A7-4348-9391-67705D50853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0250" y="2138363"/>
            <a:ext cx="1981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Text Box 19">
            <a:extLst>
              <a:ext uri="{FF2B5EF4-FFF2-40B4-BE49-F238E27FC236}">
                <a16:creationId xmlns:a16="http://schemas.microsoft.com/office/drawing/2014/main" id="{AD353A5B-DD1D-9F45-AD0B-C6C0DCA76B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6375" y="1679575"/>
            <a:ext cx="609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0j</a:t>
            </a:r>
          </a:p>
        </p:txBody>
      </p:sp>
      <p:sp>
        <p:nvSpPr>
          <p:cNvPr id="164870" name="Text Box 24">
            <a:extLst>
              <a:ext uri="{FF2B5EF4-FFF2-40B4-BE49-F238E27FC236}">
                <a16:creationId xmlns:a16="http://schemas.microsoft.com/office/drawing/2014/main" id="{CC866C36-7ABE-C444-A452-3BE2F98060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520" y="612775"/>
            <a:ext cx="44275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Dijkstra</a:t>
            </a:r>
            <a:r>
              <a:rPr kumimoji="0" lang="zh-CN" altLang="en-US" sz="2800">
                <a:latin typeface="宋体" panose="02010600030101010101" pitchFamily="2" charset="-122"/>
              </a:rPr>
              <a:t>路径长度递增法：</a:t>
            </a:r>
          </a:p>
        </p:txBody>
      </p:sp>
      <p:sp>
        <p:nvSpPr>
          <p:cNvPr id="50" name="Oval 4">
            <a:extLst>
              <a:ext uri="{FF2B5EF4-FFF2-40B4-BE49-F238E27FC236}">
                <a16:creationId xmlns:a16="http://schemas.microsoft.com/office/drawing/2014/main" id="{7AF20CF3-D101-444A-BA1B-67C6645AD4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6550" y="1895475"/>
            <a:ext cx="381000" cy="381000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1" name="Text Box 19">
            <a:extLst>
              <a:ext uri="{FF2B5EF4-FFF2-40B4-BE49-F238E27FC236}">
                <a16:creationId xmlns:a16="http://schemas.microsoft.com/office/drawing/2014/main" id="{34655811-AA04-EE46-9820-0A45F44F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9575" y="2370138"/>
            <a:ext cx="609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jk</a:t>
            </a:r>
          </a:p>
        </p:txBody>
      </p:sp>
      <p:sp>
        <p:nvSpPr>
          <p:cNvPr id="52" name="Text Box 19">
            <a:extLst>
              <a:ext uri="{FF2B5EF4-FFF2-40B4-BE49-F238E27FC236}">
                <a16:creationId xmlns:a16="http://schemas.microsoft.com/office/drawing/2014/main" id="{B3A5FFEE-3251-C242-8268-A0A21B62F3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73813" y="2586038"/>
            <a:ext cx="609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0k</a:t>
            </a:r>
          </a:p>
        </p:txBody>
      </p:sp>
      <p:sp>
        <p:nvSpPr>
          <p:cNvPr id="53" name="Line 9">
            <a:extLst>
              <a:ext uri="{FF2B5EF4-FFF2-40B4-BE49-F238E27FC236}">
                <a16:creationId xmlns:a16="http://schemas.microsoft.com/office/drawing/2014/main" id="{CB735DA4-1D63-D946-B2FF-2E6D0D549C0A}"/>
              </a:ext>
            </a:extLst>
          </p:cNvPr>
          <p:cNvSpPr>
            <a:spLocks noChangeShapeType="1"/>
          </p:cNvSpPr>
          <p:nvPr/>
        </p:nvSpPr>
        <p:spPr bwMode="auto">
          <a:xfrm>
            <a:off x="5826125" y="2133600"/>
            <a:ext cx="19812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Line 17">
            <a:extLst>
              <a:ext uri="{FF2B5EF4-FFF2-40B4-BE49-F238E27FC236}">
                <a16:creationId xmlns:a16="http://schemas.microsoft.com/office/drawing/2014/main" id="{57A66083-50E1-614B-B6CF-CE5111046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475" y="2305050"/>
            <a:ext cx="0" cy="685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Line 12">
            <a:extLst>
              <a:ext uri="{FF2B5EF4-FFF2-40B4-BE49-F238E27FC236}">
                <a16:creationId xmlns:a16="http://schemas.microsoft.com/office/drawing/2014/main" id="{8CDD6B3B-141B-274A-B533-EF67F8F80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8813" y="2205038"/>
            <a:ext cx="2079625" cy="904875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877" name="TextBox 49">
            <a:extLst>
              <a:ext uri="{FF2B5EF4-FFF2-40B4-BE49-F238E27FC236}">
                <a16:creationId xmlns:a16="http://schemas.microsoft.com/office/drawing/2014/main" id="{9E589B27-C565-A54F-AB0F-1A58BA518C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675" y="1412875"/>
            <a:ext cx="4319588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>
                <a:latin typeface="Times New Roman" panose="02020603050405020304" pitchFamily="18" charset="0"/>
              </a:rPr>
              <a:t>如果</a:t>
            </a:r>
            <a:r>
              <a:rPr lang="en-US" altLang="zh-CN" sz="2400" dirty="0">
                <a:latin typeface="Times New Roman" panose="02020603050405020304" pitchFamily="18" charset="0"/>
              </a:rPr>
              <a:t>j</a:t>
            </a:r>
            <a:r>
              <a:rPr lang="zh-CN" altLang="en-US" sz="2400" dirty="0">
                <a:latin typeface="Times New Roman" panose="02020603050405020304" pitchFamily="18" charset="0"/>
              </a:rPr>
              <a:t>满足：</a:t>
            </a:r>
            <a:endParaRPr lang="en-US" altLang="zh-CN" sz="24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Times New Roman" panose="02020603050405020304" pitchFamily="18" charset="0"/>
              </a:rPr>
              <a:t>    D[0][j]=min{D[0][</a:t>
            </a:r>
            <a:r>
              <a:rPr lang="en-US" altLang="zh-CN" sz="2400" dirty="0" err="1">
                <a:latin typeface="Times New Roman" panose="02020603050405020304" pitchFamily="18" charset="0"/>
              </a:rPr>
              <a:t>i</a:t>
            </a:r>
            <a:r>
              <a:rPr lang="en-US" altLang="zh-CN" sz="2400" dirty="0">
                <a:latin typeface="Times New Roman" panose="02020603050405020304" pitchFamily="18" charset="0"/>
              </a:rPr>
              <a:t>] | v</a:t>
            </a:r>
            <a:r>
              <a:rPr lang="en-US" altLang="zh-CN" sz="2400" baseline="-25000" dirty="0">
                <a:latin typeface="Times New Roman" panose="02020603050405020304" pitchFamily="18" charset="0"/>
              </a:rPr>
              <a:t>i</a:t>
            </a:r>
            <a:r>
              <a:rPr lang="zh-CN" altLang="zh-CN" sz="2400" dirty="0">
                <a:latin typeface="Times New Roman" panose="02020603050405020304" pitchFamily="18" charset="0"/>
              </a:rPr>
              <a:t>属于</a:t>
            </a:r>
            <a:r>
              <a:rPr lang="en-US" altLang="zh-CN" sz="2400" dirty="0">
                <a:latin typeface="Times New Roman" panose="02020603050405020304" pitchFamily="18" charset="0"/>
              </a:rPr>
              <a:t>V}</a:t>
            </a:r>
            <a:endParaRPr lang="zh-CN" altLang="zh-CN" sz="2400" dirty="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>
                <a:latin typeface="Times New Roman" panose="02020603050405020304" pitchFamily="18" charset="0"/>
              </a:rPr>
              <a:t>则路径（</a:t>
            </a:r>
            <a:r>
              <a:rPr lang="en-US" altLang="zh-CN" sz="2400" dirty="0">
                <a:latin typeface="Times New Roman" panose="02020603050405020304" pitchFamily="18" charset="0"/>
              </a:rPr>
              <a:t> v</a:t>
            </a:r>
            <a:r>
              <a:rPr lang="en-US" altLang="zh-CN" sz="2400" baseline="-25000" dirty="0">
                <a:latin typeface="Times New Roman" panose="02020603050405020304" pitchFamily="18" charset="0"/>
              </a:rPr>
              <a:t>0 </a:t>
            </a:r>
            <a:r>
              <a:rPr lang="en-US" altLang="zh-CN" sz="2400" dirty="0">
                <a:latin typeface="Times New Roman" panose="02020603050405020304" pitchFamily="18" charset="0"/>
              </a:rPr>
              <a:t>, </a:t>
            </a:r>
            <a:r>
              <a:rPr lang="en-US" altLang="zh-CN" sz="2400" dirty="0" err="1">
                <a:latin typeface="Times New Roman" panose="02020603050405020304" pitchFamily="18" charset="0"/>
              </a:rPr>
              <a:t>v</a:t>
            </a:r>
            <a:r>
              <a:rPr lang="en-US" altLang="zh-CN" sz="2400" baseline="-25000" dirty="0" err="1">
                <a:latin typeface="Times New Roman" panose="02020603050405020304" pitchFamily="18" charset="0"/>
              </a:rPr>
              <a:t>j</a:t>
            </a:r>
            <a:r>
              <a:rPr lang="zh-CN" altLang="en-US" sz="2400" dirty="0">
                <a:latin typeface="Times New Roman" panose="02020603050405020304" pitchFamily="18" charset="0"/>
              </a:rPr>
              <a:t>）是</a:t>
            </a:r>
            <a:r>
              <a:rPr lang="zh-CN" altLang="zh-CN" sz="2400" dirty="0">
                <a:latin typeface="Times New Roman" panose="02020603050405020304" pitchFamily="18" charset="0"/>
              </a:rPr>
              <a:t>由</a:t>
            </a:r>
            <a:r>
              <a:rPr lang="en-US" altLang="zh-CN" sz="2400" dirty="0">
                <a:latin typeface="Times New Roman" panose="02020603050405020304" pitchFamily="18" charset="0"/>
              </a:rPr>
              <a:t>v</a:t>
            </a:r>
            <a:r>
              <a:rPr lang="en-US" altLang="zh-CN" sz="2400" baseline="-25000" dirty="0">
                <a:latin typeface="Times New Roman" panose="02020603050405020304" pitchFamily="18" charset="0"/>
              </a:rPr>
              <a:t>0</a:t>
            </a:r>
            <a:r>
              <a:rPr lang="zh-CN" altLang="zh-CN" sz="2400" dirty="0">
                <a:latin typeface="Times New Roman" panose="02020603050405020304" pitchFamily="18" charset="0"/>
              </a:rPr>
              <a:t>出发的长度最短的一条最短路径。</a:t>
            </a:r>
            <a:endParaRPr lang="zh-CN" altLang="en-US" sz="2400" dirty="0">
              <a:latin typeface="Times New Roman" panose="02020603050405020304" pitchFamily="18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EEED3CCA-4A7A-BD49-A465-D5F00BCC29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213" y="3370139"/>
            <a:ext cx="74882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dirty="0">
                <a:latin typeface="Times New Roman" panose="02020603050405020304" pitchFamily="18" charset="0"/>
              </a:rPr>
              <a:t>        此时</a:t>
            </a:r>
            <a:r>
              <a:rPr lang="en-US" altLang="zh-CN" sz="2400" dirty="0">
                <a:latin typeface="Times New Roman" panose="02020603050405020304" pitchFamily="18" charset="0"/>
              </a:rPr>
              <a:t>v</a:t>
            </a:r>
            <a:r>
              <a:rPr lang="en-US" altLang="zh-CN" sz="2400" baseline="-25000" dirty="0">
                <a:latin typeface="Times New Roman" panose="02020603050405020304" pitchFamily="18" charset="0"/>
              </a:rPr>
              <a:t>0</a:t>
            </a:r>
            <a:r>
              <a:rPr lang="zh-CN" altLang="en-US" sz="2400" dirty="0">
                <a:latin typeface="Times New Roman" panose="02020603050405020304" pitchFamily="18" charset="0"/>
              </a:rPr>
              <a:t>到其余顶点</a:t>
            </a:r>
            <a:r>
              <a:rPr lang="en-US" altLang="zh-CN" sz="2400" dirty="0" err="1">
                <a:latin typeface="Times New Roman" panose="02020603050405020304" pitchFamily="18" charset="0"/>
              </a:rPr>
              <a:t>v</a:t>
            </a:r>
            <a:r>
              <a:rPr lang="en-US" altLang="zh-CN" sz="2400" baseline="-25000" dirty="0" err="1">
                <a:latin typeface="Times New Roman" panose="02020603050405020304" pitchFamily="18" charset="0"/>
              </a:rPr>
              <a:t>k</a:t>
            </a:r>
            <a:r>
              <a:rPr lang="zh-CN" altLang="en-US" sz="2400" dirty="0">
                <a:latin typeface="Times New Roman" panose="02020603050405020304" pitchFamily="18" charset="0"/>
              </a:rPr>
              <a:t>的路径长度可以更新为</a:t>
            </a:r>
            <a:r>
              <a:rPr lang="en-US" altLang="zh-CN" sz="2400" dirty="0">
                <a:latin typeface="Times New Roman" panose="02020603050405020304" pitchFamily="18" charset="0"/>
              </a:rPr>
              <a:t>l</a:t>
            </a:r>
            <a:r>
              <a:rPr lang="en-US" altLang="zh-CN" sz="2400" baseline="-25000" dirty="0">
                <a:latin typeface="Times New Roman" panose="02020603050405020304" pitchFamily="18" charset="0"/>
              </a:rPr>
              <a:t>0k</a:t>
            </a:r>
            <a:r>
              <a:rPr lang="en-US" altLang="zh-CN" sz="2400" dirty="0">
                <a:latin typeface="Times New Roman" panose="02020603050405020304" pitchFamily="18" charset="0"/>
              </a:rPr>
              <a:t> =min{a</a:t>
            </a:r>
            <a:r>
              <a:rPr lang="en-US" altLang="zh-CN" sz="2400" baseline="-25000" dirty="0">
                <a:latin typeface="Times New Roman" panose="02020603050405020304" pitchFamily="18" charset="0"/>
              </a:rPr>
              <a:t>0k</a:t>
            </a:r>
            <a:r>
              <a:rPr lang="en-US" altLang="zh-CN" sz="2400" dirty="0">
                <a:latin typeface="Times New Roman" panose="02020603050405020304" pitchFamily="18" charset="0"/>
              </a:rPr>
              <a:t>, a</a:t>
            </a:r>
            <a:r>
              <a:rPr lang="en-US" altLang="zh-CN" sz="2400" baseline="-25000" dirty="0">
                <a:latin typeface="Times New Roman" panose="02020603050405020304" pitchFamily="18" charset="0"/>
              </a:rPr>
              <a:t>0j</a:t>
            </a:r>
            <a:r>
              <a:rPr lang="en-US" altLang="zh-CN" sz="2400" dirty="0">
                <a:latin typeface="Times New Roman" panose="02020603050405020304" pitchFamily="18" charset="0"/>
              </a:rPr>
              <a:t>+a</a:t>
            </a:r>
            <a:r>
              <a:rPr lang="en-US" altLang="zh-CN" sz="2400" baseline="-25000" dirty="0">
                <a:latin typeface="Times New Roman" panose="02020603050405020304" pitchFamily="18" charset="0"/>
              </a:rPr>
              <a:t>jk</a:t>
            </a:r>
            <a:r>
              <a:rPr lang="en-US" altLang="zh-CN" sz="2400" dirty="0">
                <a:latin typeface="Times New Roman" panose="02020603050405020304" pitchFamily="18" charset="0"/>
              </a:rPr>
              <a:t>}</a:t>
            </a:r>
            <a:r>
              <a:rPr lang="zh-CN" altLang="en-US" sz="2400" dirty="0">
                <a:latin typeface="Times New Roman" panose="02020603050405020304" pitchFamily="18" charset="0"/>
              </a:rPr>
              <a:t>。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E36FD536-D2CC-6596-00D1-0897F19415AF}"/>
              </a:ext>
            </a:extLst>
          </p:cNvPr>
          <p:cNvSpPr txBox="1"/>
          <p:nvPr/>
        </p:nvSpPr>
        <p:spPr>
          <a:xfrm>
            <a:off x="1937693" y="4385617"/>
            <a:ext cx="77768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+mn-ea"/>
                <a:ea typeface="+mn-ea"/>
              </a:rPr>
              <a:t>可以确定</a:t>
            </a:r>
            <a:r>
              <a:rPr kumimoji="1" lang="zh-CN" altLang="en-US" dirty="0">
                <a:latin typeface="+mn-ea"/>
                <a:ea typeface="+mn-ea"/>
              </a:rPr>
              <a:t>最短路径（</a:t>
            </a:r>
            <a:r>
              <a:rPr kumimoji="1" lang="en-US" altLang="zh-CN" dirty="0">
                <a:latin typeface="+mn-ea"/>
                <a:ea typeface="+mn-ea"/>
              </a:rPr>
              <a:t>v</a:t>
            </a:r>
            <a:r>
              <a:rPr kumimoji="1" lang="en-US" altLang="zh-CN" baseline="-25000" dirty="0">
                <a:latin typeface="+mn-ea"/>
                <a:ea typeface="+mn-ea"/>
              </a:rPr>
              <a:t>0</a:t>
            </a:r>
            <a:r>
              <a:rPr kumimoji="1" lang="en-US" altLang="zh-CN" dirty="0">
                <a:latin typeface="+mn-ea"/>
                <a:ea typeface="+mn-ea"/>
              </a:rPr>
              <a:t>,v</a:t>
            </a:r>
            <a:r>
              <a:rPr kumimoji="1" lang="en-US" altLang="zh-CN" baseline="-25000" dirty="0">
                <a:latin typeface="+mn-ea"/>
                <a:ea typeface="+mn-ea"/>
              </a:rPr>
              <a:t>k</a:t>
            </a:r>
            <a:r>
              <a:rPr kumimoji="1" lang="zh-CN" altLang="en-US" dirty="0">
                <a:latin typeface="+mn-ea"/>
                <a:ea typeface="+mn-ea"/>
              </a:rPr>
              <a:t>）</a:t>
            </a:r>
            <a:r>
              <a:rPr kumimoji="1" lang="en-US" altLang="zh-CN" dirty="0">
                <a:latin typeface="+mn-ea"/>
                <a:ea typeface="+mn-ea"/>
              </a:rPr>
              <a:t>=min</a:t>
            </a:r>
            <a:r>
              <a:rPr kumimoji="1" lang="en-US" altLang="zh-CN" baseline="-25000" dirty="0">
                <a:latin typeface="+mn-ea"/>
                <a:ea typeface="+mn-ea"/>
              </a:rPr>
              <a:t>k</a:t>
            </a:r>
            <a:r>
              <a:rPr kumimoji="1" lang="en-US" altLang="zh-CN" dirty="0">
                <a:latin typeface="+mn-ea"/>
                <a:ea typeface="+mn-ea"/>
              </a:rPr>
              <a:t> l</a:t>
            </a:r>
            <a:r>
              <a:rPr kumimoji="1" lang="en-US" altLang="zh-CN" baseline="-25000" dirty="0">
                <a:latin typeface="+mn-ea"/>
                <a:ea typeface="+mn-ea"/>
              </a:rPr>
              <a:t>0k</a:t>
            </a:r>
            <a:endParaRPr kumimoji="1" lang="zh-CN" altLang="en-US" baseline="-25000" dirty="0">
              <a:latin typeface="+mn-ea"/>
              <a:ea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8" grpId="0"/>
      <p:bldP spid="50" grpId="0" animBg="1"/>
      <p:bldP spid="51" grpId="0"/>
      <p:bldP spid="52" grpId="0"/>
      <p:bldP spid="57" grpId="0"/>
      <p:bldP spid="57" grpId="1"/>
      <p:bldP spid="2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3" name="灯片编号占位符 1">
            <a:extLst>
              <a:ext uri="{FF2B5EF4-FFF2-40B4-BE49-F238E27FC236}">
                <a16:creationId xmlns:a16="http://schemas.microsoft.com/office/drawing/2014/main" id="{D6D6A449-BB10-054A-A9C5-75BF4842A87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D978E62-51F5-1E44-AF3A-A17934814A5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86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51" name="Oval 8">
            <a:extLst>
              <a:ext uri="{FF2B5EF4-FFF2-40B4-BE49-F238E27FC236}">
                <a16:creationId xmlns:a16="http://schemas.microsoft.com/office/drawing/2014/main" id="{F3D9C12E-D910-7343-922A-3F3138B4D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9788" y="2551113"/>
            <a:ext cx="523875" cy="446087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i1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52" name="Text Box 19">
            <a:extLst>
              <a:ext uri="{FF2B5EF4-FFF2-40B4-BE49-F238E27FC236}">
                <a16:creationId xmlns:a16="http://schemas.microsoft.com/office/drawing/2014/main" id="{9899D09E-9E07-134F-B610-EA0829C8B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275" y="3213100"/>
            <a:ext cx="609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0k</a:t>
            </a:r>
          </a:p>
        </p:txBody>
      </p:sp>
      <p:sp>
        <p:nvSpPr>
          <p:cNvPr id="166916" name="Oval 4">
            <a:extLst>
              <a:ext uri="{FF2B5EF4-FFF2-40B4-BE49-F238E27FC236}">
                <a16:creationId xmlns:a16="http://schemas.microsoft.com/office/drawing/2014/main" id="{28FAF9F5-9869-2E4A-BD00-507A02C23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9175" y="2074863"/>
            <a:ext cx="381000" cy="381000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54" name="Text Box 19">
            <a:extLst>
              <a:ext uri="{FF2B5EF4-FFF2-40B4-BE49-F238E27FC236}">
                <a16:creationId xmlns:a16="http://schemas.microsoft.com/office/drawing/2014/main" id="{1688B807-8082-934C-945B-61C80267DB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7900" y="3284538"/>
            <a:ext cx="1512888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latin typeface="宋体" panose="02010600030101010101" pitchFamily="2" charset="-122"/>
              </a:rPr>
              <a:t>集合</a:t>
            </a:r>
            <a:r>
              <a:rPr kumimoji="0" lang="en-US" altLang="zh-CN" sz="2000">
                <a:latin typeface="宋体" panose="02010600030101010101" pitchFamily="2" charset="-122"/>
              </a:rPr>
              <a:t>S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latin typeface="宋体" panose="02010600030101010101" pitchFamily="2" charset="-122"/>
              </a:rPr>
              <a:t>(k-1</a:t>
            </a:r>
            <a:r>
              <a:rPr kumimoji="0" lang="zh-CN" altLang="en-US" sz="2000">
                <a:latin typeface="宋体" panose="02010600030101010101" pitchFamily="2" charset="-122"/>
              </a:rPr>
              <a:t>个顶点</a:t>
            </a:r>
            <a:r>
              <a:rPr kumimoji="0" lang="en-US" altLang="zh-CN" sz="2000">
                <a:latin typeface="宋体" panose="02010600030101010101" pitchFamily="2" charset="-122"/>
              </a:rPr>
              <a:t>)</a:t>
            </a:r>
            <a:endParaRPr kumimoji="0" lang="en-US" altLang="zh-CN" sz="2000" baseline="-25000">
              <a:latin typeface="宋体" panose="02010600030101010101" pitchFamily="2" charset="-122"/>
            </a:endParaRPr>
          </a:p>
        </p:txBody>
      </p:sp>
      <p:sp>
        <p:nvSpPr>
          <p:cNvPr id="55" name="Line 9">
            <a:extLst>
              <a:ext uri="{FF2B5EF4-FFF2-40B4-BE49-F238E27FC236}">
                <a16:creationId xmlns:a16="http://schemas.microsoft.com/office/drawing/2014/main" id="{42DFA619-2BEB-7049-A656-26C03FDB82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7313" y="2349500"/>
            <a:ext cx="1296987" cy="6477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Line 17">
            <a:extLst>
              <a:ext uri="{FF2B5EF4-FFF2-40B4-BE49-F238E27FC236}">
                <a16:creationId xmlns:a16="http://schemas.microsoft.com/office/drawing/2014/main" id="{397DA4DC-74A7-5445-9078-12A312B645D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16463" y="3429000"/>
            <a:ext cx="0" cy="685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6920" name="TextBox 49">
            <a:extLst>
              <a:ext uri="{FF2B5EF4-FFF2-40B4-BE49-F238E27FC236}">
                <a16:creationId xmlns:a16="http://schemas.microsoft.com/office/drawing/2014/main" id="{5B82633B-54BA-CE40-8049-AEC1597A65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675" y="765175"/>
            <a:ext cx="7669213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        </a:t>
            </a:r>
            <a:r>
              <a:rPr lang="zh-CN" altLang="zh-CN" sz="2400">
                <a:latin typeface="Times New Roman" panose="02020603050405020304" pitchFamily="18" charset="0"/>
              </a:rPr>
              <a:t>假设</a:t>
            </a:r>
            <a:r>
              <a:rPr lang="en-US" altLang="zh-CN" sz="2400">
                <a:latin typeface="Times New Roman" panose="02020603050405020304" pitchFamily="18" charset="0"/>
              </a:rPr>
              <a:t>S</a:t>
            </a:r>
            <a:r>
              <a:rPr lang="zh-CN" altLang="zh-CN" sz="2400">
                <a:latin typeface="Times New Roman" panose="02020603050405020304" pitchFamily="18" charset="0"/>
              </a:rPr>
              <a:t>为已经求得最短路径的终点的顶点集合，假定下一条最短路径的终点是</a:t>
            </a:r>
            <a:r>
              <a:rPr lang="en-US" altLang="zh-CN" sz="2400">
                <a:latin typeface="Times New Roman" panose="02020603050405020304" pitchFamily="18" charset="0"/>
              </a:rPr>
              <a:t>v</a:t>
            </a:r>
            <a:r>
              <a:rPr lang="en-US" altLang="zh-CN" sz="2400" baseline="-25000">
                <a:latin typeface="Times New Roman" panose="02020603050405020304" pitchFamily="18" charset="0"/>
              </a:rPr>
              <a:t>k</a:t>
            </a:r>
            <a:r>
              <a:rPr lang="zh-CN" altLang="zh-CN" sz="2400">
                <a:latin typeface="Times New Roman" panose="02020603050405020304" pitchFamily="18" charset="0"/>
              </a:rPr>
              <a:t>，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58" name="椭圆 57">
            <a:extLst>
              <a:ext uri="{FF2B5EF4-FFF2-40B4-BE49-F238E27FC236}">
                <a16:creationId xmlns:a16="http://schemas.microsoft.com/office/drawing/2014/main" id="{95C18B2D-5644-8A49-86B0-0D3AF52AA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8400" y="2205038"/>
            <a:ext cx="3384550" cy="3095625"/>
          </a:xfrm>
          <a:prstGeom prst="ellipse">
            <a:avLst/>
          </a:prstGeom>
          <a:noFill/>
          <a:ln w="9525" algn="ctr">
            <a:solidFill>
              <a:schemeClr val="tx1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59" name="Oval 8">
            <a:extLst>
              <a:ext uri="{FF2B5EF4-FFF2-40B4-BE49-F238E27FC236}">
                <a16:creationId xmlns:a16="http://schemas.microsoft.com/office/drawing/2014/main" id="{C4933B59-EE66-D24A-ABD2-B4BBF415F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1400" y="51577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k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60" name="Text Box 19">
            <a:extLst>
              <a:ext uri="{FF2B5EF4-FFF2-40B4-BE49-F238E27FC236}">
                <a16:creationId xmlns:a16="http://schemas.microsoft.com/office/drawing/2014/main" id="{201BAD8B-9598-4E42-913B-33F79F200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8800" y="4365625"/>
            <a:ext cx="6096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a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jk</a:t>
            </a:r>
          </a:p>
        </p:txBody>
      </p:sp>
      <p:sp>
        <p:nvSpPr>
          <p:cNvPr id="61" name="Line 17">
            <a:extLst>
              <a:ext uri="{FF2B5EF4-FFF2-40B4-BE49-F238E27FC236}">
                <a16:creationId xmlns:a16="http://schemas.microsoft.com/office/drawing/2014/main" id="{6DA55925-1093-5343-B101-7DDDCE753D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00338" y="4437063"/>
            <a:ext cx="1871662" cy="8636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Oval 8">
            <a:extLst>
              <a:ext uri="{FF2B5EF4-FFF2-40B4-BE49-F238E27FC236}">
                <a16:creationId xmlns:a16="http://schemas.microsoft.com/office/drawing/2014/main" id="{4526E034-E7D2-8344-B903-F79D3C409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2565400"/>
            <a:ext cx="525463" cy="4445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i2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63" name="Oval 8">
            <a:extLst>
              <a:ext uri="{FF2B5EF4-FFF2-40B4-BE49-F238E27FC236}">
                <a16:creationId xmlns:a16="http://schemas.microsoft.com/office/drawing/2014/main" id="{249859B6-C864-A84E-8CDE-827BEEA18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1363" y="4135438"/>
            <a:ext cx="525462" cy="446087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ij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64" name="Oval 8">
            <a:extLst>
              <a:ext uri="{FF2B5EF4-FFF2-40B4-BE49-F238E27FC236}">
                <a16:creationId xmlns:a16="http://schemas.microsoft.com/office/drawing/2014/main" id="{60A2B919-A5FA-9148-AF99-582152D69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1863" y="4076700"/>
            <a:ext cx="647700" cy="504825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ik-1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65" name="Text Box 19">
            <a:extLst>
              <a:ext uri="{FF2B5EF4-FFF2-40B4-BE49-F238E27FC236}">
                <a16:creationId xmlns:a16="http://schemas.microsoft.com/office/drawing/2014/main" id="{2B4A0675-53A3-BA4D-8788-BD7AA2785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3838" y="2886075"/>
            <a:ext cx="6096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……</a:t>
            </a:r>
            <a:endParaRPr kumimoji="0" lang="en-US" altLang="zh-CN" sz="2400" baseline="-25000">
              <a:latin typeface="宋体" panose="02010600030101010101" pitchFamily="2" charset="-122"/>
            </a:endParaRPr>
          </a:p>
        </p:txBody>
      </p:sp>
      <p:sp>
        <p:nvSpPr>
          <p:cNvPr id="66" name="Text Box 19">
            <a:extLst>
              <a:ext uri="{FF2B5EF4-FFF2-40B4-BE49-F238E27FC236}">
                <a16:creationId xmlns:a16="http://schemas.microsoft.com/office/drawing/2014/main" id="{F3A82ABB-477E-C046-AECD-D0F386FA1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7800" y="4406900"/>
            <a:ext cx="609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…</a:t>
            </a:r>
            <a:endParaRPr kumimoji="0" lang="en-US" altLang="zh-CN" sz="2400" baseline="-25000">
              <a:latin typeface="宋体" panose="02010600030101010101" pitchFamily="2" charset="-122"/>
            </a:endParaRPr>
          </a:p>
        </p:txBody>
      </p:sp>
      <p:sp>
        <p:nvSpPr>
          <p:cNvPr id="67" name="Line 12">
            <a:extLst>
              <a:ext uri="{FF2B5EF4-FFF2-40B4-BE49-F238E27FC236}">
                <a16:creationId xmlns:a16="http://schemas.microsoft.com/office/drawing/2014/main" id="{EE820E19-B64F-0D42-BEFA-1C84607AF095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438" y="2492375"/>
            <a:ext cx="0" cy="2665413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0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5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52" grpId="0"/>
      <p:bldP spid="54" grpId="0"/>
      <p:bldP spid="58" grpId="0" animBg="1"/>
      <p:bldP spid="59" grpId="0" animBg="1"/>
      <p:bldP spid="60" grpId="0"/>
      <p:bldP spid="62" grpId="0" animBg="1"/>
      <p:bldP spid="63" grpId="0" animBg="1"/>
      <p:bldP spid="64" grpId="0" animBg="1"/>
      <p:bldP spid="65" grpId="0"/>
      <p:bldP spid="66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灯片编号占位符 1">
            <a:extLst>
              <a:ext uri="{FF2B5EF4-FFF2-40B4-BE49-F238E27FC236}">
                <a16:creationId xmlns:a16="http://schemas.microsoft.com/office/drawing/2014/main" id="{DB7C7FB0-00CC-0540-BAB4-AA644B65CDC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FE4369A-AA7D-8E4A-80C8-A3669BB15E37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87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graphicFrame>
        <p:nvGraphicFramePr>
          <p:cNvPr id="43" name="Group 62">
            <a:extLst>
              <a:ext uri="{FF2B5EF4-FFF2-40B4-BE49-F238E27FC236}">
                <a16:creationId xmlns:a16="http://schemas.microsoft.com/office/drawing/2014/main" id="{DBBDAED9-8B39-3140-A11C-F687B08D013C}"/>
              </a:ext>
            </a:extLst>
          </p:cNvPr>
          <p:cNvGraphicFramePr>
            <a:graphicFrameLocks noGrp="1"/>
          </p:cNvGraphicFramePr>
          <p:nvPr/>
        </p:nvGraphicFramePr>
        <p:xfrm>
          <a:off x="4500563" y="4570413"/>
          <a:ext cx="3979860" cy="457200"/>
        </p:xfrm>
        <a:graphic>
          <a:graphicData uri="http://schemas.openxmlformats.org/drawingml/2006/table">
            <a:tbl>
              <a:tblPr/>
              <a:tblGrid>
                <a:gridCol w="6633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33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33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33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633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633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marL="91447" marR="9144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marL="91447" marR="914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10</a:t>
                      </a:r>
                    </a:p>
                  </a:txBody>
                  <a:tcPr marL="91447" marR="914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marL="91447" marR="914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30</a:t>
                      </a:r>
                    </a:p>
                  </a:txBody>
                  <a:tcPr marL="91447" marR="914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100</a:t>
                      </a:r>
                    </a:p>
                  </a:txBody>
                  <a:tcPr marL="91447" marR="914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4" name="Group 65">
            <a:extLst>
              <a:ext uri="{FF2B5EF4-FFF2-40B4-BE49-F238E27FC236}">
                <a16:creationId xmlns:a16="http://schemas.microsoft.com/office/drawing/2014/main" id="{00CFD7D0-B821-104E-AF92-60A794A67E67}"/>
              </a:ext>
            </a:extLst>
          </p:cNvPr>
          <p:cNvGraphicFramePr>
            <a:graphicFrameLocks noGrp="1"/>
          </p:cNvGraphicFramePr>
          <p:nvPr/>
        </p:nvGraphicFramePr>
        <p:xfrm>
          <a:off x="4500563" y="5114925"/>
          <a:ext cx="4051302" cy="457200"/>
        </p:xfrm>
        <a:graphic>
          <a:graphicData uri="http://schemas.openxmlformats.org/drawingml/2006/table">
            <a:tbl>
              <a:tblPr/>
              <a:tblGrid>
                <a:gridCol w="6752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7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7" name="Group 62">
            <a:extLst>
              <a:ext uri="{FF2B5EF4-FFF2-40B4-BE49-F238E27FC236}">
                <a16:creationId xmlns:a16="http://schemas.microsoft.com/office/drawing/2014/main" id="{3EF34DF6-1921-C948-B65A-FB60ACEB195E}"/>
              </a:ext>
            </a:extLst>
          </p:cNvPr>
          <p:cNvGraphicFramePr>
            <a:graphicFrameLocks noGrp="1"/>
          </p:cNvGraphicFramePr>
          <p:nvPr/>
        </p:nvGraphicFramePr>
        <p:xfrm>
          <a:off x="4500563" y="5635625"/>
          <a:ext cx="4051300" cy="457200"/>
        </p:xfrm>
        <a:graphic>
          <a:graphicData uri="http://schemas.openxmlformats.org/drawingml/2006/table">
            <a:tbl>
              <a:tblPr/>
              <a:tblGrid>
                <a:gridCol w="6746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46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46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46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9010" name="Oval 3">
            <a:extLst>
              <a:ext uri="{FF2B5EF4-FFF2-40B4-BE49-F238E27FC236}">
                <a16:creationId xmlns:a16="http://schemas.microsoft.com/office/drawing/2014/main" id="{FCF0EE16-356E-DA4B-877E-6ECF5B4AE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4214813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69011" name="Oval 5">
            <a:extLst>
              <a:ext uri="{FF2B5EF4-FFF2-40B4-BE49-F238E27FC236}">
                <a16:creationId xmlns:a16="http://schemas.microsoft.com/office/drawing/2014/main" id="{C78C015E-51C1-A745-A76A-F3D96D4FD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69012" name="Oval 6">
            <a:extLst>
              <a:ext uri="{FF2B5EF4-FFF2-40B4-BE49-F238E27FC236}">
                <a16:creationId xmlns:a16="http://schemas.microsoft.com/office/drawing/2014/main" id="{905B275B-4094-6046-8A9F-F4B15620D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2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69013" name="Oval 7">
            <a:extLst>
              <a:ext uri="{FF2B5EF4-FFF2-40B4-BE49-F238E27FC236}">
                <a16:creationId xmlns:a16="http://schemas.microsoft.com/office/drawing/2014/main" id="{2401A633-D122-8B4E-B07D-3E4788CB5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1303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69014" name="Oval 8">
            <a:extLst>
              <a:ext uri="{FF2B5EF4-FFF2-40B4-BE49-F238E27FC236}">
                <a16:creationId xmlns:a16="http://schemas.microsoft.com/office/drawing/2014/main" id="{C9C4242E-A9D2-8A4E-BF52-9C0818A81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22177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69015" name="Line 9">
            <a:extLst>
              <a:ext uri="{FF2B5EF4-FFF2-40B4-BE49-F238E27FC236}">
                <a16:creationId xmlns:a16="http://schemas.microsoft.com/office/drawing/2014/main" id="{39F2803E-F2D7-7B48-8084-4543959B2DD4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2446338"/>
            <a:ext cx="1981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9016" name="Line 10">
            <a:extLst>
              <a:ext uri="{FF2B5EF4-FFF2-40B4-BE49-F238E27FC236}">
                <a16:creationId xmlns:a16="http://schemas.microsoft.com/office/drawing/2014/main" id="{15681619-6E7E-EE4C-8BF3-030AEE19E5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76475" y="3589338"/>
            <a:ext cx="838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9017" name="Line 11">
            <a:extLst>
              <a:ext uri="{FF2B5EF4-FFF2-40B4-BE49-F238E27FC236}">
                <a16:creationId xmlns:a16="http://schemas.microsoft.com/office/drawing/2014/main" id="{67C5F6BF-6461-CD44-BEB8-66D1916DCA1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35893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9018" name="Line 12">
            <a:extLst>
              <a:ext uri="{FF2B5EF4-FFF2-40B4-BE49-F238E27FC236}">
                <a16:creationId xmlns:a16="http://schemas.microsoft.com/office/drawing/2014/main" id="{25E2FCEE-F6A2-5A4B-AEDA-D52512985D12}"/>
              </a:ext>
            </a:extLst>
          </p:cNvPr>
          <p:cNvSpPr>
            <a:spLocks noChangeShapeType="1"/>
          </p:cNvSpPr>
          <p:nvPr/>
        </p:nvSpPr>
        <p:spPr bwMode="auto">
          <a:xfrm>
            <a:off x="981075" y="2522538"/>
            <a:ext cx="10668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9019" name="Line 13">
            <a:extLst>
              <a:ext uri="{FF2B5EF4-FFF2-40B4-BE49-F238E27FC236}">
                <a16:creationId xmlns:a16="http://schemas.microsoft.com/office/drawing/2014/main" id="{B5B5FEF0-733B-BE4A-9186-E085D2BDC4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57275" y="16081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9020" name="WordArt 14">
            <a:extLst>
              <a:ext uri="{FF2B5EF4-FFF2-40B4-BE49-F238E27FC236}">
                <a16:creationId xmlns:a16="http://schemas.microsoft.com/office/drawing/2014/main" id="{00DB3CC6-EAC5-7648-93D2-5CE4AF430E59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2376635">
            <a:off x="1057275" y="1760538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US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100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69021" name="Line 15">
            <a:extLst>
              <a:ext uri="{FF2B5EF4-FFF2-40B4-BE49-F238E27FC236}">
                <a16:creationId xmlns:a16="http://schemas.microsoft.com/office/drawing/2014/main" id="{BDC4CF87-ADFD-5F40-8800-75574DF6829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76475" y="1608138"/>
            <a:ext cx="762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9022" name="Line 16">
            <a:extLst>
              <a:ext uri="{FF2B5EF4-FFF2-40B4-BE49-F238E27FC236}">
                <a16:creationId xmlns:a16="http://schemas.microsoft.com/office/drawing/2014/main" id="{C7E3239D-4942-234D-ACC2-8100E72E85A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047875" y="1608138"/>
            <a:ext cx="10668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9023" name="Line 17">
            <a:extLst>
              <a:ext uri="{FF2B5EF4-FFF2-40B4-BE49-F238E27FC236}">
                <a16:creationId xmlns:a16="http://schemas.microsoft.com/office/drawing/2014/main" id="{87E95387-5667-504D-8C00-1B44970134A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0875" y="2598738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9024" name="Text Box 18">
            <a:extLst>
              <a:ext uri="{FF2B5EF4-FFF2-40B4-BE49-F238E27FC236}">
                <a16:creationId xmlns:a16="http://schemas.microsoft.com/office/drawing/2014/main" id="{8938FC7E-6A77-7B45-BC17-1BE246A31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7275" y="381793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69025" name="Text Box 19">
            <a:extLst>
              <a:ext uri="{FF2B5EF4-FFF2-40B4-BE49-F238E27FC236}">
                <a16:creationId xmlns:a16="http://schemas.microsoft.com/office/drawing/2014/main" id="{9491ED48-026B-6F44-BA35-DDFAEDF9B8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6875" y="20653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30</a:t>
            </a:r>
          </a:p>
        </p:txBody>
      </p:sp>
      <p:sp>
        <p:nvSpPr>
          <p:cNvPr id="169026" name="Text Box 20">
            <a:extLst>
              <a:ext uri="{FF2B5EF4-FFF2-40B4-BE49-F238E27FC236}">
                <a16:creationId xmlns:a16="http://schemas.microsoft.com/office/drawing/2014/main" id="{69D9E829-E9BE-3646-A6FA-D7EFF3FE84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6475" y="3436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50</a:t>
            </a:r>
          </a:p>
        </p:txBody>
      </p:sp>
      <p:sp>
        <p:nvSpPr>
          <p:cNvPr id="169027" name="Text Box 21">
            <a:extLst>
              <a:ext uri="{FF2B5EF4-FFF2-40B4-BE49-F238E27FC236}">
                <a16:creationId xmlns:a16="http://schemas.microsoft.com/office/drawing/2014/main" id="{893F2F39-B477-A744-AC08-261F2FAF7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4475" y="29797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69028" name="Text Box 22">
            <a:extLst>
              <a:ext uri="{FF2B5EF4-FFF2-40B4-BE49-F238E27FC236}">
                <a16:creationId xmlns:a16="http://schemas.microsoft.com/office/drawing/2014/main" id="{479134BF-D9F1-B44D-ADA4-4316F75C9E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674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69029" name="Text Box 23">
            <a:extLst>
              <a:ext uri="{FF2B5EF4-FFF2-40B4-BE49-F238E27FC236}">
                <a16:creationId xmlns:a16="http://schemas.microsoft.com/office/drawing/2014/main" id="{1CFAF507-3B11-0C4F-A8A1-88EED6AD0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5075" y="1531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60</a:t>
            </a:r>
          </a:p>
        </p:txBody>
      </p:sp>
      <p:sp>
        <p:nvSpPr>
          <p:cNvPr id="169030" name="Text Box 24">
            <a:extLst>
              <a:ext uri="{FF2B5EF4-FFF2-40B4-BE49-F238E27FC236}">
                <a16:creationId xmlns:a16="http://schemas.microsoft.com/office/drawing/2014/main" id="{F6D82616-CC7E-7040-BF6C-B74D5EF7C6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" y="115888"/>
            <a:ext cx="44275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Dijkstra</a:t>
            </a:r>
            <a:r>
              <a:rPr kumimoji="0" lang="zh-CN" altLang="en-US" sz="2800">
                <a:latin typeface="宋体" panose="02010600030101010101" pitchFamily="2" charset="-122"/>
              </a:rPr>
              <a:t>路径长度递增法：</a:t>
            </a:r>
          </a:p>
        </p:txBody>
      </p:sp>
      <p:sp>
        <p:nvSpPr>
          <p:cNvPr id="169031" name="Text Box 53">
            <a:extLst>
              <a:ext uri="{FF2B5EF4-FFF2-40B4-BE49-F238E27FC236}">
                <a16:creationId xmlns:a16="http://schemas.microsoft.com/office/drawing/2014/main" id="{DE808EEC-E8D5-0A47-8446-2D2EDB8017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836613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10  </a:t>
            </a:r>
            <a:r>
              <a:rPr kumimoji="0" lang="en-US" altLang="zh-CN" sz="1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30  100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5       ∞ 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50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∞      10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20     ∞      60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∞      ∞</a:t>
            </a:r>
          </a:p>
        </p:txBody>
      </p:sp>
      <p:sp>
        <p:nvSpPr>
          <p:cNvPr id="169032" name="AutoShape 54">
            <a:extLst>
              <a:ext uri="{FF2B5EF4-FFF2-40B4-BE49-F238E27FC236}">
                <a16:creationId xmlns:a16="http://schemas.microsoft.com/office/drawing/2014/main" id="{0EC2EE5C-A67D-5047-9F12-F2606AD89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836613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69033" name="Text Box 55">
            <a:extLst>
              <a:ext uri="{FF2B5EF4-FFF2-40B4-BE49-F238E27FC236}">
                <a16:creationId xmlns:a16="http://schemas.microsoft.com/office/drawing/2014/main" id="{979766B4-DB7C-644A-A849-A70A3497B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260350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b="0">
                <a:latin typeface="Times New Roman" panose="02020603050405020304" pitchFamily="18" charset="0"/>
              </a:rPr>
              <a:t> 0     1        2      3      4      5</a:t>
            </a:r>
            <a:endParaRPr kumimoji="0" lang="en-US" altLang="zh-CN" sz="2400" b="0">
              <a:latin typeface="宋体" panose="02010600030101010101" pitchFamily="2" charset="-122"/>
            </a:endParaRPr>
          </a:p>
        </p:txBody>
      </p:sp>
      <p:sp>
        <p:nvSpPr>
          <p:cNvPr id="169034" name="Text Box 56">
            <a:extLst>
              <a:ext uri="{FF2B5EF4-FFF2-40B4-BE49-F238E27FC236}">
                <a16:creationId xmlns:a16="http://schemas.microsoft.com/office/drawing/2014/main" id="{DA14327B-A0E6-B54B-AC53-AE37AD06C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836613"/>
            <a:ext cx="457200" cy="3195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0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2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4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73" name="AutoShape 57">
            <a:extLst>
              <a:ext uri="{FF2B5EF4-FFF2-40B4-BE49-F238E27FC236}">
                <a16:creationId xmlns:a16="http://schemas.microsoft.com/office/drawing/2014/main" id="{13594307-FAC0-0841-96BE-B30A7E498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817563"/>
            <a:ext cx="457200" cy="4267200"/>
          </a:xfrm>
          <a:prstGeom prst="curvedLeftArrow">
            <a:avLst>
              <a:gd name="adj1" fmla="val 67148"/>
              <a:gd name="adj2" fmla="val 253815"/>
              <a:gd name="adj3" fmla="val 33333"/>
            </a:avLst>
          </a:prstGeom>
          <a:solidFill>
            <a:srgbClr val="FF66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69036" name="Text Box 58">
            <a:extLst>
              <a:ext uri="{FF2B5EF4-FFF2-40B4-BE49-F238E27FC236}">
                <a16:creationId xmlns:a16="http://schemas.microsoft.com/office/drawing/2014/main" id="{AD7DF5A7-B658-834B-8622-3A1DE14F6F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213" y="5060950"/>
            <a:ext cx="37449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最短路径的前驱顶点数组：</a:t>
            </a:r>
          </a:p>
        </p:txBody>
      </p:sp>
      <p:sp>
        <p:nvSpPr>
          <p:cNvPr id="169037" name="Text Box 59">
            <a:extLst>
              <a:ext uri="{FF2B5EF4-FFF2-40B4-BE49-F238E27FC236}">
                <a16:creationId xmlns:a16="http://schemas.microsoft.com/office/drawing/2014/main" id="{177F824E-E8BE-464D-B504-97D89C7CAB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4075" y="4608513"/>
            <a:ext cx="23034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最短路径数组</a:t>
            </a:r>
            <a:r>
              <a:rPr kumimoji="0" lang="en-US" altLang="zh-CN" sz="2400">
                <a:latin typeface="宋体" panose="02010600030101010101" pitchFamily="2" charset="-122"/>
              </a:rPr>
              <a:t>D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76" name="Text Box 60">
            <a:extLst>
              <a:ext uri="{FF2B5EF4-FFF2-40B4-BE49-F238E27FC236}">
                <a16:creationId xmlns:a16="http://schemas.microsoft.com/office/drawing/2014/main" id="{BCBE10A6-24EF-3E41-9934-B8E791246B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94725" y="1463675"/>
            <a:ext cx="54927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FF0000"/>
                </a:solidFill>
                <a:latin typeface="宋体" panose="02010600030101010101" pitchFamily="2" charset="-122"/>
              </a:rPr>
              <a:t>初始化</a:t>
            </a:r>
          </a:p>
        </p:txBody>
      </p:sp>
      <p:sp>
        <p:nvSpPr>
          <p:cNvPr id="169039" name="Text Box 66">
            <a:extLst>
              <a:ext uri="{FF2B5EF4-FFF2-40B4-BE49-F238E27FC236}">
                <a16:creationId xmlns:a16="http://schemas.microsoft.com/office/drawing/2014/main" id="{9090CF89-E1B8-6D45-9FF5-0F4D780EC4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1675" y="26114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169040" name="Text Box 78">
            <a:extLst>
              <a:ext uri="{FF2B5EF4-FFF2-40B4-BE49-F238E27FC236}">
                <a16:creationId xmlns:a16="http://schemas.microsoft.com/office/drawing/2014/main" id="{460CCD68-A2DB-8F45-B910-6A191B42D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0563" y="4148138"/>
            <a:ext cx="41036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0   1   2    3   </a:t>
            </a:r>
            <a:r>
              <a:rPr kumimoji="0" lang="en-US" altLang="zh-CN" sz="11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   </a:t>
            </a:r>
            <a:r>
              <a:rPr kumimoji="0" lang="en-US" altLang="zh-CN" sz="10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69041" name="Oval 4">
            <a:extLst>
              <a:ext uri="{FF2B5EF4-FFF2-40B4-BE49-F238E27FC236}">
                <a16:creationId xmlns:a16="http://schemas.microsoft.com/office/drawing/2014/main" id="{BBEB6A8B-3CDF-764F-AE74-DD2D3BD25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988" y="2205038"/>
            <a:ext cx="381000" cy="381000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80" name="Text Box 59">
            <a:extLst>
              <a:ext uri="{FF2B5EF4-FFF2-40B4-BE49-F238E27FC236}">
                <a16:creationId xmlns:a16="http://schemas.microsoft.com/office/drawing/2014/main" id="{81592CF6-3105-3641-A3C5-7299D7C5F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8200" y="5661025"/>
            <a:ext cx="23034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Final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 animBg="1"/>
      <p:bldP spid="76" grpId="0"/>
      <p:bldP spid="80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09" name="灯片编号占位符 1">
            <a:extLst>
              <a:ext uri="{FF2B5EF4-FFF2-40B4-BE49-F238E27FC236}">
                <a16:creationId xmlns:a16="http://schemas.microsoft.com/office/drawing/2014/main" id="{AE7AFD57-4D8B-F14C-8FC2-C71A92E9CFB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FFC254E-CCC2-074E-9360-70F16A339E9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88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71010" name="Oval 3">
            <a:extLst>
              <a:ext uri="{FF2B5EF4-FFF2-40B4-BE49-F238E27FC236}">
                <a16:creationId xmlns:a16="http://schemas.microsoft.com/office/drawing/2014/main" id="{77B1DD77-A370-1D43-94D2-1DE2B77E0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4198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1011" name="Oval 5">
            <a:extLst>
              <a:ext uri="{FF2B5EF4-FFF2-40B4-BE49-F238E27FC236}">
                <a16:creationId xmlns:a16="http://schemas.microsoft.com/office/drawing/2014/main" id="{DE60F61E-B138-904A-A12A-ED7FE8524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1012" name="Oval 6">
            <a:extLst>
              <a:ext uri="{FF2B5EF4-FFF2-40B4-BE49-F238E27FC236}">
                <a16:creationId xmlns:a16="http://schemas.microsoft.com/office/drawing/2014/main" id="{3D5A875E-309D-9843-A5CD-7F39EB85A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2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1013" name="Oval 7">
            <a:extLst>
              <a:ext uri="{FF2B5EF4-FFF2-40B4-BE49-F238E27FC236}">
                <a16:creationId xmlns:a16="http://schemas.microsoft.com/office/drawing/2014/main" id="{E4662CEF-3E59-AF44-A84D-0925CA916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1303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1014" name="Oval 8">
            <a:extLst>
              <a:ext uri="{FF2B5EF4-FFF2-40B4-BE49-F238E27FC236}">
                <a16:creationId xmlns:a16="http://schemas.microsoft.com/office/drawing/2014/main" id="{40C12D1A-8448-6D44-AD53-ACED2D3E5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22177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1015" name="Line 9">
            <a:extLst>
              <a:ext uri="{FF2B5EF4-FFF2-40B4-BE49-F238E27FC236}">
                <a16:creationId xmlns:a16="http://schemas.microsoft.com/office/drawing/2014/main" id="{E81CF14D-6D04-7E4B-AEA2-E8EEB0512BBA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2446338"/>
            <a:ext cx="1981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1016" name="Line 10">
            <a:extLst>
              <a:ext uri="{FF2B5EF4-FFF2-40B4-BE49-F238E27FC236}">
                <a16:creationId xmlns:a16="http://schemas.microsoft.com/office/drawing/2014/main" id="{8D32FAE9-35E0-124B-9A2B-AB45996FAA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76475" y="3589338"/>
            <a:ext cx="838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1017" name="Line 11">
            <a:extLst>
              <a:ext uri="{FF2B5EF4-FFF2-40B4-BE49-F238E27FC236}">
                <a16:creationId xmlns:a16="http://schemas.microsoft.com/office/drawing/2014/main" id="{6A3A0EC5-F28D-4647-9DDB-F083996450B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35893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1018" name="Line 13">
            <a:extLst>
              <a:ext uri="{FF2B5EF4-FFF2-40B4-BE49-F238E27FC236}">
                <a16:creationId xmlns:a16="http://schemas.microsoft.com/office/drawing/2014/main" id="{3F4D2712-8250-7344-B023-2F8E4B166B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57275" y="16081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1019" name="WordArt 14">
            <a:extLst>
              <a:ext uri="{FF2B5EF4-FFF2-40B4-BE49-F238E27FC236}">
                <a16:creationId xmlns:a16="http://schemas.microsoft.com/office/drawing/2014/main" id="{9FE47FD2-A339-1747-82B9-4909EF80A99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2376635">
            <a:off x="1057275" y="1760538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US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100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71020" name="Line 15">
            <a:extLst>
              <a:ext uri="{FF2B5EF4-FFF2-40B4-BE49-F238E27FC236}">
                <a16:creationId xmlns:a16="http://schemas.microsoft.com/office/drawing/2014/main" id="{2EE67091-6977-1C44-A0CF-EF1A6CA2854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76475" y="1608138"/>
            <a:ext cx="762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1021" name="Line 16">
            <a:extLst>
              <a:ext uri="{FF2B5EF4-FFF2-40B4-BE49-F238E27FC236}">
                <a16:creationId xmlns:a16="http://schemas.microsoft.com/office/drawing/2014/main" id="{001BD49F-6D57-B444-B4DB-CC193EC85F3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047875" y="1608138"/>
            <a:ext cx="10668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1022" name="Line 17">
            <a:extLst>
              <a:ext uri="{FF2B5EF4-FFF2-40B4-BE49-F238E27FC236}">
                <a16:creationId xmlns:a16="http://schemas.microsoft.com/office/drawing/2014/main" id="{EC7F2924-8F32-9143-B4D9-B761D5C1167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0875" y="2598738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1023" name="Text Box 18">
            <a:extLst>
              <a:ext uri="{FF2B5EF4-FFF2-40B4-BE49-F238E27FC236}">
                <a16:creationId xmlns:a16="http://schemas.microsoft.com/office/drawing/2014/main" id="{8CDD857B-1CDA-3049-A64D-7F0EF5D847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7275" y="381793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1024" name="Text Box 19">
            <a:extLst>
              <a:ext uri="{FF2B5EF4-FFF2-40B4-BE49-F238E27FC236}">
                <a16:creationId xmlns:a16="http://schemas.microsoft.com/office/drawing/2014/main" id="{03DF1A45-C5DF-5743-BBB6-6B3F3EB37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6875" y="20653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30</a:t>
            </a:r>
          </a:p>
        </p:txBody>
      </p:sp>
      <p:sp>
        <p:nvSpPr>
          <p:cNvPr id="171025" name="Text Box 20">
            <a:extLst>
              <a:ext uri="{FF2B5EF4-FFF2-40B4-BE49-F238E27FC236}">
                <a16:creationId xmlns:a16="http://schemas.microsoft.com/office/drawing/2014/main" id="{BE432D8B-C277-F744-AA7E-C751213CD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6475" y="3436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50</a:t>
            </a:r>
          </a:p>
        </p:txBody>
      </p:sp>
      <p:sp>
        <p:nvSpPr>
          <p:cNvPr id="171026" name="Text Box 21">
            <a:extLst>
              <a:ext uri="{FF2B5EF4-FFF2-40B4-BE49-F238E27FC236}">
                <a16:creationId xmlns:a16="http://schemas.microsoft.com/office/drawing/2014/main" id="{3F4E3735-2349-5343-B3DB-B7BA6DE4C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4475" y="29797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71027" name="Text Box 22">
            <a:extLst>
              <a:ext uri="{FF2B5EF4-FFF2-40B4-BE49-F238E27FC236}">
                <a16:creationId xmlns:a16="http://schemas.microsoft.com/office/drawing/2014/main" id="{C5637DB8-474B-3448-AC52-B168D1BAA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674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71028" name="Text Box 23">
            <a:extLst>
              <a:ext uri="{FF2B5EF4-FFF2-40B4-BE49-F238E27FC236}">
                <a16:creationId xmlns:a16="http://schemas.microsoft.com/office/drawing/2014/main" id="{D651660B-2509-6241-A3EB-EEC708C5EA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5075" y="1531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60</a:t>
            </a:r>
          </a:p>
        </p:txBody>
      </p:sp>
      <p:sp>
        <p:nvSpPr>
          <p:cNvPr id="171029" name="Text Box 24">
            <a:extLst>
              <a:ext uri="{FF2B5EF4-FFF2-40B4-BE49-F238E27FC236}">
                <a16:creationId xmlns:a16="http://schemas.microsoft.com/office/drawing/2014/main" id="{00A68B17-4237-0547-87A8-10224887E1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" y="115888"/>
            <a:ext cx="44275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Dijkstra</a:t>
            </a:r>
            <a:r>
              <a:rPr kumimoji="0" lang="zh-CN" altLang="en-US" sz="2800">
                <a:latin typeface="宋体" panose="02010600030101010101" pitchFamily="2" charset="-122"/>
              </a:rPr>
              <a:t>路径长度递增法：</a:t>
            </a:r>
          </a:p>
        </p:txBody>
      </p:sp>
      <p:sp>
        <p:nvSpPr>
          <p:cNvPr id="171030" name="Text Box 53">
            <a:extLst>
              <a:ext uri="{FF2B5EF4-FFF2-40B4-BE49-F238E27FC236}">
                <a16:creationId xmlns:a16="http://schemas.microsoft.com/office/drawing/2014/main" id="{B8BE3BB3-04C1-8044-9A47-D00D54C76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836613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10  </a:t>
            </a:r>
            <a:r>
              <a:rPr kumimoji="0" lang="en-US" altLang="zh-CN" sz="1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30  100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5       ∞  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50 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 ∞      10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20      ∞      60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 ∞      ∞</a:t>
            </a:r>
          </a:p>
        </p:txBody>
      </p:sp>
      <p:sp>
        <p:nvSpPr>
          <p:cNvPr id="171031" name="AutoShape 54">
            <a:extLst>
              <a:ext uri="{FF2B5EF4-FFF2-40B4-BE49-F238E27FC236}">
                <a16:creationId xmlns:a16="http://schemas.microsoft.com/office/drawing/2014/main" id="{570BD47B-44B3-FB42-A7F6-EC6DA7A92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836613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71032" name="Text Box 55">
            <a:extLst>
              <a:ext uri="{FF2B5EF4-FFF2-40B4-BE49-F238E27FC236}">
                <a16:creationId xmlns:a16="http://schemas.microsoft.com/office/drawing/2014/main" id="{5D639DE8-152C-7743-B04C-1822879DFF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260350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b="0">
                <a:latin typeface="Times New Roman" panose="02020603050405020304" pitchFamily="18" charset="0"/>
              </a:rPr>
              <a:t> 0     1        2      3      4      5</a:t>
            </a:r>
            <a:endParaRPr kumimoji="0" lang="en-US" altLang="zh-CN" sz="2400" b="0">
              <a:latin typeface="宋体" panose="02010600030101010101" pitchFamily="2" charset="-122"/>
            </a:endParaRPr>
          </a:p>
        </p:txBody>
      </p:sp>
      <p:sp>
        <p:nvSpPr>
          <p:cNvPr id="171033" name="Text Box 56">
            <a:extLst>
              <a:ext uri="{FF2B5EF4-FFF2-40B4-BE49-F238E27FC236}">
                <a16:creationId xmlns:a16="http://schemas.microsoft.com/office/drawing/2014/main" id="{F041120E-C96A-9642-B494-8536106938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836613"/>
            <a:ext cx="457200" cy="3195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0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2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4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1034" name="Text Box 58">
            <a:extLst>
              <a:ext uri="{FF2B5EF4-FFF2-40B4-BE49-F238E27FC236}">
                <a16:creationId xmlns:a16="http://schemas.microsoft.com/office/drawing/2014/main" id="{C337239E-ED4B-124E-8318-4946EDDAD8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5060950"/>
            <a:ext cx="37449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最短路径的前驱顶点数组：</a:t>
            </a:r>
          </a:p>
        </p:txBody>
      </p:sp>
      <p:sp>
        <p:nvSpPr>
          <p:cNvPr id="171035" name="Text Box 59">
            <a:extLst>
              <a:ext uri="{FF2B5EF4-FFF2-40B4-BE49-F238E27FC236}">
                <a16:creationId xmlns:a16="http://schemas.microsoft.com/office/drawing/2014/main" id="{BDEA2761-FB00-7F44-998A-2CF9DE1EB5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2475" y="4594225"/>
            <a:ext cx="23034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最短路径数组</a:t>
            </a:r>
            <a:r>
              <a:rPr kumimoji="0" lang="en-US" altLang="zh-CN" sz="2400">
                <a:latin typeface="宋体" panose="02010600030101010101" pitchFamily="2" charset="-122"/>
              </a:rPr>
              <a:t>D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71036" name="Text Box 66">
            <a:extLst>
              <a:ext uri="{FF2B5EF4-FFF2-40B4-BE49-F238E27FC236}">
                <a16:creationId xmlns:a16="http://schemas.microsoft.com/office/drawing/2014/main" id="{4A24A699-E3D7-CE46-804D-CC654C7089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1675" y="26114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171037" name="Oval 4">
            <a:extLst>
              <a:ext uri="{FF2B5EF4-FFF2-40B4-BE49-F238E27FC236}">
                <a16:creationId xmlns:a16="http://schemas.microsoft.com/office/drawing/2014/main" id="{68A32888-423C-9844-B064-241E82630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988" y="2205038"/>
            <a:ext cx="381000" cy="381000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71038" name="Text Box 59">
            <a:extLst>
              <a:ext uri="{FF2B5EF4-FFF2-40B4-BE49-F238E27FC236}">
                <a16:creationId xmlns:a16="http://schemas.microsoft.com/office/drawing/2014/main" id="{3D79DACF-108E-8D46-9ED8-BF5EA5F4A4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8188" y="5661025"/>
            <a:ext cx="2303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Final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69" name="Text Box 21">
            <a:extLst>
              <a:ext uri="{FF2B5EF4-FFF2-40B4-BE49-F238E27FC236}">
                <a16:creationId xmlns:a16="http://schemas.microsoft.com/office/drawing/2014/main" id="{C33EC224-806C-E14B-8698-D80413A5E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5488" y="45815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graphicFrame>
        <p:nvGraphicFramePr>
          <p:cNvPr id="70" name="Group 62">
            <a:extLst>
              <a:ext uri="{FF2B5EF4-FFF2-40B4-BE49-F238E27FC236}">
                <a16:creationId xmlns:a16="http://schemas.microsoft.com/office/drawing/2014/main" id="{DE75FF33-F5EB-1A47-9F02-9DBA345A3970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4570413"/>
          <a:ext cx="4032252" cy="457200"/>
        </p:xfrm>
        <a:graphic>
          <a:graphicData uri="http://schemas.openxmlformats.org/drawingml/2006/table">
            <a:tbl>
              <a:tblPr/>
              <a:tblGrid>
                <a:gridCol w="672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30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100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1" name="Group 65">
            <a:extLst>
              <a:ext uri="{FF2B5EF4-FFF2-40B4-BE49-F238E27FC236}">
                <a16:creationId xmlns:a16="http://schemas.microsoft.com/office/drawing/2014/main" id="{2ABBA40B-1F0B-5241-AE4B-03EB55C33BB3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5114925"/>
          <a:ext cx="4051302" cy="457200"/>
        </p:xfrm>
        <a:graphic>
          <a:graphicData uri="http://schemas.openxmlformats.org/drawingml/2006/table">
            <a:tbl>
              <a:tblPr/>
              <a:tblGrid>
                <a:gridCol w="6752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7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2" name="Group 62">
            <a:extLst>
              <a:ext uri="{FF2B5EF4-FFF2-40B4-BE49-F238E27FC236}">
                <a16:creationId xmlns:a16="http://schemas.microsoft.com/office/drawing/2014/main" id="{2632629D-1942-C343-BF60-B12A7028059C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5635625"/>
          <a:ext cx="4051300" cy="457200"/>
        </p:xfrm>
        <a:graphic>
          <a:graphicData uri="http://schemas.openxmlformats.org/drawingml/2006/table">
            <a:tbl>
              <a:tblPr/>
              <a:tblGrid>
                <a:gridCol w="6746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46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46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46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1088" name="Text Box 78">
            <a:extLst>
              <a:ext uri="{FF2B5EF4-FFF2-40B4-BE49-F238E27FC236}">
                <a16:creationId xmlns:a16="http://schemas.microsoft.com/office/drawing/2014/main" id="{D8C786BF-7BF2-C949-8642-32378CF12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8963" y="4148138"/>
            <a:ext cx="41052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0   1   2    3   </a:t>
            </a:r>
            <a:r>
              <a:rPr kumimoji="0" lang="en-US" altLang="zh-CN" sz="11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   </a:t>
            </a:r>
            <a:r>
              <a:rPr kumimoji="0" lang="en-US" altLang="zh-CN" sz="10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74" name="Line 9">
            <a:extLst>
              <a:ext uri="{FF2B5EF4-FFF2-40B4-BE49-F238E27FC236}">
                <a16:creationId xmlns:a16="http://schemas.microsoft.com/office/drawing/2014/main" id="{FCF3EE2A-4DDD-5D40-9CA7-0CBF0088B3B2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550" y="2565400"/>
            <a:ext cx="1008063" cy="16557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Text Box 21">
            <a:extLst>
              <a:ext uri="{FF2B5EF4-FFF2-40B4-BE49-F238E27FC236}">
                <a16:creationId xmlns:a16="http://schemas.microsoft.com/office/drawing/2014/main" id="{FFFE9598-AE67-B34F-9CB4-34EA3D0C0E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850" y="5635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76" name="Text Box 21">
            <a:extLst>
              <a:ext uri="{FF2B5EF4-FFF2-40B4-BE49-F238E27FC236}">
                <a16:creationId xmlns:a16="http://schemas.microsoft.com/office/drawing/2014/main" id="{ED8F41A0-B97A-7946-9E86-96990C98F2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850" y="5635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T</a:t>
            </a:r>
          </a:p>
        </p:txBody>
      </p:sp>
      <p:sp>
        <p:nvSpPr>
          <p:cNvPr id="77" name="Line 12">
            <a:extLst>
              <a:ext uri="{FF2B5EF4-FFF2-40B4-BE49-F238E27FC236}">
                <a16:creationId xmlns:a16="http://schemas.microsoft.com/office/drawing/2014/main" id="{C2EDDA5A-A10B-3F47-84AF-6DCC694D3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984250" y="2565400"/>
            <a:ext cx="995363" cy="160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AutoShape 75">
            <a:extLst>
              <a:ext uri="{FF2B5EF4-FFF2-40B4-BE49-F238E27FC236}">
                <a16:creationId xmlns:a16="http://schemas.microsoft.com/office/drawing/2014/main" id="{E9F8A4B5-89C3-C843-AF17-52068177D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2363" y="2701925"/>
            <a:ext cx="825500" cy="1879600"/>
          </a:xfrm>
          <a:prstGeom prst="upDownArrow">
            <a:avLst>
              <a:gd name="adj1" fmla="val 50000"/>
              <a:gd name="adj2" fmla="val 62499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20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比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较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大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小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20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79" name="表格 78">
            <a:extLst>
              <a:ext uri="{FF2B5EF4-FFF2-40B4-BE49-F238E27FC236}">
                <a16:creationId xmlns:a16="http://schemas.microsoft.com/office/drawing/2014/main" id="{CF76613A-C0A6-414C-82D9-BF43D9147ECC}"/>
              </a:ext>
            </a:extLst>
          </p:cNvPr>
          <p:cNvGraphicFramePr>
            <a:graphicFrameLocks noGrp="1"/>
          </p:cNvGraphicFramePr>
          <p:nvPr/>
        </p:nvGraphicFramePr>
        <p:xfrm>
          <a:off x="5018088" y="1989138"/>
          <a:ext cx="647700" cy="7413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70681">
                <a:tc>
                  <a:txBody>
                    <a:bodyPr/>
                    <a:lstStyle/>
                    <a:p>
                      <a:endParaRPr lang="zh-CN" altLang="en-US" sz="1800" dirty="0"/>
                    </a:p>
                  </a:txBody>
                  <a:tcPr marL="91388" marR="91388" marT="45700" marB="457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681">
                <a:tc>
                  <a:txBody>
                    <a:bodyPr/>
                    <a:lstStyle/>
                    <a:p>
                      <a:r>
                        <a:rPr lang="en-US" altLang="zh-CN" sz="1800" dirty="0"/>
                        <a:t>+10</a:t>
                      </a:r>
                      <a:endParaRPr lang="zh-CN" altLang="en-US" sz="1800" dirty="0"/>
                    </a:p>
                  </a:txBody>
                  <a:tcPr marL="91388" marR="91388" marT="45700" marB="457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0" name="Text Box 21">
            <a:extLst>
              <a:ext uri="{FF2B5EF4-FFF2-40B4-BE49-F238E27FC236}">
                <a16:creationId xmlns:a16="http://schemas.microsoft.com/office/drawing/2014/main" id="{D770B1FF-20E3-3F41-8E90-6727AAB0F5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88" y="45815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∞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82" name="Text Box 21">
            <a:extLst>
              <a:ext uri="{FF2B5EF4-FFF2-40B4-BE49-F238E27FC236}">
                <a16:creationId xmlns:a16="http://schemas.microsoft.com/office/drawing/2014/main" id="{DD3FF070-9195-2449-8634-EF6C2F2852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88" y="45815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60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83" name="Text Box 21">
            <a:extLst>
              <a:ext uri="{FF2B5EF4-FFF2-40B4-BE49-F238E27FC236}">
                <a16:creationId xmlns:a16="http://schemas.microsoft.com/office/drawing/2014/main" id="{BEB0EDE3-215F-6F42-9F00-9C7923FB16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88" y="5114925"/>
            <a:ext cx="6096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84" name="Text Box 21">
            <a:extLst>
              <a:ext uri="{FF2B5EF4-FFF2-40B4-BE49-F238E27FC236}">
                <a16:creationId xmlns:a16="http://schemas.microsoft.com/office/drawing/2014/main" id="{52AFCDE0-674E-884E-98BE-3F74596A3B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88" y="51149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V2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965 0 " pathEditMode="relative" ptsTypes="AA">
                                      <p:cBhvr>
                                        <p:cTn id="36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4965 0 " pathEditMode="relative" ptsTypes="AA">
                                      <p:cBhvr>
                                        <p:cTn id="38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722 -3.81503E-6 L 0.22587 -3.81503E-6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24" y="0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0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722 -4.62428E-6 L 0.22587 -4.62428E-6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24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257 -3.81503E-6 L 0.30139 -3.81503E-6 " pathEditMode="relative" rAng="0" ptsTypes="AA">
                                      <p:cBhvr>
                                        <p:cTn id="66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41" y="0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0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257 -4.62428E-6 L 0.30139 -4.62428E-6 " pathEditMode="relative" rAng="0" ptsTypes="AA">
                                      <p:cBhvr>
                                        <p:cTn id="68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4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5" grpId="0"/>
      <p:bldP spid="76" grpId="0"/>
      <p:bldP spid="78" grpId="0" animBg="1"/>
      <p:bldP spid="78" grpId="1" animBg="1"/>
      <p:bldP spid="78" grpId="2" animBg="1"/>
      <p:bldP spid="78" grpId="3" animBg="1"/>
      <p:bldP spid="80" grpId="0"/>
      <p:bldP spid="82" grpId="0"/>
      <p:bldP spid="83" grpId="0"/>
      <p:bldP spid="84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3" name="灯片编号占位符 1">
            <a:extLst>
              <a:ext uri="{FF2B5EF4-FFF2-40B4-BE49-F238E27FC236}">
                <a16:creationId xmlns:a16="http://schemas.microsoft.com/office/drawing/2014/main" id="{4F25D9E2-A41B-B344-A411-BD55E563618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A618709-BC1B-504D-8FC8-90C09EC38AD0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72034" name="Oval 3">
            <a:extLst>
              <a:ext uri="{FF2B5EF4-FFF2-40B4-BE49-F238E27FC236}">
                <a16:creationId xmlns:a16="http://schemas.microsoft.com/office/drawing/2014/main" id="{23E974B1-83F0-1242-9DAC-970982C95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4198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2035" name="Oval 5">
            <a:extLst>
              <a:ext uri="{FF2B5EF4-FFF2-40B4-BE49-F238E27FC236}">
                <a16:creationId xmlns:a16="http://schemas.microsoft.com/office/drawing/2014/main" id="{3A72DCCD-6B74-8649-83CD-6091AF937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2036" name="Oval 6">
            <a:extLst>
              <a:ext uri="{FF2B5EF4-FFF2-40B4-BE49-F238E27FC236}">
                <a16:creationId xmlns:a16="http://schemas.microsoft.com/office/drawing/2014/main" id="{B9FEA85A-9AD2-9249-B0BC-BB5BCD1C9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2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2037" name="Oval 7">
            <a:extLst>
              <a:ext uri="{FF2B5EF4-FFF2-40B4-BE49-F238E27FC236}">
                <a16:creationId xmlns:a16="http://schemas.microsoft.com/office/drawing/2014/main" id="{2F04C923-D6A4-794D-9CB6-1A316498BE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1303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2038" name="Oval 8">
            <a:extLst>
              <a:ext uri="{FF2B5EF4-FFF2-40B4-BE49-F238E27FC236}">
                <a16:creationId xmlns:a16="http://schemas.microsoft.com/office/drawing/2014/main" id="{F029BE18-DE88-134B-87E9-57035C9B0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22177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39" name="Line 9">
            <a:extLst>
              <a:ext uri="{FF2B5EF4-FFF2-40B4-BE49-F238E27FC236}">
                <a16:creationId xmlns:a16="http://schemas.microsoft.com/office/drawing/2014/main" id="{142F3D45-0793-DF41-A5D7-7C484E4A3CC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2446338"/>
            <a:ext cx="1981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2040" name="Line 10">
            <a:extLst>
              <a:ext uri="{FF2B5EF4-FFF2-40B4-BE49-F238E27FC236}">
                <a16:creationId xmlns:a16="http://schemas.microsoft.com/office/drawing/2014/main" id="{7AC4CA64-B925-7640-99B8-1E098A08AC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76475" y="3589338"/>
            <a:ext cx="838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2041" name="Line 11">
            <a:extLst>
              <a:ext uri="{FF2B5EF4-FFF2-40B4-BE49-F238E27FC236}">
                <a16:creationId xmlns:a16="http://schemas.microsoft.com/office/drawing/2014/main" id="{98F6AB55-2D79-6747-8572-C8432CE77C4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35893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2042" name="Line 13">
            <a:extLst>
              <a:ext uri="{FF2B5EF4-FFF2-40B4-BE49-F238E27FC236}">
                <a16:creationId xmlns:a16="http://schemas.microsoft.com/office/drawing/2014/main" id="{7AC29FEB-4E97-0347-A87E-F74194CB00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57275" y="16081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2043" name="WordArt 14">
            <a:extLst>
              <a:ext uri="{FF2B5EF4-FFF2-40B4-BE49-F238E27FC236}">
                <a16:creationId xmlns:a16="http://schemas.microsoft.com/office/drawing/2014/main" id="{C98B982D-07E7-8D49-AA92-1A4579DDFA47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2376635">
            <a:off x="1057275" y="1760538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US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100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72044" name="Line 15">
            <a:extLst>
              <a:ext uri="{FF2B5EF4-FFF2-40B4-BE49-F238E27FC236}">
                <a16:creationId xmlns:a16="http://schemas.microsoft.com/office/drawing/2014/main" id="{5EA9981C-D1B8-9243-99E1-ACF4E0BD1F3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76475" y="1608138"/>
            <a:ext cx="762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2045" name="Line 16">
            <a:extLst>
              <a:ext uri="{FF2B5EF4-FFF2-40B4-BE49-F238E27FC236}">
                <a16:creationId xmlns:a16="http://schemas.microsoft.com/office/drawing/2014/main" id="{A1E55ADA-D3AE-2242-8653-416567CA6B1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047875" y="1608138"/>
            <a:ext cx="10668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2046" name="Line 17">
            <a:extLst>
              <a:ext uri="{FF2B5EF4-FFF2-40B4-BE49-F238E27FC236}">
                <a16:creationId xmlns:a16="http://schemas.microsoft.com/office/drawing/2014/main" id="{88C5806E-65E9-E648-ADD7-2208CB54C9C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0875" y="2598738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2047" name="Text Box 18">
            <a:extLst>
              <a:ext uri="{FF2B5EF4-FFF2-40B4-BE49-F238E27FC236}">
                <a16:creationId xmlns:a16="http://schemas.microsoft.com/office/drawing/2014/main" id="{1BBF1603-21A0-6C4C-9C2A-5ABFC514E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7275" y="381793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2048" name="Text Box 19">
            <a:extLst>
              <a:ext uri="{FF2B5EF4-FFF2-40B4-BE49-F238E27FC236}">
                <a16:creationId xmlns:a16="http://schemas.microsoft.com/office/drawing/2014/main" id="{3279BEEC-49E0-7B41-A99B-305BC6BA33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6875" y="20653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30</a:t>
            </a:r>
          </a:p>
        </p:txBody>
      </p:sp>
      <p:sp>
        <p:nvSpPr>
          <p:cNvPr id="172049" name="Text Box 20">
            <a:extLst>
              <a:ext uri="{FF2B5EF4-FFF2-40B4-BE49-F238E27FC236}">
                <a16:creationId xmlns:a16="http://schemas.microsoft.com/office/drawing/2014/main" id="{B42E53FD-B6B9-734D-98CF-27F273946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6475" y="3436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50</a:t>
            </a:r>
          </a:p>
        </p:txBody>
      </p:sp>
      <p:sp>
        <p:nvSpPr>
          <p:cNvPr id="172050" name="Text Box 21">
            <a:extLst>
              <a:ext uri="{FF2B5EF4-FFF2-40B4-BE49-F238E27FC236}">
                <a16:creationId xmlns:a16="http://schemas.microsoft.com/office/drawing/2014/main" id="{D85ECE45-1D3D-AE42-8FB3-274C301001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4475" y="29797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72051" name="Text Box 22">
            <a:extLst>
              <a:ext uri="{FF2B5EF4-FFF2-40B4-BE49-F238E27FC236}">
                <a16:creationId xmlns:a16="http://schemas.microsoft.com/office/drawing/2014/main" id="{FBF62D23-3FF2-6D4E-A1F7-5BA645909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674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72052" name="Text Box 23">
            <a:extLst>
              <a:ext uri="{FF2B5EF4-FFF2-40B4-BE49-F238E27FC236}">
                <a16:creationId xmlns:a16="http://schemas.microsoft.com/office/drawing/2014/main" id="{F7A2A5B4-BA46-2D4A-A79A-AAFF066C55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5075" y="1531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60</a:t>
            </a:r>
          </a:p>
        </p:txBody>
      </p:sp>
      <p:sp>
        <p:nvSpPr>
          <p:cNvPr id="172053" name="Text Box 24">
            <a:extLst>
              <a:ext uri="{FF2B5EF4-FFF2-40B4-BE49-F238E27FC236}">
                <a16:creationId xmlns:a16="http://schemas.microsoft.com/office/drawing/2014/main" id="{FC0622D3-2714-4F45-9C86-B02861601C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" y="115888"/>
            <a:ext cx="44275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Dijkstra</a:t>
            </a:r>
            <a:r>
              <a:rPr kumimoji="0" lang="zh-CN" altLang="en-US" sz="2800">
                <a:latin typeface="宋体" panose="02010600030101010101" pitchFamily="2" charset="-122"/>
              </a:rPr>
              <a:t>路径长度递增法：</a:t>
            </a:r>
          </a:p>
        </p:txBody>
      </p:sp>
      <p:sp>
        <p:nvSpPr>
          <p:cNvPr id="172054" name="Text Box 53">
            <a:extLst>
              <a:ext uri="{FF2B5EF4-FFF2-40B4-BE49-F238E27FC236}">
                <a16:creationId xmlns:a16="http://schemas.microsoft.com/office/drawing/2014/main" id="{DCACDF5E-9C1B-E649-8A64-21CAE71BDE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836613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10  </a:t>
            </a:r>
            <a:r>
              <a:rPr kumimoji="0" lang="en-US" altLang="zh-CN" sz="1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30  100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5       ∞  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50 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 ∞      10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20      ∞      60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 ∞      ∞</a:t>
            </a:r>
          </a:p>
        </p:txBody>
      </p:sp>
      <p:sp>
        <p:nvSpPr>
          <p:cNvPr id="172055" name="AutoShape 54">
            <a:extLst>
              <a:ext uri="{FF2B5EF4-FFF2-40B4-BE49-F238E27FC236}">
                <a16:creationId xmlns:a16="http://schemas.microsoft.com/office/drawing/2014/main" id="{2ECDC2BB-C7C4-9347-9A5B-63B4FB256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836613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72056" name="Text Box 55">
            <a:extLst>
              <a:ext uri="{FF2B5EF4-FFF2-40B4-BE49-F238E27FC236}">
                <a16:creationId xmlns:a16="http://schemas.microsoft.com/office/drawing/2014/main" id="{94C468EB-258D-1945-AABF-BE93ED2F0B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260350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b="0">
                <a:latin typeface="Times New Roman" panose="02020603050405020304" pitchFamily="18" charset="0"/>
              </a:rPr>
              <a:t> 0     1        2      3      4      5</a:t>
            </a:r>
            <a:endParaRPr kumimoji="0" lang="en-US" altLang="zh-CN" sz="2400" b="0">
              <a:latin typeface="宋体" panose="02010600030101010101" pitchFamily="2" charset="-122"/>
            </a:endParaRPr>
          </a:p>
        </p:txBody>
      </p:sp>
      <p:sp>
        <p:nvSpPr>
          <p:cNvPr id="172057" name="Text Box 56">
            <a:extLst>
              <a:ext uri="{FF2B5EF4-FFF2-40B4-BE49-F238E27FC236}">
                <a16:creationId xmlns:a16="http://schemas.microsoft.com/office/drawing/2014/main" id="{ECEA5AD6-90D8-6C4A-AA95-3410C1E1E9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836613"/>
            <a:ext cx="457200" cy="3195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0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2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4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2058" name="Text Box 58">
            <a:extLst>
              <a:ext uri="{FF2B5EF4-FFF2-40B4-BE49-F238E27FC236}">
                <a16:creationId xmlns:a16="http://schemas.microsoft.com/office/drawing/2014/main" id="{CFBF7369-E084-794C-808A-5DDC67B99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5060950"/>
            <a:ext cx="37449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最短路径的前驱顶点数组：</a:t>
            </a:r>
          </a:p>
        </p:txBody>
      </p:sp>
      <p:sp>
        <p:nvSpPr>
          <p:cNvPr id="172059" name="Text Box 59">
            <a:extLst>
              <a:ext uri="{FF2B5EF4-FFF2-40B4-BE49-F238E27FC236}">
                <a16:creationId xmlns:a16="http://schemas.microsoft.com/office/drawing/2014/main" id="{4EC71EC6-B1C6-5A44-ADF4-822BA5533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2475" y="4594225"/>
            <a:ext cx="23034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最短路径数组</a:t>
            </a:r>
            <a:r>
              <a:rPr kumimoji="0" lang="en-US" altLang="zh-CN" sz="2400">
                <a:latin typeface="宋体" panose="02010600030101010101" pitchFamily="2" charset="-122"/>
              </a:rPr>
              <a:t>D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72060" name="Text Box 66">
            <a:extLst>
              <a:ext uri="{FF2B5EF4-FFF2-40B4-BE49-F238E27FC236}">
                <a16:creationId xmlns:a16="http://schemas.microsoft.com/office/drawing/2014/main" id="{FCD0E5A9-546A-494F-BCFB-E24162D71B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1675" y="26114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172061" name="Oval 4">
            <a:extLst>
              <a:ext uri="{FF2B5EF4-FFF2-40B4-BE49-F238E27FC236}">
                <a16:creationId xmlns:a16="http://schemas.microsoft.com/office/drawing/2014/main" id="{2DCAF623-D6AB-164A-A8FF-B55379CFB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988" y="2205038"/>
            <a:ext cx="381000" cy="381000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72062" name="Text Box 59">
            <a:extLst>
              <a:ext uri="{FF2B5EF4-FFF2-40B4-BE49-F238E27FC236}">
                <a16:creationId xmlns:a16="http://schemas.microsoft.com/office/drawing/2014/main" id="{E1E94577-A750-9144-B3DE-4F40D409FB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8188" y="5661025"/>
            <a:ext cx="2303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Final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72063" name="Text Box 21">
            <a:extLst>
              <a:ext uri="{FF2B5EF4-FFF2-40B4-BE49-F238E27FC236}">
                <a16:creationId xmlns:a16="http://schemas.microsoft.com/office/drawing/2014/main" id="{158F69C6-A02A-FD42-8EE7-DF5CB95C8F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5488" y="45815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graphicFrame>
        <p:nvGraphicFramePr>
          <p:cNvPr id="64" name="Group 62">
            <a:extLst>
              <a:ext uri="{FF2B5EF4-FFF2-40B4-BE49-F238E27FC236}">
                <a16:creationId xmlns:a16="http://schemas.microsoft.com/office/drawing/2014/main" id="{750AB9F5-FB92-0B46-8F47-D098C306E0C0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4570413"/>
          <a:ext cx="4032252" cy="457200"/>
        </p:xfrm>
        <a:graphic>
          <a:graphicData uri="http://schemas.openxmlformats.org/drawingml/2006/table">
            <a:tbl>
              <a:tblPr/>
              <a:tblGrid>
                <a:gridCol w="672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Group 65">
            <a:extLst>
              <a:ext uri="{FF2B5EF4-FFF2-40B4-BE49-F238E27FC236}">
                <a16:creationId xmlns:a16="http://schemas.microsoft.com/office/drawing/2014/main" id="{6CCE9338-9142-8E4B-BA6B-F8560308A918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5114925"/>
          <a:ext cx="4051302" cy="457200"/>
        </p:xfrm>
        <a:graphic>
          <a:graphicData uri="http://schemas.openxmlformats.org/drawingml/2006/table">
            <a:tbl>
              <a:tblPr/>
              <a:tblGrid>
                <a:gridCol w="6752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7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Group 62">
            <a:extLst>
              <a:ext uri="{FF2B5EF4-FFF2-40B4-BE49-F238E27FC236}">
                <a16:creationId xmlns:a16="http://schemas.microsoft.com/office/drawing/2014/main" id="{5535822A-EBD5-A649-9ADB-1667E5BB7C4F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5635625"/>
          <a:ext cx="4051300" cy="457200"/>
        </p:xfrm>
        <a:graphic>
          <a:graphicData uri="http://schemas.openxmlformats.org/drawingml/2006/table">
            <a:tbl>
              <a:tblPr/>
              <a:tblGrid>
                <a:gridCol w="6746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46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46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46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2112" name="Text Box 78">
            <a:extLst>
              <a:ext uri="{FF2B5EF4-FFF2-40B4-BE49-F238E27FC236}">
                <a16:creationId xmlns:a16="http://schemas.microsoft.com/office/drawing/2014/main" id="{EAC6684D-F5A6-F949-AD5E-58FF28F561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8963" y="4148138"/>
            <a:ext cx="41052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0   1   2    3   </a:t>
            </a:r>
            <a:r>
              <a:rPr kumimoji="0" lang="en-US" altLang="zh-CN" sz="11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   </a:t>
            </a:r>
            <a:r>
              <a:rPr kumimoji="0" lang="en-US" altLang="zh-CN" sz="10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2113" name="Line 9">
            <a:extLst>
              <a:ext uri="{FF2B5EF4-FFF2-40B4-BE49-F238E27FC236}">
                <a16:creationId xmlns:a16="http://schemas.microsoft.com/office/drawing/2014/main" id="{79EF05D9-078F-1A4D-A88F-B3B8FB638706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550" y="2565400"/>
            <a:ext cx="1008063" cy="16557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AutoShape 75">
            <a:extLst>
              <a:ext uri="{FF2B5EF4-FFF2-40B4-BE49-F238E27FC236}">
                <a16:creationId xmlns:a16="http://schemas.microsoft.com/office/drawing/2014/main" id="{800A2A4F-B92E-5744-89C4-1B3E1BD9A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3781425"/>
            <a:ext cx="503238" cy="800100"/>
          </a:xfrm>
          <a:prstGeom prst="upDownArrow">
            <a:avLst>
              <a:gd name="adj1" fmla="val 50000"/>
              <a:gd name="adj2" fmla="val 62625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800">
                <a:solidFill>
                  <a:srgbClr val="000000"/>
                </a:solidFill>
                <a:latin typeface="宋体" panose="02010600030101010101" pitchFamily="2" charset="-122"/>
              </a:rPr>
              <a:t>比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800">
                <a:solidFill>
                  <a:srgbClr val="000000"/>
                </a:solidFill>
                <a:latin typeface="宋体" panose="02010600030101010101" pitchFamily="2" charset="-122"/>
              </a:rPr>
              <a:t>较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800">
                <a:solidFill>
                  <a:srgbClr val="000000"/>
                </a:solidFill>
                <a:latin typeface="宋体" panose="02010600030101010101" pitchFamily="2" charset="-122"/>
              </a:rPr>
              <a:t>大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800">
                <a:solidFill>
                  <a:srgbClr val="000000"/>
                </a:solidFill>
                <a:latin typeface="宋体" panose="02010600030101010101" pitchFamily="2" charset="-122"/>
              </a:rPr>
              <a:t>小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8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70" name="表格 69">
            <a:extLst>
              <a:ext uri="{FF2B5EF4-FFF2-40B4-BE49-F238E27FC236}">
                <a16:creationId xmlns:a16="http://schemas.microsoft.com/office/drawing/2014/main" id="{F2D1B18D-39E6-5B46-B39E-780C65437ACD}"/>
              </a:ext>
            </a:extLst>
          </p:cNvPr>
          <p:cNvGraphicFramePr>
            <a:graphicFrameLocks noGrp="1"/>
          </p:cNvGraphicFramePr>
          <p:nvPr/>
        </p:nvGraphicFramePr>
        <p:xfrm>
          <a:off x="5018088" y="3068638"/>
          <a:ext cx="647700" cy="7413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70681">
                <a:tc>
                  <a:txBody>
                    <a:bodyPr/>
                    <a:lstStyle/>
                    <a:p>
                      <a:endParaRPr lang="zh-CN" altLang="en-US" sz="1800" dirty="0"/>
                    </a:p>
                  </a:txBody>
                  <a:tcPr marL="91388" marR="91388" marT="45700" marB="457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681">
                <a:tc>
                  <a:txBody>
                    <a:bodyPr/>
                    <a:lstStyle/>
                    <a:p>
                      <a:r>
                        <a:rPr lang="en-US" altLang="zh-CN" sz="1800" dirty="0"/>
                        <a:t>+30</a:t>
                      </a:r>
                      <a:endParaRPr lang="zh-CN" altLang="en-US" sz="1800" dirty="0"/>
                    </a:p>
                  </a:txBody>
                  <a:tcPr marL="91388" marR="91388" marT="45700" marB="457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1" name="Text Box 21">
            <a:extLst>
              <a:ext uri="{FF2B5EF4-FFF2-40B4-BE49-F238E27FC236}">
                <a16:creationId xmlns:a16="http://schemas.microsoft.com/office/drawing/2014/main" id="{462E871D-2C61-864F-A66D-B0BFF40C0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4388" y="45815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30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72" name="Line 12">
            <a:extLst>
              <a:ext uri="{FF2B5EF4-FFF2-40B4-BE49-F238E27FC236}">
                <a16:creationId xmlns:a16="http://schemas.microsoft.com/office/drawing/2014/main" id="{BD7AE97C-75A7-264C-BA6E-F75BED5F32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2988" y="2420938"/>
            <a:ext cx="2016125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Text Box 21">
            <a:extLst>
              <a:ext uri="{FF2B5EF4-FFF2-40B4-BE49-F238E27FC236}">
                <a16:creationId xmlns:a16="http://schemas.microsoft.com/office/drawing/2014/main" id="{E8131141-34A7-214A-979D-DA63CEE9C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5513" y="5635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74" name="Text Box 21">
            <a:extLst>
              <a:ext uri="{FF2B5EF4-FFF2-40B4-BE49-F238E27FC236}">
                <a16:creationId xmlns:a16="http://schemas.microsoft.com/office/drawing/2014/main" id="{C2704C38-55A2-3D44-80A1-1C95409587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5513" y="5635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T</a:t>
            </a:r>
          </a:p>
        </p:txBody>
      </p:sp>
      <p:sp>
        <p:nvSpPr>
          <p:cNvPr id="75" name="Text Box 21">
            <a:extLst>
              <a:ext uri="{FF2B5EF4-FFF2-40B4-BE49-F238E27FC236}">
                <a16:creationId xmlns:a16="http://schemas.microsoft.com/office/drawing/2014/main" id="{166F8092-1EA2-1A40-ACE9-5C57D01C51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594225"/>
            <a:ext cx="609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60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76" name="Text Box 21">
            <a:extLst>
              <a:ext uri="{FF2B5EF4-FFF2-40B4-BE49-F238E27FC236}">
                <a16:creationId xmlns:a16="http://schemas.microsoft.com/office/drawing/2014/main" id="{C609AB8D-3843-EB48-B1B9-F92A3AD3C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5250" y="45942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50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77" name="Text Box 21">
            <a:extLst>
              <a:ext uri="{FF2B5EF4-FFF2-40B4-BE49-F238E27FC236}">
                <a16:creationId xmlns:a16="http://schemas.microsoft.com/office/drawing/2014/main" id="{AD18AF04-C5E0-D746-B748-04AB2E4E26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5127625"/>
            <a:ext cx="609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V2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78" name="Text Box 21">
            <a:extLst>
              <a:ext uri="{FF2B5EF4-FFF2-40B4-BE49-F238E27FC236}">
                <a16:creationId xmlns:a16="http://schemas.microsoft.com/office/drawing/2014/main" id="{B5C600E8-2539-F04C-9DDA-D0FA637E08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5250" y="5127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79" name="Text Box 21">
            <a:extLst>
              <a:ext uri="{FF2B5EF4-FFF2-40B4-BE49-F238E27FC236}">
                <a16:creationId xmlns:a16="http://schemas.microsoft.com/office/drawing/2014/main" id="{BB656498-1BD3-694B-9764-666E1DC44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650" y="4594225"/>
            <a:ext cx="719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100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80" name="Text Box 21">
            <a:extLst>
              <a:ext uri="{FF2B5EF4-FFF2-40B4-BE49-F238E27FC236}">
                <a16:creationId xmlns:a16="http://schemas.microsoft.com/office/drawing/2014/main" id="{DA368C4C-B559-B246-AF7D-8CF4A55E5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38" y="45942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90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81" name="Text Box 21">
            <a:extLst>
              <a:ext uri="{FF2B5EF4-FFF2-40B4-BE49-F238E27FC236}">
                <a16:creationId xmlns:a16="http://schemas.microsoft.com/office/drawing/2014/main" id="{8B0024DC-4F2F-DC46-A352-B280F9F0BC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0188" y="5127625"/>
            <a:ext cx="609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82" name="Text Box 21">
            <a:extLst>
              <a:ext uri="{FF2B5EF4-FFF2-40B4-BE49-F238E27FC236}">
                <a16:creationId xmlns:a16="http://schemas.microsoft.com/office/drawing/2014/main" id="{C1386191-9F5A-BE46-AA23-5B3BAAE44C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38" y="5127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5746 0 " pathEditMode="relative" ptsTypes="AA">
                                      <p:cBhvr>
                                        <p:cTn id="3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5746 0 " pathEditMode="relative" ptsTypes="AA">
                                      <p:cBhvr>
                                        <p:cTn id="38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99 7.51445E-7 L 0.30174 7.51445E-7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083" y="0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0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5989 2.65896E-6 L 0.30174 2.65896E-6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083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69" grpId="1" animBg="1"/>
      <p:bldP spid="69" grpId="2" animBg="1"/>
      <p:bldP spid="71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1" name="灯片编号占位符 1">
            <a:extLst>
              <a:ext uri="{FF2B5EF4-FFF2-40B4-BE49-F238E27FC236}">
                <a16:creationId xmlns:a16="http://schemas.microsoft.com/office/drawing/2014/main" id="{B06591D9-0B5F-4A4E-9003-415832D8DF8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577CE68-2307-A044-9F01-40745A88AE23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74082" name="Oval 3">
            <a:extLst>
              <a:ext uri="{FF2B5EF4-FFF2-40B4-BE49-F238E27FC236}">
                <a16:creationId xmlns:a16="http://schemas.microsoft.com/office/drawing/2014/main" id="{124D132A-2566-0B4C-AA6D-2961F14BC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4198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4083" name="Oval 5">
            <a:extLst>
              <a:ext uri="{FF2B5EF4-FFF2-40B4-BE49-F238E27FC236}">
                <a16:creationId xmlns:a16="http://schemas.microsoft.com/office/drawing/2014/main" id="{15FD7C21-0D67-694D-AE12-BFA893094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4084" name="Oval 6">
            <a:extLst>
              <a:ext uri="{FF2B5EF4-FFF2-40B4-BE49-F238E27FC236}">
                <a16:creationId xmlns:a16="http://schemas.microsoft.com/office/drawing/2014/main" id="{56CF0679-DF89-E94B-95E0-1742DC3CD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2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4085" name="Oval 7">
            <a:extLst>
              <a:ext uri="{FF2B5EF4-FFF2-40B4-BE49-F238E27FC236}">
                <a16:creationId xmlns:a16="http://schemas.microsoft.com/office/drawing/2014/main" id="{3A406DA4-DFA2-7E4E-A8EC-6ABF5CEC1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1303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4086" name="Oval 8">
            <a:extLst>
              <a:ext uri="{FF2B5EF4-FFF2-40B4-BE49-F238E27FC236}">
                <a16:creationId xmlns:a16="http://schemas.microsoft.com/office/drawing/2014/main" id="{3BB8A6C4-BA4D-E141-9675-2064DC98C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22177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4087" name="Line 10">
            <a:extLst>
              <a:ext uri="{FF2B5EF4-FFF2-40B4-BE49-F238E27FC236}">
                <a16:creationId xmlns:a16="http://schemas.microsoft.com/office/drawing/2014/main" id="{123277DA-BC80-2743-91C7-D10582E295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76475" y="3589338"/>
            <a:ext cx="838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088" name="Line 11">
            <a:extLst>
              <a:ext uri="{FF2B5EF4-FFF2-40B4-BE49-F238E27FC236}">
                <a16:creationId xmlns:a16="http://schemas.microsoft.com/office/drawing/2014/main" id="{700E9167-6375-9541-8016-87C34EECEBB4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35893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089" name="Line 13">
            <a:extLst>
              <a:ext uri="{FF2B5EF4-FFF2-40B4-BE49-F238E27FC236}">
                <a16:creationId xmlns:a16="http://schemas.microsoft.com/office/drawing/2014/main" id="{BB379467-1EF5-3340-9BF9-7E8FEF4D6A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57275" y="16081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090" name="WordArt 14">
            <a:extLst>
              <a:ext uri="{FF2B5EF4-FFF2-40B4-BE49-F238E27FC236}">
                <a16:creationId xmlns:a16="http://schemas.microsoft.com/office/drawing/2014/main" id="{BC808EBB-A686-0942-B367-464808042B05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2376635">
            <a:off x="1057275" y="1760538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US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100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74091" name="Line 15">
            <a:extLst>
              <a:ext uri="{FF2B5EF4-FFF2-40B4-BE49-F238E27FC236}">
                <a16:creationId xmlns:a16="http://schemas.microsoft.com/office/drawing/2014/main" id="{55AC9023-9619-D64D-87E4-162CE5485EC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76475" y="1608138"/>
            <a:ext cx="762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092" name="Line 16">
            <a:extLst>
              <a:ext uri="{FF2B5EF4-FFF2-40B4-BE49-F238E27FC236}">
                <a16:creationId xmlns:a16="http://schemas.microsoft.com/office/drawing/2014/main" id="{725445C7-8251-9742-9168-B4130B71A44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047875" y="1608138"/>
            <a:ext cx="10668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Line 17">
            <a:extLst>
              <a:ext uri="{FF2B5EF4-FFF2-40B4-BE49-F238E27FC236}">
                <a16:creationId xmlns:a16="http://schemas.microsoft.com/office/drawing/2014/main" id="{65C47CC9-25BD-C249-8A5B-015D64783F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0875" y="2598738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094" name="Text Box 18">
            <a:extLst>
              <a:ext uri="{FF2B5EF4-FFF2-40B4-BE49-F238E27FC236}">
                <a16:creationId xmlns:a16="http://schemas.microsoft.com/office/drawing/2014/main" id="{8B6D3BCD-75C0-A946-A6C4-25449C6EF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7275" y="381793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4095" name="Text Box 19">
            <a:extLst>
              <a:ext uri="{FF2B5EF4-FFF2-40B4-BE49-F238E27FC236}">
                <a16:creationId xmlns:a16="http://schemas.microsoft.com/office/drawing/2014/main" id="{C699EED8-085D-7E4B-B961-08A979DE39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6875" y="20653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30</a:t>
            </a:r>
          </a:p>
        </p:txBody>
      </p:sp>
      <p:sp>
        <p:nvSpPr>
          <p:cNvPr id="174096" name="Text Box 20">
            <a:extLst>
              <a:ext uri="{FF2B5EF4-FFF2-40B4-BE49-F238E27FC236}">
                <a16:creationId xmlns:a16="http://schemas.microsoft.com/office/drawing/2014/main" id="{82E9D4FC-DF57-EE4F-9976-220E6727E6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6475" y="3436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50</a:t>
            </a:r>
          </a:p>
        </p:txBody>
      </p:sp>
      <p:sp>
        <p:nvSpPr>
          <p:cNvPr id="174097" name="Text Box 21">
            <a:extLst>
              <a:ext uri="{FF2B5EF4-FFF2-40B4-BE49-F238E27FC236}">
                <a16:creationId xmlns:a16="http://schemas.microsoft.com/office/drawing/2014/main" id="{1F325462-6460-9B4E-9265-667853CC5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4475" y="29797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74098" name="Text Box 22">
            <a:extLst>
              <a:ext uri="{FF2B5EF4-FFF2-40B4-BE49-F238E27FC236}">
                <a16:creationId xmlns:a16="http://schemas.microsoft.com/office/drawing/2014/main" id="{5F5B63C8-C890-3E4B-983D-1316FDA8D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674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74099" name="Text Box 23">
            <a:extLst>
              <a:ext uri="{FF2B5EF4-FFF2-40B4-BE49-F238E27FC236}">
                <a16:creationId xmlns:a16="http://schemas.microsoft.com/office/drawing/2014/main" id="{F3A13D3C-F8FC-3E4E-821A-5856F50758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5075" y="1531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60</a:t>
            </a:r>
          </a:p>
        </p:txBody>
      </p:sp>
      <p:sp>
        <p:nvSpPr>
          <p:cNvPr id="174100" name="Text Box 24">
            <a:extLst>
              <a:ext uri="{FF2B5EF4-FFF2-40B4-BE49-F238E27FC236}">
                <a16:creationId xmlns:a16="http://schemas.microsoft.com/office/drawing/2014/main" id="{F10A141C-F62F-3942-9956-987D7E7817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" y="115888"/>
            <a:ext cx="44275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Dijkstra</a:t>
            </a:r>
            <a:r>
              <a:rPr kumimoji="0" lang="zh-CN" altLang="en-US" sz="2800">
                <a:latin typeface="宋体" panose="02010600030101010101" pitchFamily="2" charset="-122"/>
              </a:rPr>
              <a:t>路径长度递增法：</a:t>
            </a:r>
          </a:p>
        </p:txBody>
      </p:sp>
      <p:sp>
        <p:nvSpPr>
          <p:cNvPr id="174101" name="Text Box 53">
            <a:extLst>
              <a:ext uri="{FF2B5EF4-FFF2-40B4-BE49-F238E27FC236}">
                <a16:creationId xmlns:a16="http://schemas.microsoft.com/office/drawing/2014/main" id="{41E48BDF-7D24-2C40-8677-37882CECA3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836613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10  </a:t>
            </a:r>
            <a:r>
              <a:rPr kumimoji="0" lang="en-US" altLang="zh-CN" sz="1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30  100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5       ∞  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50 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 ∞      10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20      ∞      60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 ∞      ∞</a:t>
            </a:r>
          </a:p>
        </p:txBody>
      </p:sp>
      <p:sp>
        <p:nvSpPr>
          <p:cNvPr id="174102" name="AutoShape 54">
            <a:extLst>
              <a:ext uri="{FF2B5EF4-FFF2-40B4-BE49-F238E27FC236}">
                <a16:creationId xmlns:a16="http://schemas.microsoft.com/office/drawing/2014/main" id="{82AC7A9D-85C1-F840-A82C-417647267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836613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74103" name="Text Box 55">
            <a:extLst>
              <a:ext uri="{FF2B5EF4-FFF2-40B4-BE49-F238E27FC236}">
                <a16:creationId xmlns:a16="http://schemas.microsoft.com/office/drawing/2014/main" id="{B0A924CA-FB04-2F40-8740-E642271CD8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260350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b="0">
                <a:latin typeface="Times New Roman" panose="02020603050405020304" pitchFamily="18" charset="0"/>
              </a:rPr>
              <a:t> 0     1        2      3      4      5</a:t>
            </a:r>
            <a:endParaRPr kumimoji="0" lang="en-US" altLang="zh-CN" sz="2400" b="0">
              <a:latin typeface="宋体" panose="02010600030101010101" pitchFamily="2" charset="-122"/>
            </a:endParaRPr>
          </a:p>
        </p:txBody>
      </p:sp>
      <p:sp>
        <p:nvSpPr>
          <p:cNvPr id="174104" name="Text Box 56">
            <a:extLst>
              <a:ext uri="{FF2B5EF4-FFF2-40B4-BE49-F238E27FC236}">
                <a16:creationId xmlns:a16="http://schemas.microsoft.com/office/drawing/2014/main" id="{DE80591B-2467-134D-A836-555089C7E5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836613"/>
            <a:ext cx="457200" cy="3195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0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2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4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4105" name="Text Box 58">
            <a:extLst>
              <a:ext uri="{FF2B5EF4-FFF2-40B4-BE49-F238E27FC236}">
                <a16:creationId xmlns:a16="http://schemas.microsoft.com/office/drawing/2014/main" id="{F380973A-A4C4-C04C-B823-7F7B571EF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5060950"/>
            <a:ext cx="37449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最短路径的前驱顶点数组：</a:t>
            </a:r>
          </a:p>
        </p:txBody>
      </p:sp>
      <p:sp>
        <p:nvSpPr>
          <p:cNvPr id="174106" name="Text Box 59">
            <a:extLst>
              <a:ext uri="{FF2B5EF4-FFF2-40B4-BE49-F238E27FC236}">
                <a16:creationId xmlns:a16="http://schemas.microsoft.com/office/drawing/2014/main" id="{7A93DCC9-5D71-D64B-9F84-504D74D3F9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2475" y="4594225"/>
            <a:ext cx="23034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最短路径数组</a:t>
            </a:r>
            <a:r>
              <a:rPr kumimoji="0" lang="en-US" altLang="zh-CN" sz="2400">
                <a:latin typeface="宋体" panose="02010600030101010101" pitchFamily="2" charset="-122"/>
              </a:rPr>
              <a:t>D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74107" name="Text Box 66">
            <a:extLst>
              <a:ext uri="{FF2B5EF4-FFF2-40B4-BE49-F238E27FC236}">
                <a16:creationId xmlns:a16="http://schemas.microsoft.com/office/drawing/2014/main" id="{11182D16-77C0-814A-BD5D-8AE744CF25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1675" y="26114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174108" name="Oval 4">
            <a:extLst>
              <a:ext uri="{FF2B5EF4-FFF2-40B4-BE49-F238E27FC236}">
                <a16:creationId xmlns:a16="http://schemas.microsoft.com/office/drawing/2014/main" id="{1E47D998-6687-414E-A306-19D907156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988" y="2205038"/>
            <a:ext cx="381000" cy="381000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74109" name="Text Box 59">
            <a:extLst>
              <a:ext uri="{FF2B5EF4-FFF2-40B4-BE49-F238E27FC236}">
                <a16:creationId xmlns:a16="http://schemas.microsoft.com/office/drawing/2014/main" id="{1D833FA5-2C5C-594E-9D6D-041CA937DA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8188" y="5661025"/>
            <a:ext cx="2303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Final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74110" name="Text Box 21">
            <a:extLst>
              <a:ext uri="{FF2B5EF4-FFF2-40B4-BE49-F238E27FC236}">
                <a16:creationId xmlns:a16="http://schemas.microsoft.com/office/drawing/2014/main" id="{CAF9B89B-9A3E-F843-83CB-BC5C916D78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5488" y="45815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graphicFrame>
        <p:nvGraphicFramePr>
          <p:cNvPr id="32" name="Group 62">
            <a:extLst>
              <a:ext uri="{FF2B5EF4-FFF2-40B4-BE49-F238E27FC236}">
                <a16:creationId xmlns:a16="http://schemas.microsoft.com/office/drawing/2014/main" id="{978456FA-DE47-6745-8F6E-E0AB5E4D5DF3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4570413"/>
          <a:ext cx="4032252" cy="457200"/>
        </p:xfrm>
        <a:graphic>
          <a:graphicData uri="http://schemas.openxmlformats.org/drawingml/2006/table">
            <a:tbl>
              <a:tblPr/>
              <a:tblGrid>
                <a:gridCol w="672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3" name="Group 65">
            <a:extLst>
              <a:ext uri="{FF2B5EF4-FFF2-40B4-BE49-F238E27FC236}">
                <a16:creationId xmlns:a16="http://schemas.microsoft.com/office/drawing/2014/main" id="{F541CD5B-D741-044D-A43E-490A70D044DA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5114925"/>
          <a:ext cx="4051302" cy="457200"/>
        </p:xfrm>
        <a:graphic>
          <a:graphicData uri="http://schemas.openxmlformats.org/drawingml/2006/table">
            <a:tbl>
              <a:tblPr/>
              <a:tblGrid>
                <a:gridCol w="6752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7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" name="Group 62">
            <a:extLst>
              <a:ext uri="{FF2B5EF4-FFF2-40B4-BE49-F238E27FC236}">
                <a16:creationId xmlns:a16="http://schemas.microsoft.com/office/drawing/2014/main" id="{947E5381-227A-8D46-BF64-C48BC39EF04F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5635625"/>
          <a:ext cx="4052887" cy="457200"/>
        </p:xfrm>
        <a:graphic>
          <a:graphicData uri="http://schemas.openxmlformats.org/drawingml/2006/table">
            <a:tbl>
              <a:tblPr/>
              <a:tblGrid>
                <a:gridCol w="676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46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46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46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4159" name="Text Box 78">
            <a:extLst>
              <a:ext uri="{FF2B5EF4-FFF2-40B4-BE49-F238E27FC236}">
                <a16:creationId xmlns:a16="http://schemas.microsoft.com/office/drawing/2014/main" id="{96F671F4-C415-F842-8342-D487AD27D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8963" y="4148138"/>
            <a:ext cx="41052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0   1   2    3   </a:t>
            </a:r>
            <a:r>
              <a:rPr kumimoji="0" lang="en-US" altLang="zh-CN" sz="11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   </a:t>
            </a:r>
            <a:r>
              <a:rPr kumimoji="0" lang="en-US" altLang="zh-CN" sz="10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4160" name="Line 9">
            <a:extLst>
              <a:ext uri="{FF2B5EF4-FFF2-40B4-BE49-F238E27FC236}">
                <a16:creationId xmlns:a16="http://schemas.microsoft.com/office/drawing/2014/main" id="{ECD8B361-612A-7F42-A547-5BBA14D1F6BE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550" y="2565400"/>
            <a:ext cx="1008063" cy="16557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AutoShape 75">
            <a:extLst>
              <a:ext uri="{FF2B5EF4-FFF2-40B4-BE49-F238E27FC236}">
                <a16:creationId xmlns:a16="http://schemas.microsoft.com/office/drawing/2014/main" id="{FCCFD5F0-7265-6346-B622-99E11BB82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3284538"/>
            <a:ext cx="647700" cy="1296987"/>
          </a:xfrm>
          <a:prstGeom prst="upDownArrow">
            <a:avLst>
              <a:gd name="adj1" fmla="val 50000"/>
              <a:gd name="adj2" fmla="val 62577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1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1400">
                <a:solidFill>
                  <a:srgbClr val="000000"/>
                </a:solidFill>
                <a:latin typeface="宋体" panose="02010600030101010101" pitchFamily="2" charset="-122"/>
              </a:rPr>
              <a:t>比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1400">
                <a:solidFill>
                  <a:srgbClr val="000000"/>
                </a:solidFill>
                <a:latin typeface="宋体" panose="02010600030101010101" pitchFamily="2" charset="-122"/>
              </a:rPr>
              <a:t>较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1400">
                <a:solidFill>
                  <a:srgbClr val="000000"/>
                </a:solidFill>
                <a:latin typeface="宋体" panose="02010600030101010101" pitchFamily="2" charset="-122"/>
              </a:rPr>
              <a:t>大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1400">
                <a:solidFill>
                  <a:srgbClr val="000000"/>
                </a:solidFill>
                <a:latin typeface="宋体" panose="02010600030101010101" pitchFamily="2" charset="-122"/>
              </a:rPr>
              <a:t>小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1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38" name="表格 37">
            <a:extLst>
              <a:ext uri="{FF2B5EF4-FFF2-40B4-BE49-F238E27FC236}">
                <a16:creationId xmlns:a16="http://schemas.microsoft.com/office/drawing/2014/main" id="{4EEEAA45-221E-DF48-BC63-E6463FDD8C7E}"/>
              </a:ext>
            </a:extLst>
          </p:cNvPr>
          <p:cNvGraphicFramePr>
            <a:graphicFrameLocks noGrp="1"/>
          </p:cNvGraphicFramePr>
          <p:nvPr/>
        </p:nvGraphicFramePr>
        <p:xfrm>
          <a:off x="5018088" y="2543175"/>
          <a:ext cx="647700" cy="7413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70682">
                <a:tc>
                  <a:txBody>
                    <a:bodyPr/>
                    <a:lstStyle/>
                    <a:p>
                      <a:endParaRPr lang="zh-CN" altLang="en-US" sz="1800" dirty="0"/>
                    </a:p>
                  </a:txBody>
                  <a:tcPr marL="91388" marR="91388" marT="45700" marB="457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682">
                <a:tc>
                  <a:txBody>
                    <a:bodyPr/>
                    <a:lstStyle/>
                    <a:p>
                      <a:r>
                        <a:rPr lang="en-US" altLang="zh-CN" sz="1800" dirty="0"/>
                        <a:t>+50</a:t>
                      </a:r>
                      <a:endParaRPr lang="zh-CN" altLang="en-US" sz="1800" dirty="0"/>
                    </a:p>
                  </a:txBody>
                  <a:tcPr marL="91388" marR="91388" marT="45700" marB="457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4170" name="Text Box 21">
            <a:extLst>
              <a:ext uri="{FF2B5EF4-FFF2-40B4-BE49-F238E27FC236}">
                <a16:creationId xmlns:a16="http://schemas.microsoft.com/office/drawing/2014/main" id="{108DA569-C0ED-9A4F-AF90-AF61BBF98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4388" y="45815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30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174171" name="Line 12">
            <a:extLst>
              <a:ext uri="{FF2B5EF4-FFF2-40B4-BE49-F238E27FC236}">
                <a16:creationId xmlns:a16="http://schemas.microsoft.com/office/drawing/2014/main" id="{F1C025A1-25AD-F441-9AED-6E3E7F7CD66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2988" y="2420938"/>
            <a:ext cx="2016125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Text Box 21">
            <a:extLst>
              <a:ext uri="{FF2B5EF4-FFF2-40B4-BE49-F238E27FC236}">
                <a16:creationId xmlns:a16="http://schemas.microsoft.com/office/drawing/2014/main" id="{3132D414-CEC7-3F42-B49B-1945BB3D0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88" y="4579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50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174173" name="Text Box 21">
            <a:extLst>
              <a:ext uri="{FF2B5EF4-FFF2-40B4-BE49-F238E27FC236}">
                <a16:creationId xmlns:a16="http://schemas.microsoft.com/office/drawing/2014/main" id="{3083C792-0049-D24E-8798-16772458CD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2400" y="5127625"/>
            <a:ext cx="609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43" name="Text Box 21">
            <a:extLst>
              <a:ext uri="{FF2B5EF4-FFF2-40B4-BE49-F238E27FC236}">
                <a16:creationId xmlns:a16="http://schemas.microsoft.com/office/drawing/2014/main" id="{B711104A-3053-F54A-8682-98A633C77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4594225"/>
            <a:ext cx="719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90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44" name="Text Box 21">
            <a:extLst>
              <a:ext uri="{FF2B5EF4-FFF2-40B4-BE49-F238E27FC236}">
                <a16:creationId xmlns:a16="http://schemas.microsoft.com/office/drawing/2014/main" id="{5E995C2A-B92D-6D46-979E-7C115A45FD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45942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60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45" name="Text Box 21">
            <a:extLst>
              <a:ext uri="{FF2B5EF4-FFF2-40B4-BE49-F238E27FC236}">
                <a16:creationId xmlns:a16="http://schemas.microsoft.com/office/drawing/2014/main" id="{51228A84-D124-AC46-908D-FC39AF464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6863" y="5127625"/>
            <a:ext cx="609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46" name="Text Box 21">
            <a:extLst>
              <a:ext uri="{FF2B5EF4-FFF2-40B4-BE49-F238E27FC236}">
                <a16:creationId xmlns:a16="http://schemas.microsoft.com/office/drawing/2014/main" id="{56AFF070-63D3-8249-8301-302757B11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3213" y="5127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V3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47" name="Line 9">
            <a:extLst>
              <a:ext uri="{FF2B5EF4-FFF2-40B4-BE49-F238E27FC236}">
                <a16:creationId xmlns:a16="http://schemas.microsoft.com/office/drawing/2014/main" id="{3B478AA9-F083-8A43-A348-3C17C99DF8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03575" y="2565400"/>
            <a:ext cx="0" cy="719138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Line 9">
            <a:extLst>
              <a:ext uri="{FF2B5EF4-FFF2-40B4-BE49-F238E27FC236}">
                <a16:creationId xmlns:a16="http://schemas.microsoft.com/office/drawing/2014/main" id="{78BEC321-AA5D-0441-899D-52765D6034C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2988" y="2463800"/>
            <a:ext cx="2016125" cy="0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Text Box 21">
            <a:extLst>
              <a:ext uri="{FF2B5EF4-FFF2-40B4-BE49-F238E27FC236}">
                <a16:creationId xmlns:a16="http://schemas.microsoft.com/office/drawing/2014/main" id="{C2CF5F32-F639-004F-90F4-2B5298ED7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4788" y="5635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50" name="Text Box 21">
            <a:extLst>
              <a:ext uri="{FF2B5EF4-FFF2-40B4-BE49-F238E27FC236}">
                <a16:creationId xmlns:a16="http://schemas.microsoft.com/office/drawing/2014/main" id="{19DB59D0-F359-F445-AE1F-A33DBC2E74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4788" y="5635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T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4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9931 0 " pathEditMode="relative" ptsTypes="AA">
                                      <p:cBhvr>
                                        <p:cTn id="4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9931 0 " pathEditMode="relative" ptsTypes="AA">
                                      <p:cBhvr>
                                        <p:cTn id="42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37" grpId="1" animBg="1"/>
      <p:bldP spid="41" grpId="0"/>
      <p:bldP spid="43" grpId="0"/>
      <p:bldP spid="44" grpId="0"/>
      <p:bldP spid="45" grpId="0"/>
      <p:bldP spid="46" grpId="0"/>
      <p:bldP spid="49" grpId="0"/>
      <p:bldP spid="50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29" name="灯片编号占位符 1">
            <a:extLst>
              <a:ext uri="{FF2B5EF4-FFF2-40B4-BE49-F238E27FC236}">
                <a16:creationId xmlns:a16="http://schemas.microsoft.com/office/drawing/2014/main" id="{3F2099B4-7EE7-0244-9173-84A1985D4F0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E109D6A-AC9B-D646-9C12-A4282CEFC2D6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76130" name="Oval 3">
            <a:extLst>
              <a:ext uri="{FF2B5EF4-FFF2-40B4-BE49-F238E27FC236}">
                <a16:creationId xmlns:a16="http://schemas.microsoft.com/office/drawing/2014/main" id="{4969460D-C4FA-984A-83C6-A28969A5E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41989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V2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6131" name="Oval 5">
            <a:extLst>
              <a:ext uri="{FF2B5EF4-FFF2-40B4-BE49-F238E27FC236}">
                <a16:creationId xmlns:a16="http://schemas.microsoft.com/office/drawing/2014/main" id="{9ECBDD79-89B8-0146-830D-9AF836207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V3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6132" name="Oval 6">
            <a:extLst>
              <a:ext uri="{FF2B5EF4-FFF2-40B4-BE49-F238E27FC236}">
                <a16:creationId xmlns:a16="http://schemas.microsoft.com/office/drawing/2014/main" id="{E1169F59-D5C4-A649-9068-FD2FC4189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275" y="32845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V1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6133" name="Oval 7">
            <a:extLst>
              <a:ext uri="{FF2B5EF4-FFF2-40B4-BE49-F238E27FC236}">
                <a16:creationId xmlns:a16="http://schemas.microsoft.com/office/drawing/2014/main" id="{D114061C-20BB-D143-AA0C-A6B9485D9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5475" y="13033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V5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6134" name="Oval 8">
            <a:extLst>
              <a:ext uri="{FF2B5EF4-FFF2-40B4-BE49-F238E27FC236}">
                <a16:creationId xmlns:a16="http://schemas.microsoft.com/office/drawing/2014/main" id="{5679449C-63C5-EF4A-9906-7B2123C04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8475" y="221773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 noProof="1">
              <a:latin typeface="宋体" panose="02010600030101010101" pitchFamily="2" charset="-122"/>
            </a:endParaRPr>
          </a:p>
        </p:txBody>
      </p:sp>
      <p:sp>
        <p:nvSpPr>
          <p:cNvPr id="176135" name="Line 10">
            <a:extLst>
              <a:ext uri="{FF2B5EF4-FFF2-40B4-BE49-F238E27FC236}">
                <a16:creationId xmlns:a16="http://schemas.microsoft.com/office/drawing/2014/main" id="{BF84369B-20FA-1C4A-8516-B7A2271AC1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76475" y="3589338"/>
            <a:ext cx="8382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6136" name="Line 11">
            <a:extLst>
              <a:ext uri="{FF2B5EF4-FFF2-40B4-BE49-F238E27FC236}">
                <a16:creationId xmlns:a16="http://schemas.microsoft.com/office/drawing/2014/main" id="{6B108E98-2BA6-FC4C-900A-F4FFC45FDFC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35893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6137" name="Line 13">
            <a:extLst>
              <a:ext uri="{FF2B5EF4-FFF2-40B4-BE49-F238E27FC236}">
                <a16:creationId xmlns:a16="http://schemas.microsoft.com/office/drawing/2014/main" id="{7DCDD8BC-7990-1C4E-8E9E-56D30B9AD6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57275" y="1608138"/>
            <a:ext cx="91440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6138" name="WordArt 14">
            <a:extLst>
              <a:ext uri="{FF2B5EF4-FFF2-40B4-BE49-F238E27FC236}">
                <a16:creationId xmlns:a16="http://schemas.microsoft.com/office/drawing/2014/main" id="{F488D036-335A-1F4B-9C14-93AE9D5328AE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 rot="-2376635">
            <a:off x="1057275" y="1760538"/>
            <a:ext cx="457200" cy="244475"/>
          </a:xfrm>
          <a:prstGeom prst="rect">
            <a:avLst/>
          </a:prstGeom>
        </p:spPr>
        <p:txBody>
          <a:bodyPr wrap="none" fromWordArt="1">
            <a:prstTxWarp prst="textCanDown">
              <a:avLst>
                <a:gd name="adj" fmla="val 6514"/>
              </a:avLst>
            </a:prstTxWarp>
          </a:bodyPr>
          <a:lstStyle/>
          <a:p>
            <a:pPr algn="ctr"/>
            <a:r>
              <a:rPr lang="en-US" altLang="zh-CN" sz="1800" kern="10">
                <a:ln w="317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a typeface="Tahoma" panose="020B0604030504040204" pitchFamily="34" charset="0"/>
                <a:cs typeface="Tahoma" panose="020B0604030504040204" pitchFamily="34" charset="0"/>
              </a:rPr>
              <a:t>100</a:t>
            </a:r>
            <a:endParaRPr lang="zh-CN" altLang="en-US" sz="1800" kern="10">
              <a:ln w="317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cs typeface="Tahoma" panose="020B0604030504040204" pitchFamily="34" charset="0"/>
            </a:endParaRPr>
          </a:p>
        </p:txBody>
      </p:sp>
      <p:sp>
        <p:nvSpPr>
          <p:cNvPr id="176139" name="Line 15">
            <a:extLst>
              <a:ext uri="{FF2B5EF4-FFF2-40B4-BE49-F238E27FC236}">
                <a16:creationId xmlns:a16="http://schemas.microsoft.com/office/drawing/2014/main" id="{86D54DBF-3241-6648-A27A-396C7EB36EB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76475" y="1608138"/>
            <a:ext cx="762000" cy="68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Line 16">
            <a:extLst>
              <a:ext uri="{FF2B5EF4-FFF2-40B4-BE49-F238E27FC236}">
                <a16:creationId xmlns:a16="http://schemas.microsoft.com/office/drawing/2014/main" id="{092CF145-8E49-0246-B840-F7745008837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047875" y="1608138"/>
            <a:ext cx="10668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6141" name="Text Box 18">
            <a:extLst>
              <a:ext uri="{FF2B5EF4-FFF2-40B4-BE49-F238E27FC236}">
                <a16:creationId xmlns:a16="http://schemas.microsoft.com/office/drawing/2014/main" id="{B7659C1E-2600-4D44-9580-59AF3D2CB5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7275" y="381793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6142" name="Text Box 19">
            <a:extLst>
              <a:ext uri="{FF2B5EF4-FFF2-40B4-BE49-F238E27FC236}">
                <a16:creationId xmlns:a16="http://schemas.microsoft.com/office/drawing/2014/main" id="{58F6C09C-44D0-F944-BA90-9435D6D5E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2275" y="19891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30</a:t>
            </a:r>
          </a:p>
        </p:txBody>
      </p:sp>
      <p:sp>
        <p:nvSpPr>
          <p:cNvPr id="176143" name="Text Box 20">
            <a:extLst>
              <a:ext uri="{FF2B5EF4-FFF2-40B4-BE49-F238E27FC236}">
                <a16:creationId xmlns:a16="http://schemas.microsoft.com/office/drawing/2014/main" id="{2CF1822B-1ECE-6B49-8C3F-D85BE4BAE0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6475" y="3436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50</a:t>
            </a:r>
          </a:p>
        </p:txBody>
      </p:sp>
      <p:sp>
        <p:nvSpPr>
          <p:cNvPr id="176144" name="Text Box 21">
            <a:extLst>
              <a:ext uri="{FF2B5EF4-FFF2-40B4-BE49-F238E27FC236}">
                <a16:creationId xmlns:a16="http://schemas.microsoft.com/office/drawing/2014/main" id="{CDC15B8F-E30C-5945-9DC0-01AB53C71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4475" y="29797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76145" name="Text Box 22">
            <a:extLst>
              <a:ext uri="{FF2B5EF4-FFF2-40B4-BE49-F238E27FC236}">
                <a16:creationId xmlns:a16="http://schemas.microsoft.com/office/drawing/2014/main" id="{263E0ABD-3DD8-F047-B37B-1ABC9BB386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674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76146" name="Text Box 23">
            <a:extLst>
              <a:ext uri="{FF2B5EF4-FFF2-40B4-BE49-F238E27FC236}">
                <a16:creationId xmlns:a16="http://schemas.microsoft.com/office/drawing/2014/main" id="{04EB1DA9-2CCB-6849-A5EF-AA07234AC9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5075" y="1531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60</a:t>
            </a:r>
          </a:p>
        </p:txBody>
      </p:sp>
      <p:sp>
        <p:nvSpPr>
          <p:cNvPr id="176147" name="Text Box 24">
            <a:extLst>
              <a:ext uri="{FF2B5EF4-FFF2-40B4-BE49-F238E27FC236}">
                <a16:creationId xmlns:a16="http://schemas.microsoft.com/office/drawing/2014/main" id="{4E4237F4-FD6E-8142-B9AD-C81DF48A3F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" y="115888"/>
            <a:ext cx="44275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>
                <a:latin typeface="宋体" panose="02010600030101010101" pitchFamily="2" charset="-122"/>
              </a:rPr>
              <a:t>Dijkstra</a:t>
            </a:r>
            <a:r>
              <a:rPr kumimoji="0" lang="zh-CN" altLang="en-US" sz="2800">
                <a:latin typeface="宋体" panose="02010600030101010101" pitchFamily="2" charset="-122"/>
              </a:rPr>
              <a:t>路径长度递增法：</a:t>
            </a:r>
          </a:p>
        </p:txBody>
      </p:sp>
      <p:sp>
        <p:nvSpPr>
          <p:cNvPr id="176148" name="Text Box 53">
            <a:extLst>
              <a:ext uri="{FF2B5EF4-FFF2-40B4-BE49-F238E27FC236}">
                <a16:creationId xmlns:a16="http://schemas.microsoft.com/office/drawing/2014/main" id="{FC8558E4-C56E-A64C-81C3-1742B917C0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836613"/>
            <a:ext cx="4038600" cy="323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 </a:t>
            </a:r>
            <a:r>
              <a:rPr kumimoji="0" lang="en-US" altLang="zh-CN" sz="2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10  </a:t>
            </a:r>
            <a:r>
              <a:rPr kumimoji="0" lang="en-US" altLang="zh-CN" sz="1400"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宋体" panose="02010600030101010101" pitchFamily="2" charset="-122"/>
              </a:rPr>
              <a:t>   30  100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5       ∞  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50      ∞       ∞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 ∞      10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20      ∞      60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FFCC00"/>
                </a:solidFill>
                <a:latin typeface="Times New Roman" panose="02020603050405020304" pitchFamily="18" charset="0"/>
              </a:rPr>
              <a:t>∞</a:t>
            </a:r>
            <a:r>
              <a:rPr kumimoji="0" lang="en-US" altLang="zh-CN" sz="2400">
                <a:latin typeface="Times New Roman" panose="02020603050405020304" pitchFamily="18" charset="0"/>
              </a:rPr>
              <a:t>   ∞      ∞      ∞       ∞      ∞</a:t>
            </a:r>
          </a:p>
        </p:txBody>
      </p:sp>
      <p:sp>
        <p:nvSpPr>
          <p:cNvPr id="176149" name="AutoShape 54">
            <a:extLst>
              <a:ext uri="{FF2B5EF4-FFF2-40B4-BE49-F238E27FC236}">
                <a16:creationId xmlns:a16="http://schemas.microsoft.com/office/drawing/2014/main" id="{ADB1464F-160E-7649-B5AB-A372EF73E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850" y="836613"/>
            <a:ext cx="3962400" cy="3200400"/>
          </a:xfrm>
          <a:prstGeom prst="bracketPair">
            <a:avLst>
              <a:gd name="adj" fmla="val 469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  <p:sp>
        <p:nvSpPr>
          <p:cNvPr id="176150" name="Text Box 55">
            <a:extLst>
              <a:ext uri="{FF2B5EF4-FFF2-40B4-BE49-F238E27FC236}">
                <a16:creationId xmlns:a16="http://schemas.microsoft.com/office/drawing/2014/main" id="{54843E86-4999-FE4D-A09B-133E400C3A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260350"/>
            <a:ext cx="3886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b="0">
                <a:latin typeface="Times New Roman" panose="02020603050405020304" pitchFamily="18" charset="0"/>
              </a:rPr>
              <a:t> 0     1        2      3      4      5</a:t>
            </a:r>
            <a:endParaRPr kumimoji="0" lang="en-US" altLang="zh-CN" sz="2400" b="0">
              <a:latin typeface="宋体" panose="02010600030101010101" pitchFamily="2" charset="-122"/>
            </a:endParaRPr>
          </a:p>
        </p:txBody>
      </p:sp>
      <p:sp>
        <p:nvSpPr>
          <p:cNvPr id="176151" name="Text Box 56">
            <a:extLst>
              <a:ext uri="{FF2B5EF4-FFF2-40B4-BE49-F238E27FC236}">
                <a16:creationId xmlns:a16="http://schemas.microsoft.com/office/drawing/2014/main" id="{C2DF1E8B-A5F7-E34F-94FD-FB565C6430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836613"/>
            <a:ext cx="457200" cy="3195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0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2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4</a:t>
            </a:r>
          </a:p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6152" name="Text Box 58">
            <a:extLst>
              <a:ext uri="{FF2B5EF4-FFF2-40B4-BE49-F238E27FC236}">
                <a16:creationId xmlns:a16="http://schemas.microsoft.com/office/drawing/2014/main" id="{583B6C27-5BF0-9943-BF0B-370EC0B62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5060950"/>
            <a:ext cx="37449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最短路径的前驱顶点数组：</a:t>
            </a:r>
          </a:p>
        </p:txBody>
      </p:sp>
      <p:sp>
        <p:nvSpPr>
          <p:cNvPr id="176153" name="Text Box 59">
            <a:extLst>
              <a:ext uri="{FF2B5EF4-FFF2-40B4-BE49-F238E27FC236}">
                <a16:creationId xmlns:a16="http://schemas.microsoft.com/office/drawing/2014/main" id="{53D88CAB-2BC1-EE43-86C8-4B54C80EAE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2475" y="4594225"/>
            <a:ext cx="23034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latin typeface="宋体" panose="02010600030101010101" pitchFamily="2" charset="-122"/>
              </a:rPr>
              <a:t>最短路径数组</a:t>
            </a:r>
            <a:r>
              <a:rPr kumimoji="0" lang="en-US" altLang="zh-CN" sz="2400">
                <a:latin typeface="宋体" panose="02010600030101010101" pitchFamily="2" charset="-122"/>
              </a:rPr>
              <a:t>D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76154" name="Text Box 66">
            <a:extLst>
              <a:ext uri="{FF2B5EF4-FFF2-40B4-BE49-F238E27FC236}">
                <a16:creationId xmlns:a16="http://schemas.microsoft.com/office/drawing/2014/main" id="{5B5D38FA-7206-214F-A967-AE01DEAB39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1675" y="26114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176155" name="Oval 4">
            <a:extLst>
              <a:ext uri="{FF2B5EF4-FFF2-40B4-BE49-F238E27FC236}">
                <a16:creationId xmlns:a16="http://schemas.microsoft.com/office/drawing/2014/main" id="{43FD608A-2910-F64D-8D5A-F2E373B20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988" y="2205038"/>
            <a:ext cx="381000" cy="381000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endParaRPr kumimoji="0" lang="en-US" altLang="zh-CN" sz="2400" noProof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76156" name="Text Box 59">
            <a:extLst>
              <a:ext uri="{FF2B5EF4-FFF2-40B4-BE49-F238E27FC236}">
                <a16:creationId xmlns:a16="http://schemas.microsoft.com/office/drawing/2014/main" id="{01E85D7D-B305-6A46-BCCF-2CF34B133E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8188" y="5661025"/>
            <a:ext cx="2303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Final</a:t>
            </a:r>
            <a:r>
              <a:rPr kumimoji="0" lang="zh-CN" altLang="en-US" sz="2400"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76157" name="Text Box 21">
            <a:extLst>
              <a:ext uri="{FF2B5EF4-FFF2-40B4-BE49-F238E27FC236}">
                <a16:creationId xmlns:a16="http://schemas.microsoft.com/office/drawing/2014/main" id="{4325AAED-8D29-B245-8A5D-E448E47509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5488" y="45815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graphicFrame>
        <p:nvGraphicFramePr>
          <p:cNvPr id="31" name="Group 62">
            <a:extLst>
              <a:ext uri="{FF2B5EF4-FFF2-40B4-BE49-F238E27FC236}">
                <a16:creationId xmlns:a16="http://schemas.microsoft.com/office/drawing/2014/main" id="{5E6B2B80-B854-B346-8787-E6DE3F65012B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4570413"/>
          <a:ext cx="4032252" cy="457200"/>
        </p:xfrm>
        <a:graphic>
          <a:graphicData uri="http://schemas.openxmlformats.org/drawingml/2006/table">
            <a:tbl>
              <a:tblPr/>
              <a:tblGrid>
                <a:gridCol w="672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20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2" name="Group 65">
            <a:extLst>
              <a:ext uri="{FF2B5EF4-FFF2-40B4-BE49-F238E27FC236}">
                <a16:creationId xmlns:a16="http://schemas.microsoft.com/office/drawing/2014/main" id="{916CC1D7-2727-A84C-BCCB-0C79F0F7FC7F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5114925"/>
          <a:ext cx="4051302" cy="457200"/>
        </p:xfrm>
        <a:graphic>
          <a:graphicData uri="http://schemas.openxmlformats.org/drawingml/2006/table">
            <a:tbl>
              <a:tblPr/>
              <a:tblGrid>
                <a:gridCol w="6752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52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7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itchFamily="2" charset="-122"/>
                        <a:ea typeface="宋体" pitchFamily="2" charset="-122"/>
                      </a:endParaRPr>
                    </a:p>
                  </a:txBody>
                  <a:tcPr marL="91434" marR="914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3" name="Group 62">
            <a:extLst>
              <a:ext uri="{FF2B5EF4-FFF2-40B4-BE49-F238E27FC236}">
                <a16:creationId xmlns:a16="http://schemas.microsoft.com/office/drawing/2014/main" id="{A2C5D870-661C-224D-AE4D-F90A573CF6AE}"/>
              </a:ext>
            </a:extLst>
          </p:cNvPr>
          <p:cNvGraphicFramePr>
            <a:graphicFrameLocks noGrp="1"/>
          </p:cNvGraphicFramePr>
          <p:nvPr/>
        </p:nvGraphicFramePr>
        <p:xfrm>
          <a:off x="4398963" y="5635625"/>
          <a:ext cx="4051300" cy="457200"/>
        </p:xfrm>
        <a:graphic>
          <a:graphicData uri="http://schemas.openxmlformats.org/drawingml/2006/table">
            <a:tbl>
              <a:tblPr/>
              <a:tblGrid>
                <a:gridCol w="6746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46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46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62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46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F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anose="05000000000000000000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anose="05000000000000000000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anose="05000000000000000000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6206" name="Text Box 78">
            <a:extLst>
              <a:ext uri="{FF2B5EF4-FFF2-40B4-BE49-F238E27FC236}">
                <a16:creationId xmlns:a16="http://schemas.microsoft.com/office/drawing/2014/main" id="{0D7DF3A2-5B92-554D-9A21-E885D1C6A9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8963" y="4148138"/>
            <a:ext cx="41052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0   1   2    3   </a:t>
            </a:r>
            <a:r>
              <a:rPr kumimoji="0" lang="en-US" altLang="zh-CN" sz="11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4   </a:t>
            </a:r>
            <a:r>
              <a:rPr kumimoji="0" lang="en-US" altLang="zh-CN" sz="10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5</a:t>
            </a:r>
          </a:p>
        </p:txBody>
      </p:sp>
      <p:sp>
        <p:nvSpPr>
          <p:cNvPr id="176207" name="Line 9">
            <a:extLst>
              <a:ext uri="{FF2B5EF4-FFF2-40B4-BE49-F238E27FC236}">
                <a16:creationId xmlns:a16="http://schemas.microsoft.com/office/drawing/2014/main" id="{C8EEEC63-DB1A-8F4E-B210-A2102F231618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550" y="2565400"/>
            <a:ext cx="1008063" cy="16557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6208" name="Text Box 21">
            <a:extLst>
              <a:ext uri="{FF2B5EF4-FFF2-40B4-BE49-F238E27FC236}">
                <a16:creationId xmlns:a16="http://schemas.microsoft.com/office/drawing/2014/main" id="{946E534A-56E6-FF4E-892B-C4AA991F2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4388" y="45815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30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176209" name="Line 12">
            <a:extLst>
              <a:ext uri="{FF2B5EF4-FFF2-40B4-BE49-F238E27FC236}">
                <a16:creationId xmlns:a16="http://schemas.microsoft.com/office/drawing/2014/main" id="{936156DE-3BED-FA49-98B6-1811606F13D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2988" y="2392363"/>
            <a:ext cx="2016125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6210" name="Text Box 21">
            <a:extLst>
              <a:ext uri="{FF2B5EF4-FFF2-40B4-BE49-F238E27FC236}">
                <a16:creationId xmlns:a16="http://schemas.microsoft.com/office/drawing/2014/main" id="{C4543972-59B0-3949-9ACB-670795FDA9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88" y="457993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50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176211" name="Text Box 21">
            <a:extLst>
              <a:ext uri="{FF2B5EF4-FFF2-40B4-BE49-F238E27FC236}">
                <a16:creationId xmlns:a16="http://schemas.microsoft.com/office/drawing/2014/main" id="{00F9082B-15DB-F54D-A0CA-AED030E1CA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2400" y="5127625"/>
            <a:ext cx="609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V4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40" name="Text Box 21">
            <a:extLst>
              <a:ext uri="{FF2B5EF4-FFF2-40B4-BE49-F238E27FC236}">
                <a16:creationId xmlns:a16="http://schemas.microsoft.com/office/drawing/2014/main" id="{366DE6C0-3757-1840-9042-40487F3736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0188" y="45942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60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176213" name="Text Box 21">
            <a:extLst>
              <a:ext uri="{FF2B5EF4-FFF2-40B4-BE49-F238E27FC236}">
                <a16:creationId xmlns:a16="http://schemas.microsoft.com/office/drawing/2014/main" id="{6D204A2D-FBD3-8040-B447-AA6BEA13E2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5127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V3</a:t>
            </a:r>
            <a:endParaRPr kumimoji="0" lang="en-US" altLang="zh-CN" sz="2400">
              <a:latin typeface="宋体" panose="02010600030101010101" pitchFamily="2" charset="-122"/>
            </a:endParaRPr>
          </a:p>
        </p:txBody>
      </p:sp>
      <p:sp>
        <p:nvSpPr>
          <p:cNvPr id="176214" name="Line 9">
            <a:extLst>
              <a:ext uri="{FF2B5EF4-FFF2-40B4-BE49-F238E27FC236}">
                <a16:creationId xmlns:a16="http://schemas.microsoft.com/office/drawing/2014/main" id="{E3DFC74F-C93C-5E41-B392-E8FF1D3BEC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2565400"/>
            <a:ext cx="0" cy="719138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6215" name="Line 9">
            <a:extLst>
              <a:ext uri="{FF2B5EF4-FFF2-40B4-BE49-F238E27FC236}">
                <a16:creationId xmlns:a16="http://schemas.microsoft.com/office/drawing/2014/main" id="{E18FCF8F-0A7E-9D45-B720-3707D865559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2988" y="2435225"/>
            <a:ext cx="2016125" cy="0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Line 9">
            <a:extLst>
              <a:ext uri="{FF2B5EF4-FFF2-40B4-BE49-F238E27FC236}">
                <a16:creationId xmlns:a16="http://schemas.microsoft.com/office/drawing/2014/main" id="{FA7F6423-AF87-D54C-B35E-983381BE96DA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2988" y="2492375"/>
            <a:ext cx="2016125" cy="0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Line 9">
            <a:extLst>
              <a:ext uri="{FF2B5EF4-FFF2-40B4-BE49-F238E27FC236}">
                <a16:creationId xmlns:a16="http://schemas.microsoft.com/office/drawing/2014/main" id="{47CB2927-7E5C-AF4F-807B-68C5778940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3575" y="2593975"/>
            <a:ext cx="0" cy="661988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Line 9">
            <a:extLst>
              <a:ext uri="{FF2B5EF4-FFF2-40B4-BE49-F238E27FC236}">
                <a16:creationId xmlns:a16="http://schemas.microsoft.com/office/drawing/2014/main" id="{5EBEDBD9-F214-154D-B671-705984BFECE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124075" y="1700213"/>
            <a:ext cx="1008063" cy="1657350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Text Box 21">
            <a:extLst>
              <a:ext uri="{FF2B5EF4-FFF2-40B4-BE49-F238E27FC236}">
                <a16:creationId xmlns:a16="http://schemas.microsoft.com/office/drawing/2014/main" id="{B9459C76-5569-F240-9A36-B3056C4EA8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5125" y="5635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F</a:t>
            </a:r>
          </a:p>
        </p:txBody>
      </p:sp>
      <p:sp>
        <p:nvSpPr>
          <p:cNvPr id="48" name="Text Box 21">
            <a:extLst>
              <a:ext uri="{FF2B5EF4-FFF2-40B4-BE49-F238E27FC236}">
                <a16:creationId xmlns:a16="http://schemas.microsoft.com/office/drawing/2014/main" id="{56592672-905D-9E48-BF28-29B07DB3FA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5125" y="56356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T</a:t>
            </a:r>
          </a:p>
        </p:txBody>
      </p:sp>
      <p:sp>
        <p:nvSpPr>
          <p:cNvPr id="49" name="AutoShape 75">
            <a:extLst>
              <a:ext uri="{FF2B5EF4-FFF2-40B4-BE49-F238E27FC236}">
                <a16:creationId xmlns:a16="http://schemas.microsoft.com/office/drawing/2014/main" id="{F717A0F2-8BCF-5742-9D11-64CBA971A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4076700"/>
            <a:ext cx="503238" cy="504825"/>
          </a:xfrm>
          <a:prstGeom prst="upDownArrow">
            <a:avLst>
              <a:gd name="adj1" fmla="val 50000"/>
              <a:gd name="adj2" fmla="val 62702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8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800">
                <a:solidFill>
                  <a:srgbClr val="000000"/>
                </a:solidFill>
                <a:latin typeface="宋体" panose="02010600030101010101" pitchFamily="2" charset="-122"/>
              </a:rPr>
              <a:t>比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800">
                <a:solidFill>
                  <a:srgbClr val="000000"/>
                </a:solidFill>
                <a:latin typeface="宋体" panose="02010600030101010101" pitchFamily="2" charset="-122"/>
              </a:rPr>
              <a:t>较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800">
                <a:solidFill>
                  <a:srgbClr val="000000"/>
                </a:solidFill>
                <a:latin typeface="宋体" panose="02010600030101010101" pitchFamily="2" charset="-122"/>
              </a:rPr>
              <a:t>大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800">
                <a:solidFill>
                  <a:srgbClr val="000000"/>
                </a:solidFill>
                <a:latin typeface="宋体" panose="02010600030101010101" pitchFamily="2" charset="-122"/>
              </a:rPr>
              <a:t>小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kumimoji="0" lang="en-US" altLang="zh-CN" sz="8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50" name="表格 49">
            <a:extLst>
              <a:ext uri="{FF2B5EF4-FFF2-40B4-BE49-F238E27FC236}">
                <a16:creationId xmlns:a16="http://schemas.microsoft.com/office/drawing/2014/main" id="{C12F199A-EBE5-2D44-8FC6-CAF04139B001}"/>
              </a:ext>
            </a:extLst>
          </p:cNvPr>
          <p:cNvGraphicFramePr>
            <a:graphicFrameLocks noGrp="1"/>
          </p:cNvGraphicFramePr>
          <p:nvPr/>
        </p:nvGraphicFramePr>
        <p:xfrm>
          <a:off x="5018088" y="3644900"/>
          <a:ext cx="647700" cy="5492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74638">
                <a:tc>
                  <a:txBody>
                    <a:bodyPr/>
                    <a:lstStyle/>
                    <a:p>
                      <a:endParaRPr lang="zh-CN" altLang="en-US" sz="1200" dirty="0"/>
                    </a:p>
                  </a:txBody>
                  <a:tcPr marL="91388" marR="91388" marT="45773" marB="4577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638">
                <a:tc>
                  <a:txBody>
                    <a:bodyPr/>
                    <a:lstStyle/>
                    <a:p>
                      <a:r>
                        <a:rPr lang="en-US" altLang="zh-CN" sz="1200" dirty="0"/>
                        <a:t>+60</a:t>
                      </a:r>
                      <a:endParaRPr lang="zh-CN" altLang="en-US" sz="1200" dirty="0"/>
                    </a:p>
                  </a:txBody>
                  <a:tcPr marL="91388" marR="91388" marT="45773" marB="4577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7" grpId="0"/>
      <p:bldP spid="48" grpId="0"/>
      <p:bldP spid="49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7" name="灯片编号占位符 1">
            <a:extLst>
              <a:ext uri="{FF2B5EF4-FFF2-40B4-BE49-F238E27FC236}">
                <a16:creationId xmlns:a16="http://schemas.microsoft.com/office/drawing/2014/main" id="{F95F7F60-AE67-7F4A-BF58-CF4F61059E1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58CE31A-7BD8-BE47-8CD4-E03A32AD13FF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graphicFrame>
        <p:nvGraphicFramePr>
          <p:cNvPr id="3" name="Group 2">
            <a:extLst>
              <a:ext uri="{FF2B5EF4-FFF2-40B4-BE49-F238E27FC236}">
                <a16:creationId xmlns:a16="http://schemas.microsoft.com/office/drawing/2014/main" id="{91F6763E-1BBC-384C-9E14-67E7D4764C35}"/>
              </a:ext>
            </a:extLst>
          </p:cNvPr>
          <p:cNvGraphicFramePr>
            <a:graphicFrameLocks noGrp="1"/>
          </p:cNvGraphicFramePr>
          <p:nvPr/>
        </p:nvGraphicFramePr>
        <p:xfrm>
          <a:off x="2646363" y="638175"/>
          <a:ext cx="3619500" cy="517618"/>
        </p:xfrm>
        <a:graphic>
          <a:graphicData uri="http://schemas.openxmlformats.org/drawingml/2006/table">
            <a:tbl>
              <a:tblPr/>
              <a:tblGrid>
                <a:gridCol w="723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∞</a:t>
                      </a:r>
                    </a:p>
                  </a:txBody>
                  <a:tcPr marT="45449" marB="4544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10</a:t>
                      </a:r>
                    </a:p>
                  </a:txBody>
                  <a:tcPr marT="45449" marB="4544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50</a:t>
                      </a:r>
                    </a:p>
                  </a:txBody>
                  <a:tcPr marT="45449" marB="4544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30</a:t>
                      </a:r>
                    </a:p>
                  </a:txBody>
                  <a:tcPr marT="45449" marB="4544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60</a:t>
                      </a:r>
                    </a:p>
                  </a:txBody>
                  <a:tcPr marT="45449" marB="4544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" name="Group 16">
            <a:extLst>
              <a:ext uri="{FF2B5EF4-FFF2-40B4-BE49-F238E27FC236}">
                <a16:creationId xmlns:a16="http://schemas.microsoft.com/office/drawing/2014/main" id="{3102F4E6-E54D-BB48-AA85-D48A557AFE03}"/>
              </a:ext>
            </a:extLst>
          </p:cNvPr>
          <p:cNvGraphicFramePr>
            <a:graphicFrameLocks noGrp="1"/>
          </p:cNvGraphicFramePr>
          <p:nvPr/>
        </p:nvGraphicFramePr>
        <p:xfrm>
          <a:off x="2646363" y="1727200"/>
          <a:ext cx="3619500" cy="533400"/>
        </p:xfrm>
        <a:graphic>
          <a:graphicData uri="http://schemas.openxmlformats.org/drawingml/2006/table">
            <a:tbl>
              <a:tblPr/>
              <a:tblGrid>
                <a:gridCol w="723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334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itchFamily="2" charset="-122"/>
                          <a:ea typeface="宋体" pitchFamily="2" charset="-122"/>
                        </a:rPr>
                        <a:t>V3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8206" name="Text Box 30">
            <a:extLst>
              <a:ext uri="{FF2B5EF4-FFF2-40B4-BE49-F238E27FC236}">
                <a16:creationId xmlns:a16="http://schemas.microsoft.com/office/drawing/2014/main" id="{EA18A388-1DF8-D343-BD4C-42A30528C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675" y="1803400"/>
            <a:ext cx="16652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前驱顶点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P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78207" name="Text Box 32">
            <a:extLst>
              <a:ext uri="{FF2B5EF4-FFF2-40B4-BE49-F238E27FC236}">
                <a16:creationId xmlns:a16="http://schemas.microsoft.com/office/drawing/2014/main" id="{FAA88FEF-100A-F74F-B89F-D6EC275AC3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" y="698500"/>
            <a:ext cx="17383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最短路径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：</a:t>
            </a:r>
          </a:p>
        </p:txBody>
      </p:sp>
      <p:sp>
        <p:nvSpPr>
          <p:cNvPr id="178208" name="Text Box 33">
            <a:extLst>
              <a:ext uri="{FF2B5EF4-FFF2-40B4-BE49-F238E27FC236}">
                <a16:creationId xmlns:a16="http://schemas.microsoft.com/office/drawing/2014/main" id="{017FA844-A7C2-A648-81A4-C852A1C6B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3188" y="188913"/>
            <a:ext cx="3657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1    2    3    4   5</a:t>
            </a:r>
          </a:p>
        </p:txBody>
      </p:sp>
      <p:sp>
        <p:nvSpPr>
          <p:cNvPr id="178209" name="Text Box 35">
            <a:extLst>
              <a:ext uri="{FF2B5EF4-FFF2-40B4-BE49-F238E27FC236}">
                <a16:creationId xmlns:a16="http://schemas.microsoft.com/office/drawing/2014/main" id="{22D8EA33-67A0-D14A-BAFB-DE24F2723A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0663" y="1138238"/>
            <a:ext cx="5334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   V2   V3   V4  V5 </a:t>
            </a:r>
          </a:p>
        </p:txBody>
      </p:sp>
      <p:sp>
        <p:nvSpPr>
          <p:cNvPr id="9" name="Line 37">
            <a:extLst>
              <a:ext uri="{FF2B5EF4-FFF2-40B4-BE49-F238E27FC236}">
                <a16:creationId xmlns:a16="http://schemas.microsoft.com/office/drawing/2014/main" id="{145F718C-569E-E848-9158-6BC8ACE4566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1263" y="1498600"/>
            <a:ext cx="0" cy="30480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" name="Line 41">
            <a:extLst>
              <a:ext uri="{FF2B5EF4-FFF2-40B4-BE49-F238E27FC236}">
                <a16:creationId xmlns:a16="http://schemas.microsoft.com/office/drawing/2014/main" id="{FF9ADF5B-DB4C-6040-9BA1-8630916561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13263" y="1498600"/>
            <a:ext cx="0" cy="30480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" name="Line 44">
            <a:extLst>
              <a:ext uri="{FF2B5EF4-FFF2-40B4-BE49-F238E27FC236}">
                <a16:creationId xmlns:a16="http://schemas.microsoft.com/office/drawing/2014/main" id="{C149E1D1-DE76-B147-8FD1-2D83DEC8DD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5663" y="1498600"/>
            <a:ext cx="533400" cy="381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" name="Line 45">
            <a:extLst>
              <a:ext uri="{FF2B5EF4-FFF2-40B4-BE49-F238E27FC236}">
                <a16:creationId xmlns:a16="http://schemas.microsoft.com/office/drawing/2014/main" id="{0CE5B395-5949-6F4D-9A75-2CD8F422C1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21288" y="1498600"/>
            <a:ext cx="0" cy="30480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" name="Line 47">
            <a:extLst>
              <a:ext uri="{FF2B5EF4-FFF2-40B4-BE49-F238E27FC236}">
                <a16:creationId xmlns:a16="http://schemas.microsoft.com/office/drawing/2014/main" id="{4C40BF1E-C79D-2B42-9073-BCE7B6E48E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21288" y="1498600"/>
            <a:ext cx="0" cy="30480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" name="Line 50">
            <a:extLst>
              <a:ext uri="{FF2B5EF4-FFF2-40B4-BE49-F238E27FC236}">
                <a16:creationId xmlns:a16="http://schemas.microsoft.com/office/drawing/2014/main" id="{24E56A74-9640-6448-A6B0-0FF7CBAAAE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84863" y="1498600"/>
            <a:ext cx="0" cy="30480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5" name="Line 52">
            <a:extLst>
              <a:ext uri="{FF2B5EF4-FFF2-40B4-BE49-F238E27FC236}">
                <a16:creationId xmlns:a16="http://schemas.microsoft.com/office/drawing/2014/main" id="{C9A90392-113C-7240-9064-8DEF89869DC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5663" y="1498600"/>
            <a:ext cx="1066800" cy="381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" name="Line 53">
            <a:extLst>
              <a:ext uri="{FF2B5EF4-FFF2-40B4-BE49-F238E27FC236}">
                <a16:creationId xmlns:a16="http://schemas.microsoft.com/office/drawing/2014/main" id="{4FF28697-55EC-B740-92FE-0001371A31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13263" y="1498600"/>
            <a:ext cx="0" cy="30480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" name="Line 55">
            <a:extLst>
              <a:ext uri="{FF2B5EF4-FFF2-40B4-BE49-F238E27FC236}">
                <a16:creationId xmlns:a16="http://schemas.microsoft.com/office/drawing/2014/main" id="{B2E95700-BA10-1C41-8636-BD5EAA5326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65663" y="1498600"/>
            <a:ext cx="533400" cy="381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" name="Line 56">
            <a:extLst>
              <a:ext uri="{FF2B5EF4-FFF2-40B4-BE49-F238E27FC236}">
                <a16:creationId xmlns:a16="http://schemas.microsoft.com/office/drawing/2014/main" id="{54FEE8D6-DB05-8B4A-94E0-7C83550453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38750" y="1498600"/>
            <a:ext cx="0" cy="30480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aphicFrame>
        <p:nvGraphicFramePr>
          <p:cNvPr id="19" name="Group 66">
            <a:extLst>
              <a:ext uri="{FF2B5EF4-FFF2-40B4-BE49-F238E27FC236}">
                <a16:creationId xmlns:a16="http://schemas.microsoft.com/office/drawing/2014/main" id="{8EB0F3CA-0E0E-0442-A10F-43BFFB3C057A}"/>
              </a:ext>
            </a:extLst>
          </p:cNvPr>
          <p:cNvGraphicFramePr>
            <a:graphicFrameLocks noGrp="1"/>
          </p:cNvGraphicFramePr>
          <p:nvPr/>
        </p:nvGraphicFramePr>
        <p:xfrm>
          <a:off x="827088" y="2506663"/>
          <a:ext cx="7848600" cy="3116264"/>
        </p:xfrm>
        <a:graphic>
          <a:graphicData uri="http://schemas.openxmlformats.org/drawingml/2006/table">
            <a:tbl>
              <a:tblPr/>
              <a:tblGrid>
                <a:gridCol w="923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3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39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397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797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1435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始点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终点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长度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前驱顶点序列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最短路径顶点序列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99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v1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∞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006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v2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10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006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v3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50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v4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30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746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V0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v5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宋体" panose="02010600030101010101" pitchFamily="2" charset="-122"/>
                          <a:ea typeface="宋体" panose="02010600030101010101" pitchFamily="2" charset="-122"/>
                        </a:rPr>
                        <a:t>60</a:t>
                      </a: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CN" sz="24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宋体" panose="02010600030101010101" pitchFamily="2" charset="-122"/>
                        <a:ea typeface="宋体" panose="02010600030101010101" pitchFamily="2" charset="-122"/>
                      </a:endParaRPr>
                    </a:p>
                  </a:txBody>
                  <a:tcPr marL="91437" marR="91437" marT="45712" marB="45712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0" name="Text Box 38">
            <a:extLst>
              <a:ext uri="{FF2B5EF4-FFF2-40B4-BE49-F238E27FC236}">
                <a16:creationId xmlns:a16="http://schemas.microsoft.com/office/drawing/2014/main" id="{E4790764-9672-0E40-83CE-D9C42B124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3598863"/>
            <a:ext cx="1143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V0</a:t>
            </a:r>
          </a:p>
        </p:txBody>
      </p:sp>
      <p:sp>
        <p:nvSpPr>
          <p:cNvPr id="21" name="Text Box 39">
            <a:extLst>
              <a:ext uri="{FF2B5EF4-FFF2-40B4-BE49-F238E27FC236}">
                <a16:creationId xmlns:a16="http://schemas.microsoft.com/office/drawing/2014/main" id="{022E84B4-AEAF-FD42-9401-D2E4E7353D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6150" y="3598863"/>
            <a:ext cx="1143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V2</a:t>
            </a:r>
          </a:p>
        </p:txBody>
      </p:sp>
      <p:sp>
        <p:nvSpPr>
          <p:cNvPr id="22" name="Text Box 42">
            <a:extLst>
              <a:ext uri="{FF2B5EF4-FFF2-40B4-BE49-F238E27FC236}">
                <a16:creationId xmlns:a16="http://schemas.microsoft.com/office/drawing/2014/main" id="{CC699F1E-1433-9345-BFF9-908CE17072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4073525"/>
            <a:ext cx="1143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V3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V4</a:t>
            </a:r>
          </a:p>
        </p:txBody>
      </p:sp>
      <p:sp>
        <p:nvSpPr>
          <p:cNvPr id="23" name="Text Box 43">
            <a:extLst>
              <a:ext uri="{FF2B5EF4-FFF2-40B4-BE49-F238E27FC236}">
                <a16:creationId xmlns:a16="http://schemas.microsoft.com/office/drawing/2014/main" id="{E88B315A-BADE-034F-AEF4-C09D797BE4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688" y="4073525"/>
            <a:ext cx="1143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V0</a:t>
            </a:r>
          </a:p>
        </p:txBody>
      </p:sp>
      <p:sp>
        <p:nvSpPr>
          <p:cNvPr id="24" name="Text Box 46">
            <a:extLst>
              <a:ext uri="{FF2B5EF4-FFF2-40B4-BE49-F238E27FC236}">
                <a16:creationId xmlns:a16="http://schemas.microsoft.com/office/drawing/2014/main" id="{C39B2032-2DBD-EE47-94F4-0905372EDD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4888" y="4073525"/>
            <a:ext cx="19812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V4V3</a:t>
            </a:r>
          </a:p>
        </p:txBody>
      </p:sp>
      <p:sp>
        <p:nvSpPr>
          <p:cNvPr id="25" name="Text Box 48">
            <a:extLst>
              <a:ext uri="{FF2B5EF4-FFF2-40B4-BE49-F238E27FC236}">
                <a16:creationId xmlns:a16="http://schemas.microsoft.com/office/drawing/2014/main" id="{A4649577-F337-FD42-A1D6-C04FB0A53F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9963" y="4565650"/>
            <a:ext cx="1143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V4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V0</a:t>
            </a:r>
          </a:p>
        </p:txBody>
      </p:sp>
      <p:sp>
        <p:nvSpPr>
          <p:cNvPr id="26" name="Text Box 49">
            <a:extLst>
              <a:ext uri="{FF2B5EF4-FFF2-40B4-BE49-F238E27FC236}">
                <a16:creationId xmlns:a16="http://schemas.microsoft.com/office/drawing/2014/main" id="{04124765-FCD0-C347-9B3F-35D2F943A2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1863" y="4565650"/>
            <a:ext cx="1143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V4</a:t>
            </a:r>
          </a:p>
        </p:txBody>
      </p:sp>
      <p:sp>
        <p:nvSpPr>
          <p:cNvPr id="27" name="Text Box 51">
            <a:extLst>
              <a:ext uri="{FF2B5EF4-FFF2-40B4-BE49-F238E27FC236}">
                <a16:creationId xmlns:a16="http://schemas.microsoft.com/office/drawing/2014/main" id="{B1A1DDDD-478A-3F43-9475-640331824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5027613"/>
            <a:ext cx="1143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V5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V3</a:t>
            </a:r>
          </a:p>
        </p:txBody>
      </p:sp>
      <p:sp>
        <p:nvSpPr>
          <p:cNvPr id="28" name="Text Box 54">
            <a:extLst>
              <a:ext uri="{FF2B5EF4-FFF2-40B4-BE49-F238E27FC236}">
                <a16:creationId xmlns:a16="http://schemas.microsoft.com/office/drawing/2014/main" id="{D20A035D-83A7-6347-9279-C2D65A017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688" y="5027613"/>
            <a:ext cx="1143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V4</a:t>
            </a:r>
          </a:p>
        </p:txBody>
      </p:sp>
      <p:sp>
        <p:nvSpPr>
          <p:cNvPr id="29" name="Text Box 57">
            <a:extLst>
              <a:ext uri="{FF2B5EF4-FFF2-40B4-BE49-F238E27FC236}">
                <a16:creationId xmlns:a16="http://schemas.microsoft.com/office/drawing/2014/main" id="{CF067C54-1056-984E-8C9B-BC214CC63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7425" y="5027613"/>
            <a:ext cx="1143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V0</a:t>
            </a:r>
          </a:p>
        </p:txBody>
      </p:sp>
      <p:sp>
        <p:nvSpPr>
          <p:cNvPr id="30" name="Text Box 58">
            <a:extLst>
              <a:ext uri="{FF2B5EF4-FFF2-40B4-BE49-F238E27FC236}">
                <a16:creationId xmlns:a16="http://schemas.microsoft.com/office/drawing/2014/main" id="{F13F5111-462E-CB4C-B714-CB1ED702F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4888" y="5027613"/>
            <a:ext cx="25908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  <a:sym typeface="Wingdings" pitchFamily="2" charset="2"/>
              </a:rPr>
              <a:t>V4V3V5</a:t>
            </a:r>
          </a:p>
        </p:txBody>
      </p:sp>
      <p:sp>
        <p:nvSpPr>
          <p:cNvPr id="31" name="Text Box 21">
            <a:extLst>
              <a:ext uri="{FF2B5EF4-FFF2-40B4-BE49-F238E27FC236}">
                <a16:creationId xmlns:a16="http://schemas.microsoft.com/office/drawing/2014/main" id="{600719B0-2B30-4245-AFEA-1D3FE6355F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3938" y="3114675"/>
            <a:ext cx="39322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latin typeface="宋体" panose="02010600030101010101" pitchFamily="2" charset="-122"/>
              </a:rPr>
              <a:t>无                    无</a:t>
            </a:r>
            <a:endParaRPr kumimoji="0" lang="en-US" altLang="zh-CN" sz="2000"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5" dur="10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9" dur="10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8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1" presetID="4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3" dur="10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35" presetID="4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7" dur="10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39" presetID="4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1" dur="10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7" presetID="4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9" dur="10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51" presetID="4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3" dur="10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9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2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68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71" presetID="4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3" dur="10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75" presetID="4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7" dur="10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79" presetID="4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81" dur="10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83" presetID="4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85" dur="10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build="p" autoUpdateAnimBg="0" advAuto="0"/>
      <p:bldP spid="23" grpId="0" build="p" autoUpdateAnimBg="0" advAuto="0"/>
      <p:bldP spid="24" grpId="0" build="p" autoUpdateAnimBg="0"/>
      <p:bldP spid="25" grpId="0" build="p" autoUpdateAnimBg="0" advAuto="0"/>
      <p:bldP spid="26" grpId="0" build="p" autoUpdateAnimBg="0"/>
      <p:bldP spid="27" grpId="0" build="p" autoUpdateAnimBg="0" advAuto="0"/>
      <p:bldP spid="28" grpId="0" build="p" autoUpdateAnimBg="0" advAuto="0"/>
      <p:bldP spid="29" grpId="0" build="p" autoUpdateAnimBg="0" advAuto="0"/>
      <p:bldP spid="30" grpId="0" build="p" autoUpdateAnimBg="0"/>
      <p:bldP spid="31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5" name="灯片编号占位符 1">
            <a:extLst>
              <a:ext uri="{FF2B5EF4-FFF2-40B4-BE49-F238E27FC236}">
                <a16:creationId xmlns:a16="http://schemas.microsoft.com/office/drawing/2014/main" id="{15C3C120-2DA8-5F4B-855A-E2C0AD4FB93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EC74397-D224-004D-AEA0-7172DAB37692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80226" name="Text Box 2">
            <a:extLst>
              <a:ext uri="{FF2B5EF4-FFF2-40B4-BE49-F238E27FC236}">
                <a16:creationId xmlns:a16="http://schemas.microsoft.com/office/drawing/2014/main" id="{EBF0980A-1D43-6242-8DC7-CB18271E2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533400"/>
            <a:ext cx="8534400" cy="569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迪杰斯特拉算法代码：</a:t>
            </a:r>
            <a:endParaRPr kumimoji="0" lang="en-US" altLang="zh-CN" sz="24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void ShortPath1(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MGraph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G,int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v0,PathMatrix &amp;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P,ShorPath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&amp;D){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for(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=0;i&lt;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G.vexnum;i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++) {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初始化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源点序号为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final[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]=false;	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是否已经找到最短路径</a:t>
            </a:r>
            <a:endParaRPr kumimoji="0" lang="en-US" altLang="zh-CN" sz="20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	P[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]=0;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前驱顶点序号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	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D[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G.arcs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[v0][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];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D[v0]=0; final[v0]=true;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for(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=1;i&lt;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G.vexnum;i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++)  {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处理剩下的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n-1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个顶点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k=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minmum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(D);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查找满足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final[k]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为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false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且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D[k]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具有最小的下标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final[k]=true;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确定顶点序号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的最短路径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for(j=0;j&lt;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G.vexnum;j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++)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if (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！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final[j] &amp;&amp; D[j]&gt;D[k]+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G.arcs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[k][j])  {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   D[j]=D[k]+</a:t>
            </a:r>
            <a:r>
              <a:rPr kumimoji="0" lang="en-US" altLang="zh-CN" sz="2000" dirty="0" err="1">
                <a:solidFill>
                  <a:srgbClr val="000000"/>
                </a:solidFill>
                <a:latin typeface="宋体" panose="02010600030101010101" pitchFamily="2" charset="-122"/>
              </a:rPr>
              <a:t>G.arcs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[k][j];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修改路径长度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P[j]=k;                          //</a:t>
            </a: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修改前驱顶点编号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    </a:t>
            </a: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   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 dirty="0">
                <a:solidFill>
                  <a:srgbClr val="000000"/>
                </a:solidFill>
                <a:latin typeface="宋体" panose="02010600030101010101" pitchFamily="2" charset="-122"/>
              </a:rPr>
              <a:t>  }</a:t>
            </a:r>
          </a:p>
        </p:txBody>
      </p:sp>
      <p:sp>
        <p:nvSpPr>
          <p:cNvPr id="4" name="Text Box 54">
            <a:extLst>
              <a:ext uri="{FF2B5EF4-FFF2-40B4-BE49-F238E27FC236}">
                <a16:creationId xmlns:a16="http://schemas.microsoft.com/office/drawing/2014/main" id="{39672D37-A973-FA48-950A-3029C84680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0213" y="5487988"/>
            <a:ext cx="1739900" cy="460375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T(n)=O(n</a:t>
            </a:r>
            <a:r>
              <a:rPr kumimoji="0" lang="en-GB" altLang="zh-CN" sz="2400" baseline="30000" noProof="1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3" name="灯片编号占位符 1">
            <a:extLst>
              <a:ext uri="{FF2B5EF4-FFF2-40B4-BE49-F238E27FC236}">
                <a16:creationId xmlns:a16="http://schemas.microsoft.com/office/drawing/2014/main" id="{BC24AC46-7F4A-5D48-A365-36BBBB5E122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FC905DA-D13B-4546-B6A9-8578BB421638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82274" name="Text Box 2">
            <a:extLst>
              <a:ext uri="{FF2B5EF4-FFF2-40B4-BE49-F238E27FC236}">
                <a16:creationId xmlns:a16="http://schemas.microsoft.com/office/drawing/2014/main" id="{1D6228C5-830A-C049-98DF-AD9D4CCA0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476250"/>
            <a:ext cx="8001000" cy="52660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7.6.1  </a:t>
            </a:r>
            <a:r>
              <a:rPr kumimoji="0" lang="zh-CN" altLang="en-US" sz="2800" dirty="0">
                <a:solidFill>
                  <a:srgbClr val="C00000"/>
                </a:solidFill>
                <a:latin typeface="宋体" panose="02010600030101010101" pitchFamily="2" charset="-122"/>
              </a:rPr>
              <a:t>每一对顶点之间</a:t>
            </a: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的最短路径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kumimoji="0" lang="zh-CN" altLang="en-US" sz="10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buClrTx/>
              <a:buSzTx/>
              <a:buFontTx/>
              <a:buNone/>
            </a:pP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算法</a:t>
            </a:r>
            <a:r>
              <a:rPr kumimoji="0"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：迪杰斯特拉（</a:t>
            </a:r>
            <a:r>
              <a:rPr kumimoji="0"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Dijkstra</a:t>
            </a: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）算法：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以每一个顶点为源点，重复执行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Dijkstra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算法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次，即可求出每一对顶点之间的最短路径。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kumimoji="0" lang="zh-CN" altLang="en-US" sz="800" dirty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算法</a:t>
            </a:r>
            <a:r>
              <a:rPr kumimoji="0"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2</a:t>
            </a: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：弗洛伊德（</a:t>
            </a:r>
            <a:r>
              <a:rPr kumimoji="0" lang="en-US" altLang="zh-CN" sz="2800" dirty="0">
                <a:solidFill>
                  <a:srgbClr val="000000"/>
                </a:solidFill>
                <a:latin typeface="宋体" panose="02010600030101010101" pitchFamily="2" charset="-122"/>
              </a:rPr>
              <a:t>Floyd</a:t>
            </a: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）算法：</a:t>
            </a:r>
          </a:p>
          <a:p>
            <a:pPr eaLnBrk="1" hangingPunct="1">
              <a:spcBef>
                <a:spcPct val="30000"/>
              </a:spcBef>
              <a:buClrTx/>
              <a:buSzTx/>
              <a:buFontTx/>
              <a:buNone/>
            </a:pPr>
            <a:r>
              <a:rPr kumimoji="0" lang="zh-CN" altLang="en-US" sz="2800" dirty="0">
                <a:solidFill>
                  <a:srgbClr val="000000"/>
                </a:solidFill>
                <a:latin typeface="宋体" panose="02010600030101010101" pitchFamily="2" charset="-122"/>
              </a:rPr>
              <a:t>  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算法思想：</a:t>
            </a:r>
          </a:p>
          <a:p>
            <a:pPr eaLnBrk="1" hangingPunct="1">
              <a:spcBef>
                <a:spcPct val="30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    假设求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到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的最短路径，如果从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到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有弧，则存在一条长度为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arcs[</a:t>
            </a:r>
            <a:r>
              <a:rPr kumimoji="0" lang="en-US" altLang="zh-CN" sz="2400" dirty="0" err="1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][j]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的路径，该路径不一定是最短路径，尚需进行</a:t>
            </a:r>
            <a:r>
              <a:rPr kumimoji="0" lang="en-US" altLang="zh-CN" sz="2400" dirty="0">
                <a:solidFill>
                  <a:srgbClr val="000000"/>
                </a:solidFill>
                <a:latin typeface="宋体" panose="02010600030101010101" pitchFamily="2" charset="-122"/>
              </a:rPr>
              <a:t>n</a:t>
            </a:r>
            <a:r>
              <a:rPr kumimoji="0" lang="zh-CN" altLang="en-US" sz="2400" dirty="0">
                <a:solidFill>
                  <a:srgbClr val="000000"/>
                </a:solidFill>
                <a:latin typeface="宋体" panose="02010600030101010101" pitchFamily="2" charset="-122"/>
              </a:rPr>
              <a:t>次试探：考虑加入其他顶点是否可以进一步缩短二者路径。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3D1E1E46-6B23-5A4B-A9B4-32A92DBAF5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13309" y="2420888"/>
            <a:ext cx="2459732" cy="1323365"/>
          </a:xfrm>
          <a:prstGeom prst="rect">
            <a:avLst/>
          </a:prstGeom>
        </p:spPr>
      </p:pic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C73FA730-FF0B-E951-4377-722172AFBD1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834BE3B5-6EC7-F64F-9654-209C6D274F55}" type="slidenum">
              <a:rPr lang="en-US" altLang="zh-CN" smtClean="0"/>
              <a:pPr>
                <a:defRPr/>
              </a:pPr>
              <a:t>95</a:t>
            </a:fld>
            <a:endParaRPr lang="en-US" altLang="zh-CN"/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5FA1F841-40D2-3AEF-2A72-082EB0B6FA95}"/>
              </a:ext>
            </a:extLst>
          </p:cNvPr>
          <p:cNvSpPr txBox="1"/>
          <p:nvPr/>
        </p:nvSpPr>
        <p:spPr>
          <a:xfrm>
            <a:off x="971600" y="1196752"/>
            <a:ext cx="7272808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dirty="0"/>
              <a:t>对于路径</a:t>
            </a:r>
            <a:r>
              <a:rPr lang="en-US" altLang="zh-CN" dirty="0"/>
              <a:t>&lt;v</a:t>
            </a:r>
            <a:r>
              <a:rPr lang="en-US" altLang="zh-CN" baseline="-25000" dirty="0"/>
              <a:t>1</a:t>
            </a:r>
            <a:r>
              <a:rPr lang="en-US" altLang="zh-CN" dirty="0"/>
              <a:t>,v</a:t>
            </a:r>
            <a:r>
              <a:rPr lang="en-US" altLang="zh-CN" baseline="-25000" dirty="0"/>
              <a:t>2</a:t>
            </a:r>
            <a:r>
              <a:rPr lang="en-US" altLang="zh-CN" dirty="0"/>
              <a:t>,v</a:t>
            </a:r>
            <a:r>
              <a:rPr lang="en-US" altLang="zh-CN" baseline="-25000" dirty="0"/>
              <a:t>3</a:t>
            </a:r>
            <a:r>
              <a:rPr lang="en-US" altLang="zh-CN" dirty="0"/>
              <a:t>,v</a:t>
            </a:r>
            <a:r>
              <a:rPr lang="en-US" altLang="zh-CN" baseline="-25000" dirty="0"/>
              <a:t>4</a:t>
            </a:r>
            <a:r>
              <a:rPr lang="en-US" altLang="zh-CN" dirty="0"/>
              <a:t>,v</a:t>
            </a:r>
            <a:r>
              <a:rPr lang="en-US" altLang="zh-CN" baseline="-25000" dirty="0"/>
              <a:t>5</a:t>
            </a:r>
            <a:r>
              <a:rPr lang="en-US" altLang="zh-CN" dirty="0"/>
              <a:t>&gt;</a:t>
            </a:r>
            <a:r>
              <a:rPr lang="zh-CN" altLang="en-US" dirty="0"/>
              <a:t>而言，</a:t>
            </a:r>
            <a:r>
              <a:rPr lang="en-US" altLang="zh-CN" dirty="0"/>
              <a:t>v</a:t>
            </a:r>
            <a:r>
              <a:rPr lang="en-US" altLang="zh-CN" baseline="-25000" dirty="0"/>
              <a:t>2</a:t>
            </a:r>
            <a:r>
              <a:rPr lang="en-US" altLang="zh-CN" dirty="0"/>
              <a:t>,v</a:t>
            </a:r>
            <a:r>
              <a:rPr lang="en-US" altLang="zh-CN" baseline="-25000" dirty="0"/>
              <a:t>3</a:t>
            </a:r>
            <a:r>
              <a:rPr lang="en-US" altLang="zh-CN" dirty="0"/>
              <a:t>,v</a:t>
            </a:r>
            <a:r>
              <a:rPr lang="en-US" altLang="zh-CN" baseline="-25000" dirty="0"/>
              <a:t>4</a:t>
            </a:r>
            <a:r>
              <a:rPr lang="zh-CN" altLang="en-US" dirty="0"/>
              <a:t>是这条路径</a:t>
            </a:r>
            <a:r>
              <a:rPr lang="zh-CN" altLang="en-US" dirty="0">
                <a:solidFill>
                  <a:srgbClr val="C00000"/>
                </a:solidFill>
              </a:rPr>
              <a:t>途径的节点</a:t>
            </a:r>
            <a:r>
              <a:rPr lang="zh-CN" altLang="en-US" dirty="0"/>
              <a:t>。</a:t>
            </a:r>
            <a:endParaRPr lang="en-US" altLang="zh-CN" dirty="0"/>
          </a:p>
          <a:p>
            <a:endParaRPr kumimoji="1" lang="en-US" altLang="zh-CN" dirty="0"/>
          </a:p>
          <a:p>
            <a:r>
              <a:rPr kumimoji="1" lang="en-US" altLang="zh-CN" dirty="0"/>
              <a:t>D</a:t>
            </a:r>
            <a:r>
              <a:rPr kumimoji="1" lang="en-US" altLang="zh-CN" baseline="-25000" dirty="0"/>
              <a:t>ij</a:t>
            </a:r>
            <a:r>
              <a:rPr kumimoji="1" lang="en-US" altLang="zh-CN" baseline="30000" dirty="0"/>
              <a:t>k</a:t>
            </a:r>
            <a:r>
              <a:rPr kumimoji="1" lang="en-US" altLang="zh-CN" dirty="0"/>
              <a:t>: </a:t>
            </a:r>
            <a:r>
              <a:rPr kumimoji="1" lang="zh-CN" altLang="en-US" dirty="0"/>
              <a:t>是从</a:t>
            </a:r>
            <a:r>
              <a:rPr kumimoji="1" lang="en-US" altLang="zh-CN" dirty="0" err="1"/>
              <a:t>i</a:t>
            </a:r>
            <a:r>
              <a:rPr kumimoji="1" lang="zh-CN" altLang="en-US" dirty="0"/>
              <a:t>到</a:t>
            </a:r>
            <a:r>
              <a:rPr kumimoji="1" lang="en-US" altLang="zh-CN" dirty="0"/>
              <a:t>j</a:t>
            </a:r>
            <a:r>
              <a:rPr kumimoji="1" lang="zh-CN" altLang="en-US" dirty="0"/>
              <a:t>的</a:t>
            </a:r>
            <a:r>
              <a:rPr kumimoji="1" lang="zh-CN" altLang="en-US" dirty="0">
                <a:solidFill>
                  <a:srgbClr val="C00000"/>
                </a:solidFill>
              </a:rPr>
              <a:t>最短路径</a:t>
            </a:r>
            <a:r>
              <a:rPr kumimoji="1" lang="zh-CN" altLang="en-US" dirty="0"/>
              <a:t>，并且</a:t>
            </a:r>
            <a:r>
              <a:rPr kumimoji="1" lang="zh-CN" altLang="en-US" dirty="0">
                <a:solidFill>
                  <a:srgbClr val="C00000"/>
                </a:solidFill>
              </a:rPr>
              <a:t>如果</a:t>
            </a:r>
            <a:r>
              <a:rPr kumimoji="1" lang="zh-CN" altLang="en-US" dirty="0"/>
              <a:t>这条路径有途径节点，这些途径节点一定位于节点集合</a:t>
            </a:r>
            <a:r>
              <a:rPr kumimoji="1" lang="en-US" altLang="zh-CN" dirty="0"/>
              <a:t>{1,2,...,k}</a:t>
            </a:r>
            <a:r>
              <a:rPr kumimoji="1" lang="zh-CN" altLang="en-US" dirty="0"/>
              <a:t>中</a:t>
            </a:r>
            <a:endParaRPr kumimoji="1" lang="en-US" altLang="zh-CN" dirty="0"/>
          </a:p>
          <a:p>
            <a:endParaRPr lang="en-US" altLang="zh-CN" dirty="0"/>
          </a:p>
          <a:p>
            <a:r>
              <a:rPr kumimoji="1" lang="en-US" altLang="zh-CN" dirty="0"/>
              <a:t>D</a:t>
            </a:r>
            <a:r>
              <a:rPr kumimoji="1" lang="en-US" altLang="zh-CN" baseline="-25000" dirty="0"/>
              <a:t>ij</a:t>
            </a:r>
            <a:r>
              <a:rPr kumimoji="1" lang="en-US" altLang="zh-CN" baseline="30000" dirty="0"/>
              <a:t>0</a:t>
            </a:r>
            <a:r>
              <a:rPr kumimoji="1" lang="en-US" altLang="zh-CN" dirty="0"/>
              <a:t>=</a:t>
            </a:r>
            <a:r>
              <a:rPr kumimoji="1" lang="en-US" altLang="zh-CN" dirty="0" err="1"/>
              <a:t>w</a:t>
            </a:r>
            <a:r>
              <a:rPr kumimoji="1" lang="en-US" altLang="zh-CN" baseline="-25000" dirty="0" err="1"/>
              <a:t>ij</a:t>
            </a:r>
            <a:r>
              <a:rPr kumimoji="1" lang="en-US" altLang="zh-CN" dirty="0"/>
              <a:t>,</a:t>
            </a:r>
            <a:r>
              <a:rPr kumimoji="1" lang="zh-CN" altLang="en-US" dirty="0"/>
              <a:t>即没有任何途径节点时</a:t>
            </a:r>
            <a:r>
              <a:rPr kumimoji="1" lang="en-US" altLang="zh-CN" dirty="0" err="1"/>
              <a:t>i</a:t>
            </a:r>
            <a:r>
              <a:rPr kumimoji="1" lang="zh-CN" altLang="en-US" dirty="0"/>
              <a:t>，</a:t>
            </a:r>
            <a:r>
              <a:rPr kumimoji="1" lang="en-US" altLang="zh-CN" dirty="0"/>
              <a:t>j</a:t>
            </a:r>
            <a:r>
              <a:rPr kumimoji="1" lang="zh-CN" altLang="en-US" dirty="0"/>
              <a:t>之间的最短路径</a:t>
            </a:r>
            <a:endParaRPr kumimoji="1" lang="en-US" altLang="zh-CN" dirty="0"/>
          </a:p>
          <a:p>
            <a:endParaRPr lang="en-US" altLang="zh-CN" dirty="0"/>
          </a:p>
          <a:p>
            <a:r>
              <a:rPr kumimoji="1" lang="zh-CN" altLang="en-US" dirty="0"/>
              <a:t>最终，对于一个有</a:t>
            </a:r>
            <a:r>
              <a:rPr kumimoji="1" lang="en-US" altLang="zh-CN" dirty="0"/>
              <a:t>n</a:t>
            </a:r>
            <a:r>
              <a:rPr kumimoji="1" lang="zh-CN" altLang="en-US" dirty="0"/>
              <a:t>个节点的图而言，我们的目标是对于任意两个节点</a:t>
            </a:r>
            <a:r>
              <a:rPr kumimoji="1" lang="en-US" altLang="zh-CN" dirty="0" err="1"/>
              <a:t>i</a:t>
            </a:r>
            <a:r>
              <a:rPr kumimoji="1" lang="zh-CN" altLang="en-US" dirty="0"/>
              <a:t>，</a:t>
            </a:r>
            <a:r>
              <a:rPr kumimoji="1" lang="en-US" altLang="zh-CN" dirty="0"/>
              <a:t>j,</a:t>
            </a:r>
            <a:r>
              <a:rPr kumimoji="1" lang="zh-CN" altLang="en-US" dirty="0"/>
              <a:t>求解</a:t>
            </a:r>
            <a:r>
              <a:rPr kumimoji="1" lang="en-US" altLang="zh-CN" dirty="0" err="1"/>
              <a:t>D</a:t>
            </a:r>
            <a:r>
              <a:rPr kumimoji="1" lang="en-US" altLang="zh-CN" baseline="-25000" dirty="0" err="1"/>
              <a:t>ij</a:t>
            </a:r>
            <a:r>
              <a:rPr kumimoji="1" lang="en-US" altLang="zh-CN" baseline="30000" dirty="0" err="1"/>
              <a:t>n</a:t>
            </a:r>
            <a:endParaRPr kumimoji="1" lang="zh-CN" altLang="en-US" baseline="30000" dirty="0"/>
          </a:p>
        </p:txBody>
      </p:sp>
    </p:spTree>
    <p:extLst>
      <p:ext uri="{BB962C8B-B14F-4D97-AF65-F5344CB8AC3E}">
        <p14:creationId xmlns:p14="http://schemas.microsoft.com/office/powerpoint/2010/main" val="154721127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C73FA730-FF0B-E951-4377-722172AFBD1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834BE3B5-6EC7-F64F-9654-209C6D274F55}" type="slidenum">
              <a:rPr lang="en-US" altLang="zh-CN" smtClean="0"/>
              <a:pPr>
                <a:defRPr/>
              </a:pPr>
              <a:t>96</a:t>
            </a:fld>
            <a:endParaRPr lang="en-US" altLang="zh-CN"/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5FA1F841-40D2-3AEF-2A72-082EB0B6FA95}"/>
              </a:ext>
            </a:extLst>
          </p:cNvPr>
          <p:cNvSpPr txBox="1"/>
          <p:nvPr/>
        </p:nvSpPr>
        <p:spPr>
          <a:xfrm>
            <a:off x="971600" y="1196752"/>
            <a:ext cx="7715200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zh-CN" altLang="en-US" dirty="0"/>
              <a:t>结论</a:t>
            </a:r>
            <a:r>
              <a:rPr lang="en-US" altLang="zh-CN" dirty="0"/>
              <a:t>1:</a:t>
            </a:r>
            <a:r>
              <a:rPr lang="zh-CN" altLang="en-US" dirty="0"/>
              <a:t> 任意两点的最短路径不会经过一个节点</a:t>
            </a:r>
            <a:r>
              <a:rPr lang="en-US" altLang="zh-CN" dirty="0"/>
              <a:t>2</a:t>
            </a:r>
            <a:r>
              <a:rPr lang="zh-CN" altLang="en-US" dirty="0"/>
              <a:t>次</a:t>
            </a:r>
            <a:r>
              <a:rPr lang="en-US" altLang="zh-CN" dirty="0">
                <a:sym typeface="Wingdings" pitchFamily="2" charset="2"/>
              </a:rPr>
              <a:t></a:t>
            </a:r>
            <a:r>
              <a:rPr lang="zh-CN" altLang="en-US" dirty="0">
                <a:sym typeface="Wingdings" pitchFamily="2" charset="2"/>
              </a:rPr>
              <a:t>对逐个途径的节点进行考虑</a:t>
            </a:r>
            <a:endParaRPr lang="en-US" altLang="zh-CN" baseline="300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zh-CN" altLang="en-US" dirty="0"/>
              <a:t>结论</a:t>
            </a:r>
            <a:r>
              <a:rPr lang="en-US" altLang="zh-CN" dirty="0"/>
              <a:t>2: </a:t>
            </a:r>
            <a:r>
              <a:rPr lang="zh-CN" altLang="en-US" dirty="0"/>
              <a:t>假设已经有</a:t>
            </a:r>
            <a:r>
              <a:rPr lang="en-US" altLang="zh-CN" dirty="0"/>
              <a:t>D</a:t>
            </a:r>
            <a:r>
              <a:rPr lang="en-US" altLang="zh-CN" baseline="-25000" dirty="0"/>
              <a:t>ij</a:t>
            </a:r>
            <a:r>
              <a:rPr lang="en-US" altLang="zh-CN" baseline="30000" dirty="0"/>
              <a:t>k-1</a:t>
            </a:r>
            <a:r>
              <a:rPr lang="en-US" altLang="zh-CN" dirty="0"/>
              <a:t>,</a:t>
            </a:r>
            <a:r>
              <a:rPr lang="zh-CN" altLang="en-US" dirty="0"/>
              <a:t>对于途径节点位于集合</a:t>
            </a:r>
            <a:r>
              <a:rPr lang="en-US" altLang="zh-CN" dirty="0"/>
              <a:t>{1,2,3,...,k}</a:t>
            </a:r>
            <a:r>
              <a:rPr lang="zh-CN" altLang="en-US" dirty="0"/>
              <a:t>的</a:t>
            </a:r>
            <a:r>
              <a:rPr lang="en-US" altLang="zh-CN" dirty="0" err="1"/>
              <a:t>i,j</a:t>
            </a:r>
            <a:r>
              <a:rPr lang="zh-CN" altLang="en-US" dirty="0"/>
              <a:t>之间的最短路径，仅有两种可能：</a:t>
            </a:r>
            <a:endParaRPr lang="en-US" altLang="zh-CN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altLang="zh-CN" dirty="0"/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dirty="0"/>
              <a:t>K</a:t>
            </a:r>
            <a:r>
              <a:rPr lang="zh-CN" altLang="en-US" dirty="0"/>
              <a:t>不在最短路径上，即</a:t>
            </a:r>
            <a:r>
              <a:rPr lang="en-US" altLang="zh-CN" dirty="0"/>
              <a:t>D</a:t>
            </a:r>
            <a:r>
              <a:rPr lang="en-US" altLang="zh-CN" baseline="-25000" dirty="0"/>
              <a:t>ij</a:t>
            </a:r>
            <a:r>
              <a:rPr lang="en-US" altLang="zh-CN" baseline="30000" dirty="0"/>
              <a:t>k</a:t>
            </a:r>
            <a:r>
              <a:rPr lang="en-US" altLang="zh-CN" dirty="0"/>
              <a:t>=D</a:t>
            </a:r>
            <a:r>
              <a:rPr lang="en-US" altLang="zh-CN" baseline="-25000" dirty="0"/>
              <a:t>ij</a:t>
            </a:r>
            <a:r>
              <a:rPr lang="en-US" altLang="zh-CN" baseline="30000" dirty="0"/>
              <a:t>k-1</a:t>
            </a:r>
          </a:p>
          <a:p>
            <a:pPr marL="800100" lvl="1" indent="-342900">
              <a:buFont typeface="Arial" panose="020B0604020202020204" pitchFamily="34" charset="0"/>
              <a:buChar char="•"/>
            </a:pPr>
            <a:r>
              <a:rPr lang="en-US" altLang="zh-CN" dirty="0"/>
              <a:t>K</a:t>
            </a:r>
            <a:r>
              <a:rPr lang="zh-CN" altLang="en-US" dirty="0"/>
              <a:t>位于最短路径上，</a:t>
            </a:r>
            <a:r>
              <a:rPr lang="en-US" altLang="zh-CN" dirty="0"/>
              <a:t>D</a:t>
            </a:r>
            <a:r>
              <a:rPr lang="en-US" altLang="zh-CN" baseline="-25000" dirty="0"/>
              <a:t>ij</a:t>
            </a:r>
            <a:r>
              <a:rPr lang="en-US" altLang="zh-CN" baseline="30000" dirty="0"/>
              <a:t>k</a:t>
            </a:r>
            <a:r>
              <a:rPr lang="en-US" altLang="zh-CN" dirty="0"/>
              <a:t>=D</a:t>
            </a:r>
            <a:r>
              <a:rPr lang="en-US" altLang="zh-CN" baseline="-25000" dirty="0"/>
              <a:t>ik</a:t>
            </a:r>
            <a:r>
              <a:rPr lang="en-US" altLang="zh-CN" baseline="30000" dirty="0"/>
              <a:t>k-1</a:t>
            </a:r>
            <a:r>
              <a:rPr lang="en-US" altLang="zh-CN" dirty="0"/>
              <a:t>+D</a:t>
            </a:r>
            <a:r>
              <a:rPr lang="en-US" altLang="zh-CN" baseline="-25000" dirty="0"/>
              <a:t>kj</a:t>
            </a:r>
            <a:r>
              <a:rPr lang="en-US" altLang="zh-CN" baseline="30000" dirty="0"/>
              <a:t>k-1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F240A483-82D1-D8C8-ECC4-93C3913B5B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75656" y="4064491"/>
            <a:ext cx="6838528" cy="15967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758360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灯片编号占位符 1">
            <a:extLst>
              <a:ext uri="{FF2B5EF4-FFF2-40B4-BE49-F238E27FC236}">
                <a16:creationId xmlns:a16="http://schemas.microsoft.com/office/drawing/2014/main" id="{5429137D-A959-284B-85F0-19D46E0222D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AC25276-3B60-1A4D-A989-D9348ADC204B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97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84322" name="Text Box 2">
            <a:extLst>
              <a:ext uri="{FF2B5EF4-FFF2-40B4-BE49-F238E27FC236}">
                <a16:creationId xmlns:a16="http://schemas.microsoft.com/office/drawing/2014/main" id="{61A9C4C9-7D46-D44A-BDE1-1733F3B691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1341438"/>
            <a:ext cx="8534400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latin typeface="宋体" panose="02010600030101010101" pitchFamily="2" charset="-122"/>
              </a:rPr>
              <a:t>    </a:t>
            </a:r>
            <a:r>
              <a:rPr kumimoji="0" lang="zh-CN" altLang="en-US" sz="2400" dirty="0">
                <a:latin typeface="宋体" panose="02010600030101010101" pitchFamily="2" charset="-122"/>
              </a:rPr>
              <a:t>首先考虑只经过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0</a:t>
            </a:r>
            <a:r>
              <a:rPr kumimoji="0" lang="zh-CN" altLang="en-US" sz="2400" dirty="0">
                <a:latin typeface="宋体" panose="02010600030101010101" pitchFamily="2" charset="-122"/>
              </a:rPr>
              <a:t>时能否缩短任意两点之间的距离：考虑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latin typeface="宋体" panose="02010600030101010101" pitchFamily="2" charset="-122"/>
              </a:rPr>
              <a:t>,V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0</a:t>
            </a:r>
            <a:r>
              <a:rPr kumimoji="0" lang="en-US" altLang="zh-CN" sz="2400" dirty="0">
                <a:latin typeface="宋体" panose="02010600030101010101" pitchFamily="2" charset="-122"/>
              </a:rPr>
              <a:t>,V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j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是否存在（即判断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latin typeface="宋体" panose="02010600030101010101" pitchFamily="2" charset="-122"/>
              </a:rPr>
              <a:t>,V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0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和</a:t>
            </a:r>
            <a:r>
              <a:rPr kumimoji="0" lang="en-US" altLang="zh-CN" sz="2400" dirty="0">
                <a:latin typeface="宋体" panose="02010600030101010101" pitchFamily="2" charset="-122"/>
              </a:rPr>
              <a:t>( 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0</a:t>
            </a:r>
            <a:r>
              <a:rPr kumimoji="0" lang="en-US" altLang="zh-CN" sz="2400" dirty="0">
                <a:latin typeface="宋体" panose="02010600030101010101" pitchFamily="2" charset="-122"/>
              </a:rPr>
              <a:t>,V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j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是否存在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，如果存在，比较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latin typeface="宋体" panose="02010600030101010101" pitchFamily="2" charset="-122"/>
              </a:rPr>
              <a:t>, </a:t>
            </a:r>
            <a:r>
              <a:rPr kumimoji="0" lang="en-US" altLang="zh-CN" sz="2400" dirty="0" err="1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latin typeface="宋体" panose="02010600030101010101" pitchFamily="2" charset="-122"/>
              </a:rPr>
              <a:t>j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和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latin typeface="宋体" panose="02010600030101010101" pitchFamily="2" charset="-122"/>
              </a:rPr>
              <a:t>,V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0</a:t>
            </a:r>
            <a:r>
              <a:rPr kumimoji="0" lang="en-US" altLang="zh-CN" sz="2400" dirty="0">
                <a:latin typeface="宋体" panose="02010600030101010101" pitchFamily="2" charset="-122"/>
              </a:rPr>
              <a:t>)+( 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0</a:t>
            </a:r>
            <a:r>
              <a:rPr kumimoji="0" lang="en-US" altLang="zh-CN" sz="2400" dirty="0">
                <a:latin typeface="宋体" panose="02010600030101010101" pitchFamily="2" charset="-122"/>
              </a:rPr>
              <a:t>,V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j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，取长度较短的值。</a:t>
            </a:r>
            <a:endParaRPr kumimoji="0" lang="en-US" altLang="zh-CN" sz="2400" dirty="0">
              <a:latin typeface="宋体" panose="02010600030101010101" pitchFamily="2" charset="-122"/>
            </a:endParaRP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latin typeface="宋体" panose="02010600030101010101" pitchFamily="2" charset="-122"/>
              </a:rPr>
              <a:t>    </a:t>
            </a:r>
            <a:r>
              <a:rPr kumimoji="0" lang="zh-CN" altLang="en-US" sz="2400" dirty="0">
                <a:latin typeface="宋体" panose="02010600030101010101" pitchFamily="2" charset="-122"/>
              </a:rPr>
              <a:t>得到了从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latin typeface="宋体" panose="02010600030101010101" pitchFamily="2" charset="-122"/>
              </a:rPr>
              <a:t>到</a:t>
            </a:r>
            <a:r>
              <a:rPr kumimoji="0" lang="en-US" altLang="zh-CN" sz="2400" dirty="0" err="1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latin typeface="宋体" panose="02010600030101010101" pitchFamily="2" charset="-122"/>
              </a:rPr>
              <a:t>j</a:t>
            </a:r>
            <a:r>
              <a:rPr kumimoji="0" lang="zh-CN" altLang="en-US" sz="2400" dirty="0">
                <a:latin typeface="宋体" panose="02010600030101010101" pitchFamily="2" charset="-122"/>
              </a:rPr>
              <a:t>的中间顶点序号不大于</a:t>
            </a:r>
            <a:r>
              <a:rPr kumimoji="0" lang="en-US" altLang="zh-CN" sz="2400" dirty="0">
                <a:latin typeface="宋体" panose="02010600030101010101" pitchFamily="2" charset="-122"/>
              </a:rPr>
              <a:t>0</a:t>
            </a:r>
            <a:r>
              <a:rPr kumimoji="0" lang="zh-CN" altLang="en-US" sz="2400" dirty="0">
                <a:latin typeface="宋体" panose="02010600030101010101" pitchFamily="2" charset="-122"/>
              </a:rPr>
              <a:t>的路径长度。</a:t>
            </a:r>
          </a:p>
        </p:txBody>
      </p:sp>
      <p:sp>
        <p:nvSpPr>
          <p:cNvPr id="184323" name="Oval 3">
            <a:extLst>
              <a:ext uri="{FF2B5EF4-FFF2-40B4-BE49-F238E27FC236}">
                <a16:creationId xmlns:a16="http://schemas.microsoft.com/office/drawing/2014/main" id="{EA311B7B-B1EE-C545-B6C0-8D77CAAF03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46116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j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184324" name="Oval 4">
            <a:extLst>
              <a:ext uri="{FF2B5EF4-FFF2-40B4-BE49-F238E27FC236}">
                <a16:creationId xmlns:a16="http://schemas.microsoft.com/office/drawing/2014/main" id="{95712294-02E2-494A-B614-B0D62CFF3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46116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i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184325" name="Oval 5">
            <a:extLst>
              <a:ext uri="{FF2B5EF4-FFF2-40B4-BE49-F238E27FC236}">
                <a16:creationId xmlns:a16="http://schemas.microsoft.com/office/drawing/2014/main" id="{0F8DDD79-2399-1C45-ABE1-335ABADED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35448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0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184326" name="Text Box 6">
            <a:extLst>
              <a:ext uri="{FF2B5EF4-FFF2-40B4-BE49-F238E27FC236}">
                <a16:creationId xmlns:a16="http://schemas.microsoft.com/office/drawing/2014/main" id="{44F125C0-B780-7243-908D-6675931B5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491648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60</a:t>
            </a:r>
          </a:p>
        </p:txBody>
      </p:sp>
      <p:sp>
        <p:nvSpPr>
          <p:cNvPr id="184327" name="Text Box 7">
            <a:extLst>
              <a:ext uri="{FF2B5EF4-FFF2-40B4-BE49-F238E27FC236}">
                <a16:creationId xmlns:a16="http://schemas.microsoft.com/office/drawing/2014/main" id="{282D86D4-09F0-C547-B233-255800EA74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384968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184328" name="Text Box 8">
            <a:extLst>
              <a:ext uri="{FF2B5EF4-FFF2-40B4-BE49-F238E27FC236}">
                <a16:creationId xmlns:a16="http://schemas.microsoft.com/office/drawing/2014/main" id="{000300AC-DBB6-AE48-9530-440AECBBC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84968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10</a:t>
            </a:r>
          </a:p>
        </p:txBody>
      </p:sp>
      <p:sp>
        <p:nvSpPr>
          <p:cNvPr id="184329" name="Line 9">
            <a:extLst>
              <a:ext uri="{FF2B5EF4-FFF2-40B4-BE49-F238E27FC236}">
                <a16:creationId xmlns:a16="http://schemas.microsoft.com/office/drawing/2014/main" id="{9F179B49-A826-144D-86D0-4FA41D23A2B6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7800" y="4840288"/>
            <a:ext cx="2286000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4330" name="Line 10">
            <a:extLst>
              <a:ext uri="{FF2B5EF4-FFF2-40B4-BE49-F238E27FC236}">
                <a16:creationId xmlns:a16="http://schemas.microsoft.com/office/drawing/2014/main" id="{C7C4BABE-E36F-CA4F-83A6-244F78B1EA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1600" y="3849688"/>
            <a:ext cx="990600" cy="83820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4331" name="Line 11">
            <a:extLst>
              <a:ext uri="{FF2B5EF4-FFF2-40B4-BE49-F238E27FC236}">
                <a16:creationId xmlns:a16="http://schemas.microsoft.com/office/drawing/2014/main" id="{B8CD0F1B-0A40-EF40-8594-AAD04B2519C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7000" y="3849688"/>
            <a:ext cx="1143000" cy="83820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4332" name="Oval 12">
            <a:extLst>
              <a:ext uri="{FF2B5EF4-FFF2-40B4-BE49-F238E27FC236}">
                <a16:creationId xmlns:a16="http://schemas.microsoft.com/office/drawing/2014/main" id="{A7A840C8-DDDB-6F41-BAB9-AF167E552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46116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j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184333" name="Oval 13">
            <a:extLst>
              <a:ext uri="{FF2B5EF4-FFF2-40B4-BE49-F238E27FC236}">
                <a16:creationId xmlns:a16="http://schemas.microsoft.com/office/drawing/2014/main" id="{8A8CD51F-C732-6845-B662-A8096271E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46116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i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184334" name="Oval 14">
            <a:extLst>
              <a:ext uri="{FF2B5EF4-FFF2-40B4-BE49-F238E27FC236}">
                <a16:creationId xmlns:a16="http://schemas.microsoft.com/office/drawing/2014/main" id="{0611F64A-956A-F341-BDC8-EA31A39F9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3544888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0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184335" name="Text Box 15">
            <a:extLst>
              <a:ext uri="{FF2B5EF4-FFF2-40B4-BE49-F238E27FC236}">
                <a16:creationId xmlns:a16="http://schemas.microsoft.com/office/drawing/2014/main" id="{F06C06ED-8441-1241-A96B-2235F86DF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491648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30</a:t>
            </a:r>
          </a:p>
        </p:txBody>
      </p:sp>
      <p:sp>
        <p:nvSpPr>
          <p:cNvPr id="184336" name="Text Box 16">
            <a:extLst>
              <a:ext uri="{FF2B5EF4-FFF2-40B4-BE49-F238E27FC236}">
                <a16:creationId xmlns:a16="http://schemas.microsoft.com/office/drawing/2014/main" id="{A0EA4BB5-79A5-114A-B779-7A8582D755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2600" y="384968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184337" name="Text Box 17">
            <a:extLst>
              <a:ext uri="{FF2B5EF4-FFF2-40B4-BE49-F238E27FC236}">
                <a16:creationId xmlns:a16="http://schemas.microsoft.com/office/drawing/2014/main" id="{0F9CFBE1-E032-4A43-8E7F-8307A74B7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3849688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50</a:t>
            </a:r>
          </a:p>
        </p:txBody>
      </p:sp>
      <p:sp>
        <p:nvSpPr>
          <p:cNvPr id="184338" name="Line 18">
            <a:extLst>
              <a:ext uri="{FF2B5EF4-FFF2-40B4-BE49-F238E27FC236}">
                <a16:creationId xmlns:a16="http://schemas.microsoft.com/office/drawing/2014/main" id="{344B3F90-F559-9B4B-876F-8D0027157C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51500" y="3860800"/>
            <a:ext cx="1008063" cy="7921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4339" name="Line 19">
            <a:extLst>
              <a:ext uri="{FF2B5EF4-FFF2-40B4-BE49-F238E27FC236}">
                <a16:creationId xmlns:a16="http://schemas.microsoft.com/office/drawing/2014/main" id="{18ACCFC3-F93B-C34A-82BD-57AE402E20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24525" y="4868863"/>
            <a:ext cx="2303463" cy="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4340" name="Text Box 2">
            <a:extLst>
              <a:ext uri="{FF2B5EF4-FFF2-40B4-BE49-F238E27FC236}">
                <a16:creationId xmlns:a16="http://schemas.microsoft.com/office/drawing/2014/main" id="{18624BF4-486D-9F45-A512-58CE95DE06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673100"/>
            <a:ext cx="8001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弗洛伊德（</a:t>
            </a:r>
            <a:r>
              <a:rPr kumimoji="0" lang="en-US" altLang="zh-CN" sz="2800">
                <a:solidFill>
                  <a:srgbClr val="000000"/>
                </a:solidFill>
                <a:latin typeface="宋体" panose="02010600030101010101" pitchFamily="2" charset="-122"/>
              </a:rPr>
              <a:t>Floyd</a:t>
            </a:r>
            <a:r>
              <a:rPr kumimoji="0" lang="zh-CN" altLang="en-US" sz="2800">
                <a:solidFill>
                  <a:srgbClr val="000000"/>
                </a:solidFill>
                <a:latin typeface="宋体" panose="02010600030101010101" pitchFamily="2" charset="-122"/>
              </a:rPr>
              <a:t>）算法：</a:t>
            </a:r>
          </a:p>
        </p:txBody>
      </p:sp>
      <p:sp>
        <p:nvSpPr>
          <p:cNvPr id="184341" name="Line 18">
            <a:extLst>
              <a:ext uri="{FF2B5EF4-FFF2-40B4-BE49-F238E27FC236}">
                <a16:creationId xmlns:a16="http://schemas.microsoft.com/office/drawing/2014/main" id="{4BE31B65-B222-DE4F-8810-C405097CEE1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6575" y="3890963"/>
            <a:ext cx="1141413" cy="8334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4342" name="Text Box 4">
            <a:extLst>
              <a:ext uri="{FF2B5EF4-FFF2-40B4-BE49-F238E27FC236}">
                <a16:creationId xmlns:a16="http://schemas.microsoft.com/office/drawing/2014/main" id="{5AE12EA5-3C3A-0B42-8362-805EFBBD35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9250" y="5419725"/>
            <a:ext cx="2016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G1</a:t>
            </a:r>
          </a:p>
        </p:txBody>
      </p:sp>
      <p:sp>
        <p:nvSpPr>
          <p:cNvPr id="184343" name="Text Box 4">
            <a:extLst>
              <a:ext uri="{FF2B5EF4-FFF2-40B4-BE49-F238E27FC236}">
                <a16:creationId xmlns:a16="http://schemas.microsoft.com/office/drawing/2014/main" id="{D8F39D73-6157-234C-AB5F-9CB315F02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5445125"/>
            <a:ext cx="2016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图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G2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灯片编号占位符 1">
            <a:extLst>
              <a:ext uri="{FF2B5EF4-FFF2-40B4-BE49-F238E27FC236}">
                <a16:creationId xmlns:a16="http://schemas.microsoft.com/office/drawing/2014/main" id="{8B79A7B5-FEB3-EF47-8AAC-B81C1C316E8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89E5A69-D381-8045-9F05-B3B34F03364B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98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86370" name="Text Box 2">
            <a:extLst>
              <a:ext uri="{FF2B5EF4-FFF2-40B4-BE49-F238E27FC236}">
                <a16:creationId xmlns:a16="http://schemas.microsoft.com/office/drawing/2014/main" id="{AA0725F7-8E86-5A40-89F8-68B98A95D8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476250"/>
            <a:ext cx="8534400" cy="32316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 dirty="0">
                <a:latin typeface="宋体" panose="02010600030101010101" pitchFamily="2" charset="-122"/>
              </a:rPr>
              <a:t>    </a:t>
            </a:r>
            <a:r>
              <a:rPr kumimoji="0" lang="zh-CN" altLang="en-US" sz="2400" dirty="0">
                <a:latin typeface="宋体" panose="02010600030101010101" pitchFamily="2" charset="-122"/>
              </a:rPr>
              <a:t>再考虑路径上再增加一个顶点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1</a:t>
            </a:r>
            <a:r>
              <a:rPr kumimoji="0" lang="zh-CN" altLang="en-US" sz="2400" dirty="0">
                <a:latin typeface="宋体" panose="02010600030101010101" pitchFamily="2" charset="-122"/>
              </a:rPr>
              <a:t>，即考虑经过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0</a:t>
            </a:r>
            <a:r>
              <a:rPr kumimoji="0" lang="zh-CN" altLang="en-US" sz="2400" dirty="0">
                <a:latin typeface="宋体" panose="02010600030101010101" pitchFamily="2" charset="-122"/>
              </a:rPr>
              <a:t>和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1</a:t>
            </a:r>
            <a:r>
              <a:rPr kumimoji="0" lang="zh-CN" altLang="en-US" sz="2400" dirty="0">
                <a:latin typeface="宋体" panose="02010600030101010101" pitchFamily="2" charset="-122"/>
              </a:rPr>
              <a:t>会不会有助于缩短路径长度：考虑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latin typeface="宋体" panose="02010600030101010101" pitchFamily="2" charset="-122"/>
              </a:rPr>
              <a:t>,</a:t>
            </a:r>
            <a:r>
              <a:rPr kumimoji="0" lang="en-US" altLang="zh-CN" sz="2400" dirty="0">
                <a:latin typeface="Times New Roman" panose="02020603050405020304" pitchFamily="18" charset="0"/>
              </a:rPr>
              <a:t>…,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1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和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1</a:t>
            </a:r>
            <a:r>
              <a:rPr kumimoji="0" lang="en-US" altLang="zh-CN" sz="2400" dirty="0">
                <a:latin typeface="宋体" panose="02010600030101010101" pitchFamily="2" charset="-122"/>
              </a:rPr>
              <a:t>,</a:t>
            </a:r>
            <a:r>
              <a:rPr kumimoji="0" lang="en-US" altLang="zh-CN" sz="2400" dirty="0">
                <a:latin typeface="Times New Roman" panose="02020603050405020304" pitchFamily="18" charset="0"/>
              </a:rPr>
              <a:t>…</a:t>
            </a:r>
            <a:r>
              <a:rPr kumimoji="0" lang="en-US" altLang="zh-CN" sz="2400" dirty="0">
                <a:latin typeface="宋体" panose="02010600030101010101" pitchFamily="2" charset="-122"/>
              </a:rPr>
              <a:t>.</a:t>
            </a:r>
            <a:r>
              <a:rPr kumimoji="0" lang="en-US" altLang="zh-CN" sz="2400" dirty="0" err="1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latin typeface="宋体" panose="02010600030101010101" pitchFamily="2" charset="-122"/>
              </a:rPr>
              <a:t>j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， 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latin typeface="宋体" panose="02010600030101010101" pitchFamily="2" charset="-122"/>
              </a:rPr>
              <a:t>,</a:t>
            </a:r>
            <a:r>
              <a:rPr kumimoji="0" lang="en-US" altLang="zh-CN" sz="2400" dirty="0">
                <a:latin typeface="Times New Roman" panose="02020603050405020304" pitchFamily="18" charset="0"/>
              </a:rPr>
              <a:t>…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1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和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1</a:t>
            </a:r>
            <a:r>
              <a:rPr kumimoji="0" lang="en-US" altLang="zh-CN" sz="2400" dirty="0">
                <a:latin typeface="宋体" panose="02010600030101010101" pitchFamily="2" charset="-122"/>
              </a:rPr>
              <a:t>,</a:t>
            </a:r>
            <a:r>
              <a:rPr kumimoji="0" lang="en-US" altLang="zh-CN" sz="2400" dirty="0">
                <a:latin typeface="Times New Roman" panose="02020603050405020304" pitchFamily="18" charset="0"/>
              </a:rPr>
              <a:t>…</a:t>
            </a:r>
            <a:r>
              <a:rPr kumimoji="0" lang="en-US" altLang="zh-CN" sz="2400" dirty="0">
                <a:latin typeface="宋体" panose="02010600030101010101" pitchFamily="2" charset="-122"/>
              </a:rPr>
              <a:t>.</a:t>
            </a:r>
            <a:r>
              <a:rPr kumimoji="0" lang="en-US" altLang="zh-CN" sz="2400" dirty="0" err="1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latin typeface="宋体" panose="02010600030101010101" pitchFamily="2" charset="-122"/>
              </a:rPr>
              <a:t>j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都是中间顶点序号不大于</a:t>
            </a:r>
            <a:r>
              <a:rPr kumimoji="0" lang="en-US" altLang="zh-CN" sz="2400" dirty="0">
                <a:latin typeface="宋体" panose="02010600030101010101" pitchFamily="2" charset="-122"/>
              </a:rPr>
              <a:t>1</a:t>
            </a:r>
            <a:r>
              <a:rPr kumimoji="0" lang="zh-CN" altLang="en-US" sz="2400" dirty="0">
                <a:latin typeface="宋体" panose="02010600030101010101" pitchFamily="2" charset="-122"/>
              </a:rPr>
              <a:t>的最短路径。 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latin typeface="宋体" panose="02010600030101010101" pitchFamily="2" charset="-122"/>
              </a:rPr>
              <a:t>,</a:t>
            </a:r>
            <a:r>
              <a:rPr kumimoji="0" lang="en-US" altLang="zh-CN" sz="2400" dirty="0">
                <a:latin typeface="Times New Roman" panose="02020603050405020304" pitchFamily="18" charset="0"/>
              </a:rPr>
              <a:t>…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1</a:t>
            </a:r>
            <a:r>
              <a:rPr kumimoji="0" lang="zh-CN" altLang="en-US" sz="2400" dirty="0">
                <a:latin typeface="宋体" panose="02010600030101010101" pitchFamily="2" charset="-122"/>
              </a:rPr>
              <a:t>，</a:t>
            </a:r>
            <a:r>
              <a:rPr kumimoji="0" lang="en-US" altLang="zh-CN" sz="2400" dirty="0">
                <a:latin typeface="Times New Roman" panose="02020603050405020304" pitchFamily="18" charset="0"/>
              </a:rPr>
              <a:t>…</a:t>
            </a:r>
            <a:r>
              <a:rPr kumimoji="0" lang="en-US" altLang="zh-CN" sz="2400" dirty="0">
                <a:latin typeface="宋体" panose="02010600030101010101" pitchFamily="2" charset="-122"/>
              </a:rPr>
              <a:t>.</a:t>
            </a:r>
            <a:r>
              <a:rPr kumimoji="0" lang="en-US" altLang="zh-CN" sz="2400" dirty="0" err="1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latin typeface="宋体" panose="02010600030101010101" pitchFamily="2" charset="-122"/>
              </a:rPr>
              <a:t>j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可能是从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latin typeface="宋体" panose="02010600030101010101" pitchFamily="2" charset="-122"/>
              </a:rPr>
              <a:t>到</a:t>
            </a:r>
            <a:r>
              <a:rPr kumimoji="0" lang="en-US" altLang="zh-CN" sz="2400" dirty="0" err="1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latin typeface="宋体" panose="02010600030101010101" pitchFamily="2" charset="-122"/>
              </a:rPr>
              <a:t>j</a:t>
            </a:r>
            <a:r>
              <a:rPr kumimoji="0" lang="zh-CN" altLang="en-US" sz="2400" dirty="0">
                <a:latin typeface="宋体" panose="02010600030101010101" pitchFamily="2" charset="-122"/>
              </a:rPr>
              <a:t>的中间顶点序号不大于</a:t>
            </a:r>
            <a:r>
              <a:rPr kumimoji="0" lang="en-US" altLang="zh-CN" sz="2400" dirty="0">
                <a:latin typeface="宋体" panose="02010600030101010101" pitchFamily="2" charset="-122"/>
              </a:rPr>
              <a:t>1</a:t>
            </a:r>
            <a:r>
              <a:rPr kumimoji="0" lang="zh-CN" altLang="en-US" sz="2400" dirty="0">
                <a:latin typeface="宋体" panose="02010600030101010101" pitchFamily="2" charset="-122"/>
              </a:rPr>
              <a:t>的最短路径。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 dirty="0">
                <a:latin typeface="宋体" panose="02010600030101010101" pitchFamily="2" charset="-122"/>
              </a:rPr>
              <a:t>    比较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latin typeface="宋体" panose="02010600030101010101" pitchFamily="2" charset="-122"/>
              </a:rPr>
              <a:t>到</a:t>
            </a:r>
            <a:r>
              <a:rPr kumimoji="0" lang="en-US" altLang="zh-CN" sz="2400" dirty="0" err="1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latin typeface="宋体" panose="02010600030101010101" pitchFamily="2" charset="-122"/>
              </a:rPr>
              <a:t>j</a:t>
            </a:r>
            <a:r>
              <a:rPr kumimoji="0" lang="zh-CN" altLang="en-US" sz="2400" dirty="0">
                <a:latin typeface="宋体" panose="02010600030101010101" pitchFamily="2" charset="-122"/>
              </a:rPr>
              <a:t>的中间顶点序号不大于</a:t>
            </a:r>
            <a:r>
              <a:rPr kumimoji="0" lang="en-US" altLang="zh-CN" sz="2400" dirty="0">
                <a:latin typeface="宋体" panose="02010600030101010101" pitchFamily="2" charset="-122"/>
              </a:rPr>
              <a:t>0</a:t>
            </a:r>
            <a:r>
              <a:rPr kumimoji="0" lang="zh-CN" altLang="en-US" sz="2400" dirty="0">
                <a:latin typeface="宋体" panose="02010600030101010101" pitchFamily="2" charset="-122"/>
              </a:rPr>
              <a:t>的最短路径和</a:t>
            </a:r>
            <a:r>
              <a:rPr kumimoji="0" lang="en-US" altLang="zh-CN" sz="2400" dirty="0">
                <a:latin typeface="宋体" panose="02010600030101010101" pitchFamily="2" charset="-122"/>
              </a:rPr>
              <a:t>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en-US" altLang="zh-CN" sz="2400" dirty="0">
                <a:latin typeface="宋体" panose="02010600030101010101" pitchFamily="2" charset="-122"/>
              </a:rPr>
              <a:t>,</a:t>
            </a:r>
            <a:r>
              <a:rPr kumimoji="0" lang="en-US" altLang="zh-CN" sz="2400" dirty="0">
                <a:latin typeface="Times New Roman" panose="02020603050405020304" pitchFamily="18" charset="0"/>
              </a:rPr>
              <a:t>…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1</a:t>
            </a:r>
            <a:r>
              <a:rPr kumimoji="0" lang="en-US" altLang="zh-CN" sz="2400" dirty="0">
                <a:latin typeface="宋体" panose="02010600030101010101" pitchFamily="2" charset="-122"/>
              </a:rPr>
              <a:t>)+(V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1</a:t>
            </a:r>
            <a:r>
              <a:rPr kumimoji="0" lang="en-US" altLang="zh-CN" sz="2400" dirty="0">
                <a:latin typeface="宋体" panose="02010600030101010101" pitchFamily="2" charset="-122"/>
              </a:rPr>
              <a:t>,</a:t>
            </a:r>
            <a:r>
              <a:rPr kumimoji="0" lang="en-US" altLang="zh-CN" sz="2400" dirty="0">
                <a:latin typeface="Times New Roman" panose="02020603050405020304" pitchFamily="18" charset="0"/>
              </a:rPr>
              <a:t>…</a:t>
            </a:r>
            <a:r>
              <a:rPr kumimoji="0" lang="en-US" altLang="zh-CN" sz="2400" dirty="0">
                <a:latin typeface="宋体" panose="02010600030101010101" pitchFamily="2" charset="-122"/>
              </a:rPr>
              <a:t>.</a:t>
            </a:r>
            <a:r>
              <a:rPr kumimoji="0" lang="en-US" altLang="zh-CN" sz="2400" dirty="0" err="1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latin typeface="宋体" panose="02010600030101010101" pitchFamily="2" charset="-122"/>
              </a:rPr>
              <a:t>j</a:t>
            </a:r>
            <a:r>
              <a:rPr kumimoji="0" lang="en-US" altLang="zh-CN" sz="2400" dirty="0">
                <a:latin typeface="宋体" panose="02010600030101010101" pitchFamily="2" charset="-122"/>
              </a:rPr>
              <a:t>)</a:t>
            </a:r>
            <a:r>
              <a:rPr kumimoji="0" lang="zh-CN" altLang="en-US" sz="2400" dirty="0">
                <a:latin typeface="宋体" panose="02010600030101010101" pitchFamily="2" charset="-122"/>
              </a:rPr>
              <a:t>，取长度较短的，得到了从</a:t>
            </a:r>
            <a:r>
              <a:rPr kumimoji="0" lang="en-US" altLang="zh-CN" sz="2400" dirty="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>
                <a:latin typeface="宋体" panose="02010600030101010101" pitchFamily="2" charset="-122"/>
              </a:rPr>
              <a:t>i</a:t>
            </a:r>
            <a:r>
              <a:rPr kumimoji="0" lang="zh-CN" altLang="en-US" sz="2400" dirty="0">
                <a:latin typeface="宋体" panose="02010600030101010101" pitchFamily="2" charset="-122"/>
              </a:rPr>
              <a:t>到</a:t>
            </a:r>
            <a:r>
              <a:rPr kumimoji="0" lang="en-US" altLang="zh-CN" sz="2400" dirty="0" err="1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 dirty="0" err="1">
                <a:latin typeface="宋体" panose="02010600030101010101" pitchFamily="2" charset="-122"/>
              </a:rPr>
              <a:t>j</a:t>
            </a:r>
            <a:r>
              <a:rPr kumimoji="0" lang="zh-CN" altLang="en-US" sz="2400" dirty="0">
                <a:latin typeface="宋体" panose="02010600030101010101" pitchFamily="2" charset="-122"/>
              </a:rPr>
              <a:t>的中间顶点序号不大于</a:t>
            </a:r>
            <a:r>
              <a:rPr kumimoji="0" lang="en-US" altLang="zh-CN" sz="2400" dirty="0">
                <a:latin typeface="宋体" panose="02010600030101010101" pitchFamily="2" charset="-122"/>
              </a:rPr>
              <a:t>1</a:t>
            </a:r>
            <a:r>
              <a:rPr kumimoji="0" lang="zh-CN" altLang="en-US" sz="2400" dirty="0">
                <a:latin typeface="宋体" panose="02010600030101010101" pitchFamily="2" charset="-122"/>
              </a:rPr>
              <a:t>的最短路径。</a:t>
            </a:r>
          </a:p>
        </p:txBody>
      </p:sp>
      <p:sp>
        <p:nvSpPr>
          <p:cNvPr id="186371" name="Rectangle 3">
            <a:extLst>
              <a:ext uri="{FF2B5EF4-FFF2-40B4-BE49-F238E27FC236}">
                <a16:creationId xmlns:a16="http://schemas.microsoft.com/office/drawing/2014/main" id="{5944EF3E-8210-BB45-B556-9AB4FA9F6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2763" y="5373688"/>
            <a:ext cx="75422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 </a:t>
            </a:r>
            <a:r>
              <a:rPr kumimoji="0" lang="zh-CN" altLang="en-US" sz="2400">
                <a:latin typeface="宋体" panose="02010600030101010101" pitchFamily="2" charset="-122"/>
              </a:rPr>
              <a:t>以此类推，经过</a:t>
            </a:r>
            <a:r>
              <a:rPr kumimoji="0" lang="en-US" altLang="zh-CN" sz="2400">
                <a:latin typeface="宋体" panose="02010600030101010101" pitchFamily="2" charset="-122"/>
              </a:rPr>
              <a:t>n</a:t>
            </a:r>
            <a:r>
              <a:rPr kumimoji="0" lang="zh-CN" altLang="en-US" sz="2400">
                <a:latin typeface="宋体" panose="02010600030101010101" pitchFamily="2" charset="-122"/>
              </a:rPr>
              <a:t>次比较后，求得</a:t>
            </a:r>
            <a:r>
              <a:rPr kumimoji="0" lang="en-US" altLang="zh-CN" sz="2400">
                <a:latin typeface="宋体" panose="02010600030101010101" pitchFamily="2" charset="-122"/>
              </a:rPr>
              <a:t>Vi</a:t>
            </a:r>
            <a:r>
              <a:rPr kumimoji="0" lang="zh-CN" altLang="en-US" sz="2400">
                <a:latin typeface="宋体" panose="02010600030101010101" pitchFamily="2" charset="-122"/>
              </a:rPr>
              <a:t>到</a:t>
            </a:r>
            <a:r>
              <a:rPr kumimoji="0" lang="en-US" altLang="zh-CN" sz="2400">
                <a:latin typeface="宋体" panose="02010600030101010101" pitchFamily="2" charset="-122"/>
              </a:rPr>
              <a:t>Vj</a:t>
            </a:r>
            <a:r>
              <a:rPr kumimoji="0" lang="zh-CN" altLang="en-US" sz="2400">
                <a:latin typeface="宋体" panose="02010600030101010101" pitchFamily="2" charset="-122"/>
              </a:rPr>
              <a:t>的最短路径。</a:t>
            </a:r>
          </a:p>
        </p:txBody>
      </p:sp>
      <p:sp>
        <p:nvSpPr>
          <p:cNvPr id="186372" name="Oval 4">
            <a:extLst>
              <a:ext uri="{FF2B5EF4-FFF2-40B4-BE49-F238E27FC236}">
                <a16:creationId xmlns:a16="http://schemas.microsoft.com/office/drawing/2014/main" id="{1D1A7E4D-E5E9-554B-9930-E5B2201FE5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4632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j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186373" name="Oval 5">
            <a:extLst>
              <a:ext uri="{FF2B5EF4-FFF2-40B4-BE49-F238E27FC236}">
                <a16:creationId xmlns:a16="http://schemas.microsoft.com/office/drawing/2014/main" id="{5FCD7B68-A002-B143-A0AB-B6F659DA7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6323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i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186374" name="Oval 6">
            <a:extLst>
              <a:ext uri="{FF2B5EF4-FFF2-40B4-BE49-F238E27FC236}">
                <a16:creationId xmlns:a16="http://schemas.microsoft.com/office/drawing/2014/main" id="{AB367523-6192-EF4C-9926-517EA9CDF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3565525"/>
            <a:ext cx="381000" cy="381000"/>
          </a:xfrm>
          <a:prstGeom prst="ellipse">
            <a:avLst/>
          </a:prstGeom>
          <a:solidFill>
            <a:srgbClr val="CCFF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V</a:t>
            </a:r>
            <a:r>
              <a:rPr kumimoji="0" lang="en-US" altLang="zh-CN" sz="2400" baseline="-25000">
                <a:latin typeface="宋体" panose="02010600030101010101" pitchFamily="2" charset="-122"/>
              </a:rPr>
              <a:t>1</a:t>
            </a:r>
            <a:endParaRPr kumimoji="0" lang="en-US" altLang="zh-CN" sz="2400" baseline="-25000" noProof="1">
              <a:latin typeface="宋体" panose="02010600030101010101" pitchFamily="2" charset="-122"/>
            </a:endParaRPr>
          </a:p>
        </p:txBody>
      </p:sp>
      <p:sp>
        <p:nvSpPr>
          <p:cNvPr id="186375" name="Text Box 7">
            <a:extLst>
              <a:ext uri="{FF2B5EF4-FFF2-40B4-BE49-F238E27FC236}">
                <a16:creationId xmlns:a16="http://schemas.microsoft.com/office/drawing/2014/main" id="{04F3CE7E-994A-FD44-B191-CFF53C4EA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49371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70</a:t>
            </a:r>
          </a:p>
        </p:txBody>
      </p:sp>
      <p:sp>
        <p:nvSpPr>
          <p:cNvPr id="186376" name="Text Box 8">
            <a:extLst>
              <a:ext uri="{FF2B5EF4-FFF2-40B4-BE49-F238E27FC236}">
                <a16:creationId xmlns:a16="http://schemas.microsoft.com/office/drawing/2014/main" id="{DB6EF130-0F1E-5B4A-A36F-6AF81FB4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38703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186377" name="Text Box 9">
            <a:extLst>
              <a:ext uri="{FF2B5EF4-FFF2-40B4-BE49-F238E27FC236}">
                <a16:creationId xmlns:a16="http://schemas.microsoft.com/office/drawing/2014/main" id="{5D3B7A2A-05C8-E046-997B-67590B182F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38703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latin typeface="宋体" panose="02010600030101010101" pitchFamily="2" charset="-122"/>
              </a:rPr>
              <a:t>20</a:t>
            </a:r>
          </a:p>
        </p:txBody>
      </p:sp>
      <p:sp>
        <p:nvSpPr>
          <p:cNvPr id="186378" name="Line 10">
            <a:extLst>
              <a:ext uri="{FF2B5EF4-FFF2-40B4-BE49-F238E27FC236}">
                <a16:creationId xmlns:a16="http://schemas.microsoft.com/office/drawing/2014/main" id="{84C53168-C2F7-ED45-841A-FD70B104411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0600" y="4860925"/>
            <a:ext cx="1295400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79" name="Freeform 11">
            <a:extLst>
              <a:ext uri="{FF2B5EF4-FFF2-40B4-BE49-F238E27FC236}">
                <a16:creationId xmlns:a16="http://schemas.microsoft.com/office/drawing/2014/main" id="{89662EC5-C453-3C4C-A1A9-43182E9F18F7}"/>
              </a:ext>
            </a:extLst>
          </p:cNvPr>
          <p:cNvSpPr>
            <a:spLocks/>
          </p:cNvSpPr>
          <p:nvPr/>
        </p:nvSpPr>
        <p:spPr bwMode="auto">
          <a:xfrm>
            <a:off x="2057400" y="4175125"/>
            <a:ext cx="685800" cy="533400"/>
          </a:xfrm>
          <a:custGeom>
            <a:avLst/>
            <a:gdLst>
              <a:gd name="T0" fmla="*/ 0 w 432"/>
              <a:gd name="T1" fmla="*/ 2147483646 h 336"/>
              <a:gd name="T2" fmla="*/ 2147483646 w 432"/>
              <a:gd name="T3" fmla="*/ 2147483646 h 336"/>
              <a:gd name="T4" fmla="*/ 2147483646 w 432"/>
              <a:gd name="T5" fmla="*/ 2147483646 h 336"/>
              <a:gd name="T6" fmla="*/ 2147483646 w 432"/>
              <a:gd name="T7" fmla="*/ 0 h 336"/>
              <a:gd name="T8" fmla="*/ 0 60000 65536"/>
              <a:gd name="T9" fmla="*/ 0 60000 65536"/>
              <a:gd name="T10" fmla="*/ 0 60000 65536"/>
              <a:gd name="T11" fmla="*/ 0 60000 65536"/>
              <a:gd name="T12" fmla="*/ 0 w 432"/>
              <a:gd name="T13" fmla="*/ 0 h 336"/>
              <a:gd name="T14" fmla="*/ 432 w 432"/>
              <a:gd name="T15" fmla="*/ 336 h 3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32" h="336">
                <a:moveTo>
                  <a:pt x="0" y="336"/>
                </a:moveTo>
                <a:cubicBezTo>
                  <a:pt x="140" y="336"/>
                  <a:pt x="280" y="336"/>
                  <a:pt x="336" y="288"/>
                </a:cubicBezTo>
                <a:cubicBezTo>
                  <a:pt x="392" y="240"/>
                  <a:pt x="320" y="96"/>
                  <a:pt x="336" y="48"/>
                </a:cubicBezTo>
                <a:cubicBezTo>
                  <a:pt x="352" y="0"/>
                  <a:pt x="408" y="8"/>
                  <a:pt x="432" y="0"/>
                </a:cubicBezTo>
              </a:path>
            </a:pathLst>
          </a:custGeom>
          <a:noFill/>
          <a:ln w="38100" cap="flat" cmpd="sng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0" name="Line 12">
            <a:extLst>
              <a:ext uri="{FF2B5EF4-FFF2-40B4-BE49-F238E27FC236}">
                <a16:creationId xmlns:a16="http://schemas.microsoft.com/office/drawing/2014/main" id="{05BAF408-98AC-C745-B860-441B251B868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7000" y="4175125"/>
            <a:ext cx="152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1" name="Line 13">
            <a:extLst>
              <a:ext uri="{FF2B5EF4-FFF2-40B4-BE49-F238E27FC236}">
                <a16:creationId xmlns:a16="http://schemas.microsoft.com/office/drawing/2014/main" id="{1FB2154F-9D54-F949-92F1-EE3B48A3C82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3800" y="3717925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2" name="Freeform 14">
            <a:extLst>
              <a:ext uri="{FF2B5EF4-FFF2-40B4-BE49-F238E27FC236}">
                <a16:creationId xmlns:a16="http://schemas.microsoft.com/office/drawing/2014/main" id="{924F9214-180A-8940-B575-68C01C2BF52B}"/>
              </a:ext>
            </a:extLst>
          </p:cNvPr>
          <p:cNvSpPr>
            <a:spLocks/>
          </p:cNvSpPr>
          <p:nvPr/>
        </p:nvSpPr>
        <p:spPr bwMode="auto">
          <a:xfrm>
            <a:off x="3416300" y="3641725"/>
            <a:ext cx="317500" cy="228600"/>
          </a:xfrm>
          <a:custGeom>
            <a:avLst/>
            <a:gdLst>
              <a:gd name="T0" fmla="*/ 2147483646 w 200"/>
              <a:gd name="T1" fmla="*/ 2147483646 h 144"/>
              <a:gd name="T2" fmla="*/ 2147483646 w 200"/>
              <a:gd name="T3" fmla="*/ 0 h 144"/>
              <a:gd name="T4" fmla="*/ 2147483646 w 200"/>
              <a:gd name="T5" fmla="*/ 2147483646 h 144"/>
              <a:gd name="T6" fmla="*/ 2147483646 w 200"/>
              <a:gd name="T7" fmla="*/ 2147483646 h 144"/>
              <a:gd name="T8" fmla="*/ 0 60000 65536"/>
              <a:gd name="T9" fmla="*/ 0 60000 65536"/>
              <a:gd name="T10" fmla="*/ 0 60000 65536"/>
              <a:gd name="T11" fmla="*/ 0 60000 65536"/>
              <a:gd name="T12" fmla="*/ 0 w 200"/>
              <a:gd name="T13" fmla="*/ 0 h 144"/>
              <a:gd name="T14" fmla="*/ 200 w 200"/>
              <a:gd name="T15" fmla="*/ 144 h 1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0" h="144">
                <a:moveTo>
                  <a:pt x="200" y="48"/>
                </a:moveTo>
                <a:cubicBezTo>
                  <a:pt x="144" y="24"/>
                  <a:pt x="88" y="0"/>
                  <a:pt x="56" y="0"/>
                </a:cubicBezTo>
                <a:cubicBezTo>
                  <a:pt x="24" y="0"/>
                  <a:pt x="16" y="24"/>
                  <a:pt x="8" y="48"/>
                </a:cubicBezTo>
                <a:cubicBezTo>
                  <a:pt x="0" y="72"/>
                  <a:pt x="8" y="136"/>
                  <a:pt x="8" y="144"/>
                </a:cubicBezTo>
              </a:path>
            </a:pathLst>
          </a:custGeom>
          <a:noFill/>
          <a:ln w="38100" cap="flat" cmpd="sng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3" name="Freeform 15">
            <a:extLst>
              <a:ext uri="{FF2B5EF4-FFF2-40B4-BE49-F238E27FC236}">
                <a16:creationId xmlns:a16="http://schemas.microsoft.com/office/drawing/2014/main" id="{5D4CF009-ACD6-924F-A9AF-9C6B898267E9}"/>
              </a:ext>
            </a:extLst>
          </p:cNvPr>
          <p:cNvSpPr>
            <a:spLocks/>
          </p:cNvSpPr>
          <p:nvPr/>
        </p:nvSpPr>
        <p:spPr bwMode="auto">
          <a:xfrm>
            <a:off x="4419600" y="3705225"/>
            <a:ext cx="762000" cy="177800"/>
          </a:xfrm>
          <a:custGeom>
            <a:avLst/>
            <a:gdLst>
              <a:gd name="T0" fmla="*/ 0 w 480"/>
              <a:gd name="T1" fmla="*/ 2147483646 h 112"/>
              <a:gd name="T2" fmla="*/ 2147483646 w 480"/>
              <a:gd name="T3" fmla="*/ 2147483646 h 112"/>
              <a:gd name="T4" fmla="*/ 2147483646 w 480"/>
              <a:gd name="T5" fmla="*/ 2147483646 h 112"/>
              <a:gd name="T6" fmla="*/ 2147483646 w 480"/>
              <a:gd name="T7" fmla="*/ 2147483646 h 112"/>
              <a:gd name="T8" fmla="*/ 2147483646 w 480"/>
              <a:gd name="T9" fmla="*/ 2147483646 h 1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80"/>
              <a:gd name="T16" fmla="*/ 0 h 112"/>
              <a:gd name="T17" fmla="*/ 480 w 480"/>
              <a:gd name="T18" fmla="*/ 112 h 1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80" h="112">
                <a:moveTo>
                  <a:pt x="0" y="56"/>
                </a:moveTo>
                <a:cubicBezTo>
                  <a:pt x="88" y="84"/>
                  <a:pt x="176" y="112"/>
                  <a:pt x="240" y="104"/>
                </a:cubicBezTo>
                <a:cubicBezTo>
                  <a:pt x="304" y="96"/>
                  <a:pt x="352" y="16"/>
                  <a:pt x="384" y="8"/>
                </a:cubicBezTo>
                <a:cubicBezTo>
                  <a:pt x="416" y="0"/>
                  <a:pt x="416" y="40"/>
                  <a:pt x="432" y="56"/>
                </a:cubicBezTo>
                <a:cubicBezTo>
                  <a:pt x="448" y="72"/>
                  <a:pt x="472" y="96"/>
                  <a:pt x="480" y="104"/>
                </a:cubicBezTo>
              </a:path>
            </a:pathLst>
          </a:custGeom>
          <a:noFill/>
          <a:ln w="38100" cap="flat" cmpd="sng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4" name="Line 16">
            <a:extLst>
              <a:ext uri="{FF2B5EF4-FFF2-40B4-BE49-F238E27FC236}">
                <a16:creationId xmlns:a16="http://schemas.microsoft.com/office/drawing/2014/main" id="{287B913F-1533-5E41-B4F1-8D013517549A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1600" y="3870325"/>
            <a:ext cx="7620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5" name="Line 17">
            <a:extLst>
              <a:ext uri="{FF2B5EF4-FFF2-40B4-BE49-F238E27FC236}">
                <a16:creationId xmlns:a16="http://schemas.microsoft.com/office/drawing/2014/main" id="{B4336587-1192-B242-80A4-B9407A9127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1200" y="4479925"/>
            <a:ext cx="228600" cy="22860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6" name="Line 18">
            <a:extLst>
              <a:ext uri="{FF2B5EF4-FFF2-40B4-BE49-F238E27FC236}">
                <a16:creationId xmlns:a16="http://schemas.microsoft.com/office/drawing/2014/main" id="{69143EDA-030F-3E49-ABC4-2764926C88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5600" y="3870325"/>
            <a:ext cx="381000" cy="304800"/>
          </a:xfrm>
          <a:prstGeom prst="line">
            <a:avLst/>
          </a:prstGeom>
          <a:noFill/>
          <a:ln w="38100">
            <a:solidFill>
              <a:srgbClr val="FF66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7" name="Line 19">
            <a:extLst>
              <a:ext uri="{FF2B5EF4-FFF2-40B4-BE49-F238E27FC236}">
                <a16:creationId xmlns:a16="http://schemas.microsoft.com/office/drawing/2014/main" id="{7EB16EEE-155F-A24B-9471-EB72EFA361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7800" y="4022725"/>
            <a:ext cx="304800" cy="304800"/>
          </a:xfrm>
          <a:prstGeom prst="line">
            <a:avLst/>
          </a:prstGeom>
          <a:noFill/>
          <a:ln w="38100">
            <a:solidFill>
              <a:srgbClr val="FF66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8" name="Line 20">
            <a:extLst>
              <a:ext uri="{FF2B5EF4-FFF2-40B4-BE49-F238E27FC236}">
                <a16:creationId xmlns:a16="http://schemas.microsoft.com/office/drawing/2014/main" id="{C2DBBACB-9FD7-AB45-85BB-7CBCD0E62F1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3600" y="4860925"/>
            <a:ext cx="1371600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6389" name="Line 21">
            <a:extLst>
              <a:ext uri="{FF2B5EF4-FFF2-40B4-BE49-F238E27FC236}">
                <a16:creationId xmlns:a16="http://schemas.microsoft.com/office/drawing/2014/main" id="{8AC0C635-0DAE-CE4B-A604-DB90931E309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00" y="4860925"/>
            <a:ext cx="990600" cy="0"/>
          </a:xfrm>
          <a:prstGeom prst="line">
            <a:avLst/>
          </a:prstGeom>
          <a:noFill/>
          <a:ln w="9525">
            <a:solidFill>
              <a:schemeClr val="accent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3" name="灯片编号占位符 1">
            <a:extLst>
              <a:ext uri="{FF2B5EF4-FFF2-40B4-BE49-F238E27FC236}">
                <a16:creationId xmlns:a16="http://schemas.microsoft.com/office/drawing/2014/main" id="{3FB5FFD6-4407-A443-8A7D-ADAF207A4B3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FBEE470-4B9B-464B-A0B7-5E6C7505ADF9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99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graphicFrame>
        <p:nvGraphicFramePr>
          <p:cNvPr id="192514" name="Object 2">
            <a:extLst>
              <a:ext uri="{FF2B5EF4-FFF2-40B4-BE49-F238E27FC236}">
                <a16:creationId xmlns:a16="http://schemas.microsoft.com/office/drawing/2014/main" id="{F6CDA822-6A5B-DB44-9C69-F0E582FA305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108575" y="1790700"/>
          <a:ext cx="2128838" cy="17573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6967200" imgH="16383000" progId="Equation.DSMT4">
                  <p:embed/>
                </p:oleObj>
              </mc:Choice>
              <mc:Fallback>
                <p:oleObj name="Equation" r:id="rId3" imgW="16967200" imgH="1638300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08575" y="1790700"/>
                        <a:ext cx="2128838" cy="17573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2515" name="Text Box 4">
            <a:extLst>
              <a:ext uri="{FF2B5EF4-FFF2-40B4-BE49-F238E27FC236}">
                <a16:creationId xmlns:a16="http://schemas.microsoft.com/office/drawing/2014/main" id="{2CA02FB2-8CA9-354F-AA38-170FE4A1F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2725" y="3878263"/>
            <a:ext cx="2016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邻接矩阵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pic>
        <p:nvPicPr>
          <p:cNvPr id="192516" name="Picture 6">
            <a:extLst>
              <a:ext uri="{FF2B5EF4-FFF2-40B4-BE49-F238E27FC236}">
                <a16:creationId xmlns:a16="http://schemas.microsoft.com/office/drawing/2014/main" id="{37D9D6D1-952B-BE48-9B48-44B1921F7D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22388" y="1247775"/>
            <a:ext cx="2962275" cy="3333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1" name="灯片编号占位符 1">
            <a:extLst>
              <a:ext uri="{FF2B5EF4-FFF2-40B4-BE49-F238E27FC236}">
                <a16:creationId xmlns:a16="http://schemas.microsoft.com/office/drawing/2014/main" id="{6B06BF1A-502F-BC4D-838F-EEBC0F9764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E9C7A95-F657-9345-8B61-5BCF7B08F91B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100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graphicFrame>
        <p:nvGraphicFramePr>
          <p:cNvPr id="194562" name="Object 12">
            <a:extLst>
              <a:ext uri="{FF2B5EF4-FFF2-40B4-BE49-F238E27FC236}">
                <a16:creationId xmlns:a16="http://schemas.microsoft.com/office/drawing/2014/main" id="{C1A58901-0474-744E-A46B-8996DFC4202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330950" y="404813"/>
          <a:ext cx="2525713" cy="14398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公式" r:id="rId3" imgW="22529800" imgH="16383000" progId="Equation.3">
                  <p:embed/>
                </p:oleObj>
              </mc:Choice>
              <mc:Fallback>
                <p:oleObj name="公式" r:id="rId3" imgW="22529800" imgH="16383000" progId="Equation.3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30950" y="404813"/>
                        <a:ext cx="2525713" cy="14398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61" name="Object 13">
            <a:extLst>
              <a:ext uri="{FF2B5EF4-FFF2-40B4-BE49-F238E27FC236}">
                <a16:creationId xmlns:a16="http://schemas.microsoft.com/office/drawing/2014/main" id="{E154D52E-8B2C-2C44-BD92-25139A727AB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372225" y="1916113"/>
          <a:ext cx="2447925" cy="13573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公式" r:id="rId5" imgW="23114000" imgH="16383000" progId="Equation.3">
                  <p:embed/>
                </p:oleObj>
              </mc:Choice>
              <mc:Fallback>
                <p:oleObj name="公式" r:id="rId5" imgW="23114000" imgH="16383000" progId="Equation.3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72225" y="1916113"/>
                        <a:ext cx="2447925" cy="13573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62" name="Object 14">
            <a:extLst>
              <a:ext uri="{FF2B5EF4-FFF2-40B4-BE49-F238E27FC236}">
                <a16:creationId xmlns:a16="http://schemas.microsoft.com/office/drawing/2014/main" id="{D757E29F-681E-6745-ACD2-315536F6832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372225" y="3517900"/>
          <a:ext cx="2593975" cy="13509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公式" r:id="rId7" imgW="22821900" imgH="16383000" progId="Equation.3">
                  <p:embed/>
                </p:oleObj>
              </mc:Choice>
              <mc:Fallback>
                <p:oleObj name="公式" r:id="rId7" imgW="22821900" imgH="16383000" progId="Equation.3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72225" y="3517900"/>
                        <a:ext cx="2593975" cy="13509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63" name="Object 15">
            <a:extLst>
              <a:ext uri="{FF2B5EF4-FFF2-40B4-BE49-F238E27FC236}">
                <a16:creationId xmlns:a16="http://schemas.microsoft.com/office/drawing/2014/main" id="{91C92F8B-DC97-7B42-9891-D81086FC2A6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443663" y="4797425"/>
          <a:ext cx="2305050" cy="1279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公式" r:id="rId9" imgW="23114000" imgH="16383000" progId="Equation.3">
                  <p:embed/>
                </p:oleObj>
              </mc:Choice>
              <mc:Fallback>
                <p:oleObj name="公式" r:id="rId9" imgW="23114000" imgH="16383000" progId="Equation.3">
                  <p:embed/>
                  <p:pic>
                    <p:nvPicPr>
                      <p:cNvPr id="0" name="Object 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443663" y="4797425"/>
                        <a:ext cx="2305050" cy="1279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94566" name="Picture 12">
            <a:extLst>
              <a:ext uri="{FF2B5EF4-FFF2-40B4-BE49-F238E27FC236}">
                <a16:creationId xmlns:a16="http://schemas.microsoft.com/office/drawing/2014/main" id="{F7B0F14C-C590-4748-BD4B-54A06B761F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1484313"/>
            <a:ext cx="2962275" cy="3333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67" name="TextBox 13">
            <a:extLst>
              <a:ext uri="{FF2B5EF4-FFF2-40B4-BE49-F238E27FC236}">
                <a16:creationId xmlns:a16="http://schemas.microsoft.com/office/drawing/2014/main" id="{66F3F132-3B71-FC4A-AFC8-48BEEEB67C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51275" y="879475"/>
            <a:ext cx="9366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0">
                <a:latin typeface="Times New Roman" panose="02020603050405020304" pitchFamily="18" charset="0"/>
              </a:rPr>
              <a:t>D</a:t>
            </a:r>
            <a:r>
              <a:rPr lang="en-US" altLang="zh-CN" sz="2400" b="0" baseline="-25000">
                <a:latin typeface="Times New Roman" panose="02020603050405020304" pitchFamily="18" charset="0"/>
              </a:rPr>
              <a:t>-1</a:t>
            </a:r>
            <a:endParaRPr lang="zh-CN" altLang="en-US" sz="2400" b="0" baseline="-25000">
              <a:latin typeface="Times New Roman" panose="02020603050405020304" pitchFamily="18" charset="0"/>
            </a:endParaRPr>
          </a:p>
        </p:txBody>
      </p:sp>
      <p:pic>
        <p:nvPicPr>
          <p:cNvPr id="194568" name="Picture 14" descr="C:\Users\JOHN ZHU\Desktop\图片1.png">
            <a:extLst>
              <a:ext uri="{FF2B5EF4-FFF2-40B4-BE49-F238E27FC236}">
                <a16:creationId xmlns:a16="http://schemas.microsoft.com/office/drawing/2014/main" id="{F23E0BC0-385D-1F45-9527-D2E81D3E89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53"/>
          <a:stretch>
            <a:fillRect/>
          </a:stretch>
        </p:blipFill>
        <p:spPr bwMode="auto">
          <a:xfrm>
            <a:off x="4356100" y="392113"/>
            <a:ext cx="1878013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15" descr="C:\Users\JOHN ZHU\Desktop\图片2.png">
            <a:extLst>
              <a:ext uri="{FF2B5EF4-FFF2-40B4-BE49-F238E27FC236}">
                <a16:creationId xmlns:a16="http://schemas.microsoft.com/office/drawing/2014/main" id="{C070D0D1-1F88-DF41-8C46-E6DDDF47B4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367"/>
          <a:stretch>
            <a:fillRect/>
          </a:stretch>
        </p:blipFill>
        <p:spPr bwMode="auto">
          <a:xfrm>
            <a:off x="4427538" y="1905000"/>
            <a:ext cx="1855787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4" name="Picture 16" descr="C:\Users\JOHN ZHU\Desktop\图片3.png">
            <a:extLst>
              <a:ext uri="{FF2B5EF4-FFF2-40B4-BE49-F238E27FC236}">
                <a16:creationId xmlns:a16="http://schemas.microsoft.com/office/drawing/2014/main" id="{1F8C41DA-A426-DA41-B2B9-8213F16D2D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38"/>
          <a:stretch>
            <a:fillRect/>
          </a:stretch>
        </p:blipFill>
        <p:spPr bwMode="auto">
          <a:xfrm>
            <a:off x="4356100" y="3424238"/>
            <a:ext cx="1871663" cy="151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5" name="Picture 17" descr="C:\Users\JOHN ZHU\Desktop\图片4.png">
            <a:extLst>
              <a:ext uri="{FF2B5EF4-FFF2-40B4-BE49-F238E27FC236}">
                <a16:creationId xmlns:a16="http://schemas.microsoft.com/office/drawing/2014/main" id="{329E82D9-3B81-DC45-B1BB-1194E8D8CC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38"/>
          <a:stretch>
            <a:fillRect/>
          </a:stretch>
        </p:blipFill>
        <p:spPr bwMode="auto">
          <a:xfrm>
            <a:off x="4427538" y="4797425"/>
            <a:ext cx="187325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A7DF3D46-7237-BA42-B841-2D54394574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4300" y="2390775"/>
            <a:ext cx="9350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0">
                <a:latin typeface="Times New Roman" panose="02020603050405020304" pitchFamily="18" charset="0"/>
              </a:rPr>
              <a:t>D</a:t>
            </a:r>
            <a:r>
              <a:rPr lang="en-US" altLang="zh-CN" sz="2400" b="0" baseline="-25000">
                <a:latin typeface="Times New Roman" panose="02020603050405020304" pitchFamily="18" charset="0"/>
              </a:rPr>
              <a:t>0</a:t>
            </a:r>
            <a:endParaRPr lang="zh-CN" altLang="en-US" sz="2400" b="0" baseline="-25000">
              <a:latin typeface="Times New Roman" panose="02020603050405020304" pitchFamily="18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99A7495-3A31-AB44-875F-2F2C01D766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4300" y="3903663"/>
            <a:ext cx="9350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0">
                <a:latin typeface="Times New Roman" panose="02020603050405020304" pitchFamily="18" charset="0"/>
              </a:rPr>
              <a:t>D</a:t>
            </a:r>
            <a:r>
              <a:rPr lang="en-US" altLang="zh-CN" sz="2400" b="0" baseline="-25000">
                <a:latin typeface="Times New Roman" panose="02020603050405020304" pitchFamily="18" charset="0"/>
              </a:rPr>
              <a:t>1</a:t>
            </a:r>
            <a:endParaRPr lang="zh-CN" altLang="en-US" sz="2400" b="0" baseline="-25000">
              <a:latin typeface="Times New Roman" panose="02020603050405020304" pitchFamily="18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BE39EF6-DDE7-9145-BCB2-2E7F81593F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5343525"/>
            <a:ext cx="9366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0">
                <a:latin typeface="Times New Roman" panose="02020603050405020304" pitchFamily="18" charset="0"/>
              </a:rPr>
              <a:t>D</a:t>
            </a:r>
            <a:r>
              <a:rPr lang="en-US" altLang="zh-CN" sz="2400" b="0" baseline="-25000">
                <a:latin typeface="Times New Roman" panose="02020603050405020304" pitchFamily="18" charset="0"/>
              </a:rPr>
              <a:t>2</a:t>
            </a:r>
            <a:endParaRPr lang="zh-CN" altLang="en-US" sz="2400" b="0" baseline="-25000">
              <a:latin typeface="Times New Roman" panose="02020603050405020304" pitchFamily="18" charset="0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C6118957-22CA-964A-A122-07223A77252B}"/>
              </a:ext>
            </a:extLst>
          </p:cNvPr>
          <p:cNvSpPr txBox="1"/>
          <p:nvPr/>
        </p:nvSpPr>
        <p:spPr>
          <a:xfrm>
            <a:off x="868686" y="560983"/>
            <a:ext cx="26642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zh-CN" altLang="en-US" sz="1800" b="0" dirty="0"/>
              <a:t>考虑经过</a:t>
            </a:r>
            <a:r>
              <a:rPr kumimoji="1" lang="en-US" altLang="zh-CN" sz="1800" b="0" dirty="0" err="1"/>
              <a:t>V</a:t>
            </a:r>
            <a:r>
              <a:rPr lang="en-US" altLang="zh-CN" sz="1800" b="0" baseline="-25000" dirty="0" err="1"/>
              <a:t>k</a:t>
            </a:r>
            <a:r>
              <a:rPr kumimoji="1" lang="zh-CN" altLang="en-US" sz="1800" b="0" dirty="0"/>
              <a:t>时，</a:t>
            </a:r>
            <a:r>
              <a:rPr kumimoji="1" lang="en-US" altLang="zh-CN" sz="1800" b="0" dirty="0" err="1"/>
              <a:t>V</a:t>
            </a:r>
            <a:r>
              <a:rPr lang="en-US" altLang="zh-CN" sz="1800" b="0" baseline="-25000" dirty="0" err="1"/>
              <a:t>k</a:t>
            </a:r>
            <a:r>
              <a:rPr lang="zh-CN" altLang="en-US" sz="1800" b="0" dirty="0"/>
              <a:t>对应的行列值保持不变；</a:t>
            </a:r>
            <a:r>
              <a:rPr lang="en-US" altLang="zh-CN" sz="1800" b="0" dirty="0" err="1"/>
              <a:t>V</a:t>
            </a:r>
            <a:r>
              <a:rPr lang="en-US" altLang="zh-CN" sz="1800" b="0" baseline="-25000" dirty="0" err="1"/>
              <a:t>ij</a:t>
            </a:r>
            <a:r>
              <a:rPr lang="en-US" altLang="zh-CN" sz="1800" b="0" dirty="0"/>
              <a:t>=min(</a:t>
            </a:r>
            <a:r>
              <a:rPr lang="en-US" altLang="zh-CN" sz="1800" b="0" dirty="0" err="1"/>
              <a:t>V</a:t>
            </a:r>
            <a:r>
              <a:rPr lang="en-US" altLang="zh-CN" sz="1800" b="0" baseline="-25000" dirty="0" err="1"/>
              <a:t>ij</a:t>
            </a:r>
            <a:r>
              <a:rPr lang="en-US" altLang="zh-CN" sz="1800" b="0" dirty="0" err="1"/>
              <a:t>,V</a:t>
            </a:r>
            <a:r>
              <a:rPr lang="en-US" altLang="zh-CN" sz="1800" b="0" baseline="-25000" dirty="0" err="1"/>
              <a:t>ik</a:t>
            </a:r>
            <a:r>
              <a:rPr lang="en-US" altLang="zh-CN" sz="1800" b="0" dirty="0" err="1"/>
              <a:t>,V</a:t>
            </a:r>
            <a:r>
              <a:rPr lang="en-US" altLang="zh-CN" sz="1800" b="0" baseline="-25000" dirty="0" err="1"/>
              <a:t>kj</a:t>
            </a:r>
            <a:r>
              <a:rPr lang="en-US" altLang="zh-CN" sz="1800" b="0" dirty="0"/>
              <a:t>)</a:t>
            </a:r>
            <a:endParaRPr kumimoji="1" lang="zh-CN" altLang="en-US" sz="1800" b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2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" dur="500"/>
                                        <p:tgtEl>
                                          <p:spTgt spid="2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2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500"/>
                                        <p:tgtEl>
                                          <p:spTgt spid="2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1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09" name="灯片编号占位符 1">
            <a:extLst>
              <a:ext uri="{FF2B5EF4-FFF2-40B4-BE49-F238E27FC236}">
                <a16:creationId xmlns:a16="http://schemas.microsoft.com/office/drawing/2014/main" id="{0C3DA304-01F0-164F-9B69-C249C43A750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38CB49A-3241-F34E-BE0B-0ECEDD301EA7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101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96610" name="Text Box 4">
            <a:extLst>
              <a:ext uri="{FF2B5EF4-FFF2-40B4-BE49-F238E27FC236}">
                <a16:creationId xmlns:a16="http://schemas.microsoft.com/office/drawing/2014/main" id="{FD833E44-17DF-5E43-9F8C-2E40CC88B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5084763"/>
            <a:ext cx="71643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这里序号为顶点下标，如（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0,1,2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）表示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v0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v1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、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v2</a:t>
            </a:r>
          </a:p>
        </p:txBody>
      </p:sp>
      <p:graphicFrame>
        <p:nvGraphicFramePr>
          <p:cNvPr id="196611" name="Object 15">
            <a:extLst>
              <a:ext uri="{FF2B5EF4-FFF2-40B4-BE49-F238E27FC236}">
                <a16:creationId xmlns:a16="http://schemas.microsoft.com/office/drawing/2014/main" id="{DEB416D2-F083-FF44-9691-BB42D82B9AA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443663" y="765175"/>
          <a:ext cx="2595562" cy="14398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公式" r:id="rId3" imgW="23114000" imgH="16383000" progId="Equation.3">
                  <p:embed/>
                </p:oleObj>
              </mc:Choice>
              <mc:Fallback>
                <p:oleObj name="公式" r:id="rId3" imgW="23114000" imgH="16383000" progId="Equation.3">
                  <p:embed/>
                  <p:pic>
                    <p:nvPicPr>
                      <p:cNvPr id="0" name="Object 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443663" y="765175"/>
                        <a:ext cx="2595562" cy="14398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96612" name="Picture 17" descr="C:\Users\JOHN ZHU\Desktop\图片4.png">
            <a:extLst>
              <a:ext uri="{FF2B5EF4-FFF2-40B4-BE49-F238E27FC236}">
                <a16:creationId xmlns:a16="http://schemas.microsoft.com/office/drawing/2014/main" id="{B5843E28-3587-7641-B307-FD8DD066F2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38"/>
          <a:stretch>
            <a:fillRect/>
          </a:stretch>
        </p:blipFill>
        <p:spPr bwMode="auto">
          <a:xfrm>
            <a:off x="4427538" y="765175"/>
            <a:ext cx="187325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6613" name="TextBox 9">
            <a:extLst>
              <a:ext uri="{FF2B5EF4-FFF2-40B4-BE49-F238E27FC236}">
                <a16:creationId xmlns:a16="http://schemas.microsoft.com/office/drawing/2014/main" id="{D2DE70CD-8A9D-4841-9DCE-FCDDB7AC73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1311275"/>
            <a:ext cx="9366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0">
                <a:latin typeface="Times New Roman" panose="02020603050405020304" pitchFamily="18" charset="0"/>
              </a:rPr>
              <a:t>D</a:t>
            </a:r>
            <a:r>
              <a:rPr lang="en-US" altLang="zh-CN" sz="2400" b="0" baseline="-25000">
                <a:latin typeface="Times New Roman" panose="02020603050405020304" pitchFamily="18" charset="0"/>
              </a:rPr>
              <a:t>2</a:t>
            </a:r>
            <a:endParaRPr lang="zh-CN" altLang="en-US" sz="2400" b="0" baseline="-25000">
              <a:latin typeface="Times New Roman" panose="02020603050405020304" pitchFamily="18" charset="0"/>
            </a:endParaRPr>
          </a:p>
        </p:txBody>
      </p:sp>
      <p:pic>
        <p:nvPicPr>
          <p:cNvPr id="196614" name="Picture 12">
            <a:extLst>
              <a:ext uri="{FF2B5EF4-FFF2-40B4-BE49-F238E27FC236}">
                <a16:creationId xmlns:a16="http://schemas.microsoft.com/office/drawing/2014/main" id="{BB030F6F-2796-4D4D-A987-15C4699B9E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1196975"/>
            <a:ext cx="2962275" cy="3333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6615" name="TextBox 13">
            <a:extLst>
              <a:ext uri="{FF2B5EF4-FFF2-40B4-BE49-F238E27FC236}">
                <a16:creationId xmlns:a16="http://schemas.microsoft.com/office/drawing/2014/main" id="{661ACAD1-0ACE-8C43-91F3-4691EB3B30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9838" y="2924175"/>
            <a:ext cx="5040312" cy="150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           (0,1)   (0,1,2)</a:t>
            </a:r>
          </a:p>
          <a:p>
            <a:pPr eaLnBrk="1" hangingPunct="1">
              <a:spcBef>
                <a:spcPts val="12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P2</a:t>
            </a:r>
            <a:r>
              <a:rPr lang="zh-CN" altLang="en-US" sz="2400">
                <a:latin typeface="宋体" panose="02010600030101010101" pitchFamily="2" charset="-122"/>
              </a:rPr>
              <a:t>的含义</a:t>
            </a:r>
            <a:r>
              <a:rPr lang="en-US" altLang="zh-CN" sz="2400">
                <a:latin typeface="宋体" panose="02010600030101010101" pitchFamily="2" charset="-122"/>
              </a:rPr>
              <a:t>= (1,2,0)        (1,2)</a:t>
            </a:r>
          </a:p>
          <a:p>
            <a:pPr eaLnBrk="1" hangingPunct="1">
              <a:spcBef>
                <a:spcPts val="1200"/>
              </a:spcBef>
              <a:buClrTx/>
              <a:buSzTx/>
              <a:buFontTx/>
              <a:buNone/>
            </a:pPr>
            <a:r>
              <a:rPr lang="en-US" altLang="zh-CN" sz="2400">
                <a:latin typeface="宋体" panose="02010600030101010101" pitchFamily="2" charset="-122"/>
              </a:rPr>
              <a:t>          (2,0)  (2,0,1)</a:t>
            </a:r>
            <a:endParaRPr lang="zh-CN" altLang="en-US" sz="2400">
              <a:latin typeface="宋体" panose="02010600030101010101" pitchFamily="2" charset="-122"/>
            </a:endParaRPr>
          </a:p>
        </p:txBody>
      </p:sp>
      <p:sp>
        <p:nvSpPr>
          <p:cNvPr id="196616" name="双括号 15">
            <a:extLst>
              <a:ext uri="{FF2B5EF4-FFF2-40B4-BE49-F238E27FC236}">
                <a16:creationId xmlns:a16="http://schemas.microsoft.com/office/drawing/2014/main" id="{4A24C740-2195-8E4A-B659-74051B1A4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2725" y="2924175"/>
            <a:ext cx="3671888" cy="1584325"/>
          </a:xfrm>
          <a:prstGeom prst="bracketPair">
            <a:avLst>
              <a:gd name="adj" fmla="val 16667"/>
            </a:avLst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7" name="灯片编号占位符 1">
            <a:extLst>
              <a:ext uri="{FF2B5EF4-FFF2-40B4-BE49-F238E27FC236}">
                <a16:creationId xmlns:a16="http://schemas.microsoft.com/office/drawing/2014/main" id="{56204AE9-7C4E-0B44-8702-8E0545ED911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2104585-4A20-9647-8B5E-8822F1FAD0F1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102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8418" name="Text Box 2">
                <a:extLst>
                  <a:ext uri="{FF2B5EF4-FFF2-40B4-BE49-F238E27FC236}">
                    <a16:creationId xmlns:a16="http://schemas.microsoft.com/office/drawing/2014/main" id="{3C619BF6-69B7-CD41-BEF0-AFE5D9D529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5650" y="3284538"/>
                <a:ext cx="8705850" cy="27238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folHlink"/>
                  </a:buClr>
                  <a:buSzPct val="60000"/>
                  <a:buFont typeface="Wingdings" pitchFamily="2" charset="2"/>
                  <a:buChar char="n"/>
                  <a:defRPr kumimoji="1" sz="32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hlink"/>
                  </a:buClr>
                  <a:buSzPct val="55000"/>
                  <a:buFont typeface="Wingdings" pitchFamily="2" charset="2"/>
                  <a:buChar char="n"/>
                  <a:defRPr kumimoji="1" sz="28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folHlink"/>
                  </a:buClr>
                  <a:buSzPct val="50000"/>
                  <a:buFont typeface="Wingdings" pitchFamily="2" charset="2"/>
                  <a:buChar char="n"/>
                  <a:defRPr kumimoji="1" sz="24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55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7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kumimoji="0" lang="zh-CN" altLang="en-US" sz="28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依次计算经过</a:t>
                </a:r>
                <a:r>
                  <a:rPr kumimoji="0" lang="en-US" altLang="zh-CN" sz="28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v</a:t>
                </a:r>
                <a:r>
                  <a:rPr kumimoji="0" lang="en-US" altLang="zh-CN" sz="2800" baseline="-250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0</a:t>
                </a:r>
                <a:r>
                  <a:rPr kumimoji="0" lang="en-US" altLang="zh-CN" sz="28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..v</a:t>
                </a:r>
                <a:r>
                  <a:rPr kumimoji="0" lang="en-US" altLang="zh-CN" sz="2800" baseline="-250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k</a:t>
                </a:r>
                <a:r>
                  <a:rPr kumimoji="0" lang="en-US" altLang="zh-CN" sz="28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,k</a:t>
                </a:r>
                <a14:m>
                  <m:oMath xmlns:m="http://schemas.openxmlformats.org/officeDocument/2006/math">
                    <m:r>
                      <a:rPr kumimoji="0" lang="en-US" altLang="zh-CN" sz="280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∈</m:t>
                    </m:r>
                    <m:r>
                      <a:rPr kumimoji="0" lang="en-US" altLang="zh-CN" sz="28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[</m:t>
                    </m:r>
                    <m:r>
                      <a:rPr kumimoji="0" lang="en-US" altLang="zh-CN" sz="28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𝟎</m:t>
                    </m:r>
                    <m:r>
                      <a:rPr kumimoji="0" lang="en-US" altLang="zh-CN" sz="28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,</m:t>
                    </m:r>
                    <m:r>
                      <a:rPr kumimoji="0" lang="en-US" altLang="zh-CN" sz="28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𝒏</m:t>
                    </m:r>
                    <m:r>
                      <a:rPr kumimoji="0" lang="en-US" altLang="zh-CN" sz="28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−</m:t>
                    </m:r>
                    <m:r>
                      <a:rPr kumimoji="0" lang="en-US" altLang="zh-CN" sz="28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𝟏</m:t>
                    </m:r>
                    <m:r>
                      <a:rPr kumimoji="0" lang="en-US" altLang="zh-CN" sz="28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kumimoji="0" lang="zh-CN" altLang="en-US" sz="28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的最短路径算法：</a:t>
                </a:r>
              </a:p>
              <a:p>
                <a:pPr eaLnBrk="1" hangingPunct="1">
                  <a:lnSpc>
                    <a:spcPct val="7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for(k=0;k&lt;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G.vexnum;k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++)  //</a:t>
                </a:r>
                <a:r>
                  <a:rPr kumimoji="0" lang="zh-CN" altLang="en-US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依次选定中间顶点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V</a:t>
                </a:r>
                <a:r>
                  <a:rPr kumimoji="0" lang="en-US" altLang="zh-CN" sz="2400" baseline="-250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0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,V</a:t>
                </a:r>
                <a:r>
                  <a:rPr kumimoji="0" lang="en-US" altLang="zh-CN" sz="2400" baseline="-250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1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,…V</a:t>
                </a:r>
                <a:r>
                  <a:rPr kumimoji="0" lang="en-US" altLang="zh-CN" sz="2400" baseline="-250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n-1</a:t>
                </a:r>
              </a:p>
              <a:p>
                <a:pPr eaLnBrk="1" hangingPunct="1">
                  <a:lnSpc>
                    <a:spcPct val="7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 for(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i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=0; 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i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&lt;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G.vexnum;i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++) //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i,j</a:t>
                </a:r>
                <a:r>
                  <a:rPr kumimoji="0" lang="zh-CN" altLang="en-US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配合处理所有顶点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V</a:t>
                </a:r>
                <a:r>
                  <a:rPr kumimoji="0" lang="en-US" altLang="zh-CN" sz="2400" baseline="-250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i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,V</a:t>
                </a:r>
                <a:r>
                  <a:rPr kumimoji="0" lang="en-US" altLang="zh-CN" sz="2400" baseline="-250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j</a:t>
                </a:r>
                <a:endParaRPr kumimoji="0" lang="en-US" altLang="zh-CN" sz="2400" baseline="-25000" dirty="0">
                  <a:solidFill>
                    <a:srgbClr val="000000"/>
                  </a:solidFill>
                  <a:latin typeface="宋体" panose="02010600030101010101" pitchFamily="2" charset="-122"/>
                </a:endParaRPr>
              </a:p>
              <a:p>
                <a:pPr eaLnBrk="1" hangingPunct="1">
                  <a:lnSpc>
                    <a:spcPct val="7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   for(j=0; j&lt;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G.vexnum;j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++)</a:t>
                </a:r>
              </a:p>
              <a:p>
                <a:pPr eaLnBrk="1" hangingPunct="1">
                  <a:lnSpc>
                    <a:spcPct val="7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     if (D[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i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][j]&gt;D[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i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][k]+D[k][j])</a:t>
                </a:r>
              </a:p>
              <a:p>
                <a:pPr eaLnBrk="1" hangingPunct="1">
                  <a:lnSpc>
                    <a:spcPct val="7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         D[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i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][j]=D[</a:t>
                </a:r>
                <a:r>
                  <a:rPr kumimoji="0" lang="en-US" altLang="zh-CN" sz="2400" dirty="0" err="1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i</a:t>
                </a:r>
                <a:r>
                  <a:rPr kumimoji="0" lang="en-US" altLang="zh-CN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][k]+D[k][j]; //</a:t>
                </a:r>
                <a:r>
                  <a:rPr kumimoji="0" lang="zh-CN" altLang="en-US" sz="2400" dirty="0">
                    <a:solidFill>
                      <a:srgbClr val="000000"/>
                    </a:solidFill>
                    <a:latin typeface="宋体" panose="02010600030101010101" pitchFamily="2" charset="-122"/>
                  </a:rPr>
                  <a:t>取较短路径</a:t>
                </a:r>
              </a:p>
            </p:txBody>
          </p:sp>
        </mc:Choice>
        <mc:Fallback xmlns="">
          <p:sp>
            <p:nvSpPr>
              <p:cNvPr id="188418" name="Text Box 2">
                <a:extLst>
                  <a:ext uri="{FF2B5EF4-FFF2-40B4-BE49-F238E27FC236}">
                    <a16:creationId xmlns:a16="http://schemas.microsoft.com/office/drawing/2014/main" id="{3C619BF6-69B7-CD41-BEF0-AFE5D9D529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55650" y="3284538"/>
                <a:ext cx="8705850" cy="2723823"/>
              </a:xfrm>
              <a:prstGeom prst="rect">
                <a:avLst/>
              </a:prstGeom>
              <a:blipFill>
                <a:blip r:embed="rId3"/>
                <a:stretch>
                  <a:fillRect l="-1458" t="-6944" b="-3704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8419" name="Rectangle 3">
            <a:extLst>
              <a:ext uri="{FF2B5EF4-FFF2-40B4-BE49-F238E27FC236}">
                <a16:creationId xmlns:a16="http://schemas.microsoft.com/office/drawing/2014/main" id="{F8CCC77A-8F79-AD4C-8EA8-258285DDC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488950"/>
            <a:ext cx="8534400" cy="267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假定邻接矩阵为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cost[n][n]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Floyd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算法的基本思想是递推产生一个矩阵序列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: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(-1)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,D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(0)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,…..,D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(k)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,….D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n-1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-1 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= G.arcs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//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任意两点之间不经过其他点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D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(k)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[i][j]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= Min{D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(k-1)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[i][j], D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(k-1)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[i][k]+ D</a:t>
            </a:r>
            <a:r>
              <a:rPr kumimoji="0" lang="en-US" altLang="zh-CN" sz="2400" baseline="30000">
                <a:solidFill>
                  <a:srgbClr val="000000"/>
                </a:solidFill>
                <a:latin typeface="宋体" panose="02010600030101010101" pitchFamily="2" charset="-122"/>
              </a:rPr>
              <a:t>(k-1) 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[k][j]}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//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多考虑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k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中转点</a:t>
            </a: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        0≤k≤n-1     n=G.vexnum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5" name="灯片编号占位符 1">
            <a:extLst>
              <a:ext uri="{FF2B5EF4-FFF2-40B4-BE49-F238E27FC236}">
                <a16:creationId xmlns:a16="http://schemas.microsoft.com/office/drawing/2014/main" id="{3049A479-2628-6541-AD01-8752FF846CE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EEF2A18-3614-CD42-A767-BA19C1B685B7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103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90466" name="Text Box 2">
            <a:extLst>
              <a:ext uri="{FF2B5EF4-FFF2-40B4-BE49-F238E27FC236}">
                <a16:creationId xmlns:a16="http://schemas.microsoft.com/office/drawing/2014/main" id="{74C416A8-CC73-FF4F-B009-818F87A969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573088"/>
            <a:ext cx="8583613" cy="544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400">
                <a:solidFill>
                  <a:srgbClr val="000000"/>
                </a:solidFill>
                <a:latin typeface="宋体" panose="02010600030101010101" pitchFamily="2" charset="-122"/>
              </a:rPr>
              <a:t>Floyd</a:t>
            </a:r>
            <a:r>
              <a:rPr kumimoji="0" lang="zh-CN" altLang="en-US" sz="2400">
                <a:solidFill>
                  <a:srgbClr val="000000"/>
                </a:solidFill>
                <a:latin typeface="宋体" panose="02010600030101010101" pitchFamily="2" charset="-122"/>
              </a:rPr>
              <a:t>算法代码：</a:t>
            </a:r>
            <a:endParaRPr kumimoji="0" lang="en-US" altLang="zh-CN" sz="24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void ShortPath2(MGraph G, PathMatrix &amp;P[],ShorPath &amp;D) {</a:t>
            </a:r>
            <a:endParaRPr kumimoji="0" lang="zh-CN" altLang="en-US" sz="20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for(i=0;i&lt;G.vexnum;i++)      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   for(j=0;j&lt;G.vexnum;j++){       //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初始化</a:t>
            </a:r>
            <a:endParaRPr kumimoji="0" lang="en-US" altLang="zh-CN" sz="20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	P[i][j]=-1;          //-1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表示无中间顶点</a:t>
            </a:r>
            <a:endParaRPr kumimoji="0" lang="en-US" altLang="zh-CN" sz="200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	D[i][j]=G.arcs[i][j];}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for(k=0;k&lt;G.vexnum;k++)          //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依次选定中间顶点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000" baseline="-25000">
                <a:solidFill>
                  <a:srgbClr val="000000"/>
                </a:solidFill>
                <a:latin typeface="宋体" panose="02010600030101010101" pitchFamily="2" charset="-122"/>
              </a:rPr>
              <a:t>0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,V</a:t>
            </a:r>
            <a:r>
              <a:rPr kumimoji="0" lang="en-US" altLang="zh-CN" sz="2000" baseline="-25000">
                <a:solidFill>
                  <a:srgbClr val="000000"/>
                </a:solidFill>
                <a:latin typeface="宋体" panose="02010600030101010101" pitchFamily="2" charset="-122"/>
              </a:rPr>
              <a:t>1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,…V</a:t>
            </a:r>
            <a:r>
              <a:rPr kumimoji="0" lang="en-US" altLang="zh-CN" sz="2000" baseline="-25000">
                <a:solidFill>
                  <a:srgbClr val="000000"/>
                </a:solidFill>
                <a:latin typeface="宋体" panose="02010600030101010101" pitchFamily="2" charset="-122"/>
              </a:rPr>
              <a:t>n-1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  for(i=0; i&lt;G.vexnum;i++)       //i,j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配合处理所有顶点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</a:t>
            </a:r>
            <a:r>
              <a:rPr kumimoji="0" lang="en-US" altLang="zh-CN" sz="2000" baseline="-25000">
                <a:solidFill>
                  <a:srgbClr val="000000"/>
                </a:solidFill>
                <a:latin typeface="宋体" panose="02010600030101010101" pitchFamily="2" charset="-122"/>
              </a:rPr>
              <a:t>i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,V</a:t>
            </a:r>
            <a:r>
              <a:rPr kumimoji="0" lang="en-US" altLang="zh-CN" sz="2000" baseline="-25000">
                <a:solidFill>
                  <a:srgbClr val="000000"/>
                </a:solidFill>
                <a:latin typeface="宋体" panose="02010600030101010101" pitchFamily="2" charset="-122"/>
              </a:rPr>
              <a:t>j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    for(j=0; j&lt;G.vexnum;j++)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      if (D[i][j]&gt;D[i][k]+D[k][j]) {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          D[i][j]=D[i][k]+D[k][j]; //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取较短路径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           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P[i][j]=k;               //Vi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到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Vj</a:t>
            </a:r>
            <a:r>
              <a:rPr kumimoji="0" lang="zh-CN" altLang="en-US" sz="2000">
                <a:solidFill>
                  <a:srgbClr val="000000"/>
                </a:solidFill>
                <a:latin typeface="宋体" panose="02010600030101010101" pitchFamily="2" charset="-122"/>
              </a:rPr>
              <a:t>的中间顶点</a:t>
            </a: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Vk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        }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CN" sz="2000">
                <a:solidFill>
                  <a:srgbClr val="000000"/>
                </a:solidFill>
                <a:latin typeface="宋体" panose="02010600030101010101" pitchFamily="2" charset="-122"/>
              </a:rPr>
              <a:t>   }</a:t>
            </a:r>
          </a:p>
        </p:txBody>
      </p:sp>
      <p:sp>
        <p:nvSpPr>
          <p:cNvPr id="4" name="Text Box 54">
            <a:extLst>
              <a:ext uri="{FF2B5EF4-FFF2-40B4-BE49-F238E27FC236}">
                <a16:creationId xmlns:a16="http://schemas.microsoft.com/office/drawing/2014/main" id="{548169F4-3187-DB49-85C9-C007E8792D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3238" y="5445125"/>
            <a:ext cx="1739900" cy="461963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T(n)=O(n</a:t>
            </a:r>
            <a:r>
              <a:rPr kumimoji="0" lang="en-GB" altLang="zh-CN" sz="2400" baseline="30000" noProof="1">
                <a:solidFill>
                  <a:srgbClr val="000000"/>
                </a:solidFill>
                <a:latin typeface="宋体" panose="02010600030101010101" pitchFamily="2" charset="-122"/>
              </a:rPr>
              <a:t>3</a:t>
            </a:r>
            <a:r>
              <a:rPr kumimoji="0" lang="en-GB" altLang="zh-CN" sz="2400" noProof="1">
                <a:solidFill>
                  <a:srgbClr val="000000"/>
                </a:solidFill>
                <a:latin typeface="宋体" panose="02010600030101010101" pitchFamily="2" charset="-122"/>
              </a:rPr>
              <a:t>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灯片编号占位符 1">
            <a:extLst>
              <a:ext uri="{FF2B5EF4-FFF2-40B4-BE49-F238E27FC236}">
                <a16:creationId xmlns:a16="http://schemas.microsoft.com/office/drawing/2014/main" id="{F42E6169-CC22-444C-868B-DBDCABE2B77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6AD7851-BBF4-D34B-9BA8-08107933BDCC}" type="slidenum">
              <a:rPr kumimoji="0" lang="en-US" altLang="zh-CN" sz="1800" smtClean="0">
                <a:solidFill>
                  <a:srgbClr val="009900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104</a:t>
            </a:fld>
            <a:endParaRPr kumimoji="0" lang="en-US" altLang="zh-CN" sz="1800">
              <a:solidFill>
                <a:srgbClr val="009900"/>
              </a:solidFill>
            </a:endParaRPr>
          </a:p>
        </p:txBody>
      </p:sp>
      <p:sp>
        <p:nvSpPr>
          <p:cNvPr id="198658" name="Text Box 4">
            <a:extLst>
              <a:ext uri="{FF2B5EF4-FFF2-40B4-BE49-F238E27FC236}">
                <a16:creationId xmlns:a16="http://schemas.microsoft.com/office/drawing/2014/main" id="{F9682D3D-2671-7C4F-8315-9F406F1FC5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1550" y="549275"/>
            <a:ext cx="7164388" cy="421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zh-CN" sz="2800">
                <a:latin typeface="Times New Roman" panose="02020603050405020304" pitchFamily="18" charset="0"/>
              </a:rPr>
              <a:t>本章</a:t>
            </a:r>
            <a:r>
              <a:rPr lang="zh-CN" altLang="en-US" sz="2800">
                <a:latin typeface="Times New Roman" panose="02020603050405020304" pitchFamily="18" charset="0"/>
              </a:rPr>
              <a:t>小结</a:t>
            </a:r>
            <a:endParaRPr lang="en-US" altLang="zh-CN" sz="28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24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        </a:t>
            </a:r>
            <a:r>
              <a:rPr lang="zh-CN" altLang="zh-CN" sz="2400">
                <a:latin typeface="Times New Roman" panose="02020603050405020304" pitchFamily="18" charset="0"/>
              </a:rPr>
              <a:t>介绍了图的逻辑结构、基本运算、物理结构以及基本运算的实现算法和效率分析。需要重点掌握的内容是</a:t>
            </a:r>
            <a:r>
              <a:rPr lang="zh-CN" altLang="en-US" sz="2400">
                <a:latin typeface="Times New Roman" panose="02020603050405020304" pitchFamily="18" charset="0"/>
              </a:rPr>
              <a:t>：</a:t>
            </a:r>
            <a:endParaRPr lang="zh-CN" altLang="zh-CN" sz="24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               </a:t>
            </a:r>
            <a:r>
              <a:rPr lang="zh-CN" altLang="zh-CN" sz="2400">
                <a:latin typeface="Times New Roman" panose="02020603050405020304" pitchFamily="18" charset="0"/>
              </a:rPr>
              <a:t>①</a:t>
            </a:r>
            <a:r>
              <a:rPr lang="en-US" altLang="zh-CN" sz="2400">
                <a:latin typeface="Times New Roman" panose="02020603050405020304" pitchFamily="18" charset="0"/>
              </a:rPr>
              <a:t>  </a:t>
            </a:r>
            <a:r>
              <a:rPr lang="zh-CN" altLang="zh-CN" sz="2400">
                <a:latin typeface="Times New Roman" panose="02020603050405020304" pitchFamily="18" charset="0"/>
              </a:rPr>
              <a:t>图的概念及术语；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               </a:t>
            </a:r>
            <a:r>
              <a:rPr lang="zh-CN" altLang="zh-CN" sz="2400">
                <a:latin typeface="Times New Roman" panose="02020603050405020304" pitchFamily="18" charset="0"/>
              </a:rPr>
              <a:t>②</a:t>
            </a:r>
            <a:r>
              <a:rPr lang="en-US" altLang="zh-CN" sz="2400">
                <a:latin typeface="Times New Roman" panose="02020603050405020304" pitchFamily="18" charset="0"/>
              </a:rPr>
              <a:t>  </a:t>
            </a:r>
            <a:r>
              <a:rPr lang="zh-CN" altLang="zh-CN" sz="2400">
                <a:latin typeface="Times New Roman" panose="02020603050405020304" pitchFamily="18" charset="0"/>
              </a:rPr>
              <a:t>图的物理结构；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               </a:t>
            </a:r>
            <a:r>
              <a:rPr lang="zh-CN" altLang="zh-CN" sz="2400">
                <a:latin typeface="Times New Roman" panose="02020603050405020304" pitchFamily="18" charset="0"/>
              </a:rPr>
              <a:t>③</a:t>
            </a:r>
            <a:r>
              <a:rPr lang="en-US" altLang="zh-CN" sz="2400">
                <a:latin typeface="Times New Roman" panose="02020603050405020304" pitchFamily="18" charset="0"/>
              </a:rPr>
              <a:t>  </a:t>
            </a:r>
            <a:r>
              <a:rPr lang="zh-CN" altLang="zh-CN" sz="2400">
                <a:latin typeface="Times New Roman" panose="02020603050405020304" pitchFamily="18" charset="0"/>
              </a:rPr>
              <a:t>图的遍历算法；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endParaRPr lang="zh-CN" altLang="zh-CN" sz="24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               </a:t>
            </a:r>
            <a:r>
              <a:rPr lang="zh-CN" altLang="zh-CN" sz="2400">
                <a:latin typeface="Times New Roman" panose="02020603050405020304" pitchFamily="18" charset="0"/>
              </a:rPr>
              <a:t>④</a:t>
            </a:r>
            <a:r>
              <a:rPr lang="en-US" altLang="zh-CN" sz="2400">
                <a:latin typeface="Times New Roman" panose="02020603050405020304" pitchFamily="18" charset="0"/>
              </a:rPr>
              <a:t>  </a:t>
            </a:r>
            <a:r>
              <a:rPr lang="zh-CN" altLang="zh-CN" sz="2400">
                <a:latin typeface="Times New Roman" panose="02020603050405020304" pitchFamily="18" charset="0"/>
              </a:rPr>
              <a:t>最小生成树</a:t>
            </a:r>
            <a:r>
              <a:rPr lang="zh-CN" altLang="en-US" sz="2400">
                <a:latin typeface="Times New Roman" panose="02020603050405020304" pitchFamily="18" charset="0"/>
              </a:rPr>
              <a:t>；</a:t>
            </a:r>
            <a:endParaRPr lang="en-US" altLang="zh-CN" sz="24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Times New Roman" panose="02020603050405020304" pitchFamily="18" charset="0"/>
              </a:rPr>
              <a:t>	</a:t>
            </a:r>
            <a:r>
              <a:rPr lang="zh-CN" altLang="zh-CN" sz="2400"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latin typeface="Times New Roman" panose="02020603050405020304" pitchFamily="18" charset="0"/>
              </a:rPr>
              <a:t>  </a:t>
            </a:r>
            <a:r>
              <a:rPr lang="zh-CN" altLang="en-US" sz="2400">
                <a:latin typeface="Times New Roman" panose="02020603050405020304" pitchFamily="18" charset="0"/>
              </a:rPr>
              <a:t>⑤  </a:t>
            </a:r>
            <a:r>
              <a:rPr lang="zh-CN" altLang="zh-CN" sz="2400">
                <a:latin typeface="Times New Roman" panose="02020603050405020304" pitchFamily="18" charset="0"/>
              </a:rPr>
              <a:t>拓扑排序</a:t>
            </a:r>
            <a:r>
              <a:rPr lang="zh-CN" altLang="en-US" sz="2400">
                <a:latin typeface="Times New Roman" panose="02020603050405020304" pitchFamily="18" charset="0"/>
              </a:rPr>
              <a:t>；</a:t>
            </a:r>
            <a:endParaRPr lang="en-US" altLang="zh-CN" sz="2400"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>
                <a:latin typeface="Times New Roman" panose="02020603050405020304" pitchFamily="18" charset="0"/>
              </a:rPr>
              <a:t>需要了解的内容：</a:t>
            </a:r>
            <a:r>
              <a:rPr lang="zh-CN" altLang="zh-CN" sz="2400">
                <a:latin typeface="Times New Roman" panose="02020603050405020304" pitchFamily="18" charset="0"/>
              </a:rPr>
              <a:t>关键路径</a:t>
            </a:r>
            <a:r>
              <a:rPr lang="zh-CN" altLang="en-US" sz="2400">
                <a:latin typeface="Times New Roman" panose="02020603050405020304" pitchFamily="18" charset="0"/>
              </a:rPr>
              <a:t>、最短路径</a:t>
            </a:r>
            <a:r>
              <a:rPr lang="zh-CN" altLang="zh-CN" sz="2400">
                <a:latin typeface="Times New Roman" panose="02020603050405020304" pitchFamily="18" charset="0"/>
              </a:rPr>
              <a:t>等算法。</a:t>
            </a:r>
            <a:endParaRPr kumimoji="0" lang="en-US" altLang="zh-CN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Blends">
  <a:themeElements>
    <a:clrScheme name="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CC0066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24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ahoma" pitchFamily="34" charset="0"/>
            <a:ea typeface="宋体" pitchFamily="2" charset="-122"/>
          </a:defRPr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arrow"/>
        </a:ln>
        <a:effectLst/>
      </a:spPr>
      <a:bodyPr/>
      <a:lstStyle/>
    </a:lnDef>
  </a:objectDefaults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000000"/>
        </a:dk2>
        <a:lt2>
          <a:srgbClr val="5F5F5F"/>
        </a:lt2>
        <a:accent1>
          <a:srgbClr val="EAEAEA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F3F3F3"/>
        </a:accent5>
        <a:accent6>
          <a:srgbClr val="737373"/>
        </a:accent6>
        <a:hlink>
          <a:srgbClr val="4D4D4D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7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C:\Program Files\Microsoft Office\Templates\Presentation Designs\Blends.pot</Template>
  <TotalTime>23743</TotalTime>
  <Words>12869</Words>
  <Application>Microsoft Macintosh PowerPoint</Application>
  <PresentationFormat>全屏显示(4:3)</PresentationFormat>
  <Paragraphs>3271</Paragraphs>
  <Slides>104</Slides>
  <Notes>98</Notes>
  <HiddenSlides>1</HiddenSlides>
  <MMClips>0</MMClips>
  <ScaleCrop>false</ScaleCrop>
  <HeadingPairs>
    <vt:vector size="8" baseType="variant">
      <vt:variant>
        <vt:lpstr>已用的字体</vt:lpstr>
      </vt:variant>
      <vt:variant>
        <vt:i4>8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2</vt:i4>
      </vt:variant>
      <vt:variant>
        <vt:lpstr>幻灯片标题</vt:lpstr>
      </vt:variant>
      <vt:variant>
        <vt:i4>104</vt:i4>
      </vt:variant>
    </vt:vector>
  </HeadingPairs>
  <TitlesOfParts>
    <vt:vector size="115" baseType="lpstr">
      <vt:lpstr>-apple-system</vt:lpstr>
      <vt:lpstr>黑体</vt:lpstr>
      <vt:lpstr>宋体</vt:lpstr>
      <vt:lpstr>Arial</vt:lpstr>
      <vt:lpstr>Cambria Math</vt:lpstr>
      <vt:lpstr>Tahoma</vt:lpstr>
      <vt:lpstr>Times New Roman</vt:lpstr>
      <vt:lpstr>Wingdings</vt:lpstr>
      <vt:lpstr>Blends</vt:lpstr>
      <vt:lpstr>Equation</vt:lpstr>
      <vt:lpstr>公式</vt:lpstr>
      <vt:lpstr>第7章　图(Graph)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微软中国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微软用户</dc:creator>
  <cp:lastModifiedBy>Bingqian Du</cp:lastModifiedBy>
  <cp:revision>378</cp:revision>
  <dcterms:created xsi:type="dcterms:W3CDTF">2006-07-11T01:51:13Z</dcterms:created>
  <dcterms:modified xsi:type="dcterms:W3CDTF">2025-05-06T02:56:15Z</dcterms:modified>
</cp:coreProperties>
</file>