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52"/>
    <p:restoredTop sz="96327"/>
  </p:normalViewPr>
  <p:slideViewPr>
    <p:cSldViewPr snapToGrid="0" snapToObjects="1">
      <p:cViewPr varScale="1">
        <p:scale>
          <a:sx n="146" d="100"/>
          <a:sy n="146" d="100"/>
        </p:scale>
        <p:origin x="200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D5D10F-FC5D-5C41-B82C-63454502D6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D73F9E6-3D74-944E-912A-DB798CF6A7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70437C4-79C0-5C4D-B09D-DB242AAE0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B1535-117D-754B-B0C2-DFE362D283CF}" type="datetimeFigureOut">
              <a:rPr kumimoji="1" lang="zh-CN" altLang="en-US" smtClean="0"/>
              <a:t>2025/11/6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DAFB3C4-9392-2D4B-8055-AFE95207C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C1232C5-12CB-6D4D-B79D-74A98592C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4317C-5253-9B4E-813C-19F70A82654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644933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A1F8F5-5C75-5D4F-913B-4ED62F613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E95FDD1-90BB-D840-8075-2631206883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139FFD3-81CA-8B4B-A21E-080D5BEF86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B1535-117D-754B-B0C2-DFE362D283CF}" type="datetimeFigureOut">
              <a:rPr kumimoji="1" lang="zh-CN" altLang="en-US" smtClean="0"/>
              <a:t>2025/11/6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92ED819-25E1-444F-9DD3-B926B9BD33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97B489A-2917-0B4C-B696-F6829F4D7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4317C-5253-9B4E-813C-19F70A82654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313499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AF9E4C-6F64-E848-BB89-458F1C6C3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76460FC-FCF5-9949-B2E3-0124824E21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DA8C5D4-ED3B-4E4C-882D-993F0BA67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B1535-117D-754B-B0C2-DFE362D283CF}" type="datetimeFigureOut">
              <a:rPr kumimoji="1" lang="zh-CN" altLang="en-US" smtClean="0"/>
              <a:t>2025/11/6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AE56B76-200E-0E4F-AA9B-5870011E38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BCAB80F-F0D9-AE44-8CCD-F426CB2DC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4317C-5253-9B4E-813C-19F70A82654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569348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E7FAFD-C677-7143-8748-4B787BD98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F30B4D2-0305-CD4C-AF15-757DDF1788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48C698C-EAAE-484E-BE38-138A1A95A9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9AF9BB8-54A7-F04A-AAEC-A5A49E3946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B1535-117D-754B-B0C2-DFE362D283CF}" type="datetimeFigureOut">
              <a:rPr kumimoji="1" lang="zh-CN" altLang="en-US" smtClean="0"/>
              <a:t>2025/11/6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44DCEC4-1CBB-3F48-A16A-C5D164F290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C4F0088-2094-BE41-BEC8-0E2EB4DFC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4317C-5253-9B4E-813C-19F70A82654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314493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373962-70F6-BB4F-8EC2-8769F7216C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4EB26F7-77E4-DB4F-871B-414AF62A6B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5DC4CA4-073F-D246-BDEB-8F268E5273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B6F9B30-775C-474E-98CD-69CAC69723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2FB36E2-44BC-7545-B983-24E5A447AF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8C3AA5A-9A10-414F-B74E-8049B2584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B1535-117D-754B-B0C2-DFE362D283CF}" type="datetimeFigureOut">
              <a:rPr kumimoji="1" lang="zh-CN" altLang="en-US" smtClean="0"/>
              <a:t>2025/11/6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72CA80F-F829-234A-97A4-7D508906F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C969355-0E63-2F4D-9D87-DD26A3825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4317C-5253-9B4E-813C-19F70A82654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158592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9F7DC7-D160-9846-B916-C6591C553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D9980BD-3BD8-7849-A077-2B37A1203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B1535-117D-754B-B0C2-DFE362D283CF}" type="datetimeFigureOut">
              <a:rPr kumimoji="1" lang="zh-CN" altLang="en-US" smtClean="0"/>
              <a:t>2025/11/6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87B0DE5-4398-3943-8ACD-83A08D6ED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B148467-23D6-AF4C-A37C-FE542D4B2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4317C-5253-9B4E-813C-19F70A82654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70842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67C86A8-BA7F-6A4B-8D2D-77D62A934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B1535-117D-754B-B0C2-DFE362D283CF}" type="datetimeFigureOut">
              <a:rPr kumimoji="1" lang="zh-CN" altLang="en-US" smtClean="0"/>
              <a:t>2025/11/6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1C82891-2180-E247-951E-9B0BCFB06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7FA46F7-4232-D241-B31B-09849D07A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4317C-5253-9B4E-813C-19F70A82654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634384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3E8FA7-C943-7441-BD9E-481F7BFD1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B25A628-8A77-7941-B241-BB6A85074E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656F856-9B5D-0B4A-94DF-4CF5D445C3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678C352-4482-7648-BDE2-5EA5FF1EE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B1535-117D-754B-B0C2-DFE362D283CF}" type="datetimeFigureOut">
              <a:rPr kumimoji="1" lang="zh-CN" altLang="en-US" smtClean="0"/>
              <a:t>2025/11/6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C79EA07-E7E8-9F4E-B7FE-EF3802F6C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DE27DD3-54FE-174A-B587-9FD81DB2D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4317C-5253-9B4E-813C-19F70A82654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127394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2C13CF-672F-574A-A87E-7ADB88EE5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0750868-8D82-274A-BBC7-B00E70EFC2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3F9F2C5-87CD-484D-8D06-83DB5F244A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338FF18-FDBE-D643-A1B2-1531EC21A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B1535-117D-754B-B0C2-DFE362D283CF}" type="datetimeFigureOut">
              <a:rPr kumimoji="1" lang="zh-CN" altLang="en-US" smtClean="0"/>
              <a:t>2025/11/6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E6FB777-E2B1-FB48-9B98-B66FF3499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F96EB23-2733-174C-8ECC-ECD5289B9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4317C-5253-9B4E-813C-19F70A82654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124065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9B787F-E642-1544-A016-8BDB8951E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BC2E3C5-5332-474A-9A70-E8B1000ADA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31280FA-96EC-604B-88B6-CEA164BFEC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B1535-117D-754B-B0C2-DFE362D283CF}" type="datetimeFigureOut">
              <a:rPr kumimoji="1" lang="zh-CN" altLang="en-US" smtClean="0"/>
              <a:t>2025/11/6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7C31AF5-BDC9-B74D-918A-E789E743C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48D7BFD-EAD0-1346-A756-D306D3204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4317C-5253-9B4E-813C-19F70A82654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967722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1FD7525-6B5D-D348-9F02-588E0FB3EF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19A1275-923C-BF47-AE50-0A732354E1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2432D8B-2264-394A-8937-31D52ED69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B1535-117D-754B-B0C2-DFE362D283CF}" type="datetimeFigureOut">
              <a:rPr kumimoji="1" lang="zh-CN" altLang="en-US" smtClean="0"/>
              <a:t>2025/11/6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FFE51EE-F983-F84A-A205-A416A6766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D72869F-392A-FD46-90D2-D300EF6F8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4317C-5253-9B4E-813C-19F70A82654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736325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48A807E-85EA-F749-A444-0183312A69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27D6A06-F34A-B54D-9418-0217B976E9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B3EC41C-F8C3-4643-94CF-454B20989E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EB1535-117D-754B-B0C2-DFE362D283CF}" type="datetimeFigureOut">
              <a:rPr kumimoji="1" lang="zh-CN" altLang="en-US" smtClean="0"/>
              <a:t>2025/11/6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382796D-F85B-ED40-8FF6-72C707C117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86039F9-C667-1941-BE01-CBA99BFDAD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34317C-5253-9B4E-813C-19F70A82654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934911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30BEC9B1-7C9A-8C4F-AF78-63F3C1B21852}"/>
                  </a:ext>
                </a:extLst>
              </p:cNvPr>
              <p:cNvSpPr txBox="1"/>
              <p:nvPr/>
            </p:nvSpPr>
            <p:spPr>
              <a:xfrm>
                <a:off x="557349" y="391886"/>
                <a:ext cx="9971314" cy="6450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zh-CN" altLang="en-US" sz="2400" dirty="0"/>
                  <a:t>例</a:t>
                </a:r>
                <a:r>
                  <a:rPr kumimoji="1" lang="en-US" altLang="zh-CN" sz="2400" dirty="0"/>
                  <a:t>1</a:t>
                </a:r>
                <a:r>
                  <a:rPr kumimoji="1" lang="zh-CN" altLang="en-US" sz="2400" dirty="0"/>
                  <a:t>：求</a:t>
                </a:r>
                <a14:m>
                  <m:oMath xmlns:m="http://schemas.openxmlformats.org/officeDocument/2006/math">
                    <m:r>
                      <a:rPr kumimoji="1" lang="en-US" altLang="zh-CN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kumimoji="1"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kumimoji="1" lang="en-US" altLang="zh-CN" sz="2400" b="0" i="1" smtClean="0">
                        <a:latin typeface="Cambria Math" panose="02040503050406030204" pitchFamily="18" charset="0"/>
                      </a:rPr>
                      <m:t>=4</m:t>
                    </m:r>
                    <m:r>
                      <a:rPr kumimoji="1" lang="en-US" altLang="zh-CN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kumimoji="1"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kumimoji="1"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kumimoji="1" lang="en-US" altLang="zh-CN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kumimoji="1" lang="en-US" altLang="zh-CN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kumimoji="1" lang="en-US" altLang="zh-CN" sz="2400" b="0" i="1" smtClean="0">
                        <a:latin typeface="Cambria Math" panose="02040503050406030204" pitchFamily="18" charset="0"/>
                      </a:rPr>
                      <m:t>+2</m:t>
                    </m:r>
                    <m:sSup>
                      <m:sSupPr>
                        <m:ctrlPr>
                          <a:rPr kumimoji="1"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kumimoji="1" lang="en-US" altLang="zh-CN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kumimoji="1" lang="zh-CN" altLang="en-US" sz="2400" dirty="0"/>
                  <a:t>的渐近复杂度（大</a:t>
                </a:r>
                <a:r>
                  <a:rPr kumimoji="1" lang="en-US" altLang="zh-CN" sz="2400" dirty="0"/>
                  <a:t>O</a:t>
                </a:r>
                <a:r>
                  <a:rPr kumimoji="1" lang="zh-CN" altLang="en-US" sz="2400" dirty="0"/>
                  <a:t>表示），其中</a:t>
                </a:r>
                <a14:m>
                  <m:oMath xmlns:m="http://schemas.openxmlformats.org/officeDocument/2006/math">
                    <m:r>
                      <a:rPr kumimoji="1" lang="en-US" altLang="zh-CN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kumimoji="1"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kumimoji="1"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zh-CN" sz="2400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kumimoji="1" lang="en-US" altLang="zh-CN" sz="2400" dirty="0"/>
                  <a:t>.</a:t>
                </a:r>
                <a:endParaRPr kumimoji="1" lang="zh-CN" altLang="en-US" sz="2400" dirty="0"/>
              </a:p>
            </p:txBody>
          </p:sp>
        </mc:Choice>
        <mc:Fallback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30BEC9B1-7C9A-8C4F-AF78-63F3C1B218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349" y="391886"/>
                <a:ext cx="9971314" cy="645048"/>
              </a:xfrm>
              <a:prstGeom prst="rect">
                <a:avLst/>
              </a:prstGeom>
              <a:blipFill>
                <a:blip r:embed="rId2"/>
                <a:stretch>
                  <a:fillRect l="-891" b="-57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7910CC69-C3E8-B64F-9A65-A429B95BDC82}"/>
                  </a:ext>
                </a:extLst>
              </p:cNvPr>
              <p:cNvSpPr txBox="1"/>
              <p:nvPr/>
            </p:nvSpPr>
            <p:spPr>
              <a:xfrm>
                <a:off x="557349" y="1123406"/>
                <a:ext cx="8804366" cy="40025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zh-CN" altLang="en-US" sz="2400" dirty="0"/>
                  <a:t>解：</a:t>
                </a:r>
                <a:endParaRPr kumimoji="1" lang="en-US" altLang="zh-CN" sz="2400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sz="2400" i="1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kumimoji="1" lang="en-US" altLang="zh-CN" sz="240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kumimoji="1"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kumimoji="1" lang="en-US" altLang="zh-CN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kumimoji="1" lang="en-US" altLang="zh-CN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kumimoji="1" lang="en-US" altLang="zh-CN" sz="2400" i="1">
                          <a:latin typeface="Cambria Math" panose="02040503050406030204" pitchFamily="18" charset="0"/>
                        </a:rPr>
                        <m:t>+2</m:t>
                      </m:r>
                      <m:sSup>
                        <m:sSupPr>
                          <m:ctrlP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kumimoji="1" lang="en-US" altLang="zh-CN" sz="2400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sz="2400" b="0" i="1" dirty="0" smtClean="0">
                          <a:latin typeface="Cambria Math" panose="02040503050406030204" pitchFamily="18" charset="0"/>
                        </a:rPr>
                        <m:t>4</m:t>
                      </m:r>
                      <m:d>
                        <m:dPr>
                          <m:ctrlPr>
                            <a:rPr kumimoji="1" lang="en-US" altLang="zh-CN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4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kumimoji="1" lang="en-US" altLang="zh-CN" sz="2400" b="0" i="1" dirty="0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kumimoji="1" lang="en-US" altLang="zh-CN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kumimoji="1" lang="en-US" altLang="zh-CN" sz="24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kumimoji="1" lang="en-US" altLang="zh-CN" sz="2400" b="0" i="1" dirty="0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kumimoji="1" lang="en-US" altLang="zh-CN" sz="2400" b="0" i="1" dirty="0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den>
                              </m:f>
                            </m:e>
                          </m:d>
                          <m:r>
                            <a:rPr kumimoji="1" lang="en-US" altLang="zh-CN" sz="2400" b="0" i="1" dirty="0" smtClean="0">
                              <a:latin typeface="Cambria Math" panose="02040503050406030204" pitchFamily="18" charset="0"/>
                            </a:rPr>
                            <m:t>+2</m:t>
                          </m:r>
                          <m:sSup>
                            <m:sSupPr>
                              <m:ctrlPr>
                                <a:rPr kumimoji="1" lang="en-US" altLang="zh-CN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kumimoji="1" lang="en-US" altLang="zh-CN" sz="24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kumimoji="1" lang="en-US" altLang="zh-CN" sz="24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kumimoji="1" lang="en-US" altLang="zh-CN" sz="24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num>
                                    <m:den>
                                      <m:r>
                                        <a:rPr kumimoji="1" lang="en-US" altLang="zh-CN" sz="24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kumimoji="1" lang="en-US" altLang="zh-CN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kumimoji="1" lang="en-US" altLang="zh-CN" sz="24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kumimoji="1" lang="en-US" altLang="zh-CN" sz="2400" i="1" smtClean="0">
                          <a:latin typeface="Cambria Math" panose="02040503050406030204" pitchFamily="18" charset="0"/>
                        </a:rPr>
                        <m:t>2</m:t>
                      </m:r>
                      <m:sSup>
                        <m:sSupPr>
                          <m:ctrlP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kumimoji="1" lang="en-US" altLang="zh-CN" sz="2400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sz="2400" b="0" i="1" dirty="0" smtClean="0">
                          <a:latin typeface="Cambria Math" panose="02040503050406030204" pitchFamily="18" charset="0"/>
                        </a:rPr>
                        <m:t>4</m:t>
                      </m:r>
                      <m:d>
                        <m:dPr>
                          <m:ctrlPr>
                            <a:rPr kumimoji="1" lang="en-US" altLang="zh-CN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4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kumimoji="1" lang="en-US" altLang="zh-CN" sz="2400" b="0" i="1" dirty="0" smtClean="0">
                              <a:latin typeface="Cambria Math" panose="02040503050406030204" pitchFamily="18" charset="0"/>
                            </a:rPr>
                            <m:t>(4</m:t>
                          </m:r>
                          <m:r>
                            <a:rPr kumimoji="1" lang="en-US" altLang="zh-CN" sz="2400" b="0" i="1" dirty="0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kumimoji="1" lang="en-US" altLang="zh-CN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kumimoji="1" lang="en-US" altLang="zh-CN" sz="24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kumimoji="1" lang="en-US" altLang="zh-CN" sz="2400" b="0" i="1" dirty="0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kumimoji="1" lang="en-US" altLang="zh-CN" sz="2400" b="0" i="1" dirty="0" smtClean="0">
                                      <a:latin typeface="Cambria Math" panose="02040503050406030204" pitchFamily="18" charset="0"/>
                                    </a:rPr>
                                    <m:t>8</m:t>
                                  </m:r>
                                </m:den>
                              </m:f>
                            </m:e>
                          </m:d>
                          <m:r>
                            <a:rPr kumimoji="1" lang="en-US" altLang="zh-CN" sz="2400" b="0" i="1" dirty="0" smtClean="0">
                              <a:latin typeface="Cambria Math" panose="02040503050406030204" pitchFamily="18" charset="0"/>
                            </a:rPr>
                            <m:t>+2</m:t>
                          </m:r>
                          <m:sSup>
                            <m:sSupPr>
                              <m:ctrlPr>
                                <a:rPr kumimoji="1" lang="en-US" altLang="zh-CN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kumimoji="1" lang="en-US" altLang="zh-CN" sz="24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kumimoji="1" lang="en-US" altLang="zh-CN" sz="24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kumimoji="1" lang="en-US" altLang="zh-CN" sz="24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num>
                                    <m:den>
                                      <m:r>
                                        <a:rPr kumimoji="1" lang="en-US" altLang="zh-CN" sz="2400" b="0" i="1" smtClean="0"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kumimoji="1" lang="en-US" altLang="zh-CN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en-US" altLang="zh-CN" sz="2400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kumimoji="1" lang="en-US" altLang="zh-CN" sz="2400" b="0" i="1" dirty="0" smtClean="0">
                              <a:latin typeface="Cambria Math" panose="02040503050406030204" pitchFamily="18" charset="0"/>
                            </a:rPr>
                            <m:t>+2</m:t>
                          </m:r>
                          <m:sSup>
                            <m:sSupPr>
                              <m:ctrlPr>
                                <a:rPr kumimoji="1" lang="en-US" altLang="zh-CN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kumimoji="1" lang="en-US" altLang="zh-CN" sz="24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kumimoji="1" lang="en-US" altLang="zh-CN" sz="24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kumimoji="1" lang="en-US" altLang="zh-CN" sz="24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num>
                                    <m:den>
                                      <m:r>
                                        <a:rPr kumimoji="1" lang="en-US" altLang="zh-CN" sz="24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kumimoji="1" lang="en-US" altLang="zh-CN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kumimoji="1" lang="en-US" altLang="zh-CN" sz="24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kumimoji="1" lang="en-US" altLang="zh-CN" sz="2400" i="1" smtClean="0">
                          <a:latin typeface="Cambria Math" panose="02040503050406030204" pitchFamily="18" charset="0"/>
                        </a:rPr>
                        <m:t>2</m:t>
                      </m:r>
                      <m:sSup>
                        <m:sSupPr>
                          <m:ctrlP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kumimoji="1" lang="en-US" altLang="zh-CN" sz="2400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kumimoji="1" lang="en-US" altLang="zh-CN" sz="2400" b="0" dirty="0">
                  <a:ea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  <m:sup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2</m:t>
                      </m:r>
                      <m:sSup>
                        <m:sSupPr>
                          <m:ctrlPr>
                            <a:rPr kumimoji="1"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kumimoji="1" lang="en-US" altLang="zh-CN" sz="2400" dirty="0"/>
              </a:p>
              <a:p>
                <a:r>
                  <a:rPr kumimoji="1" lang="zh-CN" altLang="en-US" sz="2400" dirty="0"/>
                  <a:t>其中，</a:t>
                </a:r>
                <a:r>
                  <a:rPr kumimoji="1" lang="en-US" altLang="zh-CN" sz="2400" b="0" dirty="0"/>
                  <a:t> </a:t>
                </a:r>
                <a14:m>
                  <m:oMath xmlns:m="http://schemas.openxmlformats.org/officeDocument/2006/math">
                    <m:r>
                      <a:rPr kumimoji="1" lang="en-US" altLang="zh-CN" sz="24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kumimoji="1"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kumimoji="1"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kumimoji="1" lang="en-US" altLang="zh-CN" sz="2400" b="0" i="1" smtClean="0">
                            <a:latin typeface="Cambria Math" panose="02040503050406030204" pitchFamily="18" charset="0"/>
                          </a:rPr>
                          <m:t>𝑙𝑜𝑔</m:t>
                        </m:r>
                      </m:e>
                      <m:sub>
                        <m:r>
                          <a:rPr kumimoji="1" lang="en-US" altLang="zh-CN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kumimoji="1" lang="en-US" altLang="zh-CN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bSup>
                  </m:oMath>
                </a14:m>
                <a:endParaRPr kumimoji="1" lang="en-US" altLang="zh-CN" sz="2400" dirty="0"/>
              </a:p>
              <a:p>
                <a:r>
                  <a:rPr kumimoji="1" lang="zh-CN" altLang="en-US" sz="2400" dirty="0"/>
                  <a:t>因此，</a:t>
                </a:r>
                <a:r>
                  <a:rPr kumimoji="1" lang="en-US" altLang="zh-CN" sz="2400" b="0" dirty="0"/>
                  <a:t> </a:t>
                </a:r>
                <a14:m>
                  <m:oMath xmlns:m="http://schemas.openxmlformats.org/officeDocument/2006/math">
                    <m:r>
                      <a:rPr kumimoji="1" lang="en-US" altLang="zh-CN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kumimoji="1"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kumimoji="1"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kumimoji="1" lang="en-US" altLang="zh-CN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sz="24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kumimoji="1" lang="en-US" altLang="zh-CN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kumimoji="1" lang="en-US" altLang="zh-CN" sz="2400" dirty="0"/>
                  <a:t>+</a:t>
                </a:r>
                <a:r>
                  <a:rPr kumimoji="1" lang="en-US" altLang="zh-CN" sz="2400" b="0" dirty="0"/>
                  <a:t> </a:t>
                </a:r>
                <a14:m>
                  <m:oMath xmlns:m="http://schemas.openxmlformats.org/officeDocument/2006/math">
                    <m:r>
                      <a:rPr kumimoji="1" lang="en-US" altLang="zh-CN" sz="24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kumimoji="1"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bSup>
                      <m:sSubSupPr>
                        <m:ctrlPr>
                          <a:rPr kumimoji="1"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kumimoji="1" lang="en-US" altLang="zh-CN" sz="2400" b="0" i="1" smtClean="0">
                            <a:latin typeface="Cambria Math" panose="02040503050406030204" pitchFamily="18" charset="0"/>
                          </a:rPr>
                          <m:t>𝑙𝑜𝑔</m:t>
                        </m:r>
                      </m:e>
                      <m:sub>
                        <m:r>
                          <a:rPr kumimoji="1" lang="en-US" altLang="zh-CN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kumimoji="1" lang="en-US" altLang="zh-CN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bSup>
                    <m:sSup>
                      <m:sSupPr>
                        <m:ctrlPr>
                          <a:rPr kumimoji="1" lang="en-US" altLang="zh-CN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kumimoji="1" lang="en-US" altLang="zh-CN" sz="24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kumimoji="1" lang="en-US" altLang="zh-CN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kumimoji="1" lang="zh-CN" altLang="en-US" sz="2400" dirty="0"/>
                  <a:t>，则</a:t>
                </a:r>
                <a14:m>
                  <m:oMath xmlns:m="http://schemas.openxmlformats.org/officeDocument/2006/math">
                    <m:r>
                      <a:rPr kumimoji="1" lang="en-US" altLang="zh-CN" sz="24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kumimoji="1" lang="en-US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sz="24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kumimoji="1" lang="en-US" altLang="zh-CN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zh-CN" sz="2400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kumimoji="1" lang="en-US" altLang="zh-CN" sz="2400" b="0" i="1" smtClean="0"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kumimoji="1"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zh-CN" sz="2400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kumimoji="1" lang="en-US" altLang="zh-CN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sSup>
                      <m:sSupPr>
                        <m:ctrlPr>
                          <a:rPr kumimoji="1" lang="en-US" altLang="zh-CN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kumimoji="1" lang="en-US" altLang="zh-CN" sz="24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kumimoji="1" lang="en-US" altLang="zh-CN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1" lang="en-US" altLang="zh-CN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kumimoji="1" lang="zh-CN" altLang="en-US" sz="2400" dirty="0"/>
              </a:p>
            </p:txBody>
          </p:sp>
        </mc:Choice>
        <mc:Fallback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7910CC69-C3E8-B64F-9A65-A429B95BDC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349" y="1123406"/>
                <a:ext cx="8804366" cy="4002506"/>
              </a:xfrm>
              <a:prstGeom prst="rect">
                <a:avLst/>
              </a:prstGeom>
              <a:blipFill>
                <a:blip r:embed="rId3"/>
                <a:stretch>
                  <a:fillRect l="-1007" t="-1266" b="-25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139805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30BEC9B1-7C9A-8C4F-AF78-63F3C1B21852}"/>
                  </a:ext>
                </a:extLst>
              </p:cNvPr>
              <p:cNvSpPr txBox="1"/>
              <p:nvPr/>
            </p:nvSpPr>
            <p:spPr>
              <a:xfrm>
                <a:off x="557349" y="391886"/>
                <a:ext cx="9971314" cy="6450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zh-CN" altLang="en-US" sz="2400" dirty="0"/>
                  <a:t>例</a:t>
                </a:r>
                <a:r>
                  <a:rPr kumimoji="1" lang="en-US" altLang="zh-CN" sz="2400" dirty="0"/>
                  <a:t>2</a:t>
                </a:r>
                <a:r>
                  <a:rPr kumimoji="1" lang="zh-CN" altLang="en-US" sz="2400" dirty="0"/>
                  <a:t>：求</a:t>
                </a:r>
                <a14:m>
                  <m:oMath xmlns:m="http://schemas.openxmlformats.org/officeDocument/2006/math">
                    <m:r>
                      <a:rPr kumimoji="1" lang="en-US" altLang="zh-CN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kumimoji="1"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kumimoji="1"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zh-CN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kumimoji="1"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kumimoji="1"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kumimoji="1" lang="en-US" altLang="zh-CN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kumimoji="1" lang="en-US" altLang="zh-CN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kumimoji="1" lang="en-US" altLang="zh-CN" sz="2400" b="0" i="1" smtClean="0">
                        <a:latin typeface="Cambria Math" panose="02040503050406030204" pitchFamily="18" charset="0"/>
                      </a:rPr>
                      <m:t>+2</m:t>
                    </m:r>
                    <m:sSup>
                      <m:sSupPr>
                        <m:ctrlPr>
                          <a:rPr kumimoji="1"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kumimoji="1" lang="en-US" altLang="zh-CN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kumimoji="1" lang="zh-CN" altLang="en-US" sz="2400" dirty="0"/>
                  <a:t>的渐近复杂度（大</a:t>
                </a:r>
                <a:r>
                  <a:rPr kumimoji="1" lang="en-US" altLang="zh-CN" sz="2400" dirty="0"/>
                  <a:t>O</a:t>
                </a:r>
                <a:r>
                  <a:rPr kumimoji="1" lang="zh-CN" altLang="en-US" sz="2400" dirty="0"/>
                  <a:t>表示），其中</a:t>
                </a:r>
                <a14:m>
                  <m:oMath xmlns:m="http://schemas.openxmlformats.org/officeDocument/2006/math">
                    <m:r>
                      <a:rPr kumimoji="1" lang="en-US" altLang="zh-CN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kumimoji="1"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kumimoji="1"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zh-CN" sz="2400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kumimoji="1" lang="en-US" altLang="zh-CN" sz="2400" dirty="0"/>
                  <a:t>.</a:t>
                </a:r>
                <a:endParaRPr kumimoji="1" lang="zh-CN" altLang="en-US" sz="2400" dirty="0"/>
              </a:p>
            </p:txBody>
          </p:sp>
        </mc:Choice>
        <mc:Fallback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30BEC9B1-7C9A-8C4F-AF78-63F3C1B218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349" y="391886"/>
                <a:ext cx="9971314" cy="645048"/>
              </a:xfrm>
              <a:prstGeom prst="rect">
                <a:avLst/>
              </a:prstGeom>
              <a:blipFill>
                <a:blip r:embed="rId2"/>
                <a:stretch>
                  <a:fillRect l="-891" b="-57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7910CC69-C3E8-B64F-9A65-A429B95BDC82}"/>
                  </a:ext>
                </a:extLst>
              </p:cNvPr>
              <p:cNvSpPr txBox="1"/>
              <p:nvPr/>
            </p:nvSpPr>
            <p:spPr>
              <a:xfrm>
                <a:off x="557349" y="1123406"/>
                <a:ext cx="8804366" cy="48215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zh-CN" altLang="en-US" sz="2400" dirty="0"/>
                  <a:t>解：</a:t>
                </a:r>
                <a:endParaRPr kumimoji="1" lang="en-US" altLang="zh-CN" sz="2400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sz="240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kumimoji="1"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kumimoji="1" lang="en-US" altLang="zh-CN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kumimoji="1" lang="en-US" altLang="zh-CN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kumimoji="1" lang="en-US" altLang="zh-CN" sz="2400" i="1">
                          <a:latin typeface="Cambria Math" panose="02040503050406030204" pitchFamily="18" charset="0"/>
                        </a:rPr>
                        <m:t>+2</m:t>
                      </m:r>
                      <m:sSup>
                        <m:sSupPr>
                          <m:ctrlP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kumimoji="1" lang="en-US" altLang="zh-CN" sz="2400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sz="2400" b="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kumimoji="1" lang="en-US" altLang="zh-CN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kumimoji="1" lang="en-US" altLang="zh-CN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kumimoji="1" lang="en-US" altLang="zh-CN" sz="2400" b="0" i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kumimoji="1" lang="en-US" altLang="zh-CN" sz="2400" b="0" i="1" dirty="0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e>
                      </m:d>
                      <m:r>
                        <a:rPr kumimoji="1" lang="en-US" altLang="zh-CN" sz="2400" b="0" i="1" dirty="0" smtClean="0">
                          <a:latin typeface="Cambria Math" panose="02040503050406030204" pitchFamily="18" charset="0"/>
                        </a:rPr>
                        <m:t>+2</m:t>
                      </m:r>
                      <m:sSup>
                        <m:sSupPr>
                          <m:ctrlPr>
                            <a:rPr kumimoji="1" lang="en-US" altLang="zh-CN" sz="2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1" lang="en-US" altLang="zh-CN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kumimoji="1" lang="en-US" altLang="zh-CN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kumimoji="1" lang="en-US" altLang="zh-CN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kumimoji="1" lang="en-US" altLang="zh-CN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kumimoji="1" lang="en-US" altLang="zh-CN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kumimoji="1" lang="en-US" altLang="zh-CN" sz="24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kumimoji="1" lang="en-US" altLang="zh-CN" sz="2400" i="1" smtClean="0">
                          <a:latin typeface="Cambria Math" panose="02040503050406030204" pitchFamily="18" charset="0"/>
                        </a:rPr>
                        <m:t>2</m:t>
                      </m:r>
                      <m:sSup>
                        <m:sSupPr>
                          <m:ctrlP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kumimoji="1" lang="en-US" altLang="zh-CN" sz="2400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sz="2400" b="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kumimoji="1" lang="en-US" altLang="zh-CN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kumimoji="1" lang="en-US" altLang="zh-CN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kumimoji="1" lang="en-US" altLang="zh-CN" sz="2400" b="0" i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kumimoji="1" lang="en-US" altLang="zh-CN" sz="2400" b="0" i="1" dirty="0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</m:e>
                      </m:d>
                      <m:r>
                        <a:rPr kumimoji="1" lang="en-US" altLang="zh-CN" sz="2400" b="0" i="1" dirty="0" smtClean="0">
                          <a:latin typeface="Cambria Math" panose="02040503050406030204" pitchFamily="18" charset="0"/>
                        </a:rPr>
                        <m:t>+2</m:t>
                      </m:r>
                      <m:sSup>
                        <m:sSupPr>
                          <m:ctrlPr>
                            <a:rPr kumimoji="1" lang="en-US" altLang="zh-CN" sz="2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1" lang="en-US" altLang="zh-CN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kumimoji="1" lang="en-US" altLang="zh-CN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kumimoji="1" lang="en-US" altLang="zh-CN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kumimoji="1"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kumimoji="1" lang="en-US" altLang="zh-CN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kumimoji="1" lang="en-US" altLang="zh-CN" sz="2400" b="0" i="1" dirty="0" smtClean="0">
                          <a:latin typeface="Cambria Math" panose="02040503050406030204" pitchFamily="18" charset="0"/>
                        </a:rPr>
                        <m:t>+2</m:t>
                      </m:r>
                      <m:sSup>
                        <m:sSupPr>
                          <m:ctrlPr>
                            <a:rPr kumimoji="1" lang="en-US" altLang="zh-CN" sz="2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1" lang="en-US" altLang="zh-CN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kumimoji="1" lang="en-US" altLang="zh-CN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kumimoji="1" lang="en-US" altLang="zh-CN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kumimoji="1" lang="en-US" altLang="zh-CN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kumimoji="1" lang="en-US" altLang="zh-CN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kumimoji="1" lang="en-US" altLang="zh-CN" sz="24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kumimoji="1" lang="en-US" altLang="zh-CN" sz="2400" i="1" smtClean="0">
                          <a:latin typeface="Cambria Math" panose="02040503050406030204" pitchFamily="18" charset="0"/>
                        </a:rPr>
                        <m:t>2</m:t>
                      </m:r>
                      <m:sSup>
                        <m:sSupPr>
                          <m:ctrlP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kumimoji="1" lang="en-US" altLang="zh-CN" sz="2400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kumimoji="1" lang="en-US" altLang="zh-CN" sz="2400" b="0" dirty="0">
                  <a:ea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kumimoji="1"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zh-CN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kumimoji="1" lang="en-US" altLang="zh-CN" sz="2400" b="0" i="1" smtClean="0">
                                  <a:latin typeface="Cambria Math" panose="02040503050406030204" pitchFamily="18" charset="0"/>
                                </a:rPr>
                                <m:t>2(</m:t>
                              </m:r>
                              <m:r>
                                <a:rPr kumimoji="1" lang="en-US" altLang="zh-CN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kumimoji="1" lang="en-US" altLang="zh-CN" sz="2400" b="0" i="1" smtClean="0">
                                  <a:latin typeface="Cambria Math" panose="02040503050406030204" pitchFamily="18" charset="0"/>
                                </a:rPr>
                                <m:t>−1)</m:t>
                              </m:r>
                            </m:sup>
                          </m:sSup>
                        </m:den>
                      </m:f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∙2</m:t>
                      </m:r>
                      <m:sSup>
                        <m:sSupPr>
                          <m:ctrlPr>
                            <a:rPr kumimoji="1"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⋯+</m:t>
                      </m:r>
                      <m:f>
                        <m:fPr>
                          <m:ctrlP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kumimoji="1"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zh-CN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kumimoji="1" lang="en-US" altLang="zh-CN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kumimoji="1"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∙2</m:t>
                              </m:r>
                            </m:sup>
                          </m:sSup>
                        </m:den>
                      </m:f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∙2</m:t>
                      </m:r>
                      <m:sSup>
                        <m:sSupPr>
                          <m:ctrlPr>
                            <a:rPr kumimoji="1"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kumimoji="1"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zh-CN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kumimoji="1" lang="en-US" altLang="zh-CN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kumimoji="1"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r>
                                <a:rPr kumimoji="1"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den>
                      </m:f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∙2</m:t>
                      </m:r>
                      <m:sSup>
                        <m:sSupPr>
                          <m:ctrlPr>
                            <a:rPr kumimoji="1"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kumimoji="1" lang="en-US" altLang="zh-CN" sz="24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kumimoji="1" lang="en-US" altLang="zh-CN" sz="2400" i="1" smtClean="0">
                          <a:latin typeface="Cambria Math" panose="02040503050406030204" pitchFamily="18" charset="0"/>
                        </a:rPr>
                        <m:t>2</m:t>
                      </m:r>
                      <m:sSup>
                        <m:sSupPr>
                          <m:ctrlP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kumimoji="1" lang="en-US" altLang="zh-CN" sz="2400" dirty="0"/>
              </a:p>
              <a:p>
                <a:r>
                  <a:rPr kumimoji="1" lang="zh-CN" altLang="en-US" sz="2400" dirty="0"/>
                  <a:t>其中，</a:t>
                </a:r>
                <a:r>
                  <a:rPr kumimoji="1" lang="en-US" altLang="zh-CN" sz="2400" b="0" dirty="0"/>
                  <a:t> </a:t>
                </a:r>
                <a14:m>
                  <m:oMath xmlns:m="http://schemas.openxmlformats.org/officeDocument/2006/math">
                    <m:r>
                      <a:rPr kumimoji="1" lang="en-US" altLang="zh-CN" sz="24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kumimoji="1"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kumimoji="1"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kumimoji="1" lang="en-US" altLang="zh-CN" sz="2400" b="0" i="1" smtClean="0">
                            <a:latin typeface="Cambria Math" panose="02040503050406030204" pitchFamily="18" charset="0"/>
                          </a:rPr>
                          <m:t>𝑙𝑜𝑔</m:t>
                        </m:r>
                      </m:e>
                      <m:sub>
                        <m:r>
                          <a:rPr kumimoji="1" lang="en-US" altLang="zh-CN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kumimoji="1" lang="en-US" altLang="zh-CN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bSup>
                  </m:oMath>
                </a14:m>
                <a:endParaRPr kumimoji="1" lang="en-US" altLang="zh-CN" sz="2400" dirty="0"/>
              </a:p>
              <a:p>
                <a:r>
                  <a:rPr kumimoji="1" lang="zh-CN" altLang="en-US" sz="2400" dirty="0"/>
                  <a:t>由于</a:t>
                </a:r>
                <a:r>
                  <a:rPr kumimoji="1" lang="en-US" altLang="zh-CN" sz="2400" b="0" dirty="0"/>
                  <a:t> </a:t>
                </a:r>
                <a14:m>
                  <m:oMath xmlns:m="http://schemas.openxmlformats.org/officeDocument/2006/math">
                    <m:r>
                      <a:rPr kumimoji="1" lang="en-US" altLang="zh-CN" sz="2400" b="0" i="0" smtClean="0">
                        <a:latin typeface="Cambria Math" panose="02040503050406030204" pitchFamily="18" charset="0"/>
                      </a:rPr>
                      <m:t>0&lt;</m:t>
                    </m:r>
                    <m:f>
                      <m:fPr>
                        <m:ctrlPr>
                          <a:rPr kumimoji="1"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zh-CN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kumimoji="1"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kumimoji="1" lang="en-US" altLang="zh-CN" sz="2400" b="0" i="1" smtClean="0">
                                <a:latin typeface="Cambria Math" panose="02040503050406030204" pitchFamily="18" charset="0"/>
                              </a:rPr>
                              <m:t>2(</m:t>
                            </m:r>
                            <m:r>
                              <a:rPr kumimoji="1" lang="en-US" altLang="zh-CN" sz="24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kumimoji="1" lang="en-US" altLang="zh-CN" sz="2400" b="0" i="1" smtClean="0">
                                <a:latin typeface="Cambria Math" panose="02040503050406030204" pitchFamily="18" charset="0"/>
                              </a:rPr>
                              <m:t>−1)</m:t>
                            </m:r>
                          </m:sup>
                        </m:sSup>
                      </m:den>
                    </m:f>
                    <m:r>
                      <a:rPr kumimoji="1" lang="en-US" altLang="zh-CN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kumimoji="1"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⋯+</m:t>
                    </m:r>
                    <m:f>
                      <m:fPr>
                        <m:ctrlPr>
                          <a:rPr kumimoji="1"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zh-CN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kumimoji="1"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kumimoji="1" lang="en-US" altLang="zh-CN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kumimoji="1"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∙2</m:t>
                            </m:r>
                          </m:sup>
                        </m:sSup>
                      </m:den>
                    </m:f>
                    <m:r>
                      <a:rPr kumimoji="1"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kumimoji="1"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zh-CN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kumimoji="1"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kumimoji="1" lang="en-US" altLang="zh-CN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kumimoji="1"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∙1</m:t>
                            </m:r>
                          </m:sup>
                        </m:sSup>
                      </m:den>
                    </m:f>
                    <m:r>
                      <a:rPr kumimoji="1"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&lt;1 ,</m:t>
                    </m:r>
                    <m:r>
                      <a:rPr kumimoji="1" lang="zh-CN" alt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因此</m:t>
                    </m:r>
                    <m:r>
                      <a:rPr kumimoji="1" lang="en-US" altLang="zh-CN" sz="2400" i="1" smtClean="0">
                        <a:latin typeface="Cambria Math" panose="02040503050406030204" pitchFamily="18" charset="0"/>
                      </a:rPr>
                      <m:t>2</m:t>
                    </m:r>
                    <m:sSup>
                      <m:sSupPr>
                        <m:ctrlPr>
                          <a:rPr kumimoji="1" lang="en-US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sz="24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kumimoji="1" lang="en-US" altLang="zh-CN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1" lang="en-US" altLang="zh-CN" sz="2400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kumimoji="1" lang="en-US" altLang="zh-CN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kumimoji="1"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kumimoji="1" lang="en-US" altLang="zh-CN" sz="2400" b="0" i="1" smtClean="0">
                        <a:latin typeface="Cambria Math" panose="02040503050406030204" pitchFamily="18" charset="0"/>
                      </a:rPr>
                      <m:t>&lt;</m:t>
                    </m:r>
                    <m:sSup>
                      <m:sSupPr>
                        <m:ctrlPr>
                          <a:rPr kumimoji="1" lang="en-US" altLang="zh-CN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kumimoji="1" lang="en-US" altLang="zh-CN" sz="24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kumimoji="1" lang="en-US" altLang="zh-CN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kumimoji="1" lang="zh-CN" altLang="en-US" sz="2400" dirty="0"/>
                  <a:t>，则</a:t>
                </a:r>
                <a14:m>
                  <m:oMath xmlns:m="http://schemas.openxmlformats.org/officeDocument/2006/math">
                    <m:r>
                      <a:rPr kumimoji="1" lang="en-US" altLang="zh-CN" sz="24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kumimoji="1" lang="en-US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sz="24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kumimoji="1" lang="en-US" altLang="zh-CN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zh-CN" sz="2400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kumimoji="1" lang="en-US" altLang="zh-CN" sz="2400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kumimoji="1" lang="en-US" altLang="zh-CN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sz="24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kumimoji="1" lang="en-US" altLang="zh-CN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1" lang="en-US" altLang="zh-CN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kumimoji="1" lang="zh-CN" altLang="en-US" sz="2400" dirty="0"/>
              </a:p>
            </p:txBody>
          </p:sp>
        </mc:Choice>
        <mc:Fallback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7910CC69-C3E8-B64F-9A65-A429B95BDC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349" y="1123406"/>
                <a:ext cx="8804366" cy="4821513"/>
              </a:xfrm>
              <a:prstGeom prst="rect">
                <a:avLst/>
              </a:prstGeom>
              <a:blipFill>
                <a:blip r:embed="rId3"/>
                <a:stretch>
                  <a:fillRect l="-1007" t="-1050" b="-7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874784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30BEC9B1-7C9A-8C4F-AF78-63F3C1B21852}"/>
                  </a:ext>
                </a:extLst>
              </p:cNvPr>
              <p:cNvSpPr txBox="1"/>
              <p:nvPr/>
            </p:nvSpPr>
            <p:spPr>
              <a:xfrm>
                <a:off x="557349" y="391886"/>
                <a:ext cx="9971314" cy="6450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zh-CN" altLang="en-US" sz="2400" dirty="0"/>
                  <a:t>例</a:t>
                </a:r>
                <a:r>
                  <a:rPr kumimoji="1" lang="en-US" altLang="zh-CN" sz="2400" dirty="0"/>
                  <a:t>3</a:t>
                </a:r>
                <a:r>
                  <a:rPr kumimoji="1" lang="zh-CN" altLang="en-US" sz="2400" dirty="0"/>
                  <a:t>：求</a:t>
                </a:r>
                <a14:m>
                  <m:oMath xmlns:m="http://schemas.openxmlformats.org/officeDocument/2006/math">
                    <m:r>
                      <a:rPr kumimoji="1" lang="en-US" altLang="zh-CN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kumimoji="1"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kumimoji="1" lang="en-US" altLang="zh-CN" sz="2400" b="0" i="1" smtClean="0">
                        <a:latin typeface="Cambria Math" panose="02040503050406030204" pitchFamily="18" charset="0"/>
                      </a:rPr>
                      <m:t>=8</m:t>
                    </m:r>
                    <m:r>
                      <a:rPr kumimoji="1" lang="en-US" altLang="zh-CN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kumimoji="1"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kumimoji="1"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kumimoji="1" lang="en-US" altLang="zh-CN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kumimoji="1" lang="en-US" altLang="zh-CN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kumimoji="1" lang="en-US" altLang="zh-CN" sz="2400" b="0" i="1" smtClean="0">
                        <a:latin typeface="Cambria Math" panose="02040503050406030204" pitchFamily="18" charset="0"/>
                      </a:rPr>
                      <m:t>+2</m:t>
                    </m:r>
                    <m:sSup>
                      <m:sSupPr>
                        <m:ctrlPr>
                          <a:rPr kumimoji="1"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kumimoji="1" lang="en-US" altLang="zh-CN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kumimoji="1" lang="zh-CN" altLang="en-US" sz="2400" dirty="0"/>
                  <a:t>的渐近复杂度（大</a:t>
                </a:r>
                <a:r>
                  <a:rPr kumimoji="1" lang="en-US" altLang="zh-CN" sz="2400" dirty="0"/>
                  <a:t>O</a:t>
                </a:r>
                <a:r>
                  <a:rPr kumimoji="1" lang="zh-CN" altLang="en-US" sz="2400" dirty="0"/>
                  <a:t>表示），其中</a:t>
                </a:r>
                <a14:m>
                  <m:oMath xmlns:m="http://schemas.openxmlformats.org/officeDocument/2006/math">
                    <m:r>
                      <a:rPr kumimoji="1" lang="en-US" altLang="zh-CN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kumimoji="1"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kumimoji="1"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zh-CN" sz="2400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kumimoji="1" lang="en-US" altLang="zh-CN" sz="2400" dirty="0"/>
                  <a:t>.</a:t>
                </a:r>
                <a:endParaRPr kumimoji="1" lang="zh-CN" altLang="en-US" sz="2400" dirty="0"/>
              </a:p>
            </p:txBody>
          </p:sp>
        </mc:Choice>
        <mc:Fallback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30BEC9B1-7C9A-8C4F-AF78-63F3C1B218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349" y="391886"/>
                <a:ext cx="9971314" cy="645048"/>
              </a:xfrm>
              <a:prstGeom prst="rect">
                <a:avLst/>
              </a:prstGeom>
              <a:blipFill>
                <a:blip r:embed="rId2"/>
                <a:stretch>
                  <a:fillRect l="-891" b="-57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7910CC69-C3E8-B64F-9A65-A429B95BDC82}"/>
                  </a:ext>
                </a:extLst>
              </p:cNvPr>
              <p:cNvSpPr txBox="1"/>
              <p:nvPr/>
            </p:nvSpPr>
            <p:spPr>
              <a:xfrm>
                <a:off x="557348" y="1123406"/>
                <a:ext cx="10319657" cy="43783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zh-CN" altLang="en-US" sz="2400" dirty="0"/>
                  <a:t>解：</a:t>
                </a:r>
                <a:endParaRPr kumimoji="1" lang="en-US" altLang="zh-CN" sz="2400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kumimoji="1" lang="en-US" altLang="zh-CN" sz="240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kumimoji="1"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kumimoji="1" lang="en-US" altLang="zh-CN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kumimoji="1" lang="en-US" altLang="zh-CN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kumimoji="1" lang="en-US" altLang="zh-CN" sz="2400" i="1">
                          <a:latin typeface="Cambria Math" panose="02040503050406030204" pitchFamily="18" charset="0"/>
                        </a:rPr>
                        <m:t>+2</m:t>
                      </m:r>
                      <m:sSup>
                        <m:sSupPr>
                          <m:ctrlP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kumimoji="1" lang="en-US" altLang="zh-CN" sz="2400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sz="2400" b="0" i="1" dirty="0" smtClean="0">
                          <a:latin typeface="Cambria Math" panose="02040503050406030204" pitchFamily="18" charset="0"/>
                        </a:rPr>
                        <m:t>8</m:t>
                      </m:r>
                      <m:d>
                        <m:dPr>
                          <m:ctrlPr>
                            <a:rPr kumimoji="1" lang="en-US" altLang="zh-CN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400" b="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  <m:r>
                            <a:rPr kumimoji="1" lang="en-US" altLang="zh-CN" sz="2400" b="0" i="1" dirty="0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kumimoji="1" lang="en-US" altLang="zh-CN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kumimoji="1" lang="en-US" altLang="zh-CN" sz="24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kumimoji="1" lang="en-US" altLang="zh-CN" sz="2400" b="0" i="1" dirty="0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kumimoji="1" lang="en-US" altLang="zh-CN" sz="2400" b="0" i="1" dirty="0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den>
                              </m:f>
                            </m:e>
                          </m:d>
                          <m:r>
                            <a:rPr kumimoji="1" lang="en-US" altLang="zh-CN" sz="2400" b="0" i="1" dirty="0" smtClean="0">
                              <a:latin typeface="Cambria Math" panose="02040503050406030204" pitchFamily="18" charset="0"/>
                            </a:rPr>
                            <m:t>+2</m:t>
                          </m:r>
                          <m:sSup>
                            <m:sSupPr>
                              <m:ctrlPr>
                                <a:rPr kumimoji="1" lang="en-US" altLang="zh-CN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kumimoji="1" lang="en-US" altLang="zh-CN" sz="24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kumimoji="1" lang="en-US" altLang="zh-CN" sz="24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kumimoji="1" lang="en-US" altLang="zh-CN" sz="24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num>
                                    <m:den>
                                      <m:r>
                                        <a:rPr kumimoji="1" lang="en-US" altLang="zh-CN" sz="24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kumimoji="1" lang="en-US" altLang="zh-CN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kumimoji="1" lang="en-US" altLang="zh-CN" sz="24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kumimoji="1" lang="en-US" altLang="zh-CN" sz="2400" i="1" smtClean="0">
                          <a:latin typeface="Cambria Math" panose="02040503050406030204" pitchFamily="18" charset="0"/>
                        </a:rPr>
                        <m:t>2</m:t>
                      </m:r>
                      <m:sSup>
                        <m:sSupPr>
                          <m:ctrlP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kumimoji="1" lang="en-US" altLang="zh-CN" sz="2400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sz="2400" b="0" i="1" dirty="0" smtClean="0">
                          <a:latin typeface="Cambria Math" panose="02040503050406030204" pitchFamily="18" charset="0"/>
                        </a:rPr>
                        <m:t>8</m:t>
                      </m:r>
                      <m:d>
                        <m:dPr>
                          <m:ctrlPr>
                            <a:rPr kumimoji="1" lang="en-US" altLang="zh-CN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400" b="0" i="1" dirty="0" smtClean="0">
                              <a:latin typeface="Cambria Math" panose="02040503050406030204" pitchFamily="18" charset="0"/>
                            </a:rPr>
                            <m:t>8(8</m:t>
                          </m:r>
                          <m:r>
                            <a:rPr kumimoji="1" lang="en-US" altLang="zh-CN" sz="2400" b="0" i="1" dirty="0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kumimoji="1" lang="en-US" altLang="zh-CN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kumimoji="1" lang="en-US" altLang="zh-CN" sz="24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kumimoji="1" lang="en-US" altLang="zh-CN" sz="2400" b="0" i="1" dirty="0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kumimoji="1" lang="en-US" altLang="zh-CN" sz="2400" b="0" i="1" dirty="0" smtClean="0">
                                      <a:latin typeface="Cambria Math" panose="02040503050406030204" pitchFamily="18" charset="0"/>
                                    </a:rPr>
                                    <m:t>8</m:t>
                                  </m:r>
                                </m:den>
                              </m:f>
                            </m:e>
                          </m:d>
                          <m:r>
                            <a:rPr kumimoji="1" lang="en-US" altLang="zh-CN" sz="2400" b="0" i="1" dirty="0" smtClean="0">
                              <a:latin typeface="Cambria Math" panose="02040503050406030204" pitchFamily="18" charset="0"/>
                            </a:rPr>
                            <m:t>+2</m:t>
                          </m:r>
                          <m:sSup>
                            <m:sSupPr>
                              <m:ctrlPr>
                                <a:rPr kumimoji="1" lang="en-US" altLang="zh-CN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kumimoji="1" lang="en-US" altLang="zh-CN" sz="24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kumimoji="1" lang="en-US" altLang="zh-CN" sz="24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kumimoji="1" lang="en-US" altLang="zh-CN" sz="24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num>
                                    <m:den>
                                      <m:r>
                                        <a:rPr kumimoji="1" lang="en-US" altLang="zh-CN" sz="2400" b="0" i="1" smtClean="0"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kumimoji="1" lang="en-US" altLang="zh-CN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en-US" altLang="zh-CN" sz="2400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kumimoji="1" lang="en-US" altLang="zh-CN" sz="2400" b="0" i="1" dirty="0" smtClean="0">
                              <a:latin typeface="Cambria Math" panose="02040503050406030204" pitchFamily="18" charset="0"/>
                            </a:rPr>
                            <m:t>+2</m:t>
                          </m:r>
                          <m:sSup>
                            <m:sSupPr>
                              <m:ctrlPr>
                                <a:rPr kumimoji="1" lang="en-US" altLang="zh-CN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kumimoji="1" lang="en-US" altLang="zh-CN" sz="24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kumimoji="1" lang="en-US" altLang="zh-CN" sz="24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kumimoji="1" lang="en-US" altLang="zh-CN" sz="24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num>
                                    <m:den>
                                      <m:r>
                                        <a:rPr kumimoji="1" lang="en-US" altLang="zh-CN" sz="24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kumimoji="1" lang="en-US" altLang="zh-CN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kumimoji="1" lang="en-US" altLang="zh-CN" sz="24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kumimoji="1" lang="en-US" altLang="zh-CN" sz="2400" i="1" smtClean="0">
                          <a:latin typeface="Cambria Math" panose="02040503050406030204" pitchFamily="18" charset="0"/>
                        </a:rPr>
                        <m:t>2</m:t>
                      </m:r>
                      <m:sSup>
                        <m:sSupPr>
                          <m:ctrlP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kumimoji="1" lang="en-US" altLang="zh-CN" sz="2400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kumimoji="1" lang="en-US" altLang="zh-CN" sz="2400" b="0" dirty="0">
                  <a:ea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  <m:sup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kumimoji="1" lang="en-US" altLang="zh-CN" sz="2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kumimoji="1" lang="en-US" altLang="zh-CN" sz="24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kumimoji="1" lang="en-US" altLang="zh-CN" sz="2400" b="0" i="1" dirty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2</m:t>
                      </m:r>
                      <m:sSup>
                        <m:sSupPr>
                          <m:ctrlPr>
                            <a:rPr kumimoji="1"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kumimoji="1" lang="en-US" altLang="zh-CN" sz="2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kumimoji="1" lang="en-US" altLang="zh-CN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2</m:t>
                      </m:r>
                      <m:sSup>
                        <m:sSupPr>
                          <m:ctrlPr>
                            <a:rPr kumimoji="1"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2</m:t>
                      </m:r>
                      <m:sSup>
                        <m:sSupPr>
                          <m:ctrlPr>
                            <a:rPr kumimoji="1"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+2</m:t>
                      </m:r>
                      <m:sSup>
                        <m:sSupPr>
                          <m:ctrlPr>
                            <a:rPr kumimoji="1"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kumimoji="1" lang="en-US" altLang="zh-CN" sz="2400" dirty="0"/>
              </a:p>
              <a:p>
                <a:r>
                  <a:rPr kumimoji="1" lang="zh-CN" altLang="en-US" sz="2400" dirty="0"/>
                  <a:t>其中，</a:t>
                </a:r>
                <a:r>
                  <a:rPr kumimoji="1" lang="en-US" altLang="zh-CN" sz="2400" b="0" dirty="0"/>
                  <a:t> </a:t>
                </a:r>
                <a14:m>
                  <m:oMath xmlns:m="http://schemas.openxmlformats.org/officeDocument/2006/math">
                    <m:r>
                      <a:rPr kumimoji="1" lang="en-US" altLang="zh-CN" sz="24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kumimoji="1"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kumimoji="1"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kumimoji="1" lang="en-US" altLang="zh-CN" sz="2400" b="0" i="1" smtClean="0">
                            <a:latin typeface="Cambria Math" panose="02040503050406030204" pitchFamily="18" charset="0"/>
                          </a:rPr>
                          <m:t>𝑙𝑜𝑔</m:t>
                        </m:r>
                      </m:e>
                      <m:sub>
                        <m:r>
                          <a:rPr kumimoji="1" lang="en-US" altLang="zh-CN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kumimoji="1" lang="en-US" altLang="zh-CN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bSup>
                  </m:oMath>
                </a14:m>
                <a:endParaRPr kumimoji="1" lang="en-US" altLang="zh-CN" sz="2400" dirty="0"/>
              </a:p>
              <a:p>
                <a:r>
                  <a:rPr kumimoji="1" lang="zh-CN" altLang="en-US" sz="2400" dirty="0"/>
                  <a:t>由于</a:t>
                </a:r>
                <a:r>
                  <a:rPr kumimoji="1" lang="en-US" altLang="zh-CN" sz="24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CN" sz="24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kumimoji="1" lang="en-US" altLang="zh-CN" sz="2400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kumimoji="1" lang="en-US" altLang="zh-CN" sz="2400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kumimoji="1" lang="en-US" altLang="zh-CN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kumimoji="1"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r>
                      <a:rPr kumimoji="1" lang="en-US" altLang="zh-CN" sz="24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kumimoji="1" lang="en-US" altLang="zh-CN" sz="24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kumimoji="1" lang="en-US" altLang="zh-CN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1" lang="en-US" altLang="zh-CN" sz="2400" b="0" i="1" smtClean="0">
                        <a:latin typeface="Cambria Math" panose="02040503050406030204" pitchFamily="18" charset="0"/>
                      </a:rPr>
                      <m:t>+2+</m:t>
                    </m:r>
                    <m:r>
                      <a:rPr kumimoji="1" lang="en-US" altLang="zh-CN" sz="2400" b="0" i="1" smtClean="0">
                        <a:latin typeface="Cambria Math" panose="02040503050406030204" pitchFamily="18" charset="0"/>
                      </a:rPr>
                      <m:t>1=</m:t>
                    </m:r>
                    <m:sSup>
                      <m:sSupPr>
                        <m:ctrlPr>
                          <a:rPr kumimoji="1" lang="en-US" altLang="zh-CN" sz="24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kumimoji="1" lang="en-US" altLang="zh-CN" sz="2400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kumimoji="1" lang="en-US" altLang="zh-CN" sz="2400" b="0" i="1" dirty="0" smtClean="0">
                        <a:latin typeface="Cambria Math" panose="02040503050406030204" pitchFamily="18" charset="0"/>
                      </a:rPr>
                      <m:t>−1=</m:t>
                    </m:r>
                    <m:r>
                      <a:rPr kumimoji="1" lang="en-US" altLang="zh-CN" sz="2400" b="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kumimoji="1" lang="en-US" altLang="zh-CN" sz="2400" b="0" i="1" dirty="0" smtClean="0">
                        <a:latin typeface="Cambria Math" panose="02040503050406030204" pitchFamily="18" charset="0"/>
                      </a:rPr>
                      <m:t>−1, </m:t>
                    </m:r>
                    <m:r>
                      <a:rPr kumimoji="1" lang="en-US" altLang="zh-CN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kumimoji="1"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kumimoji="1"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kumimoji="1" lang="en-US" altLang="zh-CN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sz="24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kumimoji="1" lang="en-US" altLang="zh-CN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kumimoji="1" lang="en-US" altLang="zh-CN" sz="2400" dirty="0"/>
                  <a:t>+</a:t>
                </a:r>
                <a14:m>
                  <m:oMath xmlns:m="http://schemas.openxmlformats.org/officeDocument/2006/math">
                    <m:r>
                      <a:rPr kumimoji="1" lang="en-US" altLang="zh-CN" sz="24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kumimoji="1" lang="en-US" altLang="zh-CN" sz="2400" b="0" i="0" smtClean="0">
                        <a:latin typeface="Cambria Math" panose="02040503050406030204" pitchFamily="18" charset="0"/>
                      </a:rPr>
                      <m:t>n</m:t>
                    </m:r>
                    <m:r>
                      <a:rPr kumimoji="1" lang="en-US" altLang="zh-CN" sz="2400" b="0" i="0" smtClean="0">
                        <a:latin typeface="Cambria Math" panose="02040503050406030204" pitchFamily="18" charset="0"/>
                      </a:rPr>
                      <m:t>−1)</m:t>
                    </m:r>
                    <m:sSup>
                      <m:sSupPr>
                        <m:ctrlPr>
                          <a:rPr kumimoji="1" lang="en-US" altLang="zh-CN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∙2</m:t>
                        </m:r>
                        <m:r>
                          <a:rPr kumimoji="1" lang="en-US" altLang="zh-CN" sz="24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kumimoji="1" lang="en-US" altLang="zh-CN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kumimoji="1" lang="zh-CN" altLang="en-US" sz="2400" dirty="0"/>
                  <a:t>，</a:t>
                </a:r>
                <a:endParaRPr kumimoji="1" lang="en-US" altLang="zh-CN" sz="2400" dirty="0"/>
              </a:p>
              <a:p>
                <a:r>
                  <a:rPr kumimoji="1" lang="zh-CN" altLang="en-US" sz="2400" dirty="0"/>
                  <a:t>则</a:t>
                </a:r>
                <a14:m>
                  <m:oMath xmlns:m="http://schemas.openxmlformats.org/officeDocument/2006/math">
                    <m:r>
                      <a:rPr kumimoji="1" lang="en-US" altLang="zh-CN" sz="24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kumimoji="1" lang="en-US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sz="24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kumimoji="1" lang="en-US" altLang="zh-CN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zh-CN" sz="2400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kumimoji="1" lang="en-US" altLang="zh-CN" sz="2400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kumimoji="1" lang="en-US" altLang="zh-CN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sz="24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kumimoji="1" lang="en-US" altLang="zh-CN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kumimoji="1" lang="en-US" altLang="zh-CN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kumimoji="1" lang="zh-CN" altLang="en-US" sz="2400" dirty="0"/>
              </a:p>
            </p:txBody>
          </p:sp>
        </mc:Choice>
        <mc:Fallback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7910CC69-C3E8-B64F-9A65-A429B95BDC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348" y="1123406"/>
                <a:ext cx="10319657" cy="4378378"/>
              </a:xfrm>
              <a:prstGeom prst="rect">
                <a:avLst/>
              </a:prstGeom>
              <a:blipFill>
                <a:blip r:embed="rId3"/>
                <a:stretch>
                  <a:fillRect l="-860" t="-1156" b="-20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538916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327</Words>
  <Application>Microsoft Macintosh PowerPoint</Application>
  <PresentationFormat>宽屏</PresentationFormat>
  <Paragraphs>28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8" baseType="lpstr">
      <vt:lpstr>等线</vt:lpstr>
      <vt:lpstr>等线 Light</vt:lpstr>
      <vt:lpstr>Arial</vt:lpstr>
      <vt:lpstr>Cambria Math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Microsoft Office User</cp:lastModifiedBy>
  <cp:revision>14</cp:revision>
  <dcterms:created xsi:type="dcterms:W3CDTF">2025-11-06T12:01:40Z</dcterms:created>
  <dcterms:modified xsi:type="dcterms:W3CDTF">2025-11-06T12:54:54Z</dcterms:modified>
</cp:coreProperties>
</file>