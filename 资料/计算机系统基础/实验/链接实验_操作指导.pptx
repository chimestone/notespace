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919" r:id="rId3"/>
    <p:sldId id="1046" r:id="rId4"/>
    <p:sldId id="1052" r:id="rId5"/>
    <p:sldId id="1034" r:id="rId6"/>
    <p:sldId id="1035" r:id="rId7"/>
    <p:sldId id="1036" r:id="rId8"/>
    <p:sldId id="1029" r:id="rId9"/>
    <p:sldId id="1047" r:id="rId10"/>
    <p:sldId id="1017" r:id="rId11"/>
    <p:sldId id="1037" r:id="rId12"/>
    <p:sldId id="1038" r:id="rId13"/>
    <p:sldId id="1049" r:id="rId14"/>
    <p:sldId id="1040" r:id="rId15"/>
    <p:sldId id="1039" r:id="rId16"/>
    <p:sldId id="1044" r:id="rId17"/>
    <p:sldId id="1045" r:id="rId18"/>
    <p:sldId id="1041" r:id="rId19"/>
    <p:sldId id="1043" r:id="rId20"/>
    <p:sldId id="1050" r:id="rId21"/>
    <p:sldId id="1048" r:id="rId22"/>
    <p:sldId id="1042" r:id="rId23"/>
    <p:sldId id="1051" r:id="rId24"/>
    <p:sldId id="1053" r:id="rId25"/>
    <p:sldId id="1054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242"/>
    <a:srgbClr val="990033"/>
    <a:srgbClr val="CC3300"/>
    <a:srgbClr val="0066FF"/>
    <a:srgbClr val="0066CC"/>
    <a:srgbClr val="FF0000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6" autoAdjust="0"/>
    <p:restoredTop sz="87668" autoAdjust="0"/>
  </p:normalViewPr>
  <p:slideViewPr>
    <p:cSldViewPr>
      <p:cViewPr varScale="1">
        <p:scale>
          <a:sx n="87" d="100"/>
          <a:sy n="87" d="100"/>
        </p:scale>
        <p:origin x="115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8"/>
    </p:cViewPr>
  </p:sorterViewPr>
  <p:notesViewPr>
    <p:cSldViewPr>
      <p:cViewPr varScale="1">
        <p:scale>
          <a:sx n="68" d="100"/>
          <a:sy n="68" d="100"/>
        </p:scale>
        <p:origin x="-3288" y="-10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0376D1-0FA2-4E53-ADD1-7E44D22110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93C20AE-533F-4EB2-8480-6BDB9E5E91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F68C929-2ED4-46D7-9097-30433CB87B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69C78EC-39DF-4909-9317-BC36A23BF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BB587B3-E1A7-4417-A7E6-F1D2D90487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0C57B1D9-8221-45A9-9AD1-4DBFF8D88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9625686-584A-41D4-8341-97710F295F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2990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46C67-E4C6-A748-276C-C87F9EAA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A48B18-9653-BA3F-95E8-EC085953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53B0A8-3E86-AAAE-D303-95D04959E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9353EA-261F-6460-755D-823B5C1AA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87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C3E0-03A1-45AB-D097-8073B15B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DBCED-88A4-9EF1-7F5D-7DAB450BC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282290-1DE0-EAC9-7BB6-053CD2FC1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DC18BD-875C-BA54-E786-A5BDD68AC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520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224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112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3784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82EED-F973-43C9-35C8-51F67B3C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39DC51-7B93-0B7D-4FF2-1B1FD434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475BC3-8BE8-4B60-8750-DA90E7226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9BD69E-92F4-89AE-7804-6E21335E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086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84A81-1D04-C361-548A-65AD5A43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9EA595-DEAE-1288-54AF-0635E3F1F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D8D286-42F6-B79C-22A3-D3ABEB5B2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59A3ED-07E2-B3A7-599F-1A2908AFE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218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14BE23-3EF6-4A7C-A7EB-D8FD65EC3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675813-6E7F-4549-8DCC-40C14F6CD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1B8EC2-F9C9-4E64-80E3-DB4C7F5104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0D097-F5CD-4B16-8F96-0496AE63A5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1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F8F04B-140A-40B6-BC8D-B6F969189C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BDCC10-64DD-4C8B-9D03-3C8DA1B105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639338-C7CE-4643-98B9-F1AB8D58E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21C542-F423-4B6F-A3B3-63ACAF2AE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2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0537D4-2C56-4F62-810D-5E75F1BA9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690AF3-5228-41C9-AF36-750251064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80A32-9FF5-4FB3-9BEC-FC85B99C1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AD538-3ADF-41B4-BAF1-DE8FCD614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0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200EB-4027-497F-BF96-5F3CF7553C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06744-C52F-4056-8FDD-BDB24FDC37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C9B0F-E363-4EAE-A231-880D7DD8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5C2FF-1664-4BD3-A907-4A7FE9A4A1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6A45FA-3C25-4818-B954-1B9AEC2F14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FCBD-E5EF-492B-A77B-D2C864C176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2F0064-702D-4A47-A986-262B732D1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07ECA-4B16-434B-8BA4-9199049D21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44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0C4C82-84C4-49BD-A9E1-84916FDE1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0FA0E-5B56-4C07-A681-0752B82DB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FD7667-57F9-4808-9303-9FC043E825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235C6-8057-4662-9820-BE134F1EEE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83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F4E0EC-03E4-4D74-AFE2-3F7024D37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237F7C-1943-43D1-8254-E4DF150A3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1DEA26-C8BA-4CD7-AD46-9DFDF14C5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A8673-48A6-428B-9FB4-34E6081460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6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921B-BDA3-405F-B742-63476F73C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EA8D1-48E7-49A4-8B2A-33CEAF052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80305-E554-4C2A-B448-74A392E816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55B611-606F-4EC7-942E-6645CE52FA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43D70-5E52-4E90-BD08-097B9FEDFB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95AA1-68FD-4519-A188-44610D5C4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AD311-5285-43CC-B1F4-07AE6C393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96B46-25A9-44CD-A3C4-3D9C18248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03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D250F6-1F6E-498B-9D85-78A2AEFE8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B6C1C9-CD5B-4842-94C1-515D5F9E6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DC53B-97C8-4321-AC8A-3FB5706F0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B609F-965E-4E35-9911-2E93A7E3E7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3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45F1E9-F9D8-4F70-938B-90EB95CAE7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3CF51-F035-41EC-90C9-829CB428D2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A16A6D-AD68-4F5C-BB75-642D8A353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565E6-1299-4A33-9142-DB7F853298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9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E813C-AD19-4C7B-A0C0-FB382D76F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E8BD29-20A0-4662-B4F2-FFC6411E2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2D23C2-829F-4051-9879-7557B87B34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AA6383-565C-4EF1-B4D4-485378673A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2C13DA-D9BC-431D-A8E6-ED6E57445E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0D13071-5AEA-4559-8FD8-A6116484958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FEA95F0F-DBF0-4612-96E0-1456097BA99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933668D-C906-41E2-A416-E4373FC187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99268" y="368660"/>
            <a:ext cx="8145463" cy="5339447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br>
              <a:rPr lang="en-US" altLang="zh-CN" dirty="0"/>
            </a:br>
            <a:br>
              <a:rPr lang="zh-CN" altLang="en-US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rgbClr val="FF0000"/>
                </a:solidFill>
              </a:rPr>
              <a:t>链接实验操作指导</a:t>
            </a:r>
            <a:br>
              <a:rPr lang="zh-CN" altLang="en-US" dirty="0">
                <a:solidFill>
                  <a:srgbClr val="FF0000"/>
                </a:solidFill>
              </a:rPr>
            </a:br>
            <a:br>
              <a:rPr lang="zh-CN" altLang="en-US" dirty="0"/>
            </a:br>
            <a:r>
              <a:rPr lang="zh-CN" altLang="en-US" dirty="0"/>
              <a:t> </a:t>
            </a:r>
            <a:endParaRPr lang="en-US" altLang="zh-CN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命令列表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2465238"/>
            <a:ext cx="3825165" cy="675267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altLang="zh-CN" sz="2800" dirty="0" err="1">
                <a:ea typeface="黑体" panose="02010609060101010101" pitchFamily="49" charset="-122"/>
              </a:rPr>
              <a:t>readelf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C525FB6-E168-039C-3F7C-EB13BB2B3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38" y="3185510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objdump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CD44E17-7C7B-EC75-2884-6F2E578C6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37" y="4733953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hexdump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5DF931-A647-08A2-E5E8-EBFD11495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05782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objcopy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B35DD-067F-58D0-4B19-E074A460E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36" y="859620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E4DD27-A3BC-1F8D-7F50-7D12C7290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605" y="1541743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gdb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EABC-BA00-8832-B5E8-B2F5A576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844C77A-24D8-530C-9BA4-9E3624F3E7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en-US" altLang="zh-CN" sz="3200" dirty="0" err="1"/>
              <a:t>gcc</a:t>
            </a:r>
            <a:r>
              <a:rPr lang="en-US" altLang="zh-CN" sz="3200" dirty="0"/>
              <a:t> </a:t>
            </a:r>
            <a:endParaRPr lang="zh-CN" altLang="en-US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E3B7DD-047F-08AE-BDDC-310C58FF851D}"/>
              </a:ext>
            </a:extLst>
          </p:cNvPr>
          <p:cNvSpPr txBox="1"/>
          <p:nvPr/>
        </p:nvSpPr>
        <p:spPr>
          <a:xfrm>
            <a:off x="457199" y="1358770"/>
            <a:ext cx="8390275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/>
              <a:t>gcc</a:t>
            </a:r>
            <a:r>
              <a:rPr lang="en-US" altLang="zh-CN" sz="2400" dirty="0"/>
              <a:t> -E </a:t>
            </a:r>
            <a:r>
              <a:rPr lang="en-US" altLang="zh-CN" sz="2400" dirty="0" err="1"/>
              <a:t>test.c</a:t>
            </a:r>
            <a:r>
              <a:rPr lang="en-US" altLang="zh-CN" sz="2400" dirty="0"/>
              <a:t> -o </a:t>
            </a:r>
            <a:r>
              <a:rPr lang="en-US" altLang="zh-CN" sz="2400" dirty="0" err="1"/>
              <a:t>test.i</a:t>
            </a:r>
            <a:r>
              <a:rPr lang="en-US" altLang="zh-CN" sz="2400" dirty="0"/>
              <a:t>   #</a:t>
            </a:r>
            <a:r>
              <a:rPr lang="zh-CN" altLang="en-US" sz="2400" dirty="0"/>
              <a:t>预处理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gcc</a:t>
            </a:r>
            <a:r>
              <a:rPr lang="en-US" altLang="zh-CN" sz="2400" dirty="0"/>
              <a:t> -S </a:t>
            </a:r>
            <a:r>
              <a:rPr lang="en-US" altLang="zh-CN" sz="2400" dirty="0" err="1"/>
              <a:t>test.i</a:t>
            </a:r>
            <a:r>
              <a:rPr lang="en-US" altLang="zh-CN" sz="2400" dirty="0"/>
              <a:t> -o </a:t>
            </a:r>
            <a:r>
              <a:rPr lang="en-US" altLang="zh-CN" sz="2400" dirty="0" err="1"/>
              <a:t>test.s</a:t>
            </a:r>
            <a:r>
              <a:rPr lang="en-US" altLang="zh-CN" sz="2400" dirty="0"/>
              <a:t>   #</a:t>
            </a:r>
            <a:r>
              <a:rPr lang="zh-CN" altLang="en-US" sz="2400" dirty="0"/>
              <a:t>编译汇编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pt-BR" altLang="zh-CN" sz="2400" dirty="0"/>
              <a:t>gcc -S -fverbose-asm test.c -o test.s   </a:t>
            </a:r>
            <a:r>
              <a:rPr lang="en-US" altLang="zh-CN" sz="2400" dirty="0"/>
              <a:t>#</a:t>
            </a:r>
            <a:r>
              <a:rPr lang="zh-CN" altLang="en-US" sz="2400" dirty="0"/>
              <a:t>编译汇编，含源码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gcc</a:t>
            </a:r>
            <a:r>
              <a:rPr lang="en-US" altLang="zh-CN" sz="2400" dirty="0"/>
              <a:t> -c –g</a:t>
            </a:r>
            <a:r>
              <a:rPr lang="zh-CN" altLang="en-US" sz="2400" dirty="0"/>
              <a:t> </a:t>
            </a:r>
            <a:r>
              <a:rPr lang="en-US" altLang="zh-CN" sz="2400" dirty="0" err="1"/>
              <a:t>test.c</a:t>
            </a:r>
            <a:r>
              <a:rPr lang="en-US" altLang="zh-CN" sz="2400" dirty="0"/>
              <a:t> -o </a:t>
            </a:r>
            <a:r>
              <a:rPr lang="en-US" altLang="zh-CN" sz="2400" dirty="0" err="1"/>
              <a:t>test.o</a:t>
            </a:r>
            <a:r>
              <a:rPr lang="en-US" altLang="zh-CN" sz="2400" dirty="0"/>
              <a:t>   #</a:t>
            </a:r>
            <a:r>
              <a:rPr lang="zh-CN" altLang="en-US" sz="2400" dirty="0"/>
              <a:t>生成可重定位的目标文件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gcc</a:t>
            </a:r>
            <a:r>
              <a:rPr lang="en-US" altLang="zh-CN" sz="2400" dirty="0"/>
              <a:t>  -g </a:t>
            </a:r>
            <a:r>
              <a:rPr lang="en-US" altLang="zh-CN" sz="2400" dirty="0" err="1"/>
              <a:t>test.c</a:t>
            </a:r>
            <a:r>
              <a:rPr lang="en-US" altLang="zh-CN" sz="2400" dirty="0"/>
              <a:t> -o  test   #</a:t>
            </a:r>
            <a:r>
              <a:rPr lang="zh-CN" altLang="en-US" sz="2400" dirty="0"/>
              <a:t>链接生成可执行文件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pt-BR" altLang="zh-CN" sz="2400" dirty="0"/>
              <a:t>gcc -g -D U1 main.c sub.c -o </a:t>
            </a:r>
            <a:r>
              <a:rPr lang="en-US" altLang="zh-CN" sz="2400" dirty="0" err="1"/>
              <a:t>main_sub</a:t>
            </a:r>
            <a:r>
              <a:rPr lang="pt-BR" altLang="zh-CN" sz="2400" dirty="0"/>
              <a:t> –static   </a:t>
            </a:r>
            <a:r>
              <a:rPr lang="zh-CN" altLang="en-US" sz="2400" dirty="0"/>
              <a:t>静态链接</a:t>
            </a:r>
          </a:p>
        </p:txBody>
      </p:sp>
    </p:spTree>
    <p:extLst>
      <p:ext uri="{BB962C8B-B14F-4D97-AF65-F5344CB8AC3E}">
        <p14:creationId xmlns:p14="http://schemas.microsoft.com/office/powerpoint/2010/main" val="97829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DAA8-F0B1-CD42-2BEA-747EA4323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49B74A-320E-E986-19B3-08161B09CF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D98D31-512B-C9FC-8A6F-FBB33640ED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3825165" cy="675267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altLang="zh-CN" sz="2800" dirty="0" err="1">
                <a:ea typeface="黑体" panose="02010609060101010101" pitchFamily="49" charset="-122"/>
              </a:rPr>
              <a:t>readelf</a:t>
            </a:r>
            <a:r>
              <a:rPr lang="en-US" altLang="zh-CN" sz="2800" dirty="0">
                <a:ea typeface="黑体" panose="02010609060101010101" pitchFamily="49" charset="-122"/>
              </a:rPr>
              <a:t>  --help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4B4EAA-880C-6832-73A8-3F7D2B0FDD93}"/>
              </a:ext>
            </a:extLst>
          </p:cNvPr>
          <p:cNvSpPr txBox="1"/>
          <p:nvPr/>
        </p:nvSpPr>
        <p:spPr>
          <a:xfrm>
            <a:off x="791580" y="1763815"/>
            <a:ext cx="780521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Usage: </a:t>
            </a:r>
            <a:r>
              <a:rPr lang="zh-CN" altLang="en-US" sz="2200" dirty="0">
                <a:solidFill>
                  <a:srgbClr val="FF0000"/>
                </a:solidFill>
              </a:rPr>
              <a:t>readelf  &lt;option(s)&gt;  elf-file(s)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en-US" altLang="zh-CN" sz="2200" dirty="0"/>
              <a:t> Options are:</a:t>
            </a:r>
          </a:p>
          <a:p>
            <a:r>
              <a:rPr lang="en-US" altLang="zh-CN" sz="2200" dirty="0"/>
              <a:t> -a --all                     Equivalent to: -h -l -S -s -r -d -V -A -I</a:t>
            </a:r>
          </a:p>
          <a:p>
            <a:r>
              <a:rPr lang="en-US" altLang="zh-CN" sz="2200" dirty="0"/>
              <a:t>  -h --file-header       Display the ELF file header</a:t>
            </a:r>
          </a:p>
          <a:p>
            <a:r>
              <a:rPr lang="en-US" altLang="zh-CN" sz="2200" dirty="0"/>
              <a:t>  -l --program-headers   Display the program headers</a:t>
            </a:r>
          </a:p>
          <a:p>
            <a:r>
              <a:rPr lang="en-US" altLang="zh-CN" sz="2200" dirty="0"/>
              <a:t>      --segments            An alias for --program-headers</a:t>
            </a:r>
          </a:p>
          <a:p>
            <a:r>
              <a:rPr lang="en-US" altLang="zh-CN" sz="2200" dirty="0"/>
              <a:t>  -S --section-headers  Display the sections' header</a:t>
            </a:r>
          </a:p>
          <a:p>
            <a:r>
              <a:rPr lang="en-US" altLang="zh-CN" sz="2200" dirty="0"/>
              <a:t>       --sections              An alias for --section-headers</a:t>
            </a:r>
          </a:p>
          <a:p>
            <a:r>
              <a:rPr lang="en-US" altLang="zh-CN" sz="2200" dirty="0"/>
              <a:t>  -g --section-groups    Display the section groups</a:t>
            </a:r>
          </a:p>
          <a:p>
            <a:r>
              <a:rPr lang="en-US" altLang="zh-CN" sz="2200" dirty="0"/>
              <a:t>  -t --section-details      Display the section details</a:t>
            </a:r>
          </a:p>
          <a:p>
            <a:r>
              <a:rPr lang="en-US" altLang="zh-CN" sz="2200" dirty="0"/>
              <a:t>  -e --headers               Equivalent to: -h -l -S</a:t>
            </a:r>
          </a:p>
          <a:p>
            <a:r>
              <a:rPr lang="en-US" altLang="zh-CN" sz="2200" dirty="0"/>
              <a:t>  -s --</a:t>
            </a:r>
            <a:r>
              <a:rPr lang="en-US" altLang="zh-CN" sz="2200" dirty="0" err="1"/>
              <a:t>syms</a:t>
            </a:r>
            <a:r>
              <a:rPr lang="en-US" altLang="zh-CN" sz="2200" dirty="0"/>
              <a:t>                    Display the symbol table</a:t>
            </a:r>
          </a:p>
          <a:p>
            <a:r>
              <a:rPr lang="en-US" altLang="zh-CN" sz="2200" dirty="0"/>
              <a:t>      --symbols                   An alias for --</a:t>
            </a:r>
            <a:r>
              <a:rPr lang="en-US" altLang="zh-CN" sz="2200" dirty="0" err="1"/>
              <a:t>syms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5306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BC5B0-0482-A764-037D-BEB24E5AA869}"/>
              </a:ext>
            </a:extLst>
          </p:cNvPr>
          <p:cNvSpPr txBox="1"/>
          <p:nvPr/>
        </p:nvSpPr>
        <p:spPr>
          <a:xfrm>
            <a:off x="206515" y="908720"/>
            <a:ext cx="855095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 --</a:t>
            </a:r>
            <a:r>
              <a:rPr lang="en-US" altLang="zh-CN" sz="2000" dirty="0" err="1">
                <a:latin typeface="+mn-ea"/>
                <a:ea typeface="+mn-ea"/>
              </a:rPr>
              <a:t>dyn-syms</a:t>
            </a:r>
            <a:r>
              <a:rPr lang="en-US" altLang="zh-CN" sz="2000" dirty="0">
                <a:latin typeface="+mn-ea"/>
                <a:ea typeface="+mn-ea"/>
              </a:rPr>
              <a:t>        Display the dynamic symbol table</a:t>
            </a:r>
          </a:p>
          <a:p>
            <a:r>
              <a:rPr lang="en-US" altLang="zh-CN" sz="2000" dirty="0">
                <a:latin typeface="+mn-ea"/>
                <a:ea typeface="+mn-ea"/>
              </a:rPr>
              <a:t> -n --notes        Display the core notes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-r --</a:t>
            </a:r>
            <a:r>
              <a:rPr lang="en-US" altLang="zh-CN" sz="2000" dirty="0" err="1">
                <a:latin typeface="+mn-ea"/>
                <a:ea typeface="+mn-ea"/>
              </a:rPr>
              <a:t>relocs</a:t>
            </a:r>
            <a:r>
              <a:rPr lang="en-US" altLang="zh-CN" sz="2000" dirty="0">
                <a:latin typeface="+mn-ea"/>
                <a:ea typeface="+mn-ea"/>
              </a:rPr>
              <a:t>       Display the relocations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-u --unwind       Display the unwind info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-d --dynamic      Display the dynamic section (if present)</a:t>
            </a:r>
          </a:p>
          <a:p>
            <a:r>
              <a:rPr lang="en-US" altLang="zh-CN" sz="2000" dirty="0">
                <a:latin typeface="+mn-ea"/>
                <a:ea typeface="+mn-ea"/>
              </a:rPr>
              <a:t> -V --version-info Display the version sections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-A --arch-specific  Display architecture specific information </a:t>
            </a:r>
          </a:p>
          <a:p>
            <a:r>
              <a:rPr lang="en-US" altLang="zh-CN" sz="2000" dirty="0">
                <a:latin typeface="+mn-ea"/>
                <a:ea typeface="+mn-ea"/>
              </a:rPr>
              <a:t> -c --archive-index  Display the symbol/file index in an archive</a:t>
            </a:r>
          </a:p>
          <a:p>
            <a:r>
              <a:rPr lang="en-US" altLang="zh-CN" sz="2000" dirty="0">
                <a:latin typeface="+mn-ea"/>
                <a:ea typeface="+mn-ea"/>
              </a:rPr>
              <a:t> -D --use-dynamic    Use the dynamic section info 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          when displaying symbols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-x --hex-dump=&lt;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the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bytes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-p --string-dump=&lt;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the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strings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-R --relocated-dump=&lt;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Dump contents of section &lt;</a:t>
            </a:r>
            <a:r>
              <a:rPr lang="en-US" altLang="zh-CN" sz="2000" dirty="0" err="1">
                <a:latin typeface="+mn-ea"/>
                <a:ea typeface="+mn-ea"/>
              </a:rPr>
              <a:t>number|name</a:t>
            </a:r>
            <a:r>
              <a:rPr lang="en-US" altLang="zh-CN" sz="2000" dirty="0">
                <a:latin typeface="+mn-ea"/>
                <a:ea typeface="+mn-ea"/>
              </a:rPr>
              <a:t>&gt; as relocated bytes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-z --decompress        </a:t>
            </a:r>
            <a:r>
              <a:rPr lang="en-US" altLang="zh-CN" sz="2000" dirty="0" err="1">
                <a:latin typeface="+mn-ea"/>
                <a:ea typeface="+mn-ea"/>
              </a:rPr>
              <a:t>Decompress</a:t>
            </a:r>
            <a:r>
              <a:rPr lang="en-US" altLang="zh-CN" sz="2000" dirty="0">
                <a:latin typeface="+mn-ea"/>
                <a:ea typeface="+mn-ea"/>
              </a:rPr>
              <a:t> section before dumping it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906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BC5B0-0482-A764-037D-BEB24E5AA869}"/>
              </a:ext>
            </a:extLst>
          </p:cNvPr>
          <p:cNvSpPr txBox="1"/>
          <p:nvPr/>
        </p:nvSpPr>
        <p:spPr>
          <a:xfrm>
            <a:off x="206515" y="908720"/>
            <a:ext cx="85509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 -w[</a:t>
            </a:r>
            <a:r>
              <a:rPr lang="en-US" altLang="zh-CN" sz="2000" dirty="0" err="1">
                <a:latin typeface="+mn-ea"/>
                <a:ea typeface="+mn-ea"/>
              </a:rPr>
              <a:t>lLiaprmfFsoRtUuTgAckK</a:t>
            </a:r>
            <a:r>
              <a:rPr lang="en-US" altLang="zh-CN" sz="2000" dirty="0">
                <a:latin typeface="+mn-ea"/>
                <a:ea typeface="+mn-ea"/>
              </a:rPr>
              <a:t>] or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</a:t>
            </a:r>
            <a:r>
              <a:rPr lang="en-US" altLang="zh-CN" sz="2000" dirty="0" err="1">
                <a:latin typeface="+mn-ea"/>
                <a:ea typeface="+mn-ea"/>
              </a:rPr>
              <a:t>debugdump</a:t>
            </a:r>
            <a:r>
              <a:rPr lang="en-US" altLang="zh-CN" sz="2000" dirty="0">
                <a:latin typeface="+mn-ea"/>
                <a:ea typeface="+mn-ea"/>
              </a:rPr>
              <a:t>[=</a:t>
            </a:r>
            <a:r>
              <a:rPr lang="en-US" altLang="zh-CN" sz="2000" dirty="0" err="1">
                <a:latin typeface="+mn-ea"/>
                <a:ea typeface="+mn-ea"/>
              </a:rPr>
              <a:t>rawline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decodedline</a:t>
            </a:r>
            <a:r>
              <a:rPr lang="en-US" altLang="zh-CN" sz="2000" dirty="0">
                <a:latin typeface="+mn-ea"/>
                <a:ea typeface="+mn-ea"/>
              </a:rPr>
              <a:t>,=info,=abbrev,=</a:t>
            </a:r>
            <a:r>
              <a:rPr lang="en-US" altLang="zh-CN" sz="2000" dirty="0" err="1">
                <a:latin typeface="+mn-ea"/>
                <a:ea typeface="+mn-ea"/>
              </a:rPr>
              <a:t>pubnames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aranges</a:t>
            </a:r>
            <a:r>
              <a:rPr lang="en-US" altLang="zh-CN" sz="2000" dirty="0">
                <a:latin typeface="+mn-ea"/>
                <a:ea typeface="+mn-ea"/>
              </a:rPr>
              <a:t>,=macro,=frames,=</a:t>
            </a:r>
            <a:r>
              <a:rPr lang="en-US" altLang="zh-CN" sz="2000" dirty="0" err="1">
                <a:latin typeface="+mn-ea"/>
                <a:ea typeface="+mn-ea"/>
              </a:rPr>
              <a:t>framesinterp</a:t>
            </a:r>
            <a:r>
              <a:rPr lang="en-US" altLang="zh-CN" sz="2000" dirty="0">
                <a:latin typeface="+mn-ea"/>
                <a:ea typeface="+mn-ea"/>
              </a:rPr>
              <a:t>,=str,=loc,=Ranges,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pubtypes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gdb_index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trace_info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trace_abbrev</a:t>
            </a:r>
            <a:r>
              <a:rPr lang="en-US" altLang="zh-CN" sz="2000" dirty="0">
                <a:latin typeface="+mn-ea"/>
                <a:ea typeface="+mn-ea"/>
              </a:rPr>
              <a:t>,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=</a:t>
            </a:r>
            <a:r>
              <a:rPr lang="en-US" altLang="zh-CN" sz="2000" dirty="0" err="1">
                <a:latin typeface="+mn-ea"/>
                <a:ea typeface="+mn-ea"/>
              </a:rPr>
              <a:t>trace_aranges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addr</a:t>
            </a:r>
            <a:r>
              <a:rPr lang="en-US" altLang="zh-CN" sz="2000" dirty="0">
                <a:latin typeface="+mn-ea"/>
                <a:ea typeface="+mn-ea"/>
              </a:rPr>
              <a:t>,=</a:t>
            </a:r>
            <a:r>
              <a:rPr lang="en-US" altLang="zh-CN" sz="2000" dirty="0" err="1">
                <a:latin typeface="+mn-ea"/>
                <a:ea typeface="+mn-ea"/>
              </a:rPr>
              <a:t>cu_index</a:t>
            </a:r>
            <a:r>
              <a:rPr lang="en-US" altLang="zh-CN" sz="2000" dirty="0">
                <a:latin typeface="+mn-ea"/>
                <a:ea typeface="+mn-ea"/>
              </a:rPr>
              <a:t>,=links,=follow-links]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Display the contents of DWARF debug sections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--dwarf-depth=N    Do not display DIEs at depth N or greater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--dwarf-start=N    Display DIEs starting with N, at the same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              depth or deeper</a:t>
            </a:r>
          </a:p>
          <a:p>
            <a:r>
              <a:rPr lang="en-US" altLang="zh-CN" sz="2000" dirty="0">
                <a:latin typeface="+mn-ea"/>
                <a:ea typeface="+mn-ea"/>
              </a:rPr>
              <a:t> -I --histogram   Display histogram of bucket list lengths</a:t>
            </a:r>
          </a:p>
          <a:p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</a:rPr>
              <a:t>-W </a:t>
            </a:r>
            <a:r>
              <a:rPr lang="en-US" altLang="zh-CN" sz="2000" dirty="0">
                <a:latin typeface="+mn-ea"/>
                <a:ea typeface="+mn-ea"/>
              </a:rPr>
              <a:t>--wide        Allow output width to exceed 80 characters</a:t>
            </a:r>
          </a:p>
          <a:p>
            <a:r>
              <a:rPr lang="en-US" altLang="zh-CN" sz="2000" dirty="0">
                <a:latin typeface="+mn-ea"/>
                <a:ea typeface="+mn-ea"/>
              </a:rPr>
              <a:t> @&lt;file&gt;          Read options from &lt;file&gt;</a:t>
            </a:r>
          </a:p>
          <a:p>
            <a:r>
              <a:rPr lang="en-US" altLang="zh-CN" sz="2000" dirty="0">
                <a:latin typeface="+mn-ea"/>
                <a:ea typeface="+mn-ea"/>
              </a:rPr>
              <a:t> -H --help        Display this information</a:t>
            </a:r>
          </a:p>
          <a:p>
            <a:r>
              <a:rPr lang="en-US" altLang="zh-CN" sz="2000" dirty="0">
                <a:latin typeface="+mn-ea"/>
                <a:ea typeface="+mn-ea"/>
              </a:rPr>
              <a:t> -v --version     Display the version number of </a:t>
            </a:r>
            <a:r>
              <a:rPr lang="en-US" altLang="zh-CN" sz="2000" dirty="0" err="1">
                <a:latin typeface="+mn-ea"/>
                <a:ea typeface="+mn-ea"/>
              </a:rPr>
              <a:t>readelf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839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可重定位目标文件的数据结构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96" y="908719"/>
            <a:ext cx="7636994" cy="463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黑体" panose="02010609060101010101" pitchFamily="49" charset="-122"/>
              </a:rPr>
              <a:t>可重定位目标文件的组成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/</a:t>
            </a:r>
            <a:r>
              <a:rPr lang="en-US" altLang="zh-CN" kern="0" dirty="0" err="1">
                <a:ea typeface="黑体" panose="02010609060101010101" pitchFamily="49" charset="-122"/>
              </a:rPr>
              <a:t>usr</a:t>
            </a:r>
            <a:r>
              <a:rPr lang="en-US" altLang="zh-CN" kern="0" dirty="0">
                <a:ea typeface="黑体" panose="02010609060101010101" pitchFamily="49" charset="-122"/>
              </a:rPr>
              <a:t>/include/</a:t>
            </a:r>
            <a:r>
              <a:rPr lang="en-US" altLang="zh-CN" kern="0" dirty="0" err="1">
                <a:ea typeface="黑体" panose="02010609060101010101" pitchFamily="49" charset="-122"/>
              </a:rPr>
              <a:t>elf.h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文件头  ：</a:t>
            </a:r>
            <a:r>
              <a:rPr lang="en-US" altLang="zh-CN" kern="0" dirty="0">
                <a:ea typeface="黑体" panose="02010609060101010101" pitchFamily="49" charset="-122"/>
              </a:rPr>
              <a:t>ELF </a:t>
            </a:r>
            <a:r>
              <a:rPr lang="zh-CN" altLang="en-US" kern="0" dirty="0">
                <a:ea typeface="黑体" panose="02010609060101010101" pitchFamily="49" charset="-122"/>
              </a:rPr>
              <a:t>头    参见结构  ：</a:t>
            </a:r>
            <a:r>
              <a:rPr lang="zh-CN" altLang="en-US" dirty="0"/>
              <a:t>Elf64_Ehdr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节   表   ：对各个节描述，由描述项形成的表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kern="0" dirty="0">
                <a:ea typeface="黑体" panose="02010609060101010101" pitchFamily="49" charset="-122"/>
              </a:rPr>
              <a:t>                                    参见结构  ： </a:t>
            </a:r>
            <a:r>
              <a:rPr lang="en-US" altLang="zh-CN" kern="0" dirty="0">
                <a:ea typeface="黑体" panose="02010609060101010101" pitchFamily="49" charset="-122"/>
              </a:rPr>
              <a:t>Elf64_Shdr 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kern="0" dirty="0">
                <a:ea typeface="黑体" panose="02010609060101010101" pitchFamily="49" charset="-122"/>
              </a:rPr>
              <a:t>节          ：节内的具体信息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endParaRPr lang="en-US" altLang="zh-CN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99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显示文件头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7839"/>
            <a:ext cx="8075240" cy="87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struct :  </a:t>
            </a:r>
            <a:r>
              <a:rPr lang="zh-CN" altLang="en-US" dirty="0">
                <a:solidFill>
                  <a:srgbClr val="FF0000"/>
                </a:solidFill>
              </a:rPr>
              <a:t>Elf64_Ehdr</a:t>
            </a:r>
            <a:endParaRPr lang="en-US" altLang="zh-CN" kern="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#readelf  -h  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r>
              <a:rPr lang="en-US" altLang="zh-CN" kern="0" dirty="0">
                <a:ea typeface="黑体" panose="02010609060101010101" pitchFamily="49" charset="-122"/>
              </a:rPr>
              <a:t>        #readelf  --file-header  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endParaRPr lang="en-US" altLang="zh-CN" kern="0" dirty="0"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DDB992-4830-DAF0-B19D-17F77725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93" y="1726239"/>
            <a:ext cx="7791475" cy="490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75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DB5D-0C86-76BD-8D5C-D8C7D070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F1E9E28-A04E-8361-B0EF-ED695610B8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显示文件头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9FC596A-7496-3569-3CDD-3436E4BD9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2222"/>
              </p:ext>
            </p:extLst>
          </p:nvPr>
        </p:nvGraphicFramePr>
        <p:xfrm>
          <a:off x="296526" y="683695"/>
          <a:ext cx="8550949" cy="5973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16">
                  <a:extLst>
                    <a:ext uri="{9D8B030D-6E8A-4147-A177-3AD203B41FA5}">
                      <a16:colId xmlns:a16="http://schemas.microsoft.com/office/drawing/2014/main" val="4061713718"/>
                    </a:ext>
                  </a:extLst>
                </a:gridCol>
                <a:gridCol w="1965218">
                  <a:extLst>
                    <a:ext uri="{9D8B030D-6E8A-4147-A177-3AD203B41FA5}">
                      <a16:colId xmlns:a16="http://schemas.microsoft.com/office/drawing/2014/main" val="1935612286"/>
                    </a:ext>
                  </a:extLst>
                </a:gridCol>
                <a:gridCol w="3735415">
                  <a:extLst>
                    <a:ext uri="{9D8B030D-6E8A-4147-A177-3AD203B41FA5}">
                      <a16:colId xmlns:a16="http://schemas.microsoft.com/office/drawing/2014/main" val="2910699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buNone/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readelf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-h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显示文字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Elf64_Ehdr 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94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Magic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e_ident[16]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标识字节，包含魔数、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64/32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位、大小端、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ABI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212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e_type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文件类型（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REL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可重定位、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EXEC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可执行、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DYN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动态库）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35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Machine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e_machine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目标架构（</a:t>
                      </a: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x86-64、ARM、RISC-V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63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e_version</a:t>
                      </a:r>
                      <a:endParaRPr lang="en-US" sz="16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 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版本号，通常为 </a:t>
                      </a:r>
                      <a: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495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Entry point 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e_entry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程序入口虚拟地址（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.o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文件一般为 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0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2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Start of program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e_phoff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程序头表在文件中的偏移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62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Start of section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e_shoff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节头表在文件中的偏移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694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Flags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e_flags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处理器相关标志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51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Size of this 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e_ehsize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文件头自身大小（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64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位 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固定 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64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字节）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07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Size of program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e_phentsize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单个程序头表项的大小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3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Number of program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e_phnum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程序头表项总数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57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Size of section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e_shentsize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单个节头表项的大小（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64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位通常 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64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字节）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74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Number of section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e_shnum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节头表项总数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64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Section header string table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e_shstrndx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节名所在字符串表的节索引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062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6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0"/>
            <a:ext cx="7901160" cy="1845205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--section-headers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--sections  </a:t>
            </a:r>
            <a:r>
              <a:rPr lang="en-US" altLang="zh-CN" dirty="0" err="1"/>
              <a:t>test.o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-S  -W </a:t>
            </a:r>
            <a:r>
              <a:rPr lang="en-US" altLang="zh-CN" dirty="0" err="1"/>
              <a:t>test.o</a:t>
            </a:r>
            <a:r>
              <a:rPr lang="en-US" altLang="zh-CN" dirty="0"/>
              <a:t>  </a:t>
            </a:r>
            <a:r>
              <a:rPr lang="zh-CN" altLang="en-US" dirty="0"/>
              <a:t>以宽行的形式显示节头信息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ea typeface="黑体" panose="02010609060101010101" pitchFamily="49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731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节头表数据结构            </a:t>
            </a:r>
            <a:r>
              <a:rPr lang="zh-CN" altLang="en-US" sz="2400" dirty="0"/>
              <a:t>Elf64_Shdr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/>
              <a:t>显示节头表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B39489-303C-003B-EF70-E195A31A2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5" y="3201810"/>
            <a:ext cx="8730970" cy="233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4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/>
              <a:t>显示节头表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3855D3F-6B10-2B5A-FDE6-4C1F6A3BE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149246"/>
              </p:ext>
            </p:extLst>
          </p:nvPr>
        </p:nvGraphicFramePr>
        <p:xfrm>
          <a:off x="566554" y="818710"/>
          <a:ext cx="8120245" cy="569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098">
                  <a:extLst>
                    <a:ext uri="{9D8B030D-6E8A-4147-A177-3AD203B41FA5}">
                      <a16:colId xmlns:a16="http://schemas.microsoft.com/office/drawing/2014/main" val="3643130988"/>
                    </a:ext>
                  </a:extLst>
                </a:gridCol>
                <a:gridCol w="2354391">
                  <a:extLst>
                    <a:ext uri="{9D8B030D-6E8A-4147-A177-3AD203B41FA5}">
                      <a16:colId xmlns:a16="http://schemas.microsoft.com/office/drawing/2014/main" val="1895859484"/>
                    </a:ext>
                  </a:extLst>
                </a:gridCol>
                <a:gridCol w="3699756">
                  <a:extLst>
                    <a:ext uri="{9D8B030D-6E8A-4147-A177-3AD203B41FA5}">
                      <a16:colId xmlns:a16="http://schemas.microsoft.com/office/drawing/2014/main" val="3013396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adelf -S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显示列名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Elf64_Shdr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Nr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(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索引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节的编号（非结构体字段，是顺序位置）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655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Name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sh_name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节名（在节名字符串表中的偏移）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53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Type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sh_type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节类型（如：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PROGBITS, STRTAB, SYMTAB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228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Address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sh_addr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加载到内存时的虚拟地址（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.o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文件通常为 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0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00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Off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sh_offset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本节在文件中的字节偏移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（定位数据的关键）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54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Size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sh_size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本节在文件 </a:t>
                      </a:r>
                      <a:r>
                        <a:rPr lang="en-US" altLang="zh-CN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/ </a:t>
                      </a: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内存中的大小</a:t>
                      </a:r>
                      <a:endParaRPr lang="zh-CN" altLang="en-US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144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ES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sh_entsize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表项大小（若节是表结构，如符号表每个条目大小）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91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Flg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sh_flags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节标志（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W =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可写，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 =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可加载，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X =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可执行）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02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Lk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sh_link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节链接信息（依赖的其他节索引）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82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Inf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sh_info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附加信息（根据节类型不同而变化）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86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Al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sh_addralign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地址对齐要求（如 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4, 8, 16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字节对齐）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23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37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1"/>
            <a:ext cx="5130570" cy="561976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-x  .text  </a:t>
            </a:r>
            <a:r>
              <a:rPr lang="en-US" altLang="zh-CN" dirty="0" err="1"/>
              <a:t>test.o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显示代码节中的内容       以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16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进制字节形式显示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9C7788-E333-9B8B-1111-A4036B9F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2" y="1898830"/>
            <a:ext cx="8877756" cy="345457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0AC1E7A-6AD3-4EF3-4309-FA08096178A1}"/>
              </a:ext>
            </a:extLst>
          </p:cNvPr>
          <p:cNvSpPr txBox="1"/>
          <p:nvPr/>
        </p:nvSpPr>
        <p:spPr>
          <a:xfrm>
            <a:off x="701569" y="5548895"/>
            <a:ext cx="7515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2400" b="1" dirty="0">
                <a:latin typeface="+mn-lt"/>
                <a:ea typeface="+mn-ea"/>
              </a:rPr>
              <a:t># readelf -x 1 test.o           </a:t>
            </a:r>
            <a:r>
              <a:rPr lang="en-US" altLang="zh-CN" sz="2400" b="1" dirty="0">
                <a:latin typeface="+mn-lt"/>
                <a:ea typeface="+mn-ea"/>
              </a:rPr>
              <a:t>.text </a:t>
            </a:r>
            <a:r>
              <a:rPr lang="zh-CN" altLang="en-US" sz="2400" b="1" dirty="0">
                <a:latin typeface="+mn-lt"/>
                <a:ea typeface="+mn-ea"/>
              </a:rPr>
              <a:t>节的编号为 </a:t>
            </a:r>
            <a:r>
              <a:rPr lang="en-US" altLang="zh-CN" sz="2400" b="1" dirty="0">
                <a:latin typeface="+mn-lt"/>
                <a:ea typeface="+mn-ea"/>
              </a:rPr>
              <a:t>1</a:t>
            </a:r>
            <a:endParaRPr lang="zh-CN" altLang="en-US" sz="2400" b="1" dirty="0">
              <a:latin typeface="+mn-lt"/>
              <a:ea typeface="+mn-ea"/>
            </a:endParaRPr>
          </a:p>
          <a:p>
            <a:r>
              <a:rPr lang="zh-CN" altLang="en-US" sz="2400" b="1" dirty="0">
                <a:latin typeface="+mn-lt"/>
                <a:ea typeface="+mn-ea"/>
              </a:rPr>
              <a:t>    Hex dump of section '.text‘: </a:t>
            </a:r>
            <a:endParaRPr lang="en-US" altLang="zh-CN" sz="2400" b="1" dirty="0">
              <a:latin typeface="+mn-lt"/>
              <a:ea typeface="+mn-ea"/>
            </a:endParaRPr>
          </a:p>
          <a:p>
            <a:r>
              <a:rPr lang="en-US" altLang="zh-CN" sz="2400" b="1" dirty="0">
                <a:latin typeface="+mn-lt"/>
                <a:ea typeface="+mn-ea"/>
              </a:rPr>
              <a:t>    ………</a:t>
            </a:r>
            <a:endParaRPr lang="zh-CN" altLang="en-US" sz="2400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1434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DBA1-343C-1B6B-E30C-839BB4D8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0019A85-4A23-77B0-DE78-BD22434B086B}"/>
              </a:ext>
            </a:extLst>
          </p:cNvPr>
          <p:cNvSpPr txBox="1"/>
          <p:nvPr/>
        </p:nvSpPr>
        <p:spPr>
          <a:xfrm>
            <a:off x="631279" y="71708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显示代码节中的内容       以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16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进制字节形式显示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80D4965-BF83-8FB6-7EDB-AA16D6AB6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DFB35E-CC92-2168-DC56-F6622946FBC6}"/>
              </a:ext>
            </a:extLst>
          </p:cNvPr>
          <p:cNvSpPr txBox="1"/>
          <p:nvPr/>
        </p:nvSpPr>
        <p:spPr>
          <a:xfrm>
            <a:off x="544239" y="1583795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2400" b="1" dirty="0">
                <a:latin typeface="+mn-lt"/>
                <a:ea typeface="+mn-ea"/>
              </a:rPr>
              <a:t># </a:t>
            </a:r>
            <a:r>
              <a:rPr lang="en-US" altLang="zh-CN" sz="2400" b="1" dirty="0" err="1">
                <a:latin typeface="+mn-lt"/>
                <a:ea typeface="+mn-ea"/>
              </a:rPr>
              <a:t>objcopy</a:t>
            </a:r>
            <a:r>
              <a:rPr lang="en-US" altLang="zh-CN" sz="2400" b="1" dirty="0">
                <a:latin typeface="+mn-lt"/>
                <a:ea typeface="+mn-ea"/>
              </a:rPr>
              <a:t> -O binary --only-section=.text  </a:t>
            </a:r>
            <a:r>
              <a:rPr lang="en-US" altLang="zh-CN" sz="2400" b="1" dirty="0" err="1">
                <a:latin typeface="+mn-lt"/>
                <a:ea typeface="+mn-ea"/>
              </a:rPr>
              <a:t>test.o</a:t>
            </a:r>
            <a:r>
              <a:rPr lang="en-US" altLang="zh-CN" sz="2400" b="1" dirty="0">
                <a:latin typeface="+mn-lt"/>
                <a:ea typeface="+mn-ea"/>
              </a:rPr>
              <a:t> /dev/</a:t>
            </a:r>
            <a:r>
              <a:rPr lang="en-US" altLang="zh-CN" sz="2400" b="1" dirty="0" err="1">
                <a:latin typeface="+mn-lt"/>
                <a:ea typeface="+mn-ea"/>
              </a:rPr>
              <a:t>stdout</a:t>
            </a:r>
            <a:r>
              <a:rPr lang="en-US" altLang="zh-CN" sz="2400" b="1" dirty="0">
                <a:latin typeface="+mn-lt"/>
                <a:ea typeface="+mn-ea"/>
              </a:rPr>
              <a:t> | </a:t>
            </a:r>
            <a:r>
              <a:rPr lang="en-US" altLang="zh-CN" sz="2400" b="1" dirty="0" err="1">
                <a:latin typeface="+mn-lt"/>
                <a:ea typeface="+mn-ea"/>
              </a:rPr>
              <a:t>hexdump</a:t>
            </a:r>
            <a:r>
              <a:rPr lang="en-US" altLang="zh-CN" sz="2400" b="1" dirty="0">
                <a:latin typeface="+mn-lt"/>
                <a:ea typeface="+mn-ea"/>
              </a:rPr>
              <a:t> -C</a:t>
            </a:r>
            <a:endParaRPr lang="zh-CN" altLang="en-US" sz="2400" b="1" dirty="0">
              <a:latin typeface="+mn-lt"/>
              <a:ea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B26D52-C8AD-BA03-3820-0B675C51AA46}"/>
              </a:ext>
            </a:extLst>
          </p:cNvPr>
          <p:cNvSpPr txBox="1"/>
          <p:nvPr/>
        </p:nvSpPr>
        <p:spPr>
          <a:xfrm>
            <a:off x="544239" y="3158970"/>
            <a:ext cx="3757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2400" b="1" dirty="0">
                <a:latin typeface="+mn-lt"/>
                <a:ea typeface="+mn-ea"/>
              </a:rPr>
              <a:t># </a:t>
            </a:r>
            <a:r>
              <a:rPr lang="en-US" altLang="zh-CN" sz="2400" b="1" dirty="0" err="1">
                <a:latin typeface="+mn-lt"/>
                <a:ea typeface="+mn-ea"/>
              </a:rPr>
              <a:t>objdump</a:t>
            </a:r>
            <a:r>
              <a:rPr lang="en-US" altLang="zh-CN" sz="2400" b="1" dirty="0">
                <a:latin typeface="+mn-lt"/>
                <a:ea typeface="+mn-ea"/>
              </a:rPr>
              <a:t> –d </a:t>
            </a:r>
            <a:r>
              <a:rPr lang="en-US" altLang="zh-CN" sz="2400" b="1" dirty="0" err="1">
                <a:latin typeface="+mn-lt"/>
                <a:ea typeface="+mn-ea"/>
              </a:rPr>
              <a:t>test.o</a:t>
            </a:r>
            <a:endParaRPr lang="zh-CN" altLang="en-US" sz="2400" b="1" dirty="0">
              <a:latin typeface="+mn-lt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E1DA4-2D58-B70E-6A3A-979E93AF8E5F}"/>
              </a:ext>
            </a:extLst>
          </p:cNvPr>
          <p:cNvSpPr txBox="1"/>
          <p:nvPr/>
        </p:nvSpPr>
        <p:spPr>
          <a:xfrm>
            <a:off x="551376" y="4284095"/>
            <a:ext cx="4695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latin typeface="+mn-lt"/>
                <a:ea typeface="黑体" panose="02010609060101010101" pitchFamily="49" charset="-122"/>
              </a:rPr>
              <a:t>请比较两个命令执行结果</a:t>
            </a:r>
          </a:p>
        </p:txBody>
      </p:sp>
    </p:spTree>
    <p:extLst>
      <p:ext uri="{BB962C8B-B14F-4D97-AF65-F5344CB8AC3E}">
        <p14:creationId xmlns:p14="http://schemas.microsoft.com/office/powerpoint/2010/main" val="13420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178751"/>
            <a:ext cx="5130570" cy="561976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readelf</a:t>
            </a:r>
            <a:r>
              <a:rPr lang="en-US" altLang="zh-CN" dirty="0"/>
              <a:t>  -x  .data  </a:t>
            </a:r>
            <a:r>
              <a:rPr lang="en-US" altLang="zh-CN" dirty="0" err="1"/>
              <a:t>test.o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31279" y="71708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显示数据节中的内容       以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16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进制字节形式显示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CDA02A-A426-7D1F-414C-FD4A6AA6F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0" y="1760995"/>
            <a:ext cx="8230023" cy="13018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6463AD-6F7E-A816-622C-6512E405D9BD}"/>
              </a:ext>
            </a:extLst>
          </p:cNvPr>
          <p:cNvSpPr txBox="1"/>
          <p:nvPr/>
        </p:nvSpPr>
        <p:spPr>
          <a:xfrm>
            <a:off x="631279" y="3356891"/>
            <a:ext cx="7220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说明：程序中有三个全局变量，但只有 </a:t>
            </a:r>
            <a:r>
              <a:rPr lang="en-US" altLang="zh-CN" sz="2200" dirty="0"/>
              <a:t>2</a:t>
            </a:r>
            <a:r>
              <a:rPr lang="zh-CN" altLang="en-US" sz="2200" dirty="0"/>
              <a:t>个初始化了。</a:t>
            </a:r>
            <a:endParaRPr lang="en-US" altLang="zh-CN" sz="2200" dirty="0"/>
          </a:p>
          <a:p>
            <a:r>
              <a:rPr lang="zh-CN" altLang="en-US" sz="2200" dirty="0"/>
              <a:t>int gx=20;</a:t>
            </a:r>
          </a:p>
          <a:p>
            <a:r>
              <a:rPr lang="zh-CN" altLang="en-US" sz="2200" dirty="0"/>
              <a:t>int gy;</a:t>
            </a:r>
          </a:p>
          <a:p>
            <a:r>
              <a:rPr lang="zh-CN" altLang="en-US" sz="2200" dirty="0"/>
              <a:t>int gz=30</a:t>
            </a:r>
            <a:r>
              <a:rPr lang="zh-CN" altLang="en-US" dirty="0"/>
              <a:t>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6D3816-7395-2C4F-14E3-ECC37D9F5D5C}"/>
              </a:ext>
            </a:extLst>
          </p:cNvPr>
          <p:cNvSpPr txBox="1"/>
          <p:nvPr/>
        </p:nvSpPr>
        <p:spPr>
          <a:xfrm>
            <a:off x="611560" y="4935443"/>
            <a:ext cx="76958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逐字节显示（字节与字节之间有空格）</a:t>
            </a:r>
            <a:br>
              <a:rPr lang="en-US" altLang="zh-CN" sz="2400" dirty="0">
                <a:solidFill>
                  <a:srgbClr val="FF0000"/>
                </a:solidFill>
              </a:rPr>
            </a:br>
            <a:r>
              <a:rPr lang="en-US" altLang="zh-CN" dirty="0" err="1">
                <a:solidFill>
                  <a:srgbClr val="FF0000"/>
                </a:solidFill>
              </a:rPr>
              <a:t>objcopy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ui-sans-serif"/>
              </a:rPr>
              <a:t>-O</a:t>
            </a:r>
            <a:r>
              <a:rPr lang="en-US" altLang="zh-CN" dirty="0">
                <a:solidFill>
                  <a:srgbClr val="FF0000"/>
                </a:solidFill>
              </a:rPr>
              <a:t> binary --only-section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ui-sans-serif"/>
              </a:rPr>
              <a:t>=</a:t>
            </a:r>
            <a:r>
              <a:rPr lang="en-US" altLang="zh-CN" dirty="0">
                <a:solidFill>
                  <a:srgbClr val="FF0000"/>
                </a:solidFill>
              </a:rPr>
              <a:t>.data </a:t>
            </a:r>
            <a:r>
              <a:rPr lang="en-US" altLang="zh-CN" dirty="0" err="1">
                <a:solidFill>
                  <a:srgbClr val="FF0000"/>
                </a:solidFill>
              </a:rPr>
              <a:t>test.o</a:t>
            </a:r>
            <a:r>
              <a:rPr lang="en-US" altLang="zh-CN" dirty="0">
                <a:solidFill>
                  <a:srgbClr val="FF0000"/>
                </a:solidFill>
              </a:rPr>
              <a:t> /dev/</a:t>
            </a:r>
            <a:r>
              <a:rPr lang="en-US" altLang="zh-CN" dirty="0" err="1">
                <a:solidFill>
                  <a:srgbClr val="FF0000"/>
                </a:solidFill>
              </a:rPr>
              <a:t>stdout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ui-sans-serif"/>
              </a:rPr>
              <a:t>|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hexdump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ui-sans-serif"/>
              </a:rPr>
              <a:t>-C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4285DF-37FA-4104-2968-94E1E961A655}"/>
              </a:ext>
            </a:extLst>
          </p:cNvPr>
          <p:cNvSpPr txBox="1"/>
          <p:nvPr/>
        </p:nvSpPr>
        <p:spPr>
          <a:xfrm>
            <a:off x="631278" y="5956249"/>
            <a:ext cx="6100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objdump  -s  --section=.data  main.o</a:t>
            </a:r>
          </a:p>
        </p:txBody>
      </p:sp>
    </p:spTree>
    <p:extLst>
      <p:ext uri="{BB962C8B-B14F-4D97-AF65-F5344CB8AC3E}">
        <p14:creationId xmlns:p14="http://schemas.microsoft.com/office/powerpoint/2010/main" val="3337556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2" y="296733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显示字符串节中的内容       以 字符串的形式显示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E78EF7-7C73-9F22-4C2B-E4FACB91E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18" y="795204"/>
            <a:ext cx="8664867" cy="21631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BEC06B-580F-5CF5-E626-DC4C8483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60" y="3464889"/>
            <a:ext cx="8414182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71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2" y="728700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显示节头部字符串节中的内容       以 字符串的形式显示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7ACCB9-3D05-3AA0-B4D6-E353FB68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" y="1313765"/>
            <a:ext cx="8623743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53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648703" y="728700"/>
            <a:ext cx="7433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Q: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节头表中的名字个数 与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shstrtab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中的不一致？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显示某个节中的内容</a:t>
            </a:r>
            <a:endParaRPr lang="zh-CN" altLang="en-US" sz="3200" kern="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E4260A-3627-51F4-20CC-7F9F613FA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5" y="1176795"/>
            <a:ext cx="2349071" cy="558278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FB905F-7549-381B-725E-38A3EB17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860" y="1190926"/>
            <a:ext cx="2819545" cy="432457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44F903-AE8B-2D59-0161-C250A780D212}"/>
              </a:ext>
            </a:extLst>
          </p:cNvPr>
          <p:cNvSpPr txBox="1"/>
          <p:nvPr/>
        </p:nvSpPr>
        <p:spPr>
          <a:xfrm>
            <a:off x="3585905" y="5672754"/>
            <a:ext cx="4811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.text</a:t>
            </a:r>
            <a:r>
              <a:rPr lang="zh-CN" altLang="en-US" dirty="0"/>
              <a:t> 就是 </a:t>
            </a:r>
            <a:r>
              <a:rPr lang="en-US" altLang="zh-CN" dirty="0"/>
              <a:t>.</a:t>
            </a:r>
            <a:r>
              <a:rPr lang="en-US" altLang="zh-CN" dirty="0" err="1"/>
              <a:t>rela.text</a:t>
            </a:r>
            <a:r>
              <a:rPr lang="en-US" altLang="zh-CN" dirty="0"/>
              <a:t> </a:t>
            </a:r>
            <a:r>
              <a:rPr lang="zh-CN" altLang="en-US" dirty="0"/>
              <a:t>中后面的一部分！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data.rel.local</a:t>
            </a:r>
            <a:r>
              <a:rPr lang="zh-CN" altLang="en-US" dirty="0"/>
              <a:t> 是 </a:t>
            </a:r>
            <a:r>
              <a:rPr lang="en-US" altLang="zh-CN" dirty="0"/>
              <a:t>.</a:t>
            </a:r>
            <a:r>
              <a:rPr lang="en-US" altLang="zh-CN" dirty="0" err="1"/>
              <a:t>rela.data.rel.local</a:t>
            </a:r>
            <a:r>
              <a:rPr lang="en-US" altLang="zh-CN" dirty="0"/>
              <a:t> </a:t>
            </a:r>
            <a:r>
              <a:rPr lang="zh-CN" altLang="en-US" dirty="0"/>
              <a:t>的尾部！</a:t>
            </a:r>
            <a:endParaRPr lang="en-US" altLang="zh-CN" dirty="0"/>
          </a:p>
          <a:p>
            <a:r>
              <a:rPr lang="en-US" altLang="zh-CN" dirty="0"/>
              <a:t>.</a:t>
            </a:r>
            <a:r>
              <a:rPr lang="en-US" altLang="zh-CN" dirty="0" err="1"/>
              <a:t>debug_info</a:t>
            </a:r>
            <a:r>
              <a:rPr lang="zh-CN" altLang="en-US" dirty="0"/>
              <a:t> 是  </a:t>
            </a:r>
            <a:r>
              <a:rPr lang="en-US" altLang="zh-CN" dirty="0"/>
              <a:t>.</a:t>
            </a:r>
            <a:r>
              <a:rPr lang="en-US" altLang="zh-CN" dirty="0" err="1"/>
              <a:t>rela.debug_info</a:t>
            </a:r>
            <a:r>
              <a:rPr lang="en-US" altLang="zh-CN" dirty="0"/>
              <a:t> </a:t>
            </a:r>
            <a:r>
              <a:rPr lang="zh-CN" altLang="en-US" dirty="0"/>
              <a:t>的尾部！</a:t>
            </a:r>
          </a:p>
        </p:txBody>
      </p:sp>
    </p:spTree>
    <p:extLst>
      <p:ext uri="{BB962C8B-B14F-4D97-AF65-F5344CB8AC3E}">
        <p14:creationId xmlns:p14="http://schemas.microsoft.com/office/powerpoint/2010/main" val="68238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296525" y="863715"/>
            <a:ext cx="8055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显示符号表      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Elf64_Sym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  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#readelf  -s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显示符号表中的内容</a:t>
            </a:r>
            <a:endParaRPr lang="zh-CN" altLang="en-US" sz="3200" kern="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249E53-1C84-510D-48C9-47D6CE3D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78" y="1913835"/>
            <a:ext cx="8776151" cy="43626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59B8F01-A34B-1B10-6F29-CCB16B89FF5D}"/>
              </a:ext>
            </a:extLst>
          </p:cNvPr>
          <p:cNvSpPr txBox="1"/>
          <p:nvPr/>
        </p:nvSpPr>
        <p:spPr>
          <a:xfrm>
            <a:off x="714212" y="6258580"/>
            <a:ext cx="72201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说明：开始的一部分符号是 文件名、节名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9351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显示符号表中的内容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C6B7E3-3CC3-B314-72D8-85AD55BD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8" y="2033844"/>
            <a:ext cx="8837972" cy="19802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627871-7EFA-1C0A-BBEA-9831D293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14" y="1268760"/>
            <a:ext cx="7393417" cy="5400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8527F4-F033-ED54-8FF0-8E6C7CE9C7F5}"/>
              </a:ext>
            </a:extLst>
          </p:cNvPr>
          <p:cNvSpPr txBox="1"/>
          <p:nvPr/>
        </p:nvSpPr>
        <p:spPr>
          <a:xfrm>
            <a:off x="787230" y="4506449"/>
            <a:ext cx="72201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dirty="0"/>
              <a:t>说明：程序中用到的符号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3463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ACF8-3B6C-7C83-C299-1D8D8A37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55D6C06-7162-21AE-D44F-147B803F3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显示符号表中的内容</a:t>
            </a:r>
            <a:endParaRPr lang="zh-CN" altLang="en-US" sz="3200" kern="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F519F6-B840-43D1-7871-A5A4443EA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705411"/>
              </p:ext>
            </p:extLst>
          </p:nvPr>
        </p:nvGraphicFramePr>
        <p:xfrm>
          <a:off x="511878" y="818710"/>
          <a:ext cx="8120244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99">
                  <a:extLst>
                    <a:ext uri="{9D8B030D-6E8A-4147-A177-3AD203B41FA5}">
                      <a16:colId xmlns:a16="http://schemas.microsoft.com/office/drawing/2014/main" val="1305754584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val="140156795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94723624"/>
                    </a:ext>
                  </a:extLst>
                </a:gridCol>
                <a:gridCol w="2539625">
                  <a:extLst>
                    <a:ext uri="{9D8B030D-6E8A-4147-A177-3AD203B41FA5}">
                      <a16:colId xmlns:a16="http://schemas.microsoft.com/office/drawing/2014/main" val="29163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readelf -s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列名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Elf64_Sym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含义说明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06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符号表中的条目序号，不是结构体字段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848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st_value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Elf64_Addr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符号的值：变量地址、函数入口、或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ABS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常量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24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st_size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uint64_t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符号占用字节数，变量大小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/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函数长度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1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st_info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低 4 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uint8_t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符号类型：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NOTYPE、OBJECT、FUNC、SECTION、FILE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60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Bind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st_info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高 4 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uint8_t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绑定属性：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LOCAL（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本文件可见）、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GLOBAL（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全局可见）、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WEAK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86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Vis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st_other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uint8_t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可见性：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DEFAULT、HIDDEN、PROTECTED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136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Ndx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st_shndx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uint16_t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符号所在节的编号：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・数字 → 对应节号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・</a:t>
                      </a:r>
                      <a:r>
                        <a:rPr lang="en-US" altLang="ja-JP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ABS → </a:t>
                      </a: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绝对符号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・</a:t>
                      </a:r>
                      <a:r>
                        <a:rPr lang="en-US" altLang="ja-JP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UND → </a:t>
                      </a:r>
                      <a:r>
                        <a:rPr lang="ja-JP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未定义符号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56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st_name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uint32_t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符号名在字符串表（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strtab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）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中的偏移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016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594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85A0-B229-247D-4CA4-9C6AB155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B312124-4AEF-ECB9-1C41-24CBB9AED4D2}"/>
              </a:ext>
            </a:extLst>
          </p:cNvPr>
          <p:cNvSpPr txBox="1"/>
          <p:nvPr/>
        </p:nvSpPr>
        <p:spPr>
          <a:xfrm>
            <a:off x="296525" y="863715"/>
            <a:ext cx="8055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    #readelf  -s  </a:t>
            </a:r>
            <a:r>
              <a:rPr lang="en-US" altLang="zh-CN" sz="2400" dirty="0" err="1"/>
              <a:t>test.o</a:t>
            </a:r>
            <a:r>
              <a:rPr lang="en-US" altLang="zh-CN" sz="2400" dirty="0"/>
              <a:t>  |  awk ‘$7==</a:t>
            </a:r>
            <a:r>
              <a:rPr lang="zh-CN" altLang="en-US" sz="2400" dirty="0"/>
              <a:t>节号 </a:t>
            </a:r>
            <a:r>
              <a:rPr lang="en-US" altLang="zh-CN" sz="2400" dirty="0"/>
              <a:t>|| NR==</a:t>
            </a:r>
            <a:r>
              <a:rPr lang="zh-CN" altLang="en-US" sz="2400" dirty="0"/>
              <a:t>行号</a:t>
            </a:r>
            <a:r>
              <a:rPr lang="en-US" altLang="zh-CN" sz="2400" dirty="0"/>
              <a:t>’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E2D2BE-E1C5-2091-E393-3B2AF9218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显示符号表 中属于某个节的符号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E72BC1-9EE4-B550-87A3-911489FF4966}"/>
              </a:ext>
            </a:extLst>
          </p:cNvPr>
          <p:cNvSpPr txBox="1"/>
          <p:nvPr/>
        </p:nvSpPr>
        <p:spPr>
          <a:xfrm>
            <a:off x="566555" y="1808820"/>
            <a:ext cx="7830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awk</a:t>
            </a:r>
            <a:r>
              <a:rPr lang="en-US" altLang="zh-CN" sz="2400" b="1" dirty="0"/>
              <a:t>   </a:t>
            </a:r>
            <a:r>
              <a:rPr lang="zh-CN" altLang="en-US" sz="2400" b="1" dirty="0"/>
              <a:t>是用来 “按列筛选文本” 的神器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/>
              <a:t>      </a:t>
            </a:r>
            <a:r>
              <a:rPr lang="en-US" altLang="zh-CN" sz="2400" dirty="0" err="1"/>
              <a:t>readelf</a:t>
            </a:r>
            <a:r>
              <a:rPr lang="en-US" altLang="zh-CN" sz="2400" dirty="0"/>
              <a:t> -s</a:t>
            </a:r>
            <a:r>
              <a:rPr lang="zh-CN" altLang="en-US" sz="2400" dirty="0"/>
              <a:t> 输出的内容是</a:t>
            </a:r>
            <a:r>
              <a:rPr lang="zh-CN" altLang="en-US" sz="2400" b="1" dirty="0"/>
              <a:t>一排一排、一列一列</a:t>
            </a:r>
            <a:r>
              <a:rPr lang="zh-CN" altLang="en-US" sz="2400" dirty="0"/>
              <a:t>的，</a:t>
            </a:r>
            <a:endParaRPr lang="en-US" altLang="zh-CN" sz="2400" dirty="0"/>
          </a:p>
          <a:p>
            <a:r>
              <a:rPr lang="en-US" altLang="zh-CN" sz="2400" b="1" dirty="0"/>
              <a:t>      awk </a:t>
            </a:r>
            <a:r>
              <a:rPr lang="zh-CN" altLang="en-US" sz="2400" b="1" dirty="0"/>
              <a:t>就是帮你按列筛选，只留下你要的行。</a:t>
            </a:r>
            <a:endParaRPr lang="zh-CN" altLang="en-US" sz="2400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0D8C2D-C78D-06E1-7EA3-FABC9A89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30" y="3130565"/>
            <a:ext cx="8585641" cy="3111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FD76132-E8E0-EAA4-30B6-6EB516675958}"/>
              </a:ext>
            </a:extLst>
          </p:cNvPr>
          <p:cNvSpPr txBox="1"/>
          <p:nvPr/>
        </p:nvSpPr>
        <p:spPr>
          <a:xfrm>
            <a:off x="611560" y="3699030"/>
            <a:ext cx="8145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$1              $2                           $3       $4             $5          $6              $7      $8     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AA28A43-FBEB-0D7A-CB18-E40C8E6A66D9}"/>
              </a:ext>
            </a:extLst>
          </p:cNvPr>
          <p:cNvCxnSpPr>
            <a:cxnSpLocks/>
          </p:cNvCxnSpPr>
          <p:nvPr/>
        </p:nvCxnSpPr>
        <p:spPr>
          <a:xfrm flipV="1">
            <a:off x="791580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68817B3-AA29-3137-C4E0-B37167E841C0}"/>
              </a:ext>
            </a:extLst>
          </p:cNvPr>
          <p:cNvCxnSpPr>
            <a:cxnSpLocks/>
          </p:cNvCxnSpPr>
          <p:nvPr/>
        </p:nvCxnSpPr>
        <p:spPr>
          <a:xfrm flipV="1">
            <a:off x="1961710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BD97670-5460-4B8F-F2D2-E4FD2FAE6613}"/>
              </a:ext>
            </a:extLst>
          </p:cNvPr>
          <p:cNvCxnSpPr>
            <a:cxnSpLocks/>
          </p:cNvCxnSpPr>
          <p:nvPr/>
        </p:nvCxnSpPr>
        <p:spPr>
          <a:xfrm flipV="1">
            <a:off x="3896925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2C93066-2181-5AD6-5D07-18B17599F446}"/>
              </a:ext>
            </a:extLst>
          </p:cNvPr>
          <p:cNvCxnSpPr>
            <a:cxnSpLocks/>
          </p:cNvCxnSpPr>
          <p:nvPr/>
        </p:nvCxnSpPr>
        <p:spPr>
          <a:xfrm flipV="1">
            <a:off x="4617005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ABFD90D-725F-6F23-8578-71493CC14F0C}"/>
              </a:ext>
            </a:extLst>
          </p:cNvPr>
          <p:cNvCxnSpPr>
            <a:cxnSpLocks/>
          </p:cNvCxnSpPr>
          <p:nvPr/>
        </p:nvCxnSpPr>
        <p:spPr>
          <a:xfrm flipV="1">
            <a:off x="5697125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7D5B180-16EE-A2E4-7436-DD476B6E6D2E}"/>
              </a:ext>
            </a:extLst>
          </p:cNvPr>
          <p:cNvCxnSpPr>
            <a:cxnSpLocks/>
          </p:cNvCxnSpPr>
          <p:nvPr/>
        </p:nvCxnSpPr>
        <p:spPr>
          <a:xfrm flipV="1">
            <a:off x="6507215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FC83C1E-54AB-C01F-B996-2F9C7A9711E0}"/>
              </a:ext>
            </a:extLst>
          </p:cNvPr>
          <p:cNvCxnSpPr>
            <a:cxnSpLocks/>
          </p:cNvCxnSpPr>
          <p:nvPr/>
        </p:nvCxnSpPr>
        <p:spPr>
          <a:xfrm flipV="1">
            <a:off x="7722350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9CE60AD-5247-056A-BC76-8FAA80D9BBDB}"/>
              </a:ext>
            </a:extLst>
          </p:cNvPr>
          <p:cNvCxnSpPr>
            <a:cxnSpLocks/>
          </p:cNvCxnSpPr>
          <p:nvPr/>
        </p:nvCxnSpPr>
        <p:spPr>
          <a:xfrm flipV="1">
            <a:off x="8337735" y="3474005"/>
            <a:ext cx="0" cy="294637"/>
          </a:xfrm>
          <a:prstGeom prst="straightConnector1">
            <a:avLst/>
          </a:prstGeom>
          <a:ln w="2857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AF4E7CE-A008-F11E-945F-25C25E7581D9}"/>
              </a:ext>
            </a:extLst>
          </p:cNvPr>
          <p:cNvSpPr txBox="1"/>
          <p:nvPr/>
        </p:nvSpPr>
        <p:spPr>
          <a:xfrm>
            <a:off x="570982" y="4192394"/>
            <a:ext cx="7920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NR = Number of Record = </a:t>
            </a:r>
            <a:r>
              <a:rPr lang="zh-CN" altLang="en-US" sz="2400" b="1" dirty="0"/>
              <a:t>行号</a:t>
            </a:r>
            <a:r>
              <a:rPr lang="en-US" altLang="zh-CN" sz="2400" b="1" dirty="0"/>
              <a:t>,   </a:t>
            </a:r>
          </a:p>
          <a:p>
            <a:r>
              <a:rPr lang="en-US" altLang="zh-CN" sz="2400" b="1" dirty="0"/>
              <a:t>      </a:t>
            </a:r>
            <a:r>
              <a:rPr lang="zh-CN" altLang="en-US" sz="2400" b="1" dirty="0"/>
              <a:t>就是保留 </a:t>
            </a:r>
            <a:r>
              <a:rPr lang="en-US" altLang="zh-CN" sz="2400" b="1" dirty="0" err="1"/>
              <a:t>readelf</a:t>
            </a:r>
            <a:r>
              <a:rPr lang="en-US" altLang="zh-CN" sz="2400" b="1" dirty="0"/>
              <a:t>  –s   </a:t>
            </a:r>
            <a:r>
              <a:rPr lang="zh-CN" altLang="en-US" sz="2400" b="1" dirty="0"/>
              <a:t>输出的指定行号的内容  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3AF5EE-20BE-9384-FEA3-F91FD71F701B}"/>
              </a:ext>
            </a:extLst>
          </p:cNvPr>
          <p:cNvSpPr txBox="1"/>
          <p:nvPr/>
        </p:nvSpPr>
        <p:spPr>
          <a:xfrm>
            <a:off x="565111" y="5282629"/>
            <a:ext cx="6858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#readelf  -s  </a:t>
            </a:r>
            <a:r>
              <a:rPr lang="en-US" altLang="zh-CN" sz="2400" dirty="0" err="1"/>
              <a:t>test.o</a:t>
            </a:r>
            <a:r>
              <a:rPr lang="en-US" altLang="zh-CN" sz="2400" dirty="0"/>
              <a:t>  |  awk '$7==3</a:t>
            </a:r>
            <a:r>
              <a:rPr lang="zh-CN" altLang="en-US" sz="2400" dirty="0"/>
              <a:t> </a:t>
            </a:r>
            <a:r>
              <a:rPr lang="en-US" altLang="zh-CN" sz="2400" dirty="0"/>
              <a:t>|| NR==3’</a:t>
            </a:r>
          </a:p>
          <a:p>
            <a:r>
              <a:rPr lang="en-US" altLang="zh-CN" sz="2400" dirty="0"/>
              <a:t>     </a:t>
            </a:r>
            <a:r>
              <a:rPr lang="zh-CN" altLang="en-US" sz="2400" dirty="0"/>
              <a:t>保留节号为</a:t>
            </a:r>
            <a:r>
              <a:rPr lang="en-US" altLang="zh-CN" sz="2400" dirty="0"/>
              <a:t>3</a:t>
            </a:r>
            <a:r>
              <a:rPr lang="zh-CN" altLang="en-US" sz="2400" dirty="0"/>
              <a:t>的行， 以及 第</a:t>
            </a:r>
            <a:r>
              <a:rPr lang="en-US" altLang="zh-CN" sz="2400" dirty="0"/>
              <a:t>3</a:t>
            </a:r>
            <a:r>
              <a:rPr lang="zh-CN" altLang="en-US" sz="2400" dirty="0"/>
              <a:t>行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83E129-6184-7D7A-BBEB-5EEDDCE2F275}"/>
              </a:ext>
            </a:extLst>
          </p:cNvPr>
          <p:cNvSpPr txBox="1"/>
          <p:nvPr/>
        </p:nvSpPr>
        <p:spPr>
          <a:xfrm>
            <a:off x="549848" y="6162690"/>
            <a:ext cx="8136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#readelf  -s  </a:t>
            </a:r>
            <a:r>
              <a:rPr lang="en-US" altLang="zh-CN" sz="2400" dirty="0" err="1"/>
              <a:t>test.o</a:t>
            </a:r>
            <a:r>
              <a:rPr lang="en-US" altLang="zh-CN" sz="2400" dirty="0"/>
              <a:t>  |  awk ‘$7==</a:t>
            </a:r>
            <a:r>
              <a:rPr lang="en-US" altLang="zh-CN" sz="2400" dirty="0">
                <a:solidFill>
                  <a:srgbClr val="FF0000"/>
                </a:solidFill>
              </a:rPr>
              <a:t>“UND”</a:t>
            </a:r>
            <a:r>
              <a:rPr lang="en-US" altLang="zh-CN" sz="2400" dirty="0"/>
              <a:t>’</a:t>
            </a:r>
            <a:r>
              <a:rPr lang="zh-CN" altLang="en-US" sz="2400" dirty="0"/>
              <a:t>     显示未定义符号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96632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CF2A22-1C81-52E5-B53A-1AF718CDD1BE}"/>
              </a:ext>
            </a:extLst>
          </p:cNvPr>
          <p:cNvSpPr txBox="1"/>
          <p:nvPr/>
        </p:nvSpPr>
        <p:spPr>
          <a:xfrm>
            <a:off x="296525" y="863715"/>
            <a:ext cx="8055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.text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的重定位节内容       </a:t>
            </a:r>
            <a:r>
              <a:rPr lang="en-US" altLang="zh-CN" sz="2400" dirty="0"/>
              <a:t>Elf64_Rela;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readelf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-R  .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rela.text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36BD-6BAB-46EA-201C-AA8ED5D31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显示代码节重定位节中的内容</a:t>
            </a:r>
            <a:endParaRPr lang="zh-CN" altLang="en-US" sz="3200" kern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E0B15E-E5A2-1400-6D16-A6185FD7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1" y="1808820"/>
            <a:ext cx="8915858" cy="265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01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870C-4662-06E9-F45C-59D2F051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F708EC-5489-2279-874E-E6B638FDC297}"/>
              </a:ext>
            </a:extLst>
          </p:cNvPr>
          <p:cNvSpPr txBox="1"/>
          <p:nvPr/>
        </p:nvSpPr>
        <p:spPr>
          <a:xfrm>
            <a:off x="296525" y="863715"/>
            <a:ext cx="8055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显示重定位节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readelf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-r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 (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各重定位节都显示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)</a:t>
            </a:r>
            <a:endParaRPr lang="zh-CN" altLang="en-US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29D427-A8E8-2827-1C1D-5A7E28061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显示代码节重定位节中的内容</a:t>
            </a:r>
            <a:endParaRPr lang="zh-CN" altLang="en-US" sz="3200" kern="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3B71D19-A3E4-4B4C-C1AE-57533BD1E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002474"/>
              </p:ext>
            </p:extLst>
          </p:nvPr>
        </p:nvGraphicFramePr>
        <p:xfrm>
          <a:off x="701569" y="1853825"/>
          <a:ext cx="7875876" cy="4717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688">
                  <a:extLst>
                    <a:ext uri="{9D8B030D-6E8A-4147-A177-3AD203B41FA5}">
                      <a16:colId xmlns:a16="http://schemas.microsoft.com/office/drawing/2014/main" val="1363151130"/>
                    </a:ext>
                  </a:extLst>
                </a:gridCol>
                <a:gridCol w="1828328">
                  <a:extLst>
                    <a:ext uri="{9D8B030D-6E8A-4147-A177-3AD203B41FA5}">
                      <a16:colId xmlns:a16="http://schemas.microsoft.com/office/drawing/2014/main" val="1105000602"/>
                    </a:ext>
                  </a:extLst>
                </a:gridCol>
                <a:gridCol w="1500167">
                  <a:extLst>
                    <a:ext uri="{9D8B030D-6E8A-4147-A177-3AD203B41FA5}">
                      <a16:colId xmlns:a16="http://schemas.microsoft.com/office/drawing/2014/main" val="632051584"/>
                    </a:ext>
                  </a:extLst>
                </a:gridCol>
                <a:gridCol w="2859693">
                  <a:extLst>
                    <a:ext uri="{9D8B030D-6E8A-4147-A177-3AD203B41FA5}">
                      <a16:colId xmlns:a16="http://schemas.microsoft.com/office/drawing/2014/main" val="2794994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readelf -r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列名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Elf64_Rela 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字段类型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含义说明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67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OFFSET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r_offset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Elf64_Addr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需要被重定位修改的位置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即：在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.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text/.data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等节内的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字节偏移</a:t>
                      </a:r>
                      <a:endParaRPr lang="zh-CN" alt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58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r_info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Elf64_Xword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复合字段：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・低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32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位：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重定位类型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（如 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R_X86_64_64、R_X86_64_PC32）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・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高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32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位：</a:t>
                      </a: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符号表索引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（对应 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readelf -s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里的符号序号）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47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从 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r_info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解析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重定位计算方式（由链接器 </a:t>
                      </a: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/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加载器解释）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01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从 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r_info</a:t>
                      </a: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 </a:t>
                      </a: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解析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要引用的符号名（通过符号表索引找到）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85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ADDEND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r_addend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Elf64_Sxword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有符号常量加数</a:t>
                      </a:r>
                    </a:p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最终值 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= </a:t>
                      </a:r>
                      <a:r>
                        <a:rPr lang="zh-CN" altLang="en-US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符号地址 </a:t>
                      </a:r>
                      <a:r>
                        <a:rPr lang="en-US" altLang="zh-CN" b="0" dirty="0">
                          <a:solidFill>
                            <a:srgbClr val="000000"/>
                          </a:solidFill>
                          <a:effectLst/>
                          <a:latin typeface="ui-sans-serif"/>
                        </a:rPr>
                        <a:t>+ </a:t>
                      </a:r>
                      <a:r>
                        <a:rPr lang="en-US" b="0" dirty="0" err="1">
                          <a:solidFill>
                            <a:srgbClr val="000000"/>
                          </a:solidFill>
                          <a:effectLst/>
                          <a:latin typeface="ui-monospace"/>
                        </a:rPr>
                        <a:t>r_addend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7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100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7E9CE-47F4-5C39-AE20-64D5A49C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F979974-E283-642C-9105-BCD05DE9A8DA}"/>
              </a:ext>
            </a:extLst>
          </p:cNvPr>
          <p:cNvSpPr txBox="1"/>
          <p:nvPr/>
        </p:nvSpPr>
        <p:spPr>
          <a:xfrm>
            <a:off x="651025" y="1358770"/>
            <a:ext cx="80555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.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rela.text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重定位节</a:t>
            </a:r>
            <a:endParaRPr lang="en-US" altLang="zh-CN" sz="2400" b="1" kern="0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readelf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-r  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test.o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| grep –A  20  “</a:t>
            </a:r>
            <a:r>
              <a:rPr lang="en-US" altLang="zh-CN" sz="2400" b="1" kern="0" dirty="0" err="1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rela.text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”</a:t>
            </a:r>
            <a:b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</a:br>
            <a:b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</a:b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    -A 20  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显示 </a:t>
            </a:r>
            <a:r>
              <a:rPr lang="en-US" altLang="zh-CN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20</a:t>
            </a:r>
            <a:r>
              <a:rPr lang="zh-CN" altLang="en-US" sz="2400" b="1" kern="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行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9B205B-9F08-D29D-5009-0B089EF2A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显示代码节重定位节中的内容</a:t>
            </a:r>
            <a:endParaRPr lang="zh-CN" alt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213766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A774-FD9C-4B5B-CD86-585B9709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EA2021-D06B-1CCD-0087-C7C97A3ADC76}"/>
              </a:ext>
            </a:extLst>
          </p:cNvPr>
          <p:cNvSpPr txBox="1"/>
          <p:nvPr/>
        </p:nvSpPr>
        <p:spPr>
          <a:xfrm>
            <a:off x="791580" y="953725"/>
            <a:ext cx="733581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你想做什么操作？ 你想达到什么效果？</a:t>
            </a:r>
            <a:b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b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不会做，问豆包等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不理解豆包的回答，再问豆包</a:t>
            </a:r>
            <a:b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b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如果按照回答操作，未达到相应的效果，</a:t>
            </a:r>
            <a:endParaRPr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可给出更详细的信息，再次问豆包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5E877-BA24-678B-E07E-7858803AD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8425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CC3300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3200" kern="0" dirty="0">
                <a:solidFill>
                  <a:srgbClr val="FF0000"/>
                </a:solidFill>
              </a:rPr>
              <a:t>学会求助</a:t>
            </a:r>
            <a:endParaRPr lang="zh-CN" alt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8516919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32326</TotalTime>
  <Words>2170</Words>
  <Application>Microsoft Office PowerPoint</Application>
  <PresentationFormat>全屏显示(4:3)</PresentationFormat>
  <Paragraphs>300</Paragraphs>
  <Slides>25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ui-monospace</vt:lpstr>
      <vt:lpstr>ui-sans-serif</vt:lpstr>
      <vt:lpstr>黑体</vt:lpstr>
      <vt:lpstr>华文新魏</vt:lpstr>
      <vt:lpstr>Arial</vt:lpstr>
      <vt:lpstr>Wingdings</vt:lpstr>
      <vt:lpstr>默认设计模板</vt:lpstr>
      <vt:lpstr>  链接实验操作指导   </vt:lpstr>
      <vt:lpstr>命令列表</vt:lpstr>
      <vt:lpstr>gcc </vt:lpstr>
      <vt:lpstr>自带的帮助</vt:lpstr>
      <vt:lpstr>自带的帮助</vt:lpstr>
      <vt:lpstr>自带的帮助</vt:lpstr>
      <vt:lpstr>可重定位目标文件的数据结构</vt:lpstr>
      <vt:lpstr>显示文件头</vt:lpstr>
      <vt:lpstr>显示文件头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《计算机组成原理》 精品课程建设的一点体会</dc:title>
  <dc:creator>Yuan Chunfeng</dc:creator>
  <cp:lastModifiedBy>向阳 许</cp:lastModifiedBy>
  <cp:revision>2526</cp:revision>
  <dcterms:created xsi:type="dcterms:W3CDTF">2008-04-26T09:05:28Z</dcterms:created>
  <dcterms:modified xsi:type="dcterms:W3CDTF">2026-04-20T14:57:38Z</dcterms:modified>
</cp:coreProperties>
</file>